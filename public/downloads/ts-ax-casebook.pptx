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d7860694b8414a" /><Relationship Type="http://schemas.openxmlformats.org/officeDocument/2006/relationships/extended-properties" Target="/docProps/app.xml" Id="Re1cc9d893639437c" /><Relationship Type="http://schemas.openxmlformats.org/officeDocument/2006/relationships/officeDocument" Target="/ppt/presentation.xml" Id="Rc828e9db6e334ad5" /></Relationships>
</file>

<file path=ppt/presentation.xml><?xml version="1.0" encoding="utf-8"?>
<p:presentation xmlns:p="http://schemas.openxmlformats.org/presentationml/2006/main">
  <p:sldMasterIdLst>
    <p:sldMasterId xmlns:r="http://schemas.openxmlformats.org/officeDocument/2006/relationships" id="2147483648" r:id="R8b65b585a7dc4e55"/>
  </p:sldMasterIdLst>
  <p:notesMasterIdLst>
    <p:notesMasterId xmlns:r="http://schemas.openxmlformats.org/officeDocument/2006/relationships" r:id="R51826bf8b0e7450c"/>
  </p:notesMasterIdLst>
  <p:sldIdLst>
    <p:sldId xmlns:r="http://schemas.openxmlformats.org/officeDocument/2006/relationships" id="256" r:id="R9ca9cf3bc27147be"/>
    <p:sldId xmlns:r="http://schemas.openxmlformats.org/officeDocument/2006/relationships" id="257" r:id="R6020592115c24f58"/>
    <p:sldId xmlns:r="http://schemas.openxmlformats.org/officeDocument/2006/relationships" id="258" r:id="R6537f0b93248445f"/>
    <p:sldId xmlns:r="http://schemas.openxmlformats.org/officeDocument/2006/relationships" id="259" r:id="Rd3856ffbe069443a"/>
    <p:sldId xmlns:r="http://schemas.openxmlformats.org/officeDocument/2006/relationships" id="260" r:id="R02e4bf34dce642ca"/>
    <p:sldId xmlns:r="http://schemas.openxmlformats.org/officeDocument/2006/relationships" id="261" r:id="Rcc959ce71f01462e"/>
    <p:sldId xmlns:r="http://schemas.openxmlformats.org/officeDocument/2006/relationships" id="262" r:id="R990d1a6e4d484867"/>
    <p:sldId xmlns:r="http://schemas.openxmlformats.org/officeDocument/2006/relationships" id="263" r:id="R41f7126ae349454b"/>
    <p:sldId xmlns:r="http://schemas.openxmlformats.org/officeDocument/2006/relationships" id="264" r:id="Rf539984af3c7437b"/>
    <p:sldId xmlns:r="http://schemas.openxmlformats.org/officeDocument/2006/relationships" id="265" r:id="R51e14d15942c48b8"/>
    <p:sldId xmlns:r="http://schemas.openxmlformats.org/officeDocument/2006/relationships" id="266" r:id="Rde68fc81990b420c"/>
    <p:sldId xmlns:r="http://schemas.openxmlformats.org/officeDocument/2006/relationships" id="267" r:id="Ra23235a5f4b140f7"/>
    <p:sldId xmlns:r="http://schemas.openxmlformats.org/officeDocument/2006/relationships" id="268" r:id="Rbdcf979a4676499b"/>
    <p:sldId xmlns:r="http://schemas.openxmlformats.org/officeDocument/2006/relationships" id="269" r:id="R0b9fb029b5e04445"/>
    <p:sldId xmlns:r="http://schemas.openxmlformats.org/officeDocument/2006/relationships" id="270" r:id="Rb24a145444d34230"/>
    <p:sldId xmlns:r="http://schemas.openxmlformats.org/officeDocument/2006/relationships" id="271" r:id="R49f3165f28014826"/>
    <p:sldId xmlns:r="http://schemas.openxmlformats.org/officeDocument/2006/relationships" id="272" r:id="R2dea74ddd43548ea"/>
    <p:sldId xmlns:r="http://schemas.openxmlformats.org/officeDocument/2006/relationships" id="273" r:id="Rdad99d5faf814a16"/>
    <p:sldId xmlns:r="http://schemas.openxmlformats.org/officeDocument/2006/relationships" id="274" r:id="Rff115801602a4bf5"/>
    <p:sldId xmlns:r="http://schemas.openxmlformats.org/officeDocument/2006/relationships" id="275" r:id="R849a75bf48bc4924"/>
    <p:sldId xmlns:r="http://schemas.openxmlformats.org/officeDocument/2006/relationships" id="276" r:id="Rb10457da60714e32"/>
    <p:sldId xmlns:r="http://schemas.openxmlformats.org/officeDocument/2006/relationships" id="277" r:id="Rb08a9e3682fd49d3"/>
    <p:sldId xmlns:r="http://schemas.openxmlformats.org/officeDocument/2006/relationships" id="278" r:id="Rb245d8cd648d442d"/>
    <p:sldId xmlns:r="http://schemas.openxmlformats.org/officeDocument/2006/relationships" id="279" r:id="Re628edd888c84bd9"/>
    <p:sldId xmlns:r="http://schemas.openxmlformats.org/officeDocument/2006/relationships" id="280" r:id="R8acc512762804f43"/>
    <p:sldId xmlns:r="http://schemas.openxmlformats.org/officeDocument/2006/relationships" id="281" r:id="Rfcb02178890d46cb"/>
    <p:sldId xmlns:r="http://schemas.openxmlformats.org/officeDocument/2006/relationships" id="282" r:id="R967e519280a14452"/>
    <p:sldId xmlns:r="http://schemas.openxmlformats.org/officeDocument/2006/relationships" id="283" r:id="R8ed4379b35a14db9"/>
    <p:sldId xmlns:r="http://schemas.openxmlformats.org/officeDocument/2006/relationships" id="284" r:id="R38124075684c4e55"/>
    <p:sldId xmlns:r="http://schemas.openxmlformats.org/officeDocument/2006/relationships" id="285" r:id="Rc892a46b9b034446"/>
    <p:sldId xmlns:r="http://schemas.openxmlformats.org/officeDocument/2006/relationships" id="286" r:id="R3a613529207d4960"/>
    <p:sldId xmlns:r="http://schemas.openxmlformats.org/officeDocument/2006/relationships" id="287" r:id="R0baafc8c70e94cb2"/>
    <p:sldId xmlns:r="http://schemas.openxmlformats.org/officeDocument/2006/relationships" id="288" r:id="R6163a72b386b49de"/>
    <p:sldId xmlns:r="http://schemas.openxmlformats.org/officeDocument/2006/relationships" id="289" r:id="R67472ca5ba724ea9"/>
    <p:sldId xmlns:r="http://schemas.openxmlformats.org/officeDocument/2006/relationships" id="290" r:id="R50b15be78f94476b"/>
    <p:sldId xmlns:r="http://schemas.openxmlformats.org/officeDocument/2006/relationships" id="291" r:id="R550cf88dcb7a4401"/>
    <p:sldId xmlns:r="http://schemas.openxmlformats.org/officeDocument/2006/relationships" id="292" r:id="Rdb70c5b85c8747eb"/>
    <p:sldId xmlns:r="http://schemas.openxmlformats.org/officeDocument/2006/relationships" id="293" r:id="R68de883dc205407c"/>
    <p:sldId xmlns:r="http://schemas.openxmlformats.org/officeDocument/2006/relationships" id="294" r:id="Re3c8eaef46774f26"/>
    <p:sldId xmlns:r="http://schemas.openxmlformats.org/officeDocument/2006/relationships" id="295" r:id="Rf20d4f237fcc4f74"/>
    <p:sldId xmlns:r="http://schemas.openxmlformats.org/officeDocument/2006/relationships" id="296" r:id="Ra23f98f541164bc5"/>
    <p:sldId xmlns:r="http://schemas.openxmlformats.org/officeDocument/2006/relationships" id="297" r:id="R5a0382233a46475c"/>
    <p:sldId xmlns:r="http://schemas.openxmlformats.org/officeDocument/2006/relationships" id="298" r:id="Rd870940835114e7b"/>
    <p:sldId xmlns:r="http://schemas.openxmlformats.org/officeDocument/2006/relationships" id="299" r:id="R0c6963acaca74b9d"/>
    <p:sldId xmlns:r="http://schemas.openxmlformats.org/officeDocument/2006/relationships" id="300" r:id="R9e2937ab21da41fc"/>
    <p:sldId xmlns:r="http://schemas.openxmlformats.org/officeDocument/2006/relationships" id="301" r:id="R3daf539c77754a17"/>
    <p:sldId xmlns:r="http://schemas.openxmlformats.org/officeDocument/2006/relationships" id="302" r:id="R47e3ec50110248e2"/>
    <p:sldId xmlns:r="http://schemas.openxmlformats.org/officeDocument/2006/relationships" id="303" r:id="R6992796ffa0e4a61"/>
    <p:sldId xmlns:r="http://schemas.openxmlformats.org/officeDocument/2006/relationships" id="304" r:id="R5f8a9c734367460e"/>
    <p:sldId xmlns:r="http://schemas.openxmlformats.org/officeDocument/2006/relationships" id="305" r:id="R61e5199395944173"/>
    <p:sldId xmlns:r="http://schemas.openxmlformats.org/officeDocument/2006/relationships" id="306" r:id="R6671e3b2a73f4268"/>
    <p:sldId xmlns:r="http://schemas.openxmlformats.org/officeDocument/2006/relationships" id="307" r:id="Rc4bce3a876634453"/>
    <p:sldId xmlns:r="http://schemas.openxmlformats.org/officeDocument/2006/relationships" id="308" r:id="Rf217c7d4591f4bf3"/>
    <p:sldId xmlns:r="http://schemas.openxmlformats.org/officeDocument/2006/relationships" id="309" r:id="R724bebfb3d3d42fe"/>
    <p:sldId xmlns:r="http://schemas.openxmlformats.org/officeDocument/2006/relationships" id="310" r:id="R004660acb124446c"/>
    <p:sldId xmlns:r="http://schemas.openxmlformats.org/officeDocument/2006/relationships" id="311" r:id="R5e4a7b8c986d43a2"/>
    <p:sldId xmlns:r="http://schemas.openxmlformats.org/officeDocument/2006/relationships" id="312" r:id="Ra84193a4ea1e4ab7"/>
    <p:sldId xmlns:r="http://schemas.openxmlformats.org/officeDocument/2006/relationships" id="313" r:id="Rb135572f3d084452"/>
    <p:sldId xmlns:r="http://schemas.openxmlformats.org/officeDocument/2006/relationships" id="314" r:id="R95b11f15c9ae4906"/>
    <p:sldId xmlns:r="http://schemas.openxmlformats.org/officeDocument/2006/relationships" id="315" r:id="R8d64367b8d724bff"/>
    <p:sldId xmlns:r="http://schemas.openxmlformats.org/officeDocument/2006/relationships" id="316" r:id="R664f452458e04b9e"/>
    <p:sldId xmlns:r="http://schemas.openxmlformats.org/officeDocument/2006/relationships" id="317" r:id="R02579f8ecbd7470f"/>
    <p:sldId xmlns:r="http://schemas.openxmlformats.org/officeDocument/2006/relationships" id="318" r:id="R9c2e6c591a584af3"/>
    <p:sldId xmlns:r="http://schemas.openxmlformats.org/officeDocument/2006/relationships" id="319" r:id="Rbd0c84b5c3ba4590"/>
    <p:sldId xmlns:r="http://schemas.openxmlformats.org/officeDocument/2006/relationships" id="320" r:id="R5b1a249c4a544196"/>
    <p:sldId xmlns:r="http://schemas.openxmlformats.org/officeDocument/2006/relationships" id="321" r:id="R7c6542032d5144bb"/>
    <p:sldId xmlns:r="http://schemas.openxmlformats.org/officeDocument/2006/relationships" id="322" r:id="Raabc7a7a876248d3"/>
    <p:sldId xmlns:r="http://schemas.openxmlformats.org/officeDocument/2006/relationships" id="323" r:id="R2f9049edce8f40f7"/>
    <p:sldId xmlns:r="http://schemas.openxmlformats.org/officeDocument/2006/relationships" id="324" r:id="R6277a1f8ac14434d"/>
    <p:sldId xmlns:r="http://schemas.openxmlformats.org/officeDocument/2006/relationships" id="325" r:id="Rc22d5a98ee364bb1"/>
    <p:sldId xmlns:r="http://schemas.openxmlformats.org/officeDocument/2006/relationships" id="326" r:id="R4f6abf13c09a423c"/>
    <p:sldId xmlns:r="http://schemas.openxmlformats.org/officeDocument/2006/relationships" id="327" r:id="R8baa7bcc91a44295"/>
    <p:sldId xmlns:r="http://schemas.openxmlformats.org/officeDocument/2006/relationships" id="328" r:id="R055b0fa692a84dd3"/>
    <p:sldId xmlns:r="http://schemas.openxmlformats.org/officeDocument/2006/relationships" id="329" r:id="R8315550ccc7944bd"/>
    <p:sldId xmlns:r="http://schemas.openxmlformats.org/officeDocument/2006/relationships" id="330" r:id="R77da1b46081e4a20"/>
    <p:sldId xmlns:r="http://schemas.openxmlformats.org/officeDocument/2006/relationships" id="331" r:id="R51718c2f9d3446cc"/>
    <p:sldId xmlns:r="http://schemas.openxmlformats.org/officeDocument/2006/relationships" id="332" r:id="R87d6decbeada4d1c"/>
    <p:sldId xmlns:r="http://schemas.openxmlformats.org/officeDocument/2006/relationships" id="333" r:id="Rd9be5010e7004009"/>
    <p:sldId xmlns:r="http://schemas.openxmlformats.org/officeDocument/2006/relationships" id="334" r:id="R4afc00482f3347a4"/>
    <p:sldId xmlns:r="http://schemas.openxmlformats.org/officeDocument/2006/relationships" id="335" r:id="R41e50c36e5ce4d05"/>
    <p:sldId xmlns:r="http://schemas.openxmlformats.org/officeDocument/2006/relationships" id="336" r:id="R04f0ac917ec547e5"/>
    <p:sldId xmlns:r="http://schemas.openxmlformats.org/officeDocument/2006/relationships" id="337" r:id="R9a8fb4c5731940f1"/>
    <p:sldId xmlns:r="http://schemas.openxmlformats.org/officeDocument/2006/relationships" id="338" r:id="Rd3a290fc93414e3c"/>
    <p:sldId xmlns:r="http://schemas.openxmlformats.org/officeDocument/2006/relationships" id="339" r:id="R13b03b458ad2470b"/>
    <p:sldId xmlns:r="http://schemas.openxmlformats.org/officeDocument/2006/relationships" id="340" r:id="Ra3c1ffb109b64bb9"/>
    <p:sldId xmlns:r="http://schemas.openxmlformats.org/officeDocument/2006/relationships" id="341" r:id="Rca24e91b496b4f6a"/>
    <p:sldId xmlns:r="http://schemas.openxmlformats.org/officeDocument/2006/relationships" id="342" r:id="Rfdf2ad10ab5e4f52"/>
    <p:sldId xmlns:r="http://schemas.openxmlformats.org/officeDocument/2006/relationships" id="343" r:id="Rb5a85f3ff3c44cd0"/>
    <p:sldId xmlns:r="http://schemas.openxmlformats.org/officeDocument/2006/relationships" id="344" r:id="R31b6f8e0da8f418c"/>
    <p:sldId xmlns:r="http://schemas.openxmlformats.org/officeDocument/2006/relationships" id="345" r:id="R20cf29450a2b4793"/>
    <p:sldId xmlns:r="http://schemas.openxmlformats.org/officeDocument/2006/relationships" id="346" r:id="R581f23eeded34ff5"/>
    <p:sldId xmlns:r="http://schemas.openxmlformats.org/officeDocument/2006/relationships" id="347" r:id="R0fa0b2068e82401e"/>
    <p:sldId xmlns:r="http://schemas.openxmlformats.org/officeDocument/2006/relationships" id="348" r:id="Rfd73d41ff2784279"/>
    <p:sldId xmlns:r="http://schemas.openxmlformats.org/officeDocument/2006/relationships" id="349" r:id="Rceb103493a0b4b44"/>
    <p:sldId xmlns:r="http://schemas.openxmlformats.org/officeDocument/2006/relationships" id="350" r:id="Re057334aa7d94fb1"/>
    <p:sldId xmlns:r="http://schemas.openxmlformats.org/officeDocument/2006/relationships" id="351" r:id="R0a3dea972a5943e2"/>
    <p:sldId xmlns:r="http://schemas.openxmlformats.org/officeDocument/2006/relationships" id="352" r:id="R3e666756304f4625"/>
    <p:sldId xmlns:r="http://schemas.openxmlformats.org/officeDocument/2006/relationships" id="353" r:id="R0381057ec6dd4919"/>
    <p:sldId xmlns:r="http://schemas.openxmlformats.org/officeDocument/2006/relationships" id="354" r:id="R77ecf5cdf0e94bf9"/>
    <p:sldId xmlns:r="http://schemas.openxmlformats.org/officeDocument/2006/relationships" id="355" r:id="R0b7ffa86c9434c52"/>
    <p:sldId xmlns:r="http://schemas.openxmlformats.org/officeDocument/2006/relationships" id="356" r:id="R4343b27d023f4e7c"/>
    <p:sldId xmlns:r="http://schemas.openxmlformats.org/officeDocument/2006/relationships" id="357" r:id="Rc5ce3e79494c401f"/>
    <p:sldId xmlns:r="http://schemas.openxmlformats.org/officeDocument/2006/relationships" id="358" r:id="Rf3812e15e94a43ad"/>
    <p:sldId xmlns:r="http://schemas.openxmlformats.org/officeDocument/2006/relationships" id="359" r:id="Rd268843f37644851"/>
    <p:sldId xmlns:r="http://schemas.openxmlformats.org/officeDocument/2006/relationships" id="360" r:id="R15dc0255df354765"/>
    <p:sldId xmlns:r="http://schemas.openxmlformats.org/officeDocument/2006/relationships" id="361" r:id="Rebebd7e74d6c4d7a"/>
    <p:sldId xmlns:r="http://schemas.openxmlformats.org/officeDocument/2006/relationships" id="362" r:id="R41b682bfcc644b00"/>
    <p:sldId xmlns:r="http://schemas.openxmlformats.org/officeDocument/2006/relationships" id="363" r:id="Rba4f01f6ac0e4837"/>
    <p:sldId xmlns:r="http://schemas.openxmlformats.org/officeDocument/2006/relationships" id="364" r:id="R4754332c298a40fe"/>
    <p:sldId xmlns:r="http://schemas.openxmlformats.org/officeDocument/2006/relationships" id="365" r:id="R30b6e0dcb70c4ec3"/>
    <p:sldId xmlns:r="http://schemas.openxmlformats.org/officeDocument/2006/relationships" id="366" r:id="R4ca3f545a31b4fa3"/>
    <p:sldId xmlns:r="http://schemas.openxmlformats.org/officeDocument/2006/relationships" id="367" r:id="R2414a2bf80954e81"/>
    <p:sldId xmlns:r="http://schemas.openxmlformats.org/officeDocument/2006/relationships" id="368" r:id="Ra2c514a126e7459e"/>
    <p:sldId xmlns:r="http://schemas.openxmlformats.org/officeDocument/2006/relationships" id="369" r:id="R50deff1e28844e79"/>
    <p:sldId xmlns:r="http://schemas.openxmlformats.org/officeDocument/2006/relationships" id="370" r:id="R9d6768e2d52a4fa8"/>
    <p:sldId xmlns:r="http://schemas.openxmlformats.org/officeDocument/2006/relationships" id="371" r:id="R7ce6c800920f4961"/>
    <p:sldId xmlns:r="http://schemas.openxmlformats.org/officeDocument/2006/relationships" id="372" r:id="Rf2f6f70d65744f9d"/>
    <p:sldId xmlns:r="http://schemas.openxmlformats.org/officeDocument/2006/relationships" id="373" r:id="R9fea05e589b04b33"/>
    <p:sldId xmlns:r="http://schemas.openxmlformats.org/officeDocument/2006/relationships" id="374" r:id="Rdbfe8364d0ac4873"/>
    <p:sldId xmlns:r="http://schemas.openxmlformats.org/officeDocument/2006/relationships" id="375" r:id="R1e51b54ba7554c05"/>
    <p:sldId xmlns:r="http://schemas.openxmlformats.org/officeDocument/2006/relationships" id="376" r:id="R71ba83ede3b34a8e"/>
    <p:sldId xmlns:r="http://schemas.openxmlformats.org/officeDocument/2006/relationships" id="377" r:id="R5636e03d92484994"/>
    <p:sldId xmlns:r="http://schemas.openxmlformats.org/officeDocument/2006/relationships" id="378" r:id="R7a52c5b7a5124cd5"/>
    <p:sldId xmlns:r="http://schemas.openxmlformats.org/officeDocument/2006/relationships" id="379" r:id="Reaae7cbfe8aa484f"/>
    <p:sldId xmlns:r="http://schemas.openxmlformats.org/officeDocument/2006/relationships" id="380" r:id="R614e74a6ce424d76"/>
    <p:sldId xmlns:r="http://schemas.openxmlformats.org/officeDocument/2006/relationships" id="381" r:id="R2a7c112442aa4950"/>
    <p:sldId xmlns:r="http://schemas.openxmlformats.org/officeDocument/2006/relationships" id="382" r:id="R657ce51b187c4813"/>
    <p:sldId xmlns:r="http://schemas.openxmlformats.org/officeDocument/2006/relationships" id="383" r:id="Rb1cf11719e89442e"/>
    <p:sldId xmlns:r="http://schemas.openxmlformats.org/officeDocument/2006/relationships" id="384" r:id="R0fc1f40b9f3646c2"/>
    <p:sldId xmlns:r="http://schemas.openxmlformats.org/officeDocument/2006/relationships" id="385" r:id="R93fc42f7ce5b475f"/>
    <p:sldId xmlns:r="http://schemas.openxmlformats.org/officeDocument/2006/relationships" id="386" r:id="R2717c5f8a6854830"/>
    <p:sldId xmlns:r="http://schemas.openxmlformats.org/officeDocument/2006/relationships" id="387" r:id="R56259462503c4c9f"/>
    <p:sldId xmlns:r="http://schemas.openxmlformats.org/officeDocument/2006/relationships" id="388" r:id="R35d1b0db537a45db"/>
    <p:sldId xmlns:r="http://schemas.openxmlformats.org/officeDocument/2006/relationships" id="389" r:id="R847ea8f2110b4a69"/>
    <p:sldId xmlns:r="http://schemas.openxmlformats.org/officeDocument/2006/relationships" id="390" r:id="R172b6264c301479d"/>
    <p:sldId xmlns:r="http://schemas.openxmlformats.org/officeDocument/2006/relationships" id="391" r:id="R105a08187ae84abe"/>
    <p:sldId xmlns:r="http://schemas.openxmlformats.org/officeDocument/2006/relationships" id="392" r:id="R3607a2d2b82e402d"/>
    <p:sldId xmlns:r="http://schemas.openxmlformats.org/officeDocument/2006/relationships" id="393" r:id="R97a5c62adf17457d"/>
    <p:sldId xmlns:r="http://schemas.openxmlformats.org/officeDocument/2006/relationships" id="394" r:id="R60f3751717394c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006d1e6ee44728" /><Relationship Type="http://schemas.openxmlformats.org/officeDocument/2006/relationships/slideMaster" Target="/ppt/slideMasters/slideMaster1.xml" Id="R8b65b585a7dc4e55" /><Relationship Type="http://schemas.openxmlformats.org/officeDocument/2006/relationships/notesMaster" Target="/ppt/notesMasters/notesMaster1.xml" Id="R51826bf8b0e7450c" /><Relationship Type="http://schemas.openxmlformats.org/officeDocument/2006/relationships/presProps" Target="/ppt/presProps.xml" Id="R41a47fad778b45e6" /><Relationship Type="http://schemas.openxmlformats.org/officeDocument/2006/relationships/tableStyles" Target="/ppt/tableStyles.xml" Id="R0958f69aed0b4943" /><Relationship Type="http://schemas.openxmlformats.org/officeDocument/2006/relationships/slide" Target="/ppt/slides/slide1.xml" Id="R9ca9cf3bc27147be" /><Relationship Type="http://schemas.openxmlformats.org/officeDocument/2006/relationships/slide" Target="/ppt/slides/slide2.xml" Id="R6020592115c24f58" /><Relationship Type="http://schemas.openxmlformats.org/officeDocument/2006/relationships/slide" Target="/ppt/slides/slide3.xml" Id="R6537f0b93248445f" /><Relationship Type="http://schemas.openxmlformats.org/officeDocument/2006/relationships/slide" Target="/ppt/slides/slide4.xml" Id="Rd3856ffbe069443a" /><Relationship Type="http://schemas.openxmlformats.org/officeDocument/2006/relationships/slide" Target="/ppt/slides/slide5.xml" Id="R02e4bf34dce642ca" /><Relationship Type="http://schemas.openxmlformats.org/officeDocument/2006/relationships/slide" Target="/ppt/slides/slide6.xml" Id="Rcc959ce71f01462e" /><Relationship Type="http://schemas.openxmlformats.org/officeDocument/2006/relationships/slide" Target="/ppt/slides/slide7.xml" Id="R990d1a6e4d484867" /><Relationship Type="http://schemas.openxmlformats.org/officeDocument/2006/relationships/slide" Target="/ppt/slides/slide8.xml" Id="R41f7126ae349454b" /><Relationship Type="http://schemas.openxmlformats.org/officeDocument/2006/relationships/slide" Target="/ppt/slides/slide9.xml" Id="Rf539984af3c7437b" /><Relationship Type="http://schemas.openxmlformats.org/officeDocument/2006/relationships/slide" Target="/ppt/slides/slide10.xml" Id="R51e14d15942c48b8" /><Relationship Type="http://schemas.openxmlformats.org/officeDocument/2006/relationships/slide" Target="/ppt/slides/slide11.xml" Id="Rde68fc81990b420c" /><Relationship Type="http://schemas.openxmlformats.org/officeDocument/2006/relationships/slide" Target="/ppt/slides/slide12.xml" Id="Ra23235a5f4b140f7" /><Relationship Type="http://schemas.openxmlformats.org/officeDocument/2006/relationships/slide" Target="/ppt/slides/slide13.xml" Id="Rbdcf979a4676499b" /><Relationship Type="http://schemas.openxmlformats.org/officeDocument/2006/relationships/slide" Target="/ppt/slides/slide14.xml" Id="R0b9fb029b5e04445" /><Relationship Type="http://schemas.openxmlformats.org/officeDocument/2006/relationships/slide" Target="/ppt/slides/slide15.xml" Id="Rb24a145444d34230" /><Relationship Type="http://schemas.openxmlformats.org/officeDocument/2006/relationships/slide" Target="/ppt/slides/slide16.xml" Id="R49f3165f28014826" /><Relationship Type="http://schemas.openxmlformats.org/officeDocument/2006/relationships/slide" Target="/ppt/slides/slide17.xml" Id="R2dea74ddd43548ea" /><Relationship Type="http://schemas.openxmlformats.org/officeDocument/2006/relationships/slide" Target="/ppt/slides/slide18.xml" Id="Rdad99d5faf814a16" /><Relationship Type="http://schemas.openxmlformats.org/officeDocument/2006/relationships/slide" Target="/ppt/slides/slide19.xml" Id="Rff115801602a4bf5" /><Relationship Type="http://schemas.openxmlformats.org/officeDocument/2006/relationships/slide" Target="/ppt/slides/slide20.xml" Id="R849a75bf48bc4924" /><Relationship Type="http://schemas.openxmlformats.org/officeDocument/2006/relationships/slide" Target="/ppt/slides/slide21.xml" Id="Rb10457da60714e32" /><Relationship Type="http://schemas.openxmlformats.org/officeDocument/2006/relationships/slide" Target="/ppt/slides/slide22.xml" Id="Rb08a9e3682fd49d3" /><Relationship Type="http://schemas.openxmlformats.org/officeDocument/2006/relationships/slide" Target="/ppt/slides/slide23.xml" Id="Rb245d8cd648d442d" /><Relationship Type="http://schemas.openxmlformats.org/officeDocument/2006/relationships/slide" Target="/ppt/slides/slide24.xml" Id="Re628edd888c84bd9" /><Relationship Type="http://schemas.openxmlformats.org/officeDocument/2006/relationships/slide" Target="/ppt/slides/slide25.xml" Id="R8acc512762804f43" /><Relationship Type="http://schemas.openxmlformats.org/officeDocument/2006/relationships/slide" Target="/ppt/slides/slide26.xml" Id="Rfcb02178890d46cb" /><Relationship Type="http://schemas.openxmlformats.org/officeDocument/2006/relationships/slide" Target="/ppt/slides/slide27.xml" Id="R967e519280a14452" /><Relationship Type="http://schemas.openxmlformats.org/officeDocument/2006/relationships/slide" Target="/ppt/slides/slide28.xml" Id="R8ed4379b35a14db9" /><Relationship Type="http://schemas.openxmlformats.org/officeDocument/2006/relationships/slide" Target="/ppt/slides/slide29.xml" Id="R38124075684c4e55" /><Relationship Type="http://schemas.openxmlformats.org/officeDocument/2006/relationships/slide" Target="/ppt/slides/slide30.xml" Id="Rc892a46b9b034446" /><Relationship Type="http://schemas.openxmlformats.org/officeDocument/2006/relationships/slide" Target="/ppt/slides/slide31.xml" Id="R3a613529207d4960" /><Relationship Type="http://schemas.openxmlformats.org/officeDocument/2006/relationships/slide" Target="/ppt/slides/slide32.xml" Id="R0baafc8c70e94cb2" /><Relationship Type="http://schemas.openxmlformats.org/officeDocument/2006/relationships/slide" Target="/ppt/slides/slide33.xml" Id="R6163a72b386b49de" /><Relationship Type="http://schemas.openxmlformats.org/officeDocument/2006/relationships/slide" Target="/ppt/slides/slide34.xml" Id="R67472ca5ba724ea9" /><Relationship Type="http://schemas.openxmlformats.org/officeDocument/2006/relationships/slide" Target="/ppt/slides/slide35.xml" Id="R50b15be78f94476b" /><Relationship Type="http://schemas.openxmlformats.org/officeDocument/2006/relationships/slide" Target="/ppt/slides/slide36.xml" Id="R550cf88dcb7a4401" /><Relationship Type="http://schemas.openxmlformats.org/officeDocument/2006/relationships/slide" Target="/ppt/slides/slide37.xml" Id="Rdb70c5b85c8747eb" /><Relationship Type="http://schemas.openxmlformats.org/officeDocument/2006/relationships/slide" Target="/ppt/slides/slide38.xml" Id="R68de883dc205407c" /><Relationship Type="http://schemas.openxmlformats.org/officeDocument/2006/relationships/slide" Target="/ppt/slides/slide39.xml" Id="Re3c8eaef46774f26" /><Relationship Type="http://schemas.openxmlformats.org/officeDocument/2006/relationships/slide" Target="/ppt/slides/slide40.xml" Id="Rf20d4f237fcc4f74" /><Relationship Type="http://schemas.openxmlformats.org/officeDocument/2006/relationships/slide" Target="/ppt/slides/slide41.xml" Id="Ra23f98f541164bc5" /><Relationship Type="http://schemas.openxmlformats.org/officeDocument/2006/relationships/slide" Target="/ppt/slides/slide42.xml" Id="R5a0382233a46475c" /><Relationship Type="http://schemas.openxmlformats.org/officeDocument/2006/relationships/slide" Target="/ppt/slides/slide43.xml" Id="Rd870940835114e7b" /><Relationship Type="http://schemas.openxmlformats.org/officeDocument/2006/relationships/slide" Target="/ppt/slides/slide44.xml" Id="R0c6963acaca74b9d" /><Relationship Type="http://schemas.openxmlformats.org/officeDocument/2006/relationships/slide" Target="/ppt/slides/slide45.xml" Id="R9e2937ab21da41fc" /><Relationship Type="http://schemas.openxmlformats.org/officeDocument/2006/relationships/slide" Target="/ppt/slides/slide46.xml" Id="R3daf539c77754a17" /><Relationship Type="http://schemas.openxmlformats.org/officeDocument/2006/relationships/slide" Target="/ppt/slides/slide47.xml" Id="R47e3ec50110248e2" /><Relationship Type="http://schemas.openxmlformats.org/officeDocument/2006/relationships/slide" Target="/ppt/slides/slide48.xml" Id="R6992796ffa0e4a61" /><Relationship Type="http://schemas.openxmlformats.org/officeDocument/2006/relationships/slide" Target="/ppt/slides/slide49.xml" Id="R5f8a9c734367460e" /><Relationship Type="http://schemas.openxmlformats.org/officeDocument/2006/relationships/slide" Target="/ppt/slides/slide50.xml" Id="R61e5199395944173" /><Relationship Type="http://schemas.openxmlformats.org/officeDocument/2006/relationships/slide" Target="/ppt/slides/slide51.xml" Id="R6671e3b2a73f4268" /><Relationship Type="http://schemas.openxmlformats.org/officeDocument/2006/relationships/slide" Target="/ppt/slides/slide52.xml" Id="Rc4bce3a876634453" /><Relationship Type="http://schemas.openxmlformats.org/officeDocument/2006/relationships/slide" Target="/ppt/slides/slide53.xml" Id="Rf217c7d4591f4bf3" /><Relationship Type="http://schemas.openxmlformats.org/officeDocument/2006/relationships/slide" Target="/ppt/slides/slide54.xml" Id="R724bebfb3d3d42fe" /><Relationship Type="http://schemas.openxmlformats.org/officeDocument/2006/relationships/slide" Target="/ppt/slides/slide55.xml" Id="R004660acb124446c" /><Relationship Type="http://schemas.openxmlformats.org/officeDocument/2006/relationships/slide" Target="/ppt/slides/slide56.xml" Id="R5e4a7b8c986d43a2" /><Relationship Type="http://schemas.openxmlformats.org/officeDocument/2006/relationships/slide" Target="/ppt/slides/slide57.xml" Id="Ra84193a4ea1e4ab7" /><Relationship Type="http://schemas.openxmlformats.org/officeDocument/2006/relationships/slide" Target="/ppt/slides/slide58.xml" Id="Rb135572f3d084452" /><Relationship Type="http://schemas.openxmlformats.org/officeDocument/2006/relationships/slide" Target="/ppt/slides/slide59.xml" Id="R95b11f15c9ae4906" /><Relationship Type="http://schemas.openxmlformats.org/officeDocument/2006/relationships/slide" Target="/ppt/slides/slide60.xml" Id="R8d64367b8d724bff" /><Relationship Type="http://schemas.openxmlformats.org/officeDocument/2006/relationships/slide" Target="/ppt/slides/slide61.xml" Id="R664f452458e04b9e" /><Relationship Type="http://schemas.openxmlformats.org/officeDocument/2006/relationships/slide" Target="/ppt/slides/slide62.xml" Id="R02579f8ecbd7470f" /><Relationship Type="http://schemas.openxmlformats.org/officeDocument/2006/relationships/slide" Target="/ppt/slides/slide63.xml" Id="R9c2e6c591a584af3" /><Relationship Type="http://schemas.openxmlformats.org/officeDocument/2006/relationships/slide" Target="/ppt/slides/slide64.xml" Id="Rbd0c84b5c3ba4590" /><Relationship Type="http://schemas.openxmlformats.org/officeDocument/2006/relationships/slide" Target="/ppt/slides/slide65.xml" Id="R5b1a249c4a544196" /><Relationship Type="http://schemas.openxmlformats.org/officeDocument/2006/relationships/slide" Target="/ppt/slides/slide66.xml" Id="R7c6542032d5144bb" /><Relationship Type="http://schemas.openxmlformats.org/officeDocument/2006/relationships/slide" Target="/ppt/slides/slide67.xml" Id="Raabc7a7a876248d3" /><Relationship Type="http://schemas.openxmlformats.org/officeDocument/2006/relationships/slide" Target="/ppt/slides/slide68.xml" Id="R2f9049edce8f40f7" /><Relationship Type="http://schemas.openxmlformats.org/officeDocument/2006/relationships/slide" Target="/ppt/slides/slide69.xml" Id="R6277a1f8ac14434d" /><Relationship Type="http://schemas.openxmlformats.org/officeDocument/2006/relationships/slide" Target="/ppt/slides/slide70.xml" Id="Rc22d5a98ee364bb1" /><Relationship Type="http://schemas.openxmlformats.org/officeDocument/2006/relationships/slide" Target="/ppt/slides/slide71.xml" Id="R4f6abf13c09a423c" /><Relationship Type="http://schemas.openxmlformats.org/officeDocument/2006/relationships/slide" Target="/ppt/slides/slide72.xml" Id="R8baa7bcc91a44295" /><Relationship Type="http://schemas.openxmlformats.org/officeDocument/2006/relationships/slide" Target="/ppt/slides/slide73.xml" Id="R055b0fa692a84dd3" /><Relationship Type="http://schemas.openxmlformats.org/officeDocument/2006/relationships/slide" Target="/ppt/slides/slide74.xml" Id="R8315550ccc7944bd" /><Relationship Type="http://schemas.openxmlformats.org/officeDocument/2006/relationships/slide" Target="/ppt/slides/slide75.xml" Id="R77da1b46081e4a20" /><Relationship Type="http://schemas.openxmlformats.org/officeDocument/2006/relationships/slide" Target="/ppt/slides/slide76.xml" Id="R51718c2f9d3446cc" /><Relationship Type="http://schemas.openxmlformats.org/officeDocument/2006/relationships/slide" Target="/ppt/slides/slide77.xml" Id="R87d6decbeada4d1c" /><Relationship Type="http://schemas.openxmlformats.org/officeDocument/2006/relationships/slide" Target="/ppt/slides/slide78.xml" Id="Rd9be5010e7004009" /><Relationship Type="http://schemas.openxmlformats.org/officeDocument/2006/relationships/slide" Target="/ppt/slides/slide79.xml" Id="R4afc00482f3347a4" /><Relationship Type="http://schemas.openxmlformats.org/officeDocument/2006/relationships/slide" Target="/ppt/slides/slide80.xml" Id="R41e50c36e5ce4d05" /><Relationship Type="http://schemas.openxmlformats.org/officeDocument/2006/relationships/slide" Target="/ppt/slides/slide81.xml" Id="R04f0ac917ec547e5" /><Relationship Type="http://schemas.openxmlformats.org/officeDocument/2006/relationships/slide" Target="/ppt/slides/slide82.xml" Id="R9a8fb4c5731940f1" /><Relationship Type="http://schemas.openxmlformats.org/officeDocument/2006/relationships/slide" Target="/ppt/slides/slide83.xml" Id="Rd3a290fc93414e3c" /><Relationship Type="http://schemas.openxmlformats.org/officeDocument/2006/relationships/slide" Target="/ppt/slides/slide84.xml" Id="R13b03b458ad2470b" /><Relationship Type="http://schemas.openxmlformats.org/officeDocument/2006/relationships/slide" Target="/ppt/slides/slide85.xml" Id="Ra3c1ffb109b64bb9" /><Relationship Type="http://schemas.openxmlformats.org/officeDocument/2006/relationships/slide" Target="/ppt/slides/slide86.xml" Id="Rca24e91b496b4f6a" /><Relationship Type="http://schemas.openxmlformats.org/officeDocument/2006/relationships/slide" Target="/ppt/slides/slide87.xml" Id="Rfdf2ad10ab5e4f52" /><Relationship Type="http://schemas.openxmlformats.org/officeDocument/2006/relationships/slide" Target="/ppt/slides/slide88.xml" Id="Rb5a85f3ff3c44cd0" /><Relationship Type="http://schemas.openxmlformats.org/officeDocument/2006/relationships/slide" Target="/ppt/slides/slide89.xml" Id="R31b6f8e0da8f418c" /><Relationship Type="http://schemas.openxmlformats.org/officeDocument/2006/relationships/slide" Target="/ppt/slides/slide90.xml" Id="R20cf29450a2b4793" /><Relationship Type="http://schemas.openxmlformats.org/officeDocument/2006/relationships/slide" Target="/ppt/slides/slide91.xml" Id="R581f23eeded34ff5" /><Relationship Type="http://schemas.openxmlformats.org/officeDocument/2006/relationships/slide" Target="/ppt/slides/slide92.xml" Id="R0fa0b2068e82401e" /><Relationship Type="http://schemas.openxmlformats.org/officeDocument/2006/relationships/slide" Target="/ppt/slides/slide93.xml" Id="Rfd73d41ff2784279" /><Relationship Type="http://schemas.openxmlformats.org/officeDocument/2006/relationships/slide" Target="/ppt/slides/slide94.xml" Id="Rceb103493a0b4b44" /><Relationship Type="http://schemas.openxmlformats.org/officeDocument/2006/relationships/slide" Target="/ppt/slides/slide95.xml" Id="Re057334aa7d94fb1" /><Relationship Type="http://schemas.openxmlformats.org/officeDocument/2006/relationships/slide" Target="/ppt/slides/slide96.xml" Id="R0a3dea972a5943e2" /><Relationship Type="http://schemas.openxmlformats.org/officeDocument/2006/relationships/slide" Target="/ppt/slides/slide97.xml" Id="R3e666756304f4625" /><Relationship Type="http://schemas.openxmlformats.org/officeDocument/2006/relationships/slide" Target="/ppt/slides/slide98.xml" Id="R0381057ec6dd4919" /><Relationship Type="http://schemas.openxmlformats.org/officeDocument/2006/relationships/slide" Target="/ppt/slides/slide99.xml" Id="R77ecf5cdf0e94bf9" /><Relationship Type="http://schemas.openxmlformats.org/officeDocument/2006/relationships/slide" Target="/ppt/slides/slide100.xml" Id="R0b7ffa86c9434c52" /><Relationship Type="http://schemas.openxmlformats.org/officeDocument/2006/relationships/slide" Target="/ppt/slides/slide101.xml" Id="R4343b27d023f4e7c" /><Relationship Type="http://schemas.openxmlformats.org/officeDocument/2006/relationships/slide" Target="/ppt/slides/slide102.xml" Id="Rc5ce3e79494c401f" /><Relationship Type="http://schemas.openxmlformats.org/officeDocument/2006/relationships/slide" Target="/ppt/slides/slide103.xml" Id="Rf3812e15e94a43ad" /><Relationship Type="http://schemas.openxmlformats.org/officeDocument/2006/relationships/slide" Target="/ppt/slides/slide104.xml" Id="Rd268843f37644851" /><Relationship Type="http://schemas.openxmlformats.org/officeDocument/2006/relationships/slide" Target="/ppt/slides/slide105.xml" Id="R15dc0255df354765" /><Relationship Type="http://schemas.openxmlformats.org/officeDocument/2006/relationships/slide" Target="/ppt/slides/slide106.xml" Id="Rebebd7e74d6c4d7a" /><Relationship Type="http://schemas.openxmlformats.org/officeDocument/2006/relationships/slide" Target="/ppt/slides/slide107.xml" Id="R41b682bfcc644b00" /><Relationship Type="http://schemas.openxmlformats.org/officeDocument/2006/relationships/slide" Target="/ppt/slides/slide108.xml" Id="Rba4f01f6ac0e4837" /><Relationship Type="http://schemas.openxmlformats.org/officeDocument/2006/relationships/slide" Target="/ppt/slides/slide109.xml" Id="R4754332c298a40fe" /><Relationship Type="http://schemas.openxmlformats.org/officeDocument/2006/relationships/slide" Target="/ppt/slides/slide110.xml" Id="R30b6e0dcb70c4ec3" /><Relationship Type="http://schemas.openxmlformats.org/officeDocument/2006/relationships/slide" Target="/ppt/slides/slide111.xml" Id="R4ca3f545a31b4fa3" /><Relationship Type="http://schemas.openxmlformats.org/officeDocument/2006/relationships/slide" Target="/ppt/slides/slide112.xml" Id="R2414a2bf80954e81" /><Relationship Type="http://schemas.openxmlformats.org/officeDocument/2006/relationships/slide" Target="/ppt/slides/slide113.xml" Id="Ra2c514a126e7459e" /><Relationship Type="http://schemas.openxmlformats.org/officeDocument/2006/relationships/slide" Target="/ppt/slides/slide114.xml" Id="R50deff1e28844e79" /><Relationship Type="http://schemas.openxmlformats.org/officeDocument/2006/relationships/slide" Target="/ppt/slides/slide115.xml" Id="R9d6768e2d52a4fa8" /><Relationship Type="http://schemas.openxmlformats.org/officeDocument/2006/relationships/slide" Target="/ppt/slides/slide116.xml" Id="R7ce6c800920f4961" /><Relationship Type="http://schemas.openxmlformats.org/officeDocument/2006/relationships/slide" Target="/ppt/slides/slide117.xml" Id="Rf2f6f70d65744f9d" /><Relationship Type="http://schemas.openxmlformats.org/officeDocument/2006/relationships/slide" Target="/ppt/slides/slide118.xml" Id="R9fea05e589b04b33" /><Relationship Type="http://schemas.openxmlformats.org/officeDocument/2006/relationships/slide" Target="/ppt/slides/slide119.xml" Id="Rdbfe8364d0ac4873" /><Relationship Type="http://schemas.openxmlformats.org/officeDocument/2006/relationships/slide" Target="/ppt/slides/slide120.xml" Id="R1e51b54ba7554c05" /><Relationship Type="http://schemas.openxmlformats.org/officeDocument/2006/relationships/slide" Target="/ppt/slides/slide121.xml" Id="R71ba83ede3b34a8e" /><Relationship Type="http://schemas.openxmlformats.org/officeDocument/2006/relationships/slide" Target="/ppt/slides/slide122.xml" Id="R5636e03d92484994" /><Relationship Type="http://schemas.openxmlformats.org/officeDocument/2006/relationships/slide" Target="/ppt/slides/slide123.xml" Id="R7a52c5b7a5124cd5" /><Relationship Type="http://schemas.openxmlformats.org/officeDocument/2006/relationships/slide" Target="/ppt/slides/slide124.xml" Id="Reaae7cbfe8aa484f" /><Relationship Type="http://schemas.openxmlformats.org/officeDocument/2006/relationships/slide" Target="/ppt/slides/slide125.xml" Id="R614e74a6ce424d76" /><Relationship Type="http://schemas.openxmlformats.org/officeDocument/2006/relationships/slide" Target="/ppt/slides/slide126.xml" Id="R2a7c112442aa4950" /><Relationship Type="http://schemas.openxmlformats.org/officeDocument/2006/relationships/slide" Target="/ppt/slides/slide127.xml" Id="R657ce51b187c4813" /><Relationship Type="http://schemas.openxmlformats.org/officeDocument/2006/relationships/slide" Target="/ppt/slides/slide128.xml" Id="Rb1cf11719e89442e" /><Relationship Type="http://schemas.openxmlformats.org/officeDocument/2006/relationships/slide" Target="/ppt/slides/slide129.xml" Id="R0fc1f40b9f3646c2" /><Relationship Type="http://schemas.openxmlformats.org/officeDocument/2006/relationships/slide" Target="/ppt/slides/slide130.xml" Id="R93fc42f7ce5b475f" /><Relationship Type="http://schemas.openxmlformats.org/officeDocument/2006/relationships/slide" Target="/ppt/slides/slide131.xml" Id="R2717c5f8a6854830" /><Relationship Type="http://schemas.openxmlformats.org/officeDocument/2006/relationships/slide" Target="/ppt/slides/slide132.xml" Id="R56259462503c4c9f" /><Relationship Type="http://schemas.openxmlformats.org/officeDocument/2006/relationships/slide" Target="/ppt/slides/slide133.xml" Id="R35d1b0db537a45db" /><Relationship Type="http://schemas.openxmlformats.org/officeDocument/2006/relationships/slide" Target="/ppt/slides/slide134.xml" Id="R847ea8f2110b4a69" /><Relationship Type="http://schemas.openxmlformats.org/officeDocument/2006/relationships/slide" Target="/ppt/slides/slide135.xml" Id="R172b6264c301479d" /><Relationship Type="http://schemas.openxmlformats.org/officeDocument/2006/relationships/slide" Target="/ppt/slides/slide136.xml" Id="R105a08187ae84abe" /><Relationship Type="http://schemas.openxmlformats.org/officeDocument/2006/relationships/slide" Target="/ppt/slides/slide137.xml" Id="R3607a2d2b82e402d" /><Relationship Type="http://schemas.openxmlformats.org/officeDocument/2006/relationships/slide" Target="/ppt/slides/slide138.xml" Id="R97a5c62adf17457d" /><Relationship Type="http://schemas.openxmlformats.org/officeDocument/2006/relationships/slide" Target="/ppt/slides/slide139.xml" Id="R60f3751717394c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5a825a30fa4b3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8647d23c64f45ce" /><Relationship Type="http://schemas.openxmlformats.org/officeDocument/2006/relationships/notesMaster" Target="/ppt/notesMasters/notesMaster1.xml" Id="R7ba9eac2912343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e4d70d87a60b45c3" /><Relationship Type="http://schemas.openxmlformats.org/officeDocument/2006/relationships/notesMaster" Target="/ppt/notesMasters/notesMaster1.xml" Id="Rada1d2dcaedd43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e70024f2a0c144d6" /><Relationship Type="http://schemas.openxmlformats.org/officeDocument/2006/relationships/notesMaster" Target="/ppt/notesMasters/notesMaster1.xml" Id="R5d117f33f5d640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6b4efd9b9aa1496d" /><Relationship Type="http://schemas.openxmlformats.org/officeDocument/2006/relationships/notesMaster" Target="/ppt/notesMasters/notesMaster1.xml" Id="R2a67ff135f59496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f7483db4eea4ff9" /><Relationship Type="http://schemas.openxmlformats.org/officeDocument/2006/relationships/notesMaster" Target="/ppt/notesMasters/notesMaster1.xml" Id="R9611598aa230493b" /></Relationships>
</file>

<file path=ppt/notesSlides/_rels/notesSlide6.xml.rels>&#65279;<?xml version="1.0" encoding="utf-8"?><Relationships xmlns="http://schemas.openxmlformats.org/package/2006/relationships"><Relationship Type="http://schemas.openxmlformats.org/officeDocument/2006/relationships/slide" Target="/ppt/slides/slide6.xml" Id="R7b7be4f7d9324497" /><Relationship Type="http://schemas.openxmlformats.org/officeDocument/2006/relationships/notesMaster" Target="/ppt/notesMasters/notesMaster1.xml" Id="R0c47136f1c5d44bb"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c0c0c82a3a47e5" /><Relationship Type="http://schemas.openxmlformats.org/officeDocument/2006/relationships/notesMaster" Target="/ppt/notesMasters/notesMaster1.xml" Id="R153e3a8fc76747d0" /></Relationships>
</file>

<file path=ppt/notesSlides/_rels/notesSlide8.xml.rels>&#65279;<?xml version="1.0" encoding="utf-8"?><Relationships xmlns="http://schemas.openxmlformats.org/package/2006/relationships"><Relationship Type="http://schemas.openxmlformats.org/officeDocument/2006/relationships/slide" Target="/ppt/slides/slide8.xml" Id="Rf2aa626cfd0d4a8b" /><Relationship Type="http://schemas.openxmlformats.org/officeDocument/2006/relationships/notesMaster" Target="/ppt/notesMasters/notesMaster1.xml" Id="R772ca63c986c4b63" /></Relationships>
</file>

<file path=ppt/notesSlides/_rels/notesSlide9.xml.rels>&#65279;<?xml version="1.0" encoding="utf-8"?><Relationships xmlns="http://schemas.openxmlformats.org/package/2006/relationships"><Relationship Type="http://schemas.openxmlformats.org/officeDocument/2006/relationships/slide" Target="/ppt/slides/slide9.xml" Id="R07417f3ca2c84b8d" /><Relationship Type="http://schemas.openxmlformats.org/officeDocument/2006/relationships/notesMaster" Target="/ppt/notesMasters/notesMaster1.xml" Id="R4f67c2746bac4bf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7fd4b795bf84d10" /><Relationship Type="http://schemas.openxmlformats.org/officeDocument/2006/relationships/notesMaster" Target="/ppt/notesMasters/notesMaster1.xml" Id="R76af71404bd9447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b5d132f5fc5414a" /><Relationship Type="http://schemas.openxmlformats.org/officeDocument/2006/relationships/notesMaster" Target="/ppt/notesMasters/notesMaster1.xml" Id="Rf56ff430f29c47a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0bacdb3159242c8" /><Relationship Type="http://schemas.openxmlformats.org/officeDocument/2006/relationships/notesMaster" Target="/ppt/notesMasters/notesMaster1.xml" Id="R68f21939f083420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68b0de02864247" /><Relationship Type="http://schemas.openxmlformats.org/officeDocument/2006/relationships/notesMaster" Target="/ppt/notesMasters/notesMaster1.xml" Id="Rdcc803fa1800426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29adc6d9bb4bc6" /><Relationship Type="http://schemas.openxmlformats.org/officeDocument/2006/relationships/notesMaster" Target="/ppt/notesMasters/notesMaster1.xml" Id="R344ded6edaec4e5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8d8476042c748d0" /><Relationship Type="http://schemas.openxmlformats.org/officeDocument/2006/relationships/notesMaster" Target="/ppt/notesMasters/notesMaster1.xml" Id="Rd66ee09c2b7b42b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5fa112990ac4131" /><Relationship Type="http://schemas.openxmlformats.org/officeDocument/2006/relationships/notesMaster" Target="/ppt/notesMasters/notesMaster1.xml" Id="Rda90abb22dd74c9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08854b88e644f00" /><Relationship Type="http://schemas.openxmlformats.org/officeDocument/2006/relationships/notesMaster" Target="/ppt/notesMasters/notesMaster1.xml" Id="R83b65e1489e9464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04c0ef510d343b3" /><Relationship Type="http://schemas.openxmlformats.org/officeDocument/2006/relationships/notesMaster" Target="/ppt/notesMasters/notesMaster1.xml" Id="Rb654639cf2604f9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551a4c216534f32" /><Relationship Type="http://schemas.openxmlformats.org/officeDocument/2006/relationships/notesMaster" Target="/ppt/notesMasters/notesMaster1.xml" Id="Re1445afae4414f5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5e3f8a2c67344d4" /><Relationship Type="http://schemas.openxmlformats.org/officeDocument/2006/relationships/notesMaster" Target="/ppt/notesMasters/notesMaster1.xml" Id="R2b8744fdc193488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833229be0444d61" /><Relationship Type="http://schemas.openxmlformats.org/officeDocument/2006/relationships/notesMaster" Target="/ppt/notesMasters/notesMaster1.xml" Id="R7526e0fc028c49a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e0fb1f876f84521" /><Relationship Type="http://schemas.openxmlformats.org/officeDocument/2006/relationships/notesMaster" Target="/ppt/notesMasters/notesMaster1.xml" Id="Rb3c855d8dc124ce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2a8491beb1e4af2" /><Relationship Type="http://schemas.openxmlformats.org/officeDocument/2006/relationships/notesMaster" Target="/ppt/notesMasters/notesMaster1.xml" Id="R4a21daf71d5f4dc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ce2a3c1bd934fb9" /><Relationship Type="http://schemas.openxmlformats.org/officeDocument/2006/relationships/notesMaster" Target="/ppt/notesMasters/notesMaster1.xml" Id="R60c4de4380834b4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6938951a9234952" /><Relationship Type="http://schemas.openxmlformats.org/officeDocument/2006/relationships/notesMaster" Target="/ppt/notesMasters/notesMaster1.xml" Id="R8a62054c196a4b4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1fea87333114861" /><Relationship Type="http://schemas.openxmlformats.org/officeDocument/2006/relationships/notesMaster" Target="/ppt/notesMasters/notesMaster1.xml" Id="Ree92d58f2327489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c511b2bee6d4221" /><Relationship Type="http://schemas.openxmlformats.org/officeDocument/2006/relationships/notesMaster" Target="/ppt/notesMasters/notesMaster1.xml" Id="R6ea5685f413f4b1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ca5f7473adc4925" /><Relationship Type="http://schemas.openxmlformats.org/officeDocument/2006/relationships/notesMaster" Target="/ppt/notesMasters/notesMaster1.xml" Id="R8d5cc683be3e49c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0b70dab3be5480b" /><Relationship Type="http://schemas.openxmlformats.org/officeDocument/2006/relationships/notesMaster" Target="/ppt/notesMasters/notesMaster1.xml" Id="R3f15d7e204034a7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567ed5e49b5485d" /><Relationship Type="http://schemas.openxmlformats.org/officeDocument/2006/relationships/notesMaster" Target="/ppt/notesMasters/notesMaster1.xml" Id="R8324830d34404fd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441c316c49c4d4d" /><Relationship Type="http://schemas.openxmlformats.org/officeDocument/2006/relationships/notesMaster" Target="/ppt/notesMasters/notesMaster1.xml" Id="R2240a99c19ad4d4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6f3cfcd38cf429c" /><Relationship Type="http://schemas.openxmlformats.org/officeDocument/2006/relationships/notesMaster" Target="/ppt/notesMasters/notesMaster1.xml" Id="R8621a5beebe245e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3f25cc471214dbc" /><Relationship Type="http://schemas.openxmlformats.org/officeDocument/2006/relationships/notesMaster" Target="/ppt/notesMasters/notesMaster1.xml" Id="Rc2482cd0847443e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aefcd6df33e407f" /><Relationship Type="http://schemas.openxmlformats.org/officeDocument/2006/relationships/notesMaster" Target="/ppt/notesMasters/notesMaster1.xml" Id="R89f325ff8ca54fd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cbcb2bece514aca" /><Relationship Type="http://schemas.openxmlformats.org/officeDocument/2006/relationships/notesMaster" Target="/ppt/notesMasters/notesMaster1.xml" Id="Rb5c616c3d7e9400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8fb62e13a29489e" /><Relationship Type="http://schemas.openxmlformats.org/officeDocument/2006/relationships/notesMaster" Target="/ppt/notesMasters/notesMaster1.xml" Id="R85b407f8ad24466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363472c24d64049" /><Relationship Type="http://schemas.openxmlformats.org/officeDocument/2006/relationships/notesMaster" Target="/ppt/notesMasters/notesMaster1.xml" Id="R5a1258b0cc4f490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8e7b4181e854dc9" /><Relationship Type="http://schemas.openxmlformats.org/officeDocument/2006/relationships/notesMaster" Target="/ppt/notesMasters/notesMaster1.xml" Id="Rf7dd5641cea44a8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61d2170d56e4836" /><Relationship Type="http://schemas.openxmlformats.org/officeDocument/2006/relationships/notesMaster" Target="/ppt/notesMasters/notesMaster1.xml" Id="R9935717c11e843f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d9054f12cf9408a" /><Relationship Type="http://schemas.openxmlformats.org/officeDocument/2006/relationships/notesMaster" Target="/ppt/notesMasters/notesMaster1.xml" Id="Rc714f8c0aa1a4a7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d44c68ed7d347bd" /><Relationship Type="http://schemas.openxmlformats.org/officeDocument/2006/relationships/notesMaster" Target="/ppt/notesMasters/notesMaster1.xml" Id="R07af95b7bf04460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7aacd466baa43d2" /><Relationship Type="http://schemas.openxmlformats.org/officeDocument/2006/relationships/notesMaster" Target="/ppt/notesMasters/notesMaster1.xml" Id="Rbe7a7ba8696549c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49eb955e31a4985" /><Relationship Type="http://schemas.openxmlformats.org/officeDocument/2006/relationships/notesMaster" Target="/ppt/notesMasters/notesMaster1.xml" Id="R789b36eec9f1498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5aabc329e404d31" /><Relationship Type="http://schemas.openxmlformats.org/officeDocument/2006/relationships/notesMaster" Target="/ppt/notesMasters/notesMaster1.xml" Id="Rffc2c6577ce1480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934b3f0ce1542df" /><Relationship Type="http://schemas.openxmlformats.org/officeDocument/2006/relationships/notesMaster" Target="/ppt/notesMasters/notesMaster1.xml" Id="Re2ed9b9959f7486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46357aa2163427d" /><Relationship Type="http://schemas.openxmlformats.org/officeDocument/2006/relationships/notesMaster" Target="/ppt/notesMasters/notesMaster1.xml" Id="Rc73fc8b8d7324d0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cfb7471a12a49b3" /><Relationship Type="http://schemas.openxmlformats.org/officeDocument/2006/relationships/notesMaster" Target="/ppt/notesMasters/notesMaster1.xml" Id="R740756098dec4ae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3d0c587e7d64a6f" /><Relationship Type="http://schemas.openxmlformats.org/officeDocument/2006/relationships/notesMaster" Target="/ppt/notesMasters/notesMaster1.xml" Id="R4c4c6b966f7e469e"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2238639833f43c5" /><Relationship Type="http://schemas.openxmlformats.org/officeDocument/2006/relationships/notesMaster" Target="/ppt/notesMasters/notesMaster1.xml" Id="Re3f95c0f0daa4fb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2d742c28859478e" /><Relationship Type="http://schemas.openxmlformats.org/officeDocument/2006/relationships/notesMaster" Target="/ppt/notesMasters/notesMaster1.xml" Id="R6db7cbdfe2354fa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dc2d5a6a6534417" /><Relationship Type="http://schemas.openxmlformats.org/officeDocument/2006/relationships/notesMaster" Target="/ppt/notesMasters/notesMaster1.xml" Id="Rf64d465778c8409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eb48c9771b34936" /><Relationship Type="http://schemas.openxmlformats.org/officeDocument/2006/relationships/notesMaster" Target="/ppt/notesMasters/notesMaster1.xml" Id="R16acd62a1074450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fc539fb41fe453d" /><Relationship Type="http://schemas.openxmlformats.org/officeDocument/2006/relationships/notesMaster" Target="/ppt/notesMasters/notesMaster1.xml" Id="Rf769c70a6ce942f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84e2c570c0446c0" /><Relationship Type="http://schemas.openxmlformats.org/officeDocument/2006/relationships/notesMaster" Target="/ppt/notesMasters/notesMaster1.xml" Id="R22a65eee87d74466"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6b3fe6e41b241fa" /><Relationship Type="http://schemas.openxmlformats.org/officeDocument/2006/relationships/notesMaster" Target="/ppt/notesMasters/notesMaster1.xml" Id="Raea7afc0c8a34d9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d09bb73225e4b46" /><Relationship Type="http://schemas.openxmlformats.org/officeDocument/2006/relationships/notesMaster" Target="/ppt/notesMasters/notesMaster1.xml" Id="R4cd871884be5450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cee85eec654493e" /><Relationship Type="http://schemas.openxmlformats.org/officeDocument/2006/relationships/notesMaster" Target="/ppt/notesMasters/notesMaster1.xml" Id="R595c14b881e4482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a44a4de9f0f4ea3" /><Relationship Type="http://schemas.openxmlformats.org/officeDocument/2006/relationships/notesMaster" Target="/ppt/notesMasters/notesMaster1.xml" Id="Rfab4748a64d6483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52763de265a4d40" /><Relationship Type="http://schemas.openxmlformats.org/officeDocument/2006/relationships/notesMaster" Target="/ppt/notesMasters/notesMaster1.xml" Id="Rda00dfe81c6649a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18926326ffb946dc" /><Relationship Type="http://schemas.openxmlformats.org/officeDocument/2006/relationships/notesMaster" Target="/ppt/notesMasters/notesMaster1.xml" Id="Rf16efb519e534540"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b492117af5a4c91" /><Relationship Type="http://schemas.openxmlformats.org/officeDocument/2006/relationships/notesMaster" Target="/ppt/notesMasters/notesMaster1.xml" Id="R619a7b7f4b4a4d2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d9a8f17f7b5d4499" /><Relationship Type="http://schemas.openxmlformats.org/officeDocument/2006/relationships/notesMaster" Target="/ppt/notesMasters/notesMaster1.xml" Id="Rc8eb996b553f4ea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00498dfccd542d7" /><Relationship Type="http://schemas.openxmlformats.org/officeDocument/2006/relationships/notesMaster" Target="/ppt/notesMasters/notesMaster1.xml" Id="Ref8e6f8176254e3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9b3741029255494e" /><Relationship Type="http://schemas.openxmlformats.org/officeDocument/2006/relationships/notesMaster" Target="/ppt/notesMasters/notesMaster1.xml" Id="R31761e257cae4711"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f647674017a44c9" /><Relationship Type="http://schemas.openxmlformats.org/officeDocument/2006/relationships/notesMaster" Target="/ppt/notesMasters/notesMaster1.xml" Id="Ra65c359de09a450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665fa6a4a8bb4d20" /><Relationship Type="http://schemas.openxmlformats.org/officeDocument/2006/relationships/notesMaster" Target="/ppt/notesMasters/notesMaster1.xml" Id="R180483db5ebf419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750a817f482457c" /><Relationship Type="http://schemas.openxmlformats.org/officeDocument/2006/relationships/notesMaster" Target="/ppt/notesMasters/notesMaster1.xml" Id="Rc91952008fe240a3"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149727344c744ec" /><Relationship Type="http://schemas.openxmlformats.org/officeDocument/2006/relationships/notesMaster" Target="/ppt/notesMasters/notesMaster1.xml" Id="Re78eea7d76ba4ea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77718aef22844789" /><Relationship Type="http://schemas.openxmlformats.org/officeDocument/2006/relationships/notesMaster" Target="/ppt/notesMasters/notesMaster1.xml" Id="Rfe68cfad087e498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bdec44d94198412f" /><Relationship Type="http://schemas.openxmlformats.org/officeDocument/2006/relationships/notesMaster" Target="/ppt/notesMasters/notesMaster1.xml" Id="R77b60946be3c464d"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4541793da3745c9" /><Relationship Type="http://schemas.openxmlformats.org/officeDocument/2006/relationships/notesMaster" Target="/ppt/notesMasters/notesMaster1.xml" Id="R685517803458427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8771bc94b7ae4883" /><Relationship Type="http://schemas.openxmlformats.org/officeDocument/2006/relationships/notesMaster" Target="/ppt/notesMasters/notesMaster1.xml" Id="R5a88a19be96c4aca"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1967433566334fb6" /><Relationship Type="http://schemas.openxmlformats.org/officeDocument/2006/relationships/notesMaster" Target="/ppt/notesMasters/notesMaster1.xml" Id="R77adfb1675064d11"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af8537d3b80b4ed4" /><Relationship Type="http://schemas.openxmlformats.org/officeDocument/2006/relationships/notesMaster" Target="/ppt/notesMasters/notesMaster1.xml" Id="R33fd015f822a452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2996c476afdb4cd6" /><Relationship Type="http://schemas.openxmlformats.org/officeDocument/2006/relationships/notesMaster" Target="/ppt/notesMasters/notesMaster1.xml" Id="R019ff2b11a064295"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648b8e91408c4df6" /><Relationship Type="http://schemas.openxmlformats.org/officeDocument/2006/relationships/notesMaster" Target="/ppt/notesMasters/notesMaster1.xml" Id="Rff31bf3d8e974d3c"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e50a5ab172fd4a90" /><Relationship Type="http://schemas.openxmlformats.org/officeDocument/2006/relationships/notesMaster" Target="/ppt/notesMasters/notesMaster1.xml" Id="R5fc9d4c7426344df"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0cf249cff854aa9" /><Relationship Type="http://schemas.openxmlformats.org/officeDocument/2006/relationships/notesMaster" Target="/ppt/notesMasters/notesMaster1.xml" Id="R5c09dfeb3cb9416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aae2aab97af34ec0" /><Relationship Type="http://schemas.openxmlformats.org/officeDocument/2006/relationships/notesMaster" Target="/ppt/notesMasters/notesMaster1.xml" Id="R7d018e7292704de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f93b9f128e7e4eed" /><Relationship Type="http://schemas.openxmlformats.org/officeDocument/2006/relationships/notesMaster" Target="/ppt/notesMasters/notesMaster1.xml" Id="R8958de29b1c4464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5fe9a351eec4e2f" /><Relationship Type="http://schemas.openxmlformats.org/officeDocument/2006/relationships/notesMaster" Target="/ppt/notesMasters/notesMaster1.xml" Id="Re3dde356531f484a"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aed143317f1043f8" /><Relationship Type="http://schemas.openxmlformats.org/officeDocument/2006/relationships/notesMaster" Target="/ppt/notesMasters/notesMaster1.xml" Id="R66dd3e297ac54c5f"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29f3f150ff234d5e" /><Relationship Type="http://schemas.openxmlformats.org/officeDocument/2006/relationships/notesMaster" Target="/ppt/notesMasters/notesMaster1.xml" Id="R089e93ca269d4512"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95ea84cbb4f04bab" /><Relationship Type="http://schemas.openxmlformats.org/officeDocument/2006/relationships/notesMaster" Target="/ppt/notesMasters/notesMaster1.xml" Id="R23cc7b02199a483d"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8255a85d6f5243a7" /><Relationship Type="http://schemas.openxmlformats.org/officeDocument/2006/relationships/notesMaster" Target="/ppt/notesMasters/notesMaster1.xml" Id="R69e4e59da9a444fa"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3cb35f4c40e4b16" /><Relationship Type="http://schemas.openxmlformats.org/officeDocument/2006/relationships/notesMaster" Target="/ppt/notesMasters/notesMaster1.xml" Id="R344618a37a1047ca"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52ae10b9216f45d9" /><Relationship Type="http://schemas.openxmlformats.org/officeDocument/2006/relationships/notesMaster" Target="/ppt/notesMasters/notesMaster1.xml" Id="Re4dd3d4e2063410d"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be70a9545c71441d" /><Relationship Type="http://schemas.openxmlformats.org/officeDocument/2006/relationships/notesMaster" Target="/ppt/notesMasters/notesMaster1.xml" Id="Rab2884730d6a429f"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fcee8fc564564d69" /><Relationship Type="http://schemas.openxmlformats.org/officeDocument/2006/relationships/notesMaster" Target="/ppt/notesMasters/notesMaster1.xml" Id="R39996041c4fd4d30"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0dbff8840fc1412f" /><Relationship Type="http://schemas.openxmlformats.org/officeDocument/2006/relationships/notesMaster" Target="/ppt/notesMasters/notesMaster1.xml" Id="R6e27fa1abd1d4e06"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1ae0d826738944ae" /><Relationship Type="http://schemas.openxmlformats.org/officeDocument/2006/relationships/notesMaster" Target="/ppt/notesMasters/notesMaster1.xml" Id="R9fb0257048cb444a"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8ad4d61a9e7344de" /><Relationship Type="http://schemas.openxmlformats.org/officeDocument/2006/relationships/notesMaster" Target="/ppt/notesMasters/notesMaster1.xml" Id="R681048a3795c437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2b6bd297363f4094" /><Relationship Type="http://schemas.openxmlformats.org/officeDocument/2006/relationships/notesMaster" Target="/ppt/notesMasters/notesMaster1.xml" Id="R2b90c21ab5a844b5"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4b1c8dac121b424d" /><Relationship Type="http://schemas.openxmlformats.org/officeDocument/2006/relationships/notesMaster" Target="/ppt/notesMasters/notesMaster1.xml" Id="Rc2f68b08488a4536"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e911c34377f94102" /><Relationship Type="http://schemas.openxmlformats.org/officeDocument/2006/relationships/notesMaster" Target="/ppt/notesMasters/notesMaster1.xml" Id="R52fbab35a74a499d"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f02f84e5dfd04587" /><Relationship Type="http://schemas.openxmlformats.org/officeDocument/2006/relationships/notesMaster" Target="/ppt/notesMasters/notesMaster1.xml" Id="R0dad7cc3944b40b6"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ba696ca1e4814e1a" /><Relationship Type="http://schemas.openxmlformats.org/officeDocument/2006/relationships/notesMaster" Target="/ppt/notesMasters/notesMaster1.xml" Id="R18ee55b376cc4f44"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80e2c22ba1864d79" /><Relationship Type="http://schemas.openxmlformats.org/officeDocument/2006/relationships/notesMaster" Target="/ppt/notesMasters/notesMaster1.xml" Id="Rca6a1a36e81e44e0"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9a695831b3624959" /><Relationship Type="http://schemas.openxmlformats.org/officeDocument/2006/relationships/notesMaster" Target="/ppt/notesMasters/notesMaster1.xml" Id="Rcf6b31f394954454"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9b8bddefd4ad43ae" /><Relationship Type="http://schemas.openxmlformats.org/officeDocument/2006/relationships/notesMaster" Target="/ppt/notesMasters/notesMaster1.xml" Id="R5a7f248608ab469f"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f8a7ac4c5e414a8e" /><Relationship Type="http://schemas.openxmlformats.org/officeDocument/2006/relationships/notesMaster" Target="/ppt/notesMasters/notesMaster1.xml" Id="R53dea2e2d59741b9"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00197e877a9d4907" /><Relationship Type="http://schemas.openxmlformats.org/officeDocument/2006/relationships/notesMaster" Target="/ppt/notesMasters/notesMaster1.xml" Id="Rba5be7d2d9bf4454"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866a236479ab4672" /><Relationship Type="http://schemas.openxmlformats.org/officeDocument/2006/relationships/notesMaster" Target="/ppt/notesMasters/notesMaster1.xml" Id="Rcb47d5b444b64d67"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e41efb658d9441a9" /><Relationship Type="http://schemas.openxmlformats.org/officeDocument/2006/relationships/notesMaster" Target="/ppt/notesMasters/notesMaster1.xml" Id="R1767c58703ca4135"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7cf74bda2dac4c43" /><Relationship Type="http://schemas.openxmlformats.org/officeDocument/2006/relationships/notesMaster" Target="/ppt/notesMasters/notesMaster1.xml" Id="Rf597429e471e48ce"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284c7b51415e4dc9" /><Relationship Type="http://schemas.openxmlformats.org/officeDocument/2006/relationships/notesMaster" Target="/ppt/notesMasters/notesMaster1.xml" Id="R95de25fda9b6417a"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60777ab7c64e46ae" /><Relationship Type="http://schemas.openxmlformats.org/officeDocument/2006/relationships/notesMaster" Target="/ppt/notesMasters/notesMaster1.xml" Id="R0df271837e2d4d26"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b587665805db4910" /><Relationship Type="http://schemas.openxmlformats.org/officeDocument/2006/relationships/notesMaster" Target="/ppt/notesMasters/notesMaster1.xml" Id="Rb417efaeb3ac41db"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6251b5f38f62420f" /><Relationship Type="http://schemas.openxmlformats.org/officeDocument/2006/relationships/notesMaster" Target="/ppt/notesMasters/notesMaster1.xml" Id="Rbf9f10db3df448bd"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e5b22e1c0e374425" /><Relationship Type="http://schemas.openxmlformats.org/officeDocument/2006/relationships/notesMaster" Target="/ppt/notesMasters/notesMaster1.xml" Id="R4c49133b223c42b8"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14a24083dac54e25" /><Relationship Type="http://schemas.openxmlformats.org/officeDocument/2006/relationships/notesMaster" Target="/ppt/notesMasters/notesMaster1.xml" Id="R2c8885b04d024dda"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99d0d44bc199478d" /><Relationship Type="http://schemas.openxmlformats.org/officeDocument/2006/relationships/notesMaster" Target="/ppt/notesMasters/notesMaster1.xml" Id="R93eb7e01f8874fd0"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d3d64f5250344713" /><Relationship Type="http://schemas.openxmlformats.org/officeDocument/2006/relationships/notesMaster" Target="/ppt/notesMasters/notesMaster1.xml" Id="R16fa90ccc65348aa"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84a800f4f23b4e02" /><Relationship Type="http://schemas.openxmlformats.org/officeDocument/2006/relationships/notesMaster" Target="/ppt/notesMasters/notesMaster1.xml" Id="R79574aa40fe94918"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c6ceca1d56ae4bc5" /><Relationship Type="http://schemas.openxmlformats.org/officeDocument/2006/relationships/notesMaster" Target="/ppt/notesMasters/notesMaster1.xml" Id="R3fe163cc605b4f61"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e84c95f82d364945" /><Relationship Type="http://schemas.openxmlformats.org/officeDocument/2006/relationships/notesMaster" Target="/ppt/notesMasters/notesMaster1.xml" Id="R12c9a34da5a94bd8"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be81218f07b44535" /><Relationship Type="http://schemas.openxmlformats.org/officeDocument/2006/relationships/notesMaster" Target="/ppt/notesMasters/notesMaster1.xml" Id="R02fa0e344db14e61"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4a509912b5a14e9c" /><Relationship Type="http://schemas.openxmlformats.org/officeDocument/2006/relationships/notesMaster" Target="/ppt/notesMasters/notesMaster1.xml" Id="R9679e545bcd4490a"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6d509bc6ecdd42b2" /><Relationship Type="http://schemas.openxmlformats.org/officeDocument/2006/relationships/notesMaster" Target="/ppt/notesMasters/notesMaster1.xml" Id="R9707e25a04fb4e5c"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fdda7e36c832447f" /><Relationship Type="http://schemas.openxmlformats.org/officeDocument/2006/relationships/notesMaster" Target="/ppt/notesMasters/notesMaster1.xml" Id="R69a753a6ae9e48f8"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40f1479fac9c423a" /><Relationship Type="http://schemas.openxmlformats.org/officeDocument/2006/relationships/notesMaster" Target="/ppt/notesMasters/notesMaster1.xml" Id="R4170f820c5ab472c"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7804a3cacd3f4ad8" /><Relationship Type="http://schemas.openxmlformats.org/officeDocument/2006/relationships/notesMaster" Target="/ppt/notesMasters/notesMaster1.xml" Id="R85bcc6a2b56c4d4f"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b31bc38abf034fdb" /><Relationship Type="http://schemas.openxmlformats.org/officeDocument/2006/relationships/notesMaster" Target="/ppt/notesMasters/notesMaster1.xml" Id="Ra7d0e4efe7664862"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d9750f9d7c4d4072" /><Relationship Type="http://schemas.openxmlformats.org/officeDocument/2006/relationships/notesMaster" Target="/ppt/notesMasters/notesMaster1.xml" Id="R4f7493a74f1c45ea"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0e94f392aa624b66" /><Relationship Type="http://schemas.openxmlformats.org/officeDocument/2006/relationships/notesMaster" Target="/ppt/notesMasters/notesMaster1.xml" Id="R583a31ff109141dd"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5c576ed2c5964437" /><Relationship Type="http://schemas.openxmlformats.org/officeDocument/2006/relationships/notesMaster" Target="/ppt/notesMasters/notesMaster1.xml" Id="Rbbe48c9b6fbe4958"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ccafd4cf48b54f82" /><Relationship Type="http://schemas.openxmlformats.org/officeDocument/2006/relationships/notesMaster" Target="/ppt/notesMasters/notesMaster1.xml" Id="Rd31d7b444b1543b3"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03c1d813130f4997" /><Relationship Type="http://schemas.openxmlformats.org/officeDocument/2006/relationships/notesMaster" Target="/ppt/notesMasters/notesMaster1.xml" Id="R0960a123a48f48af"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20ba4eabf164416b" /><Relationship Type="http://schemas.openxmlformats.org/officeDocument/2006/relationships/notesMaster" Target="/ppt/notesMasters/notesMaster1.xml" Id="R0858583814904b8e"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4b942b0189ac4cd0" /><Relationship Type="http://schemas.openxmlformats.org/officeDocument/2006/relationships/notesMaster" Target="/ppt/notesMasters/notesMaster1.xml" Id="Rbfa54a26237a4a2f"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341c872f5958412a" /><Relationship Type="http://schemas.openxmlformats.org/officeDocument/2006/relationships/notesMaster" Target="/ppt/notesMasters/notesMaster1.xml" Id="R0eaeea02e4a44da5"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443eb353520349c6" /><Relationship Type="http://schemas.openxmlformats.org/officeDocument/2006/relationships/notesMaster" Target="/ppt/notesMasters/notesMaster1.xml" Id="R9b5168c3f9d54a62"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e2fc3c8ccbc34681" /><Relationship Type="http://schemas.openxmlformats.org/officeDocument/2006/relationships/notesMaster" Target="/ppt/notesMasters/notesMaster1.xml" Id="Rb6e09947d45f443a"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b93d79ff9af84d2f" /><Relationship Type="http://schemas.openxmlformats.org/officeDocument/2006/relationships/notesMaster" Target="/ppt/notesMasters/notesMaster1.xml" Id="Rc87c5d2b30264354"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79ce16ff36b64de9" /><Relationship Type="http://schemas.openxmlformats.org/officeDocument/2006/relationships/notesMaster" Target="/ppt/notesMasters/notesMaster1.xml" Id="R2188025e8abf44e0"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e4ca8fc8e10841f4" /><Relationship Type="http://schemas.openxmlformats.org/officeDocument/2006/relationships/notesMaster" Target="/ppt/notesMasters/notesMaster1.xml" Id="Reb67674890ca4488"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b4c2a4ed9d134d0e" /><Relationship Type="http://schemas.openxmlformats.org/officeDocument/2006/relationships/notesMaster" Target="/ppt/notesMasters/notesMaster1.xml" Id="R4b428089c5544a68"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13233605c0d94d06" /><Relationship Type="http://schemas.openxmlformats.org/officeDocument/2006/relationships/notesMaster" Target="/ppt/notesMasters/notesMaster1.xml" Id="R74ab5531c25845bb"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cfba8a294f704d66" /><Relationship Type="http://schemas.openxmlformats.org/officeDocument/2006/relationships/notesMaster" Target="/ppt/notesMasters/notesMaster1.xml" Id="Rc9e23068f32940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홈페이지와 동일한 사례·분석·요구사항 데이터 사용.</a:t>
            </a:r>
          </a:p>
          <a:p xmlns:a="http://schemas.openxmlformats.org/drawingml/2006/main">
            <a:r>
              <a:t>사실과 요구사항은 출처 기준. 아키텍처의 연결·운영 환류는 CCK 논리 설계. 실제 설치 배치도와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"AX01",</a:t>
            </a:r>
          </a:p>
          <a:p xmlns:a="http://schemas.openxmlformats.org/drawingml/2006/main">
            <a:r>
              <a:t>    "title": "서울 올빼미버스",</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"빅데이터 정책 적용",</a:t>
            </a:r>
          </a:p>
          <a:p xmlns:a="http://schemas.openxmlformats.org/drawingml/2006/main">
            <a:r>
              <a:t>    "period": "2013–2014",</a:t>
            </a:r>
          </a:p>
          <a:p xmlns:a="http://schemas.openxmlformats.org/drawingml/2006/main">
            <a:r>
              <a:t>    "sources": [</a:t>
            </a:r>
          </a:p>
          <a:p xmlns:a="http://schemas.openxmlformats.org/drawingml/2006/main">
            <a:r>
              <a:t>      "S01"</a:t>
            </a:r>
          </a:p>
          <a:p xmlns:a="http://schemas.openxmlformats.org/drawingml/2006/main">
            <a:r>
              <a:t>    ],</a:t>
            </a:r>
          </a:p>
          <a:p xmlns:a="http://schemas.openxmlformats.org/drawingml/2006/main">
            <a:r>
              <a:t>    "keywords": [</a:t>
            </a:r>
          </a:p>
          <a:p xmlns:a="http://schemas.openxmlformats.org/drawingml/2006/main">
            <a:r>
              <a:t>      "이동 수요",</a:t>
            </a:r>
          </a:p>
          <a:p xmlns:a="http://schemas.openxmlformats.org/drawingml/2006/main">
            <a:r>
              <a:t>      "교통약자",</a:t>
            </a:r>
          </a:p>
          <a:p xmlns:a="http://schemas.openxmlformats.org/drawingml/2006/main">
            <a:r>
              <a:t>      "지역",</a:t>
            </a:r>
          </a:p>
          <a:p xmlns:a="http://schemas.openxmlformats.org/drawingml/2006/main">
            <a:r>
              <a:t>      "데이터 연계"</a:t>
            </a:r>
          </a:p>
          <a:p xmlns:a="http://schemas.openxmlformats.org/drawingml/2006/main">
            <a:r>
              <a:t>    ],</a:t>
            </a:r>
          </a:p>
          <a:p xmlns:a="http://schemas.openxmlformats.org/drawingml/2006/main">
            <a:r>
              <a:t>    "fact": "통신 데이터 분석의 심야버스 노선 반영 및 2개 노선에서 9개 노선으로 운영 확대",</a:t>
            </a:r>
          </a:p>
          <a:p xmlns:a="http://schemas.openxmlformats.org/drawingml/2006/main">
            <a:r>
              <a:t>    "limit": "운영기관 발표 · 생성형 AI 사례 아님 · 사고 감소·지역경제 인과효과 별도",</a:t>
            </a:r>
          </a:p>
          <a:p xmlns:a="http://schemas.openxmlformats.org/drawingml/2006/main">
            <a:r>
              <a:t>    "flow": [</a:t>
            </a:r>
          </a:p>
          <a:p xmlns:a="http://schemas.openxmlformats.org/drawingml/2006/main">
            <a:r>
              <a:t>      "통신 이동 수요",</a:t>
            </a:r>
          </a:p>
          <a:p xmlns:a="http://schemas.openxmlformats.org/drawingml/2006/main">
            <a:r>
              <a:t>      "시간·지역 분석",</a:t>
            </a:r>
          </a:p>
          <a:p xmlns:a="http://schemas.openxmlformats.org/drawingml/2006/main">
            <a:r>
              <a:t>      "노선 선정",</a:t>
            </a:r>
          </a:p>
          <a:p xmlns:a="http://schemas.openxmlformats.org/drawingml/2006/main">
            <a:r>
              <a:t>      "심야버스 운영"</a:t>
            </a:r>
          </a:p>
          <a:p xmlns:a="http://schemas.openxmlformats.org/drawingml/2006/main">
            <a:r>
              <a:t>    ],</a:t>
            </a:r>
          </a:p>
          <a:p xmlns:a="http://schemas.openxmlformats.org/drawingml/2006/main">
            <a:r>
              <a:t>    "flowBasis": "공개 업무 흐름 요약 · 시스템 배치도 재현 아님",</a:t>
            </a:r>
          </a:p>
          <a:p xmlns:a="http://schemas.openxmlformats.org/drawingml/2006/main">
            <a:r>
              <a:t>    "lesson":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"지역·시간·관할 코드 정규화 / 집계 통계와 현장 근거 대조",</a:t>
            </a:r>
          </a:p>
          <a:p xmlns:a="http://schemas.openxmlformats.org/drawingml/2006/main">
            <a:r>
              <a:t>    "test": "동일 지역·기간의 원천 집계 재현 및 담당 부서 매핑 대조",</a:t>
            </a:r>
          </a:p>
          <a:p xmlns:a="http://schemas.openxmlformats.org/drawingml/2006/main">
            <a:r>
              <a:t>    "metric": "수요 검토 소요시간 / 근거 누락률"</a:t>
            </a:r>
          </a:p>
          <a:p xmlns:a="http://schemas.openxmlformats.org/drawingml/2006/main">
            <a:r>
              <a:t>  },</a:t>
            </a:r>
          </a:p>
          <a:p xmlns:a="http://schemas.openxmlformats.org/drawingml/2006/main">
            <a:r>
              <a:t>  "design": {</a:t>
            </a:r>
          </a:p>
          <a:p xmlns:a="http://schemas.openxmlformats.org/drawingml/2006/main">
            <a:r>
              <a:t>    "id": "AX01",</a:t>
            </a:r>
          </a:p>
          <a:p xmlns:a="http://schemas.openxmlformats.org/drawingml/2006/main">
            <a:r>
              <a:t>    "canonicalId": "AX01",</a:t>
            </a:r>
          </a:p>
          <a:p xmlns:a="http://schemas.openxmlformats.org/drawingml/2006/main">
            <a:r>
              <a:t>    "purpose": "심야 이동 수요에 맞춘 버스 노선 설계",</a:t>
            </a:r>
          </a:p>
          <a:p xmlns:a="http://schemas.openxmlformats.org/drawingml/2006/main">
            <a:r>
              <a:t>    "users": "교통정책 담당·운송 운영자",</a:t>
            </a:r>
          </a:p>
          <a:p xmlns:a="http://schemas.openxmlformats.org/drawingml/2006/main">
            <a:r>
              <a:t>    "scope": [</a:t>
            </a:r>
          </a:p>
          <a:p xmlns:a="http://schemas.openxmlformats.org/drawingml/2006/main">
            <a:r>
              <a:t>      "심야 수요 분포",</a:t>
            </a:r>
          </a:p>
          <a:p xmlns:a="http://schemas.openxmlformats.org/drawingml/2006/main">
            <a:r>
              <a:t>      "노선 후보 비교",</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"이동 수요 자료",</a:t>
            </a:r>
          </a:p>
          <a:p xmlns:a="http://schemas.openxmlformats.org/drawingml/2006/main">
            <a:r>
              <a:t>        "detail": "시간대·출발지·도착지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"심야 수요 분포 / 노선 후보 비교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"시간·지역 집계 분석",</a:t>
            </a:r>
          </a:p>
          <a:p xmlns:a="http://schemas.openxmlformats.org/drawingml/2006/main">
            <a:r>
              <a:t>        "detail": "이동량 집계와 노선별 수요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"노선 기획 담당",</a:t>
            </a:r>
          </a:p>
          <a:p xmlns:a="http://schemas.openxmlformats.org/drawingml/2006/main">
            <a:r>
              <a:t>        "detail": "노선 후보를 담당자의 운행계획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"수요·노선 자료",</a:t>
            </a:r>
          </a:p>
          <a:p xmlns:a="http://schemas.openxmlformats.org/drawingml/2006/main">
            <a:r>
              <a:t>        "detail": "통신 수요·노선의 공간 단위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"운행 후 수요 차이를 차기 노선 검토에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"통신 이동 수요",</a:t>
            </a:r>
          </a:p>
          <a:p xmlns:a="http://schemas.openxmlformats.org/drawingml/2006/main">
            <a:r>
              <a:t>        "input": "시간대·출발지·도착지 지정",</a:t>
            </a:r>
          </a:p>
          <a:p xmlns:a="http://schemas.openxmlformats.org/drawingml/2006/main">
            <a:r>
              <a:t>        "process": "통신 수요·노선의 공간 단위 정합화",</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"title": "시간·지역 분석",</a:t>
            </a:r>
          </a:p>
          <a:p xmlns:a="http://schemas.openxmlformats.org/drawingml/2006/main">
            <a:r>
              <a:t>        "input": "시간대별 이동량",</a:t>
            </a:r>
          </a:p>
          <a:p xmlns:a="http://schemas.openxmlformats.org/drawingml/2006/main">
            <a:r>
              <a:t>        "process": "이동량 집계와 노선별 수요 비교",</a:t>
            </a:r>
          </a:p>
          <a:p xmlns:a="http://schemas.openxmlformats.org/drawingml/2006/main">
            <a:r>
              <a:t>        "output": "지역별 수요 분포"</a:t>
            </a:r>
          </a:p>
          <a:p xmlns:a="http://schemas.openxmlformats.org/drawingml/2006/main">
            <a:r>
              <a:t>      },</a:t>
            </a:r>
          </a:p>
          <a:p xmlns:a="http://schemas.openxmlformats.org/drawingml/2006/main">
            <a:r>
              <a:t>      {</a:t>
            </a:r>
          </a:p>
          <a:p xmlns:a="http://schemas.openxmlformats.org/drawingml/2006/main">
            <a:r>
              <a:t>        "title": "노선 선정",</a:t>
            </a:r>
          </a:p>
          <a:p xmlns:a="http://schemas.openxmlformats.org/drawingml/2006/main">
            <a:r>
              <a:t>        "input": "지역별 수요 분포",</a:t>
            </a:r>
          </a:p>
          <a:p xmlns:a="http://schemas.openxmlformats.org/drawingml/2006/main">
            <a:r>
              <a:t>        "process": "집계 단위·관측기간 대조",</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"title": "심야버스 운영",</a:t>
            </a:r>
          </a:p>
          <a:p xmlns:a="http://schemas.openxmlformats.org/drawingml/2006/main">
            <a:r>
              <a:t>        "input": "노선 후보",</a:t>
            </a:r>
          </a:p>
          <a:p xmlns:a="http://schemas.openxmlformats.org/drawingml/2006/main">
            <a:r>
              <a:t>        "process":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"심야 시간대별 이동 수요를 기존 노선과 대조해 미충족 구간 선정",</a:t>
            </a:r>
          </a:p>
          <a:p xmlns:a="http://schemas.openxmlformats.org/drawingml/2006/main">
            <a:r>
              <a:t>      "exception": "지역별 통신 표본 비율 차이·관측기간 불일치",</a:t>
            </a:r>
          </a:p>
          <a:p xmlns:a="http://schemas.openxmlformats.org/drawingml/2006/main">
            <a:r>
              <a:t>      "evidence": "지역·시간 단위 원천 집계 대사표와 노선 후보 선정 사유",</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"교통정책 담당·운송 운영자",</a:t>
            </a:r>
          </a:p>
          <a:p xmlns:a="http://schemas.openxmlformats.org/drawingml/2006/main">
            <a:r>
              <a:t>          "processing": "시간대·출발지·도착지 지정",</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"수요·노선 자료",</a:t>
            </a:r>
          </a:p>
          <a:p xmlns:a="http://schemas.openxmlformats.org/drawingml/2006/main">
            <a:r>
              <a:t>          "processing": "통신 수요·노선의 공간 단위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"시간대별 이동량",</a:t>
            </a:r>
          </a:p>
          <a:p xmlns:a="http://schemas.openxmlformats.org/drawingml/2006/main">
            <a:r>
              <a:t>          "processing": "이동량 집계와 노선별 수요 비교",</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"노선 후보",</a:t>
            </a:r>
          </a:p>
          <a:p xmlns:a="http://schemas.openxmlformats.org/drawingml/2006/main">
            <a:r>
              <a:t>          "processing":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"운행 후 수요 차이를 차기 노선 검토에 반영",</a:t>
            </a:r>
          </a:p>
          <a:p xmlns:a="http://schemas.openxmlformats.org/drawingml/2006/main">
            <a:r>
              <a:t>          "output":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"운행 후 수요 차이를 차기 노선 검토에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"S01",</a:t>
            </a:r>
          </a:p>
          <a:p xmlns:a="http://schemas.openxmlformats.org/drawingml/2006/main">
            <a:r>
              <a:t>        "title": "서울시 · 올빼미버스 빅데이터 정책",</a:t>
            </a:r>
          </a:p>
          <a:p xmlns:a="http://schemas.openxmlformats.org/drawingml/2006/main">
            <a:r>
              <a:t>        "url": "https://english.seoul.go.kr/smg-taps-big-data-customized-policy/",</a:t>
            </a:r>
          </a:p>
          <a:p xmlns:a="http://schemas.openxmlformats.org/drawingml/2006/main">
            <a:r>
              <a:t>        "published": "2014-04-28",</a:t>
            </a:r>
          </a:p>
          <a:p xmlns:a="http://schemas.openxmlformats.org/drawingml/2006/main">
            <a:r>
              <a:t>        "level": "운영기관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"sourceDetail": null,</a:t>
            </a:r>
          </a:p>
          <a:p xmlns:a="http://schemas.openxmlformats.org/drawingml/2006/main">
            <a:r>
              <a:t>    "narrative": [</a:t>
            </a:r>
          </a:p>
          <a:p xmlns:a="http://schemas.openxmlformats.org/drawingml/2006/main">
            <a:r>
              <a:t>      "심야 교통 수요를 실제 노선 결정에 연결한 데이터 기반 정책 사례. 기존 노선·운행계획을 검토하는 담당자가 시간대·지역별 잠재 수요를 함께 비교하는 업무 변화.",</a:t>
            </a:r>
          </a:p>
          <a:p xmlns:a="http://schemas.openxmlformats.org/drawingml/2006/main">
            <a:r>
              <a:t>      "통신 이동량과 노선 정보를 공통 공간 단위로 정리한 뒤 수요 분포와 노선 후보를 비교하는 분석 흐름의 재구성. CCK 적용 시 분석 결과를 담당 관할·교통약자 지원 업무·노선 검토자료로 변환하는 단계의 분리.",</a:t>
            </a:r>
          </a:p>
          <a:p xmlns:a="http://schemas.openxmlformats.org/drawingml/2006/main">
            <a:r>
              <a:t>      "운영 노선 확대 실적과 안전·지역경제 효과의 구분. 통신자료의 대표성, 시간대별 집계 재현성, 실제 승차 수요와의 차이를 확인한 후 TS 업무 검토시간·근거 누락률로 평가할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"노선 검토 요청",</a:t>
            </a:r>
          </a:p>
          <a:p xmlns:a="http://schemas.openxmlformats.org/drawingml/2006/main">
            <a:r>
              <a:t>          "layer": "이용 접점",</a:t>
            </a:r>
          </a:p>
          <a:p xmlns:a="http://schemas.openxmlformats.org/drawingml/2006/main">
            <a:r>
              <a:t>          "detail": "교통정책 담당·운송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"시간·지역 범위",</a:t>
            </a:r>
          </a:p>
          <a:p xmlns:a="http://schemas.openxmlformats.org/drawingml/2006/main">
            <a:r>
              <a:t>          "layer": "업무 문맥",</a:t>
            </a:r>
          </a:p>
          <a:p xmlns:a="http://schemas.openxmlformats.org/drawingml/2006/main">
            <a:r>
              <a:t>          "detail": "시간대·출발지·도착지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"수요 집계 조회",</a:t>
            </a:r>
          </a:p>
          <a:p xmlns:a="http://schemas.openxmlformats.org/drawingml/2006/main">
            <a:r>
              <a:t>          "layer": "자료 조회",</a:t>
            </a:r>
          </a:p>
          <a:p xmlns:a="http://schemas.openxmlformats.org/drawingml/2006/main">
            <a:r>
              <a:t>          "detail": "시간대별 이동량",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"노선 후보 분석",</a:t>
            </a:r>
          </a:p>
          <a:p xmlns:a="http://schemas.openxmlformats.org/drawingml/2006/main">
            <a:r>
              <a:t>          "layer": "핵심 처리",</a:t>
            </a:r>
          </a:p>
          <a:p xmlns:a="http://schemas.openxmlformats.org/drawingml/2006/main">
            <a:r>
              <a:t>          "detail": "이동량 집계와 노선별 수요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"대표성·집계 검증",</a:t>
            </a:r>
          </a:p>
          <a:p xmlns:a="http://schemas.openxmlformats.org/drawingml/2006/main">
            <a:r>
              <a:t>          "layer": "결과 검증",</a:t>
            </a:r>
          </a:p>
          <a:p xmlns:a="http://schemas.openxmlformats.org/drawingml/2006/main">
            <a:r>
              <a:t>          "detail": "집계 단위·관측기간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"교통정책 검토",</a:t>
            </a:r>
          </a:p>
          <a:p xmlns:a="http://schemas.openxmlformats.org/drawingml/2006/main">
            <a:r>
              <a:t>          "layer": "사람 확인",</a:t>
            </a:r>
          </a:p>
          <a:p xmlns:a="http://schemas.openxmlformats.org/drawingml/2006/main">
            <a:r>
              <a:t>          "detail": "심야 시간대별 이동 수요를 기존 노선과 대조해 미충족 구간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"노선 운영계획",</a:t>
            </a:r>
          </a:p>
          <a:p xmlns:a="http://schemas.openxmlformats.org/drawingml/2006/main">
            <a:r>
              <a:t>          "layer": "업무 연결",</a:t>
            </a:r>
          </a:p>
          <a:p xmlns:a="http://schemas.openxmlformats.org/drawingml/2006/main">
            <a:r>
              <a:t>          "detail": "노선 후보를 담당자의 운행계획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수요 비교",</a:t>
            </a:r>
          </a:p>
          <a:p xmlns:a="http://schemas.openxmlformats.org/drawingml/2006/main">
            <a:r>
              <a:t>          "layer": "운영 관측",</a:t>
            </a:r>
          </a:p>
          <a:p xmlns:a="http://schemas.openxmlformats.org/drawingml/2006/main">
            <a:r>
              <a:t>          "detail": "운행 후 수요 차이를 차기 노선 검토에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"통신·노선 자료",</a:t>
            </a:r>
          </a:p>
          <a:p xmlns:a="http://schemas.openxmlformats.org/drawingml/2006/main">
            <a:r>
              <a:t>          "layer": "데이터 원천",</a:t>
            </a:r>
          </a:p>
          <a:p xmlns:a="http://schemas.openxmlformats.org/drawingml/2006/main">
            <a:r>
              <a:t>          "detail": "수요·노선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"공간 단위 정합화",</a:t>
            </a:r>
          </a:p>
          <a:p xmlns:a="http://schemas.openxmlformats.org/drawingml/2006/main">
            <a:r>
              <a:t>          "layer": "준비·갱신",</a:t>
            </a:r>
          </a:p>
          <a:p xmlns:a="http://schemas.openxmlformats.org/drawingml/2006/main">
            <a:r>
              <a:t>          "detail": "통신 수요·노선의 공간 단위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"지역·시간 집계",</a:t>
            </a:r>
          </a:p>
          <a:p xmlns:a="http://schemas.openxmlformats.org/drawingml/2006/main">
            <a:r>
              <a:t>          "layer": "상태·지식 저장",</a:t>
            </a:r>
          </a:p>
          <a:p xmlns:a="http://schemas.openxmlformats.org/drawingml/2006/main">
            <a:r>
              <a:t>          "detail": "지역·시간 단위 원천 집계 대사표와 노선 후보 선정 사유",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 이용정책",</a:t>
            </a:r>
          </a:p>
          <a:p xmlns:a="http://schemas.openxmlformats.org/drawingml/2006/main">
            <a:r>
              <a:t>          "layer": "권한·정책",</a:t>
            </a:r>
          </a:p>
          <a:p xmlns:a="http://schemas.openxmlformats.org/drawingml/2006/main">
            <a:r>
              <a:t>          "detail": "지역별 통신 표본 비율 차이·관측기간 불일치",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"통신 이동 수요 → 시간·지역 분석 → 노선 선정 → 심야버스 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"수요·노선 자료",</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"지역별 수요 분포",</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"노선 후보",</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"노선 후보",</a:t>
            </a:r>
          </a:p>
          <a:p xmlns:a="http://schemas.openxmlformats.org/drawingml/2006/main">
            <a:r>
              <a:t>          "check": "집계 단위·관측기간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"운영 노선",</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"심야 이동 수요에 맞춘 버스 노선 설계 / 심야 수요 분포·노선 후보 비교·운행 검토",</a:t>
            </a:r>
          </a:p>
          <a:p xmlns:a="http://schemas.openxmlformats.org/drawingml/2006/main">
            <a:r>
              <a:t>        "extension": "TS 관할·교통약자·이동 수요를 지역별 업무 사전으로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"지역별 통신 표본 비율 차이·관측기간 불일치",</a:t>
            </a:r>
          </a:p>
          <a:p xmlns:a="http://schemas.openxmlformats.org/drawingml/2006/main">
            <a:r>
              <a:t>        "hold": "집계 단위·관측기간 대조",</a:t>
            </a:r>
          </a:p>
          <a:p xmlns:a="http://schemas.openxmlformats.org/drawingml/2006/main">
            <a:r>
              <a:t>        "recovery": "운행 후 수요 차이를 차기 노선 검토에 반영",</a:t>
            </a:r>
          </a:p>
          <a:p xmlns:a="http://schemas.openxmlformats.org/drawingml/2006/main">
            <a:r>
              <a:t>        "evidence": "지역·시간 단위 원천 집계 대사표와 노선 후보 선정 사유"</a:t>
            </a:r>
          </a:p>
          <a:p xmlns:a="http://schemas.openxmlformats.org/drawingml/2006/main">
            <a:r>
              <a:t>      },</a:t>
            </a:r>
          </a:p>
          <a:p xmlns:a="http://schemas.openxmlformats.org/drawingml/2006/main">
            <a:r>
              <a:t>      "data": {</a:t>
            </a:r>
          </a:p>
          <a:p xmlns:a="http://schemas.openxmlformats.org/drawingml/2006/main">
            <a:r>
              <a:t>        "source": "수요·노선 자료",</a:t>
            </a:r>
          </a:p>
          <a:p xmlns:a="http://schemas.openxmlformats.org/drawingml/2006/main">
            <a:r>
              <a:t>        "prepare": "통신 수요·노선의 공간 단위 정합화",</a:t>
            </a:r>
          </a:p>
          <a:p xmlns:a="http://schemas.openxmlformats.org/drawingml/2006/main">
            <a:r>
              <a:t>        "output": "시간대별 이동량",</a:t>
            </a:r>
          </a:p>
          <a:p xmlns:a="http://schemas.openxmlformats.org/drawingml/2006/main">
            <a:r>
              <a:t>        "refresh": "운행 후 수요 차이를 차기 노선 검토에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"AX01",</a:t>
            </a:r>
          </a:p>
          <a:p xmlns:a="http://schemas.openxmlformats.org/drawingml/2006/main">
            <a:r>
              <a:t>    "success": [</a:t>
            </a:r>
          </a:p>
          <a:p xmlns:a="http://schemas.openxmlformats.org/drawingml/2006/main">
            <a:r>
              <a:t>      "통신 수요와 실제 노선의 결합",</a:t>
            </a:r>
          </a:p>
          <a:p xmlns:a="http://schemas.openxmlformats.org/drawingml/2006/main">
            <a:r>
              <a:t>      "심야 시간·지역 단위의 수요 구분"</a:t>
            </a:r>
          </a:p>
          <a:p xmlns:a="http://schemas.openxmlformats.org/drawingml/2006/main">
            <a:r>
              <a:t>    ],</a:t>
            </a:r>
          </a:p>
          <a:p xmlns:a="http://schemas.openxmlformats.org/drawingml/2006/main">
            <a:r>
              <a:t>    "risks": [</a:t>
            </a:r>
          </a:p>
          <a:p xmlns:a="http://schemas.openxmlformats.org/drawingml/2006/main">
            <a:r>
              <a:t>      "휴대전화 자료의 이용자 대표성 차이",</a:t>
            </a:r>
          </a:p>
          <a:p xmlns:a="http://schemas.openxmlformats.org/drawingml/2006/main">
            <a:r>
              <a:t>      "노선 확대와 사고 감소의 인과관계 분리"</a:t>
            </a:r>
          </a:p>
          <a:p xmlns:a="http://schemas.openxmlformats.org/drawingml/2006/main">
            <a:r>
              <a:t>    ],</a:t>
            </a:r>
          </a:p>
          <a:p xmlns:a="http://schemas.openxmlformats.org/drawingml/2006/main">
            <a:r>
              <a:t>    "architecture": [</a:t>
            </a:r>
          </a:p>
          <a:p xmlns:a="http://schemas.openxmlformats.org/drawingml/2006/main">
            <a:r>
              <a:t>      "이동 수요 자료",</a:t>
            </a:r>
          </a:p>
          <a:p xmlns:a="http://schemas.openxmlformats.org/drawingml/2006/main">
            <a:r>
              <a:t>      "시간·지역 집계 분석",</a:t>
            </a:r>
          </a:p>
          <a:p xmlns:a="http://schemas.openxmlformats.org/drawingml/2006/main">
            <a:r>
              <a:t>      "수요·노선 자료",</a:t>
            </a:r>
          </a:p>
          <a:p xmlns:a="http://schemas.openxmlformats.org/drawingml/2006/main">
            <a:r>
              <a:t>      "노선 기획 담당"</a:t>
            </a:r>
          </a:p>
          <a:p xmlns:a="http://schemas.openxmlformats.org/drawingml/2006/main">
            <a:r>
              <a:t>    ],</a:t>
            </a:r>
          </a:p>
          <a:p xmlns:a="http://schemas.openxmlformats.org/drawingml/2006/main">
            <a:r>
              <a:t>    "transfers": [</a:t>
            </a:r>
          </a:p>
          <a:p xmlns:a="http://schemas.openxmlformats.org/drawingml/2006/main">
            <a:r>
              <a:t>      "시간대별 이동량",</a:t>
            </a:r>
          </a:p>
          <a:p xmlns:a="http://schemas.openxmlformats.org/drawingml/2006/main">
            <a:r>
              <a:t>      "지역별 수요 분포",</a:t>
            </a:r>
          </a:p>
          <a:p xmlns:a="http://schemas.openxmlformats.org/drawingml/2006/main">
            <a:r>
              <a:t>      "노선 후보",</a:t>
            </a:r>
          </a:p>
          <a:p xmlns:a="http://schemas.openxmlformats.org/drawingml/2006/main">
            <a:r>
              <a:t>      "운영 노선"</a:t>
            </a:r>
          </a:p>
          <a:p xmlns:a="http://schemas.openxmlformats.org/drawingml/2006/main">
            <a:r>
              <a:t>    ],</a:t>
            </a:r>
          </a:p>
          <a:p xmlns:a="http://schemas.openxmlformats.org/drawingml/2006/main">
            <a:r>
              <a:t>    "control": "집계 단위·관측기간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서울시 · 올빼미버스 빅데이터 정책 https://english.seoul.go.kr/smg-taps-big-data-customized-policy/</a:t>
            </a:r>
          </a:p>
          <a:p xmlns:a="http://schemas.openxmlformats.org/drawingml/2006/main">
            <a:r>
              <a:t>홈페이지 https://heen1987-ops.github.io/TS-business-Plan-001/index.html?view=casebook&amp;case=AX01</a:t>
            </a:r>
          </a:p>
          <a:p xmlns:a="http://schemas.openxmlformats.org/drawingml/2006/main">
            <a:r>
              <a:t>한계: 운영기관 발표 · 생성형 AI 사례 아님 · 사고 감소·지역경제 인과효과 별도</a:t>
            </a:r>
          </a:p>
          <a:p xmlns:a="http://schemas.openxmlformats.org/drawingml/2006/main">
            <a:r>
              <a:t>실패 위험: 휴대전화 자료의 이용자 대표성 차이 / 노선 확대와 사고 감소의 인과관계 분리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"AX01",</a:t>
            </a:r>
          </a:p>
          <a:p xmlns:a="http://schemas.openxmlformats.org/drawingml/2006/main">
            <a:r>
              <a:t>    "title": "서울 올빼미버스",</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"빅데이터 정책 적용",</a:t>
            </a:r>
          </a:p>
          <a:p xmlns:a="http://schemas.openxmlformats.org/drawingml/2006/main">
            <a:r>
              <a:t>    "period": "2013–2014",</a:t>
            </a:r>
          </a:p>
          <a:p xmlns:a="http://schemas.openxmlformats.org/drawingml/2006/main">
            <a:r>
              <a:t>    "sources": [</a:t>
            </a:r>
          </a:p>
          <a:p xmlns:a="http://schemas.openxmlformats.org/drawingml/2006/main">
            <a:r>
              <a:t>      "S01"</a:t>
            </a:r>
          </a:p>
          <a:p xmlns:a="http://schemas.openxmlformats.org/drawingml/2006/main">
            <a:r>
              <a:t>    ],</a:t>
            </a:r>
          </a:p>
          <a:p xmlns:a="http://schemas.openxmlformats.org/drawingml/2006/main">
            <a:r>
              <a:t>    "keywords": [</a:t>
            </a:r>
          </a:p>
          <a:p xmlns:a="http://schemas.openxmlformats.org/drawingml/2006/main">
            <a:r>
              <a:t>      "이동 수요",</a:t>
            </a:r>
          </a:p>
          <a:p xmlns:a="http://schemas.openxmlformats.org/drawingml/2006/main">
            <a:r>
              <a:t>      "교통약자",</a:t>
            </a:r>
          </a:p>
          <a:p xmlns:a="http://schemas.openxmlformats.org/drawingml/2006/main">
            <a:r>
              <a:t>      "지역",</a:t>
            </a:r>
          </a:p>
          <a:p xmlns:a="http://schemas.openxmlformats.org/drawingml/2006/main">
            <a:r>
              <a:t>      "데이터 연계"</a:t>
            </a:r>
          </a:p>
          <a:p xmlns:a="http://schemas.openxmlformats.org/drawingml/2006/main">
            <a:r>
              <a:t>    ],</a:t>
            </a:r>
          </a:p>
          <a:p xmlns:a="http://schemas.openxmlformats.org/drawingml/2006/main">
            <a:r>
              <a:t>    "fact": "통신 데이터 분석의 심야버스 노선 반영 및 2개 노선에서 9개 노선으로 운영 확대",</a:t>
            </a:r>
          </a:p>
          <a:p xmlns:a="http://schemas.openxmlformats.org/drawingml/2006/main">
            <a:r>
              <a:t>    "limit": "운영기관 발표 · 생성형 AI 사례 아님 · 사고 감소·지역경제 인과효과 별도",</a:t>
            </a:r>
          </a:p>
          <a:p xmlns:a="http://schemas.openxmlformats.org/drawingml/2006/main">
            <a:r>
              <a:t>    "flow": [</a:t>
            </a:r>
          </a:p>
          <a:p xmlns:a="http://schemas.openxmlformats.org/drawingml/2006/main">
            <a:r>
              <a:t>      "통신 이동 수요",</a:t>
            </a:r>
          </a:p>
          <a:p xmlns:a="http://schemas.openxmlformats.org/drawingml/2006/main">
            <a:r>
              <a:t>      "시간·지역 분석",</a:t>
            </a:r>
          </a:p>
          <a:p xmlns:a="http://schemas.openxmlformats.org/drawingml/2006/main">
            <a:r>
              <a:t>      "노선 선정",</a:t>
            </a:r>
          </a:p>
          <a:p xmlns:a="http://schemas.openxmlformats.org/drawingml/2006/main">
            <a:r>
              <a:t>      "심야버스 운영"</a:t>
            </a:r>
          </a:p>
          <a:p xmlns:a="http://schemas.openxmlformats.org/drawingml/2006/main">
            <a:r>
              <a:t>    ],</a:t>
            </a:r>
          </a:p>
          <a:p xmlns:a="http://schemas.openxmlformats.org/drawingml/2006/main">
            <a:r>
              <a:t>    "flowBasis": "공개 업무 흐름 요약 · 시스템 배치도 재현 아님",</a:t>
            </a:r>
          </a:p>
          <a:p xmlns:a="http://schemas.openxmlformats.org/drawingml/2006/main">
            <a:r>
              <a:t>    "lesson":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"지역·시간·관할 코드 정규화 / 집계 통계와 현장 근거 대조",</a:t>
            </a:r>
          </a:p>
          <a:p xmlns:a="http://schemas.openxmlformats.org/drawingml/2006/main">
            <a:r>
              <a:t>    "test": "동일 지역·기간의 원천 집계 재현 및 담당 부서 매핑 대조",</a:t>
            </a:r>
          </a:p>
          <a:p xmlns:a="http://schemas.openxmlformats.org/drawingml/2006/main">
            <a:r>
              <a:t>    "metric": "수요 검토 소요시간 / 근거 누락률"</a:t>
            </a:r>
          </a:p>
          <a:p xmlns:a="http://schemas.openxmlformats.org/drawingml/2006/main">
            <a:r>
              <a:t>  },</a:t>
            </a:r>
          </a:p>
          <a:p xmlns:a="http://schemas.openxmlformats.org/drawingml/2006/main">
            <a:r>
              <a:t>  "design": {</a:t>
            </a:r>
          </a:p>
          <a:p xmlns:a="http://schemas.openxmlformats.org/drawingml/2006/main">
            <a:r>
              <a:t>    "id": "AX01",</a:t>
            </a:r>
          </a:p>
          <a:p xmlns:a="http://schemas.openxmlformats.org/drawingml/2006/main">
            <a:r>
              <a:t>    "canonicalId": "AX01",</a:t>
            </a:r>
          </a:p>
          <a:p xmlns:a="http://schemas.openxmlformats.org/drawingml/2006/main">
            <a:r>
              <a:t>    "purpose": "심야 이동 수요에 맞춘 버스 노선 설계",</a:t>
            </a:r>
          </a:p>
          <a:p xmlns:a="http://schemas.openxmlformats.org/drawingml/2006/main">
            <a:r>
              <a:t>    "users": "교통정책 담당·운송 운영자",</a:t>
            </a:r>
          </a:p>
          <a:p xmlns:a="http://schemas.openxmlformats.org/drawingml/2006/main">
            <a:r>
              <a:t>    "scope": [</a:t>
            </a:r>
          </a:p>
          <a:p xmlns:a="http://schemas.openxmlformats.org/drawingml/2006/main">
            <a:r>
              <a:t>      "심야 수요 분포",</a:t>
            </a:r>
          </a:p>
          <a:p xmlns:a="http://schemas.openxmlformats.org/drawingml/2006/main">
            <a:r>
              <a:t>      "노선 후보 비교",</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"이동 수요 자료",</a:t>
            </a:r>
          </a:p>
          <a:p xmlns:a="http://schemas.openxmlformats.org/drawingml/2006/main">
            <a:r>
              <a:t>        "detail": "시간대·출발지·도착지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"심야 수요 분포 / 노선 후보 비교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"시간·지역 집계 분석",</a:t>
            </a:r>
          </a:p>
          <a:p xmlns:a="http://schemas.openxmlformats.org/drawingml/2006/main">
            <a:r>
              <a:t>        "detail": "이동량 집계와 노선별 수요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"노선 기획 담당",</a:t>
            </a:r>
          </a:p>
          <a:p xmlns:a="http://schemas.openxmlformats.org/drawingml/2006/main">
            <a:r>
              <a:t>        "detail": "노선 후보를 담당자의 운행계획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"수요·노선 자료",</a:t>
            </a:r>
          </a:p>
          <a:p xmlns:a="http://schemas.openxmlformats.org/drawingml/2006/main">
            <a:r>
              <a:t>        "detail": "통신 수요·노선의 공간 단위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"운행 후 수요 차이를 차기 노선 검토에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"통신 이동 수요",</a:t>
            </a:r>
          </a:p>
          <a:p xmlns:a="http://schemas.openxmlformats.org/drawingml/2006/main">
            <a:r>
              <a:t>        "input": "시간대·출발지·도착지 지정",</a:t>
            </a:r>
          </a:p>
          <a:p xmlns:a="http://schemas.openxmlformats.org/drawingml/2006/main">
            <a:r>
              <a:t>        "process": "통신 수요·노선의 공간 단위 정합화",</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"title": "시간·지역 분석",</a:t>
            </a:r>
          </a:p>
          <a:p xmlns:a="http://schemas.openxmlformats.org/drawingml/2006/main">
            <a:r>
              <a:t>        "input": "시간대별 이동량",</a:t>
            </a:r>
          </a:p>
          <a:p xmlns:a="http://schemas.openxmlformats.org/drawingml/2006/main">
            <a:r>
              <a:t>        "process": "이동량 집계와 노선별 수요 비교",</a:t>
            </a:r>
          </a:p>
          <a:p xmlns:a="http://schemas.openxmlformats.org/drawingml/2006/main">
            <a:r>
              <a:t>        "output": "지역별 수요 분포"</a:t>
            </a:r>
          </a:p>
          <a:p xmlns:a="http://schemas.openxmlformats.org/drawingml/2006/main">
            <a:r>
              <a:t>      },</a:t>
            </a:r>
          </a:p>
          <a:p xmlns:a="http://schemas.openxmlformats.org/drawingml/2006/main">
            <a:r>
              <a:t>      {</a:t>
            </a:r>
          </a:p>
          <a:p xmlns:a="http://schemas.openxmlformats.org/drawingml/2006/main">
            <a:r>
              <a:t>        "title": "노선 선정",</a:t>
            </a:r>
          </a:p>
          <a:p xmlns:a="http://schemas.openxmlformats.org/drawingml/2006/main">
            <a:r>
              <a:t>        "input": "지역별 수요 분포",</a:t>
            </a:r>
          </a:p>
          <a:p xmlns:a="http://schemas.openxmlformats.org/drawingml/2006/main">
            <a:r>
              <a:t>        "process": "집계 단위·관측기간 대조",</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"title": "심야버스 운영",</a:t>
            </a:r>
          </a:p>
          <a:p xmlns:a="http://schemas.openxmlformats.org/drawingml/2006/main">
            <a:r>
              <a:t>        "input": "노선 후보",</a:t>
            </a:r>
          </a:p>
          <a:p xmlns:a="http://schemas.openxmlformats.org/drawingml/2006/main">
            <a:r>
              <a:t>        "process":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"심야 시간대별 이동 수요를 기존 노선과 대조해 미충족 구간 선정",</a:t>
            </a:r>
          </a:p>
          <a:p xmlns:a="http://schemas.openxmlformats.org/drawingml/2006/main">
            <a:r>
              <a:t>      "exception": "지역별 통신 표본 비율 차이·관측기간 불일치",</a:t>
            </a:r>
          </a:p>
          <a:p xmlns:a="http://schemas.openxmlformats.org/drawingml/2006/main">
            <a:r>
              <a:t>      "evidence": "지역·시간 단위 원천 집계 대사표와 노선 후보 선정 사유",</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"교통정책 담당·운송 운영자",</a:t>
            </a:r>
          </a:p>
          <a:p xmlns:a="http://schemas.openxmlformats.org/drawingml/2006/main">
            <a:r>
              <a:t>          "processing": "시간대·출발지·도착지 지정",</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"수요·노선 자료",</a:t>
            </a:r>
          </a:p>
          <a:p xmlns:a="http://schemas.openxmlformats.org/drawingml/2006/main">
            <a:r>
              <a:t>          "processing": "통신 수요·노선의 공간 단위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"시간대별 이동량",</a:t>
            </a:r>
          </a:p>
          <a:p xmlns:a="http://schemas.openxmlformats.org/drawingml/2006/main">
            <a:r>
              <a:t>          "processing": "이동량 집계와 노선별 수요 비교",</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"노선 후보",</a:t>
            </a:r>
          </a:p>
          <a:p xmlns:a="http://schemas.openxmlformats.org/drawingml/2006/main">
            <a:r>
              <a:t>          "processing":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"운행 후 수요 차이를 차기 노선 검토에 반영",</a:t>
            </a:r>
          </a:p>
          <a:p xmlns:a="http://schemas.openxmlformats.org/drawingml/2006/main">
            <a:r>
              <a:t>          "output":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"운행 후 수요 차이를 차기 노선 검토에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"S01",</a:t>
            </a:r>
          </a:p>
          <a:p xmlns:a="http://schemas.openxmlformats.org/drawingml/2006/main">
            <a:r>
              <a:t>        "title": "서울시 · 올빼미버스 빅데이터 정책",</a:t>
            </a:r>
          </a:p>
          <a:p xmlns:a="http://schemas.openxmlformats.org/drawingml/2006/main">
            <a:r>
              <a:t>        "url": "https://english.seoul.go.kr/smg-taps-big-data-customized-policy/",</a:t>
            </a:r>
          </a:p>
          <a:p xmlns:a="http://schemas.openxmlformats.org/drawingml/2006/main">
            <a:r>
              <a:t>        "published": "2014-04-28",</a:t>
            </a:r>
          </a:p>
          <a:p xmlns:a="http://schemas.openxmlformats.org/drawingml/2006/main">
            <a:r>
              <a:t>        "level": "운영기관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"sourceDetail": null,</a:t>
            </a:r>
          </a:p>
          <a:p xmlns:a="http://schemas.openxmlformats.org/drawingml/2006/main">
            <a:r>
              <a:t>    "narrative": [</a:t>
            </a:r>
          </a:p>
          <a:p xmlns:a="http://schemas.openxmlformats.org/drawingml/2006/main">
            <a:r>
              <a:t>      "심야 교통 수요를 실제 노선 결정에 연결한 데이터 기반 정책 사례. 기존 노선·운행계획을 검토하는 담당자가 시간대·지역별 잠재 수요를 함께 비교하는 업무 변화.",</a:t>
            </a:r>
          </a:p>
          <a:p xmlns:a="http://schemas.openxmlformats.org/drawingml/2006/main">
            <a:r>
              <a:t>      "통신 이동량과 노선 정보를 공통 공간 단위로 정리한 뒤 수요 분포와 노선 후보를 비교하는 분석 흐름의 재구성. CCK 적용 시 분석 결과를 담당 관할·교통약자 지원 업무·노선 검토자료로 변환하는 단계의 분리.",</a:t>
            </a:r>
          </a:p>
          <a:p xmlns:a="http://schemas.openxmlformats.org/drawingml/2006/main">
            <a:r>
              <a:t>      "운영 노선 확대 실적과 안전·지역경제 효과의 구분. 통신자료의 대표성, 시간대별 집계 재현성, 실제 승차 수요와의 차이를 확인한 후 TS 업무 검토시간·근거 누락률로 평가할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"노선 검토 요청",</a:t>
            </a:r>
          </a:p>
          <a:p xmlns:a="http://schemas.openxmlformats.org/drawingml/2006/main">
            <a:r>
              <a:t>          "layer": "이용 접점",</a:t>
            </a:r>
          </a:p>
          <a:p xmlns:a="http://schemas.openxmlformats.org/drawingml/2006/main">
            <a:r>
              <a:t>          "detail": "교통정책 담당·운송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"시간·지역 범위",</a:t>
            </a:r>
          </a:p>
          <a:p xmlns:a="http://schemas.openxmlformats.org/drawingml/2006/main">
            <a:r>
              <a:t>          "layer": "업무 문맥",</a:t>
            </a:r>
          </a:p>
          <a:p xmlns:a="http://schemas.openxmlformats.org/drawingml/2006/main">
            <a:r>
              <a:t>          "detail": "시간대·출발지·도착지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"수요 집계 조회",</a:t>
            </a:r>
          </a:p>
          <a:p xmlns:a="http://schemas.openxmlformats.org/drawingml/2006/main">
            <a:r>
              <a:t>          "layer": "자료 조회",</a:t>
            </a:r>
          </a:p>
          <a:p xmlns:a="http://schemas.openxmlformats.org/drawingml/2006/main">
            <a:r>
              <a:t>          "detail": "시간대별 이동량",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"노선 후보 분석",</a:t>
            </a:r>
          </a:p>
          <a:p xmlns:a="http://schemas.openxmlformats.org/drawingml/2006/main">
            <a:r>
              <a:t>          "layer": "핵심 처리",</a:t>
            </a:r>
          </a:p>
          <a:p xmlns:a="http://schemas.openxmlformats.org/drawingml/2006/main">
            <a:r>
              <a:t>          "detail": "이동량 집계와 노선별 수요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"대표성·집계 검증",</a:t>
            </a:r>
          </a:p>
          <a:p xmlns:a="http://schemas.openxmlformats.org/drawingml/2006/main">
            <a:r>
              <a:t>          "layer": "결과 검증",</a:t>
            </a:r>
          </a:p>
          <a:p xmlns:a="http://schemas.openxmlformats.org/drawingml/2006/main">
            <a:r>
              <a:t>          "detail": "집계 단위·관측기간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"교통정책 검토",</a:t>
            </a:r>
          </a:p>
          <a:p xmlns:a="http://schemas.openxmlformats.org/drawingml/2006/main">
            <a:r>
              <a:t>          "layer": "사람 확인",</a:t>
            </a:r>
          </a:p>
          <a:p xmlns:a="http://schemas.openxmlformats.org/drawingml/2006/main">
            <a:r>
              <a:t>          "detail": "심야 시간대별 이동 수요를 기존 노선과 대조해 미충족 구간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"노선 운영계획",</a:t>
            </a:r>
          </a:p>
          <a:p xmlns:a="http://schemas.openxmlformats.org/drawingml/2006/main">
            <a:r>
              <a:t>          "layer": "업무 연결",</a:t>
            </a:r>
          </a:p>
          <a:p xmlns:a="http://schemas.openxmlformats.org/drawingml/2006/main">
            <a:r>
              <a:t>          "detail": "노선 후보를 담당자의 운행계획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수요 비교",</a:t>
            </a:r>
          </a:p>
          <a:p xmlns:a="http://schemas.openxmlformats.org/drawingml/2006/main">
            <a:r>
              <a:t>          "layer": "운영 관측",</a:t>
            </a:r>
          </a:p>
          <a:p xmlns:a="http://schemas.openxmlformats.org/drawingml/2006/main">
            <a:r>
              <a:t>          "detail": "운행 후 수요 차이를 차기 노선 검토에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"통신·노선 자료",</a:t>
            </a:r>
          </a:p>
          <a:p xmlns:a="http://schemas.openxmlformats.org/drawingml/2006/main">
            <a:r>
              <a:t>          "layer": "데이터 원천",</a:t>
            </a:r>
          </a:p>
          <a:p xmlns:a="http://schemas.openxmlformats.org/drawingml/2006/main">
            <a:r>
              <a:t>          "detail": "수요·노선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"공간 단위 정합화",</a:t>
            </a:r>
          </a:p>
          <a:p xmlns:a="http://schemas.openxmlformats.org/drawingml/2006/main">
            <a:r>
              <a:t>          "layer": "준비·갱신",</a:t>
            </a:r>
          </a:p>
          <a:p xmlns:a="http://schemas.openxmlformats.org/drawingml/2006/main">
            <a:r>
              <a:t>          "detail": "통신 수요·노선의 공간 단위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"지역·시간 집계",</a:t>
            </a:r>
          </a:p>
          <a:p xmlns:a="http://schemas.openxmlformats.org/drawingml/2006/main">
            <a:r>
              <a:t>          "layer": "상태·지식 저장",</a:t>
            </a:r>
          </a:p>
          <a:p xmlns:a="http://schemas.openxmlformats.org/drawingml/2006/main">
            <a:r>
              <a:t>          "detail": "지역·시간 단위 원천 집계 대사표와 노선 후보 선정 사유",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 이용정책",</a:t>
            </a:r>
          </a:p>
          <a:p xmlns:a="http://schemas.openxmlformats.org/drawingml/2006/main">
            <a:r>
              <a:t>          "layer": "권한·정책",</a:t>
            </a:r>
          </a:p>
          <a:p xmlns:a="http://schemas.openxmlformats.org/drawingml/2006/main">
            <a:r>
              <a:t>          "detail": "지역별 통신 표본 비율 차이·관측기간 불일치",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"통신 이동 수요 → 시간·지역 분석 → 노선 선정 → 심야버스 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"수요·노선 자료",</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"지역별 수요 분포",</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"노선 후보",</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"노선 후보",</a:t>
            </a:r>
          </a:p>
          <a:p xmlns:a="http://schemas.openxmlformats.org/drawingml/2006/main">
            <a:r>
              <a:t>          "check": "집계 단위·관측기간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"운영 노선",</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"심야 이동 수요에 맞춘 버스 노선 설계 / 심야 수요 분포·노선 후보 비교·운행 검토",</a:t>
            </a:r>
          </a:p>
          <a:p xmlns:a="http://schemas.openxmlformats.org/drawingml/2006/main">
            <a:r>
              <a:t>        "extension": "TS 관할·교통약자·이동 수요를 지역별 업무 사전으로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"지역별 통신 표본 비율 차이·관측기간 불일치",</a:t>
            </a:r>
          </a:p>
          <a:p xmlns:a="http://schemas.openxmlformats.org/drawingml/2006/main">
            <a:r>
              <a:t>        "hold": "집계 단위·관측기간 대조",</a:t>
            </a:r>
          </a:p>
          <a:p xmlns:a="http://schemas.openxmlformats.org/drawingml/2006/main">
            <a:r>
              <a:t>        "recovery": "운행 후 수요 차이를 차기 노선 검토에 반영",</a:t>
            </a:r>
          </a:p>
          <a:p xmlns:a="http://schemas.openxmlformats.org/drawingml/2006/main">
            <a:r>
              <a:t>        "evidence": "지역·시간 단위 원천 집계 대사표와 노선 후보 선정 사유"</a:t>
            </a:r>
          </a:p>
          <a:p xmlns:a="http://schemas.openxmlformats.org/drawingml/2006/main">
            <a:r>
              <a:t>      },</a:t>
            </a:r>
          </a:p>
          <a:p xmlns:a="http://schemas.openxmlformats.org/drawingml/2006/main">
            <a:r>
              <a:t>      "data": {</a:t>
            </a:r>
          </a:p>
          <a:p xmlns:a="http://schemas.openxmlformats.org/drawingml/2006/main">
            <a:r>
              <a:t>        "source": "수요·노선 자료",</a:t>
            </a:r>
          </a:p>
          <a:p xmlns:a="http://schemas.openxmlformats.org/drawingml/2006/main">
            <a:r>
              <a:t>        "prepare": "통신 수요·노선의 공간 단위 정합화",</a:t>
            </a:r>
          </a:p>
          <a:p xmlns:a="http://schemas.openxmlformats.org/drawingml/2006/main">
            <a:r>
              <a:t>        "output": "시간대별 이동량",</a:t>
            </a:r>
          </a:p>
          <a:p xmlns:a="http://schemas.openxmlformats.org/drawingml/2006/main">
            <a:r>
              <a:t>        "refresh": "운행 후 수요 차이를 차기 노선 검토에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"AX01",</a:t>
            </a:r>
          </a:p>
          <a:p xmlns:a="http://schemas.openxmlformats.org/drawingml/2006/main">
            <a:r>
              <a:t>    "success": [</a:t>
            </a:r>
          </a:p>
          <a:p xmlns:a="http://schemas.openxmlformats.org/drawingml/2006/main">
            <a:r>
              <a:t>      "통신 수요와 실제 노선의 결합",</a:t>
            </a:r>
          </a:p>
          <a:p xmlns:a="http://schemas.openxmlformats.org/drawingml/2006/main">
            <a:r>
              <a:t>      "심야 시간·지역 단위의 수요 구분"</a:t>
            </a:r>
          </a:p>
          <a:p xmlns:a="http://schemas.openxmlformats.org/drawingml/2006/main">
            <a:r>
              <a:t>    ],</a:t>
            </a:r>
          </a:p>
          <a:p xmlns:a="http://schemas.openxmlformats.org/drawingml/2006/main">
            <a:r>
              <a:t>    "risks": [</a:t>
            </a:r>
          </a:p>
          <a:p xmlns:a="http://schemas.openxmlformats.org/drawingml/2006/main">
            <a:r>
              <a:t>      "휴대전화 자료의 이용자 대표성 차이",</a:t>
            </a:r>
          </a:p>
          <a:p xmlns:a="http://schemas.openxmlformats.org/drawingml/2006/main">
            <a:r>
              <a:t>      "노선 확대와 사고 감소의 인과관계 분리"</a:t>
            </a:r>
          </a:p>
          <a:p xmlns:a="http://schemas.openxmlformats.org/drawingml/2006/main">
            <a:r>
              <a:t>    ],</a:t>
            </a:r>
          </a:p>
          <a:p xmlns:a="http://schemas.openxmlformats.org/drawingml/2006/main">
            <a:r>
              <a:t>    "architecture": [</a:t>
            </a:r>
          </a:p>
          <a:p xmlns:a="http://schemas.openxmlformats.org/drawingml/2006/main">
            <a:r>
              <a:t>      "이동 수요 자료",</a:t>
            </a:r>
          </a:p>
          <a:p xmlns:a="http://schemas.openxmlformats.org/drawingml/2006/main">
            <a:r>
              <a:t>      "시간·지역 집계 분석",</a:t>
            </a:r>
          </a:p>
          <a:p xmlns:a="http://schemas.openxmlformats.org/drawingml/2006/main">
            <a:r>
              <a:t>      "수요·노선 자료",</a:t>
            </a:r>
          </a:p>
          <a:p xmlns:a="http://schemas.openxmlformats.org/drawingml/2006/main">
            <a:r>
              <a:t>      "노선 기획 담당"</a:t>
            </a:r>
          </a:p>
          <a:p xmlns:a="http://schemas.openxmlformats.org/drawingml/2006/main">
            <a:r>
              <a:t>    ],</a:t>
            </a:r>
          </a:p>
          <a:p xmlns:a="http://schemas.openxmlformats.org/drawingml/2006/main">
            <a:r>
              <a:t>    "transfers": [</a:t>
            </a:r>
          </a:p>
          <a:p xmlns:a="http://schemas.openxmlformats.org/drawingml/2006/main">
            <a:r>
              <a:t>      "시간대별 이동량",</a:t>
            </a:r>
          </a:p>
          <a:p xmlns:a="http://schemas.openxmlformats.org/drawingml/2006/main">
            <a:r>
              <a:t>      "지역별 수요 분포",</a:t>
            </a:r>
          </a:p>
          <a:p xmlns:a="http://schemas.openxmlformats.org/drawingml/2006/main">
            <a:r>
              <a:t>      "노선 후보",</a:t>
            </a:r>
          </a:p>
          <a:p xmlns:a="http://schemas.openxmlformats.org/drawingml/2006/main">
            <a:r>
              <a:t>      "운영 노선"</a:t>
            </a:r>
          </a:p>
          <a:p xmlns:a="http://schemas.openxmlformats.org/drawingml/2006/main">
            <a:r>
              <a:t>    ],</a:t>
            </a:r>
          </a:p>
          <a:p xmlns:a="http://schemas.openxmlformats.org/drawingml/2006/main">
            <a:r>
              <a:t>    "control": "집계 단위·관측기간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서울시 · 올빼미버스 빅데이터 정책 https://english.seoul.go.kr/smg-taps-big-data-customized-policy/</a:t>
            </a:r>
          </a:p>
          <a:p xmlns:a="http://schemas.openxmlformats.org/drawingml/2006/main">
            <a:r>
              <a:t>홈페이지 https://heen1987-ops.github.io/TS-business-Plan-001/index.html?view=casebook&amp;case=AX01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"AX01",</a:t>
            </a:r>
          </a:p>
          <a:p xmlns:a="http://schemas.openxmlformats.org/drawingml/2006/main">
            <a:r>
              <a:t>    "title": "서울 올빼미버스",</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"빅데이터 정책 적용",</a:t>
            </a:r>
          </a:p>
          <a:p xmlns:a="http://schemas.openxmlformats.org/drawingml/2006/main">
            <a:r>
              <a:t>    "period": "2013–2014",</a:t>
            </a:r>
          </a:p>
          <a:p xmlns:a="http://schemas.openxmlformats.org/drawingml/2006/main">
            <a:r>
              <a:t>    "sources": [</a:t>
            </a:r>
          </a:p>
          <a:p xmlns:a="http://schemas.openxmlformats.org/drawingml/2006/main">
            <a:r>
              <a:t>      "S01"</a:t>
            </a:r>
          </a:p>
          <a:p xmlns:a="http://schemas.openxmlformats.org/drawingml/2006/main">
            <a:r>
              <a:t>    ],</a:t>
            </a:r>
          </a:p>
          <a:p xmlns:a="http://schemas.openxmlformats.org/drawingml/2006/main">
            <a:r>
              <a:t>    "keywords": [</a:t>
            </a:r>
          </a:p>
          <a:p xmlns:a="http://schemas.openxmlformats.org/drawingml/2006/main">
            <a:r>
              <a:t>      "이동 수요",</a:t>
            </a:r>
          </a:p>
          <a:p xmlns:a="http://schemas.openxmlformats.org/drawingml/2006/main">
            <a:r>
              <a:t>      "교통약자",</a:t>
            </a:r>
          </a:p>
          <a:p xmlns:a="http://schemas.openxmlformats.org/drawingml/2006/main">
            <a:r>
              <a:t>      "지역",</a:t>
            </a:r>
          </a:p>
          <a:p xmlns:a="http://schemas.openxmlformats.org/drawingml/2006/main">
            <a:r>
              <a:t>      "데이터 연계"</a:t>
            </a:r>
          </a:p>
          <a:p xmlns:a="http://schemas.openxmlformats.org/drawingml/2006/main">
            <a:r>
              <a:t>    ],</a:t>
            </a:r>
          </a:p>
          <a:p xmlns:a="http://schemas.openxmlformats.org/drawingml/2006/main">
            <a:r>
              <a:t>    "fact": "통신 데이터 분석의 심야버스 노선 반영 및 2개 노선에서 9개 노선으로 운영 확대",</a:t>
            </a:r>
          </a:p>
          <a:p xmlns:a="http://schemas.openxmlformats.org/drawingml/2006/main">
            <a:r>
              <a:t>    "limit": "운영기관 발표 · 생성형 AI 사례 아님 · 사고 감소·지역경제 인과효과 별도",</a:t>
            </a:r>
          </a:p>
          <a:p xmlns:a="http://schemas.openxmlformats.org/drawingml/2006/main">
            <a:r>
              <a:t>    "flow": [</a:t>
            </a:r>
          </a:p>
          <a:p xmlns:a="http://schemas.openxmlformats.org/drawingml/2006/main">
            <a:r>
              <a:t>      "통신 이동 수요",</a:t>
            </a:r>
          </a:p>
          <a:p xmlns:a="http://schemas.openxmlformats.org/drawingml/2006/main">
            <a:r>
              <a:t>      "시간·지역 분석",</a:t>
            </a:r>
          </a:p>
          <a:p xmlns:a="http://schemas.openxmlformats.org/drawingml/2006/main">
            <a:r>
              <a:t>      "노선 선정",</a:t>
            </a:r>
          </a:p>
          <a:p xmlns:a="http://schemas.openxmlformats.org/drawingml/2006/main">
            <a:r>
              <a:t>      "심야버스 운영"</a:t>
            </a:r>
          </a:p>
          <a:p xmlns:a="http://schemas.openxmlformats.org/drawingml/2006/main">
            <a:r>
              <a:t>    ],</a:t>
            </a:r>
          </a:p>
          <a:p xmlns:a="http://schemas.openxmlformats.org/drawingml/2006/main">
            <a:r>
              <a:t>    "flowBasis": "공개 업무 흐름 요약 · 시스템 배치도 재현 아님",</a:t>
            </a:r>
          </a:p>
          <a:p xmlns:a="http://schemas.openxmlformats.org/drawingml/2006/main">
            <a:r>
              <a:t>    "lesson":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"지역·시간·관할 코드 정규화 / 집계 통계와 현장 근거 대조",</a:t>
            </a:r>
          </a:p>
          <a:p xmlns:a="http://schemas.openxmlformats.org/drawingml/2006/main">
            <a:r>
              <a:t>    "test": "동일 지역·기간의 원천 집계 재현 및 담당 부서 매핑 대조",</a:t>
            </a:r>
          </a:p>
          <a:p xmlns:a="http://schemas.openxmlformats.org/drawingml/2006/main">
            <a:r>
              <a:t>    "metric": "수요 검토 소요시간 / 근거 누락률"</a:t>
            </a:r>
          </a:p>
          <a:p xmlns:a="http://schemas.openxmlformats.org/drawingml/2006/main">
            <a:r>
              <a:t>  },</a:t>
            </a:r>
          </a:p>
          <a:p xmlns:a="http://schemas.openxmlformats.org/drawingml/2006/main">
            <a:r>
              <a:t>  "design": {</a:t>
            </a:r>
          </a:p>
          <a:p xmlns:a="http://schemas.openxmlformats.org/drawingml/2006/main">
            <a:r>
              <a:t>    "id": "AX01",</a:t>
            </a:r>
          </a:p>
          <a:p xmlns:a="http://schemas.openxmlformats.org/drawingml/2006/main">
            <a:r>
              <a:t>    "canonicalId": "AX01",</a:t>
            </a:r>
          </a:p>
          <a:p xmlns:a="http://schemas.openxmlformats.org/drawingml/2006/main">
            <a:r>
              <a:t>    "purpose": "심야 이동 수요에 맞춘 버스 노선 설계",</a:t>
            </a:r>
          </a:p>
          <a:p xmlns:a="http://schemas.openxmlformats.org/drawingml/2006/main">
            <a:r>
              <a:t>    "users": "교통정책 담당·운송 운영자",</a:t>
            </a:r>
          </a:p>
          <a:p xmlns:a="http://schemas.openxmlformats.org/drawingml/2006/main">
            <a:r>
              <a:t>    "scope": [</a:t>
            </a:r>
          </a:p>
          <a:p xmlns:a="http://schemas.openxmlformats.org/drawingml/2006/main">
            <a:r>
              <a:t>      "심야 수요 분포",</a:t>
            </a:r>
          </a:p>
          <a:p xmlns:a="http://schemas.openxmlformats.org/drawingml/2006/main">
            <a:r>
              <a:t>      "노선 후보 비교",</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"이동 수요 자료",</a:t>
            </a:r>
          </a:p>
          <a:p xmlns:a="http://schemas.openxmlformats.org/drawingml/2006/main">
            <a:r>
              <a:t>        "detail": "시간대·출발지·도착지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"심야 수요 분포 / 노선 후보 비교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"시간·지역 집계 분석",</a:t>
            </a:r>
          </a:p>
          <a:p xmlns:a="http://schemas.openxmlformats.org/drawingml/2006/main">
            <a:r>
              <a:t>        "detail": "이동량 집계와 노선별 수요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"노선 기획 담당",</a:t>
            </a:r>
          </a:p>
          <a:p xmlns:a="http://schemas.openxmlformats.org/drawingml/2006/main">
            <a:r>
              <a:t>        "detail": "노선 후보를 담당자의 운행계획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"수요·노선 자료",</a:t>
            </a:r>
          </a:p>
          <a:p xmlns:a="http://schemas.openxmlformats.org/drawingml/2006/main">
            <a:r>
              <a:t>        "detail": "통신 수요·노선의 공간 단위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"운행 후 수요 차이를 차기 노선 검토에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"통신 이동 수요",</a:t>
            </a:r>
          </a:p>
          <a:p xmlns:a="http://schemas.openxmlformats.org/drawingml/2006/main">
            <a:r>
              <a:t>        "input": "시간대·출발지·도착지 지정",</a:t>
            </a:r>
          </a:p>
          <a:p xmlns:a="http://schemas.openxmlformats.org/drawingml/2006/main">
            <a:r>
              <a:t>        "process": "통신 수요·노선의 공간 단위 정합화",</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"title": "시간·지역 분석",</a:t>
            </a:r>
          </a:p>
          <a:p xmlns:a="http://schemas.openxmlformats.org/drawingml/2006/main">
            <a:r>
              <a:t>        "input": "시간대별 이동량",</a:t>
            </a:r>
          </a:p>
          <a:p xmlns:a="http://schemas.openxmlformats.org/drawingml/2006/main">
            <a:r>
              <a:t>        "process": "이동량 집계와 노선별 수요 비교",</a:t>
            </a:r>
          </a:p>
          <a:p xmlns:a="http://schemas.openxmlformats.org/drawingml/2006/main">
            <a:r>
              <a:t>        "output": "지역별 수요 분포"</a:t>
            </a:r>
          </a:p>
          <a:p xmlns:a="http://schemas.openxmlformats.org/drawingml/2006/main">
            <a:r>
              <a:t>      },</a:t>
            </a:r>
          </a:p>
          <a:p xmlns:a="http://schemas.openxmlformats.org/drawingml/2006/main">
            <a:r>
              <a:t>      {</a:t>
            </a:r>
          </a:p>
          <a:p xmlns:a="http://schemas.openxmlformats.org/drawingml/2006/main">
            <a:r>
              <a:t>        "title": "노선 선정",</a:t>
            </a:r>
          </a:p>
          <a:p xmlns:a="http://schemas.openxmlformats.org/drawingml/2006/main">
            <a:r>
              <a:t>        "input": "지역별 수요 분포",</a:t>
            </a:r>
          </a:p>
          <a:p xmlns:a="http://schemas.openxmlformats.org/drawingml/2006/main">
            <a:r>
              <a:t>        "process": "집계 단위·관측기간 대조",</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"title": "심야버스 운영",</a:t>
            </a:r>
          </a:p>
          <a:p xmlns:a="http://schemas.openxmlformats.org/drawingml/2006/main">
            <a:r>
              <a:t>        "input": "노선 후보",</a:t>
            </a:r>
          </a:p>
          <a:p xmlns:a="http://schemas.openxmlformats.org/drawingml/2006/main">
            <a:r>
              <a:t>        "process":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"심야 시간대별 이동 수요를 기존 노선과 대조해 미충족 구간 선정",</a:t>
            </a:r>
          </a:p>
          <a:p xmlns:a="http://schemas.openxmlformats.org/drawingml/2006/main">
            <a:r>
              <a:t>      "exception": "지역별 통신 표본 비율 차이·관측기간 불일치",</a:t>
            </a:r>
          </a:p>
          <a:p xmlns:a="http://schemas.openxmlformats.org/drawingml/2006/main">
            <a:r>
              <a:t>      "evidence": "지역·시간 단위 원천 집계 대사표와 노선 후보 선정 사유",</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"교통정책 담당·운송 운영자",</a:t>
            </a:r>
          </a:p>
          <a:p xmlns:a="http://schemas.openxmlformats.org/drawingml/2006/main">
            <a:r>
              <a:t>          "processing": "시간대·출발지·도착지 지정",</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"수요·노선 자료",</a:t>
            </a:r>
          </a:p>
          <a:p xmlns:a="http://schemas.openxmlformats.org/drawingml/2006/main">
            <a:r>
              <a:t>          "processing": "통신 수요·노선의 공간 단위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"시간대별 이동량",</a:t>
            </a:r>
          </a:p>
          <a:p xmlns:a="http://schemas.openxmlformats.org/drawingml/2006/main">
            <a:r>
              <a:t>          "processing": "이동량 집계와 노선별 수요 비교",</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"노선 후보",</a:t>
            </a:r>
          </a:p>
          <a:p xmlns:a="http://schemas.openxmlformats.org/drawingml/2006/main">
            <a:r>
              <a:t>          "processing":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"운행 후 수요 차이를 차기 노선 검토에 반영",</a:t>
            </a:r>
          </a:p>
          <a:p xmlns:a="http://schemas.openxmlformats.org/drawingml/2006/main">
            <a:r>
              <a:t>          "output":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"운행 후 수요 차이를 차기 노선 검토에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"S01",</a:t>
            </a:r>
          </a:p>
          <a:p xmlns:a="http://schemas.openxmlformats.org/drawingml/2006/main">
            <a:r>
              <a:t>        "title": "서울시 · 올빼미버스 빅데이터 정책",</a:t>
            </a:r>
          </a:p>
          <a:p xmlns:a="http://schemas.openxmlformats.org/drawingml/2006/main">
            <a:r>
              <a:t>        "url": "https://english.seoul.go.kr/smg-taps-big-data-customized-policy/",</a:t>
            </a:r>
          </a:p>
          <a:p xmlns:a="http://schemas.openxmlformats.org/drawingml/2006/main">
            <a:r>
              <a:t>        "published": "2014-04-28",</a:t>
            </a:r>
          </a:p>
          <a:p xmlns:a="http://schemas.openxmlformats.org/drawingml/2006/main">
            <a:r>
              <a:t>        "level": "운영기관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"sourceDetail": null,</a:t>
            </a:r>
          </a:p>
          <a:p xmlns:a="http://schemas.openxmlformats.org/drawingml/2006/main">
            <a:r>
              <a:t>    "narrative": [</a:t>
            </a:r>
          </a:p>
          <a:p xmlns:a="http://schemas.openxmlformats.org/drawingml/2006/main">
            <a:r>
              <a:t>      "심야 교통 수요를 실제 노선 결정에 연결한 데이터 기반 정책 사례. 기존 노선·운행계획을 검토하는 담당자가 시간대·지역별 잠재 수요를 함께 비교하는 업무 변화.",</a:t>
            </a:r>
          </a:p>
          <a:p xmlns:a="http://schemas.openxmlformats.org/drawingml/2006/main">
            <a:r>
              <a:t>      "통신 이동량과 노선 정보를 공통 공간 단위로 정리한 뒤 수요 분포와 노선 후보를 비교하는 분석 흐름의 재구성. CCK 적용 시 분석 결과를 담당 관할·교통약자 지원 업무·노선 검토자료로 변환하는 단계의 분리.",</a:t>
            </a:r>
          </a:p>
          <a:p xmlns:a="http://schemas.openxmlformats.org/drawingml/2006/main">
            <a:r>
              <a:t>      "운영 노선 확대 실적과 안전·지역경제 효과의 구분. 통신자료의 대표성, 시간대별 집계 재현성, 실제 승차 수요와의 차이를 확인한 후 TS 업무 검토시간·근거 누락률로 평가할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"노선 검토 요청",</a:t>
            </a:r>
          </a:p>
          <a:p xmlns:a="http://schemas.openxmlformats.org/drawingml/2006/main">
            <a:r>
              <a:t>          "layer": "이용 접점",</a:t>
            </a:r>
          </a:p>
          <a:p xmlns:a="http://schemas.openxmlformats.org/drawingml/2006/main">
            <a:r>
              <a:t>          "detail": "교통정책 담당·운송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"시간·지역 범위",</a:t>
            </a:r>
          </a:p>
          <a:p xmlns:a="http://schemas.openxmlformats.org/drawingml/2006/main">
            <a:r>
              <a:t>          "layer": "업무 문맥",</a:t>
            </a:r>
          </a:p>
          <a:p xmlns:a="http://schemas.openxmlformats.org/drawingml/2006/main">
            <a:r>
              <a:t>          "detail": "시간대·출발지·도착지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"수요 집계 조회",</a:t>
            </a:r>
          </a:p>
          <a:p xmlns:a="http://schemas.openxmlformats.org/drawingml/2006/main">
            <a:r>
              <a:t>          "layer": "자료 조회",</a:t>
            </a:r>
          </a:p>
          <a:p xmlns:a="http://schemas.openxmlformats.org/drawingml/2006/main">
            <a:r>
              <a:t>          "detail": "시간대별 이동량",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"노선 후보 분석",</a:t>
            </a:r>
          </a:p>
          <a:p xmlns:a="http://schemas.openxmlformats.org/drawingml/2006/main">
            <a:r>
              <a:t>          "layer": "핵심 처리",</a:t>
            </a:r>
          </a:p>
          <a:p xmlns:a="http://schemas.openxmlformats.org/drawingml/2006/main">
            <a:r>
              <a:t>          "detail": "이동량 집계와 노선별 수요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"대표성·집계 검증",</a:t>
            </a:r>
          </a:p>
          <a:p xmlns:a="http://schemas.openxmlformats.org/drawingml/2006/main">
            <a:r>
              <a:t>          "layer": "결과 검증",</a:t>
            </a:r>
          </a:p>
          <a:p xmlns:a="http://schemas.openxmlformats.org/drawingml/2006/main">
            <a:r>
              <a:t>          "detail": "집계 단위·관측기간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"교통정책 검토",</a:t>
            </a:r>
          </a:p>
          <a:p xmlns:a="http://schemas.openxmlformats.org/drawingml/2006/main">
            <a:r>
              <a:t>          "layer": "사람 확인",</a:t>
            </a:r>
          </a:p>
          <a:p xmlns:a="http://schemas.openxmlformats.org/drawingml/2006/main">
            <a:r>
              <a:t>          "detail": "심야 시간대별 이동 수요를 기존 노선과 대조해 미충족 구간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"노선 운영계획",</a:t>
            </a:r>
          </a:p>
          <a:p xmlns:a="http://schemas.openxmlformats.org/drawingml/2006/main">
            <a:r>
              <a:t>          "layer": "업무 연결",</a:t>
            </a:r>
          </a:p>
          <a:p xmlns:a="http://schemas.openxmlformats.org/drawingml/2006/main">
            <a:r>
              <a:t>          "detail": "노선 후보를 담당자의 운행계획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수요 비교",</a:t>
            </a:r>
          </a:p>
          <a:p xmlns:a="http://schemas.openxmlformats.org/drawingml/2006/main">
            <a:r>
              <a:t>          "layer": "운영 관측",</a:t>
            </a:r>
          </a:p>
          <a:p xmlns:a="http://schemas.openxmlformats.org/drawingml/2006/main">
            <a:r>
              <a:t>          "detail": "운행 후 수요 차이를 차기 노선 검토에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"통신·노선 자료",</a:t>
            </a:r>
          </a:p>
          <a:p xmlns:a="http://schemas.openxmlformats.org/drawingml/2006/main">
            <a:r>
              <a:t>          "layer": "데이터 원천",</a:t>
            </a:r>
          </a:p>
          <a:p xmlns:a="http://schemas.openxmlformats.org/drawingml/2006/main">
            <a:r>
              <a:t>          "detail": "수요·노선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"공간 단위 정합화",</a:t>
            </a:r>
          </a:p>
          <a:p xmlns:a="http://schemas.openxmlformats.org/drawingml/2006/main">
            <a:r>
              <a:t>          "layer": "준비·갱신",</a:t>
            </a:r>
          </a:p>
          <a:p xmlns:a="http://schemas.openxmlformats.org/drawingml/2006/main">
            <a:r>
              <a:t>          "detail": "통신 수요·노선의 공간 단위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"지역·시간 집계",</a:t>
            </a:r>
          </a:p>
          <a:p xmlns:a="http://schemas.openxmlformats.org/drawingml/2006/main">
            <a:r>
              <a:t>          "layer": "상태·지식 저장",</a:t>
            </a:r>
          </a:p>
          <a:p xmlns:a="http://schemas.openxmlformats.org/drawingml/2006/main">
            <a:r>
              <a:t>          "detail": "지역·시간 단위 원천 집계 대사표와 노선 후보 선정 사유",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 이용정책",</a:t>
            </a:r>
          </a:p>
          <a:p xmlns:a="http://schemas.openxmlformats.org/drawingml/2006/main">
            <a:r>
              <a:t>          "layer": "권한·정책",</a:t>
            </a:r>
          </a:p>
          <a:p xmlns:a="http://schemas.openxmlformats.org/drawingml/2006/main">
            <a:r>
              <a:t>          "detail": "지역별 통신 표본 비율 차이·관측기간 불일치",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"통신 이동 수요 → 시간·지역 분석 → 노선 선정 → 심야버스 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"수요·노선 자료",</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"지역별 수요 분포",</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"노선 후보",</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"노선 후보",</a:t>
            </a:r>
          </a:p>
          <a:p xmlns:a="http://schemas.openxmlformats.org/drawingml/2006/main">
            <a:r>
              <a:t>          "check": "집계 단위·관측기간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"운영 노선",</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"심야 이동 수요에 맞춘 버스 노선 설계 / 심야 수요 분포·노선 후보 비교·운행 검토",</a:t>
            </a:r>
          </a:p>
          <a:p xmlns:a="http://schemas.openxmlformats.org/drawingml/2006/main">
            <a:r>
              <a:t>        "extension": "TS 관할·교통약자·이동 수요를 지역별 업무 사전으로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"지역별 통신 표본 비율 차이·관측기간 불일치",</a:t>
            </a:r>
          </a:p>
          <a:p xmlns:a="http://schemas.openxmlformats.org/drawingml/2006/main">
            <a:r>
              <a:t>        "hold": "집계 단위·관측기간 대조",</a:t>
            </a:r>
          </a:p>
          <a:p xmlns:a="http://schemas.openxmlformats.org/drawingml/2006/main">
            <a:r>
              <a:t>        "recovery": "운행 후 수요 차이를 차기 노선 검토에 반영",</a:t>
            </a:r>
          </a:p>
          <a:p xmlns:a="http://schemas.openxmlformats.org/drawingml/2006/main">
            <a:r>
              <a:t>        "evidence": "지역·시간 단위 원천 집계 대사표와 노선 후보 선정 사유"</a:t>
            </a:r>
          </a:p>
          <a:p xmlns:a="http://schemas.openxmlformats.org/drawingml/2006/main">
            <a:r>
              <a:t>      },</a:t>
            </a:r>
          </a:p>
          <a:p xmlns:a="http://schemas.openxmlformats.org/drawingml/2006/main">
            <a:r>
              <a:t>      "data": {</a:t>
            </a:r>
          </a:p>
          <a:p xmlns:a="http://schemas.openxmlformats.org/drawingml/2006/main">
            <a:r>
              <a:t>        "source": "수요·노선 자료",</a:t>
            </a:r>
          </a:p>
          <a:p xmlns:a="http://schemas.openxmlformats.org/drawingml/2006/main">
            <a:r>
              <a:t>        "prepare": "통신 수요·노선의 공간 단위 정합화",</a:t>
            </a:r>
          </a:p>
          <a:p xmlns:a="http://schemas.openxmlformats.org/drawingml/2006/main">
            <a:r>
              <a:t>        "output": "시간대별 이동량",</a:t>
            </a:r>
          </a:p>
          <a:p xmlns:a="http://schemas.openxmlformats.org/drawingml/2006/main">
            <a:r>
              <a:t>        "refresh": "운행 후 수요 차이를 차기 노선 검토에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"AX01",</a:t>
            </a:r>
          </a:p>
          <a:p xmlns:a="http://schemas.openxmlformats.org/drawingml/2006/main">
            <a:r>
              <a:t>    "success": [</a:t>
            </a:r>
          </a:p>
          <a:p xmlns:a="http://schemas.openxmlformats.org/drawingml/2006/main">
            <a:r>
              <a:t>      "통신 수요와 실제 노선의 결합",</a:t>
            </a:r>
          </a:p>
          <a:p xmlns:a="http://schemas.openxmlformats.org/drawingml/2006/main">
            <a:r>
              <a:t>      "심야 시간·지역 단위의 수요 구분"</a:t>
            </a:r>
          </a:p>
          <a:p xmlns:a="http://schemas.openxmlformats.org/drawingml/2006/main">
            <a:r>
              <a:t>    ],</a:t>
            </a:r>
          </a:p>
          <a:p xmlns:a="http://schemas.openxmlformats.org/drawingml/2006/main">
            <a:r>
              <a:t>    "risks": [</a:t>
            </a:r>
          </a:p>
          <a:p xmlns:a="http://schemas.openxmlformats.org/drawingml/2006/main">
            <a:r>
              <a:t>      "휴대전화 자료의 이용자 대표성 차이",</a:t>
            </a:r>
          </a:p>
          <a:p xmlns:a="http://schemas.openxmlformats.org/drawingml/2006/main">
            <a:r>
              <a:t>      "노선 확대와 사고 감소의 인과관계 분리"</a:t>
            </a:r>
          </a:p>
          <a:p xmlns:a="http://schemas.openxmlformats.org/drawingml/2006/main">
            <a:r>
              <a:t>    ],</a:t>
            </a:r>
          </a:p>
          <a:p xmlns:a="http://schemas.openxmlformats.org/drawingml/2006/main">
            <a:r>
              <a:t>    "architecture": [</a:t>
            </a:r>
          </a:p>
          <a:p xmlns:a="http://schemas.openxmlformats.org/drawingml/2006/main">
            <a:r>
              <a:t>      "이동 수요 자료",</a:t>
            </a:r>
          </a:p>
          <a:p xmlns:a="http://schemas.openxmlformats.org/drawingml/2006/main">
            <a:r>
              <a:t>      "시간·지역 집계 분석",</a:t>
            </a:r>
          </a:p>
          <a:p xmlns:a="http://schemas.openxmlformats.org/drawingml/2006/main">
            <a:r>
              <a:t>      "수요·노선 자료",</a:t>
            </a:r>
          </a:p>
          <a:p xmlns:a="http://schemas.openxmlformats.org/drawingml/2006/main">
            <a:r>
              <a:t>      "노선 기획 담당"</a:t>
            </a:r>
          </a:p>
          <a:p xmlns:a="http://schemas.openxmlformats.org/drawingml/2006/main">
            <a:r>
              <a:t>    ],</a:t>
            </a:r>
          </a:p>
          <a:p xmlns:a="http://schemas.openxmlformats.org/drawingml/2006/main">
            <a:r>
              <a:t>    "transfers": [</a:t>
            </a:r>
          </a:p>
          <a:p xmlns:a="http://schemas.openxmlformats.org/drawingml/2006/main">
            <a:r>
              <a:t>      "시간대별 이동량",</a:t>
            </a:r>
          </a:p>
          <a:p xmlns:a="http://schemas.openxmlformats.org/drawingml/2006/main">
            <a:r>
              <a:t>      "지역별 수요 분포",</a:t>
            </a:r>
          </a:p>
          <a:p xmlns:a="http://schemas.openxmlformats.org/drawingml/2006/main">
            <a:r>
              <a:t>      "노선 후보",</a:t>
            </a:r>
          </a:p>
          <a:p xmlns:a="http://schemas.openxmlformats.org/drawingml/2006/main">
            <a:r>
              <a:t>      "운영 노선"</a:t>
            </a:r>
          </a:p>
          <a:p xmlns:a="http://schemas.openxmlformats.org/drawingml/2006/main">
            <a:r>
              <a:t>    ],</a:t>
            </a:r>
          </a:p>
          <a:p xmlns:a="http://schemas.openxmlformats.org/drawingml/2006/main">
            <a:r>
              <a:t>    "control": "집계 단위·관측기간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서울시 · 올빼미버스 빅데이터 정책 https://english.seoul.go.kr/smg-taps-big-data-customized-policy/</a:t>
            </a:r>
          </a:p>
          <a:p xmlns:a="http://schemas.openxmlformats.org/drawingml/2006/main">
            <a:r>
              <a:t>홈페이지 https://heen1987-ops.github.io/TS-business-Plan-001/index.html?view=casebook&amp;case=AX01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"AX01",</a:t>
            </a:r>
          </a:p>
          <a:p xmlns:a="http://schemas.openxmlformats.org/drawingml/2006/main">
            <a:r>
              <a:t>    "title": "서울 올빼미버스",</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"빅데이터 정책 적용",</a:t>
            </a:r>
          </a:p>
          <a:p xmlns:a="http://schemas.openxmlformats.org/drawingml/2006/main">
            <a:r>
              <a:t>    "period": "2013–2014",</a:t>
            </a:r>
          </a:p>
          <a:p xmlns:a="http://schemas.openxmlformats.org/drawingml/2006/main">
            <a:r>
              <a:t>    "sources": [</a:t>
            </a:r>
          </a:p>
          <a:p xmlns:a="http://schemas.openxmlformats.org/drawingml/2006/main">
            <a:r>
              <a:t>      "S01"</a:t>
            </a:r>
          </a:p>
          <a:p xmlns:a="http://schemas.openxmlformats.org/drawingml/2006/main">
            <a:r>
              <a:t>    ],</a:t>
            </a:r>
          </a:p>
          <a:p xmlns:a="http://schemas.openxmlformats.org/drawingml/2006/main">
            <a:r>
              <a:t>    "keywords": [</a:t>
            </a:r>
          </a:p>
          <a:p xmlns:a="http://schemas.openxmlformats.org/drawingml/2006/main">
            <a:r>
              <a:t>      "이동 수요",</a:t>
            </a:r>
          </a:p>
          <a:p xmlns:a="http://schemas.openxmlformats.org/drawingml/2006/main">
            <a:r>
              <a:t>      "교통약자",</a:t>
            </a:r>
          </a:p>
          <a:p xmlns:a="http://schemas.openxmlformats.org/drawingml/2006/main">
            <a:r>
              <a:t>      "지역",</a:t>
            </a:r>
          </a:p>
          <a:p xmlns:a="http://schemas.openxmlformats.org/drawingml/2006/main">
            <a:r>
              <a:t>      "데이터 연계"</a:t>
            </a:r>
          </a:p>
          <a:p xmlns:a="http://schemas.openxmlformats.org/drawingml/2006/main">
            <a:r>
              <a:t>    ],</a:t>
            </a:r>
          </a:p>
          <a:p xmlns:a="http://schemas.openxmlformats.org/drawingml/2006/main">
            <a:r>
              <a:t>    "fact": "통신 데이터 분석의 심야버스 노선 반영 및 2개 노선에서 9개 노선으로 운영 확대",</a:t>
            </a:r>
          </a:p>
          <a:p xmlns:a="http://schemas.openxmlformats.org/drawingml/2006/main">
            <a:r>
              <a:t>    "limit": "운영기관 발표 · 생성형 AI 사례 아님 · 사고 감소·지역경제 인과효과 별도",</a:t>
            </a:r>
          </a:p>
          <a:p xmlns:a="http://schemas.openxmlformats.org/drawingml/2006/main">
            <a:r>
              <a:t>    "flow": [</a:t>
            </a:r>
          </a:p>
          <a:p xmlns:a="http://schemas.openxmlformats.org/drawingml/2006/main">
            <a:r>
              <a:t>      "통신 이동 수요",</a:t>
            </a:r>
          </a:p>
          <a:p xmlns:a="http://schemas.openxmlformats.org/drawingml/2006/main">
            <a:r>
              <a:t>      "시간·지역 분석",</a:t>
            </a:r>
          </a:p>
          <a:p xmlns:a="http://schemas.openxmlformats.org/drawingml/2006/main">
            <a:r>
              <a:t>      "노선 선정",</a:t>
            </a:r>
          </a:p>
          <a:p xmlns:a="http://schemas.openxmlformats.org/drawingml/2006/main">
            <a:r>
              <a:t>      "심야버스 운영"</a:t>
            </a:r>
          </a:p>
          <a:p xmlns:a="http://schemas.openxmlformats.org/drawingml/2006/main">
            <a:r>
              <a:t>    ],</a:t>
            </a:r>
          </a:p>
          <a:p xmlns:a="http://schemas.openxmlformats.org/drawingml/2006/main">
            <a:r>
              <a:t>    "flowBasis": "공개 업무 흐름 요약 · 시스템 배치도 재현 아님",</a:t>
            </a:r>
          </a:p>
          <a:p xmlns:a="http://schemas.openxmlformats.org/drawingml/2006/main">
            <a:r>
              <a:t>    "lesson":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"지역·시간·관할 코드 정규화 / 집계 통계와 현장 근거 대조",</a:t>
            </a:r>
          </a:p>
          <a:p xmlns:a="http://schemas.openxmlformats.org/drawingml/2006/main">
            <a:r>
              <a:t>    "test": "동일 지역·기간의 원천 집계 재현 및 담당 부서 매핑 대조",</a:t>
            </a:r>
          </a:p>
          <a:p xmlns:a="http://schemas.openxmlformats.org/drawingml/2006/main">
            <a:r>
              <a:t>    "metric": "수요 검토 소요시간 / 근거 누락률"</a:t>
            </a:r>
          </a:p>
          <a:p xmlns:a="http://schemas.openxmlformats.org/drawingml/2006/main">
            <a:r>
              <a:t>  },</a:t>
            </a:r>
          </a:p>
          <a:p xmlns:a="http://schemas.openxmlformats.org/drawingml/2006/main">
            <a:r>
              <a:t>  "design": {</a:t>
            </a:r>
          </a:p>
          <a:p xmlns:a="http://schemas.openxmlformats.org/drawingml/2006/main">
            <a:r>
              <a:t>    "id": "AX01",</a:t>
            </a:r>
          </a:p>
          <a:p xmlns:a="http://schemas.openxmlformats.org/drawingml/2006/main">
            <a:r>
              <a:t>    "canonicalId": "AX01",</a:t>
            </a:r>
          </a:p>
          <a:p xmlns:a="http://schemas.openxmlformats.org/drawingml/2006/main">
            <a:r>
              <a:t>    "purpose": "심야 이동 수요에 맞춘 버스 노선 설계",</a:t>
            </a:r>
          </a:p>
          <a:p xmlns:a="http://schemas.openxmlformats.org/drawingml/2006/main">
            <a:r>
              <a:t>    "users": "교통정책 담당·운송 운영자",</a:t>
            </a:r>
          </a:p>
          <a:p xmlns:a="http://schemas.openxmlformats.org/drawingml/2006/main">
            <a:r>
              <a:t>    "scope": [</a:t>
            </a:r>
          </a:p>
          <a:p xmlns:a="http://schemas.openxmlformats.org/drawingml/2006/main">
            <a:r>
              <a:t>      "심야 수요 분포",</a:t>
            </a:r>
          </a:p>
          <a:p xmlns:a="http://schemas.openxmlformats.org/drawingml/2006/main">
            <a:r>
              <a:t>      "노선 후보 비교",</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"이동 수요 자료",</a:t>
            </a:r>
          </a:p>
          <a:p xmlns:a="http://schemas.openxmlformats.org/drawingml/2006/main">
            <a:r>
              <a:t>        "detail": "시간대·출발지·도착지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"심야 수요 분포 / 노선 후보 비교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"시간·지역 집계 분석",</a:t>
            </a:r>
          </a:p>
          <a:p xmlns:a="http://schemas.openxmlformats.org/drawingml/2006/main">
            <a:r>
              <a:t>        "detail": "이동량 집계와 노선별 수요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"노선 기획 담당",</a:t>
            </a:r>
          </a:p>
          <a:p xmlns:a="http://schemas.openxmlformats.org/drawingml/2006/main">
            <a:r>
              <a:t>        "detail": "노선 후보를 담당자의 운행계획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"수요·노선 자료",</a:t>
            </a:r>
          </a:p>
          <a:p xmlns:a="http://schemas.openxmlformats.org/drawingml/2006/main">
            <a:r>
              <a:t>        "detail": "통신 수요·노선의 공간 단위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"운행 후 수요 차이를 차기 노선 검토에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"통신 이동 수요",</a:t>
            </a:r>
          </a:p>
          <a:p xmlns:a="http://schemas.openxmlformats.org/drawingml/2006/main">
            <a:r>
              <a:t>        "input": "시간대·출발지·도착지 지정",</a:t>
            </a:r>
          </a:p>
          <a:p xmlns:a="http://schemas.openxmlformats.org/drawingml/2006/main">
            <a:r>
              <a:t>        "process": "통신 수요·노선의 공간 단위 정합화",</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"title": "시간·지역 분석",</a:t>
            </a:r>
          </a:p>
          <a:p xmlns:a="http://schemas.openxmlformats.org/drawingml/2006/main">
            <a:r>
              <a:t>        "input": "시간대별 이동량",</a:t>
            </a:r>
          </a:p>
          <a:p xmlns:a="http://schemas.openxmlformats.org/drawingml/2006/main">
            <a:r>
              <a:t>        "process": "이동량 집계와 노선별 수요 비교",</a:t>
            </a:r>
          </a:p>
          <a:p xmlns:a="http://schemas.openxmlformats.org/drawingml/2006/main">
            <a:r>
              <a:t>        "output": "지역별 수요 분포"</a:t>
            </a:r>
          </a:p>
          <a:p xmlns:a="http://schemas.openxmlformats.org/drawingml/2006/main">
            <a:r>
              <a:t>      },</a:t>
            </a:r>
          </a:p>
          <a:p xmlns:a="http://schemas.openxmlformats.org/drawingml/2006/main">
            <a:r>
              <a:t>      {</a:t>
            </a:r>
          </a:p>
          <a:p xmlns:a="http://schemas.openxmlformats.org/drawingml/2006/main">
            <a:r>
              <a:t>        "title": "노선 선정",</a:t>
            </a:r>
          </a:p>
          <a:p xmlns:a="http://schemas.openxmlformats.org/drawingml/2006/main">
            <a:r>
              <a:t>        "input": "지역별 수요 분포",</a:t>
            </a:r>
          </a:p>
          <a:p xmlns:a="http://schemas.openxmlformats.org/drawingml/2006/main">
            <a:r>
              <a:t>        "process": "집계 단위·관측기간 대조",</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"title": "심야버스 운영",</a:t>
            </a:r>
          </a:p>
          <a:p xmlns:a="http://schemas.openxmlformats.org/drawingml/2006/main">
            <a:r>
              <a:t>        "input": "노선 후보",</a:t>
            </a:r>
          </a:p>
          <a:p xmlns:a="http://schemas.openxmlformats.org/drawingml/2006/main">
            <a:r>
              <a:t>        "process":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"심야 시간대별 이동 수요를 기존 노선과 대조해 미충족 구간 선정",</a:t>
            </a:r>
          </a:p>
          <a:p xmlns:a="http://schemas.openxmlformats.org/drawingml/2006/main">
            <a:r>
              <a:t>      "exception": "지역별 통신 표본 비율 차이·관측기간 불일치",</a:t>
            </a:r>
          </a:p>
          <a:p xmlns:a="http://schemas.openxmlformats.org/drawingml/2006/main">
            <a:r>
              <a:t>      "evidence": "지역·시간 단위 원천 집계 대사표와 노선 후보 선정 사유",</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"교통정책 담당·운송 운영자",</a:t>
            </a:r>
          </a:p>
          <a:p xmlns:a="http://schemas.openxmlformats.org/drawingml/2006/main">
            <a:r>
              <a:t>          "processing": "시간대·출발지·도착지 지정",</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"수요·노선 자료",</a:t>
            </a:r>
          </a:p>
          <a:p xmlns:a="http://schemas.openxmlformats.org/drawingml/2006/main">
            <a:r>
              <a:t>          "processing": "통신 수요·노선의 공간 단위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"시간대별 이동량",</a:t>
            </a:r>
          </a:p>
          <a:p xmlns:a="http://schemas.openxmlformats.org/drawingml/2006/main">
            <a:r>
              <a:t>          "processing": "이동량 집계와 노선별 수요 비교",</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"노선 후보",</a:t>
            </a:r>
          </a:p>
          <a:p xmlns:a="http://schemas.openxmlformats.org/drawingml/2006/main">
            <a:r>
              <a:t>          "processing":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"운행 후 수요 차이를 차기 노선 검토에 반영",</a:t>
            </a:r>
          </a:p>
          <a:p xmlns:a="http://schemas.openxmlformats.org/drawingml/2006/main">
            <a:r>
              <a:t>          "output":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"운행 후 수요 차이를 차기 노선 검토에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"S01",</a:t>
            </a:r>
          </a:p>
          <a:p xmlns:a="http://schemas.openxmlformats.org/drawingml/2006/main">
            <a:r>
              <a:t>        "title": "서울시 · 올빼미버스 빅데이터 정책",</a:t>
            </a:r>
          </a:p>
          <a:p xmlns:a="http://schemas.openxmlformats.org/drawingml/2006/main">
            <a:r>
              <a:t>        "url": "https://english.seoul.go.kr/smg-taps-big-data-customized-policy/",</a:t>
            </a:r>
          </a:p>
          <a:p xmlns:a="http://schemas.openxmlformats.org/drawingml/2006/main">
            <a:r>
              <a:t>        "published": "2014-04-28",</a:t>
            </a:r>
          </a:p>
          <a:p xmlns:a="http://schemas.openxmlformats.org/drawingml/2006/main">
            <a:r>
              <a:t>        "level": "운영기관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"sourceDetail": null,</a:t>
            </a:r>
          </a:p>
          <a:p xmlns:a="http://schemas.openxmlformats.org/drawingml/2006/main">
            <a:r>
              <a:t>    "narrative": [</a:t>
            </a:r>
          </a:p>
          <a:p xmlns:a="http://schemas.openxmlformats.org/drawingml/2006/main">
            <a:r>
              <a:t>      "심야 교통 수요를 실제 노선 결정에 연결한 데이터 기반 정책 사례. 기존 노선·운행계획을 검토하는 담당자가 시간대·지역별 잠재 수요를 함께 비교하는 업무 변화.",</a:t>
            </a:r>
          </a:p>
          <a:p xmlns:a="http://schemas.openxmlformats.org/drawingml/2006/main">
            <a:r>
              <a:t>      "통신 이동량과 노선 정보를 공통 공간 단위로 정리한 뒤 수요 분포와 노선 후보를 비교하는 분석 흐름의 재구성. CCK 적용 시 분석 결과를 담당 관할·교통약자 지원 업무·노선 검토자료로 변환하는 단계의 분리.",</a:t>
            </a:r>
          </a:p>
          <a:p xmlns:a="http://schemas.openxmlformats.org/drawingml/2006/main">
            <a:r>
              <a:t>      "운영 노선 확대 실적과 안전·지역경제 효과의 구분. 통신자료의 대표성, 시간대별 집계 재현성, 실제 승차 수요와의 차이를 확인한 후 TS 업무 검토시간·근거 누락률로 평가할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"노선 검토 요청",</a:t>
            </a:r>
          </a:p>
          <a:p xmlns:a="http://schemas.openxmlformats.org/drawingml/2006/main">
            <a:r>
              <a:t>          "layer": "이용 접점",</a:t>
            </a:r>
          </a:p>
          <a:p xmlns:a="http://schemas.openxmlformats.org/drawingml/2006/main">
            <a:r>
              <a:t>          "detail": "교통정책 담당·운송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"시간·지역 범위",</a:t>
            </a:r>
          </a:p>
          <a:p xmlns:a="http://schemas.openxmlformats.org/drawingml/2006/main">
            <a:r>
              <a:t>          "layer": "업무 문맥",</a:t>
            </a:r>
          </a:p>
          <a:p xmlns:a="http://schemas.openxmlformats.org/drawingml/2006/main">
            <a:r>
              <a:t>          "detail": "시간대·출발지·도착지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"수요 집계 조회",</a:t>
            </a:r>
          </a:p>
          <a:p xmlns:a="http://schemas.openxmlformats.org/drawingml/2006/main">
            <a:r>
              <a:t>          "layer": "자료 조회",</a:t>
            </a:r>
          </a:p>
          <a:p xmlns:a="http://schemas.openxmlformats.org/drawingml/2006/main">
            <a:r>
              <a:t>          "detail": "시간대별 이동량",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"노선 후보 분석",</a:t>
            </a:r>
          </a:p>
          <a:p xmlns:a="http://schemas.openxmlformats.org/drawingml/2006/main">
            <a:r>
              <a:t>          "layer": "핵심 처리",</a:t>
            </a:r>
          </a:p>
          <a:p xmlns:a="http://schemas.openxmlformats.org/drawingml/2006/main">
            <a:r>
              <a:t>          "detail": "이동량 집계와 노선별 수요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"대표성·집계 검증",</a:t>
            </a:r>
          </a:p>
          <a:p xmlns:a="http://schemas.openxmlformats.org/drawingml/2006/main">
            <a:r>
              <a:t>          "layer": "결과 검증",</a:t>
            </a:r>
          </a:p>
          <a:p xmlns:a="http://schemas.openxmlformats.org/drawingml/2006/main">
            <a:r>
              <a:t>          "detail": "집계 단위·관측기간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"교통정책 검토",</a:t>
            </a:r>
          </a:p>
          <a:p xmlns:a="http://schemas.openxmlformats.org/drawingml/2006/main">
            <a:r>
              <a:t>          "layer": "사람 확인",</a:t>
            </a:r>
          </a:p>
          <a:p xmlns:a="http://schemas.openxmlformats.org/drawingml/2006/main">
            <a:r>
              <a:t>          "detail": "심야 시간대별 이동 수요를 기존 노선과 대조해 미충족 구간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"노선 운영계획",</a:t>
            </a:r>
          </a:p>
          <a:p xmlns:a="http://schemas.openxmlformats.org/drawingml/2006/main">
            <a:r>
              <a:t>          "layer": "업무 연결",</a:t>
            </a:r>
          </a:p>
          <a:p xmlns:a="http://schemas.openxmlformats.org/drawingml/2006/main">
            <a:r>
              <a:t>          "detail": "노선 후보를 담당자의 운행계획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수요 비교",</a:t>
            </a:r>
          </a:p>
          <a:p xmlns:a="http://schemas.openxmlformats.org/drawingml/2006/main">
            <a:r>
              <a:t>          "layer": "운영 관측",</a:t>
            </a:r>
          </a:p>
          <a:p xmlns:a="http://schemas.openxmlformats.org/drawingml/2006/main">
            <a:r>
              <a:t>          "detail": "운행 후 수요 차이를 차기 노선 검토에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"통신·노선 자료",</a:t>
            </a:r>
          </a:p>
          <a:p xmlns:a="http://schemas.openxmlformats.org/drawingml/2006/main">
            <a:r>
              <a:t>          "layer": "데이터 원천",</a:t>
            </a:r>
          </a:p>
          <a:p xmlns:a="http://schemas.openxmlformats.org/drawingml/2006/main">
            <a:r>
              <a:t>          "detail": "수요·노선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"공간 단위 정합화",</a:t>
            </a:r>
          </a:p>
          <a:p xmlns:a="http://schemas.openxmlformats.org/drawingml/2006/main">
            <a:r>
              <a:t>          "layer": "준비·갱신",</a:t>
            </a:r>
          </a:p>
          <a:p xmlns:a="http://schemas.openxmlformats.org/drawingml/2006/main">
            <a:r>
              <a:t>          "detail": "통신 수요·노선의 공간 단위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"지역·시간 집계",</a:t>
            </a:r>
          </a:p>
          <a:p xmlns:a="http://schemas.openxmlformats.org/drawingml/2006/main">
            <a:r>
              <a:t>          "layer": "상태·지식 저장",</a:t>
            </a:r>
          </a:p>
          <a:p xmlns:a="http://schemas.openxmlformats.org/drawingml/2006/main">
            <a:r>
              <a:t>          "detail": "지역·시간 단위 원천 집계 대사표와 노선 후보 선정 사유",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 이용정책",</a:t>
            </a:r>
          </a:p>
          <a:p xmlns:a="http://schemas.openxmlformats.org/drawingml/2006/main">
            <a:r>
              <a:t>          "layer": "권한·정책",</a:t>
            </a:r>
          </a:p>
          <a:p xmlns:a="http://schemas.openxmlformats.org/drawingml/2006/main">
            <a:r>
              <a:t>          "detail": "지역별 통신 표본 비율 차이·관측기간 불일치",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"통신 이동 수요 → 시간·지역 분석 → 노선 선정 → 심야버스 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"수요·노선 자료",</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"지역별 수요 분포",</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"노선 후보",</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"노선 후보",</a:t>
            </a:r>
          </a:p>
          <a:p xmlns:a="http://schemas.openxmlformats.org/drawingml/2006/main">
            <a:r>
              <a:t>          "check": "집계 단위·관측기간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"운영 노선",</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"심야 이동 수요에 맞춘 버스 노선 설계 / 심야 수요 분포·노선 후보 비교·운행 검토",</a:t>
            </a:r>
          </a:p>
          <a:p xmlns:a="http://schemas.openxmlformats.org/drawingml/2006/main">
            <a:r>
              <a:t>        "extension": "TS 관할·교통약자·이동 수요를 지역별 업무 사전으로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"지역별 통신 표본 비율 차이·관측기간 불일치",</a:t>
            </a:r>
          </a:p>
          <a:p xmlns:a="http://schemas.openxmlformats.org/drawingml/2006/main">
            <a:r>
              <a:t>        "hold": "집계 단위·관측기간 대조",</a:t>
            </a:r>
          </a:p>
          <a:p xmlns:a="http://schemas.openxmlformats.org/drawingml/2006/main">
            <a:r>
              <a:t>        "recovery": "운행 후 수요 차이를 차기 노선 검토에 반영",</a:t>
            </a:r>
          </a:p>
          <a:p xmlns:a="http://schemas.openxmlformats.org/drawingml/2006/main">
            <a:r>
              <a:t>        "evidence": "지역·시간 단위 원천 집계 대사표와 노선 후보 선정 사유"</a:t>
            </a:r>
          </a:p>
          <a:p xmlns:a="http://schemas.openxmlformats.org/drawingml/2006/main">
            <a:r>
              <a:t>      },</a:t>
            </a:r>
          </a:p>
          <a:p xmlns:a="http://schemas.openxmlformats.org/drawingml/2006/main">
            <a:r>
              <a:t>      "data": {</a:t>
            </a:r>
          </a:p>
          <a:p xmlns:a="http://schemas.openxmlformats.org/drawingml/2006/main">
            <a:r>
              <a:t>        "source": "수요·노선 자료",</a:t>
            </a:r>
          </a:p>
          <a:p xmlns:a="http://schemas.openxmlformats.org/drawingml/2006/main">
            <a:r>
              <a:t>        "prepare": "통신 수요·노선의 공간 단위 정합화",</a:t>
            </a:r>
          </a:p>
          <a:p xmlns:a="http://schemas.openxmlformats.org/drawingml/2006/main">
            <a:r>
              <a:t>        "output": "시간대별 이동량",</a:t>
            </a:r>
          </a:p>
          <a:p xmlns:a="http://schemas.openxmlformats.org/drawingml/2006/main">
            <a:r>
              <a:t>        "refresh": "운행 후 수요 차이를 차기 노선 검토에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"AX01",</a:t>
            </a:r>
          </a:p>
          <a:p xmlns:a="http://schemas.openxmlformats.org/drawingml/2006/main">
            <a:r>
              <a:t>    "success": [</a:t>
            </a:r>
          </a:p>
          <a:p xmlns:a="http://schemas.openxmlformats.org/drawingml/2006/main">
            <a:r>
              <a:t>      "통신 수요와 실제 노선의 결합",</a:t>
            </a:r>
          </a:p>
          <a:p xmlns:a="http://schemas.openxmlformats.org/drawingml/2006/main">
            <a:r>
              <a:t>      "심야 시간·지역 단위의 수요 구분"</a:t>
            </a:r>
          </a:p>
          <a:p xmlns:a="http://schemas.openxmlformats.org/drawingml/2006/main">
            <a:r>
              <a:t>    ],</a:t>
            </a:r>
          </a:p>
          <a:p xmlns:a="http://schemas.openxmlformats.org/drawingml/2006/main">
            <a:r>
              <a:t>    "risks": [</a:t>
            </a:r>
          </a:p>
          <a:p xmlns:a="http://schemas.openxmlformats.org/drawingml/2006/main">
            <a:r>
              <a:t>      "휴대전화 자료의 이용자 대표성 차이",</a:t>
            </a:r>
          </a:p>
          <a:p xmlns:a="http://schemas.openxmlformats.org/drawingml/2006/main">
            <a:r>
              <a:t>      "노선 확대와 사고 감소의 인과관계 분리"</a:t>
            </a:r>
          </a:p>
          <a:p xmlns:a="http://schemas.openxmlformats.org/drawingml/2006/main">
            <a:r>
              <a:t>    ],</a:t>
            </a:r>
          </a:p>
          <a:p xmlns:a="http://schemas.openxmlformats.org/drawingml/2006/main">
            <a:r>
              <a:t>    "architecture": [</a:t>
            </a:r>
          </a:p>
          <a:p xmlns:a="http://schemas.openxmlformats.org/drawingml/2006/main">
            <a:r>
              <a:t>      "이동 수요 자료",</a:t>
            </a:r>
          </a:p>
          <a:p xmlns:a="http://schemas.openxmlformats.org/drawingml/2006/main">
            <a:r>
              <a:t>      "시간·지역 집계 분석",</a:t>
            </a:r>
          </a:p>
          <a:p xmlns:a="http://schemas.openxmlformats.org/drawingml/2006/main">
            <a:r>
              <a:t>      "수요·노선 자료",</a:t>
            </a:r>
          </a:p>
          <a:p xmlns:a="http://schemas.openxmlformats.org/drawingml/2006/main">
            <a:r>
              <a:t>      "노선 기획 담당"</a:t>
            </a:r>
          </a:p>
          <a:p xmlns:a="http://schemas.openxmlformats.org/drawingml/2006/main">
            <a:r>
              <a:t>    ],</a:t>
            </a:r>
          </a:p>
          <a:p xmlns:a="http://schemas.openxmlformats.org/drawingml/2006/main">
            <a:r>
              <a:t>    "transfers": [</a:t>
            </a:r>
          </a:p>
          <a:p xmlns:a="http://schemas.openxmlformats.org/drawingml/2006/main">
            <a:r>
              <a:t>      "시간대별 이동량",</a:t>
            </a:r>
          </a:p>
          <a:p xmlns:a="http://schemas.openxmlformats.org/drawingml/2006/main">
            <a:r>
              <a:t>      "지역별 수요 분포",</a:t>
            </a:r>
          </a:p>
          <a:p xmlns:a="http://schemas.openxmlformats.org/drawingml/2006/main">
            <a:r>
              <a:t>      "노선 후보",</a:t>
            </a:r>
          </a:p>
          <a:p xmlns:a="http://schemas.openxmlformats.org/drawingml/2006/main">
            <a:r>
              <a:t>      "운영 노선"</a:t>
            </a:r>
          </a:p>
          <a:p xmlns:a="http://schemas.openxmlformats.org/drawingml/2006/main">
            <a:r>
              <a:t>    ],</a:t>
            </a:r>
          </a:p>
          <a:p xmlns:a="http://schemas.openxmlformats.org/drawingml/2006/main">
            <a:r>
              <a:t>    "control": "집계 단위·관측기간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서울시 · 올빼미버스 빅데이터 정책 https://english.seoul.go.kr/smg-taps-big-data-customized-policy/</a:t>
            </a:r>
          </a:p>
          <a:p xmlns:a="http://schemas.openxmlformats.org/drawingml/2006/main">
            <a:r>
              <a:t>홈페이지 https://heen1987-ops.github.io/TS-business-Plan-001/index.html?view=casebook&amp;case=AX01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"AX02",</a:t>
            </a:r>
          </a:p>
          <a:p xmlns:a="http://schemas.openxmlformats.org/drawingml/2006/main">
            <a:r>
              <a:t>    "title": "CLOVA CareCall",</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"음성·LLM 돌봄 서비스",</a:t>
            </a:r>
          </a:p>
          <a:p xmlns:a="http://schemas.openxmlformats.org/drawingml/2006/main">
            <a:r>
              <a:t>    "period": "CHI 2023 / 2024 소개",</a:t>
            </a:r>
          </a:p>
          <a:p xmlns:a="http://schemas.openxmlformats.org/drawingml/2006/main">
            <a:r>
              <a:t>    "sources": [</a:t>
            </a:r>
          </a:p>
          <a:p xmlns:a="http://schemas.openxmlformats.org/drawingml/2006/main">
            <a:r>
              <a:t>      "S02"</a:t>
            </a:r>
          </a:p>
          <a:p xmlns:a="http://schemas.openxmlformats.org/drawingml/2006/main">
            <a:r>
              <a:t>    ],</a:t>
            </a:r>
          </a:p>
          <a:p xmlns:a="http://schemas.openxmlformats.org/drawingml/2006/main">
            <a:r>
              <a:t>    "keywords": [</a:t>
            </a:r>
          </a:p>
          <a:p xmlns:a="http://schemas.openxmlformats.org/drawingml/2006/main">
            <a:r>
              <a:t>      "음성",</a:t>
            </a:r>
          </a:p>
          <a:p xmlns:a="http://schemas.openxmlformats.org/drawingml/2006/main">
            <a:r>
              <a:t>      "정보약자",</a:t>
            </a:r>
          </a:p>
          <a:p xmlns:a="http://schemas.openxmlformats.org/drawingml/2006/main">
            <a:r>
              <a:t>      "맞춤 서비스",</a:t>
            </a:r>
          </a:p>
          <a:p xmlns:a="http://schemas.openxmlformats.org/drawingml/2006/main">
            <a:r>
              <a:t>      "인간 개입"</a:t>
            </a:r>
          </a:p>
          <a:p xmlns:a="http://schemas.openxmlformats.org/drawingml/2006/main">
            <a:r>
              <a:t>    ],</a:t>
            </a:r>
          </a:p>
          <a:p xmlns:a="http://schemas.openxmlformats.org/drawingml/2006/main">
            <a:r>
              <a:t>    "fact": "안부전화와 복지 담당자 후속 대응의 결합; 인터뷰에서 업무 부담 완화와 사용자 이해의 이점 보고",</a:t>
            </a:r>
          </a:p>
          <a:p xmlns:a="http://schemas.openxmlformats.org/drawingml/2006/main">
            <a:r>
              <a:t>    "limit": "소규모 질적 연구 · 부적절 발화 통제와 지자체별 요구 반영의 난점 · 임상 효과 근거 아님",</a:t>
            </a:r>
          </a:p>
          <a:p xmlns:a="http://schemas.openxmlformats.org/drawingml/2006/main">
            <a:r>
              <a:t>    "flow": [</a:t>
            </a:r>
          </a:p>
          <a:p xmlns:a="http://schemas.openxmlformats.org/drawingml/2006/main">
            <a:r>
              <a:t>      "안부전화",</a:t>
            </a:r>
          </a:p>
          <a:p xmlns:a="http://schemas.openxmlformats.org/drawingml/2006/main">
            <a:r>
              <a:t>      "LLM 대화",</a:t>
            </a:r>
          </a:p>
          <a:p xmlns:a="http://schemas.openxmlformats.org/drawingml/2006/main">
            <a:r>
              <a:t>      "내역 열람·분석",</a:t>
            </a:r>
          </a:p>
          <a:p xmlns:a="http://schemas.openxmlformats.org/drawingml/2006/main">
            <a:r>
              <a:t>      "복지 담당자 대응"</a:t>
            </a:r>
          </a:p>
          <a:p xmlns:a="http://schemas.openxmlformats.org/drawingml/2006/main">
            <a:r>
              <a:t>    ],</a:t>
            </a:r>
          </a:p>
          <a:p xmlns:a="http://schemas.openxmlformats.org/drawingml/2006/main">
            <a:r>
              <a:t>    "flowBasis": "개발사 공개 서비스 구조 요약",</a:t>
            </a:r>
          </a:p>
          <a:p xmlns:a="http://schemas.openxmlformats.org/drawingml/2006/main">
            <a:r>
              <a:t>    "lesson":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"한국어 음성 연계 / 발화 정리 / 필수 항목 검증 / 상담 전환",</a:t>
            </a:r>
          </a:p>
          <a:p xmlns:a="http://schemas.openxmlformats.org/drawingml/2006/main">
            <a:r>
              <a:t>    "test": "고령·소음·방언 표본의 필수 항목 정확도 및 상담 전환 성공률",</a:t>
            </a:r>
          </a:p>
          <a:p xmlns:a="http://schemas.openxmlformats.org/drawingml/2006/main">
            <a:r>
              <a:t>    "metric": "서비스 도달률 / 발화 재입력률 / 집단별 완료시간"</a:t>
            </a:r>
          </a:p>
          <a:p xmlns:a="http://schemas.openxmlformats.org/drawingml/2006/main">
            <a:r>
              <a:t>  },</a:t>
            </a:r>
          </a:p>
          <a:p xmlns:a="http://schemas.openxmlformats.org/drawingml/2006/main">
            <a:r>
              <a:t>  "design": {</a:t>
            </a:r>
          </a:p>
          <a:p xmlns:a="http://schemas.openxmlformats.org/drawingml/2006/main">
            <a:r>
              <a:t>    "id": "AX02",</a:t>
            </a:r>
          </a:p>
          <a:p xmlns:a="http://schemas.openxmlformats.org/drawingml/2006/main">
            <a:r>
              <a:t>    "canonicalId": "AX02",</a:t>
            </a:r>
          </a:p>
          <a:p xmlns:a="http://schemas.openxmlformats.org/drawingml/2006/main">
            <a:r>
              <a:t>    "purpose": "안부전화 이후 필요한 복지 조치의 연결",</a:t>
            </a:r>
          </a:p>
          <a:p xmlns:a="http://schemas.openxmlformats.org/drawingml/2006/main">
            <a:r>
              <a:t>    "users": "돌봄 대상자·복지 담당자",</a:t>
            </a:r>
          </a:p>
          <a:p xmlns:a="http://schemas.openxmlformats.org/drawingml/2006/main">
            <a:r>
              <a:t>    "scope": [</a:t>
            </a:r>
          </a:p>
          <a:p xmlns:a="http://schemas.openxmlformats.org/drawingml/2006/main">
            <a:r>
              <a:t>      "자유 발화",</a:t>
            </a:r>
          </a:p>
          <a:p xmlns:a="http://schemas.openxmlformats.org/drawingml/2006/main">
            <a:r>
              <a:t>      "상황 요약",</a:t>
            </a:r>
          </a:p>
          <a:p xmlns:a="http://schemas.openxmlformats.org/drawingml/2006/main">
            <a:r>
              <a:t>      "후속 대응"</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"안부전화",</a:t>
            </a:r>
          </a:p>
          <a:p xmlns:a="http://schemas.openxmlformats.org/drawingml/2006/main">
            <a:r>
              <a:t>        "detail": "전화 대상·대화 문맥의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"자유 발화 / 상황 요약 / 후속 대응",</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"대화·내역 분석",</a:t>
            </a:r>
          </a:p>
          <a:p xmlns:a="http://schemas.openxmlformats.org/drawingml/2006/main">
            <a:r>
              <a:t>        "detail": "음성 대화에서 상태와 확인 필요 내용 정리",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"복지 담당자",</a:t>
            </a:r>
          </a:p>
          <a:p xmlns:a="http://schemas.openxmlformats.org/drawingml/2006/main">
            <a:r>
              <a:t>        "detail": "담당자에게 상황 요약·확인 대상을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"대화·후속 대응 기록",</a:t>
            </a:r>
          </a:p>
          <a:p xmlns:a="http://schemas.openxmlformats.org/drawingml/2006/main">
            <a:r>
              <a:t>        "detail": "동의 범위 내 대화와 과거 대응 기록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"오인식·부적절 발화와 실제 대응 결과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"안부전화",</a:t>
            </a:r>
          </a:p>
          <a:p xmlns:a="http://schemas.openxmlformats.org/drawingml/2006/main">
            <a:r>
              <a:t>        "input": "전화 대상·대화 문맥의 구분",</a:t>
            </a:r>
          </a:p>
          <a:p xmlns:a="http://schemas.openxmlformats.org/drawingml/2006/main">
            <a:r>
              <a:t>        "process": "동의 범위 내 대화와 과거 대응 기록 구성",</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"title": "LLM 대화",</a:t>
            </a:r>
          </a:p>
          <a:p xmlns:a="http://schemas.openxmlformats.org/drawingml/2006/main">
            <a:r>
              <a:t>        "input": "동의받은 발화",</a:t>
            </a:r>
          </a:p>
          <a:p xmlns:a="http://schemas.openxmlformats.org/drawingml/2006/main">
            <a:r>
              <a:t>        "process": "음성 대화에서 상태와 확인 필요 내용 정리",</a:t>
            </a:r>
          </a:p>
          <a:p xmlns:a="http://schemas.openxmlformats.org/drawingml/2006/main">
            <a:r>
              <a:t>        "output": "상황 요약"</a:t>
            </a:r>
          </a:p>
          <a:p xmlns:a="http://schemas.openxmlformats.org/drawingml/2006/main">
            <a:r>
              <a:t>      },</a:t>
            </a:r>
          </a:p>
          <a:p xmlns:a="http://schemas.openxmlformats.org/drawingml/2006/main">
            <a:r>
              <a:t>      {</a:t>
            </a:r>
          </a:p>
          <a:p xmlns:a="http://schemas.openxmlformats.org/drawingml/2006/main">
            <a:r>
              <a:t>        "title": "내역 열람·분석",</a:t>
            </a:r>
          </a:p>
          <a:p xmlns:a="http://schemas.openxmlformats.org/drawingml/2006/main">
            <a:r>
              <a:t>        "input": "상황 요약",</a:t>
            </a:r>
          </a:p>
          <a:p xmlns:a="http://schemas.openxmlformats.org/drawingml/2006/main">
            <a:r>
              <a:t>        "process": "위험 신호의 사람 확인·상담 인계",</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"title": "복지 담당자 대응",</a:t>
            </a:r>
          </a:p>
          <a:p xmlns:a="http://schemas.openxmlformats.org/drawingml/2006/main">
            <a:r>
              <a:t>        "input": "확인 필요 대상",</a:t>
            </a:r>
          </a:p>
          <a:p xmlns:a="http://schemas.openxmlformats.org/drawingml/2006/main">
            <a:r>
              <a:t>        "process":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"통화에서 식사·수면·불편 사항을 파악하고 담당자가 후속 확인",</a:t>
            </a:r>
          </a:p>
          <a:p xmlns:a="http://schemas.openxmlformats.org/drawingml/2006/main">
            <a:r>
              <a:t>      "exception": "방언·침묵·통화 중단·위험 발화의 부정문",</a:t>
            </a:r>
          </a:p>
          <a:p xmlns:a="http://schemas.openxmlformats.org/drawingml/2006/main">
            <a:r>
              <a:t>      "evidence": "원 발화 대비 상태·위험 신호 추출표와 상담 인계 수신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"돌봄 대상자·복지 담당자",</a:t>
            </a:r>
          </a:p>
          <a:p xmlns:a="http://schemas.openxmlformats.org/drawingml/2006/main">
            <a:r>
              <a:t>          "processing": "전화 대상·대화 문맥의 구분",</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"대화·후속 대응 기록",</a:t>
            </a:r>
          </a:p>
          <a:p xmlns:a="http://schemas.openxmlformats.org/drawingml/2006/main">
            <a:r>
              <a:t>          "processing": "동의 범위 내 대화와 과거 대응 기록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"동의받은 발화",</a:t>
            </a:r>
          </a:p>
          <a:p xmlns:a="http://schemas.openxmlformats.org/drawingml/2006/main">
            <a:r>
              <a:t>          "processing": "음성 대화에서 상태와 확인 필요 내용 정리",</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 필요 대상",</a:t>
            </a:r>
          </a:p>
          <a:p xmlns:a="http://schemas.openxmlformats.org/drawingml/2006/main">
            <a:r>
              <a:t>          "processing":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"오인식·부적절 발화와 실제 대응 결과 검토",</a:t>
            </a:r>
          </a:p>
          <a:p xmlns:a="http://schemas.openxmlformats.org/drawingml/2006/main">
            <a:r>
              <a:t>          "output":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"오인식·부적절 발화와 실제 대응 결과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"S02",</a:t>
            </a:r>
          </a:p>
          <a:p xmlns:a="http://schemas.openxmlformats.org/drawingml/2006/main">
            <a:r>
              <a:t>        "title": "NAVER · CareCall 이해관계자 연구",</a:t>
            </a:r>
          </a:p>
          <a:p xmlns:a="http://schemas.openxmlformats.org/drawingml/2006/main">
            <a:r>
              <a:t>        "url": "https://clova.ai/tech-blog/ko-clova-%EC%BC%80%EC%96%B4%EC%BD%9C-%EC%97%B0%EA%B5%AC-%EB%85%BC%EB%AC%B8-%EC%86%8C%EA%B0%9C-%EC%B4%88%EA%B1%B0%EB%8C%80-%EC%9D%B8%EA%B3%B5%EC%A7%80%EB%8A%A5-%EA%B8%B0%EB%B0%98-%EC%B1%97%EB%B4%87",</a:t>
            </a:r>
          </a:p>
          <a:p xmlns:a="http://schemas.openxmlformats.org/drawingml/2006/main">
            <a:r>
              <a:t>        "published": "2024-08-07",</a:t>
            </a:r>
          </a:p>
          <a:p xmlns:a="http://schemas.openxmlformats.org/drawingml/2006/main">
            <a:r>
              <a:t>        "level": "개발사 연구 요약 / CHI 2023",</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"sourceDetail": null,</a:t>
            </a:r>
          </a:p>
          <a:p xmlns:a="http://schemas.openxmlformats.org/drawingml/2006/main">
            <a:r>
              <a:t>    "narrative": [</a:t>
            </a:r>
          </a:p>
          <a:p xmlns:a="http://schemas.openxmlformats.org/drawingml/2006/main">
            <a:r>
              <a:t>      "자유 발화 중심의 안부전화와 복지 담당자의 후속 대응을 결합한 서비스. 통화 자체의 자동화보다 대상자의 상황을 파악해 필요한 확인·방문 업무로 인계하는 연결이 핵심.",</a:t>
            </a:r>
          </a:p>
          <a:p xmlns:a="http://schemas.openxmlformats.org/drawingml/2006/main">
            <a:r>
              <a:t>      "음성 대화 기록에서 상태와 확인할 내용을 정리하고 담당자가 대응 여부를 검토하는 흐름. TS 적용 설계에서는 민원 발화를 신청 목적·대상·지역 등 필수 항목으로 정리한 뒤 사용자 확인과 상담원 인계를 구성.",</a:t>
            </a:r>
          </a:p>
          <a:p xmlns:a="http://schemas.openxmlformats.org/drawingml/2006/main">
            <a:r>
              <a:t>      "인터뷰에서 보고된 부담 완화와 임상·복지 성과의 구분. 소음·방언·고령 발화의 인식 오류, 위험 신호의 미탐, 상담원이 실제 인계받았는지를 별도로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"안부전화 접점",</a:t>
            </a:r>
          </a:p>
          <a:p xmlns:a="http://schemas.openxmlformats.org/drawingml/2006/main">
            <a:r>
              <a:t>          "layer": "이용 접점",</a:t>
            </a:r>
          </a:p>
          <a:p xmlns:a="http://schemas.openxmlformats.org/drawingml/2006/main">
            <a:r>
              <a:t>          "detail": "돌봄 대상자·복지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"대상·대화 맥락",</a:t>
            </a:r>
          </a:p>
          <a:p xmlns:a="http://schemas.openxmlformats.org/drawingml/2006/main">
            <a:r>
              <a:t>          "layer": "업무 문맥",</a:t>
            </a:r>
          </a:p>
          <a:p xmlns:a="http://schemas.openxmlformats.org/drawingml/2006/main">
            <a:r>
              <a:t>          "detail": "전화 대상·대화 문맥의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"이전 대응 조회",</a:t>
            </a:r>
          </a:p>
          <a:p xmlns:a="http://schemas.openxmlformats.org/drawingml/2006/main">
            <a:r>
              <a:t>          "layer": "자료 조회",</a:t>
            </a:r>
          </a:p>
          <a:p xmlns:a="http://schemas.openxmlformats.org/drawingml/2006/main">
            <a:r>
              <a:t>          "detail": "동의받은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"대화·상태 요약",</a:t>
            </a:r>
          </a:p>
          <a:p xmlns:a="http://schemas.openxmlformats.org/drawingml/2006/main">
            <a:r>
              <a:t>          "layer": "핵심 처리",</a:t>
            </a:r>
          </a:p>
          <a:p xmlns:a="http://schemas.openxmlformats.org/drawingml/2006/main">
            <a:r>
              <a:t>          "detail": "음성 대화에서 상태와 확인 필요 내용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"위험 발화 확인",</a:t>
            </a:r>
          </a:p>
          <a:p xmlns:a="http://schemas.openxmlformats.org/drawingml/2006/main">
            <a:r>
              <a:t>          "layer": "결과 검증",</a:t>
            </a:r>
          </a:p>
          <a:p xmlns:a="http://schemas.openxmlformats.org/drawingml/2006/main">
            <a:r>
              <a:t>          "detail": "위험 신호의 사람 확인·상담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"복지 담당 확인",</a:t>
            </a:r>
          </a:p>
          <a:p xmlns:a="http://schemas.openxmlformats.org/drawingml/2006/main">
            <a:r>
              <a:t>          "layer": "사람 확인",</a:t>
            </a:r>
          </a:p>
          <a:p xmlns:a="http://schemas.openxmlformats.org/drawingml/2006/main">
            <a:r>
              <a:t>          "detail": "통화에서 식사·수면·불편 사항을 파악하고 담당자가 후속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"상담·방문 인계",</a:t>
            </a:r>
          </a:p>
          <a:p xmlns:a="http://schemas.openxmlformats.org/drawingml/2006/main">
            <a:r>
              <a:t>          "layer": "업무 연결",</a:t>
            </a:r>
          </a:p>
          <a:p xmlns:a="http://schemas.openxmlformats.org/drawingml/2006/main">
            <a:r>
              <a:t>          "detail": "담당자에게 상황 요약·확인 대상을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완료 추적",</a:t>
            </a:r>
          </a:p>
          <a:p xmlns:a="http://schemas.openxmlformats.org/drawingml/2006/main">
            <a:r>
              <a:t>          "layer": "운영 관측",</a:t>
            </a:r>
          </a:p>
          <a:p xmlns:a="http://schemas.openxmlformats.org/drawingml/2006/main">
            <a:r>
              <a:t>          "detail": "오인식·부적절 발화와 실제 대응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"동의받은 대화",</a:t>
            </a:r>
          </a:p>
          <a:p xmlns:a="http://schemas.openxmlformats.org/drawingml/2006/main">
            <a:r>
              <a:t>          "layer": "데이터 원천",</a:t>
            </a:r>
          </a:p>
          <a:p xmlns:a="http://schemas.openxmlformats.org/drawingml/2006/main">
            <a:r>
              <a:t>          "detail": "대화·후속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"민감 발화 분리",</a:t>
            </a:r>
          </a:p>
          <a:p xmlns:a="http://schemas.openxmlformats.org/drawingml/2006/main">
            <a:r>
              <a:t>          "layer": "준비·갱신",</a:t>
            </a:r>
          </a:p>
          <a:p xmlns:a="http://schemas.openxmlformats.org/drawingml/2006/main">
            <a:r>
              <a:t>          "detail": "동의 범위 내 대화와 과거 대응 기록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"대화·대응 이력",</a:t>
            </a:r>
          </a:p>
          <a:p xmlns:a="http://schemas.openxmlformats.org/drawingml/2006/main">
            <a:r>
              <a:t>          "layer": "상태·지식 저장",</a:t>
            </a:r>
          </a:p>
          <a:p xmlns:a="http://schemas.openxmlformats.org/drawingml/2006/main">
            <a:r>
              <a:t>          "detail": "원 발화 대비 상태·위험 신호 추출표와 상담 인계 수신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"동의·열람정책",</a:t>
            </a:r>
          </a:p>
          <a:p xmlns:a="http://schemas.openxmlformats.org/drawingml/2006/main">
            <a:r>
              <a:t>          "layer": "권한·정책",</a:t>
            </a:r>
          </a:p>
          <a:p xmlns:a="http://schemas.openxmlformats.org/drawingml/2006/main">
            <a:r>
              <a:t>          "detail": "방언·침묵·통화 중단·위험 발화의 부정문",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"안부전화 → LLM 대화 → 내역 열람·분석 → 복지 담당자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"전화 대상·대화 문맥의 구분",</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"동의받은 발화",</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"대화·후속 대응 기록",</a:t>
            </a:r>
          </a:p>
          <a:p xmlns:a="http://schemas.openxmlformats.org/drawingml/2006/main">
            <a:r>
              <a:t>          "check": "동의 범위 내 대화와 과거 대응 기록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 필요 대상",</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"안부전화 이후 필요한 복지 조치의 연결 / 자유 발화·상황 요약·후속 대응",</a:t>
            </a:r>
          </a:p>
          <a:p xmlns:a="http://schemas.openxmlformats.org/drawingml/2006/main">
            <a:r>
              <a:t>        "extension": "TS 민원 발화를 요약한 뒤 신청 목적·대상·지역의 사용자 확인"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"방언·침묵·통화 중단·위험 발화의 부정문",</a:t>
            </a:r>
          </a:p>
          <a:p xmlns:a="http://schemas.openxmlformats.org/drawingml/2006/main">
            <a:r>
              <a:t>        "hold": "위험 신호의 사람 확인·상담 인계",</a:t>
            </a:r>
          </a:p>
          <a:p xmlns:a="http://schemas.openxmlformats.org/drawingml/2006/main">
            <a:r>
              <a:t>        "recovery": "오인식·부적절 발화와 실제 대응 결과 검토",</a:t>
            </a:r>
          </a:p>
          <a:p xmlns:a="http://schemas.openxmlformats.org/drawingml/2006/main">
            <a:r>
              <a:t>        "evidence": "원 발화 대비 상태·위험 신호 추출표와 상담 인계 수신 기록"</a:t>
            </a:r>
          </a:p>
          <a:p xmlns:a="http://schemas.openxmlformats.org/drawingml/2006/main">
            <a:r>
              <a:t>      },</a:t>
            </a:r>
          </a:p>
          <a:p xmlns:a="http://schemas.openxmlformats.org/drawingml/2006/main">
            <a:r>
              <a:t>      "data": {</a:t>
            </a:r>
          </a:p>
          <a:p xmlns:a="http://schemas.openxmlformats.org/drawingml/2006/main">
            <a:r>
              <a:t>        "source": "대화·후속 대응 기록",</a:t>
            </a:r>
          </a:p>
          <a:p xmlns:a="http://schemas.openxmlformats.org/drawingml/2006/main">
            <a:r>
              <a:t>        "prepare": "동의 범위 내 대화와 과거 대응 기록 구성",</a:t>
            </a:r>
          </a:p>
          <a:p xmlns:a="http://schemas.openxmlformats.org/drawingml/2006/main">
            <a:r>
              <a:t>        "output": "동의받은 발화",</a:t>
            </a:r>
          </a:p>
          <a:p xmlns:a="http://schemas.openxmlformats.org/drawingml/2006/main">
            <a:r>
              <a:t>        "refresh": "오인식·부적절 발화와 실제 대응 결과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"AX02",</a:t>
            </a:r>
          </a:p>
          <a:p xmlns:a="http://schemas.openxmlformats.org/drawingml/2006/main">
            <a:r>
              <a:t>    "success": [</a:t>
            </a:r>
          </a:p>
          <a:p xmlns:a="http://schemas.openxmlformats.org/drawingml/2006/main">
            <a:r>
              <a:t>      "전화 접점과 담당자 후속 대응의 결합",</a:t>
            </a:r>
          </a:p>
          <a:p xmlns:a="http://schemas.openxmlformats.org/drawingml/2006/main">
            <a:r>
              <a:t>      "이용자 상황을 반영한 대화"</a:t>
            </a:r>
          </a:p>
          <a:p xmlns:a="http://schemas.openxmlformats.org/drawingml/2006/main">
            <a:r>
              <a:t>    ],</a:t>
            </a:r>
          </a:p>
          <a:p xmlns:a="http://schemas.openxmlformats.org/drawingml/2006/main">
            <a:r>
              <a:t>    "risks": [</a:t>
            </a:r>
          </a:p>
          <a:p xmlns:a="http://schemas.openxmlformats.org/drawingml/2006/main">
            <a:r>
              <a:t>      "위험 발화의 오해·미탐 가능성",</a:t>
            </a:r>
          </a:p>
          <a:p xmlns:a="http://schemas.openxmlformats.org/drawingml/2006/main">
            <a:r>
              <a:t>      "대화 종료와 실제 복지 조치의 혼동"</a:t>
            </a:r>
          </a:p>
          <a:p xmlns:a="http://schemas.openxmlformats.org/drawingml/2006/main">
            <a:r>
              <a:t>    ],</a:t>
            </a:r>
          </a:p>
          <a:p xmlns:a="http://schemas.openxmlformats.org/drawingml/2006/main">
            <a:r>
              <a:t>    "architecture": [</a:t>
            </a:r>
          </a:p>
          <a:p xmlns:a="http://schemas.openxmlformats.org/drawingml/2006/main">
            <a:r>
              <a:t>      "안부전화",</a:t>
            </a:r>
          </a:p>
          <a:p xmlns:a="http://schemas.openxmlformats.org/drawingml/2006/main">
            <a:r>
              <a:t>      "대화·내역 분석",</a:t>
            </a:r>
          </a:p>
          <a:p xmlns:a="http://schemas.openxmlformats.org/drawingml/2006/main">
            <a:r>
              <a:t>      "대화·후속 대응 기록",</a:t>
            </a:r>
          </a:p>
          <a:p xmlns:a="http://schemas.openxmlformats.org/drawingml/2006/main">
            <a:r>
              <a:t>      "복지 담당자"</a:t>
            </a:r>
          </a:p>
          <a:p xmlns:a="http://schemas.openxmlformats.org/drawingml/2006/main">
            <a:r>
              <a:t>    ],</a:t>
            </a:r>
          </a:p>
          <a:p xmlns:a="http://schemas.openxmlformats.org/drawingml/2006/main">
            <a:r>
              <a:t>    "transfers": [</a:t>
            </a:r>
          </a:p>
          <a:p xmlns:a="http://schemas.openxmlformats.org/drawingml/2006/main">
            <a:r>
              <a:t>      "동의받은 발화",</a:t>
            </a:r>
          </a:p>
          <a:p xmlns:a="http://schemas.openxmlformats.org/drawingml/2006/main">
            <a:r>
              <a:t>      "상황 요약",</a:t>
            </a:r>
          </a:p>
          <a:p xmlns:a="http://schemas.openxmlformats.org/drawingml/2006/main">
            <a:r>
              <a:t>      "확인 필요 대상",</a:t>
            </a:r>
          </a:p>
          <a:p xmlns:a="http://schemas.openxmlformats.org/drawingml/2006/main">
            <a:r>
              <a:t>      "담당자 대응 기록"</a:t>
            </a:r>
          </a:p>
          <a:p xmlns:a="http://schemas.openxmlformats.org/drawingml/2006/main">
            <a:r>
              <a:t>    ],</a:t>
            </a:r>
          </a:p>
          <a:p xmlns:a="http://schemas.openxmlformats.org/drawingml/2006/main">
            <a:r>
              <a:t>    "control": "위험 신호의 사람 확인·상담 인계",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NAVER · CareCall 이해관계자 연구 https://clova.ai/tech-blog/ko-clova-%EC%BC%80%EC%96%B4%EC%BD%9C-%EC%97%B0%EA%B5%AC-%EB%85%BC%EB%AC%B8-%EC%86%8C%EA%B0%9C-%EC%B4%88%EA%B1%B0%EB%8C%80-%EC%9D%B8%EA%B3%B5%EC%A7%80%EB%8A%A5-%EA%B8%B0%EB%B0%98-%EC%B1%97%EB%B4%87</a:t>
            </a:r>
          </a:p>
          <a:p xmlns:a="http://schemas.openxmlformats.org/drawingml/2006/main">
            <a:r>
              <a:t>홈페이지 https://heen1987-ops.github.io/TS-business-Plan-001/index.html?view=casebook&amp;case=AX02</a:t>
            </a:r>
          </a:p>
          <a:p xmlns:a="http://schemas.openxmlformats.org/drawingml/2006/main">
            <a:r>
              <a:t>한계: 소규모 질적 연구 · 부적절 발화 통제와 지자체별 요구 반영의 난점 · 임상 효과 근거 아님</a:t>
            </a:r>
          </a:p>
          <a:p xmlns:a="http://schemas.openxmlformats.org/drawingml/2006/main">
            <a:r>
              <a:t>실패 위험: 위험 발화의 오해·미탐 가능성 / 대화 종료와 실제 복지 조치의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"AX02",</a:t>
            </a:r>
          </a:p>
          <a:p xmlns:a="http://schemas.openxmlformats.org/drawingml/2006/main">
            <a:r>
              <a:t>    "title": "CLOVA CareCall",</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"음성·LLM 돌봄 서비스",</a:t>
            </a:r>
          </a:p>
          <a:p xmlns:a="http://schemas.openxmlformats.org/drawingml/2006/main">
            <a:r>
              <a:t>    "period": "CHI 2023 / 2024 소개",</a:t>
            </a:r>
          </a:p>
          <a:p xmlns:a="http://schemas.openxmlformats.org/drawingml/2006/main">
            <a:r>
              <a:t>    "sources": [</a:t>
            </a:r>
          </a:p>
          <a:p xmlns:a="http://schemas.openxmlformats.org/drawingml/2006/main">
            <a:r>
              <a:t>      "S02"</a:t>
            </a:r>
          </a:p>
          <a:p xmlns:a="http://schemas.openxmlformats.org/drawingml/2006/main">
            <a:r>
              <a:t>    ],</a:t>
            </a:r>
          </a:p>
          <a:p xmlns:a="http://schemas.openxmlformats.org/drawingml/2006/main">
            <a:r>
              <a:t>    "keywords": [</a:t>
            </a:r>
          </a:p>
          <a:p xmlns:a="http://schemas.openxmlformats.org/drawingml/2006/main">
            <a:r>
              <a:t>      "음성",</a:t>
            </a:r>
          </a:p>
          <a:p xmlns:a="http://schemas.openxmlformats.org/drawingml/2006/main">
            <a:r>
              <a:t>      "정보약자",</a:t>
            </a:r>
          </a:p>
          <a:p xmlns:a="http://schemas.openxmlformats.org/drawingml/2006/main">
            <a:r>
              <a:t>      "맞춤 서비스",</a:t>
            </a:r>
          </a:p>
          <a:p xmlns:a="http://schemas.openxmlformats.org/drawingml/2006/main">
            <a:r>
              <a:t>      "인간 개입"</a:t>
            </a:r>
          </a:p>
          <a:p xmlns:a="http://schemas.openxmlformats.org/drawingml/2006/main">
            <a:r>
              <a:t>    ],</a:t>
            </a:r>
          </a:p>
          <a:p xmlns:a="http://schemas.openxmlformats.org/drawingml/2006/main">
            <a:r>
              <a:t>    "fact": "안부전화와 복지 담당자 후속 대응의 결합; 인터뷰에서 업무 부담 완화와 사용자 이해의 이점 보고",</a:t>
            </a:r>
          </a:p>
          <a:p xmlns:a="http://schemas.openxmlformats.org/drawingml/2006/main">
            <a:r>
              <a:t>    "limit": "소규모 질적 연구 · 부적절 발화 통제와 지자체별 요구 반영의 난점 · 임상 효과 근거 아님",</a:t>
            </a:r>
          </a:p>
          <a:p xmlns:a="http://schemas.openxmlformats.org/drawingml/2006/main">
            <a:r>
              <a:t>    "flow": [</a:t>
            </a:r>
          </a:p>
          <a:p xmlns:a="http://schemas.openxmlformats.org/drawingml/2006/main">
            <a:r>
              <a:t>      "안부전화",</a:t>
            </a:r>
          </a:p>
          <a:p xmlns:a="http://schemas.openxmlformats.org/drawingml/2006/main">
            <a:r>
              <a:t>      "LLM 대화",</a:t>
            </a:r>
          </a:p>
          <a:p xmlns:a="http://schemas.openxmlformats.org/drawingml/2006/main">
            <a:r>
              <a:t>      "내역 열람·분석",</a:t>
            </a:r>
          </a:p>
          <a:p xmlns:a="http://schemas.openxmlformats.org/drawingml/2006/main">
            <a:r>
              <a:t>      "복지 담당자 대응"</a:t>
            </a:r>
          </a:p>
          <a:p xmlns:a="http://schemas.openxmlformats.org/drawingml/2006/main">
            <a:r>
              <a:t>    ],</a:t>
            </a:r>
          </a:p>
          <a:p xmlns:a="http://schemas.openxmlformats.org/drawingml/2006/main">
            <a:r>
              <a:t>    "flowBasis": "개발사 공개 서비스 구조 요약",</a:t>
            </a:r>
          </a:p>
          <a:p xmlns:a="http://schemas.openxmlformats.org/drawingml/2006/main">
            <a:r>
              <a:t>    "lesson":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"한국어 음성 연계 / 발화 정리 / 필수 항목 검증 / 상담 전환",</a:t>
            </a:r>
          </a:p>
          <a:p xmlns:a="http://schemas.openxmlformats.org/drawingml/2006/main">
            <a:r>
              <a:t>    "test": "고령·소음·방언 표본의 필수 항목 정확도 및 상담 전환 성공률",</a:t>
            </a:r>
          </a:p>
          <a:p xmlns:a="http://schemas.openxmlformats.org/drawingml/2006/main">
            <a:r>
              <a:t>    "metric": "서비스 도달률 / 발화 재입력률 / 집단별 완료시간"</a:t>
            </a:r>
          </a:p>
          <a:p xmlns:a="http://schemas.openxmlformats.org/drawingml/2006/main">
            <a:r>
              <a:t>  },</a:t>
            </a:r>
          </a:p>
          <a:p xmlns:a="http://schemas.openxmlformats.org/drawingml/2006/main">
            <a:r>
              <a:t>  "design": {</a:t>
            </a:r>
          </a:p>
          <a:p xmlns:a="http://schemas.openxmlformats.org/drawingml/2006/main">
            <a:r>
              <a:t>    "id": "AX02",</a:t>
            </a:r>
          </a:p>
          <a:p xmlns:a="http://schemas.openxmlformats.org/drawingml/2006/main">
            <a:r>
              <a:t>    "canonicalId": "AX02",</a:t>
            </a:r>
          </a:p>
          <a:p xmlns:a="http://schemas.openxmlformats.org/drawingml/2006/main">
            <a:r>
              <a:t>    "purpose": "안부전화 이후 필요한 복지 조치의 연결",</a:t>
            </a:r>
          </a:p>
          <a:p xmlns:a="http://schemas.openxmlformats.org/drawingml/2006/main">
            <a:r>
              <a:t>    "users": "돌봄 대상자·복지 담당자",</a:t>
            </a:r>
          </a:p>
          <a:p xmlns:a="http://schemas.openxmlformats.org/drawingml/2006/main">
            <a:r>
              <a:t>    "scope": [</a:t>
            </a:r>
          </a:p>
          <a:p xmlns:a="http://schemas.openxmlformats.org/drawingml/2006/main">
            <a:r>
              <a:t>      "자유 발화",</a:t>
            </a:r>
          </a:p>
          <a:p xmlns:a="http://schemas.openxmlformats.org/drawingml/2006/main">
            <a:r>
              <a:t>      "상황 요약",</a:t>
            </a:r>
          </a:p>
          <a:p xmlns:a="http://schemas.openxmlformats.org/drawingml/2006/main">
            <a:r>
              <a:t>      "후속 대응"</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"안부전화",</a:t>
            </a:r>
          </a:p>
          <a:p xmlns:a="http://schemas.openxmlformats.org/drawingml/2006/main">
            <a:r>
              <a:t>        "detail": "전화 대상·대화 문맥의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"자유 발화 / 상황 요약 / 후속 대응",</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"대화·내역 분석",</a:t>
            </a:r>
          </a:p>
          <a:p xmlns:a="http://schemas.openxmlformats.org/drawingml/2006/main">
            <a:r>
              <a:t>        "detail": "음성 대화에서 상태와 확인 필요 내용 정리",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"복지 담당자",</a:t>
            </a:r>
          </a:p>
          <a:p xmlns:a="http://schemas.openxmlformats.org/drawingml/2006/main">
            <a:r>
              <a:t>        "detail": "담당자에게 상황 요약·확인 대상을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"대화·후속 대응 기록",</a:t>
            </a:r>
          </a:p>
          <a:p xmlns:a="http://schemas.openxmlformats.org/drawingml/2006/main">
            <a:r>
              <a:t>        "detail": "동의 범위 내 대화와 과거 대응 기록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"오인식·부적절 발화와 실제 대응 결과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"안부전화",</a:t>
            </a:r>
          </a:p>
          <a:p xmlns:a="http://schemas.openxmlformats.org/drawingml/2006/main">
            <a:r>
              <a:t>        "input": "전화 대상·대화 문맥의 구분",</a:t>
            </a:r>
          </a:p>
          <a:p xmlns:a="http://schemas.openxmlformats.org/drawingml/2006/main">
            <a:r>
              <a:t>        "process": "동의 범위 내 대화와 과거 대응 기록 구성",</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"title": "LLM 대화",</a:t>
            </a:r>
          </a:p>
          <a:p xmlns:a="http://schemas.openxmlformats.org/drawingml/2006/main">
            <a:r>
              <a:t>        "input": "동의받은 발화",</a:t>
            </a:r>
          </a:p>
          <a:p xmlns:a="http://schemas.openxmlformats.org/drawingml/2006/main">
            <a:r>
              <a:t>        "process": "음성 대화에서 상태와 확인 필요 내용 정리",</a:t>
            </a:r>
          </a:p>
          <a:p xmlns:a="http://schemas.openxmlformats.org/drawingml/2006/main">
            <a:r>
              <a:t>        "output": "상황 요약"</a:t>
            </a:r>
          </a:p>
          <a:p xmlns:a="http://schemas.openxmlformats.org/drawingml/2006/main">
            <a:r>
              <a:t>      },</a:t>
            </a:r>
          </a:p>
          <a:p xmlns:a="http://schemas.openxmlformats.org/drawingml/2006/main">
            <a:r>
              <a:t>      {</a:t>
            </a:r>
          </a:p>
          <a:p xmlns:a="http://schemas.openxmlformats.org/drawingml/2006/main">
            <a:r>
              <a:t>        "title": "내역 열람·분석",</a:t>
            </a:r>
          </a:p>
          <a:p xmlns:a="http://schemas.openxmlformats.org/drawingml/2006/main">
            <a:r>
              <a:t>        "input": "상황 요약",</a:t>
            </a:r>
          </a:p>
          <a:p xmlns:a="http://schemas.openxmlformats.org/drawingml/2006/main">
            <a:r>
              <a:t>        "process": "위험 신호의 사람 확인·상담 인계",</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"title": "복지 담당자 대응",</a:t>
            </a:r>
          </a:p>
          <a:p xmlns:a="http://schemas.openxmlformats.org/drawingml/2006/main">
            <a:r>
              <a:t>        "input": "확인 필요 대상",</a:t>
            </a:r>
          </a:p>
          <a:p xmlns:a="http://schemas.openxmlformats.org/drawingml/2006/main">
            <a:r>
              <a:t>        "process":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"통화에서 식사·수면·불편 사항을 파악하고 담당자가 후속 확인",</a:t>
            </a:r>
          </a:p>
          <a:p xmlns:a="http://schemas.openxmlformats.org/drawingml/2006/main">
            <a:r>
              <a:t>      "exception": "방언·침묵·통화 중단·위험 발화의 부정문",</a:t>
            </a:r>
          </a:p>
          <a:p xmlns:a="http://schemas.openxmlformats.org/drawingml/2006/main">
            <a:r>
              <a:t>      "evidence": "원 발화 대비 상태·위험 신호 추출표와 상담 인계 수신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"돌봄 대상자·복지 담당자",</a:t>
            </a:r>
          </a:p>
          <a:p xmlns:a="http://schemas.openxmlformats.org/drawingml/2006/main">
            <a:r>
              <a:t>          "processing": "전화 대상·대화 문맥의 구분",</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"대화·후속 대응 기록",</a:t>
            </a:r>
          </a:p>
          <a:p xmlns:a="http://schemas.openxmlformats.org/drawingml/2006/main">
            <a:r>
              <a:t>          "processing": "동의 범위 내 대화와 과거 대응 기록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"동의받은 발화",</a:t>
            </a:r>
          </a:p>
          <a:p xmlns:a="http://schemas.openxmlformats.org/drawingml/2006/main">
            <a:r>
              <a:t>          "processing": "음성 대화에서 상태와 확인 필요 내용 정리",</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 필요 대상",</a:t>
            </a:r>
          </a:p>
          <a:p xmlns:a="http://schemas.openxmlformats.org/drawingml/2006/main">
            <a:r>
              <a:t>          "processing":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"오인식·부적절 발화와 실제 대응 결과 검토",</a:t>
            </a:r>
          </a:p>
          <a:p xmlns:a="http://schemas.openxmlformats.org/drawingml/2006/main">
            <a:r>
              <a:t>          "output":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"오인식·부적절 발화와 실제 대응 결과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"S02",</a:t>
            </a:r>
          </a:p>
          <a:p xmlns:a="http://schemas.openxmlformats.org/drawingml/2006/main">
            <a:r>
              <a:t>        "title": "NAVER · CareCall 이해관계자 연구",</a:t>
            </a:r>
          </a:p>
          <a:p xmlns:a="http://schemas.openxmlformats.org/drawingml/2006/main">
            <a:r>
              <a:t>        "url": "https://clova.ai/tech-blog/ko-clova-%EC%BC%80%EC%96%B4%EC%BD%9C-%EC%97%B0%EA%B5%AC-%EB%85%BC%EB%AC%B8-%EC%86%8C%EA%B0%9C-%EC%B4%88%EA%B1%B0%EB%8C%80-%EC%9D%B8%EA%B3%B5%EC%A7%80%EB%8A%A5-%EA%B8%B0%EB%B0%98-%EC%B1%97%EB%B4%87",</a:t>
            </a:r>
          </a:p>
          <a:p xmlns:a="http://schemas.openxmlformats.org/drawingml/2006/main">
            <a:r>
              <a:t>        "published": "2024-08-07",</a:t>
            </a:r>
          </a:p>
          <a:p xmlns:a="http://schemas.openxmlformats.org/drawingml/2006/main">
            <a:r>
              <a:t>        "level": "개발사 연구 요약 / CHI 2023",</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"sourceDetail": null,</a:t>
            </a:r>
          </a:p>
          <a:p xmlns:a="http://schemas.openxmlformats.org/drawingml/2006/main">
            <a:r>
              <a:t>    "narrative": [</a:t>
            </a:r>
          </a:p>
          <a:p xmlns:a="http://schemas.openxmlformats.org/drawingml/2006/main">
            <a:r>
              <a:t>      "자유 발화 중심의 안부전화와 복지 담당자의 후속 대응을 결합한 서비스. 통화 자체의 자동화보다 대상자의 상황을 파악해 필요한 확인·방문 업무로 인계하는 연결이 핵심.",</a:t>
            </a:r>
          </a:p>
          <a:p xmlns:a="http://schemas.openxmlformats.org/drawingml/2006/main">
            <a:r>
              <a:t>      "음성 대화 기록에서 상태와 확인할 내용을 정리하고 담당자가 대응 여부를 검토하는 흐름. TS 적용 설계에서는 민원 발화를 신청 목적·대상·지역 등 필수 항목으로 정리한 뒤 사용자 확인과 상담원 인계를 구성.",</a:t>
            </a:r>
          </a:p>
          <a:p xmlns:a="http://schemas.openxmlformats.org/drawingml/2006/main">
            <a:r>
              <a:t>      "인터뷰에서 보고된 부담 완화와 임상·복지 성과의 구분. 소음·방언·고령 발화의 인식 오류, 위험 신호의 미탐, 상담원이 실제 인계받았는지를 별도로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"안부전화 접점",</a:t>
            </a:r>
          </a:p>
          <a:p xmlns:a="http://schemas.openxmlformats.org/drawingml/2006/main">
            <a:r>
              <a:t>          "layer": "이용 접점",</a:t>
            </a:r>
          </a:p>
          <a:p xmlns:a="http://schemas.openxmlformats.org/drawingml/2006/main">
            <a:r>
              <a:t>          "detail": "돌봄 대상자·복지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"대상·대화 맥락",</a:t>
            </a:r>
          </a:p>
          <a:p xmlns:a="http://schemas.openxmlformats.org/drawingml/2006/main">
            <a:r>
              <a:t>          "layer": "업무 문맥",</a:t>
            </a:r>
          </a:p>
          <a:p xmlns:a="http://schemas.openxmlformats.org/drawingml/2006/main">
            <a:r>
              <a:t>          "detail": "전화 대상·대화 문맥의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"이전 대응 조회",</a:t>
            </a:r>
          </a:p>
          <a:p xmlns:a="http://schemas.openxmlformats.org/drawingml/2006/main">
            <a:r>
              <a:t>          "layer": "자료 조회",</a:t>
            </a:r>
          </a:p>
          <a:p xmlns:a="http://schemas.openxmlformats.org/drawingml/2006/main">
            <a:r>
              <a:t>          "detail": "동의받은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"대화·상태 요약",</a:t>
            </a:r>
          </a:p>
          <a:p xmlns:a="http://schemas.openxmlformats.org/drawingml/2006/main">
            <a:r>
              <a:t>          "layer": "핵심 처리",</a:t>
            </a:r>
          </a:p>
          <a:p xmlns:a="http://schemas.openxmlformats.org/drawingml/2006/main">
            <a:r>
              <a:t>          "detail": "음성 대화에서 상태와 확인 필요 내용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"위험 발화 확인",</a:t>
            </a:r>
          </a:p>
          <a:p xmlns:a="http://schemas.openxmlformats.org/drawingml/2006/main">
            <a:r>
              <a:t>          "layer": "결과 검증",</a:t>
            </a:r>
          </a:p>
          <a:p xmlns:a="http://schemas.openxmlformats.org/drawingml/2006/main">
            <a:r>
              <a:t>          "detail": "위험 신호의 사람 확인·상담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"복지 담당 확인",</a:t>
            </a:r>
          </a:p>
          <a:p xmlns:a="http://schemas.openxmlformats.org/drawingml/2006/main">
            <a:r>
              <a:t>          "layer": "사람 확인",</a:t>
            </a:r>
          </a:p>
          <a:p xmlns:a="http://schemas.openxmlformats.org/drawingml/2006/main">
            <a:r>
              <a:t>          "detail": "통화에서 식사·수면·불편 사항을 파악하고 담당자가 후속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"상담·방문 인계",</a:t>
            </a:r>
          </a:p>
          <a:p xmlns:a="http://schemas.openxmlformats.org/drawingml/2006/main">
            <a:r>
              <a:t>          "layer": "업무 연결",</a:t>
            </a:r>
          </a:p>
          <a:p xmlns:a="http://schemas.openxmlformats.org/drawingml/2006/main">
            <a:r>
              <a:t>          "detail": "담당자에게 상황 요약·확인 대상을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완료 추적",</a:t>
            </a:r>
          </a:p>
          <a:p xmlns:a="http://schemas.openxmlformats.org/drawingml/2006/main">
            <a:r>
              <a:t>          "layer": "운영 관측",</a:t>
            </a:r>
          </a:p>
          <a:p xmlns:a="http://schemas.openxmlformats.org/drawingml/2006/main">
            <a:r>
              <a:t>          "detail": "오인식·부적절 발화와 실제 대응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"동의받은 대화",</a:t>
            </a:r>
          </a:p>
          <a:p xmlns:a="http://schemas.openxmlformats.org/drawingml/2006/main">
            <a:r>
              <a:t>          "layer": "데이터 원천",</a:t>
            </a:r>
          </a:p>
          <a:p xmlns:a="http://schemas.openxmlformats.org/drawingml/2006/main">
            <a:r>
              <a:t>          "detail": "대화·후속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"민감 발화 분리",</a:t>
            </a:r>
          </a:p>
          <a:p xmlns:a="http://schemas.openxmlformats.org/drawingml/2006/main">
            <a:r>
              <a:t>          "layer": "준비·갱신",</a:t>
            </a:r>
          </a:p>
          <a:p xmlns:a="http://schemas.openxmlformats.org/drawingml/2006/main">
            <a:r>
              <a:t>          "detail": "동의 범위 내 대화와 과거 대응 기록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"대화·대응 이력",</a:t>
            </a:r>
          </a:p>
          <a:p xmlns:a="http://schemas.openxmlformats.org/drawingml/2006/main">
            <a:r>
              <a:t>          "layer": "상태·지식 저장",</a:t>
            </a:r>
          </a:p>
          <a:p xmlns:a="http://schemas.openxmlformats.org/drawingml/2006/main">
            <a:r>
              <a:t>          "detail": "원 발화 대비 상태·위험 신호 추출표와 상담 인계 수신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"동의·열람정책",</a:t>
            </a:r>
          </a:p>
          <a:p xmlns:a="http://schemas.openxmlformats.org/drawingml/2006/main">
            <a:r>
              <a:t>          "layer": "권한·정책",</a:t>
            </a:r>
          </a:p>
          <a:p xmlns:a="http://schemas.openxmlformats.org/drawingml/2006/main">
            <a:r>
              <a:t>          "detail": "방언·침묵·통화 중단·위험 발화의 부정문",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"안부전화 → LLM 대화 → 내역 열람·분석 → 복지 담당자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"전화 대상·대화 문맥의 구분",</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"동의받은 발화",</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"대화·후속 대응 기록",</a:t>
            </a:r>
          </a:p>
          <a:p xmlns:a="http://schemas.openxmlformats.org/drawingml/2006/main">
            <a:r>
              <a:t>          "check": "동의 범위 내 대화와 과거 대응 기록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 필요 대상",</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"안부전화 이후 필요한 복지 조치의 연결 / 자유 발화·상황 요약·후속 대응",</a:t>
            </a:r>
          </a:p>
          <a:p xmlns:a="http://schemas.openxmlformats.org/drawingml/2006/main">
            <a:r>
              <a:t>        "extension": "TS 민원 발화를 요약한 뒤 신청 목적·대상·지역의 사용자 확인"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"방언·침묵·통화 중단·위험 발화의 부정문",</a:t>
            </a:r>
          </a:p>
          <a:p xmlns:a="http://schemas.openxmlformats.org/drawingml/2006/main">
            <a:r>
              <a:t>        "hold": "위험 신호의 사람 확인·상담 인계",</a:t>
            </a:r>
          </a:p>
          <a:p xmlns:a="http://schemas.openxmlformats.org/drawingml/2006/main">
            <a:r>
              <a:t>        "recovery": "오인식·부적절 발화와 실제 대응 결과 검토",</a:t>
            </a:r>
          </a:p>
          <a:p xmlns:a="http://schemas.openxmlformats.org/drawingml/2006/main">
            <a:r>
              <a:t>        "evidence": "원 발화 대비 상태·위험 신호 추출표와 상담 인계 수신 기록"</a:t>
            </a:r>
          </a:p>
          <a:p xmlns:a="http://schemas.openxmlformats.org/drawingml/2006/main">
            <a:r>
              <a:t>      },</a:t>
            </a:r>
          </a:p>
          <a:p xmlns:a="http://schemas.openxmlformats.org/drawingml/2006/main">
            <a:r>
              <a:t>      "data": {</a:t>
            </a:r>
          </a:p>
          <a:p xmlns:a="http://schemas.openxmlformats.org/drawingml/2006/main">
            <a:r>
              <a:t>        "source": "대화·후속 대응 기록",</a:t>
            </a:r>
          </a:p>
          <a:p xmlns:a="http://schemas.openxmlformats.org/drawingml/2006/main">
            <a:r>
              <a:t>        "prepare": "동의 범위 내 대화와 과거 대응 기록 구성",</a:t>
            </a:r>
          </a:p>
          <a:p xmlns:a="http://schemas.openxmlformats.org/drawingml/2006/main">
            <a:r>
              <a:t>        "output": "동의받은 발화",</a:t>
            </a:r>
          </a:p>
          <a:p xmlns:a="http://schemas.openxmlformats.org/drawingml/2006/main">
            <a:r>
              <a:t>        "refresh": "오인식·부적절 발화와 실제 대응 결과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"AX02",</a:t>
            </a:r>
          </a:p>
          <a:p xmlns:a="http://schemas.openxmlformats.org/drawingml/2006/main">
            <a:r>
              <a:t>    "success": [</a:t>
            </a:r>
          </a:p>
          <a:p xmlns:a="http://schemas.openxmlformats.org/drawingml/2006/main">
            <a:r>
              <a:t>      "전화 접점과 담당자 후속 대응의 결합",</a:t>
            </a:r>
          </a:p>
          <a:p xmlns:a="http://schemas.openxmlformats.org/drawingml/2006/main">
            <a:r>
              <a:t>      "이용자 상황을 반영한 대화"</a:t>
            </a:r>
          </a:p>
          <a:p xmlns:a="http://schemas.openxmlformats.org/drawingml/2006/main">
            <a:r>
              <a:t>    ],</a:t>
            </a:r>
          </a:p>
          <a:p xmlns:a="http://schemas.openxmlformats.org/drawingml/2006/main">
            <a:r>
              <a:t>    "risks": [</a:t>
            </a:r>
          </a:p>
          <a:p xmlns:a="http://schemas.openxmlformats.org/drawingml/2006/main">
            <a:r>
              <a:t>      "위험 발화의 오해·미탐 가능성",</a:t>
            </a:r>
          </a:p>
          <a:p xmlns:a="http://schemas.openxmlformats.org/drawingml/2006/main">
            <a:r>
              <a:t>      "대화 종료와 실제 복지 조치의 혼동"</a:t>
            </a:r>
          </a:p>
          <a:p xmlns:a="http://schemas.openxmlformats.org/drawingml/2006/main">
            <a:r>
              <a:t>    ],</a:t>
            </a:r>
          </a:p>
          <a:p xmlns:a="http://schemas.openxmlformats.org/drawingml/2006/main">
            <a:r>
              <a:t>    "architecture": [</a:t>
            </a:r>
          </a:p>
          <a:p xmlns:a="http://schemas.openxmlformats.org/drawingml/2006/main">
            <a:r>
              <a:t>      "안부전화",</a:t>
            </a:r>
          </a:p>
          <a:p xmlns:a="http://schemas.openxmlformats.org/drawingml/2006/main">
            <a:r>
              <a:t>      "대화·내역 분석",</a:t>
            </a:r>
          </a:p>
          <a:p xmlns:a="http://schemas.openxmlformats.org/drawingml/2006/main">
            <a:r>
              <a:t>      "대화·후속 대응 기록",</a:t>
            </a:r>
          </a:p>
          <a:p xmlns:a="http://schemas.openxmlformats.org/drawingml/2006/main">
            <a:r>
              <a:t>      "복지 담당자"</a:t>
            </a:r>
          </a:p>
          <a:p xmlns:a="http://schemas.openxmlformats.org/drawingml/2006/main">
            <a:r>
              <a:t>    ],</a:t>
            </a:r>
          </a:p>
          <a:p xmlns:a="http://schemas.openxmlformats.org/drawingml/2006/main">
            <a:r>
              <a:t>    "transfers": [</a:t>
            </a:r>
          </a:p>
          <a:p xmlns:a="http://schemas.openxmlformats.org/drawingml/2006/main">
            <a:r>
              <a:t>      "동의받은 발화",</a:t>
            </a:r>
          </a:p>
          <a:p xmlns:a="http://schemas.openxmlformats.org/drawingml/2006/main">
            <a:r>
              <a:t>      "상황 요약",</a:t>
            </a:r>
          </a:p>
          <a:p xmlns:a="http://schemas.openxmlformats.org/drawingml/2006/main">
            <a:r>
              <a:t>      "확인 필요 대상",</a:t>
            </a:r>
          </a:p>
          <a:p xmlns:a="http://schemas.openxmlformats.org/drawingml/2006/main">
            <a:r>
              <a:t>      "담당자 대응 기록"</a:t>
            </a:r>
          </a:p>
          <a:p xmlns:a="http://schemas.openxmlformats.org/drawingml/2006/main">
            <a:r>
              <a:t>    ],</a:t>
            </a:r>
          </a:p>
          <a:p xmlns:a="http://schemas.openxmlformats.org/drawingml/2006/main">
            <a:r>
              <a:t>    "control": "위험 신호의 사람 확인·상담 인계",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NAVER · CareCall 이해관계자 연구 https://clova.ai/tech-blog/ko-clova-%EC%BC%80%EC%96%B4%EC%BD%9C-%EC%97%B0%EA%B5%AC-%EB%85%BC%EB%AC%B8-%EC%86%8C%EA%B0%9C-%EC%B4%88%EA%B1%B0%EB%8C%80-%EC%9D%B8%EA%B3%B5%EC%A7%80%EB%8A%A5-%EA%B8%B0%EB%B0%98-%EC%B1%97%EB%B4%87</a:t>
            </a:r>
          </a:p>
          <a:p xmlns:a="http://schemas.openxmlformats.org/drawingml/2006/main">
            <a:r>
              <a:t>홈페이지 https://heen1987-ops.github.io/TS-business-Plan-001/index.html?view=casebook&amp;case=AX02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"AX02",</a:t>
            </a:r>
          </a:p>
          <a:p xmlns:a="http://schemas.openxmlformats.org/drawingml/2006/main">
            <a:r>
              <a:t>    "title": "CLOVA CareCall",</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"음성·LLM 돌봄 서비스",</a:t>
            </a:r>
          </a:p>
          <a:p xmlns:a="http://schemas.openxmlformats.org/drawingml/2006/main">
            <a:r>
              <a:t>    "period": "CHI 2023 / 2024 소개",</a:t>
            </a:r>
          </a:p>
          <a:p xmlns:a="http://schemas.openxmlformats.org/drawingml/2006/main">
            <a:r>
              <a:t>    "sources": [</a:t>
            </a:r>
          </a:p>
          <a:p xmlns:a="http://schemas.openxmlformats.org/drawingml/2006/main">
            <a:r>
              <a:t>      "S02"</a:t>
            </a:r>
          </a:p>
          <a:p xmlns:a="http://schemas.openxmlformats.org/drawingml/2006/main">
            <a:r>
              <a:t>    ],</a:t>
            </a:r>
          </a:p>
          <a:p xmlns:a="http://schemas.openxmlformats.org/drawingml/2006/main">
            <a:r>
              <a:t>    "keywords": [</a:t>
            </a:r>
          </a:p>
          <a:p xmlns:a="http://schemas.openxmlformats.org/drawingml/2006/main">
            <a:r>
              <a:t>      "음성",</a:t>
            </a:r>
          </a:p>
          <a:p xmlns:a="http://schemas.openxmlformats.org/drawingml/2006/main">
            <a:r>
              <a:t>      "정보약자",</a:t>
            </a:r>
          </a:p>
          <a:p xmlns:a="http://schemas.openxmlformats.org/drawingml/2006/main">
            <a:r>
              <a:t>      "맞춤 서비스",</a:t>
            </a:r>
          </a:p>
          <a:p xmlns:a="http://schemas.openxmlformats.org/drawingml/2006/main">
            <a:r>
              <a:t>      "인간 개입"</a:t>
            </a:r>
          </a:p>
          <a:p xmlns:a="http://schemas.openxmlformats.org/drawingml/2006/main">
            <a:r>
              <a:t>    ],</a:t>
            </a:r>
          </a:p>
          <a:p xmlns:a="http://schemas.openxmlformats.org/drawingml/2006/main">
            <a:r>
              <a:t>    "fact": "안부전화와 복지 담당자 후속 대응의 결합; 인터뷰에서 업무 부담 완화와 사용자 이해의 이점 보고",</a:t>
            </a:r>
          </a:p>
          <a:p xmlns:a="http://schemas.openxmlformats.org/drawingml/2006/main">
            <a:r>
              <a:t>    "limit": "소규모 질적 연구 · 부적절 발화 통제와 지자체별 요구 반영의 난점 · 임상 효과 근거 아님",</a:t>
            </a:r>
          </a:p>
          <a:p xmlns:a="http://schemas.openxmlformats.org/drawingml/2006/main">
            <a:r>
              <a:t>    "flow": [</a:t>
            </a:r>
          </a:p>
          <a:p xmlns:a="http://schemas.openxmlformats.org/drawingml/2006/main">
            <a:r>
              <a:t>      "안부전화",</a:t>
            </a:r>
          </a:p>
          <a:p xmlns:a="http://schemas.openxmlformats.org/drawingml/2006/main">
            <a:r>
              <a:t>      "LLM 대화",</a:t>
            </a:r>
          </a:p>
          <a:p xmlns:a="http://schemas.openxmlformats.org/drawingml/2006/main">
            <a:r>
              <a:t>      "내역 열람·분석",</a:t>
            </a:r>
          </a:p>
          <a:p xmlns:a="http://schemas.openxmlformats.org/drawingml/2006/main">
            <a:r>
              <a:t>      "복지 담당자 대응"</a:t>
            </a:r>
          </a:p>
          <a:p xmlns:a="http://schemas.openxmlformats.org/drawingml/2006/main">
            <a:r>
              <a:t>    ],</a:t>
            </a:r>
          </a:p>
          <a:p xmlns:a="http://schemas.openxmlformats.org/drawingml/2006/main">
            <a:r>
              <a:t>    "flowBasis": "개발사 공개 서비스 구조 요약",</a:t>
            </a:r>
          </a:p>
          <a:p xmlns:a="http://schemas.openxmlformats.org/drawingml/2006/main">
            <a:r>
              <a:t>    "lesson":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"한국어 음성 연계 / 발화 정리 / 필수 항목 검증 / 상담 전환",</a:t>
            </a:r>
          </a:p>
          <a:p xmlns:a="http://schemas.openxmlformats.org/drawingml/2006/main">
            <a:r>
              <a:t>    "test": "고령·소음·방언 표본의 필수 항목 정확도 및 상담 전환 성공률",</a:t>
            </a:r>
          </a:p>
          <a:p xmlns:a="http://schemas.openxmlformats.org/drawingml/2006/main">
            <a:r>
              <a:t>    "metric": "서비스 도달률 / 발화 재입력률 / 집단별 완료시간"</a:t>
            </a:r>
          </a:p>
          <a:p xmlns:a="http://schemas.openxmlformats.org/drawingml/2006/main">
            <a:r>
              <a:t>  },</a:t>
            </a:r>
          </a:p>
          <a:p xmlns:a="http://schemas.openxmlformats.org/drawingml/2006/main">
            <a:r>
              <a:t>  "design": {</a:t>
            </a:r>
          </a:p>
          <a:p xmlns:a="http://schemas.openxmlformats.org/drawingml/2006/main">
            <a:r>
              <a:t>    "id": "AX02",</a:t>
            </a:r>
          </a:p>
          <a:p xmlns:a="http://schemas.openxmlformats.org/drawingml/2006/main">
            <a:r>
              <a:t>    "canonicalId": "AX02",</a:t>
            </a:r>
          </a:p>
          <a:p xmlns:a="http://schemas.openxmlformats.org/drawingml/2006/main">
            <a:r>
              <a:t>    "purpose": "안부전화 이후 필요한 복지 조치의 연결",</a:t>
            </a:r>
          </a:p>
          <a:p xmlns:a="http://schemas.openxmlformats.org/drawingml/2006/main">
            <a:r>
              <a:t>    "users": "돌봄 대상자·복지 담당자",</a:t>
            </a:r>
          </a:p>
          <a:p xmlns:a="http://schemas.openxmlformats.org/drawingml/2006/main">
            <a:r>
              <a:t>    "scope": [</a:t>
            </a:r>
          </a:p>
          <a:p xmlns:a="http://schemas.openxmlformats.org/drawingml/2006/main">
            <a:r>
              <a:t>      "자유 발화",</a:t>
            </a:r>
          </a:p>
          <a:p xmlns:a="http://schemas.openxmlformats.org/drawingml/2006/main">
            <a:r>
              <a:t>      "상황 요약",</a:t>
            </a:r>
          </a:p>
          <a:p xmlns:a="http://schemas.openxmlformats.org/drawingml/2006/main">
            <a:r>
              <a:t>      "후속 대응"</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"안부전화",</a:t>
            </a:r>
          </a:p>
          <a:p xmlns:a="http://schemas.openxmlformats.org/drawingml/2006/main">
            <a:r>
              <a:t>        "detail": "전화 대상·대화 문맥의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"자유 발화 / 상황 요약 / 후속 대응",</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"대화·내역 분석",</a:t>
            </a:r>
          </a:p>
          <a:p xmlns:a="http://schemas.openxmlformats.org/drawingml/2006/main">
            <a:r>
              <a:t>        "detail": "음성 대화에서 상태와 확인 필요 내용 정리",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"복지 담당자",</a:t>
            </a:r>
          </a:p>
          <a:p xmlns:a="http://schemas.openxmlformats.org/drawingml/2006/main">
            <a:r>
              <a:t>        "detail": "담당자에게 상황 요약·확인 대상을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"대화·후속 대응 기록",</a:t>
            </a:r>
          </a:p>
          <a:p xmlns:a="http://schemas.openxmlformats.org/drawingml/2006/main">
            <a:r>
              <a:t>        "detail": "동의 범위 내 대화와 과거 대응 기록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"오인식·부적절 발화와 실제 대응 결과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"안부전화",</a:t>
            </a:r>
          </a:p>
          <a:p xmlns:a="http://schemas.openxmlformats.org/drawingml/2006/main">
            <a:r>
              <a:t>        "input": "전화 대상·대화 문맥의 구분",</a:t>
            </a:r>
          </a:p>
          <a:p xmlns:a="http://schemas.openxmlformats.org/drawingml/2006/main">
            <a:r>
              <a:t>        "process": "동의 범위 내 대화와 과거 대응 기록 구성",</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"title": "LLM 대화",</a:t>
            </a:r>
          </a:p>
          <a:p xmlns:a="http://schemas.openxmlformats.org/drawingml/2006/main">
            <a:r>
              <a:t>        "input": "동의받은 발화",</a:t>
            </a:r>
          </a:p>
          <a:p xmlns:a="http://schemas.openxmlformats.org/drawingml/2006/main">
            <a:r>
              <a:t>        "process": "음성 대화에서 상태와 확인 필요 내용 정리",</a:t>
            </a:r>
          </a:p>
          <a:p xmlns:a="http://schemas.openxmlformats.org/drawingml/2006/main">
            <a:r>
              <a:t>        "output": "상황 요약"</a:t>
            </a:r>
          </a:p>
          <a:p xmlns:a="http://schemas.openxmlformats.org/drawingml/2006/main">
            <a:r>
              <a:t>      },</a:t>
            </a:r>
          </a:p>
          <a:p xmlns:a="http://schemas.openxmlformats.org/drawingml/2006/main">
            <a:r>
              <a:t>      {</a:t>
            </a:r>
          </a:p>
          <a:p xmlns:a="http://schemas.openxmlformats.org/drawingml/2006/main">
            <a:r>
              <a:t>        "title": "내역 열람·분석",</a:t>
            </a:r>
          </a:p>
          <a:p xmlns:a="http://schemas.openxmlformats.org/drawingml/2006/main">
            <a:r>
              <a:t>        "input": "상황 요약",</a:t>
            </a:r>
          </a:p>
          <a:p xmlns:a="http://schemas.openxmlformats.org/drawingml/2006/main">
            <a:r>
              <a:t>        "process": "위험 신호의 사람 확인·상담 인계",</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"title": "복지 담당자 대응",</a:t>
            </a:r>
          </a:p>
          <a:p xmlns:a="http://schemas.openxmlformats.org/drawingml/2006/main">
            <a:r>
              <a:t>        "input": "확인 필요 대상",</a:t>
            </a:r>
          </a:p>
          <a:p xmlns:a="http://schemas.openxmlformats.org/drawingml/2006/main">
            <a:r>
              <a:t>        "process":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"통화에서 식사·수면·불편 사항을 파악하고 담당자가 후속 확인",</a:t>
            </a:r>
          </a:p>
          <a:p xmlns:a="http://schemas.openxmlformats.org/drawingml/2006/main">
            <a:r>
              <a:t>      "exception": "방언·침묵·통화 중단·위험 발화의 부정문",</a:t>
            </a:r>
          </a:p>
          <a:p xmlns:a="http://schemas.openxmlformats.org/drawingml/2006/main">
            <a:r>
              <a:t>      "evidence": "원 발화 대비 상태·위험 신호 추출표와 상담 인계 수신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"돌봄 대상자·복지 담당자",</a:t>
            </a:r>
          </a:p>
          <a:p xmlns:a="http://schemas.openxmlformats.org/drawingml/2006/main">
            <a:r>
              <a:t>          "processing": "전화 대상·대화 문맥의 구분",</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"대화·후속 대응 기록",</a:t>
            </a:r>
          </a:p>
          <a:p xmlns:a="http://schemas.openxmlformats.org/drawingml/2006/main">
            <a:r>
              <a:t>          "processing": "동의 범위 내 대화와 과거 대응 기록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"동의받은 발화",</a:t>
            </a:r>
          </a:p>
          <a:p xmlns:a="http://schemas.openxmlformats.org/drawingml/2006/main">
            <a:r>
              <a:t>          "processing": "음성 대화에서 상태와 확인 필요 내용 정리",</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 필요 대상",</a:t>
            </a:r>
          </a:p>
          <a:p xmlns:a="http://schemas.openxmlformats.org/drawingml/2006/main">
            <a:r>
              <a:t>          "processing":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"오인식·부적절 발화와 실제 대응 결과 검토",</a:t>
            </a:r>
          </a:p>
          <a:p xmlns:a="http://schemas.openxmlformats.org/drawingml/2006/main">
            <a:r>
              <a:t>          "output":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"오인식·부적절 발화와 실제 대응 결과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"S02",</a:t>
            </a:r>
          </a:p>
          <a:p xmlns:a="http://schemas.openxmlformats.org/drawingml/2006/main">
            <a:r>
              <a:t>        "title": "NAVER · CareCall 이해관계자 연구",</a:t>
            </a:r>
          </a:p>
          <a:p xmlns:a="http://schemas.openxmlformats.org/drawingml/2006/main">
            <a:r>
              <a:t>        "url": "https://clova.ai/tech-blog/ko-clova-%EC%BC%80%EC%96%B4%EC%BD%9C-%EC%97%B0%EA%B5%AC-%EB%85%BC%EB%AC%B8-%EC%86%8C%EA%B0%9C-%EC%B4%88%EA%B1%B0%EB%8C%80-%EC%9D%B8%EA%B3%B5%EC%A7%80%EB%8A%A5-%EA%B8%B0%EB%B0%98-%EC%B1%97%EB%B4%87",</a:t>
            </a:r>
          </a:p>
          <a:p xmlns:a="http://schemas.openxmlformats.org/drawingml/2006/main">
            <a:r>
              <a:t>        "published": "2024-08-07",</a:t>
            </a:r>
          </a:p>
          <a:p xmlns:a="http://schemas.openxmlformats.org/drawingml/2006/main">
            <a:r>
              <a:t>        "level": "개발사 연구 요약 / CHI 2023",</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"sourceDetail": null,</a:t>
            </a:r>
          </a:p>
          <a:p xmlns:a="http://schemas.openxmlformats.org/drawingml/2006/main">
            <a:r>
              <a:t>    "narrative": [</a:t>
            </a:r>
          </a:p>
          <a:p xmlns:a="http://schemas.openxmlformats.org/drawingml/2006/main">
            <a:r>
              <a:t>      "자유 발화 중심의 안부전화와 복지 담당자의 후속 대응을 결합한 서비스. 통화 자체의 자동화보다 대상자의 상황을 파악해 필요한 확인·방문 업무로 인계하는 연결이 핵심.",</a:t>
            </a:r>
          </a:p>
          <a:p xmlns:a="http://schemas.openxmlformats.org/drawingml/2006/main">
            <a:r>
              <a:t>      "음성 대화 기록에서 상태와 확인할 내용을 정리하고 담당자가 대응 여부를 검토하는 흐름. TS 적용 설계에서는 민원 발화를 신청 목적·대상·지역 등 필수 항목으로 정리한 뒤 사용자 확인과 상담원 인계를 구성.",</a:t>
            </a:r>
          </a:p>
          <a:p xmlns:a="http://schemas.openxmlformats.org/drawingml/2006/main">
            <a:r>
              <a:t>      "인터뷰에서 보고된 부담 완화와 임상·복지 성과의 구분. 소음·방언·고령 발화의 인식 오류, 위험 신호의 미탐, 상담원이 실제 인계받았는지를 별도로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"안부전화 접점",</a:t>
            </a:r>
          </a:p>
          <a:p xmlns:a="http://schemas.openxmlformats.org/drawingml/2006/main">
            <a:r>
              <a:t>          "layer": "이용 접점",</a:t>
            </a:r>
          </a:p>
          <a:p xmlns:a="http://schemas.openxmlformats.org/drawingml/2006/main">
            <a:r>
              <a:t>          "detail": "돌봄 대상자·복지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"대상·대화 맥락",</a:t>
            </a:r>
          </a:p>
          <a:p xmlns:a="http://schemas.openxmlformats.org/drawingml/2006/main">
            <a:r>
              <a:t>          "layer": "업무 문맥",</a:t>
            </a:r>
          </a:p>
          <a:p xmlns:a="http://schemas.openxmlformats.org/drawingml/2006/main">
            <a:r>
              <a:t>          "detail": "전화 대상·대화 문맥의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"이전 대응 조회",</a:t>
            </a:r>
          </a:p>
          <a:p xmlns:a="http://schemas.openxmlformats.org/drawingml/2006/main">
            <a:r>
              <a:t>          "layer": "자료 조회",</a:t>
            </a:r>
          </a:p>
          <a:p xmlns:a="http://schemas.openxmlformats.org/drawingml/2006/main">
            <a:r>
              <a:t>          "detail": "동의받은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"대화·상태 요약",</a:t>
            </a:r>
          </a:p>
          <a:p xmlns:a="http://schemas.openxmlformats.org/drawingml/2006/main">
            <a:r>
              <a:t>          "layer": "핵심 처리",</a:t>
            </a:r>
          </a:p>
          <a:p xmlns:a="http://schemas.openxmlformats.org/drawingml/2006/main">
            <a:r>
              <a:t>          "detail": "음성 대화에서 상태와 확인 필요 내용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"위험 발화 확인",</a:t>
            </a:r>
          </a:p>
          <a:p xmlns:a="http://schemas.openxmlformats.org/drawingml/2006/main">
            <a:r>
              <a:t>          "layer": "결과 검증",</a:t>
            </a:r>
          </a:p>
          <a:p xmlns:a="http://schemas.openxmlformats.org/drawingml/2006/main">
            <a:r>
              <a:t>          "detail": "위험 신호의 사람 확인·상담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"복지 담당 확인",</a:t>
            </a:r>
          </a:p>
          <a:p xmlns:a="http://schemas.openxmlformats.org/drawingml/2006/main">
            <a:r>
              <a:t>          "layer": "사람 확인",</a:t>
            </a:r>
          </a:p>
          <a:p xmlns:a="http://schemas.openxmlformats.org/drawingml/2006/main">
            <a:r>
              <a:t>          "detail": "통화에서 식사·수면·불편 사항을 파악하고 담당자가 후속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"상담·방문 인계",</a:t>
            </a:r>
          </a:p>
          <a:p xmlns:a="http://schemas.openxmlformats.org/drawingml/2006/main">
            <a:r>
              <a:t>          "layer": "업무 연결",</a:t>
            </a:r>
          </a:p>
          <a:p xmlns:a="http://schemas.openxmlformats.org/drawingml/2006/main">
            <a:r>
              <a:t>          "detail": "담당자에게 상황 요약·확인 대상을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완료 추적",</a:t>
            </a:r>
          </a:p>
          <a:p xmlns:a="http://schemas.openxmlformats.org/drawingml/2006/main">
            <a:r>
              <a:t>          "layer": "운영 관측",</a:t>
            </a:r>
          </a:p>
          <a:p xmlns:a="http://schemas.openxmlformats.org/drawingml/2006/main">
            <a:r>
              <a:t>          "detail": "오인식·부적절 발화와 실제 대응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"동의받은 대화",</a:t>
            </a:r>
          </a:p>
          <a:p xmlns:a="http://schemas.openxmlformats.org/drawingml/2006/main">
            <a:r>
              <a:t>          "layer": "데이터 원천",</a:t>
            </a:r>
          </a:p>
          <a:p xmlns:a="http://schemas.openxmlformats.org/drawingml/2006/main">
            <a:r>
              <a:t>          "detail": "대화·후속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"민감 발화 분리",</a:t>
            </a:r>
          </a:p>
          <a:p xmlns:a="http://schemas.openxmlformats.org/drawingml/2006/main">
            <a:r>
              <a:t>          "layer": "준비·갱신",</a:t>
            </a:r>
          </a:p>
          <a:p xmlns:a="http://schemas.openxmlformats.org/drawingml/2006/main">
            <a:r>
              <a:t>          "detail": "동의 범위 내 대화와 과거 대응 기록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"대화·대응 이력",</a:t>
            </a:r>
          </a:p>
          <a:p xmlns:a="http://schemas.openxmlformats.org/drawingml/2006/main">
            <a:r>
              <a:t>          "layer": "상태·지식 저장",</a:t>
            </a:r>
          </a:p>
          <a:p xmlns:a="http://schemas.openxmlformats.org/drawingml/2006/main">
            <a:r>
              <a:t>          "detail": "원 발화 대비 상태·위험 신호 추출표와 상담 인계 수신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"동의·열람정책",</a:t>
            </a:r>
          </a:p>
          <a:p xmlns:a="http://schemas.openxmlformats.org/drawingml/2006/main">
            <a:r>
              <a:t>          "layer": "권한·정책",</a:t>
            </a:r>
          </a:p>
          <a:p xmlns:a="http://schemas.openxmlformats.org/drawingml/2006/main">
            <a:r>
              <a:t>          "detail": "방언·침묵·통화 중단·위험 발화의 부정문",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"안부전화 → LLM 대화 → 내역 열람·분석 → 복지 담당자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"전화 대상·대화 문맥의 구분",</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"동의받은 발화",</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"대화·후속 대응 기록",</a:t>
            </a:r>
          </a:p>
          <a:p xmlns:a="http://schemas.openxmlformats.org/drawingml/2006/main">
            <a:r>
              <a:t>          "check": "동의 범위 내 대화와 과거 대응 기록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 필요 대상",</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"안부전화 이후 필요한 복지 조치의 연결 / 자유 발화·상황 요약·후속 대응",</a:t>
            </a:r>
          </a:p>
          <a:p xmlns:a="http://schemas.openxmlformats.org/drawingml/2006/main">
            <a:r>
              <a:t>        "extension": "TS 민원 발화를 요약한 뒤 신청 목적·대상·지역의 사용자 확인"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"방언·침묵·통화 중단·위험 발화의 부정문",</a:t>
            </a:r>
          </a:p>
          <a:p xmlns:a="http://schemas.openxmlformats.org/drawingml/2006/main">
            <a:r>
              <a:t>        "hold": "위험 신호의 사람 확인·상담 인계",</a:t>
            </a:r>
          </a:p>
          <a:p xmlns:a="http://schemas.openxmlformats.org/drawingml/2006/main">
            <a:r>
              <a:t>        "recovery": "오인식·부적절 발화와 실제 대응 결과 검토",</a:t>
            </a:r>
          </a:p>
          <a:p xmlns:a="http://schemas.openxmlformats.org/drawingml/2006/main">
            <a:r>
              <a:t>        "evidence": "원 발화 대비 상태·위험 신호 추출표와 상담 인계 수신 기록"</a:t>
            </a:r>
          </a:p>
          <a:p xmlns:a="http://schemas.openxmlformats.org/drawingml/2006/main">
            <a:r>
              <a:t>      },</a:t>
            </a:r>
          </a:p>
          <a:p xmlns:a="http://schemas.openxmlformats.org/drawingml/2006/main">
            <a:r>
              <a:t>      "data": {</a:t>
            </a:r>
          </a:p>
          <a:p xmlns:a="http://schemas.openxmlformats.org/drawingml/2006/main">
            <a:r>
              <a:t>        "source": "대화·후속 대응 기록",</a:t>
            </a:r>
          </a:p>
          <a:p xmlns:a="http://schemas.openxmlformats.org/drawingml/2006/main">
            <a:r>
              <a:t>        "prepare": "동의 범위 내 대화와 과거 대응 기록 구성",</a:t>
            </a:r>
          </a:p>
          <a:p xmlns:a="http://schemas.openxmlformats.org/drawingml/2006/main">
            <a:r>
              <a:t>        "output": "동의받은 발화",</a:t>
            </a:r>
          </a:p>
          <a:p xmlns:a="http://schemas.openxmlformats.org/drawingml/2006/main">
            <a:r>
              <a:t>        "refresh": "오인식·부적절 발화와 실제 대응 결과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"AX02",</a:t>
            </a:r>
          </a:p>
          <a:p xmlns:a="http://schemas.openxmlformats.org/drawingml/2006/main">
            <a:r>
              <a:t>    "success": [</a:t>
            </a:r>
          </a:p>
          <a:p xmlns:a="http://schemas.openxmlformats.org/drawingml/2006/main">
            <a:r>
              <a:t>      "전화 접점과 담당자 후속 대응의 결합",</a:t>
            </a:r>
          </a:p>
          <a:p xmlns:a="http://schemas.openxmlformats.org/drawingml/2006/main">
            <a:r>
              <a:t>      "이용자 상황을 반영한 대화"</a:t>
            </a:r>
          </a:p>
          <a:p xmlns:a="http://schemas.openxmlformats.org/drawingml/2006/main">
            <a:r>
              <a:t>    ],</a:t>
            </a:r>
          </a:p>
          <a:p xmlns:a="http://schemas.openxmlformats.org/drawingml/2006/main">
            <a:r>
              <a:t>    "risks": [</a:t>
            </a:r>
          </a:p>
          <a:p xmlns:a="http://schemas.openxmlformats.org/drawingml/2006/main">
            <a:r>
              <a:t>      "위험 발화의 오해·미탐 가능성",</a:t>
            </a:r>
          </a:p>
          <a:p xmlns:a="http://schemas.openxmlformats.org/drawingml/2006/main">
            <a:r>
              <a:t>      "대화 종료와 실제 복지 조치의 혼동"</a:t>
            </a:r>
          </a:p>
          <a:p xmlns:a="http://schemas.openxmlformats.org/drawingml/2006/main">
            <a:r>
              <a:t>    ],</a:t>
            </a:r>
          </a:p>
          <a:p xmlns:a="http://schemas.openxmlformats.org/drawingml/2006/main">
            <a:r>
              <a:t>    "architecture": [</a:t>
            </a:r>
          </a:p>
          <a:p xmlns:a="http://schemas.openxmlformats.org/drawingml/2006/main">
            <a:r>
              <a:t>      "안부전화",</a:t>
            </a:r>
          </a:p>
          <a:p xmlns:a="http://schemas.openxmlformats.org/drawingml/2006/main">
            <a:r>
              <a:t>      "대화·내역 분석",</a:t>
            </a:r>
          </a:p>
          <a:p xmlns:a="http://schemas.openxmlformats.org/drawingml/2006/main">
            <a:r>
              <a:t>      "대화·후속 대응 기록",</a:t>
            </a:r>
          </a:p>
          <a:p xmlns:a="http://schemas.openxmlformats.org/drawingml/2006/main">
            <a:r>
              <a:t>      "복지 담당자"</a:t>
            </a:r>
          </a:p>
          <a:p xmlns:a="http://schemas.openxmlformats.org/drawingml/2006/main">
            <a:r>
              <a:t>    ],</a:t>
            </a:r>
          </a:p>
          <a:p xmlns:a="http://schemas.openxmlformats.org/drawingml/2006/main">
            <a:r>
              <a:t>    "transfers": [</a:t>
            </a:r>
          </a:p>
          <a:p xmlns:a="http://schemas.openxmlformats.org/drawingml/2006/main">
            <a:r>
              <a:t>      "동의받은 발화",</a:t>
            </a:r>
          </a:p>
          <a:p xmlns:a="http://schemas.openxmlformats.org/drawingml/2006/main">
            <a:r>
              <a:t>      "상황 요약",</a:t>
            </a:r>
          </a:p>
          <a:p xmlns:a="http://schemas.openxmlformats.org/drawingml/2006/main">
            <a:r>
              <a:t>      "확인 필요 대상",</a:t>
            </a:r>
          </a:p>
          <a:p xmlns:a="http://schemas.openxmlformats.org/drawingml/2006/main">
            <a:r>
              <a:t>      "담당자 대응 기록"</a:t>
            </a:r>
          </a:p>
          <a:p xmlns:a="http://schemas.openxmlformats.org/drawingml/2006/main">
            <a:r>
              <a:t>    ],</a:t>
            </a:r>
          </a:p>
          <a:p xmlns:a="http://schemas.openxmlformats.org/drawingml/2006/main">
            <a:r>
              <a:t>    "control": "위험 신호의 사람 확인·상담 인계",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NAVER · CareCall 이해관계자 연구 https://clova.ai/tech-blog/ko-clova-%EC%BC%80%EC%96%B4%EC%BD%9C-%EC%97%B0%EA%B5%AC-%EB%85%BC%EB%AC%B8-%EC%86%8C%EA%B0%9C-%EC%B4%88%EA%B1%B0%EB%8C%80-%EC%9D%B8%EA%B3%B5%EC%A7%80%EB%8A%A5-%EA%B8%B0%EB%B0%98-%EC%B1%97%EB%B4%87</a:t>
            </a:r>
          </a:p>
          <a:p xmlns:a="http://schemas.openxmlformats.org/drawingml/2006/main">
            <a:r>
              <a:t>홈페이지 https://heen1987-ops.github.io/TS-business-Plan-001/index.html?view=casebook&amp;case=AX02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"AX02",</a:t>
            </a:r>
          </a:p>
          <a:p xmlns:a="http://schemas.openxmlformats.org/drawingml/2006/main">
            <a:r>
              <a:t>    "title": "CLOVA CareCall",</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"음성·LLM 돌봄 서비스",</a:t>
            </a:r>
          </a:p>
          <a:p xmlns:a="http://schemas.openxmlformats.org/drawingml/2006/main">
            <a:r>
              <a:t>    "period": "CHI 2023 / 2024 소개",</a:t>
            </a:r>
          </a:p>
          <a:p xmlns:a="http://schemas.openxmlformats.org/drawingml/2006/main">
            <a:r>
              <a:t>    "sources": [</a:t>
            </a:r>
          </a:p>
          <a:p xmlns:a="http://schemas.openxmlformats.org/drawingml/2006/main">
            <a:r>
              <a:t>      "S02"</a:t>
            </a:r>
          </a:p>
          <a:p xmlns:a="http://schemas.openxmlformats.org/drawingml/2006/main">
            <a:r>
              <a:t>    ],</a:t>
            </a:r>
          </a:p>
          <a:p xmlns:a="http://schemas.openxmlformats.org/drawingml/2006/main">
            <a:r>
              <a:t>    "keywords": [</a:t>
            </a:r>
          </a:p>
          <a:p xmlns:a="http://schemas.openxmlformats.org/drawingml/2006/main">
            <a:r>
              <a:t>      "음성",</a:t>
            </a:r>
          </a:p>
          <a:p xmlns:a="http://schemas.openxmlformats.org/drawingml/2006/main">
            <a:r>
              <a:t>      "정보약자",</a:t>
            </a:r>
          </a:p>
          <a:p xmlns:a="http://schemas.openxmlformats.org/drawingml/2006/main">
            <a:r>
              <a:t>      "맞춤 서비스",</a:t>
            </a:r>
          </a:p>
          <a:p xmlns:a="http://schemas.openxmlformats.org/drawingml/2006/main">
            <a:r>
              <a:t>      "인간 개입"</a:t>
            </a:r>
          </a:p>
          <a:p xmlns:a="http://schemas.openxmlformats.org/drawingml/2006/main">
            <a:r>
              <a:t>    ],</a:t>
            </a:r>
          </a:p>
          <a:p xmlns:a="http://schemas.openxmlformats.org/drawingml/2006/main">
            <a:r>
              <a:t>    "fact": "안부전화와 복지 담당자 후속 대응의 결합; 인터뷰에서 업무 부담 완화와 사용자 이해의 이점 보고",</a:t>
            </a:r>
          </a:p>
          <a:p xmlns:a="http://schemas.openxmlformats.org/drawingml/2006/main">
            <a:r>
              <a:t>    "limit": "소규모 질적 연구 · 부적절 발화 통제와 지자체별 요구 반영의 난점 · 임상 효과 근거 아님",</a:t>
            </a:r>
          </a:p>
          <a:p xmlns:a="http://schemas.openxmlformats.org/drawingml/2006/main">
            <a:r>
              <a:t>    "flow": [</a:t>
            </a:r>
          </a:p>
          <a:p xmlns:a="http://schemas.openxmlformats.org/drawingml/2006/main">
            <a:r>
              <a:t>      "안부전화",</a:t>
            </a:r>
          </a:p>
          <a:p xmlns:a="http://schemas.openxmlformats.org/drawingml/2006/main">
            <a:r>
              <a:t>      "LLM 대화",</a:t>
            </a:r>
          </a:p>
          <a:p xmlns:a="http://schemas.openxmlformats.org/drawingml/2006/main">
            <a:r>
              <a:t>      "내역 열람·분석",</a:t>
            </a:r>
          </a:p>
          <a:p xmlns:a="http://schemas.openxmlformats.org/drawingml/2006/main">
            <a:r>
              <a:t>      "복지 담당자 대응"</a:t>
            </a:r>
          </a:p>
          <a:p xmlns:a="http://schemas.openxmlformats.org/drawingml/2006/main">
            <a:r>
              <a:t>    ],</a:t>
            </a:r>
          </a:p>
          <a:p xmlns:a="http://schemas.openxmlformats.org/drawingml/2006/main">
            <a:r>
              <a:t>    "flowBasis": "개발사 공개 서비스 구조 요약",</a:t>
            </a:r>
          </a:p>
          <a:p xmlns:a="http://schemas.openxmlformats.org/drawingml/2006/main">
            <a:r>
              <a:t>    "lesson":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"한국어 음성 연계 / 발화 정리 / 필수 항목 검증 / 상담 전환",</a:t>
            </a:r>
          </a:p>
          <a:p xmlns:a="http://schemas.openxmlformats.org/drawingml/2006/main">
            <a:r>
              <a:t>    "test": "고령·소음·방언 표본의 필수 항목 정확도 및 상담 전환 성공률",</a:t>
            </a:r>
          </a:p>
          <a:p xmlns:a="http://schemas.openxmlformats.org/drawingml/2006/main">
            <a:r>
              <a:t>    "metric": "서비스 도달률 / 발화 재입력률 / 집단별 완료시간"</a:t>
            </a:r>
          </a:p>
          <a:p xmlns:a="http://schemas.openxmlformats.org/drawingml/2006/main">
            <a:r>
              <a:t>  },</a:t>
            </a:r>
          </a:p>
          <a:p xmlns:a="http://schemas.openxmlformats.org/drawingml/2006/main">
            <a:r>
              <a:t>  "design": {</a:t>
            </a:r>
          </a:p>
          <a:p xmlns:a="http://schemas.openxmlformats.org/drawingml/2006/main">
            <a:r>
              <a:t>    "id": "AX02",</a:t>
            </a:r>
          </a:p>
          <a:p xmlns:a="http://schemas.openxmlformats.org/drawingml/2006/main">
            <a:r>
              <a:t>    "canonicalId": "AX02",</a:t>
            </a:r>
          </a:p>
          <a:p xmlns:a="http://schemas.openxmlformats.org/drawingml/2006/main">
            <a:r>
              <a:t>    "purpose": "안부전화 이후 필요한 복지 조치의 연결",</a:t>
            </a:r>
          </a:p>
          <a:p xmlns:a="http://schemas.openxmlformats.org/drawingml/2006/main">
            <a:r>
              <a:t>    "users": "돌봄 대상자·복지 담당자",</a:t>
            </a:r>
          </a:p>
          <a:p xmlns:a="http://schemas.openxmlformats.org/drawingml/2006/main">
            <a:r>
              <a:t>    "scope": [</a:t>
            </a:r>
          </a:p>
          <a:p xmlns:a="http://schemas.openxmlformats.org/drawingml/2006/main">
            <a:r>
              <a:t>      "자유 발화",</a:t>
            </a:r>
          </a:p>
          <a:p xmlns:a="http://schemas.openxmlformats.org/drawingml/2006/main">
            <a:r>
              <a:t>      "상황 요약",</a:t>
            </a:r>
          </a:p>
          <a:p xmlns:a="http://schemas.openxmlformats.org/drawingml/2006/main">
            <a:r>
              <a:t>      "후속 대응"</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"안부전화",</a:t>
            </a:r>
          </a:p>
          <a:p xmlns:a="http://schemas.openxmlformats.org/drawingml/2006/main">
            <a:r>
              <a:t>        "detail": "전화 대상·대화 문맥의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"자유 발화 / 상황 요약 / 후속 대응",</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"대화·내역 분석",</a:t>
            </a:r>
          </a:p>
          <a:p xmlns:a="http://schemas.openxmlformats.org/drawingml/2006/main">
            <a:r>
              <a:t>        "detail": "음성 대화에서 상태와 확인 필요 내용 정리",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"복지 담당자",</a:t>
            </a:r>
          </a:p>
          <a:p xmlns:a="http://schemas.openxmlformats.org/drawingml/2006/main">
            <a:r>
              <a:t>        "detail": "담당자에게 상황 요약·확인 대상을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"대화·후속 대응 기록",</a:t>
            </a:r>
          </a:p>
          <a:p xmlns:a="http://schemas.openxmlformats.org/drawingml/2006/main">
            <a:r>
              <a:t>        "detail": "동의 범위 내 대화와 과거 대응 기록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"오인식·부적절 발화와 실제 대응 결과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"안부전화",</a:t>
            </a:r>
          </a:p>
          <a:p xmlns:a="http://schemas.openxmlformats.org/drawingml/2006/main">
            <a:r>
              <a:t>        "input": "전화 대상·대화 문맥의 구분",</a:t>
            </a:r>
          </a:p>
          <a:p xmlns:a="http://schemas.openxmlformats.org/drawingml/2006/main">
            <a:r>
              <a:t>        "process": "동의 범위 내 대화와 과거 대응 기록 구성",</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"title": "LLM 대화",</a:t>
            </a:r>
          </a:p>
          <a:p xmlns:a="http://schemas.openxmlformats.org/drawingml/2006/main">
            <a:r>
              <a:t>        "input": "동의받은 발화",</a:t>
            </a:r>
          </a:p>
          <a:p xmlns:a="http://schemas.openxmlformats.org/drawingml/2006/main">
            <a:r>
              <a:t>        "process": "음성 대화에서 상태와 확인 필요 내용 정리",</a:t>
            </a:r>
          </a:p>
          <a:p xmlns:a="http://schemas.openxmlformats.org/drawingml/2006/main">
            <a:r>
              <a:t>        "output": "상황 요약"</a:t>
            </a:r>
          </a:p>
          <a:p xmlns:a="http://schemas.openxmlformats.org/drawingml/2006/main">
            <a:r>
              <a:t>      },</a:t>
            </a:r>
          </a:p>
          <a:p xmlns:a="http://schemas.openxmlformats.org/drawingml/2006/main">
            <a:r>
              <a:t>      {</a:t>
            </a:r>
          </a:p>
          <a:p xmlns:a="http://schemas.openxmlformats.org/drawingml/2006/main">
            <a:r>
              <a:t>        "title": "내역 열람·분석",</a:t>
            </a:r>
          </a:p>
          <a:p xmlns:a="http://schemas.openxmlformats.org/drawingml/2006/main">
            <a:r>
              <a:t>        "input": "상황 요약",</a:t>
            </a:r>
          </a:p>
          <a:p xmlns:a="http://schemas.openxmlformats.org/drawingml/2006/main">
            <a:r>
              <a:t>        "process": "위험 신호의 사람 확인·상담 인계",</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"title": "복지 담당자 대응",</a:t>
            </a:r>
          </a:p>
          <a:p xmlns:a="http://schemas.openxmlformats.org/drawingml/2006/main">
            <a:r>
              <a:t>        "input": "확인 필요 대상",</a:t>
            </a:r>
          </a:p>
          <a:p xmlns:a="http://schemas.openxmlformats.org/drawingml/2006/main">
            <a:r>
              <a:t>        "process":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"통화에서 식사·수면·불편 사항을 파악하고 담당자가 후속 확인",</a:t>
            </a:r>
          </a:p>
          <a:p xmlns:a="http://schemas.openxmlformats.org/drawingml/2006/main">
            <a:r>
              <a:t>      "exception": "방언·침묵·통화 중단·위험 발화의 부정문",</a:t>
            </a:r>
          </a:p>
          <a:p xmlns:a="http://schemas.openxmlformats.org/drawingml/2006/main">
            <a:r>
              <a:t>      "evidence": "원 발화 대비 상태·위험 신호 추출표와 상담 인계 수신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"돌봄 대상자·복지 담당자",</a:t>
            </a:r>
          </a:p>
          <a:p xmlns:a="http://schemas.openxmlformats.org/drawingml/2006/main">
            <a:r>
              <a:t>          "processing": "전화 대상·대화 문맥의 구분",</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"대화·후속 대응 기록",</a:t>
            </a:r>
          </a:p>
          <a:p xmlns:a="http://schemas.openxmlformats.org/drawingml/2006/main">
            <a:r>
              <a:t>          "processing": "동의 범위 내 대화와 과거 대응 기록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"동의받은 발화",</a:t>
            </a:r>
          </a:p>
          <a:p xmlns:a="http://schemas.openxmlformats.org/drawingml/2006/main">
            <a:r>
              <a:t>          "processing": "음성 대화에서 상태와 확인 필요 내용 정리",</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 필요 대상",</a:t>
            </a:r>
          </a:p>
          <a:p xmlns:a="http://schemas.openxmlformats.org/drawingml/2006/main">
            <a:r>
              <a:t>          "processing":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"오인식·부적절 발화와 실제 대응 결과 검토",</a:t>
            </a:r>
          </a:p>
          <a:p xmlns:a="http://schemas.openxmlformats.org/drawingml/2006/main">
            <a:r>
              <a:t>          "output":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"오인식·부적절 발화와 실제 대응 결과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"S02",</a:t>
            </a:r>
          </a:p>
          <a:p xmlns:a="http://schemas.openxmlformats.org/drawingml/2006/main">
            <a:r>
              <a:t>        "title": "NAVER · CareCall 이해관계자 연구",</a:t>
            </a:r>
          </a:p>
          <a:p xmlns:a="http://schemas.openxmlformats.org/drawingml/2006/main">
            <a:r>
              <a:t>        "url": "https://clova.ai/tech-blog/ko-clova-%EC%BC%80%EC%96%B4%EC%BD%9C-%EC%97%B0%EA%B5%AC-%EB%85%BC%EB%AC%B8-%EC%86%8C%EA%B0%9C-%EC%B4%88%EA%B1%B0%EB%8C%80-%EC%9D%B8%EA%B3%B5%EC%A7%80%EB%8A%A5-%EA%B8%B0%EB%B0%98-%EC%B1%97%EB%B4%87",</a:t>
            </a:r>
          </a:p>
          <a:p xmlns:a="http://schemas.openxmlformats.org/drawingml/2006/main">
            <a:r>
              <a:t>        "published": "2024-08-07",</a:t>
            </a:r>
          </a:p>
          <a:p xmlns:a="http://schemas.openxmlformats.org/drawingml/2006/main">
            <a:r>
              <a:t>        "level": "개발사 연구 요약 / CHI 2023",</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"sourceDetail": null,</a:t>
            </a:r>
          </a:p>
          <a:p xmlns:a="http://schemas.openxmlformats.org/drawingml/2006/main">
            <a:r>
              <a:t>    "narrative": [</a:t>
            </a:r>
          </a:p>
          <a:p xmlns:a="http://schemas.openxmlformats.org/drawingml/2006/main">
            <a:r>
              <a:t>      "자유 발화 중심의 안부전화와 복지 담당자의 후속 대응을 결합한 서비스. 통화 자체의 자동화보다 대상자의 상황을 파악해 필요한 확인·방문 업무로 인계하는 연결이 핵심.",</a:t>
            </a:r>
          </a:p>
          <a:p xmlns:a="http://schemas.openxmlformats.org/drawingml/2006/main">
            <a:r>
              <a:t>      "음성 대화 기록에서 상태와 확인할 내용을 정리하고 담당자가 대응 여부를 검토하는 흐름. TS 적용 설계에서는 민원 발화를 신청 목적·대상·지역 등 필수 항목으로 정리한 뒤 사용자 확인과 상담원 인계를 구성.",</a:t>
            </a:r>
          </a:p>
          <a:p xmlns:a="http://schemas.openxmlformats.org/drawingml/2006/main">
            <a:r>
              <a:t>      "인터뷰에서 보고된 부담 완화와 임상·복지 성과의 구분. 소음·방언·고령 발화의 인식 오류, 위험 신호의 미탐, 상담원이 실제 인계받았는지를 별도로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"안부전화 접점",</a:t>
            </a:r>
          </a:p>
          <a:p xmlns:a="http://schemas.openxmlformats.org/drawingml/2006/main">
            <a:r>
              <a:t>          "layer": "이용 접점",</a:t>
            </a:r>
          </a:p>
          <a:p xmlns:a="http://schemas.openxmlformats.org/drawingml/2006/main">
            <a:r>
              <a:t>          "detail": "돌봄 대상자·복지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"대상·대화 맥락",</a:t>
            </a:r>
          </a:p>
          <a:p xmlns:a="http://schemas.openxmlformats.org/drawingml/2006/main">
            <a:r>
              <a:t>          "layer": "업무 문맥",</a:t>
            </a:r>
          </a:p>
          <a:p xmlns:a="http://schemas.openxmlformats.org/drawingml/2006/main">
            <a:r>
              <a:t>          "detail": "전화 대상·대화 문맥의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"이전 대응 조회",</a:t>
            </a:r>
          </a:p>
          <a:p xmlns:a="http://schemas.openxmlformats.org/drawingml/2006/main">
            <a:r>
              <a:t>          "layer": "자료 조회",</a:t>
            </a:r>
          </a:p>
          <a:p xmlns:a="http://schemas.openxmlformats.org/drawingml/2006/main">
            <a:r>
              <a:t>          "detail": "동의받은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"대화·상태 요약",</a:t>
            </a:r>
          </a:p>
          <a:p xmlns:a="http://schemas.openxmlformats.org/drawingml/2006/main">
            <a:r>
              <a:t>          "layer": "핵심 처리",</a:t>
            </a:r>
          </a:p>
          <a:p xmlns:a="http://schemas.openxmlformats.org/drawingml/2006/main">
            <a:r>
              <a:t>          "detail": "음성 대화에서 상태와 확인 필요 내용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"위험 발화 확인",</a:t>
            </a:r>
          </a:p>
          <a:p xmlns:a="http://schemas.openxmlformats.org/drawingml/2006/main">
            <a:r>
              <a:t>          "layer": "결과 검증",</a:t>
            </a:r>
          </a:p>
          <a:p xmlns:a="http://schemas.openxmlformats.org/drawingml/2006/main">
            <a:r>
              <a:t>          "detail": "위험 신호의 사람 확인·상담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"복지 담당 확인",</a:t>
            </a:r>
          </a:p>
          <a:p xmlns:a="http://schemas.openxmlformats.org/drawingml/2006/main">
            <a:r>
              <a:t>          "layer": "사람 확인",</a:t>
            </a:r>
          </a:p>
          <a:p xmlns:a="http://schemas.openxmlformats.org/drawingml/2006/main">
            <a:r>
              <a:t>          "detail": "통화에서 식사·수면·불편 사항을 파악하고 담당자가 후속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"상담·방문 인계",</a:t>
            </a:r>
          </a:p>
          <a:p xmlns:a="http://schemas.openxmlformats.org/drawingml/2006/main">
            <a:r>
              <a:t>          "layer": "업무 연결",</a:t>
            </a:r>
          </a:p>
          <a:p xmlns:a="http://schemas.openxmlformats.org/drawingml/2006/main">
            <a:r>
              <a:t>          "detail": "담당자에게 상황 요약·확인 대상을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완료 추적",</a:t>
            </a:r>
          </a:p>
          <a:p xmlns:a="http://schemas.openxmlformats.org/drawingml/2006/main">
            <a:r>
              <a:t>          "layer": "운영 관측",</a:t>
            </a:r>
          </a:p>
          <a:p xmlns:a="http://schemas.openxmlformats.org/drawingml/2006/main">
            <a:r>
              <a:t>          "detail": "오인식·부적절 발화와 실제 대응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"동의받은 대화",</a:t>
            </a:r>
          </a:p>
          <a:p xmlns:a="http://schemas.openxmlformats.org/drawingml/2006/main">
            <a:r>
              <a:t>          "layer": "데이터 원천",</a:t>
            </a:r>
          </a:p>
          <a:p xmlns:a="http://schemas.openxmlformats.org/drawingml/2006/main">
            <a:r>
              <a:t>          "detail": "대화·후속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"민감 발화 분리",</a:t>
            </a:r>
          </a:p>
          <a:p xmlns:a="http://schemas.openxmlformats.org/drawingml/2006/main">
            <a:r>
              <a:t>          "layer": "준비·갱신",</a:t>
            </a:r>
          </a:p>
          <a:p xmlns:a="http://schemas.openxmlformats.org/drawingml/2006/main">
            <a:r>
              <a:t>          "detail": "동의 범위 내 대화와 과거 대응 기록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"대화·대응 이력",</a:t>
            </a:r>
          </a:p>
          <a:p xmlns:a="http://schemas.openxmlformats.org/drawingml/2006/main">
            <a:r>
              <a:t>          "layer": "상태·지식 저장",</a:t>
            </a:r>
          </a:p>
          <a:p xmlns:a="http://schemas.openxmlformats.org/drawingml/2006/main">
            <a:r>
              <a:t>          "detail": "원 발화 대비 상태·위험 신호 추출표와 상담 인계 수신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"동의·열람정책",</a:t>
            </a:r>
          </a:p>
          <a:p xmlns:a="http://schemas.openxmlformats.org/drawingml/2006/main">
            <a:r>
              <a:t>          "layer": "권한·정책",</a:t>
            </a:r>
          </a:p>
          <a:p xmlns:a="http://schemas.openxmlformats.org/drawingml/2006/main">
            <a:r>
              <a:t>          "detail": "방언·침묵·통화 중단·위험 발화의 부정문",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"안부전화 → LLM 대화 → 내역 열람·분석 → 복지 담당자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"전화 대상·대화 문맥의 구분",</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"동의받은 발화",</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"대화·후속 대응 기록",</a:t>
            </a:r>
          </a:p>
          <a:p xmlns:a="http://schemas.openxmlformats.org/drawingml/2006/main">
            <a:r>
              <a:t>          "check": "동의 범위 내 대화와 과거 대응 기록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 필요 대상",</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"안부전화 이후 필요한 복지 조치의 연결 / 자유 발화·상황 요약·후속 대응",</a:t>
            </a:r>
          </a:p>
          <a:p xmlns:a="http://schemas.openxmlformats.org/drawingml/2006/main">
            <a:r>
              <a:t>        "extension": "TS 민원 발화를 요약한 뒤 신청 목적·대상·지역의 사용자 확인"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"방언·침묵·통화 중단·위험 발화의 부정문",</a:t>
            </a:r>
          </a:p>
          <a:p xmlns:a="http://schemas.openxmlformats.org/drawingml/2006/main">
            <a:r>
              <a:t>        "hold": "위험 신호의 사람 확인·상담 인계",</a:t>
            </a:r>
          </a:p>
          <a:p xmlns:a="http://schemas.openxmlformats.org/drawingml/2006/main">
            <a:r>
              <a:t>        "recovery": "오인식·부적절 발화와 실제 대응 결과 검토",</a:t>
            </a:r>
          </a:p>
          <a:p xmlns:a="http://schemas.openxmlformats.org/drawingml/2006/main">
            <a:r>
              <a:t>        "evidence": "원 발화 대비 상태·위험 신호 추출표와 상담 인계 수신 기록"</a:t>
            </a:r>
          </a:p>
          <a:p xmlns:a="http://schemas.openxmlformats.org/drawingml/2006/main">
            <a:r>
              <a:t>      },</a:t>
            </a:r>
          </a:p>
          <a:p xmlns:a="http://schemas.openxmlformats.org/drawingml/2006/main">
            <a:r>
              <a:t>      "data": {</a:t>
            </a:r>
          </a:p>
          <a:p xmlns:a="http://schemas.openxmlformats.org/drawingml/2006/main">
            <a:r>
              <a:t>        "source": "대화·후속 대응 기록",</a:t>
            </a:r>
          </a:p>
          <a:p xmlns:a="http://schemas.openxmlformats.org/drawingml/2006/main">
            <a:r>
              <a:t>        "prepare": "동의 범위 내 대화와 과거 대응 기록 구성",</a:t>
            </a:r>
          </a:p>
          <a:p xmlns:a="http://schemas.openxmlformats.org/drawingml/2006/main">
            <a:r>
              <a:t>        "output": "동의받은 발화",</a:t>
            </a:r>
          </a:p>
          <a:p xmlns:a="http://schemas.openxmlformats.org/drawingml/2006/main">
            <a:r>
              <a:t>        "refresh": "오인식·부적절 발화와 실제 대응 결과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"AX02",</a:t>
            </a:r>
          </a:p>
          <a:p xmlns:a="http://schemas.openxmlformats.org/drawingml/2006/main">
            <a:r>
              <a:t>    "success": [</a:t>
            </a:r>
          </a:p>
          <a:p xmlns:a="http://schemas.openxmlformats.org/drawingml/2006/main">
            <a:r>
              <a:t>      "전화 접점과 담당자 후속 대응의 결합",</a:t>
            </a:r>
          </a:p>
          <a:p xmlns:a="http://schemas.openxmlformats.org/drawingml/2006/main">
            <a:r>
              <a:t>      "이용자 상황을 반영한 대화"</a:t>
            </a:r>
          </a:p>
          <a:p xmlns:a="http://schemas.openxmlformats.org/drawingml/2006/main">
            <a:r>
              <a:t>    ],</a:t>
            </a:r>
          </a:p>
          <a:p xmlns:a="http://schemas.openxmlformats.org/drawingml/2006/main">
            <a:r>
              <a:t>    "risks": [</a:t>
            </a:r>
          </a:p>
          <a:p xmlns:a="http://schemas.openxmlformats.org/drawingml/2006/main">
            <a:r>
              <a:t>      "위험 발화의 오해·미탐 가능성",</a:t>
            </a:r>
          </a:p>
          <a:p xmlns:a="http://schemas.openxmlformats.org/drawingml/2006/main">
            <a:r>
              <a:t>      "대화 종료와 실제 복지 조치의 혼동"</a:t>
            </a:r>
          </a:p>
          <a:p xmlns:a="http://schemas.openxmlformats.org/drawingml/2006/main">
            <a:r>
              <a:t>    ],</a:t>
            </a:r>
          </a:p>
          <a:p xmlns:a="http://schemas.openxmlformats.org/drawingml/2006/main">
            <a:r>
              <a:t>    "architecture": [</a:t>
            </a:r>
          </a:p>
          <a:p xmlns:a="http://schemas.openxmlformats.org/drawingml/2006/main">
            <a:r>
              <a:t>      "안부전화",</a:t>
            </a:r>
          </a:p>
          <a:p xmlns:a="http://schemas.openxmlformats.org/drawingml/2006/main">
            <a:r>
              <a:t>      "대화·내역 분석",</a:t>
            </a:r>
          </a:p>
          <a:p xmlns:a="http://schemas.openxmlformats.org/drawingml/2006/main">
            <a:r>
              <a:t>      "대화·후속 대응 기록",</a:t>
            </a:r>
          </a:p>
          <a:p xmlns:a="http://schemas.openxmlformats.org/drawingml/2006/main">
            <a:r>
              <a:t>      "복지 담당자"</a:t>
            </a:r>
          </a:p>
          <a:p xmlns:a="http://schemas.openxmlformats.org/drawingml/2006/main">
            <a:r>
              <a:t>    ],</a:t>
            </a:r>
          </a:p>
          <a:p xmlns:a="http://schemas.openxmlformats.org/drawingml/2006/main">
            <a:r>
              <a:t>    "transfers": [</a:t>
            </a:r>
          </a:p>
          <a:p xmlns:a="http://schemas.openxmlformats.org/drawingml/2006/main">
            <a:r>
              <a:t>      "동의받은 발화",</a:t>
            </a:r>
          </a:p>
          <a:p xmlns:a="http://schemas.openxmlformats.org/drawingml/2006/main">
            <a:r>
              <a:t>      "상황 요약",</a:t>
            </a:r>
          </a:p>
          <a:p xmlns:a="http://schemas.openxmlformats.org/drawingml/2006/main">
            <a:r>
              <a:t>      "확인 필요 대상",</a:t>
            </a:r>
          </a:p>
          <a:p xmlns:a="http://schemas.openxmlformats.org/drawingml/2006/main">
            <a:r>
              <a:t>      "담당자 대응 기록"</a:t>
            </a:r>
          </a:p>
          <a:p xmlns:a="http://schemas.openxmlformats.org/drawingml/2006/main">
            <a:r>
              <a:t>    ],</a:t>
            </a:r>
          </a:p>
          <a:p xmlns:a="http://schemas.openxmlformats.org/drawingml/2006/main">
            <a:r>
              <a:t>    "control": "위험 신호의 사람 확인·상담 인계",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NAVER · CareCall 이해관계자 연구 https://clova.ai/tech-blog/ko-clova-%EC%BC%80%EC%96%B4%EC%BD%9C-%EC%97%B0%EA%B5%AC-%EB%85%BC%EB%AC%B8-%EC%86%8C%EA%B0%9C-%EC%B4%88%EA%B1%B0%EB%8C%80-%EC%9D%B8%EA%B3%B5%EC%A7%80%EB%8A%A5-%EA%B8%B0%EB%B0%98-%EC%B1%97%EB%B4%87</a:t>
            </a:r>
          </a:p>
          <a:p xmlns:a="http://schemas.openxmlformats.org/drawingml/2006/main">
            <a:r>
              <a:t>홈페이지 https://heen1987-ops.github.io/TS-business-Plan-001/index.html?view=casebook&amp;case=AX02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"AX03",</a:t>
            </a:r>
          </a:p>
          <a:p xmlns:a="http://schemas.openxmlformats.org/drawingml/2006/main">
            <a:r>
              <a:t>    "title": "이루다 개인정보 처리",</a:t>
            </a:r>
          </a:p>
          <a:p xmlns:a="http://schemas.openxmlformats.org/drawingml/2006/main">
            <a:r>
              <a:t>    "region": "국내",</a:t>
            </a:r>
          </a:p>
          <a:p xmlns:a="http://schemas.openxmlformats.org/drawingml/2006/main">
            <a:r>
              <a:t>    "country": "대한민국",</a:t>
            </a:r>
          </a:p>
          <a:p xmlns:a="http://schemas.openxmlformats.org/drawingml/2006/main">
            <a:r>
              <a:t>    "result": "실패",</a:t>
            </a:r>
          </a:p>
          <a:p xmlns:a="http://schemas.openxmlformats.org/drawingml/2006/main">
            <a:r>
              <a:t>    "kind": "학습·응답 데이터 통제",</a:t>
            </a:r>
          </a:p>
          <a:p xmlns:a="http://schemas.openxmlformats.org/drawingml/2006/main">
            <a:r>
              <a:t>    "period": "2021 조사",</a:t>
            </a:r>
          </a:p>
          <a:p xmlns:a="http://schemas.openxmlformats.org/drawingml/2006/main">
            <a:r>
              <a:t>    "sources": [</a:t>
            </a:r>
          </a:p>
          <a:p xmlns:a="http://schemas.openxmlformats.org/drawingml/2006/main">
            <a:r>
              <a:t>      "S03"</a:t>
            </a:r>
          </a:p>
          <a:p xmlns:a="http://schemas.openxmlformats.org/drawingml/2006/main">
            <a:r>
              <a:t>    ],</a:t>
            </a:r>
          </a:p>
          <a:p xmlns:a="http://schemas.openxmlformats.org/drawingml/2006/main">
            <a:r>
              <a:t>    "keywords": [</a:t>
            </a:r>
          </a:p>
          <a:p xmlns:a="http://schemas.openxmlformats.org/drawingml/2006/main">
            <a:r>
              <a:t>      "개인정보",</a:t>
            </a:r>
          </a:p>
          <a:p xmlns:a="http://schemas.openxmlformats.org/drawingml/2006/main">
            <a:r>
              <a:t>      "목적 제한",</a:t>
            </a:r>
          </a:p>
          <a:p xmlns:a="http://schemas.openxmlformats.org/drawingml/2006/main">
            <a:r>
              <a:t>      "데이터 재사용",</a:t>
            </a:r>
          </a:p>
          <a:p xmlns:a="http://schemas.openxmlformats.org/drawingml/2006/main">
            <a:r>
              <a:t>      "책임"</a:t>
            </a:r>
          </a:p>
          <a:p xmlns:a="http://schemas.openxmlformats.org/drawingml/2006/main">
            <a:r>
              <a:t>    ],</a:t>
            </a:r>
          </a:p>
          <a:p xmlns:a="http://schemas.openxmlformats.org/drawingml/2006/main">
            <a:r>
              <a:t>    "fact": "다른 서비스에서 수집한 대화의 목적 외 학습·운영 이용 등에 대한 개인정보보호위원회 제재",</a:t>
            </a:r>
          </a:p>
          <a:p xmlns:a="http://schemas.openxmlformats.org/drawingml/2006/main">
            <a:r>
              <a:t>    "limit": "2021년 조사 대상 행위 기준 · 후속 서비스 전체에 대한 평가 아님",</a:t>
            </a:r>
          </a:p>
          <a:p xmlns:a="http://schemas.openxmlformats.org/drawingml/2006/main">
            <a:r>
              <a:t>    "flow": [</a:t>
            </a:r>
          </a:p>
          <a:p xmlns:a="http://schemas.openxmlformats.org/drawingml/2006/main">
            <a:r>
              <a:t>      "원 서비스 대화",</a:t>
            </a:r>
          </a:p>
          <a:p xmlns:a="http://schemas.openxmlformats.org/drawingml/2006/main">
            <a:r>
              <a:t>      "목적 외 재사용",</a:t>
            </a:r>
          </a:p>
          <a:p xmlns:a="http://schemas.openxmlformats.org/drawingml/2006/main">
            <a:r>
              <a:t>      "학습·응답 DB",</a:t>
            </a:r>
          </a:p>
          <a:p xmlns:a="http://schemas.openxmlformats.org/drawingml/2006/main">
            <a:r>
              <a:t>      "이루다 발화"</a:t>
            </a:r>
          </a:p>
          <a:p xmlns:a="http://schemas.openxmlformats.org/drawingml/2006/main">
            <a:r>
              <a:t>    ],</a:t>
            </a:r>
          </a:p>
          <a:p xmlns:a="http://schemas.openxmlformats.org/drawingml/2006/main">
            <a:r>
              <a:t>    "flowBasis": "조사에서 확인된 처리 관계 요약 · 내부 구현 상세 미공개",</a:t>
            </a:r>
          </a:p>
          <a:p xmlns:a="http://schemas.openxmlformats.org/drawingml/2006/main">
            <a:r>
              <a:t>    "lesson":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"수집 목적 태그 / 학습·검색·출력별 정책 / 삭제·회수 전파",</a:t>
            </a:r>
          </a:p>
          <a:p xmlns:a="http://schemas.openxmlformats.org/drawingml/2006/main">
            <a:r>
              <a:t>    "test": "목적 외 입력 거부·권한 회수 후 검색 및 캐시 노출 차단",</a:t>
            </a:r>
          </a:p>
          <a:p xmlns:a="http://schemas.openxmlformats.org/drawingml/2006/main">
            <a:r>
              <a:t>    "metric": "필수 거부셋 노출 건수 / 삭제 전파 지연"</a:t>
            </a:r>
          </a:p>
          <a:p xmlns:a="http://schemas.openxmlformats.org/drawingml/2006/main">
            <a:r>
              <a:t>  },</a:t>
            </a:r>
          </a:p>
          <a:p xmlns:a="http://schemas.openxmlformats.org/drawingml/2006/main">
            <a:r>
              <a:t>  "design": {</a:t>
            </a:r>
          </a:p>
          <a:p xmlns:a="http://schemas.openxmlformats.org/drawingml/2006/main">
            <a:r>
              <a:t>    "id": "AX03",</a:t>
            </a:r>
          </a:p>
          <a:p xmlns:a="http://schemas.openxmlformats.org/drawingml/2006/main">
            <a:r>
              <a:t>    "canonicalId": "AX03",</a:t>
            </a:r>
          </a:p>
          <a:p xmlns:a="http://schemas.openxmlformats.org/drawingml/2006/main">
            <a:r>
              <a:t>    "purpose": "대화 데이터의 목적 외 활용 실패 분석",</a:t>
            </a:r>
          </a:p>
          <a:p xmlns:a="http://schemas.openxmlformats.org/drawingml/2006/main">
            <a:r>
              <a:t>    "users": "서비스 이용자·데이터 관리자",</a:t>
            </a:r>
          </a:p>
          <a:p xmlns:a="http://schemas.openxmlformats.org/drawingml/2006/main">
            <a:r>
              <a:t>    "scope": [</a:t>
            </a:r>
          </a:p>
          <a:p xmlns:a="http://schemas.openxmlformats.org/drawingml/2006/main">
            <a:r>
              <a:t>      "수집 목적",</a:t>
            </a:r>
          </a:p>
          <a:p xmlns:a="http://schemas.openxmlformats.org/drawingml/2006/main">
            <a:r>
              <a:t>      "학습·응답 재사용",</a:t>
            </a:r>
          </a:p>
          <a:p xmlns:a="http://schemas.openxmlformats.org/drawingml/2006/main">
            <a:r>
              <a:t>      "삭제·회수"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"원 서비스 대화",</a:t>
            </a:r>
          </a:p>
          <a:p xmlns:a="http://schemas.openxmlformats.org/drawingml/2006/main">
            <a:r>
              <a:t>        "detail": "원 서비스 동의와 재사용 목적의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"수집 목적 / 학습·응답 재사용 / 삭제·회수",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"학습·응답 처리",</a:t>
            </a:r>
          </a:p>
          <a:p xmlns:a="http://schemas.openxmlformats.org/drawingml/2006/main">
            <a:r>
              <a:t>        "detail": "학습용·응답용 데이터 경로의 별도 심사",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"챗봇 이용자",</a:t>
            </a:r>
          </a:p>
          <a:p xmlns:a="http://schemas.openxmlformats.org/drawingml/2006/main">
            <a:r>
              <a:t>        "detail": "비허용 데이터 차단 및 기존 복제본 회수",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 데이터",</a:t>
            </a:r>
          </a:p>
          <a:p xmlns:a="http://schemas.openxmlformats.org/drawingml/2006/main">
            <a:r>
              <a:t>        "detail": "원 대화의 개인정보·목적·보유기간 태깅",</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"삭제 이후 학습·검색·출력 경로의 잔존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"원 서비스 대화",</a:t>
            </a:r>
          </a:p>
          <a:p xmlns:a="http://schemas.openxmlformats.org/drawingml/2006/main">
            <a:r>
              <a:t>        "input": "원 서비스 동의와 재사용 목적의 대조",</a:t>
            </a:r>
          </a:p>
          <a:p xmlns:a="http://schemas.openxmlformats.org/drawingml/2006/main">
            <a:r>
              <a:t>        "process": "원 대화의 개인정보·목적·보유기간 태깅",</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"title": "목적 외 재사용",</a:t>
            </a:r>
          </a:p>
          <a:p xmlns:a="http://schemas.openxmlformats.org/drawingml/2006/main">
            <a:r>
              <a:t>        "input": "대화 원문",</a:t>
            </a:r>
          </a:p>
          <a:p xmlns:a="http://schemas.openxmlformats.org/drawingml/2006/main">
            <a:r>
              <a:t>        "process": "학습용·응답용 데이터 경로의 별도 심사",</a:t>
            </a:r>
          </a:p>
          <a:p xmlns:a="http://schemas.openxmlformats.org/drawingml/2006/main">
            <a:r>
              <a:t>        "output": "재사용 대상"</a:t>
            </a:r>
          </a:p>
          <a:p xmlns:a="http://schemas.openxmlformats.org/drawingml/2006/main">
            <a:r>
              <a:t>      },</a:t>
            </a:r>
          </a:p>
          <a:p xmlns:a="http://schemas.openxmlformats.org/drawingml/2006/main">
            <a:r>
              <a:t>      {</a:t>
            </a:r>
          </a:p>
          <a:p xmlns:a="http://schemas.openxmlformats.org/drawingml/2006/main">
            <a:r>
              <a:t>        "title": "학습·응답 DB",</a:t>
            </a:r>
          </a:p>
          <a:p xmlns:a="http://schemas.openxmlformats.org/drawingml/2006/main">
            <a:r>
              <a:t>        "input": "재사용 대상",</a:t>
            </a:r>
          </a:p>
          <a:p xmlns:a="http://schemas.openxmlformats.org/drawingml/2006/main">
            <a:r>
              <a:t>        "process": "목적·동의 범위 대사와 삭제 전파",</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"title": "이루다 발화",</a:t>
            </a:r>
          </a:p>
          <a:p xmlns:a="http://schemas.openxmlformats.org/drawingml/2006/main">
            <a:r>
              <a:t>        "input": "학습·응답 자료",</a:t>
            </a:r>
          </a:p>
          <a:p xmlns:a="http://schemas.openxmlformats.org/drawingml/2006/main">
            <a:r>
              <a:t>        "process":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"명시된 목적에 맞는 대화만 학습·검색·응답 경로에 제공",</a:t>
            </a:r>
          </a:p>
          <a:p xmlns:a="http://schemas.openxmlformats.org/drawingml/2006/main">
            <a:r>
              <a:t>      "exception": "동의 철회·다른 서비스 자료·복제된 삭제 대상",</a:t>
            </a:r>
          </a:p>
          <a:p xmlns:a="http://schemas.openxmlformats.org/drawingml/2006/main">
            <a:r>
              <a:t>      "evidence": "목적별 허용/차단 결과와 원천·색인·캐시 삭제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"서비스 이용자·데이터 관리자",</a:t>
            </a:r>
          </a:p>
          <a:p xmlns:a="http://schemas.openxmlformats.org/drawingml/2006/main">
            <a:r>
              <a:t>          "processing": "원 서비스 동의와 재사용 목적의 대조",</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 데이터",</a:t>
            </a:r>
          </a:p>
          <a:p xmlns:a="http://schemas.openxmlformats.org/drawingml/2006/main">
            <a:r>
              <a:t>          "processing": "원 대화의 개인정보·목적·보유기간 태깅",</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"대화 원문",</a:t>
            </a:r>
          </a:p>
          <a:p xmlns:a="http://schemas.openxmlformats.org/drawingml/2006/main">
            <a:r>
              <a:t>          "processing": "학습용·응답용 데이터 경로의 별도 심사",</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"학습·응답 자료",</a:t>
            </a:r>
          </a:p>
          <a:p xmlns:a="http://schemas.openxmlformats.org/drawingml/2006/main">
            <a:r>
              <a:t>          "processing":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"삭제 이후 학습·검색·출력 경로의 잔존 검사",</a:t>
            </a:r>
          </a:p>
          <a:p xmlns:a="http://schemas.openxmlformats.org/drawingml/2006/main">
            <a:r>
              <a:t>          "output": "목적별 허용/차단 결과와 원천·색인·캐시 삭제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"삭제 이후 학습·검색·출력 경로의 잔존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"S03",</a:t>
            </a:r>
          </a:p>
          <a:p xmlns:a="http://schemas.openxmlformats.org/drawingml/2006/main">
            <a:r>
              <a:t>        "title": "개인정보보호위원회 · 이루다 조사 결과",</a:t>
            </a:r>
          </a:p>
          <a:p xmlns:a="http://schemas.openxmlformats.org/drawingml/2006/main">
            <a:r>
              <a:t>        "url": "https://www.korea.kr/news/policyNewsView.do?newsId=156449232",</a:t>
            </a:r>
          </a:p>
          <a:p xmlns:a="http://schemas.openxmlformats.org/drawingml/2006/main">
            <a:r>
              <a:t>        "published": "2021-04-28",</a:t>
            </a:r>
          </a:p>
          <a:p xmlns:a="http://schemas.openxmlformats.org/drawingml/2006/main">
            <a:r>
              <a:t>        "level": "감독기관 조사",</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"sourceDetail": null,</a:t>
            </a:r>
          </a:p>
          <a:p xmlns:a="http://schemas.openxmlformats.org/drawingml/2006/main">
            <a:r>
              <a:t>    "narrative": [</a:t>
            </a:r>
          </a:p>
          <a:p xmlns:a="http://schemas.openxmlformats.org/drawingml/2006/main">
            <a:r>
              <a:t>      "다른 서비스에서 수집한 대화를 AI 학습·운영에 활용하는 과정의 개인정보 통제 실패 사례. 자료를 보유한다는 사실과 해당 목적의 AI 이용 권한이 일치하지 않는 문제.",</a:t>
            </a:r>
          </a:p>
          <a:p xmlns:a="http://schemas.openxmlformats.org/drawingml/2006/main">
            <a:r>
              <a:t>      "원 수집 목적·동의 범위·보유기간을 데이터에 연결하고, 학습용·검색용·출력용 경로마다 허용 여부를 판정하는 CCK 재발 방지 설계. 삭제 요청은 원본뿐 아니라 색인·캐시·복제본까지 추적하는 구조.",</a:t>
            </a:r>
          </a:p>
          <a:p xmlns:a="http://schemas.openxmlformats.org/drawingml/2006/main">
            <a:r>
              <a:t>      "TS 인사·민원 데이터의 연결 시 업무 권한과 AI 재사용 목적을 별도 속성으로 관리할 근거. 민감정보를 포함한 실제 사용자 데이터를 시험에 노출하지 않고 비허용 목적·회수 상황을 합성 자료로 재현하는 검수."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"재사용 요청",</a:t>
            </a:r>
          </a:p>
          <a:p xmlns:a="http://schemas.openxmlformats.org/drawingml/2006/main">
            <a:r>
              <a:t>          "layer": "이용 접점",</a:t>
            </a:r>
          </a:p>
          <a:p xmlns:a="http://schemas.openxmlformats.org/drawingml/2006/main">
            <a:r>
              <a:t>          "detail": "서비스 이용자·데이터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"목적·동의 범위",</a:t>
            </a:r>
          </a:p>
          <a:p xmlns:a="http://schemas.openxmlformats.org/drawingml/2006/main">
            <a:r>
              <a:t>          "layer": "업무 문맥",</a:t>
            </a:r>
          </a:p>
          <a:p xmlns:a="http://schemas.openxmlformats.org/drawingml/2006/main">
            <a:r>
              <a:t>          "detail": "원 서비스 동의와 재사용 목적의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"대상 자료 조회",</a:t>
            </a:r>
          </a:p>
          <a:p xmlns:a="http://schemas.openxmlformats.org/drawingml/2006/main">
            <a:r>
              <a:t>          "layer": "자료 조회",</a:t>
            </a:r>
          </a:p>
          <a:p xmlns:a="http://schemas.openxmlformats.org/drawingml/2006/main">
            <a:r>
              <a:t>          "detail": "대화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"학습·응답 분리",</a:t>
            </a:r>
          </a:p>
          <a:p xmlns:a="http://schemas.openxmlformats.org/drawingml/2006/main">
            <a:r>
              <a:t>          "layer": "핵심 처리",</a:t>
            </a:r>
          </a:p>
          <a:p xmlns:a="http://schemas.openxmlformats.org/drawingml/2006/main">
            <a:r>
              <a:t>          "detail": "학습용·응답용 데이터 경로의 별도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"목적 외 이용 차단",</a:t>
            </a:r>
          </a:p>
          <a:p xmlns:a="http://schemas.openxmlformats.org/drawingml/2006/main">
            <a:r>
              <a:t>          "layer": "결과 검증",</a:t>
            </a:r>
          </a:p>
          <a:p xmlns:a="http://schemas.openxmlformats.org/drawingml/2006/main">
            <a:r>
              <a:t>          "detail": "목적·동의 범위 대사와 삭제 전파",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"자료 관리자 심사",</a:t>
            </a:r>
          </a:p>
          <a:p xmlns:a="http://schemas.openxmlformats.org/drawingml/2006/main">
            <a:r>
              <a:t>          "layer": "사람 확인",</a:t>
            </a:r>
          </a:p>
          <a:p xmlns:a="http://schemas.openxmlformats.org/drawingml/2006/main">
            <a:r>
              <a:t>          "detail": "명시된 목적에 맞는 대화만 학습·검색·응답 경로에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"허용본·회수 처리",</a:t>
            </a:r>
          </a:p>
          <a:p xmlns:a="http://schemas.openxmlformats.org/drawingml/2006/main">
            <a:r>
              <a:t>          "layer": "업무 연결",</a:t>
            </a:r>
          </a:p>
          <a:p xmlns:a="http://schemas.openxmlformats.org/drawingml/2006/main">
            <a:r>
              <a:t>          "detail": "비허용 데이터 차단 및 기존 복제본 회수",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"잔존 데이터 검사",</a:t>
            </a:r>
          </a:p>
          <a:p xmlns:a="http://schemas.openxmlformats.org/drawingml/2006/main">
            <a:r>
              <a:t>          "layer": "운영 관측",</a:t>
            </a:r>
          </a:p>
          <a:p xmlns:a="http://schemas.openxmlformats.org/drawingml/2006/main">
            <a:r>
              <a:t>          "detail": "삭제 이후 학습·검색·출력 경로의 잔존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 서비스 대화",</a:t>
            </a:r>
          </a:p>
          <a:p xmlns:a="http://schemas.openxmlformats.org/drawingml/2006/main">
            <a:r>
              <a:t>          "layer": "데이터 원천",</a:t>
            </a:r>
          </a:p>
          <a:p xmlns:a="http://schemas.openxmlformats.org/drawingml/2006/main">
            <a:r>
              <a:t>          "detail": "대화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"개인정보 태깅",</a:t>
            </a:r>
          </a:p>
          <a:p xmlns:a="http://schemas.openxmlformats.org/drawingml/2006/main">
            <a:r>
              <a:t>          "layer": "준비·갱신",</a:t>
            </a:r>
          </a:p>
          <a:p xmlns:a="http://schemas.openxmlformats.org/drawingml/2006/main">
            <a:r>
              <a:t>          "detail": "원 대화의 개인정보·목적·보유기간 태깅",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"복제본·판본 목록",</a:t>
            </a:r>
          </a:p>
          <a:p xmlns:a="http://schemas.openxmlformats.org/drawingml/2006/main">
            <a:r>
              <a:t>          "layer": "상태·지식 저장",</a:t>
            </a:r>
          </a:p>
          <a:p xmlns:a="http://schemas.openxmlformats.org/drawingml/2006/main">
            <a:r>
              <a:t>          "detail": "목적별 허용/차단 결과와 원천·색인·캐시 삭제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"삭제·보유정책",</a:t>
            </a:r>
          </a:p>
          <a:p xmlns:a="http://schemas.openxmlformats.org/drawingml/2006/main">
            <a:r>
              <a:t>          "layer": "권한·정책",</a:t>
            </a:r>
          </a:p>
          <a:p xmlns:a="http://schemas.openxmlformats.org/drawingml/2006/main">
            <a:r>
              <a:t>          "detail": "동의 철회·다른 서비스 자료·복제된 삭제 대상",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"원 서비스 대화 → 목적 외 재사용 → 학습·응답 DB → 이루다 발화"</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"원 서비스 동의와 재사용 목적의 대조",</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"대화 원문",</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"삭제·보유정책",</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"학습·응답 자료",</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"학습·응답 자료",</a:t>
            </a:r>
          </a:p>
          <a:p xmlns:a="http://schemas.openxmlformats.org/drawingml/2006/main">
            <a:r>
              <a:t>          "check": "동의 철회·다른 서비스 자료·복제된 삭제 대상"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"생성 발화",</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"대화 데이터의 목적 외 활용 실패 분석 / 수집 목적·학습·응답 재사용·삭제·회수",</a:t>
            </a:r>
          </a:p>
          <a:p xmlns:a="http://schemas.openxmlformats.org/drawingml/2006/main">
            <a:r>
              <a:t>        "extension": "인사·민원 데이터의 목적·보유기간·접근정책을 별도 속성으로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"동의 철회·다른 서비스 자료·복제된 삭제 대상",</a:t>
            </a:r>
          </a:p>
          <a:p xmlns:a="http://schemas.openxmlformats.org/drawingml/2006/main">
            <a:r>
              <a:t>        "hold": "목적·동의 범위 대사와 삭제 전파",</a:t>
            </a:r>
          </a:p>
          <a:p xmlns:a="http://schemas.openxmlformats.org/drawingml/2006/main">
            <a:r>
              <a:t>        "recovery": "삭제 이후 학습·검색·출력 경로의 잔존 검사",</a:t>
            </a:r>
          </a:p>
          <a:p xmlns:a="http://schemas.openxmlformats.org/drawingml/2006/main">
            <a:r>
              <a:t>        "evidence": "목적별 허용/차단 결과와 원천·색인·캐시 삭제 대사"</a:t>
            </a:r>
          </a:p>
          <a:p xmlns:a="http://schemas.openxmlformats.org/drawingml/2006/main">
            <a:r>
              <a:t>      },</a:t>
            </a:r>
          </a:p>
          <a:p xmlns:a="http://schemas.openxmlformats.org/drawingml/2006/main">
            <a:r>
              <a:t>      "data": {</a:t>
            </a:r>
          </a:p>
          <a:p xmlns:a="http://schemas.openxmlformats.org/drawingml/2006/main">
            <a:r>
              <a:t>        "source": "대화 데이터",</a:t>
            </a:r>
          </a:p>
          <a:p xmlns:a="http://schemas.openxmlformats.org/drawingml/2006/main">
            <a:r>
              <a:t>        "prepare": "원 대화의 개인정보·목적·보유기간 태깅",</a:t>
            </a:r>
          </a:p>
          <a:p xmlns:a="http://schemas.openxmlformats.org/drawingml/2006/main">
            <a:r>
              <a:t>        "output": "대화 원문",</a:t>
            </a:r>
          </a:p>
          <a:p xmlns:a="http://schemas.openxmlformats.org/drawingml/2006/main">
            <a:r>
              <a:t>        "refresh": "삭제 이후 학습·검색·출력 경로의 잔존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"AX03",</a:t>
            </a:r>
          </a:p>
          <a:p xmlns:a="http://schemas.openxmlformats.org/drawingml/2006/main">
            <a:r>
              <a:t>    "success": [</a:t>
            </a:r>
          </a:p>
          <a:p xmlns:a="http://schemas.openxmlformats.org/drawingml/2006/main">
            <a:r>
              <a:t>      "수집 목적별 데이터 분리",</a:t>
            </a:r>
          </a:p>
          <a:p xmlns:a="http://schemas.openxmlformats.org/drawingml/2006/main">
            <a:r>
              <a:t>      "이용 동의·삭제 요청의 재사용 경로 반영"</a:t>
            </a:r>
          </a:p>
          <a:p xmlns:a="http://schemas.openxmlformats.org/drawingml/2006/main">
            <a:r>
              <a:t>    ],</a:t>
            </a:r>
          </a:p>
          <a:p xmlns:a="http://schemas.openxmlformats.org/drawingml/2006/main">
            <a:r>
              <a:t>    "risks": [</a:t>
            </a:r>
          </a:p>
          <a:p xmlns:a="http://schemas.openxmlformats.org/drawingml/2006/main">
            <a:r>
              <a:t>      "다른 서비스 대화의 목적 외 이용",</a:t>
            </a:r>
          </a:p>
          <a:p xmlns:a="http://schemas.openxmlformats.org/drawingml/2006/main">
            <a:r>
              <a:t>      "학습·응답 경로의 개인정보 통제 부족"</a:t>
            </a:r>
          </a:p>
          <a:p xmlns:a="http://schemas.openxmlformats.org/drawingml/2006/main">
            <a:r>
              <a:t>    ],</a:t>
            </a:r>
          </a:p>
          <a:p xmlns:a="http://schemas.openxmlformats.org/drawingml/2006/main">
            <a:r>
              <a:t>    "architecture": [</a:t>
            </a:r>
          </a:p>
          <a:p xmlns:a="http://schemas.openxmlformats.org/drawingml/2006/main">
            <a:r>
              <a:t>      "원 서비스 대화",</a:t>
            </a:r>
          </a:p>
          <a:p xmlns:a="http://schemas.openxmlformats.org/drawingml/2006/main">
            <a:r>
              <a:t>      "학습·응답 처리",</a:t>
            </a:r>
          </a:p>
          <a:p xmlns:a="http://schemas.openxmlformats.org/drawingml/2006/main">
            <a:r>
              <a:t>      "대화 데이터",</a:t>
            </a:r>
          </a:p>
          <a:p xmlns:a="http://schemas.openxmlformats.org/drawingml/2006/main">
            <a:r>
              <a:t>      "챗봇 이용자"</a:t>
            </a:r>
          </a:p>
          <a:p xmlns:a="http://schemas.openxmlformats.org/drawingml/2006/main">
            <a:r>
              <a:t>    ],</a:t>
            </a:r>
          </a:p>
          <a:p xmlns:a="http://schemas.openxmlformats.org/drawingml/2006/main">
            <a:r>
              <a:t>    "transfers": [</a:t>
            </a:r>
          </a:p>
          <a:p xmlns:a="http://schemas.openxmlformats.org/drawingml/2006/main">
            <a:r>
              <a:t>      "대화 원문",</a:t>
            </a:r>
          </a:p>
          <a:p xmlns:a="http://schemas.openxmlformats.org/drawingml/2006/main">
            <a:r>
              <a:t>      "재사용 대상",</a:t>
            </a:r>
          </a:p>
          <a:p xmlns:a="http://schemas.openxmlformats.org/drawingml/2006/main">
            <a:r>
              <a:t>      "학습·응답 자료",</a:t>
            </a:r>
          </a:p>
          <a:p xmlns:a="http://schemas.openxmlformats.org/drawingml/2006/main">
            <a:r>
              <a:t>      "생성 발화"</a:t>
            </a:r>
          </a:p>
          <a:p xmlns:a="http://schemas.openxmlformats.org/drawingml/2006/main">
            <a:r>
              <a:t>    ],</a:t>
            </a:r>
          </a:p>
          <a:p xmlns:a="http://schemas.openxmlformats.org/drawingml/2006/main">
            <a:r>
              <a:t>    "control": "목적·동의 범위 대사와 삭제 전파",</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개인정보보호위원회 · 이루다 조사 결과 https://www.korea.kr/news/policyNewsView.do?newsId=156449232</a:t>
            </a:r>
          </a:p>
          <a:p xmlns:a="http://schemas.openxmlformats.org/drawingml/2006/main">
            <a:r>
              <a:t>홈페이지 https://heen1987-ops.github.io/TS-business-Plan-001/index.html?view=casebook&amp;case=AX03</a:t>
            </a:r>
          </a:p>
          <a:p xmlns:a="http://schemas.openxmlformats.org/drawingml/2006/main">
            <a:r>
              <a:t>한계: 2021년 조사 대상 행위 기준 · 후속 서비스 전체에 대한 평가 아님</a:t>
            </a:r>
          </a:p>
          <a:p xmlns:a="http://schemas.openxmlformats.org/drawingml/2006/main">
            <a:r>
              <a:t>재발 방지 조건: 수집 목적별 데이터 분리 / 이용 동의·삭제 요청의 재사용 경로 반영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"AX03",</a:t>
            </a:r>
          </a:p>
          <a:p xmlns:a="http://schemas.openxmlformats.org/drawingml/2006/main">
            <a:r>
              <a:t>    "title": "이루다 개인정보 처리",</a:t>
            </a:r>
          </a:p>
          <a:p xmlns:a="http://schemas.openxmlformats.org/drawingml/2006/main">
            <a:r>
              <a:t>    "region": "국내",</a:t>
            </a:r>
          </a:p>
          <a:p xmlns:a="http://schemas.openxmlformats.org/drawingml/2006/main">
            <a:r>
              <a:t>    "country": "대한민국",</a:t>
            </a:r>
          </a:p>
          <a:p xmlns:a="http://schemas.openxmlformats.org/drawingml/2006/main">
            <a:r>
              <a:t>    "result": "실패",</a:t>
            </a:r>
          </a:p>
          <a:p xmlns:a="http://schemas.openxmlformats.org/drawingml/2006/main">
            <a:r>
              <a:t>    "kind": "학습·응답 데이터 통제",</a:t>
            </a:r>
          </a:p>
          <a:p xmlns:a="http://schemas.openxmlformats.org/drawingml/2006/main">
            <a:r>
              <a:t>    "period": "2021 조사",</a:t>
            </a:r>
          </a:p>
          <a:p xmlns:a="http://schemas.openxmlformats.org/drawingml/2006/main">
            <a:r>
              <a:t>    "sources": [</a:t>
            </a:r>
          </a:p>
          <a:p xmlns:a="http://schemas.openxmlformats.org/drawingml/2006/main">
            <a:r>
              <a:t>      "S03"</a:t>
            </a:r>
          </a:p>
          <a:p xmlns:a="http://schemas.openxmlformats.org/drawingml/2006/main">
            <a:r>
              <a:t>    ],</a:t>
            </a:r>
          </a:p>
          <a:p xmlns:a="http://schemas.openxmlformats.org/drawingml/2006/main">
            <a:r>
              <a:t>    "keywords": [</a:t>
            </a:r>
          </a:p>
          <a:p xmlns:a="http://schemas.openxmlformats.org/drawingml/2006/main">
            <a:r>
              <a:t>      "개인정보",</a:t>
            </a:r>
          </a:p>
          <a:p xmlns:a="http://schemas.openxmlformats.org/drawingml/2006/main">
            <a:r>
              <a:t>      "목적 제한",</a:t>
            </a:r>
          </a:p>
          <a:p xmlns:a="http://schemas.openxmlformats.org/drawingml/2006/main">
            <a:r>
              <a:t>      "데이터 재사용",</a:t>
            </a:r>
          </a:p>
          <a:p xmlns:a="http://schemas.openxmlformats.org/drawingml/2006/main">
            <a:r>
              <a:t>      "책임"</a:t>
            </a:r>
          </a:p>
          <a:p xmlns:a="http://schemas.openxmlformats.org/drawingml/2006/main">
            <a:r>
              <a:t>    ],</a:t>
            </a:r>
          </a:p>
          <a:p xmlns:a="http://schemas.openxmlformats.org/drawingml/2006/main">
            <a:r>
              <a:t>    "fact": "다른 서비스에서 수집한 대화의 목적 외 학습·운영 이용 등에 대한 개인정보보호위원회 제재",</a:t>
            </a:r>
          </a:p>
          <a:p xmlns:a="http://schemas.openxmlformats.org/drawingml/2006/main">
            <a:r>
              <a:t>    "limit": "2021년 조사 대상 행위 기준 · 후속 서비스 전체에 대한 평가 아님",</a:t>
            </a:r>
          </a:p>
          <a:p xmlns:a="http://schemas.openxmlformats.org/drawingml/2006/main">
            <a:r>
              <a:t>    "flow": [</a:t>
            </a:r>
          </a:p>
          <a:p xmlns:a="http://schemas.openxmlformats.org/drawingml/2006/main">
            <a:r>
              <a:t>      "원 서비스 대화",</a:t>
            </a:r>
          </a:p>
          <a:p xmlns:a="http://schemas.openxmlformats.org/drawingml/2006/main">
            <a:r>
              <a:t>      "목적 외 재사용",</a:t>
            </a:r>
          </a:p>
          <a:p xmlns:a="http://schemas.openxmlformats.org/drawingml/2006/main">
            <a:r>
              <a:t>      "학습·응답 DB",</a:t>
            </a:r>
          </a:p>
          <a:p xmlns:a="http://schemas.openxmlformats.org/drawingml/2006/main">
            <a:r>
              <a:t>      "이루다 발화"</a:t>
            </a:r>
          </a:p>
          <a:p xmlns:a="http://schemas.openxmlformats.org/drawingml/2006/main">
            <a:r>
              <a:t>    ],</a:t>
            </a:r>
          </a:p>
          <a:p xmlns:a="http://schemas.openxmlformats.org/drawingml/2006/main">
            <a:r>
              <a:t>    "flowBasis": "조사에서 확인된 처리 관계 요약 · 내부 구현 상세 미공개",</a:t>
            </a:r>
          </a:p>
          <a:p xmlns:a="http://schemas.openxmlformats.org/drawingml/2006/main">
            <a:r>
              <a:t>    "lesson":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"수집 목적 태그 / 학습·검색·출력별 정책 / 삭제·회수 전파",</a:t>
            </a:r>
          </a:p>
          <a:p xmlns:a="http://schemas.openxmlformats.org/drawingml/2006/main">
            <a:r>
              <a:t>    "test": "목적 외 입력 거부·권한 회수 후 검색 및 캐시 노출 차단",</a:t>
            </a:r>
          </a:p>
          <a:p xmlns:a="http://schemas.openxmlformats.org/drawingml/2006/main">
            <a:r>
              <a:t>    "metric": "필수 거부셋 노출 건수 / 삭제 전파 지연"</a:t>
            </a:r>
          </a:p>
          <a:p xmlns:a="http://schemas.openxmlformats.org/drawingml/2006/main">
            <a:r>
              <a:t>  },</a:t>
            </a:r>
          </a:p>
          <a:p xmlns:a="http://schemas.openxmlformats.org/drawingml/2006/main">
            <a:r>
              <a:t>  "design": {</a:t>
            </a:r>
          </a:p>
          <a:p xmlns:a="http://schemas.openxmlformats.org/drawingml/2006/main">
            <a:r>
              <a:t>    "id": "AX03",</a:t>
            </a:r>
          </a:p>
          <a:p xmlns:a="http://schemas.openxmlformats.org/drawingml/2006/main">
            <a:r>
              <a:t>    "canonicalId": "AX03",</a:t>
            </a:r>
          </a:p>
          <a:p xmlns:a="http://schemas.openxmlformats.org/drawingml/2006/main">
            <a:r>
              <a:t>    "purpose": "대화 데이터의 목적 외 활용 실패 분석",</a:t>
            </a:r>
          </a:p>
          <a:p xmlns:a="http://schemas.openxmlformats.org/drawingml/2006/main">
            <a:r>
              <a:t>    "users": "서비스 이용자·데이터 관리자",</a:t>
            </a:r>
          </a:p>
          <a:p xmlns:a="http://schemas.openxmlformats.org/drawingml/2006/main">
            <a:r>
              <a:t>    "scope": [</a:t>
            </a:r>
          </a:p>
          <a:p xmlns:a="http://schemas.openxmlformats.org/drawingml/2006/main">
            <a:r>
              <a:t>      "수집 목적",</a:t>
            </a:r>
          </a:p>
          <a:p xmlns:a="http://schemas.openxmlformats.org/drawingml/2006/main">
            <a:r>
              <a:t>      "학습·응답 재사용",</a:t>
            </a:r>
          </a:p>
          <a:p xmlns:a="http://schemas.openxmlformats.org/drawingml/2006/main">
            <a:r>
              <a:t>      "삭제·회수"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"원 서비스 대화",</a:t>
            </a:r>
          </a:p>
          <a:p xmlns:a="http://schemas.openxmlformats.org/drawingml/2006/main">
            <a:r>
              <a:t>        "detail": "원 서비스 동의와 재사용 목적의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"수집 목적 / 학습·응답 재사용 / 삭제·회수",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"학습·응답 처리",</a:t>
            </a:r>
          </a:p>
          <a:p xmlns:a="http://schemas.openxmlformats.org/drawingml/2006/main">
            <a:r>
              <a:t>        "detail": "학습용·응답용 데이터 경로의 별도 심사",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"챗봇 이용자",</a:t>
            </a:r>
          </a:p>
          <a:p xmlns:a="http://schemas.openxmlformats.org/drawingml/2006/main">
            <a:r>
              <a:t>        "detail": "비허용 데이터 차단 및 기존 복제본 회수",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 데이터",</a:t>
            </a:r>
          </a:p>
          <a:p xmlns:a="http://schemas.openxmlformats.org/drawingml/2006/main">
            <a:r>
              <a:t>        "detail": "원 대화의 개인정보·목적·보유기간 태깅",</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"삭제 이후 학습·검색·출력 경로의 잔존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"원 서비스 대화",</a:t>
            </a:r>
          </a:p>
          <a:p xmlns:a="http://schemas.openxmlformats.org/drawingml/2006/main">
            <a:r>
              <a:t>        "input": "원 서비스 동의와 재사용 목적의 대조",</a:t>
            </a:r>
          </a:p>
          <a:p xmlns:a="http://schemas.openxmlformats.org/drawingml/2006/main">
            <a:r>
              <a:t>        "process": "원 대화의 개인정보·목적·보유기간 태깅",</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"title": "목적 외 재사용",</a:t>
            </a:r>
          </a:p>
          <a:p xmlns:a="http://schemas.openxmlformats.org/drawingml/2006/main">
            <a:r>
              <a:t>        "input": "대화 원문",</a:t>
            </a:r>
          </a:p>
          <a:p xmlns:a="http://schemas.openxmlformats.org/drawingml/2006/main">
            <a:r>
              <a:t>        "process": "학습용·응답용 데이터 경로의 별도 심사",</a:t>
            </a:r>
          </a:p>
          <a:p xmlns:a="http://schemas.openxmlformats.org/drawingml/2006/main">
            <a:r>
              <a:t>        "output": "재사용 대상"</a:t>
            </a:r>
          </a:p>
          <a:p xmlns:a="http://schemas.openxmlformats.org/drawingml/2006/main">
            <a:r>
              <a:t>      },</a:t>
            </a:r>
          </a:p>
          <a:p xmlns:a="http://schemas.openxmlformats.org/drawingml/2006/main">
            <a:r>
              <a:t>      {</a:t>
            </a:r>
          </a:p>
          <a:p xmlns:a="http://schemas.openxmlformats.org/drawingml/2006/main">
            <a:r>
              <a:t>        "title": "학습·응답 DB",</a:t>
            </a:r>
          </a:p>
          <a:p xmlns:a="http://schemas.openxmlformats.org/drawingml/2006/main">
            <a:r>
              <a:t>        "input": "재사용 대상",</a:t>
            </a:r>
          </a:p>
          <a:p xmlns:a="http://schemas.openxmlformats.org/drawingml/2006/main">
            <a:r>
              <a:t>        "process": "목적·동의 범위 대사와 삭제 전파",</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"title": "이루다 발화",</a:t>
            </a:r>
          </a:p>
          <a:p xmlns:a="http://schemas.openxmlformats.org/drawingml/2006/main">
            <a:r>
              <a:t>        "input": "학습·응답 자료",</a:t>
            </a:r>
          </a:p>
          <a:p xmlns:a="http://schemas.openxmlformats.org/drawingml/2006/main">
            <a:r>
              <a:t>        "process":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"명시된 목적에 맞는 대화만 학습·검색·응답 경로에 제공",</a:t>
            </a:r>
          </a:p>
          <a:p xmlns:a="http://schemas.openxmlformats.org/drawingml/2006/main">
            <a:r>
              <a:t>      "exception": "동의 철회·다른 서비스 자료·복제된 삭제 대상",</a:t>
            </a:r>
          </a:p>
          <a:p xmlns:a="http://schemas.openxmlformats.org/drawingml/2006/main">
            <a:r>
              <a:t>      "evidence": "목적별 허용/차단 결과와 원천·색인·캐시 삭제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"서비스 이용자·데이터 관리자",</a:t>
            </a:r>
          </a:p>
          <a:p xmlns:a="http://schemas.openxmlformats.org/drawingml/2006/main">
            <a:r>
              <a:t>          "processing": "원 서비스 동의와 재사용 목적의 대조",</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 데이터",</a:t>
            </a:r>
          </a:p>
          <a:p xmlns:a="http://schemas.openxmlformats.org/drawingml/2006/main">
            <a:r>
              <a:t>          "processing": "원 대화의 개인정보·목적·보유기간 태깅",</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"대화 원문",</a:t>
            </a:r>
          </a:p>
          <a:p xmlns:a="http://schemas.openxmlformats.org/drawingml/2006/main">
            <a:r>
              <a:t>          "processing": "학습용·응답용 데이터 경로의 별도 심사",</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"학습·응답 자료",</a:t>
            </a:r>
          </a:p>
          <a:p xmlns:a="http://schemas.openxmlformats.org/drawingml/2006/main">
            <a:r>
              <a:t>          "processing":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"삭제 이후 학습·검색·출력 경로의 잔존 검사",</a:t>
            </a:r>
          </a:p>
          <a:p xmlns:a="http://schemas.openxmlformats.org/drawingml/2006/main">
            <a:r>
              <a:t>          "output": "목적별 허용/차단 결과와 원천·색인·캐시 삭제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"삭제 이후 학습·검색·출력 경로의 잔존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"S03",</a:t>
            </a:r>
          </a:p>
          <a:p xmlns:a="http://schemas.openxmlformats.org/drawingml/2006/main">
            <a:r>
              <a:t>        "title": "개인정보보호위원회 · 이루다 조사 결과",</a:t>
            </a:r>
          </a:p>
          <a:p xmlns:a="http://schemas.openxmlformats.org/drawingml/2006/main">
            <a:r>
              <a:t>        "url": "https://www.korea.kr/news/policyNewsView.do?newsId=156449232",</a:t>
            </a:r>
          </a:p>
          <a:p xmlns:a="http://schemas.openxmlformats.org/drawingml/2006/main">
            <a:r>
              <a:t>        "published": "2021-04-28",</a:t>
            </a:r>
          </a:p>
          <a:p xmlns:a="http://schemas.openxmlformats.org/drawingml/2006/main">
            <a:r>
              <a:t>        "level": "감독기관 조사",</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"sourceDetail": null,</a:t>
            </a:r>
          </a:p>
          <a:p xmlns:a="http://schemas.openxmlformats.org/drawingml/2006/main">
            <a:r>
              <a:t>    "narrative": [</a:t>
            </a:r>
          </a:p>
          <a:p xmlns:a="http://schemas.openxmlformats.org/drawingml/2006/main">
            <a:r>
              <a:t>      "다른 서비스에서 수집한 대화를 AI 학습·운영에 활용하는 과정의 개인정보 통제 실패 사례. 자료를 보유한다는 사실과 해당 목적의 AI 이용 권한이 일치하지 않는 문제.",</a:t>
            </a:r>
          </a:p>
          <a:p xmlns:a="http://schemas.openxmlformats.org/drawingml/2006/main">
            <a:r>
              <a:t>      "원 수집 목적·동의 범위·보유기간을 데이터에 연결하고, 학습용·검색용·출력용 경로마다 허용 여부를 판정하는 CCK 재발 방지 설계. 삭제 요청은 원본뿐 아니라 색인·캐시·복제본까지 추적하는 구조.",</a:t>
            </a:r>
          </a:p>
          <a:p xmlns:a="http://schemas.openxmlformats.org/drawingml/2006/main">
            <a:r>
              <a:t>      "TS 인사·민원 데이터의 연결 시 업무 권한과 AI 재사용 목적을 별도 속성으로 관리할 근거. 민감정보를 포함한 실제 사용자 데이터를 시험에 노출하지 않고 비허용 목적·회수 상황을 합성 자료로 재현하는 검수."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"재사용 요청",</a:t>
            </a:r>
          </a:p>
          <a:p xmlns:a="http://schemas.openxmlformats.org/drawingml/2006/main">
            <a:r>
              <a:t>          "layer": "이용 접점",</a:t>
            </a:r>
          </a:p>
          <a:p xmlns:a="http://schemas.openxmlformats.org/drawingml/2006/main">
            <a:r>
              <a:t>          "detail": "서비스 이용자·데이터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"목적·동의 범위",</a:t>
            </a:r>
          </a:p>
          <a:p xmlns:a="http://schemas.openxmlformats.org/drawingml/2006/main">
            <a:r>
              <a:t>          "layer": "업무 문맥",</a:t>
            </a:r>
          </a:p>
          <a:p xmlns:a="http://schemas.openxmlformats.org/drawingml/2006/main">
            <a:r>
              <a:t>          "detail": "원 서비스 동의와 재사용 목적의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"대상 자료 조회",</a:t>
            </a:r>
          </a:p>
          <a:p xmlns:a="http://schemas.openxmlformats.org/drawingml/2006/main">
            <a:r>
              <a:t>          "layer": "자료 조회",</a:t>
            </a:r>
          </a:p>
          <a:p xmlns:a="http://schemas.openxmlformats.org/drawingml/2006/main">
            <a:r>
              <a:t>          "detail": "대화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"학습·응답 분리",</a:t>
            </a:r>
          </a:p>
          <a:p xmlns:a="http://schemas.openxmlformats.org/drawingml/2006/main">
            <a:r>
              <a:t>          "layer": "핵심 처리",</a:t>
            </a:r>
          </a:p>
          <a:p xmlns:a="http://schemas.openxmlformats.org/drawingml/2006/main">
            <a:r>
              <a:t>          "detail": "학습용·응답용 데이터 경로의 별도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"목적 외 이용 차단",</a:t>
            </a:r>
          </a:p>
          <a:p xmlns:a="http://schemas.openxmlformats.org/drawingml/2006/main">
            <a:r>
              <a:t>          "layer": "결과 검증",</a:t>
            </a:r>
          </a:p>
          <a:p xmlns:a="http://schemas.openxmlformats.org/drawingml/2006/main">
            <a:r>
              <a:t>          "detail": "목적·동의 범위 대사와 삭제 전파",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"자료 관리자 심사",</a:t>
            </a:r>
          </a:p>
          <a:p xmlns:a="http://schemas.openxmlformats.org/drawingml/2006/main">
            <a:r>
              <a:t>          "layer": "사람 확인",</a:t>
            </a:r>
          </a:p>
          <a:p xmlns:a="http://schemas.openxmlformats.org/drawingml/2006/main">
            <a:r>
              <a:t>          "detail": "명시된 목적에 맞는 대화만 학습·검색·응답 경로에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"허용본·회수 처리",</a:t>
            </a:r>
          </a:p>
          <a:p xmlns:a="http://schemas.openxmlformats.org/drawingml/2006/main">
            <a:r>
              <a:t>          "layer": "업무 연결",</a:t>
            </a:r>
          </a:p>
          <a:p xmlns:a="http://schemas.openxmlformats.org/drawingml/2006/main">
            <a:r>
              <a:t>          "detail": "비허용 데이터 차단 및 기존 복제본 회수",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"잔존 데이터 검사",</a:t>
            </a:r>
          </a:p>
          <a:p xmlns:a="http://schemas.openxmlformats.org/drawingml/2006/main">
            <a:r>
              <a:t>          "layer": "운영 관측",</a:t>
            </a:r>
          </a:p>
          <a:p xmlns:a="http://schemas.openxmlformats.org/drawingml/2006/main">
            <a:r>
              <a:t>          "detail": "삭제 이후 학습·검색·출력 경로의 잔존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 서비스 대화",</a:t>
            </a:r>
          </a:p>
          <a:p xmlns:a="http://schemas.openxmlformats.org/drawingml/2006/main">
            <a:r>
              <a:t>          "layer": "데이터 원천",</a:t>
            </a:r>
          </a:p>
          <a:p xmlns:a="http://schemas.openxmlformats.org/drawingml/2006/main">
            <a:r>
              <a:t>          "detail": "대화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"개인정보 태깅",</a:t>
            </a:r>
          </a:p>
          <a:p xmlns:a="http://schemas.openxmlformats.org/drawingml/2006/main">
            <a:r>
              <a:t>          "layer": "준비·갱신",</a:t>
            </a:r>
          </a:p>
          <a:p xmlns:a="http://schemas.openxmlformats.org/drawingml/2006/main">
            <a:r>
              <a:t>          "detail": "원 대화의 개인정보·목적·보유기간 태깅",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"복제본·판본 목록",</a:t>
            </a:r>
          </a:p>
          <a:p xmlns:a="http://schemas.openxmlformats.org/drawingml/2006/main">
            <a:r>
              <a:t>          "layer": "상태·지식 저장",</a:t>
            </a:r>
          </a:p>
          <a:p xmlns:a="http://schemas.openxmlformats.org/drawingml/2006/main">
            <a:r>
              <a:t>          "detail": "목적별 허용/차단 결과와 원천·색인·캐시 삭제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"삭제·보유정책",</a:t>
            </a:r>
          </a:p>
          <a:p xmlns:a="http://schemas.openxmlformats.org/drawingml/2006/main">
            <a:r>
              <a:t>          "layer": "권한·정책",</a:t>
            </a:r>
          </a:p>
          <a:p xmlns:a="http://schemas.openxmlformats.org/drawingml/2006/main">
            <a:r>
              <a:t>          "detail": "동의 철회·다른 서비스 자료·복제된 삭제 대상",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"원 서비스 대화 → 목적 외 재사용 → 학습·응답 DB → 이루다 발화"</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"원 서비스 동의와 재사용 목적의 대조",</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"대화 원문",</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"삭제·보유정책",</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"학습·응답 자료",</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"학습·응답 자료",</a:t>
            </a:r>
          </a:p>
          <a:p xmlns:a="http://schemas.openxmlformats.org/drawingml/2006/main">
            <a:r>
              <a:t>          "check": "동의 철회·다른 서비스 자료·복제된 삭제 대상"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"생성 발화",</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"대화 데이터의 목적 외 활용 실패 분석 / 수집 목적·학습·응답 재사용·삭제·회수",</a:t>
            </a:r>
          </a:p>
          <a:p xmlns:a="http://schemas.openxmlformats.org/drawingml/2006/main">
            <a:r>
              <a:t>        "extension": "인사·민원 데이터의 목적·보유기간·접근정책을 별도 속성으로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"동의 철회·다른 서비스 자료·복제된 삭제 대상",</a:t>
            </a:r>
          </a:p>
          <a:p xmlns:a="http://schemas.openxmlformats.org/drawingml/2006/main">
            <a:r>
              <a:t>        "hold": "목적·동의 범위 대사와 삭제 전파",</a:t>
            </a:r>
          </a:p>
          <a:p xmlns:a="http://schemas.openxmlformats.org/drawingml/2006/main">
            <a:r>
              <a:t>        "recovery": "삭제 이후 학습·검색·출력 경로의 잔존 검사",</a:t>
            </a:r>
          </a:p>
          <a:p xmlns:a="http://schemas.openxmlformats.org/drawingml/2006/main">
            <a:r>
              <a:t>        "evidence": "목적별 허용/차단 결과와 원천·색인·캐시 삭제 대사"</a:t>
            </a:r>
          </a:p>
          <a:p xmlns:a="http://schemas.openxmlformats.org/drawingml/2006/main">
            <a:r>
              <a:t>      },</a:t>
            </a:r>
          </a:p>
          <a:p xmlns:a="http://schemas.openxmlformats.org/drawingml/2006/main">
            <a:r>
              <a:t>      "data": {</a:t>
            </a:r>
          </a:p>
          <a:p xmlns:a="http://schemas.openxmlformats.org/drawingml/2006/main">
            <a:r>
              <a:t>        "source": "대화 데이터",</a:t>
            </a:r>
          </a:p>
          <a:p xmlns:a="http://schemas.openxmlformats.org/drawingml/2006/main">
            <a:r>
              <a:t>        "prepare": "원 대화의 개인정보·목적·보유기간 태깅",</a:t>
            </a:r>
          </a:p>
          <a:p xmlns:a="http://schemas.openxmlformats.org/drawingml/2006/main">
            <a:r>
              <a:t>        "output": "대화 원문",</a:t>
            </a:r>
          </a:p>
          <a:p xmlns:a="http://schemas.openxmlformats.org/drawingml/2006/main">
            <a:r>
              <a:t>        "refresh": "삭제 이후 학습·검색·출력 경로의 잔존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"AX03",</a:t>
            </a:r>
          </a:p>
          <a:p xmlns:a="http://schemas.openxmlformats.org/drawingml/2006/main">
            <a:r>
              <a:t>    "success": [</a:t>
            </a:r>
          </a:p>
          <a:p xmlns:a="http://schemas.openxmlformats.org/drawingml/2006/main">
            <a:r>
              <a:t>      "수집 목적별 데이터 분리",</a:t>
            </a:r>
          </a:p>
          <a:p xmlns:a="http://schemas.openxmlformats.org/drawingml/2006/main">
            <a:r>
              <a:t>      "이용 동의·삭제 요청의 재사용 경로 반영"</a:t>
            </a:r>
          </a:p>
          <a:p xmlns:a="http://schemas.openxmlformats.org/drawingml/2006/main">
            <a:r>
              <a:t>    ],</a:t>
            </a:r>
          </a:p>
          <a:p xmlns:a="http://schemas.openxmlformats.org/drawingml/2006/main">
            <a:r>
              <a:t>    "risks": [</a:t>
            </a:r>
          </a:p>
          <a:p xmlns:a="http://schemas.openxmlformats.org/drawingml/2006/main">
            <a:r>
              <a:t>      "다른 서비스 대화의 목적 외 이용",</a:t>
            </a:r>
          </a:p>
          <a:p xmlns:a="http://schemas.openxmlformats.org/drawingml/2006/main">
            <a:r>
              <a:t>      "학습·응답 경로의 개인정보 통제 부족"</a:t>
            </a:r>
          </a:p>
          <a:p xmlns:a="http://schemas.openxmlformats.org/drawingml/2006/main">
            <a:r>
              <a:t>    ],</a:t>
            </a:r>
          </a:p>
          <a:p xmlns:a="http://schemas.openxmlformats.org/drawingml/2006/main">
            <a:r>
              <a:t>    "architecture": [</a:t>
            </a:r>
          </a:p>
          <a:p xmlns:a="http://schemas.openxmlformats.org/drawingml/2006/main">
            <a:r>
              <a:t>      "원 서비스 대화",</a:t>
            </a:r>
          </a:p>
          <a:p xmlns:a="http://schemas.openxmlformats.org/drawingml/2006/main">
            <a:r>
              <a:t>      "학습·응답 처리",</a:t>
            </a:r>
          </a:p>
          <a:p xmlns:a="http://schemas.openxmlformats.org/drawingml/2006/main">
            <a:r>
              <a:t>      "대화 데이터",</a:t>
            </a:r>
          </a:p>
          <a:p xmlns:a="http://schemas.openxmlformats.org/drawingml/2006/main">
            <a:r>
              <a:t>      "챗봇 이용자"</a:t>
            </a:r>
          </a:p>
          <a:p xmlns:a="http://schemas.openxmlformats.org/drawingml/2006/main">
            <a:r>
              <a:t>    ],</a:t>
            </a:r>
          </a:p>
          <a:p xmlns:a="http://schemas.openxmlformats.org/drawingml/2006/main">
            <a:r>
              <a:t>    "transfers": [</a:t>
            </a:r>
          </a:p>
          <a:p xmlns:a="http://schemas.openxmlformats.org/drawingml/2006/main">
            <a:r>
              <a:t>      "대화 원문",</a:t>
            </a:r>
          </a:p>
          <a:p xmlns:a="http://schemas.openxmlformats.org/drawingml/2006/main">
            <a:r>
              <a:t>      "재사용 대상",</a:t>
            </a:r>
          </a:p>
          <a:p xmlns:a="http://schemas.openxmlformats.org/drawingml/2006/main">
            <a:r>
              <a:t>      "학습·응답 자료",</a:t>
            </a:r>
          </a:p>
          <a:p xmlns:a="http://schemas.openxmlformats.org/drawingml/2006/main">
            <a:r>
              <a:t>      "생성 발화"</a:t>
            </a:r>
          </a:p>
          <a:p xmlns:a="http://schemas.openxmlformats.org/drawingml/2006/main">
            <a:r>
              <a:t>    ],</a:t>
            </a:r>
          </a:p>
          <a:p xmlns:a="http://schemas.openxmlformats.org/drawingml/2006/main">
            <a:r>
              <a:t>    "control": "목적·동의 범위 대사와 삭제 전파",</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개인정보보호위원회 · 이루다 조사 결과 https://www.korea.kr/news/policyNewsView.do?newsId=156449232</a:t>
            </a:r>
          </a:p>
          <a:p xmlns:a="http://schemas.openxmlformats.org/drawingml/2006/main">
            <a:r>
              <a:t>홈페이지 https://heen1987-ops.github.io/TS-business-Plan-001/index.html?view=casebook&amp;case=AX03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"AX03",</a:t>
            </a:r>
          </a:p>
          <a:p xmlns:a="http://schemas.openxmlformats.org/drawingml/2006/main">
            <a:r>
              <a:t>    "title": "이루다 개인정보 처리",</a:t>
            </a:r>
          </a:p>
          <a:p xmlns:a="http://schemas.openxmlformats.org/drawingml/2006/main">
            <a:r>
              <a:t>    "region": "국내",</a:t>
            </a:r>
          </a:p>
          <a:p xmlns:a="http://schemas.openxmlformats.org/drawingml/2006/main">
            <a:r>
              <a:t>    "country": "대한민국",</a:t>
            </a:r>
          </a:p>
          <a:p xmlns:a="http://schemas.openxmlformats.org/drawingml/2006/main">
            <a:r>
              <a:t>    "result": "실패",</a:t>
            </a:r>
          </a:p>
          <a:p xmlns:a="http://schemas.openxmlformats.org/drawingml/2006/main">
            <a:r>
              <a:t>    "kind": "학습·응답 데이터 통제",</a:t>
            </a:r>
          </a:p>
          <a:p xmlns:a="http://schemas.openxmlformats.org/drawingml/2006/main">
            <a:r>
              <a:t>    "period": "2021 조사",</a:t>
            </a:r>
          </a:p>
          <a:p xmlns:a="http://schemas.openxmlformats.org/drawingml/2006/main">
            <a:r>
              <a:t>    "sources": [</a:t>
            </a:r>
          </a:p>
          <a:p xmlns:a="http://schemas.openxmlformats.org/drawingml/2006/main">
            <a:r>
              <a:t>      "S03"</a:t>
            </a:r>
          </a:p>
          <a:p xmlns:a="http://schemas.openxmlformats.org/drawingml/2006/main">
            <a:r>
              <a:t>    ],</a:t>
            </a:r>
          </a:p>
          <a:p xmlns:a="http://schemas.openxmlformats.org/drawingml/2006/main">
            <a:r>
              <a:t>    "keywords": [</a:t>
            </a:r>
          </a:p>
          <a:p xmlns:a="http://schemas.openxmlformats.org/drawingml/2006/main">
            <a:r>
              <a:t>      "개인정보",</a:t>
            </a:r>
          </a:p>
          <a:p xmlns:a="http://schemas.openxmlformats.org/drawingml/2006/main">
            <a:r>
              <a:t>      "목적 제한",</a:t>
            </a:r>
          </a:p>
          <a:p xmlns:a="http://schemas.openxmlformats.org/drawingml/2006/main">
            <a:r>
              <a:t>      "데이터 재사용",</a:t>
            </a:r>
          </a:p>
          <a:p xmlns:a="http://schemas.openxmlformats.org/drawingml/2006/main">
            <a:r>
              <a:t>      "책임"</a:t>
            </a:r>
          </a:p>
          <a:p xmlns:a="http://schemas.openxmlformats.org/drawingml/2006/main">
            <a:r>
              <a:t>    ],</a:t>
            </a:r>
          </a:p>
          <a:p xmlns:a="http://schemas.openxmlformats.org/drawingml/2006/main">
            <a:r>
              <a:t>    "fact": "다른 서비스에서 수집한 대화의 목적 외 학습·운영 이용 등에 대한 개인정보보호위원회 제재",</a:t>
            </a:r>
          </a:p>
          <a:p xmlns:a="http://schemas.openxmlformats.org/drawingml/2006/main">
            <a:r>
              <a:t>    "limit": "2021년 조사 대상 행위 기준 · 후속 서비스 전체에 대한 평가 아님",</a:t>
            </a:r>
          </a:p>
          <a:p xmlns:a="http://schemas.openxmlformats.org/drawingml/2006/main">
            <a:r>
              <a:t>    "flow": [</a:t>
            </a:r>
          </a:p>
          <a:p xmlns:a="http://schemas.openxmlformats.org/drawingml/2006/main">
            <a:r>
              <a:t>      "원 서비스 대화",</a:t>
            </a:r>
          </a:p>
          <a:p xmlns:a="http://schemas.openxmlformats.org/drawingml/2006/main">
            <a:r>
              <a:t>      "목적 외 재사용",</a:t>
            </a:r>
          </a:p>
          <a:p xmlns:a="http://schemas.openxmlformats.org/drawingml/2006/main">
            <a:r>
              <a:t>      "학습·응답 DB",</a:t>
            </a:r>
          </a:p>
          <a:p xmlns:a="http://schemas.openxmlformats.org/drawingml/2006/main">
            <a:r>
              <a:t>      "이루다 발화"</a:t>
            </a:r>
          </a:p>
          <a:p xmlns:a="http://schemas.openxmlformats.org/drawingml/2006/main">
            <a:r>
              <a:t>    ],</a:t>
            </a:r>
          </a:p>
          <a:p xmlns:a="http://schemas.openxmlformats.org/drawingml/2006/main">
            <a:r>
              <a:t>    "flowBasis": "조사에서 확인된 처리 관계 요약 · 내부 구현 상세 미공개",</a:t>
            </a:r>
          </a:p>
          <a:p xmlns:a="http://schemas.openxmlformats.org/drawingml/2006/main">
            <a:r>
              <a:t>    "lesson":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"수집 목적 태그 / 학습·검색·출력별 정책 / 삭제·회수 전파",</a:t>
            </a:r>
          </a:p>
          <a:p xmlns:a="http://schemas.openxmlformats.org/drawingml/2006/main">
            <a:r>
              <a:t>    "test": "목적 외 입력 거부·권한 회수 후 검색 및 캐시 노출 차단",</a:t>
            </a:r>
          </a:p>
          <a:p xmlns:a="http://schemas.openxmlformats.org/drawingml/2006/main">
            <a:r>
              <a:t>    "metric": "필수 거부셋 노출 건수 / 삭제 전파 지연"</a:t>
            </a:r>
          </a:p>
          <a:p xmlns:a="http://schemas.openxmlformats.org/drawingml/2006/main">
            <a:r>
              <a:t>  },</a:t>
            </a:r>
          </a:p>
          <a:p xmlns:a="http://schemas.openxmlformats.org/drawingml/2006/main">
            <a:r>
              <a:t>  "design": {</a:t>
            </a:r>
          </a:p>
          <a:p xmlns:a="http://schemas.openxmlformats.org/drawingml/2006/main">
            <a:r>
              <a:t>    "id": "AX03",</a:t>
            </a:r>
          </a:p>
          <a:p xmlns:a="http://schemas.openxmlformats.org/drawingml/2006/main">
            <a:r>
              <a:t>    "canonicalId": "AX03",</a:t>
            </a:r>
          </a:p>
          <a:p xmlns:a="http://schemas.openxmlformats.org/drawingml/2006/main">
            <a:r>
              <a:t>    "purpose": "대화 데이터의 목적 외 활용 실패 분석",</a:t>
            </a:r>
          </a:p>
          <a:p xmlns:a="http://schemas.openxmlformats.org/drawingml/2006/main">
            <a:r>
              <a:t>    "users": "서비스 이용자·데이터 관리자",</a:t>
            </a:r>
          </a:p>
          <a:p xmlns:a="http://schemas.openxmlformats.org/drawingml/2006/main">
            <a:r>
              <a:t>    "scope": [</a:t>
            </a:r>
          </a:p>
          <a:p xmlns:a="http://schemas.openxmlformats.org/drawingml/2006/main">
            <a:r>
              <a:t>      "수집 목적",</a:t>
            </a:r>
          </a:p>
          <a:p xmlns:a="http://schemas.openxmlformats.org/drawingml/2006/main">
            <a:r>
              <a:t>      "학습·응답 재사용",</a:t>
            </a:r>
          </a:p>
          <a:p xmlns:a="http://schemas.openxmlformats.org/drawingml/2006/main">
            <a:r>
              <a:t>      "삭제·회수"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"원 서비스 대화",</a:t>
            </a:r>
          </a:p>
          <a:p xmlns:a="http://schemas.openxmlformats.org/drawingml/2006/main">
            <a:r>
              <a:t>        "detail": "원 서비스 동의와 재사용 목적의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"수집 목적 / 학습·응답 재사용 / 삭제·회수",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"학습·응답 처리",</a:t>
            </a:r>
          </a:p>
          <a:p xmlns:a="http://schemas.openxmlformats.org/drawingml/2006/main">
            <a:r>
              <a:t>        "detail": "학습용·응답용 데이터 경로의 별도 심사",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"챗봇 이용자",</a:t>
            </a:r>
          </a:p>
          <a:p xmlns:a="http://schemas.openxmlformats.org/drawingml/2006/main">
            <a:r>
              <a:t>        "detail": "비허용 데이터 차단 및 기존 복제본 회수",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 데이터",</a:t>
            </a:r>
          </a:p>
          <a:p xmlns:a="http://schemas.openxmlformats.org/drawingml/2006/main">
            <a:r>
              <a:t>        "detail": "원 대화의 개인정보·목적·보유기간 태깅",</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"삭제 이후 학습·검색·출력 경로의 잔존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"원 서비스 대화",</a:t>
            </a:r>
          </a:p>
          <a:p xmlns:a="http://schemas.openxmlformats.org/drawingml/2006/main">
            <a:r>
              <a:t>        "input": "원 서비스 동의와 재사용 목적의 대조",</a:t>
            </a:r>
          </a:p>
          <a:p xmlns:a="http://schemas.openxmlformats.org/drawingml/2006/main">
            <a:r>
              <a:t>        "process": "원 대화의 개인정보·목적·보유기간 태깅",</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"title": "목적 외 재사용",</a:t>
            </a:r>
          </a:p>
          <a:p xmlns:a="http://schemas.openxmlformats.org/drawingml/2006/main">
            <a:r>
              <a:t>        "input": "대화 원문",</a:t>
            </a:r>
          </a:p>
          <a:p xmlns:a="http://schemas.openxmlformats.org/drawingml/2006/main">
            <a:r>
              <a:t>        "process": "학습용·응답용 데이터 경로의 별도 심사",</a:t>
            </a:r>
          </a:p>
          <a:p xmlns:a="http://schemas.openxmlformats.org/drawingml/2006/main">
            <a:r>
              <a:t>        "output": "재사용 대상"</a:t>
            </a:r>
          </a:p>
          <a:p xmlns:a="http://schemas.openxmlformats.org/drawingml/2006/main">
            <a:r>
              <a:t>      },</a:t>
            </a:r>
          </a:p>
          <a:p xmlns:a="http://schemas.openxmlformats.org/drawingml/2006/main">
            <a:r>
              <a:t>      {</a:t>
            </a:r>
          </a:p>
          <a:p xmlns:a="http://schemas.openxmlformats.org/drawingml/2006/main">
            <a:r>
              <a:t>        "title": "학습·응답 DB",</a:t>
            </a:r>
          </a:p>
          <a:p xmlns:a="http://schemas.openxmlformats.org/drawingml/2006/main">
            <a:r>
              <a:t>        "input": "재사용 대상",</a:t>
            </a:r>
          </a:p>
          <a:p xmlns:a="http://schemas.openxmlformats.org/drawingml/2006/main">
            <a:r>
              <a:t>        "process": "목적·동의 범위 대사와 삭제 전파",</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"title": "이루다 발화",</a:t>
            </a:r>
          </a:p>
          <a:p xmlns:a="http://schemas.openxmlformats.org/drawingml/2006/main">
            <a:r>
              <a:t>        "input": "학습·응답 자료",</a:t>
            </a:r>
          </a:p>
          <a:p xmlns:a="http://schemas.openxmlformats.org/drawingml/2006/main">
            <a:r>
              <a:t>        "process":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"명시된 목적에 맞는 대화만 학습·검색·응답 경로에 제공",</a:t>
            </a:r>
          </a:p>
          <a:p xmlns:a="http://schemas.openxmlformats.org/drawingml/2006/main">
            <a:r>
              <a:t>      "exception": "동의 철회·다른 서비스 자료·복제된 삭제 대상",</a:t>
            </a:r>
          </a:p>
          <a:p xmlns:a="http://schemas.openxmlformats.org/drawingml/2006/main">
            <a:r>
              <a:t>      "evidence": "목적별 허용/차단 결과와 원천·색인·캐시 삭제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"서비스 이용자·데이터 관리자",</a:t>
            </a:r>
          </a:p>
          <a:p xmlns:a="http://schemas.openxmlformats.org/drawingml/2006/main">
            <a:r>
              <a:t>          "processing": "원 서비스 동의와 재사용 목적의 대조",</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 데이터",</a:t>
            </a:r>
          </a:p>
          <a:p xmlns:a="http://schemas.openxmlformats.org/drawingml/2006/main">
            <a:r>
              <a:t>          "processing": "원 대화의 개인정보·목적·보유기간 태깅",</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"대화 원문",</a:t>
            </a:r>
          </a:p>
          <a:p xmlns:a="http://schemas.openxmlformats.org/drawingml/2006/main">
            <a:r>
              <a:t>          "processing": "학습용·응답용 데이터 경로의 별도 심사",</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"학습·응답 자료",</a:t>
            </a:r>
          </a:p>
          <a:p xmlns:a="http://schemas.openxmlformats.org/drawingml/2006/main">
            <a:r>
              <a:t>          "processing":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"삭제 이후 학습·검색·출력 경로의 잔존 검사",</a:t>
            </a:r>
          </a:p>
          <a:p xmlns:a="http://schemas.openxmlformats.org/drawingml/2006/main">
            <a:r>
              <a:t>          "output": "목적별 허용/차단 결과와 원천·색인·캐시 삭제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"삭제 이후 학습·검색·출력 경로의 잔존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"S03",</a:t>
            </a:r>
          </a:p>
          <a:p xmlns:a="http://schemas.openxmlformats.org/drawingml/2006/main">
            <a:r>
              <a:t>        "title": "개인정보보호위원회 · 이루다 조사 결과",</a:t>
            </a:r>
          </a:p>
          <a:p xmlns:a="http://schemas.openxmlformats.org/drawingml/2006/main">
            <a:r>
              <a:t>        "url": "https://www.korea.kr/news/policyNewsView.do?newsId=156449232",</a:t>
            </a:r>
          </a:p>
          <a:p xmlns:a="http://schemas.openxmlformats.org/drawingml/2006/main">
            <a:r>
              <a:t>        "published": "2021-04-28",</a:t>
            </a:r>
          </a:p>
          <a:p xmlns:a="http://schemas.openxmlformats.org/drawingml/2006/main">
            <a:r>
              <a:t>        "level": "감독기관 조사",</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"sourceDetail": null,</a:t>
            </a:r>
          </a:p>
          <a:p xmlns:a="http://schemas.openxmlformats.org/drawingml/2006/main">
            <a:r>
              <a:t>    "narrative": [</a:t>
            </a:r>
          </a:p>
          <a:p xmlns:a="http://schemas.openxmlformats.org/drawingml/2006/main">
            <a:r>
              <a:t>      "다른 서비스에서 수집한 대화를 AI 학습·운영에 활용하는 과정의 개인정보 통제 실패 사례. 자료를 보유한다는 사실과 해당 목적의 AI 이용 권한이 일치하지 않는 문제.",</a:t>
            </a:r>
          </a:p>
          <a:p xmlns:a="http://schemas.openxmlformats.org/drawingml/2006/main">
            <a:r>
              <a:t>      "원 수집 목적·동의 범위·보유기간을 데이터에 연결하고, 학습용·검색용·출력용 경로마다 허용 여부를 판정하는 CCK 재발 방지 설계. 삭제 요청은 원본뿐 아니라 색인·캐시·복제본까지 추적하는 구조.",</a:t>
            </a:r>
          </a:p>
          <a:p xmlns:a="http://schemas.openxmlformats.org/drawingml/2006/main">
            <a:r>
              <a:t>      "TS 인사·민원 데이터의 연결 시 업무 권한과 AI 재사용 목적을 별도 속성으로 관리할 근거. 민감정보를 포함한 실제 사용자 데이터를 시험에 노출하지 않고 비허용 목적·회수 상황을 합성 자료로 재현하는 검수."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"재사용 요청",</a:t>
            </a:r>
          </a:p>
          <a:p xmlns:a="http://schemas.openxmlformats.org/drawingml/2006/main">
            <a:r>
              <a:t>          "layer": "이용 접점",</a:t>
            </a:r>
          </a:p>
          <a:p xmlns:a="http://schemas.openxmlformats.org/drawingml/2006/main">
            <a:r>
              <a:t>          "detail": "서비스 이용자·데이터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"목적·동의 범위",</a:t>
            </a:r>
          </a:p>
          <a:p xmlns:a="http://schemas.openxmlformats.org/drawingml/2006/main">
            <a:r>
              <a:t>          "layer": "업무 문맥",</a:t>
            </a:r>
          </a:p>
          <a:p xmlns:a="http://schemas.openxmlformats.org/drawingml/2006/main">
            <a:r>
              <a:t>          "detail": "원 서비스 동의와 재사용 목적의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"대상 자료 조회",</a:t>
            </a:r>
          </a:p>
          <a:p xmlns:a="http://schemas.openxmlformats.org/drawingml/2006/main">
            <a:r>
              <a:t>          "layer": "자료 조회",</a:t>
            </a:r>
          </a:p>
          <a:p xmlns:a="http://schemas.openxmlformats.org/drawingml/2006/main">
            <a:r>
              <a:t>          "detail": "대화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"학습·응답 분리",</a:t>
            </a:r>
          </a:p>
          <a:p xmlns:a="http://schemas.openxmlformats.org/drawingml/2006/main">
            <a:r>
              <a:t>          "layer": "핵심 처리",</a:t>
            </a:r>
          </a:p>
          <a:p xmlns:a="http://schemas.openxmlformats.org/drawingml/2006/main">
            <a:r>
              <a:t>          "detail": "학습용·응답용 데이터 경로의 별도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"목적 외 이용 차단",</a:t>
            </a:r>
          </a:p>
          <a:p xmlns:a="http://schemas.openxmlformats.org/drawingml/2006/main">
            <a:r>
              <a:t>          "layer": "결과 검증",</a:t>
            </a:r>
          </a:p>
          <a:p xmlns:a="http://schemas.openxmlformats.org/drawingml/2006/main">
            <a:r>
              <a:t>          "detail": "목적·동의 범위 대사와 삭제 전파",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"자료 관리자 심사",</a:t>
            </a:r>
          </a:p>
          <a:p xmlns:a="http://schemas.openxmlformats.org/drawingml/2006/main">
            <a:r>
              <a:t>          "layer": "사람 확인",</a:t>
            </a:r>
          </a:p>
          <a:p xmlns:a="http://schemas.openxmlformats.org/drawingml/2006/main">
            <a:r>
              <a:t>          "detail": "명시된 목적에 맞는 대화만 학습·검색·응답 경로에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"허용본·회수 처리",</a:t>
            </a:r>
          </a:p>
          <a:p xmlns:a="http://schemas.openxmlformats.org/drawingml/2006/main">
            <a:r>
              <a:t>          "layer": "업무 연결",</a:t>
            </a:r>
          </a:p>
          <a:p xmlns:a="http://schemas.openxmlformats.org/drawingml/2006/main">
            <a:r>
              <a:t>          "detail": "비허용 데이터 차단 및 기존 복제본 회수",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"잔존 데이터 검사",</a:t>
            </a:r>
          </a:p>
          <a:p xmlns:a="http://schemas.openxmlformats.org/drawingml/2006/main">
            <a:r>
              <a:t>          "layer": "운영 관측",</a:t>
            </a:r>
          </a:p>
          <a:p xmlns:a="http://schemas.openxmlformats.org/drawingml/2006/main">
            <a:r>
              <a:t>          "detail": "삭제 이후 학습·검색·출력 경로의 잔존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 서비스 대화",</a:t>
            </a:r>
          </a:p>
          <a:p xmlns:a="http://schemas.openxmlformats.org/drawingml/2006/main">
            <a:r>
              <a:t>          "layer": "데이터 원천",</a:t>
            </a:r>
          </a:p>
          <a:p xmlns:a="http://schemas.openxmlformats.org/drawingml/2006/main">
            <a:r>
              <a:t>          "detail": "대화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"개인정보 태깅",</a:t>
            </a:r>
          </a:p>
          <a:p xmlns:a="http://schemas.openxmlformats.org/drawingml/2006/main">
            <a:r>
              <a:t>          "layer": "준비·갱신",</a:t>
            </a:r>
          </a:p>
          <a:p xmlns:a="http://schemas.openxmlformats.org/drawingml/2006/main">
            <a:r>
              <a:t>          "detail": "원 대화의 개인정보·목적·보유기간 태깅",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"복제본·판본 목록",</a:t>
            </a:r>
          </a:p>
          <a:p xmlns:a="http://schemas.openxmlformats.org/drawingml/2006/main">
            <a:r>
              <a:t>          "layer": "상태·지식 저장",</a:t>
            </a:r>
          </a:p>
          <a:p xmlns:a="http://schemas.openxmlformats.org/drawingml/2006/main">
            <a:r>
              <a:t>          "detail": "목적별 허용/차단 결과와 원천·색인·캐시 삭제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"삭제·보유정책",</a:t>
            </a:r>
          </a:p>
          <a:p xmlns:a="http://schemas.openxmlformats.org/drawingml/2006/main">
            <a:r>
              <a:t>          "layer": "권한·정책",</a:t>
            </a:r>
          </a:p>
          <a:p xmlns:a="http://schemas.openxmlformats.org/drawingml/2006/main">
            <a:r>
              <a:t>          "detail": "동의 철회·다른 서비스 자료·복제된 삭제 대상",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"원 서비스 대화 → 목적 외 재사용 → 학습·응답 DB → 이루다 발화"</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"원 서비스 동의와 재사용 목적의 대조",</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"대화 원문",</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"삭제·보유정책",</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"학습·응답 자료",</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"학습·응답 자료",</a:t>
            </a:r>
          </a:p>
          <a:p xmlns:a="http://schemas.openxmlformats.org/drawingml/2006/main">
            <a:r>
              <a:t>          "check": "동의 철회·다른 서비스 자료·복제된 삭제 대상"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"생성 발화",</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"대화 데이터의 목적 외 활용 실패 분석 / 수집 목적·학습·응답 재사용·삭제·회수",</a:t>
            </a:r>
          </a:p>
          <a:p xmlns:a="http://schemas.openxmlformats.org/drawingml/2006/main">
            <a:r>
              <a:t>        "extension": "인사·민원 데이터의 목적·보유기간·접근정책을 별도 속성으로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"동의 철회·다른 서비스 자료·복제된 삭제 대상",</a:t>
            </a:r>
          </a:p>
          <a:p xmlns:a="http://schemas.openxmlformats.org/drawingml/2006/main">
            <a:r>
              <a:t>        "hold": "목적·동의 범위 대사와 삭제 전파",</a:t>
            </a:r>
          </a:p>
          <a:p xmlns:a="http://schemas.openxmlformats.org/drawingml/2006/main">
            <a:r>
              <a:t>        "recovery": "삭제 이후 학습·검색·출력 경로의 잔존 검사",</a:t>
            </a:r>
          </a:p>
          <a:p xmlns:a="http://schemas.openxmlformats.org/drawingml/2006/main">
            <a:r>
              <a:t>        "evidence": "목적별 허용/차단 결과와 원천·색인·캐시 삭제 대사"</a:t>
            </a:r>
          </a:p>
          <a:p xmlns:a="http://schemas.openxmlformats.org/drawingml/2006/main">
            <a:r>
              <a:t>      },</a:t>
            </a:r>
          </a:p>
          <a:p xmlns:a="http://schemas.openxmlformats.org/drawingml/2006/main">
            <a:r>
              <a:t>      "data": {</a:t>
            </a:r>
          </a:p>
          <a:p xmlns:a="http://schemas.openxmlformats.org/drawingml/2006/main">
            <a:r>
              <a:t>        "source": "대화 데이터",</a:t>
            </a:r>
          </a:p>
          <a:p xmlns:a="http://schemas.openxmlformats.org/drawingml/2006/main">
            <a:r>
              <a:t>        "prepare": "원 대화의 개인정보·목적·보유기간 태깅",</a:t>
            </a:r>
          </a:p>
          <a:p xmlns:a="http://schemas.openxmlformats.org/drawingml/2006/main">
            <a:r>
              <a:t>        "output": "대화 원문",</a:t>
            </a:r>
          </a:p>
          <a:p xmlns:a="http://schemas.openxmlformats.org/drawingml/2006/main">
            <a:r>
              <a:t>        "refresh": "삭제 이후 학습·검색·출력 경로의 잔존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"AX03",</a:t>
            </a:r>
          </a:p>
          <a:p xmlns:a="http://schemas.openxmlformats.org/drawingml/2006/main">
            <a:r>
              <a:t>    "success": [</a:t>
            </a:r>
          </a:p>
          <a:p xmlns:a="http://schemas.openxmlformats.org/drawingml/2006/main">
            <a:r>
              <a:t>      "수집 목적별 데이터 분리",</a:t>
            </a:r>
          </a:p>
          <a:p xmlns:a="http://schemas.openxmlformats.org/drawingml/2006/main">
            <a:r>
              <a:t>      "이용 동의·삭제 요청의 재사용 경로 반영"</a:t>
            </a:r>
          </a:p>
          <a:p xmlns:a="http://schemas.openxmlformats.org/drawingml/2006/main">
            <a:r>
              <a:t>    ],</a:t>
            </a:r>
          </a:p>
          <a:p xmlns:a="http://schemas.openxmlformats.org/drawingml/2006/main">
            <a:r>
              <a:t>    "risks": [</a:t>
            </a:r>
          </a:p>
          <a:p xmlns:a="http://schemas.openxmlformats.org/drawingml/2006/main">
            <a:r>
              <a:t>      "다른 서비스 대화의 목적 외 이용",</a:t>
            </a:r>
          </a:p>
          <a:p xmlns:a="http://schemas.openxmlformats.org/drawingml/2006/main">
            <a:r>
              <a:t>      "학습·응답 경로의 개인정보 통제 부족"</a:t>
            </a:r>
          </a:p>
          <a:p xmlns:a="http://schemas.openxmlformats.org/drawingml/2006/main">
            <a:r>
              <a:t>    ],</a:t>
            </a:r>
          </a:p>
          <a:p xmlns:a="http://schemas.openxmlformats.org/drawingml/2006/main">
            <a:r>
              <a:t>    "architecture": [</a:t>
            </a:r>
          </a:p>
          <a:p xmlns:a="http://schemas.openxmlformats.org/drawingml/2006/main">
            <a:r>
              <a:t>      "원 서비스 대화",</a:t>
            </a:r>
          </a:p>
          <a:p xmlns:a="http://schemas.openxmlformats.org/drawingml/2006/main">
            <a:r>
              <a:t>      "학습·응답 처리",</a:t>
            </a:r>
          </a:p>
          <a:p xmlns:a="http://schemas.openxmlformats.org/drawingml/2006/main">
            <a:r>
              <a:t>      "대화 데이터",</a:t>
            </a:r>
          </a:p>
          <a:p xmlns:a="http://schemas.openxmlformats.org/drawingml/2006/main">
            <a:r>
              <a:t>      "챗봇 이용자"</a:t>
            </a:r>
          </a:p>
          <a:p xmlns:a="http://schemas.openxmlformats.org/drawingml/2006/main">
            <a:r>
              <a:t>    ],</a:t>
            </a:r>
          </a:p>
          <a:p xmlns:a="http://schemas.openxmlformats.org/drawingml/2006/main">
            <a:r>
              <a:t>    "transfers": [</a:t>
            </a:r>
          </a:p>
          <a:p xmlns:a="http://schemas.openxmlformats.org/drawingml/2006/main">
            <a:r>
              <a:t>      "대화 원문",</a:t>
            </a:r>
          </a:p>
          <a:p xmlns:a="http://schemas.openxmlformats.org/drawingml/2006/main">
            <a:r>
              <a:t>      "재사용 대상",</a:t>
            </a:r>
          </a:p>
          <a:p xmlns:a="http://schemas.openxmlformats.org/drawingml/2006/main">
            <a:r>
              <a:t>      "학습·응답 자료",</a:t>
            </a:r>
          </a:p>
          <a:p xmlns:a="http://schemas.openxmlformats.org/drawingml/2006/main">
            <a:r>
              <a:t>      "생성 발화"</a:t>
            </a:r>
          </a:p>
          <a:p xmlns:a="http://schemas.openxmlformats.org/drawingml/2006/main">
            <a:r>
              <a:t>    ],</a:t>
            </a:r>
          </a:p>
          <a:p xmlns:a="http://schemas.openxmlformats.org/drawingml/2006/main">
            <a:r>
              <a:t>    "control": "목적·동의 범위 대사와 삭제 전파",</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개인정보보호위원회 · 이루다 조사 결과 https://www.korea.kr/news/policyNewsView.do?newsId=156449232</a:t>
            </a:r>
          </a:p>
          <a:p xmlns:a="http://schemas.openxmlformats.org/drawingml/2006/main">
            <a:r>
              <a:t>홈페이지 https://heen1987-ops.github.io/TS-business-Plan-001/index.html?view=casebook&amp;case=AX03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"AX03",</a:t>
            </a:r>
          </a:p>
          <a:p xmlns:a="http://schemas.openxmlformats.org/drawingml/2006/main">
            <a:r>
              <a:t>    "title": "이루다 개인정보 처리",</a:t>
            </a:r>
          </a:p>
          <a:p xmlns:a="http://schemas.openxmlformats.org/drawingml/2006/main">
            <a:r>
              <a:t>    "region": "국내",</a:t>
            </a:r>
          </a:p>
          <a:p xmlns:a="http://schemas.openxmlformats.org/drawingml/2006/main">
            <a:r>
              <a:t>    "country": "대한민국",</a:t>
            </a:r>
          </a:p>
          <a:p xmlns:a="http://schemas.openxmlformats.org/drawingml/2006/main">
            <a:r>
              <a:t>    "result": "실패",</a:t>
            </a:r>
          </a:p>
          <a:p xmlns:a="http://schemas.openxmlformats.org/drawingml/2006/main">
            <a:r>
              <a:t>    "kind": "학습·응답 데이터 통제",</a:t>
            </a:r>
          </a:p>
          <a:p xmlns:a="http://schemas.openxmlformats.org/drawingml/2006/main">
            <a:r>
              <a:t>    "period": "2021 조사",</a:t>
            </a:r>
          </a:p>
          <a:p xmlns:a="http://schemas.openxmlformats.org/drawingml/2006/main">
            <a:r>
              <a:t>    "sources": [</a:t>
            </a:r>
          </a:p>
          <a:p xmlns:a="http://schemas.openxmlformats.org/drawingml/2006/main">
            <a:r>
              <a:t>      "S03"</a:t>
            </a:r>
          </a:p>
          <a:p xmlns:a="http://schemas.openxmlformats.org/drawingml/2006/main">
            <a:r>
              <a:t>    ],</a:t>
            </a:r>
          </a:p>
          <a:p xmlns:a="http://schemas.openxmlformats.org/drawingml/2006/main">
            <a:r>
              <a:t>    "keywords": [</a:t>
            </a:r>
          </a:p>
          <a:p xmlns:a="http://schemas.openxmlformats.org/drawingml/2006/main">
            <a:r>
              <a:t>      "개인정보",</a:t>
            </a:r>
          </a:p>
          <a:p xmlns:a="http://schemas.openxmlformats.org/drawingml/2006/main">
            <a:r>
              <a:t>      "목적 제한",</a:t>
            </a:r>
          </a:p>
          <a:p xmlns:a="http://schemas.openxmlformats.org/drawingml/2006/main">
            <a:r>
              <a:t>      "데이터 재사용",</a:t>
            </a:r>
          </a:p>
          <a:p xmlns:a="http://schemas.openxmlformats.org/drawingml/2006/main">
            <a:r>
              <a:t>      "책임"</a:t>
            </a:r>
          </a:p>
          <a:p xmlns:a="http://schemas.openxmlformats.org/drawingml/2006/main">
            <a:r>
              <a:t>    ],</a:t>
            </a:r>
          </a:p>
          <a:p xmlns:a="http://schemas.openxmlformats.org/drawingml/2006/main">
            <a:r>
              <a:t>    "fact": "다른 서비스에서 수집한 대화의 목적 외 학습·운영 이용 등에 대한 개인정보보호위원회 제재",</a:t>
            </a:r>
          </a:p>
          <a:p xmlns:a="http://schemas.openxmlformats.org/drawingml/2006/main">
            <a:r>
              <a:t>    "limit": "2021년 조사 대상 행위 기준 · 후속 서비스 전체에 대한 평가 아님",</a:t>
            </a:r>
          </a:p>
          <a:p xmlns:a="http://schemas.openxmlformats.org/drawingml/2006/main">
            <a:r>
              <a:t>    "flow": [</a:t>
            </a:r>
          </a:p>
          <a:p xmlns:a="http://schemas.openxmlformats.org/drawingml/2006/main">
            <a:r>
              <a:t>      "원 서비스 대화",</a:t>
            </a:r>
          </a:p>
          <a:p xmlns:a="http://schemas.openxmlformats.org/drawingml/2006/main">
            <a:r>
              <a:t>      "목적 외 재사용",</a:t>
            </a:r>
          </a:p>
          <a:p xmlns:a="http://schemas.openxmlformats.org/drawingml/2006/main">
            <a:r>
              <a:t>      "학습·응답 DB",</a:t>
            </a:r>
          </a:p>
          <a:p xmlns:a="http://schemas.openxmlformats.org/drawingml/2006/main">
            <a:r>
              <a:t>      "이루다 발화"</a:t>
            </a:r>
          </a:p>
          <a:p xmlns:a="http://schemas.openxmlformats.org/drawingml/2006/main">
            <a:r>
              <a:t>    ],</a:t>
            </a:r>
          </a:p>
          <a:p xmlns:a="http://schemas.openxmlformats.org/drawingml/2006/main">
            <a:r>
              <a:t>    "flowBasis": "조사에서 확인된 처리 관계 요약 · 내부 구현 상세 미공개",</a:t>
            </a:r>
          </a:p>
          <a:p xmlns:a="http://schemas.openxmlformats.org/drawingml/2006/main">
            <a:r>
              <a:t>    "lesson":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"수집 목적 태그 / 학습·검색·출력별 정책 / 삭제·회수 전파",</a:t>
            </a:r>
          </a:p>
          <a:p xmlns:a="http://schemas.openxmlformats.org/drawingml/2006/main">
            <a:r>
              <a:t>    "test": "목적 외 입력 거부·권한 회수 후 검색 및 캐시 노출 차단",</a:t>
            </a:r>
          </a:p>
          <a:p xmlns:a="http://schemas.openxmlformats.org/drawingml/2006/main">
            <a:r>
              <a:t>    "metric": "필수 거부셋 노출 건수 / 삭제 전파 지연"</a:t>
            </a:r>
          </a:p>
          <a:p xmlns:a="http://schemas.openxmlformats.org/drawingml/2006/main">
            <a:r>
              <a:t>  },</a:t>
            </a:r>
          </a:p>
          <a:p xmlns:a="http://schemas.openxmlformats.org/drawingml/2006/main">
            <a:r>
              <a:t>  "design": {</a:t>
            </a:r>
          </a:p>
          <a:p xmlns:a="http://schemas.openxmlformats.org/drawingml/2006/main">
            <a:r>
              <a:t>    "id": "AX03",</a:t>
            </a:r>
          </a:p>
          <a:p xmlns:a="http://schemas.openxmlformats.org/drawingml/2006/main">
            <a:r>
              <a:t>    "canonicalId": "AX03",</a:t>
            </a:r>
          </a:p>
          <a:p xmlns:a="http://schemas.openxmlformats.org/drawingml/2006/main">
            <a:r>
              <a:t>    "purpose": "대화 데이터의 목적 외 활용 실패 분석",</a:t>
            </a:r>
          </a:p>
          <a:p xmlns:a="http://schemas.openxmlformats.org/drawingml/2006/main">
            <a:r>
              <a:t>    "users": "서비스 이용자·데이터 관리자",</a:t>
            </a:r>
          </a:p>
          <a:p xmlns:a="http://schemas.openxmlformats.org/drawingml/2006/main">
            <a:r>
              <a:t>    "scope": [</a:t>
            </a:r>
          </a:p>
          <a:p xmlns:a="http://schemas.openxmlformats.org/drawingml/2006/main">
            <a:r>
              <a:t>      "수집 목적",</a:t>
            </a:r>
          </a:p>
          <a:p xmlns:a="http://schemas.openxmlformats.org/drawingml/2006/main">
            <a:r>
              <a:t>      "학습·응답 재사용",</a:t>
            </a:r>
          </a:p>
          <a:p xmlns:a="http://schemas.openxmlformats.org/drawingml/2006/main">
            <a:r>
              <a:t>      "삭제·회수"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"원 서비스 대화",</a:t>
            </a:r>
          </a:p>
          <a:p xmlns:a="http://schemas.openxmlformats.org/drawingml/2006/main">
            <a:r>
              <a:t>        "detail": "원 서비스 동의와 재사용 목적의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"수집 목적 / 학습·응답 재사용 / 삭제·회수",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"학습·응답 처리",</a:t>
            </a:r>
          </a:p>
          <a:p xmlns:a="http://schemas.openxmlformats.org/drawingml/2006/main">
            <a:r>
              <a:t>        "detail": "학습용·응답용 데이터 경로의 별도 심사",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"챗봇 이용자",</a:t>
            </a:r>
          </a:p>
          <a:p xmlns:a="http://schemas.openxmlformats.org/drawingml/2006/main">
            <a:r>
              <a:t>        "detail": "비허용 데이터 차단 및 기존 복제본 회수",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 데이터",</a:t>
            </a:r>
          </a:p>
          <a:p xmlns:a="http://schemas.openxmlformats.org/drawingml/2006/main">
            <a:r>
              <a:t>        "detail": "원 대화의 개인정보·목적·보유기간 태깅",</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"삭제 이후 학습·검색·출력 경로의 잔존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"원 서비스 대화",</a:t>
            </a:r>
          </a:p>
          <a:p xmlns:a="http://schemas.openxmlformats.org/drawingml/2006/main">
            <a:r>
              <a:t>        "input": "원 서비스 동의와 재사용 목적의 대조",</a:t>
            </a:r>
          </a:p>
          <a:p xmlns:a="http://schemas.openxmlformats.org/drawingml/2006/main">
            <a:r>
              <a:t>        "process": "원 대화의 개인정보·목적·보유기간 태깅",</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"title": "목적 외 재사용",</a:t>
            </a:r>
          </a:p>
          <a:p xmlns:a="http://schemas.openxmlformats.org/drawingml/2006/main">
            <a:r>
              <a:t>        "input": "대화 원문",</a:t>
            </a:r>
          </a:p>
          <a:p xmlns:a="http://schemas.openxmlformats.org/drawingml/2006/main">
            <a:r>
              <a:t>        "process": "학습용·응답용 데이터 경로의 별도 심사",</a:t>
            </a:r>
          </a:p>
          <a:p xmlns:a="http://schemas.openxmlformats.org/drawingml/2006/main">
            <a:r>
              <a:t>        "output": "재사용 대상"</a:t>
            </a:r>
          </a:p>
          <a:p xmlns:a="http://schemas.openxmlformats.org/drawingml/2006/main">
            <a:r>
              <a:t>      },</a:t>
            </a:r>
          </a:p>
          <a:p xmlns:a="http://schemas.openxmlformats.org/drawingml/2006/main">
            <a:r>
              <a:t>      {</a:t>
            </a:r>
          </a:p>
          <a:p xmlns:a="http://schemas.openxmlformats.org/drawingml/2006/main">
            <a:r>
              <a:t>        "title": "학습·응답 DB",</a:t>
            </a:r>
          </a:p>
          <a:p xmlns:a="http://schemas.openxmlformats.org/drawingml/2006/main">
            <a:r>
              <a:t>        "input": "재사용 대상",</a:t>
            </a:r>
          </a:p>
          <a:p xmlns:a="http://schemas.openxmlformats.org/drawingml/2006/main">
            <a:r>
              <a:t>        "process": "목적·동의 범위 대사와 삭제 전파",</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"title": "이루다 발화",</a:t>
            </a:r>
          </a:p>
          <a:p xmlns:a="http://schemas.openxmlformats.org/drawingml/2006/main">
            <a:r>
              <a:t>        "input": "학습·응답 자료",</a:t>
            </a:r>
          </a:p>
          <a:p xmlns:a="http://schemas.openxmlformats.org/drawingml/2006/main">
            <a:r>
              <a:t>        "process":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"명시된 목적에 맞는 대화만 학습·검색·응답 경로에 제공",</a:t>
            </a:r>
          </a:p>
          <a:p xmlns:a="http://schemas.openxmlformats.org/drawingml/2006/main">
            <a:r>
              <a:t>      "exception": "동의 철회·다른 서비스 자료·복제된 삭제 대상",</a:t>
            </a:r>
          </a:p>
          <a:p xmlns:a="http://schemas.openxmlformats.org/drawingml/2006/main">
            <a:r>
              <a:t>      "evidence": "목적별 허용/차단 결과와 원천·색인·캐시 삭제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"서비스 이용자·데이터 관리자",</a:t>
            </a:r>
          </a:p>
          <a:p xmlns:a="http://schemas.openxmlformats.org/drawingml/2006/main">
            <a:r>
              <a:t>          "processing": "원 서비스 동의와 재사용 목적의 대조",</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 데이터",</a:t>
            </a:r>
          </a:p>
          <a:p xmlns:a="http://schemas.openxmlformats.org/drawingml/2006/main">
            <a:r>
              <a:t>          "processing": "원 대화의 개인정보·목적·보유기간 태깅",</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"대화 원문",</a:t>
            </a:r>
          </a:p>
          <a:p xmlns:a="http://schemas.openxmlformats.org/drawingml/2006/main">
            <a:r>
              <a:t>          "processing": "학습용·응답용 데이터 경로의 별도 심사",</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"학습·응답 자료",</a:t>
            </a:r>
          </a:p>
          <a:p xmlns:a="http://schemas.openxmlformats.org/drawingml/2006/main">
            <a:r>
              <a:t>          "processing":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"삭제 이후 학습·검색·출력 경로의 잔존 검사",</a:t>
            </a:r>
          </a:p>
          <a:p xmlns:a="http://schemas.openxmlformats.org/drawingml/2006/main">
            <a:r>
              <a:t>          "output": "목적별 허용/차단 결과와 원천·색인·캐시 삭제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"삭제 이후 학습·검색·출력 경로의 잔존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"S03",</a:t>
            </a:r>
          </a:p>
          <a:p xmlns:a="http://schemas.openxmlformats.org/drawingml/2006/main">
            <a:r>
              <a:t>        "title": "개인정보보호위원회 · 이루다 조사 결과",</a:t>
            </a:r>
          </a:p>
          <a:p xmlns:a="http://schemas.openxmlformats.org/drawingml/2006/main">
            <a:r>
              <a:t>        "url": "https://www.korea.kr/news/policyNewsView.do?newsId=156449232",</a:t>
            </a:r>
          </a:p>
          <a:p xmlns:a="http://schemas.openxmlformats.org/drawingml/2006/main">
            <a:r>
              <a:t>        "published": "2021-04-28",</a:t>
            </a:r>
          </a:p>
          <a:p xmlns:a="http://schemas.openxmlformats.org/drawingml/2006/main">
            <a:r>
              <a:t>        "level": "감독기관 조사",</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"sourceDetail": null,</a:t>
            </a:r>
          </a:p>
          <a:p xmlns:a="http://schemas.openxmlformats.org/drawingml/2006/main">
            <a:r>
              <a:t>    "narrative": [</a:t>
            </a:r>
          </a:p>
          <a:p xmlns:a="http://schemas.openxmlformats.org/drawingml/2006/main">
            <a:r>
              <a:t>      "다른 서비스에서 수집한 대화를 AI 학습·운영에 활용하는 과정의 개인정보 통제 실패 사례. 자료를 보유한다는 사실과 해당 목적의 AI 이용 권한이 일치하지 않는 문제.",</a:t>
            </a:r>
          </a:p>
          <a:p xmlns:a="http://schemas.openxmlformats.org/drawingml/2006/main">
            <a:r>
              <a:t>      "원 수집 목적·동의 범위·보유기간을 데이터에 연결하고, 학습용·검색용·출력용 경로마다 허용 여부를 판정하는 CCK 재발 방지 설계. 삭제 요청은 원본뿐 아니라 색인·캐시·복제본까지 추적하는 구조.",</a:t>
            </a:r>
          </a:p>
          <a:p xmlns:a="http://schemas.openxmlformats.org/drawingml/2006/main">
            <a:r>
              <a:t>      "TS 인사·민원 데이터의 연결 시 업무 권한과 AI 재사용 목적을 별도 속성으로 관리할 근거. 민감정보를 포함한 실제 사용자 데이터를 시험에 노출하지 않고 비허용 목적·회수 상황을 합성 자료로 재현하는 검수."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"재사용 요청",</a:t>
            </a:r>
          </a:p>
          <a:p xmlns:a="http://schemas.openxmlformats.org/drawingml/2006/main">
            <a:r>
              <a:t>          "layer": "이용 접점",</a:t>
            </a:r>
          </a:p>
          <a:p xmlns:a="http://schemas.openxmlformats.org/drawingml/2006/main">
            <a:r>
              <a:t>          "detail": "서비스 이용자·데이터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"목적·동의 범위",</a:t>
            </a:r>
          </a:p>
          <a:p xmlns:a="http://schemas.openxmlformats.org/drawingml/2006/main">
            <a:r>
              <a:t>          "layer": "업무 문맥",</a:t>
            </a:r>
          </a:p>
          <a:p xmlns:a="http://schemas.openxmlformats.org/drawingml/2006/main">
            <a:r>
              <a:t>          "detail": "원 서비스 동의와 재사용 목적의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"대상 자료 조회",</a:t>
            </a:r>
          </a:p>
          <a:p xmlns:a="http://schemas.openxmlformats.org/drawingml/2006/main">
            <a:r>
              <a:t>          "layer": "자료 조회",</a:t>
            </a:r>
          </a:p>
          <a:p xmlns:a="http://schemas.openxmlformats.org/drawingml/2006/main">
            <a:r>
              <a:t>          "detail": "대화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"학습·응답 분리",</a:t>
            </a:r>
          </a:p>
          <a:p xmlns:a="http://schemas.openxmlformats.org/drawingml/2006/main">
            <a:r>
              <a:t>          "layer": "핵심 처리",</a:t>
            </a:r>
          </a:p>
          <a:p xmlns:a="http://schemas.openxmlformats.org/drawingml/2006/main">
            <a:r>
              <a:t>          "detail": "학습용·응답용 데이터 경로의 별도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"목적 외 이용 차단",</a:t>
            </a:r>
          </a:p>
          <a:p xmlns:a="http://schemas.openxmlformats.org/drawingml/2006/main">
            <a:r>
              <a:t>          "layer": "결과 검증",</a:t>
            </a:r>
          </a:p>
          <a:p xmlns:a="http://schemas.openxmlformats.org/drawingml/2006/main">
            <a:r>
              <a:t>          "detail": "목적·동의 범위 대사와 삭제 전파",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"자료 관리자 심사",</a:t>
            </a:r>
          </a:p>
          <a:p xmlns:a="http://schemas.openxmlformats.org/drawingml/2006/main">
            <a:r>
              <a:t>          "layer": "사람 확인",</a:t>
            </a:r>
          </a:p>
          <a:p xmlns:a="http://schemas.openxmlformats.org/drawingml/2006/main">
            <a:r>
              <a:t>          "detail": "명시된 목적에 맞는 대화만 학습·검색·응답 경로에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"허용본·회수 처리",</a:t>
            </a:r>
          </a:p>
          <a:p xmlns:a="http://schemas.openxmlformats.org/drawingml/2006/main">
            <a:r>
              <a:t>          "layer": "업무 연결",</a:t>
            </a:r>
          </a:p>
          <a:p xmlns:a="http://schemas.openxmlformats.org/drawingml/2006/main">
            <a:r>
              <a:t>          "detail": "비허용 데이터 차단 및 기존 복제본 회수",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"잔존 데이터 검사",</a:t>
            </a:r>
          </a:p>
          <a:p xmlns:a="http://schemas.openxmlformats.org/drawingml/2006/main">
            <a:r>
              <a:t>          "layer": "운영 관측",</a:t>
            </a:r>
          </a:p>
          <a:p xmlns:a="http://schemas.openxmlformats.org/drawingml/2006/main">
            <a:r>
              <a:t>          "detail": "삭제 이후 학습·검색·출력 경로의 잔존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 서비스 대화",</a:t>
            </a:r>
          </a:p>
          <a:p xmlns:a="http://schemas.openxmlformats.org/drawingml/2006/main">
            <a:r>
              <a:t>          "layer": "데이터 원천",</a:t>
            </a:r>
          </a:p>
          <a:p xmlns:a="http://schemas.openxmlformats.org/drawingml/2006/main">
            <a:r>
              <a:t>          "detail": "대화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"개인정보 태깅",</a:t>
            </a:r>
          </a:p>
          <a:p xmlns:a="http://schemas.openxmlformats.org/drawingml/2006/main">
            <a:r>
              <a:t>          "layer": "준비·갱신",</a:t>
            </a:r>
          </a:p>
          <a:p xmlns:a="http://schemas.openxmlformats.org/drawingml/2006/main">
            <a:r>
              <a:t>          "detail": "원 대화의 개인정보·목적·보유기간 태깅",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"복제본·판본 목록",</a:t>
            </a:r>
          </a:p>
          <a:p xmlns:a="http://schemas.openxmlformats.org/drawingml/2006/main">
            <a:r>
              <a:t>          "layer": "상태·지식 저장",</a:t>
            </a:r>
          </a:p>
          <a:p xmlns:a="http://schemas.openxmlformats.org/drawingml/2006/main">
            <a:r>
              <a:t>          "detail": "목적별 허용/차단 결과와 원천·색인·캐시 삭제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"삭제·보유정책",</a:t>
            </a:r>
          </a:p>
          <a:p xmlns:a="http://schemas.openxmlformats.org/drawingml/2006/main">
            <a:r>
              <a:t>          "layer": "권한·정책",</a:t>
            </a:r>
          </a:p>
          <a:p xmlns:a="http://schemas.openxmlformats.org/drawingml/2006/main">
            <a:r>
              <a:t>          "detail": "동의 철회·다른 서비스 자료·복제된 삭제 대상",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"원 서비스 대화 → 목적 외 재사용 → 학습·응답 DB → 이루다 발화"</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"원 서비스 동의와 재사용 목적의 대조",</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"대화 원문",</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"삭제·보유정책",</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"학습·응답 자료",</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"학습·응답 자료",</a:t>
            </a:r>
          </a:p>
          <a:p xmlns:a="http://schemas.openxmlformats.org/drawingml/2006/main">
            <a:r>
              <a:t>          "check": "동의 철회·다른 서비스 자료·복제된 삭제 대상"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"생성 발화",</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"대화 데이터의 목적 외 활용 실패 분석 / 수집 목적·학습·응답 재사용·삭제·회수",</a:t>
            </a:r>
          </a:p>
          <a:p xmlns:a="http://schemas.openxmlformats.org/drawingml/2006/main">
            <a:r>
              <a:t>        "extension": "인사·민원 데이터의 목적·보유기간·접근정책을 별도 속성으로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"동의 철회·다른 서비스 자료·복제된 삭제 대상",</a:t>
            </a:r>
          </a:p>
          <a:p xmlns:a="http://schemas.openxmlformats.org/drawingml/2006/main">
            <a:r>
              <a:t>        "hold": "목적·동의 범위 대사와 삭제 전파",</a:t>
            </a:r>
          </a:p>
          <a:p xmlns:a="http://schemas.openxmlformats.org/drawingml/2006/main">
            <a:r>
              <a:t>        "recovery": "삭제 이후 학습·검색·출력 경로의 잔존 검사",</a:t>
            </a:r>
          </a:p>
          <a:p xmlns:a="http://schemas.openxmlformats.org/drawingml/2006/main">
            <a:r>
              <a:t>        "evidence": "목적별 허용/차단 결과와 원천·색인·캐시 삭제 대사"</a:t>
            </a:r>
          </a:p>
          <a:p xmlns:a="http://schemas.openxmlformats.org/drawingml/2006/main">
            <a:r>
              <a:t>      },</a:t>
            </a:r>
          </a:p>
          <a:p xmlns:a="http://schemas.openxmlformats.org/drawingml/2006/main">
            <a:r>
              <a:t>      "data": {</a:t>
            </a:r>
          </a:p>
          <a:p xmlns:a="http://schemas.openxmlformats.org/drawingml/2006/main">
            <a:r>
              <a:t>        "source": "대화 데이터",</a:t>
            </a:r>
          </a:p>
          <a:p xmlns:a="http://schemas.openxmlformats.org/drawingml/2006/main">
            <a:r>
              <a:t>        "prepare": "원 대화의 개인정보·목적·보유기간 태깅",</a:t>
            </a:r>
          </a:p>
          <a:p xmlns:a="http://schemas.openxmlformats.org/drawingml/2006/main">
            <a:r>
              <a:t>        "output": "대화 원문",</a:t>
            </a:r>
          </a:p>
          <a:p xmlns:a="http://schemas.openxmlformats.org/drawingml/2006/main">
            <a:r>
              <a:t>        "refresh": "삭제 이후 학습·검색·출력 경로의 잔존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"AX03",</a:t>
            </a:r>
          </a:p>
          <a:p xmlns:a="http://schemas.openxmlformats.org/drawingml/2006/main">
            <a:r>
              <a:t>    "success": [</a:t>
            </a:r>
          </a:p>
          <a:p xmlns:a="http://schemas.openxmlformats.org/drawingml/2006/main">
            <a:r>
              <a:t>      "수집 목적별 데이터 분리",</a:t>
            </a:r>
          </a:p>
          <a:p xmlns:a="http://schemas.openxmlformats.org/drawingml/2006/main">
            <a:r>
              <a:t>      "이용 동의·삭제 요청의 재사용 경로 반영"</a:t>
            </a:r>
          </a:p>
          <a:p xmlns:a="http://schemas.openxmlformats.org/drawingml/2006/main">
            <a:r>
              <a:t>    ],</a:t>
            </a:r>
          </a:p>
          <a:p xmlns:a="http://schemas.openxmlformats.org/drawingml/2006/main">
            <a:r>
              <a:t>    "risks": [</a:t>
            </a:r>
          </a:p>
          <a:p xmlns:a="http://schemas.openxmlformats.org/drawingml/2006/main">
            <a:r>
              <a:t>      "다른 서비스 대화의 목적 외 이용",</a:t>
            </a:r>
          </a:p>
          <a:p xmlns:a="http://schemas.openxmlformats.org/drawingml/2006/main">
            <a:r>
              <a:t>      "학습·응답 경로의 개인정보 통제 부족"</a:t>
            </a:r>
          </a:p>
          <a:p xmlns:a="http://schemas.openxmlformats.org/drawingml/2006/main">
            <a:r>
              <a:t>    ],</a:t>
            </a:r>
          </a:p>
          <a:p xmlns:a="http://schemas.openxmlformats.org/drawingml/2006/main">
            <a:r>
              <a:t>    "architecture": [</a:t>
            </a:r>
          </a:p>
          <a:p xmlns:a="http://schemas.openxmlformats.org/drawingml/2006/main">
            <a:r>
              <a:t>      "원 서비스 대화",</a:t>
            </a:r>
          </a:p>
          <a:p xmlns:a="http://schemas.openxmlformats.org/drawingml/2006/main">
            <a:r>
              <a:t>      "학습·응답 처리",</a:t>
            </a:r>
          </a:p>
          <a:p xmlns:a="http://schemas.openxmlformats.org/drawingml/2006/main">
            <a:r>
              <a:t>      "대화 데이터",</a:t>
            </a:r>
          </a:p>
          <a:p xmlns:a="http://schemas.openxmlformats.org/drawingml/2006/main">
            <a:r>
              <a:t>      "챗봇 이용자"</a:t>
            </a:r>
          </a:p>
          <a:p xmlns:a="http://schemas.openxmlformats.org/drawingml/2006/main">
            <a:r>
              <a:t>    ],</a:t>
            </a:r>
          </a:p>
          <a:p xmlns:a="http://schemas.openxmlformats.org/drawingml/2006/main">
            <a:r>
              <a:t>    "transfers": [</a:t>
            </a:r>
          </a:p>
          <a:p xmlns:a="http://schemas.openxmlformats.org/drawingml/2006/main">
            <a:r>
              <a:t>      "대화 원문",</a:t>
            </a:r>
          </a:p>
          <a:p xmlns:a="http://schemas.openxmlformats.org/drawingml/2006/main">
            <a:r>
              <a:t>      "재사용 대상",</a:t>
            </a:r>
          </a:p>
          <a:p xmlns:a="http://schemas.openxmlformats.org/drawingml/2006/main">
            <a:r>
              <a:t>      "학습·응답 자료",</a:t>
            </a:r>
          </a:p>
          <a:p xmlns:a="http://schemas.openxmlformats.org/drawingml/2006/main">
            <a:r>
              <a:t>      "생성 발화"</a:t>
            </a:r>
          </a:p>
          <a:p xmlns:a="http://schemas.openxmlformats.org/drawingml/2006/main">
            <a:r>
              <a:t>    ],</a:t>
            </a:r>
          </a:p>
          <a:p xmlns:a="http://schemas.openxmlformats.org/drawingml/2006/main">
            <a:r>
              <a:t>    "control": "목적·동의 범위 대사와 삭제 전파",</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개인정보보호위원회 · 이루다 조사 결과 https://www.korea.kr/news/policyNewsView.do?newsId=156449232</a:t>
            </a:r>
          </a:p>
          <a:p xmlns:a="http://schemas.openxmlformats.org/drawingml/2006/main">
            <a:r>
              <a:t>홈페이지 https://heen1987-ops.github.io/TS-business-Plan-001/index.html?view=casebook&amp;case=AX03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"AX04",</a:t>
            </a:r>
          </a:p>
          <a:p xmlns:a="http://schemas.openxmlformats.org/drawingml/2006/main">
            <a:r>
              <a:t>    "title": "영국 정부 M365 Copilot",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"직원 업무 생산성 실험",</a:t>
            </a:r>
          </a:p>
          <a:p xmlns:a="http://schemas.openxmlformats.org/drawingml/2006/main">
            <a:r>
              <a:t>    "period": "2024.09–12 실험",</a:t>
            </a:r>
          </a:p>
          <a:p xmlns:a="http://schemas.openxmlformats.org/drawingml/2006/main">
            <a:r>
              <a:t>    "sources": [</a:t>
            </a:r>
          </a:p>
          <a:p xmlns:a="http://schemas.openxmlformats.org/drawingml/2006/main">
            <a:r>
              <a:t>      "S04"</a:t>
            </a:r>
          </a:p>
          <a:p xmlns:a="http://schemas.openxmlformats.org/drawingml/2006/main">
            <a:r>
              <a:t>    ],</a:t>
            </a:r>
          </a:p>
          <a:p xmlns:a="http://schemas.openxmlformats.org/drawingml/2006/main">
            <a:r>
              <a:t>    "keywords": [</a:t>
            </a:r>
          </a:p>
          <a:p xmlns:a="http://schemas.openxmlformats.org/drawingml/2006/main">
            <a:r>
              <a:t>      "업무효율",</a:t>
            </a:r>
          </a:p>
          <a:p xmlns:a="http://schemas.openxmlformats.org/drawingml/2006/main">
            <a:r>
              <a:t>      "직원",</a:t>
            </a:r>
          </a:p>
          <a:p xmlns:a="http://schemas.openxmlformats.org/drawingml/2006/main">
            <a:r>
              <a:t>      "권한",</a:t>
            </a:r>
          </a:p>
          <a:p xmlns:a="http://schemas.openxmlformats.org/drawingml/2006/main">
            <a:r>
              <a:t>      "성과 측정"</a:t>
            </a:r>
          </a:p>
          <a:p xmlns:a="http://schemas.openxmlformats.org/drawingml/2006/main">
            <a:r>
              <a:t>    ],</a:t>
            </a:r>
          </a:p>
          <a:p xmlns:a="http://schemas.openxmlformats.org/drawingml/2006/main">
            <a:r>
              <a:t>    "fact": "2만 명 규모 실험; 설문 응답자 7,115명의 자기보고 시간 절약 평균 약 26분/일",</a:t>
            </a:r>
          </a:p>
          <a:p xmlns:a="http://schemas.openxmlformats.org/drawingml/2006/main">
            <a:r>
              <a:t>    "limit": "실측 인과효과 아님 · 복잡한 맥락·데이터 업무 한계 · 기존 자료 과다공유 위험",</a:t>
            </a:r>
          </a:p>
          <a:p xmlns:a="http://schemas.openxmlformats.org/drawingml/2006/main">
            <a:r>
              <a:t>    "flow": [</a:t>
            </a:r>
          </a:p>
          <a:p xmlns:a="http://schemas.openxmlformats.org/drawingml/2006/main">
            <a:r>
              <a:t>      "직원 요청",</a:t>
            </a:r>
          </a:p>
          <a:p xmlns:a="http://schemas.openxmlformats.org/drawingml/2006/main">
            <a:r>
              <a:t>      "기존 접근권한",</a:t>
            </a:r>
          </a:p>
          <a:p xmlns:a="http://schemas.openxmlformats.org/drawingml/2006/main">
            <a:r>
              <a:t>      "업무 자료 검색",</a:t>
            </a:r>
          </a:p>
          <a:p xmlns:a="http://schemas.openxmlformats.org/drawingml/2006/main">
            <a:r>
              <a:t>      "초안·직원 검토"</a:t>
            </a:r>
          </a:p>
          <a:p xmlns:a="http://schemas.openxmlformats.org/drawingml/2006/main">
            <a:r>
              <a:t>    ],</a:t>
            </a:r>
          </a:p>
          <a:p xmlns:a="http://schemas.openxmlformats.org/drawingml/2006/main">
            <a:r>
              <a:t>    "flowBasis": "보고서의 기능·권한 설명 기반 재구성",</a:t>
            </a:r>
          </a:p>
          <a:p xmlns:a="http://schemas.openxmlformats.org/drawingml/2006/main">
            <a:r>
              <a:t>    "lesson":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"assets": [</a:t>
            </a:r>
          </a:p>
          <a:p xmlns:a="http://schemas.openxmlformats.org/drawingml/2006/main">
            <a:r>
              <a:t>      "CCK-01",</a:t>
            </a:r>
          </a:p>
          <a:p xmlns:a="http://schemas.openxmlformats.org/drawingml/2006/main">
            <a:r>
              <a:t>      "CCK-03"</a:t>
            </a:r>
          </a:p>
          <a:p xmlns:a="http://schemas.openxmlformats.org/drawingml/2006/main">
            <a:r>
              <a:t>    ],</a:t>
            </a:r>
          </a:p>
          <a:p xmlns:a="http://schemas.openxmlformats.org/drawingml/2006/main">
            <a:r>
              <a:t>    "delta": "로그인 ID–조직 연결 / 직무별 검색·서식 / 검토시간 포함 계측",</a:t>
            </a:r>
          </a:p>
          <a:p xmlns:a="http://schemas.openxmlformats.org/drawingml/2006/main">
            <a:r>
              <a:t>    "test": "권한 교차 시험과 동일 난도 업무의 전후·비교군 평가",</a:t>
            </a:r>
          </a:p>
          <a:p xmlns:a="http://schemas.openxmlformats.org/drawingml/2006/main">
            <a:r>
              <a:t>    "metric": "검토·재작업 포함 완료시간 / 오류율"</a:t>
            </a:r>
          </a:p>
          <a:p xmlns:a="http://schemas.openxmlformats.org/drawingml/2006/main">
            <a:r>
              <a:t>  },</a:t>
            </a:r>
          </a:p>
          <a:p xmlns:a="http://schemas.openxmlformats.org/drawingml/2006/main">
            <a:r>
              <a:t>  "design": {</a:t>
            </a:r>
          </a:p>
          <a:p xmlns:a="http://schemas.openxmlformats.org/drawingml/2006/main">
            <a:r>
              <a:t>    "id": "AX04",</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"공무원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 작성·검색",</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접근 가능한 자료",</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요청",</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"기존 접근권한",</a:t>
            </a:r>
          </a:p>
          <a:p xmlns:a="http://schemas.openxmlformats.org/drawingml/2006/main">
            <a:r>
              <a:t>        "input": "업무 요청",</a:t>
            </a:r>
          </a:p>
          <a:p xmlns:a="http://schemas.openxmlformats.org/drawingml/2006/main">
            <a:r>
              <a:t>        "process": "허용 자료에 근거한 검색·요약·작성",</a:t>
            </a:r>
          </a:p>
          <a:p xmlns:a="http://schemas.openxmlformats.org/drawingml/2006/main">
            <a:r>
              <a:t>        "output": "권한 내 근거"</a:t>
            </a:r>
          </a:p>
          <a:p xmlns:a="http://schemas.openxmlformats.org/drawingml/2006/main">
            <a:r>
              <a:t>      },</a:t>
            </a:r>
          </a:p>
          <a:p xmlns:a="http://schemas.openxmlformats.org/drawingml/2006/main">
            <a:r>
              <a:t>      {</a:t>
            </a:r>
          </a:p>
          <a:p xmlns:a="http://schemas.openxmlformats.org/drawingml/2006/main">
            <a:r>
              <a:t>        "title": "업무 자료 검색",</a:t>
            </a:r>
          </a:p>
          <a:p xmlns:a="http://schemas.openxmlformats.org/drawingml/2006/main">
            <a:r>
              <a:t>        "input": "권한 내 근거",</a:t>
            </a:r>
          </a:p>
          <a:p xmlns:a="http://schemas.openxmlformats.org/drawingml/2006/main">
            <a:r>
              <a:t>        "process": "정답·검토시간을 포함한 비교 평가",</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"title": "초안·직원 검토",</a:t>
            </a:r>
          </a:p>
          <a:p xmlns:a="http://schemas.openxmlformats.org/drawingml/2006/main">
            <a:r>
              <a:t>        "input": "문서·회의 초안",</a:t>
            </a:r>
          </a:p>
          <a:p xmlns:a="http://schemas.openxmlformats.org/drawingml/2006/main">
            <a:r>
              <a:t>        "process":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접근 가능한 자료",</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"허용 자료에 근거한 검색·요약·작성",</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"문서·회의 초안",</a:t>
            </a:r>
          </a:p>
          <a:p xmlns:a="http://schemas.openxmlformats.org/drawingml/2006/main">
            <a:r>
              <a:t>          "processing":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"S04",</a:t>
            </a:r>
          </a:p>
          <a:p xmlns:a="http://schemas.openxmlformats.org/drawingml/2006/main">
            <a:r>
              <a:t>        "title": "영국 정부 · M365 Copilot 실험 보고서",</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"published": "2025-06-02",</a:t>
            </a:r>
          </a:p>
          <a:p xmlns:a="http://schemas.openxmlformats.org/drawingml/2006/main">
            <a:r>
              <a:t>        "level": "정부 실험 / 이용자 자기보고",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"sourceDetail": null,</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"정답·검토시간을 포함한 비교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"기존 접근 가능한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요청 → 기존 접근권한 → 업무 자료 검색 → 초안·직원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"문서·회의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"문서·회의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"같은 요청을 부서·직무별로 분류하고 원천 접근권한을 검색 전 집행"</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"정답·검토시간을 포함한 비교 평가",</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"기존 접근 가능한 자료",</a:t>
            </a:r>
          </a:p>
          <a:p xmlns:a="http://schemas.openxmlformats.org/drawingml/2006/main">
            <a:r>
              <a:t>        "prepare": "M365 문서·회의 자료의 공유범위 점검",</a:t>
            </a:r>
          </a:p>
          <a:p xmlns:a="http://schemas.openxmlformats.org/drawingml/2006/main">
            <a:r>
              <a:t>        "output": "업무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"AX04",</a:t>
            </a:r>
          </a:p>
          <a:p xmlns:a="http://schemas.openxmlformats.org/drawingml/2006/main">
            <a:r>
              <a:t>    "success": [</a:t>
            </a:r>
          </a:p>
          <a:p xmlns:a="http://schemas.openxmlformats.org/drawingml/2006/main">
            <a:r>
              <a:t>      "기존 문서·회의 도구 안의 지원",</a:t>
            </a:r>
          </a:p>
          <a:p xmlns:a="http://schemas.openxmlformats.org/drawingml/2006/main">
            <a:r>
              <a:t>      "실제 직원의 활용·피드백 수집"</a:t>
            </a:r>
          </a:p>
          <a:p xmlns:a="http://schemas.openxmlformats.org/drawingml/2006/main">
            <a:r>
              <a:t>    ],</a:t>
            </a:r>
          </a:p>
          <a:p xmlns:a="http://schemas.openxmlformats.org/drawingml/2006/main">
            <a:r>
              <a:t>    "risks": [</a:t>
            </a:r>
          </a:p>
          <a:p xmlns:a="http://schemas.openxmlformats.org/drawingml/2006/main">
            <a:r>
              <a:t>      "업무별 효과 편차",</a:t>
            </a:r>
          </a:p>
          <a:p xmlns:a="http://schemas.openxmlformats.org/drawingml/2006/main">
            <a:r>
              <a:t>      "자기보고 절감시간과 실측시간의 차이"</a:t>
            </a:r>
          </a:p>
          <a:p xmlns:a="http://schemas.openxmlformats.org/drawingml/2006/main">
            <a:r>
              <a:t>    ],</a:t>
            </a:r>
          </a:p>
          <a:p xmlns:a="http://schemas.openxmlformats.org/drawingml/2006/main">
            <a:r>
              <a:t>    "architecture": [</a:t>
            </a:r>
          </a:p>
          <a:p xmlns:a="http://schemas.openxmlformats.org/drawingml/2006/main">
            <a:r>
              <a:t>      "공무원 M365",</a:t>
            </a:r>
          </a:p>
          <a:p xmlns:a="http://schemas.openxmlformats.org/drawingml/2006/main">
            <a:r>
              <a:t>      "Copilot 작성·검색",</a:t>
            </a:r>
          </a:p>
          <a:p xmlns:a="http://schemas.openxmlformats.org/drawingml/2006/main">
            <a:r>
              <a:t>      "기존 접근 가능한 자료",</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"권한 내 근거",</a:t>
            </a:r>
          </a:p>
          <a:p xmlns:a="http://schemas.openxmlformats.org/drawingml/2006/main">
            <a:r>
              <a:t>      "문서·회의 초안",</a:t>
            </a:r>
          </a:p>
          <a:p xmlns:a="http://schemas.openxmlformats.org/drawingml/2006/main">
            <a:r>
              <a:t>      "검토 결과"</a:t>
            </a:r>
          </a:p>
          <a:p xmlns:a="http://schemas.openxmlformats.org/drawingml/2006/main">
            <a:r>
              <a:t>    ],</a:t>
            </a:r>
          </a:p>
          <a:p xmlns:a="http://schemas.openxmlformats.org/drawingml/2006/main">
            <a:r>
              <a:t>    "control": "정답·검토시간을 포함한 비교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영국 정부 · M365 Copilot 실험 보고서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https://heen1987-ops.github.io/TS-business-Plan-001/index.html?view=casebook&amp;case=AX04</a:t>
            </a:r>
          </a:p>
          <a:p xmlns:a="http://schemas.openxmlformats.org/drawingml/2006/main">
            <a:r>
              <a:t>한계: 실측 인과효과 아님 · 복잡한 맥락·데이터 업무 한계 · 기존 자료 과다공유 위험</a:t>
            </a:r>
          </a:p>
          <a:p xmlns:a="http://schemas.openxmlformats.org/drawingml/2006/main">
            <a:r>
              <a:t>실패 위험: 업무별 효과 편차 / 자기보고 절감시간과 실측시간의 차이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"AX04",</a:t>
            </a:r>
          </a:p>
          <a:p xmlns:a="http://schemas.openxmlformats.org/drawingml/2006/main">
            <a:r>
              <a:t>    "title": "영국 정부 M365 Copilot",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"직원 업무 생산성 실험",</a:t>
            </a:r>
          </a:p>
          <a:p xmlns:a="http://schemas.openxmlformats.org/drawingml/2006/main">
            <a:r>
              <a:t>    "period": "2024.09–12 실험",</a:t>
            </a:r>
          </a:p>
          <a:p xmlns:a="http://schemas.openxmlformats.org/drawingml/2006/main">
            <a:r>
              <a:t>    "sources": [</a:t>
            </a:r>
          </a:p>
          <a:p xmlns:a="http://schemas.openxmlformats.org/drawingml/2006/main">
            <a:r>
              <a:t>      "S04"</a:t>
            </a:r>
          </a:p>
          <a:p xmlns:a="http://schemas.openxmlformats.org/drawingml/2006/main">
            <a:r>
              <a:t>    ],</a:t>
            </a:r>
          </a:p>
          <a:p xmlns:a="http://schemas.openxmlformats.org/drawingml/2006/main">
            <a:r>
              <a:t>    "keywords": [</a:t>
            </a:r>
          </a:p>
          <a:p xmlns:a="http://schemas.openxmlformats.org/drawingml/2006/main">
            <a:r>
              <a:t>      "업무효율",</a:t>
            </a:r>
          </a:p>
          <a:p xmlns:a="http://schemas.openxmlformats.org/drawingml/2006/main">
            <a:r>
              <a:t>      "직원",</a:t>
            </a:r>
          </a:p>
          <a:p xmlns:a="http://schemas.openxmlformats.org/drawingml/2006/main">
            <a:r>
              <a:t>      "권한",</a:t>
            </a:r>
          </a:p>
          <a:p xmlns:a="http://schemas.openxmlformats.org/drawingml/2006/main">
            <a:r>
              <a:t>      "성과 측정"</a:t>
            </a:r>
          </a:p>
          <a:p xmlns:a="http://schemas.openxmlformats.org/drawingml/2006/main">
            <a:r>
              <a:t>    ],</a:t>
            </a:r>
          </a:p>
          <a:p xmlns:a="http://schemas.openxmlformats.org/drawingml/2006/main">
            <a:r>
              <a:t>    "fact": "2만 명 규모 실험; 설문 응답자 7,115명의 자기보고 시간 절약 평균 약 26분/일",</a:t>
            </a:r>
          </a:p>
          <a:p xmlns:a="http://schemas.openxmlformats.org/drawingml/2006/main">
            <a:r>
              <a:t>    "limit": "실측 인과효과 아님 · 복잡한 맥락·데이터 업무 한계 · 기존 자료 과다공유 위험",</a:t>
            </a:r>
          </a:p>
          <a:p xmlns:a="http://schemas.openxmlformats.org/drawingml/2006/main">
            <a:r>
              <a:t>    "flow": [</a:t>
            </a:r>
          </a:p>
          <a:p xmlns:a="http://schemas.openxmlformats.org/drawingml/2006/main">
            <a:r>
              <a:t>      "직원 요청",</a:t>
            </a:r>
          </a:p>
          <a:p xmlns:a="http://schemas.openxmlformats.org/drawingml/2006/main">
            <a:r>
              <a:t>      "기존 접근권한",</a:t>
            </a:r>
          </a:p>
          <a:p xmlns:a="http://schemas.openxmlformats.org/drawingml/2006/main">
            <a:r>
              <a:t>      "업무 자료 검색",</a:t>
            </a:r>
          </a:p>
          <a:p xmlns:a="http://schemas.openxmlformats.org/drawingml/2006/main">
            <a:r>
              <a:t>      "초안·직원 검토"</a:t>
            </a:r>
          </a:p>
          <a:p xmlns:a="http://schemas.openxmlformats.org/drawingml/2006/main">
            <a:r>
              <a:t>    ],</a:t>
            </a:r>
          </a:p>
          <a:p xmlns:a="http://schemas.openxmlformats.org/drawingml/2006/main">
            <a:r>
              <a:t>    "flowBasis": "보고서의 기능·권한 설명 기반 재구성",</a:t>
            </a:r>
          </a:p>
          <a:p xmlns:a="http://schemas.openxmlformats.org/drawingml/2006/main">
            <a:r>
              <a:t>    "lesson":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"assets": [</a:t>
            </a:r>
          </a:p>
          <a:p xmlns:a="http://schemas.openxmlformats.org/drawingml/2006/main">
            <a:r>
              <a:t>      "CCK-01",</a:t>
            </a:r>
          </a:p>
          <a:p xmlns:a="http://schemas.openxmlformats.org/drawingml/2006/main">
            <a:r>
              <a:t>      "CCK-03"</a:t>
            </a:r>
          </a:p>
          <a:p xmlns:a="http://schemas.openxmlformats.org/drawingml/2006/main">
            <a:r>
              <a:t>    ],</a:t>
            </a:r>
          </a:p>
          <a:p xmlns:a="http://schemas.openxmlformats.org/drawingml/2006/main">
            <a:r>
              <a:t>    "delta": "로그인 ID–조직 연결 / 직무별 검색·서식 / 검토시간 포함 계측",</a:t>
            </a:r>
          </a:p>
          <a:p xmlns:a="http://schemas.openxmlformats.org/drawingml/2006/main">
            <a:r>
              <a:t>    "test": "권한 교차 시험과 동일 난도 업무의 전후·비교군 평가",</a:t>
            </a:r>
          </a:p>
          <a:p xmlns:a="http://schemas.openxmlformats.org/drawingml/2006/main">
            <a:r>
              <a:t>    "metric": "검토·재작업 포함 완료시간 / 오류율"</a:t>
            </a:r>
          </a:p>
          <a:p xmlns:a="http://schemas.openxmlformats.org/drawingml/2006/main">
            <a:r>
              <a:t>  },</a:t>
            </a:r>
          </a:p>
          <a:p xmlns:a="http://schemas.openxmlformats.org/drawingml/2006/main">
            <a:r>
              <a:t>  "design": {</a:t>
            </a:r>
          </a:p>
          <a:p xmlns:a="http://schemas.openxmlformats.org/drawingml/2006/main">
            <a:r>
              <a:t>    "id": "AX04",</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"공무원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 작성·검색",</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접근 가능한 자료",</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요청",</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"기존 접근권한",</a:t>
            </a:r>
          </a:p>
          <a:p xmlns:a="http://schemas.openxmlformats.org/drawingml/2006/main">
            <a:r>
              <a:t>        "input": "업무 요청",</a:t>
            </a:r>
          </a:p>
          <a:p xmlns:a="http://schemas.openxmlformats.org/drawingml/2006/main">
            <a:r>
              <a:t>        "process": "허용 자료에 근거한 검색·요약·작성",</a:t>
            </a:r>
          </a:p>
          <a:p xmlns:a="http://schemas.openxmlformats.org/drawingml/2006/main">
            <a:r>
              <a:t>        "output": "권한 내 근거"</a:t>
            </a:r>
          </a:p>
          <a:p xmlns:a="http://schemas.openxmlformats.org/drawingml/2006/main">
            <a:r>
              <a:t>      },</a:t>
            </a:r>
          </a:p>
          <a:p xmlns:a="http://schemas.openxmlformats.org/drawingml/2006/main">
            <a:r>
              <a:t>      {</a:t>
            </a:r>
          </a:p>
          <a:p xmlns:a="http://schemas.openxmlformats.org/drawingml/2006/main">
            <a:r>
              <a:t>        "title": "업무 자료 검색",</a:t>
            </a:r>
          </a:p>
          <a:p xmlns:a="http://schemas.openxmlformats.org/drawingml/2006/main">
            <a:r>
              <a:t>        "input": "권한 내 근거",</a:t>
            </a:r>
          </a:p>
          <a:p xmlns:a="http://schemas.openxmlformats.org/drawingml/2006/main">
            <a:r>
              <a:t>        "process": "정답·검토시간을 포함한 비교 평가",</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"title": "초안·직원 검토",</a:t>
            </a:r>
          </a:p>
          <a:p xmlns:a="http://schemas.openxmlformats.org/drawingml/2006/main">
            <a:r>
              <a:t>        "input": "문서·회의 초안",</a:t>
            </a:r>
          </a:p>
          <a:p xmlns:a="http://schemas.openxmlformats.org/drawingml/2006/main">
            <a:r>
              <a:t>        "process":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접근 가능한 자료",</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"허용 자료에 근거한 검색·요약·작성",</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"문서·회의 초안",</a:t>
            </a:r>
          </a:p>
          <a:p xmlns:a="http://schemas.openxmlformats.org/drawingml/2006/main">
            <a:r>
              <a:t>          "processing":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"S04",</a:t>
            </a:r>
          </a:p>
          <a:p xmlns:a="http://schemas.openxmlformats.org/drawingml/2006/main">
            <a:r>
              <a:t>        "title": "영국 정부 · M365 Copilot 실험 보고서",</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"published": "2025-06-02",</a:t>
            </a:r>
          </a:p>
          <a:p xmlns:a="http://schemas.openxmlformats.org/drawingml/2006/main">
            <a:r>
              <a:t>        "level": "정부 실험 / 이용자 자기보고",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"sourceDetail": null,</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"정답·검토시간을 포함한 비교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"기존 접근 가능한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요청 → 기존 접근권한 → 업무 자료 검색 → 초안·직원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"문서·회의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"문서·회의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"같은 요청을 부서·직무별로 분류하고 원천 접근권한을 검색 전 집행"</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"정답·검토시간을 포함한 비교 평가",</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"기존 접근 가능한 자료",</a:t>
            </a:r>
          </a:p>
          <a:p xmlns:a="http://schemas.openxmlformats.org/drawingml/2006/main">
            <a:r>
              <a:t>        "prepare": "M365 문서·회의 자료의 공유범위 점검",</a:t>
            </a:r>
          </a:p>
          <a:p xmlns:a="http://schemas.openxmlformats.org/drawingml/2006/main">
            <a:r>
              <a:t>        "output": "업무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"AX04",</a:t>
            </a:r>
          </a:p>
          <a:p xmlns:a="http://schemas.openxmlformats.org/drawingml/2006/main">
            <a:r>
              <a:t>    "success": [</a:t>
            </a:r>
          </a:p>
          <a:p xmlns:a="http://schemas.openxmlformats.org/drawingml/2006/main">
            <a:r>
              <a:t>      "기존 문서·회의 도구 안의 지원",</a:t>
            </a:r>
          </a:p>
          <a:p xmlns:a="http://schemas.openxmlformats.org/drawingml/2006/main">
            <a:r>
              <a:t>      "실제 직원의 활용·피드백 수집"</a:t>
            </a:r>
          </a:p>
          <a:p xmlns:a="http://schemas.openxmlformats.org/drawingml/2006/main">
            <a:r>
              <a:t>    ],</a:t>
            </a:r>
          </a:p>
          <a:p xmlns:a="http://schemas.openxmlformats.org/drawingml/2006/main">
            <a:r>
              <a:t>    "risks": [</a:t>
            </a:r>
          </a:p>
          <a:p xmlns:a="http://schemas.openxmlformats.org/drawingml/2006/main">
            <a:r>
              <a:t>      "업무별 효과 편차",</a:t>
            </a:r>
          </a:p>
          <a:p xmlns:a="http://schemas.openxmlformats.org/drawingml/2006/main">
            <a:r>
              <a:t>      "자기보고 절감시간과 실측시간의 차이"</a:t>
            </a:r>
          </a:p>
          <a:p xmlns:a="http://schemas.openxmlformats.org/drawingml/2006/main">
            <a:r>
              <a:t>    ],</a:t>
            </a:r>
          </a:p>
          <a:p xmlns:a="http://schemas.openxmlformats.org/drawingml/2006/main">
            <a:r>
              <a:t>    "architecture": [</a:t>
            </a:r>
          </a:p>
          <a:p xmlns:a="http://schemas.openxmlformats.org/drawingml/2006/main">
            <a:r>
              <a:t>      "공무원 M365",</a:t>
            </a:r>
          </a:p>
          <a:p xmlns:a="http://schemas.openxmlformats.org/drawingml/2006/main">
            <a:r>
              <a:t>      "Copilot 작성·검색",</a:t>
            </a:r>
          </a:p>
          <a:p xmlns:a="http://schemas.openxmlformats.org/drawingml/2006/main">
            <a:r>
              <a:t>      "기존 접근 가능한 자료",</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"권한 내 근거",</a:t>
            </a:r>
          </a:p>
          <a:p xmlns:a="http://schemas.openxmlformats.org/drawingml/2006/main">
            <a:r>
              <a:t>      "문서·회의 초안",</a:t>
            </a:r>
          </a:p>
          <a:p xmlns:a="http://schemas.openxmlformats.org/drawingml/2006/main">
            <a:r>
              <a:t>      "검토 결과"</a:t>
            </a:r>
          </a:p>
          <a:p xmlns:a="http://schemas.openxmlformats.org/drawingml/2006/main">
            <a:r>
              <a:t>    ],</a:t>
            </a:r>
          </a:p>
          <a:p xmlns:a="http://schemas.openxmlformats.org/drawingml/2006/main">
            <a:r>
              <a:t>    "control": "정답·검토시간을 포함한 비교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영국 정부 · M365 Copilot 실험 보고서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https://heen1987-ops.github.io/TS-business-Plan-001/index.html?view=casebook&amp;case=AX04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"AX04",</a:t>
            </a:r>
          </a:p>
          <a:p xmlns:a="http://schemas.openxmlformats.org/drawingml/2006/main">
            <a:r>
              <a:t>    "title": "영국 정부 M365 Copilot",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"직원 업무 생산성 실험",</a:t>
            </a:r>
          </a:p>
          <a:p xmlns:a="http://schemas.openxmlformats.org/drawingml/2006/main">
            <a:r>
              <a:t>    "period": "2024.09–12 실험",</a:t>
            </a:r>
          </a:p>
          <a:p xmlns:a="http://schemas.openxmlformats.org/drawingml/2006/main">
            <a:r>
              <a:t>    "sources": [</a:t>
            </a:r>
          </a:p>
          <a:p xmlns:a="http://schemas.openxmlformats.org/drawingml/2006/main">
            <a:r>
              <a:t>      "S04"</a:t>
            </a:r>
          </a:p>
          <a:p xmlns:a="http://schemas.openxmlformats.org/drawingml/2006/main">
            <a:r>
              <a:t>    ],</a:t>
            </a:r>
          </a:p>
          <a:p xmlns:a="http://schemas.openxmlformats.org/drawingml/2006/main">
            <a:r>
              <a:t>    "keywords": [</a:t>
            </a:r>
          </a:p>
          <a:p xmlns:a="http://schemas.openxmlformats.org/drawingml/2006/main">
            <a:r>
              <a:t>      "업무효율",</a:t>
            </a:r>
          </a:p>
          <a:p xmlns:a="http://schemas.openxmlformats.org/drawingml/2006/main">
            <a:r>
              <a:t>      "직원",</a:t>
            </a:r>
          </a:p>
          <a:p xmlns:a="http://schemas.openxmlformats.org/drawingml/2006/main">
            <a:r>
              <a:t>      "권한",</a:t>
            </a:r>
          </a:p>
          <a:p xmlns:a="http://schemas.openxmlformats.org/drawingml/2006/main">
            <a:r>
              <a:t>      "성과 측정"</a:t>
            </a:r>
          </a:p>
          <a:p xmlns:a="http://schemas.openxmlformats.org/drawingml/2006/main">
            <a:r>
              <a:t>    ],</a:t>
            </a:r>
          </a:p>
          <a:p xmlns:a="http://schemas.openxmlformats.org/drawingml/2006/main">
            <a:r>
              <a:t>    "fact": "2만 명 규모 실험; 설문 응답자 7,115명의 자기보고 시간 절약 평균 약 26분/일",</a:t>
            </a:r>
          </a:p>
          <a:p xmlns:a="http://schemas.openxmlformats.org/drawingml/2006/main">
            <a:r>
              <a:t>    "limit": "실측 인과효과 아님 · 복잡한 맥락·데이터 업무 한계 · 기존 자료 과다공유 위험",</a:t>
            </a:r>
          </a:p>
          <a:p xmlns:a="http://schemas.openxmlformats.org/drawingml/2006/main">
            <a:r>
              <a:t>    "flow": [</a:t>
            </a:r>
          </a:p>
          <a:p xmlns:a="http://schemas.openxmlformats.org/drawingml/2006/main">
            <a:r>
              <a:t>      "직원 요청",</a:t>
            </a:r>
          </a:p>
          <a:p xmlns:a="http://schemas.openxmlformats.org/drawingml/2006/main">
            <a:r>
              <a:t>      "기존 접근권한",</a:t>
            </a:r>
          </a:p>
          <a:p xmlns:a="http://schemas.openxmlformats.org/drawingml/2006/main">
            <a:r>
              <a:t>      "업무 자료 검색",</a:t>
            </a:r>
          </a:p>
          <a:p xmlns:a="http://schemas.openxmlformats.org/drawingml/2006/main">
            <a:r>
              <a:t>      "초안·직원 검토"</a:t>
            </a:r>
          </a:p>
          <a:p xmlns:a="http://schemas.openxmlformats.org/drawingml/2006/main">
            <a:r>
              <a:t>    ],</a:t>
            </a:r>
          </a:p>
          <a:p xmlns:a="http://schemas.openxmlformats.org/drawingml/2006/main">
            <a:r>
              <a:t>    "flowBasis": "보고서의 기능·권한 설명 기반 재구성",</a:t>
            </a:r>
          </a:p>
          <a:p xmlns:a="http://schemas.openxmlformats.org/drawingml/2006/main">
            <a:r>
              <a:t>    "lesson":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"assets": [</a:t>
            </a:r>
          </a:p>
          <a:p xmlns:a="http://schemas.openxmlformats.org/drawingml/2006/main">
            <a:r>
              <a:t>      "CCK-01",</a:t>
            </a:r>
          </a:p>
          <a:p xmlns:a="http://schemas.openxmlformats.org/drawingml/2006/main">
            <a:r>
              <a:t>      "CCK-03"</a:t>
            </a:r>
          </a:p>
          <a:p xmlns:a="http://schemas.openxmlformats.org/drawingml/2006/main">
            <a:r>
              <a:t>    ],</a:t>
            </a:r>
          </a:p>
          <a:p xmlns:a="http://schemas.openxmlformats.org/drawingml/2006/main">
            <a:r>
              <a:t>    "delta": "로그인 ID–조직 연결 / 직무별 검색·서식 / 검토시간 포함 계측",</a:t>
            </a:r>
          </a:p>
          <a:p xmlns:a="http://schemas.openxmlformats.org/drawingml/2006/main">
            <a:r>
              <a:t>    "test": "권한 교차 시험과 동일 난도 업무의 전후·비교군 평가",</a:t>
            </a:r>
          </a:p>
          <a:p xmlns:a="http://schemas.openxmlformats.org/drawingml/2006/main">
            <a:r>
              <a:t>    "metric": "검토·재작업 포함 완료시간 / 오류율"</a:t>
            </a:r>
          </a:p>
          <a:p xmlns:a="http://schemas.openxmlformats.org/drawingml/2006/main">
            <a:r>
              <a:t>  },</a:t>
            </a:r>
          </a:p>
          <a:p xmlns:a="http://schemas.openxmlformats.org/drawingml/2006/main">
            <a:r>
              <a:t>  "design": {</a:t>
            </a:r>
          </a:p>
          <a:p xmlns:a="http://schemas.openxmlformats.org/drawingml/2006/main">
            <a:r>
              <a:t>    "id": "AX04",</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"공무원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 작성·검색",</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접근 가능한 자료",</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요청",</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"기존 접근권한",</a:t>
            </a:r>
          </a:p>
          <a:p xmlns:a="http://schemas.openxmlformats.org/drawingml/2006/main">
            <a:r>
              <a:t>        "input": "업무 요청",</a:t>
            </a:r>
          </a:p>
          <a:p xmlns:a="http://schemas.openxmlformats.org/drawingml/2006/main">
            <a:r>
              <a:t>        "process": "허용 자료에 근거한 검색·요약·작성",</a:t>
            </a:r>
          </a:p>
          <a:p xmlns:a="http://schemas.openxmlformats.org/drawingml/2006/main">
            <a:r>
              <a:t>        "output": "권한 내 근거"</a:t>
            </a:r>
          </a:p>
          <a:p xmlns:a="http://schemas.openxmlformats.org/drawingml/2006/main">
            <a:r>
              <a:t>      },</a:t>
            </a:r>
          </a:p>
          <a:p xmlns:a="http://schemas.openxmlformats.org/drawingml/2006/main">
            <a:r>
              <a:t>      {</a:t>
            </a:r>
          </a:p>
          <a:p xmlns:a="http://schemas.openxmlformats.org/drawingml/2006/main">
            <a:r>
              <a:t>        "title": "업무 자료 검색",</a:t>
            </a:r>
          </a:p>
          <a:p xmlns:a="http://schemas.openxmlformats.org/drawingml/2006/main">
            <a:r>
              <a:t>        "input": "권한 내 근거",</a:t>
            </a:r>
          </a:p>
          <a:p xmlns:a="http://schemas.openxmlformats.org/drawingml/2006/main">
            <a:r>
              <a:t>        "process": "정답·검토시간을 포함한 비교 평가",</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"title": "초안·직원 검토",</a:t>
            </a:r>
          </a:p>
          <a:p xmlns:a="http://schemas.openxmlformats.org/drawingml/2006/main">
            <a:r>
              <a:t>        "input": "문서·회의 초안",</a:t>
            </a:r>
          </a:p>
          <a:p xmlns:a="http://schemas.openxmlformats.org/drawingml/2006/main">
            <a:r>
              <a:t>        "process":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접근 가능한 자료",</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"허용 자료에 근거한 검색·요약·작성",</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"문서·회의 초안",</a:t>
            </a:r>
          </a:p>
          <a:p xmlns:a="http://schemas.openxmlformats.org/drawingml/2006/main">
            <a:r>
              <a:t>          "processing":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"S04",</a:t>
            </a:r>
          </a:p>
          <a:p xmlns:a="http://schemas.openxmlformats.org/drawingml/2006/main">
            <a:r>
              <a:t>        "title": "영국 정부 · M365 Copilot 실험 보고서",</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"published": "2025-06-02",</a:t>
            </a:r>
          </a:p>
          <a:p xmlns:a="http://schemas.openxmlformats.org/drawingml/2006/main">
            <a:r>
              <a:t>        "level": "정부 실험 / 이용자 자기보고",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"sourceDetail": null,</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"정답·검토시간을 포함한 비교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"기존 접근 가능한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요청 → 기존 접근권한 → 업무 자료 검색 → 초안·직원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"문서·회의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"문서·회의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"같은 요청을 부서·직무별로 분류하고 원천 접근권한을 검색 전 집행"</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"정답·검토시간을 포함한 비교 평가",</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"기존 접근 가능한 자료",</a:t>
            </a:r>
          </a:p>
          <a:p xmlns:a="http://schemas.openxmlformats.org/drawingml/2006/main">
            <a:r>
              <a:t>        "prepare": "M365 문서·회의 자료의 공유범위 점검",</a:t>
            </a:r>
          </a:p>
          <a:p xmlns:a="http://schemas.openxmlformats.org/drawingml/2006/main">
            <a:r>
              <a:t>        "output": "업무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"AX04",</a:t>
            </a:r>
          </a:p>
          <a:p xmlns:a="http://schemas.openxmlformats.org/drawingml/2006/main">
            <a:r>
              <a:t>    "success": [</a:t>
            </a:r>
          </a:p>
          <a:p xmlns:a="http://schemas.openxmlformats.org/drawingml/2006/main">
            <a:r>
              <a:t>      "기존 문서·회의 도구 안의 지원",</a:t>
            </a:r>
          </a:p>
          <a:p xmlns:a="http://schemas.openxmlformats.org/drawingml/2006/main">
            <a:r>
              <a:t>      "실제 직원의 활용·피드백 수집"</a:t>
            </a:r>
          </a:p>
          <a:p xmlns:a="http://schemas.openxmlformats.org/drawingml/2006/main">
            <a:r>
              <a:t>    ],</a:t>
            </a:r>
          </a:p>
          <a:p xmlns:a="http://schemas.openxmlformats.org/drawingml/2006/main">
            <a:r>
              <a:t>    "risks": [</a:t>
            </a:r>
          </a:p>
          <a:p xmlns:a="http://schemas.openxmlformats.org/drawingml/2006/main">
            <a:r>
              <a:t>      "업무별 효과 편차",</a:t>
            </a:r>
          </a:p>
          <a:p xmlns:a="http://schemas.openxmlformats.org/drawingml/2006/main">
            <a:r>
              <a:t>      "자기보고 절감시간과 실측시간의 차이"</a:t>
            </a:r>
          </a:p>
          <a:p xmlns:a="http://schemas.openxmlformats.org/drawingml/2006/main">
            <a:r>
              <a:t>    ],</a:t>
            </a:r>
          </a:p>
          <a:p xmlns:a="http://schemas.openxmlformats.org/drawingml/2006/main">
            <a:r>
              <a:t>    "architecture": [</a:t>
            </a:r>
          </a:p>
          <a:p xmlns:a="http://schemas.openxmlformats.org/drawingml/2006/main">
            <a:r>
              <a:t>      "공무원 M365",</a:t>
            </a:r>
          </a:p>
          <a:p xmlns:a="http://schemas.openxmlformats.org/drawingml/2006/main">
            <a:r>
              <a:t>      "Copilot 작성·검색",</a:t>
            </a:r>
          </a:p>
          <a:p xmlns:a="http://schemas.openxmlformats.org/drawingml/2006/main">
            <a:r>
              <a:t>      "기존 접근 가능한 자료",</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"권한 내 근거",</a:t>
            </a:r>
          </a:p>
          <a:p xmlns:a="http://schemas.openxmlformats.org/drawingml/2006/main">
            <a:r>
              <a:t>      "문서·회의 초안",</a:t>
            </a:r>
          </a:p>
          <a:p xmlns:a="http://schemas.openxmlformats.org/drawingml/2006/main">
            <a:r>
              <a:t>      "검토 결과"</a:t>
            </a:r>
          </a:p>
          <a:p xmlns:a="http://schemas.openxmlformats.org/drawingml/2006/main">
            <a:r>
              <a:t>    ],</a:t>
            </a:r>
          </a:p>
          <a:p xmlns:a="http://schemas.openxmlformats.org/drawingml/2006/main">
            <a:r>
              <a:t>    "control": "정답·검토시간을 포함한 비교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영국 정부 · M365 Copilot 실험 보고서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https://heen1987-ops.github.io/TS-business-Plan-001/index.html?view=casebook&amp;case=AX04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"AX04",</a:t>
            </a:r>
          </a:p>
          <a:p xmlns:a="http://schemas.openxmlformats.org/drawingml/2006/main">
            <a:r>
              <a:t>    "title": "영국 정부 M365 Copilot",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"직원 업무 생산성 실험",</a:t>
            </a:r>
          </a:p>
          <a:p xmlns:a="http://schemas.openxmlformats.org/drawingml/2006/main">
            <a:r>
              <a:t>    "period": "2024.09–12 실험",</a:t>
            </a:r>
          </a:p>
          <a:p xmlns:a="http://schemas.openxmlformats.org/drawingml/2006/main">
            <a:r>
              <a:t>    "sources": [</a:t>
            </a:r>
          </a:p>
          <a:p xmlns:a="http://schemas.openxmlformats.org/drawingml/2006/main">
            <a:r>
              <a:t>      "S04"</a:t>
            </a:r>
          </a:p>
          <a:p xmlns:a="http://schemas.openxmlformats.org/drawingml/2006/main">
            <a:r>
              <a:t>    ],</a:t>
            </a:r>
          </a:p>
          <a:p xmlns:a="http://schemas.openxmlformats.org/drawingml/2006/main">
            <a:r>
              <a:t>    "keywords": [</a:t>
            </a:r>
          </a:p>
          <a:p xmlns:a="http://schemas.openxmlformats.org/drawingml/2006/main">
            <a:r>
              <a:t>      "업무효율",</a:t>
            </a:r>
          </a:p>
          <a:p xmlns:a="http://schemas.openxmlformats.org/drawingml/2006/main">
            <a:r>
              <a:t>      "직원",</a:t>
            </a:r>
          </a:p>
          <a:p xmlns:a="http://schemas.openxmlformats.org/drawingml/2006/main">
            <a:r>
              <a:t>      "권한",</a:t>
            </a:r>
          </a:p>
          <a:p xmlns:a="http://schemas.openxmlformats.org/drawingml/2006/main">
            <a:r>
              <a:t>      "성과 측정"</a:t>
            </a:r>
          </a:p>
          <a:p xmlns:a="http://schemas.openxmlformats.org/drawingml/2006/main">
            <a:r>
              <a:t>    ],</a:t>
            </a:r>
          </a:p>
          <a:p xmlns:a="http://schemas.openxmlformats.org/drawingml/2006/main">
            <a:r>
              <a:t>    "fact": "2만 명 규모 실험; 설문 응답자 7,115명의 자기보고 시간 절약 평균 약 26분/일",</a:t>
            </a:r>
          </a:p>
          <a:p xmlns:a="http://schemas.openxmlformats.org/drawingml/2006/main">
            <a:r>
              <a:t>    "limit": "실측 인과효과 아님 · 복잡한 맥락·데이터 업무 한계 · 기존 자료 과다공유 위험",</a:t>
            </a:r>
          </a:p>
          <a:p xmlns:a="http://schemas.openxmlformats.org/drawingml/2006/main">
            <a:r>
              <a:t>    "flow": [</a:t>
            </a:r>
          </a:p>
          <a:p xmlns:a="http://schemas.openxmlformats.org/drawingml/2006/main">
            <a:r>
              <a:t>      "직원 요청",</a:t>
            </a:r>
          </a:p>
          <a:p xmlns:a="http://schemas.openxmlformats.org/drawingml/2006/main">
            <a:r>
              <a:t>      "기존 접근권한",</a:t>
            </a:r>
          </a:p>
          <a:p xmlns:a="http://schemas.openxmlformats.org/drawingml/2006/main">
            <a:r>
              <a:t>      "업무 자료 검색",</a:t>
            </a:r>
          </a:p>
          <a:p xmlns:a="http://schemas.openxmlformats.org/drawingml/2006/main">
            <a:r>
              <a:t>      "초안·직원 검토"</a:t>
            </a:r>
          </a:p>
          <a:p xmlns:a="http://schemas.openxmlformats.org/drawingml/2006/main">
            <a:r>
              <a:t>    ],</a:t>
            </a:r>
          </a:p>
          <a:p xmlns:a="http://schemas.openxmlformats.org/drawingml/2006/main">
            <a:r>
              <a:t>    "flowBasis": "보고서의 기능·권한 설명 기반 재구성",</a:t>
            </a:r>
          </a:p>
          <a:p xmlns:a="http://schemas.openxmlformats.org/drawingml/2006/main">
            <a:r>
              <a:t>    "lesson":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"assets": [</a:t>
            </a:r>
          </a:p>
          <a:p xmlns:a="http://schemas.openxmlformats.org/drawingml/2006/main">
            <a:r>
              <a:t>      "CCK-01",</a:t>
            </a:r>
          </a:p>
          <a:p xmlns:a="http://schemas.openxmlformats.org/drawingml/2006/main">
            <a:r>
              <a:t>      "CCK-03"</a:t>
            </a:r>
          </a:p>
          <a:p xmlns:a="http://schemas.openxmlformats.org/drawingml/2006/main">
            <a:r>
              <a:t>    ],</a:t>
            </a:r>
          </a:p>
          <a:p xmlns:a="http://schemas.openxmlformats.org/drawingml/2006/main">
            <a:r>
              <a:t>    "delta": "로그인 ID–조직 연결 / 직무별 검색·서식 / 검토시간 포함 계측",</a:t>
            </a:r>
          </a:p>
          <a:p xmlns:a="http://schemas.openxmlformats.org/drawingml/2006/main">
            <a:r>
              <a:t>    "test": "권한 교차 시험과 동일 난도 업무의 전후·비교군 평가",</a:t>
            </a:r>
          </a:p>
          <a:p xmlns:a="http://schemas.openxmlformats.org/drawingml/2006/main">
            <a:r>
              <a:t>    "metric": "검토·재작업 포함 완료시간 / 오류율"</a:t>
            </a:r>
          </a:p>
          <a:p xmlns:a="http://schemas.openxmlformats.org/drawingml/2006/main">
            <a:r>
              <a:t>  },</a:t>
            </a:r>
          </a:p>
          <a:p xmlns:a="http://schemas.openxmlformats.org/drawingml/2006/main">
            <a:r>
              <a:t>  "design": {</a:t>
            </a:r>
          </a:p>
          <a:p xmlns:a="http://schemas.openxmlformats.org/drawingml/2006/main">
            <a:r>
              <a:t>    "id": "AX04",</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"공무원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 작성·검색",</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접근 가능한 자료",</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요청",</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"기존 접근권한",</a:t>
            </a:r>
          </a:p>
          <a:p xmlns:a="http://schemas.openxmlformats.org/drawingml/2006/main">
            <a:r>
              <a:t>        "input": "업무 요청",</a:t>
            </a:r>
          </a:p>
          <a:p xmlns:a="http://schemas.openxmlformats.org/drawingml/2006/main">
            <a:r>
              <a:t>        "process": "허용 자료에 근거한 검색·요약·작성",</a:t>
            </a:r>
          </a:p>
          <a:p xmlns:a="http://schemas.openxmlformats.org/drawingml/2006/main">
            <a:r>
              <a:t>        "output": "권한 내 근거"</a:t>
            </a:r>
          </a:p>
          <a:p xmlns:a="http://schemas.openxmlformats.org/drawingml/2006/main">
            <a:r>
              <a:t>      },</a:t>
            </a:r>
          </a:p>
          <a:p xmlns:a="http://schemas.openxmlformats.org/drawingml/2006/main">
            <a:r>
              <a:t>      {</a:t>
            </a:r>
          </a:p>
          <a:p xmlns:a="http://schemas.openxmlformats.org/drawingml/2006/main">
            <a:r>
              <a:t>        "title": "업무 자료 검색",</a:t>
            </a:r>
          </a:p>
          <a:p xmlns:a="http://schemas.openxmlformats.org/drawingml/2006/main">
            <a:r>
              <a:t>        "input": "권한 내 근거",</a:t>
            </a:r>
          </a:p>
          <a:p xmlns:a="http://schemas.openxmlformats.org/drawingml/2006/main">
            <a:r>
              <a:t>        "process": "정답·검토시간을 포함한 비교 평가",</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"title": "초안·직원 검토",</a:t>
            </a:r>
          </a:p>
          <a:p xmlns:a="http://schemas.openxmlformats.org/drawingml/2006/main">
            <a:r>
              <a:t>        "input": "문서·회의 초안",</a:t>
            </a:r>
          </a:p>
          <a:p xmlns:a="http://schemas.openxmlformats.org/drawingml/2006/main">
            <a:r>
              <a:t>        "process":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접근 가능한 자료",</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"허용 자료에 근거한 검색·요약·작성",</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"문서·회의 초안",</a:t>
            </a:r>
          </a:p>
          <a:p xmlns:a="http://schemas.openxmlformats.org/drawingml/2006/main">
            <a:r>
              <a:t>          "processing":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"S04",</a:t>
            </a:r>
          </a:p>
          <a:p xmlns:a="http://schemas.openxmlformats.org/drawingml/2006/main">
            <a:r>
              <a:t>        "title": "영국 정부 · M365 Copilot 실험 보고서",</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"published": "2025-06-02",</a:t>
            </a:r>
          </a:p>
          <a:p xmlns:a="http://schemas.openxmlformats.org/drawingml/2006/main">
            <a:r>
              <a:t>        "level": "정부 실험 / 이용자 자기보고",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"sourceDetail": null,</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"정답·검토시간을 포함한 비교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"기존 접근 가능한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요청 → 기존 접근권한 → 업무 자료 검색 → 초안·직원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"문서·회의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"문서·회의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"같은 요청을 부서·직무별로 분류하고 원천 접근권한을 검색 전 집행"</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"정답·검토시간을 포함한 비교 평가",</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"기존 접근 가능한 자료",</a:t>
            </a:r>
          </a:p>
          <a:p xmlns:a="http://schemas.openxmlformats.org/drawingml/2006/main">
            <a:r>
              <a:t>        "prepare": "M365 문서·회의 자료의 공유범위 점검",</a:t>
            </a:r>
          </a:p>
          <a:p xmlns:a="http://schemas.openxmlformats.org/drawingml/2006/main">
            <a:r>
              <a:t>        "output": "업무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"AX04",</a:t>
            </a:r>
          </a:p>
          <a:p xmlns:a="http://schemas.openxmlformats.org/drawingml/2006/main">
            <a:r>
              <a:t>    "success": [</a:t>
            </a:r>
          </a:p>
          <a:p xmlns:a="http://schemas.openxmlformats.org/drawingml/2006/main">
            <a:r>
              <a:t>      "기존 문서·회의 도구 안의 지원",</a:t>
            </a:r>
          </a:p>
          <a:p xmlns:a="http://schemas.openxmlformats.org/drawingml/2006/main">
            <a:r>
              <a:t>      "실제 직원의 활용·피드백 수집"</a:t>
            </a:r>
          </a:p>
          <a:p xmlns:a="http://schemas.openxmlformats.org/drawingml/2006/main">
            <a:r>
              <a:t>    ],</a:t>
            </a:r>
          </a:p>
          <a:p xmlns:a="http://schemas.openxmlformats.org/drawingml/2006/main">
            <a:r>
              <a:t>    "risks": [</a:t>
            </a:r>
          </a:p>
          <a:p xmlns:a="http://schemas.openxmlformats.org/drawingml/2006/main">
            <a:r>
              <a:t>      "업무별 효과 편차",</a:t>
            </a:r>
          </a:p>
          <a:p xmlns:a="http://schemas.openxmlformats.org/drawingml/2006/main">
            <a:r>
              <a:t>      "자기보고 절감시간과 실측시간의 차이"</a:t>
            </a:r>
          </a:p>
          <a:p xmlns:a="http://schemas.openxmlformats.org/drawingml/2006/main">
            <a:r>
              <a:t>    ],</a:t>
            </a:r>
          </a:p>
          <a:p xmlns:a="http://schemas.openxmlformats.org/drawingml/2006/main">
            <a:r>
              <a:t>    "architecture": [</a:t>
            </a:r>
          </a:p>
          <a:p xmlns:a="http://schemas.openxmlformats.org/drawingml/2006/main">
            <a:r>
              <a:t>      "공무원 M365",</a:t>
            </a:r>
          </a:p>
          <a:p xmlns:a="http://schemas.openxmlformats.org/drawingml/2006/main">
            <a:r>
              <a:t>      "Copilot 작성·검색",</a:t>
            </a:r>
          </a:p>
          <a:p xmlns:a="http://schemas.openxmlformats.org/drawingml/2006/main">
            <a:r>
              <a:t>      "기존 접근 가능한 자료",</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"권한 내 근거",</a:t>
            </a:r>
          </a:p>
          <a:p xmlns:a="http://schemas.openxmlformats.org/drawingml/2006/main">
            <a:r>
              <a:t>      "문서·회의 초안",</a:t>
            </a:r>
          </a:p>
          <a:p xmlns:a="http://schemas.openxmlformats.org/drawingml/2006/main">
            <a:r>
              <a:t>      "검토 결과"</a:t>
            </a:r>
          </a:p>
          <a:p xmlns:a="http://schemas.openxmlformats.org/drawingml/2006/main">
            <a:r>
              <a:t>    ],</a:t>
            </a:r>
          </a:p>
          <a:p xmlns:a="http://schemas.openxmlformats.org/drawingml/2006/main">
            <a:r>
              <a:t>    "control": "정답·검토시간을 포함한 비교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영국 정부 · M365 Copilot 실험 보고서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https://heen1987-ops.github.io/TS-business-Plan-001/index.html?view=casebook&amp;case=AX04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a:p xmlns:a="http://schemas.openxmlformats.org/drawingml/2006/main">
            <a:r>
              <a:t>한계: 데이터센터 냉각 한정 · 총 전력·탄소·TS 절감률과 구분</a:t>
            </a:r>
          </a:p>
          <a:p xmlns:a="http://schemas.openxmlformats.org/drawingml/2006/main">
            <a:r>
              <a:t>실패 위험: 계절·부하에 따른 기준선 변화 / 안전 한계를 넓힐 때의 제어 위험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a:p xmlns:a="http://schemas.openxmlformats.org/drawingml/2006/main">
            <a:r>
              <a:t>원문 도면 {"caseId":"AX05","path":"assets/casebook-sources/AX05-01.png","title":"냉각 설비 센서 상태 수집","status":"DeepMind 공식 단계 그림 1/4","caption":"5분마다 현장 센서의 냉각 상태 스냅샷 수집","locator":"Google DeepMind 2018-08-17 / How it works 1","sourceUrl":"https://deepmind.google/blog/safety-first-ai-for-autonomous-data-centre-cooling-and-industrial-control/","checked":"2026-10-16","sha256":"ec28de3ccf82f230a92ff87c048ed311f0c890ebcbd9dae1882ec8a20aabd999","explanation":{"read":"DeepMind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않는다.","requirements":[],"connection":"TS 적용에서는 센서·설비 ID·관측시각을 먼저 대사하고 결측·지연 데이터는 제어 후보 산출에서 제외하는 입력 계약이 필요하다."}}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a:p xmlns:a="http://schemas.openxmlformats.org/drawingml/2006/main">
            <a:r>
              <a:t>원문 도면 {"caseId":"AX05","path":"assets/casebook-sources/AX05-02.png","title":"신경망 예측 단계","status":"DeepMind 공식 단계 그림 2/4","caption":"제어 후보별 미래 효율과 온도 예측","locator":"Google DeepMind 2018-08-17 / How it works 2","sourceUrl":"https://deepmind.google/blog/safety-first-ai-for-autonomous-data-centre-cooling-and-industrial-control/","checked":"2026-10-16","sha256":"3d8852c2f9db075137fc3460ddef99acb193c4b77268f159fca9100379123d6a","explanation":{"read":"센서 상태를 신경망에 투입해 후보 제어가 향후 에너지 효율과 온도에 미칠 영향을 예측하는 두 번째 단계. 이 그림 자체는 특정 모델의 내부 구조나 학습 데이터의 전체 구성을 설명하지 않는다.","requirements":[],"connection":"TS의 실시간 안전 사례에 적용한다면 예측값·불확실성·적용시각을 함께 기록해 권고 결과와 이후 실제 관측의 차이를 평가해야 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a:p xmlns:a="http://schemas.openxmlformats.org/drawingml/2006/main">
            <a:r>
              <a:t>원문 도면 {"caseId":"AX05","path":"assets/casebook-sources/AX05-03.png","title":"안전 제약 내 제어 후보 선정","status":"DeepMind 공식 단계 그림 3/4","caption":"안전 제약을 만족하는 후보 중 에너지 소비 최소화","locator":"Google DeepMind 2018-08-17 / How it works 3","sourceUrl":"https://deepmind.google/blog/safety-first-ai-for-autonomous-data-centre-cooling-and-industrial-control/","checked":"2026-10-16","sha256":"74083db5c1f1d687580f9bb3accbd06dceaac4b89bc5d41222f4f1c1842d43c5","explanation":{"read":"예측된 후보 중 안전 제약을 만족하면서 에너지 소비를 줄일 수 있는 조치를 선택하는 단계. 공개 설명은 후보 선정 후 클라우드 측 안전 검증을 거친다고 명시하며, 제약의 전체 수치와 규칙은 공개하지 않는다.","requirements":[],"connection":"TS에서는 최적화 점수와 필수 안전 조건을 분리해 검수하고, 안전 경계 위반 후보는 효율이 높더라도 채택하지 않는 통제 규칙으로 전환한다."}}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a:p xmlns:a="http://schemas.openxmlformats.org/drawingml/2006/main">
            <a:r>
              <a:t>원문 도면 {"caseId":"AX05","path":"assets/casebook-sources/AX05-04.png","title":"현장 제어계 독립 검증","status":"DeepMind 공식 단계 그림 4/4","caption":"현장 제어계가 별도 안전 제약을 확인한 뒤 실행","locator":"Google DeepMind 2018-08-17 / How it works 4","sourceUrl":"https://deepmind.google/blog/safety-first-ai-for-autonomous-data-centre-cooling-and-industrial-control/","checked":"2026-10-16","sha256":"9e8e418c7a75ef3dc171194ebed38921f65c8c95e29c188fa170a4705d834d27","explanation":{"read":"선정된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않는다.","requirements":[],"connection":"TS의 안전·설비 적용에서는 현장 독립 검증, 제어 거부, 수동 전환의 기록을 분리하고 통신 장애 시 기존 제어 규칙으로 복귀하는 시험을 설계한다."}}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a:p xmlns:a="http://schemas.openxmlformats.org/drawingml/2006/main">
            <a:r>
              <a:t>한계: 공개 안내 검색 범위 · 개인 업무 처리와 담당자 인계는 당시 지원·개선 범위 구분</a:t>
            </a:r>
          </a:p>
          <a:p xmlns:a="http://schemas.openxmlformats.org/drawingml/2006/main">
            <a:r>
              <a:t>실패 위험: 업무 범위 밖 질문 / 응답속도·안내와 실제 처리의 간극</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a:p xmlns:a="http://schemas.openxmlformats.org/drawingml/2006/main">
            <a:r>
              <a:t>원문 도면 {"caseId":"AX06","path":"assets/casebook-sources/AX06-01.png","title":"GOV.UK Chat 2025년 공개 베타 구성","status":"영국 정부 ATRS 공식 C4 아키텍처","caption":"앱·인증·Rails·Bedrock·OpenSearch·PostgreSQL·BigQuery의 운영 경계","locator":"DSIT ATRS 2025-10-07 / 4.1.1 System Architecture / August 2025 public beta","sourceUrl":"https://www.gov.uk/algorithmic-transparency-records/dsit-gov-dot-uk-chat","checked":"2026-10-16","sha256":"8efe82dfdfa8df7ee5312dd13369be76aaf53cb39df42957cad9be1de605fc25","explanation":{"read":"영국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없다.","requirements":[],"connection":"TS 대민 서비스에서는 로그인·공개 콘텐츠·대화 생성·품질 분석의 경계를 구분하고, 검색 원문과 응답·로그의 식별자 및 보존 정책을 별도 검수한다."}}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a:p xmlns:a="http://schemas.openxmlformats.org/drawingml/2006/main">
            <a:r>
              <a:t>원문 도면 {"caseId":"AX06","path":"assets/casebook-sources/AX06-02.png","title":"GOV.UK Chat 초기 파일럿 구성","status":"영국 정부 개발문서 초기 설계도","caption":"2023년 파일럿의 Rails·Redis·PostgreSQL·OpenAI·OpenSearch 계획. 2025년 운영 구성과 구분","locator":"govuk-chat ADR-0001 / Pilot Technical Architecture","sourceUrl":"https://docs.publishing.service.gov.uk/repos/govuk-chat/adr/0001-pilot-technical-architecture.html","checked":"2026-10-16","sha256":"220db41f02597aff9a66bca8744a6772cdc9190c34324538f7862519fb434fc2","explanation":{"read":"GOV.UK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된다.","requirements":[],"connection":"TS 고도화 시 파일럿과 운영 구성의 차이를 사례로 삼아 모델·인증·색인 교체 가능성을 인터페이스와 운영 이력에 반영한다."}}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"AX07",</a:t>
            </a:r>
          </a:p>
          <a:p xmlns:a="http://schemas.openxmlformats.org/drawingml/2006/main">
            <a:r>
              <a:t>    "title": "호주 Robodebt",</a:t>
            </a:r>
          </a:p>
          <a:p xmlns:a="http://schemas.openxmlformats.org/drawingml/2006/main">
            <a:r>
              <a:t>    "region": "해외",</a:t>
            </a:r>
          </a:p>
          <a:p xmlns:a="http://schemas.openxmlformats.org/drawingml/2006/main">
            <a:r>
              <a:t>    "country": "호주",</a:t>
            </a:r>
          </a:p>
          <a:p xmlns:a="http://schemas.openxmlformats.org/drawingml/2006/main">
            <a:r>
              <a:t>    "result": "실패",</a:t>
            </a:r>
          </a:p>
          <a:p xmlns:a="http://schemas.openxmlformats.org/drawingml/2006/main">
            <a:r>
              <a:t>    "kind": "행정 자동화·책임 통제",</a:t>
            </a:r>
          </a:p>
          <a:p xmlns:a="http://schemas.openxmlformats.org/drawingml/2006/main">
            <a:r>
              <a:t>    "period": "2023 최종 조사",</a:t>
            </a:r>
          </a:p>
          <a:p xmlns:a="http://schemas.openxmlformats.org/drawingml/2006/main">
            <a:r>
              <a:t>    "sources": [</a:t>
            </a:r>
          </a:p>
          <a:p xmlns:a="http://schemas.openxmlformats.org/drawingml/2006/main">
            <a:r>
              <a:t>      "S08"</a:t>
            </a:r>
          </a:p>
          <a:p xmlns:a="http://schemas.openxmlformats.org/drawingml/2006/main">
            <a:r>
              <a:t>    ],</a:t>
            </a:r>
          </a:p>
          <a:p xmlns:a="http://schemas.openxmlformats.org/drawingml/2006/main">
            <a:r>
              <a:t>    "keywords": [</a:t>
            </a:r>
          </a:p>
          <a:p xmlns:a="http://schemas.openxmlformats.org/drawingml/2006/main">
            <a:r>
              <a:t>      "행정 판단",</a:t>
            </a:r>
          </a:p>
          <a:p xmlns:a="http://schemas.openxmlformats.org/drawingml/2006/main">
            <a:r>
              <a:t>      "적법성",</a:t>
            </a:r>
          </a:p>
          <a:p xmlns:a="http://schemas.openxmlformats.org/drawingml/2006/main">
            <a:r>
              <a:t>      "이의제기",</a:t>
            </a:r>
          </a:p>
          <a:p xmlns:a="http://schemas.openxmlformats.org/drawingml/2006/main">
            <a:r>
              <a:t>      "공정성"</a:t>
            </a:r>
          </a:p>
          <a:p xmlns:a="http://schemas.openxmlformats.org/drawingml/2006/main">
            <a:r>
              <a:t>    ],</a:t>
            </a:r>
          </a:p>
          <a:p xmlns:a="http://schemas.openxmlformats.org/drawingml/2006/main">
            <a:r>
              <a:t>    "fact": "왕립위원회 최종 조사에서 자동 결정의 법적 틀·재심 경로·데이터 교환 통제·취약계층 대응 개선 권고",</a:t>
            </a:r>
          </a:p>
          <a:p xmlns:a="http://schemas.openxmlformats.org/drawingml/2006/main">
            <a:r>
              <a:t>    "limit": "규칙 기반 행정 자동화의 실패 교훈 · 생성형 AI 사례 아님",</a:t>
            </a:r>
          </a:p>
          <a:p xmlns:a="http://schemas.openxmlformats.org/drawingml/2006/main">
            <a:r>
              <a:t>    "flow": [</a:t>
            </a:r>
          </a:p>
          <a:p xmlns:a="http://schemas.openxmlformats.org/drawingml/2006/main">
            <a:r>
              <a:t>      "기관 간 자료",</a:t>
            </a:r>
          </a:p>
          <a:p xmlns:a="http://schemas.openxmlformats.org/drawingml/2006/main">
            <a:r>
              <a:t>      "자동 산정·결정",</a:t>
            </a:r>
          </a:p>
          <a:p xmlns:a="http://schemas.openxmlformats.org/drawingml/2006/main">
            <a:r>
              <a:t>      "대상자 통지",</a:t>
            </a:r>
          </a:p>
          <a:p xmlns:a="http://schemas.openxmlformats.org/drawingml/2006/main">
            <a:r>
              <a:t>      "이의제기·재심"</a:t>
            </a:r>
          </a:p>
          <a:p xmlns:a="http://schemas.openxmlformats.org/drawingml/2006/main">
            <a:r>
              <a:t>    ],</a:t>
            </a:r>
          </a:p>
          <a:p xmlns:a="http://schemas.openxmlformats.org/drawingml/2006/main">
            <a:r>
              <a:t>    "flowBasis": "조사 권고의 대상 업무를 설명하기 위한 재구성",</a:t>
            </a:r>
          </a:p>
          <a:p xmlns:a="http://schemas.openxmlformats.org/drawingml/2006/main">
            <a:r>
              <a:t>    "lesson":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"근거·입력 검증 / 자동 확정 제한 / 이의제기·재검토 연결",</a:t>
            </a:r>
          </a:p>
          <a:p xmlns:a="http://schemas.openxmlformats.org/drawingml/2006/main">
            <a:r>
              <a:t>    "test": "누락·기간 불일치·권한 부재 시 보류 및 재심 처리 추적",</a:t>
            </a:r>
          </a:p>
          <a:p xmlns:a="http://schemas.openxmlformats.org/drawingml/2006/main">
            <a:r>
              <a:t>    "metric": "근거 누락률 / 오판 보완률 / 이의처리 시간"</a:t>
            </a:r>
          </a:p>
          <a:p xmlns:a="http://schemas.openxmlformats.org/drawingml/2006/main">
            <a:r>
              <a:t>  },</a:t>
            </a:r>
          </a:p>
          <a:p xmlns:a="http://schemas.openxmlformats.org/drawingml/2006/main">
            <a:r>
              <a:t>  "design": {</a:t>
            </a:r>
          </a:p>
          <a:p xmlns:a="http://schemas.openxmlformats.org/drawingml/2006/main">
            <a:r>
              <a:t>    "id": "AX07",</a:t>
            </a:r>
          </a:p>
          <a:p xmlns:a="http://schemas.openxmlformats.org/drawingml/2006/main">
            <a:r>
              <a:t>    "canonicalId": "AX07",</a:t>
            </a:r>
          </a:p>
          <a:p xmlns:a="http://schemas.openxmlformats.org/drawingml/2006/main">
            <a:r>
              <a:t>    "purpose": "자동 행정 산정의 근거·재심 체계 분석",</a:t>
            </a:r>
          </a:p>
          <a:p xmlns:a="http://schemas.openxmlformats.org/drawingml/2006/main">
            <a:r>
              <a:t>    "users": "행정 담당자·대상자·재심 담당",</a:t>
            </a:r>
          </a:p>
          <a:p xmlns:a="http://schemas.openxmlformats.org/drawingml/2006/main">
            <a:r>
              <a:t>    "scope": [</a:t>
            </a:r>
          </a:p>
          <a:p xmlns:a="http://schemas.openxmlformats.org/drawingml/2006/main">
            <a:r>
              <a:t>      "기관 간 자료",</a:t>
            </a:r>
          </a:p>
          <a:p xmlns:a="http://schemas.openxmlformats.org/drawingml/2006/main">
            <a:r>
              <a:t>      "산정·통지",</a:t>
            </a:r>
          </a:p>
          <a:p xmlns:a="http://schemas.openxmlformats.org/drawingml/2006/main">
            <a:r>
              <a:t>      "이의제기"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자료 교환",</a:t>
            </a:r>
          </a:p>
          <a:p xmlns:a="http://schemas.openxmlformats.org/drawingml/2006/main">
            <a:r>
              <a:t>        "detail": "자료의 대상·기간·적용 근거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간 자료 / 산정·통지 / 이의제기",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"자동 산정·통지",</a:t>
            </a:r>
          </a:p>
          <a:p xmlns:a="http://schemas.openxmlformats.org/drawingml/2006/main">
            <a:r>
              <a:t>        "detail": "불일치 자료의 자동 확정 보류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"대상자·재심 담당",</a:t>
            </a:r>
          </a:p>
          <a:p xmlns:a="http://schemas.openxmlformats.org/drawingml/2006/main">
            <a:r>
              <a:t>        "detail": "담당자 검토와 설명 가능한 통지·재심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"소득·산정 근거",</a:t>
            </a:r>
          </a:p>
          <a:p xmlns:a="http://schemas.openxmlformats.org/drawingml/2006/main">
            <a:r>
              <a:t>        "detail": "소득 등 원천자료와 적용기간 분리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"오판·이의제기 결과의 규칙 및 절차 개선",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"기관 간 자료",</a:t>
            </a:r>
          </a:p>
          <a:p xmlns:a="http://schemas.openxmlformats.org/drawingml/2006/main">
            <a:r>
              <a:t>        "input": "자료의 대상·기간·적용 근거 대조",</a:t>
            </a:r>
          </a:p>
          <a:p xmlns:a="http://schemas.openxmlformats.org/drawingml/2006/main">
            <a:r>
              <a:t>        "process": "소득 등 원천자료와 적용기간 분리 관리",</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"title": "자동 산정·결정",</a:t>
            </a:r>
          </a:p>
          <a:p xmlns:a="http://schemas.openxmlformats.org/drawingml/2006/main">
            <a:r>
              <a:t>        "input": "기관별 소득자료",</a:t>
            </a:r>
          </a:p>
          <a:p xmlns:a="http://schemas.openxmlformats.org/drawingml/2006/main">
            <a:r>
              <a:t>        "process": "불일치 자료의 자동 확정 보류 설계",</a:t>
            </a:r>
          </a:p>
          <a:p xmlns:a="http://schemas.openxmlformats.org/drawingml/2006/main">
            <a:r>
              <a:t>        "output": "산정 대상·기간"</a:t>
            </a:r>
          </a:p>
          <a:p xmlns:a="http://schemas.openxmlformats.org/drawingml/2006/main">
            <a:r>
              <a:t>      },</a:t>
            </a:r>
          </a:p>
          <a:p xmlns:a="http://schemas.openxmlformats.org/drawingml/2006/main">
            <a:r>
              <a:t>      {</a:t>
            </a:r>
          </a:p>
          <a:p xmlns:a="http://schemas.openxmlformats.org/drawingml/2006/main">
            <a:r>
              <a:t>        "title": "대상자 통지",</a:t>
            </a:r>
          </a:p>
          <a:p xmlns:a="http://schemas.openxmlformats.org/drawingml/2006/main">
            <a:r>
              <a:t>        "input": "산정 대상·기간",</a:t>
            </a:r>
          </a:p>
          <a:p xmlns:a="http://schemas.openxmlformats.org/drawingml/2006/main">
            <a:r>
              <a:t>        "process": "원천 증빙 불일치 시 자동 확정 보류",</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"title": "이의제기·재심",</a:t>
            </a:r>
          </a:p>
          <a:p xmlns:a="http://schemas.openxmlformats.org/drawingml/2006/main">
            <a:r>
              <a:t>        "input": "채무 통지",</a:t>
            </a:r>
          </a:p>
          <a:p xmlns:a="http://schemas.openxmlformats.org/drawingml/2006/main">
            <a:r>
              <a:t>        "process":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"기간이 일치하는 증빙을 확인한 뒤 담당자가 행정 결과 검토",</a:t>
            </a:r>
          </a:p>
          <a:p xmlns:a="http://schemas.openxmlformats.org/drawingml/2006/main">
            <a:r>
              <a:t>      "exception": "연간 자료를 짧은 기간에 일률 배분·당사자 반박 증빙",</a:t>
            </a:r>
          </a:p>
          <a:p xmlns:a="http://schemas.openxmlformats.org/drawingml/2006/main">
            <a:r>
              <a:t>      "evidence": "기간별 산정 대사와 보류·재심·담당자 판단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"행정 담당자·대상자·재심 담당",</a:t>
            </a:r>
          </a:p>
          <a:p xmlns:a="http://schemas.openxmlformats.org/drawingml/2006/main">
            <a:r>
              <a:t>          "processing": "자료의 대상·기간·적용 근거 대조",</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"소득·산정 근거",</a:t>
            </a:r>
          </a:p>
          <a:p xmlns:a="http://schemas.openxmlformats.org/drawingml/2006/main">
            <a:r>
              <a:t>          "processing": "소득 등 원천자료와 적용기간 분리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"기관별 소득자료",</a:t>
            </a:r>
          </a:p>
          <a:p xmlns:a="http://schemas.openxmlformats.org/drawingml/2006/main">
            <a:r>
              <a:t>          "processing": "불일치 자료의 자동 확정 보류 설계",</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"채무 통지",</a:t>
            </a:r>
          </a:p>
          <a:p xmlns:a="http://schemas.openxmlformats.org/drawingml/2006/main">
            <a:r>
              <a:t>          "processing":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"오판·이의제기 결과의 규칙 및 절차 개선",</a:t>
            </a:r>
          </a:p>
          <a:p xmlns:a="http://schemas.openxmlformats.org/drawingml/2006/main">
            <a:r>
              <a:t>          "output": "기간별 산정 대사와 보류·재심·담당자 판단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"오판·이의제기 결과의 규칙 및 절차 개선",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"S08",</a:t>
            </a:r>
          </a:p>
          <a:p xmlns:a="http://schemas.openxmlformats.org/drawingml/2006/main">
            <a:r>
              <a:t>        "title": "호주 왕립위원회 · Robodebt 최종 보고서",</a:t>
            </a:r>
          </a:p>
          <a:p xmlns:a="http://schemas.openxmlformats.org/drawingml/2006/main">
            <a:r>
              <a:t>        "url": "https://robodebt.royalcommission.gov.au/publications/report",</a:t>
            </a:r>
          </a:p>
          <a:p xmlns:a="http://schemas.openxmlformats.org/drawingml/2006/main">
            <a:r>
              <a:t>        "published": "2023-07-07",</a:t>
            </a:r>
          </a:p>
          <a:p xmlns:a="http://schemas.openxmlformats.org/drawingml/2006/main">
            <a:r>
              <a:t>        "level": "독립 조사 / 2023-07-11 정정본 안내",</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"sourceDetail": null,</a:t>
            </a:r>
          </a:p>
          <a:p xmlns:a="http://schemas.openxmlformats.org/drawingml/2006/main">
            <a:r>
              <a:t>    "narrative": [</a:t>
            </a:r>
          </a:p>
          <a:p xmlns:a="http://schemas.openxmlformats.org/drawingml/2006/main">
            <a:r>
              <a:t>      "기관 자료를 이용한 자동 산정·통지의 법적·증빙 통제 실패를 다룬 사례. 생성형 AI의 오답 문제보다 자료의 적용 기간과 산정 전제, 당사자의 이의제기 절차가 핵심인 행정 자동화 사례.",</a:t>
            </a:r>
          </a:p>
          <a:p xmlns:a="http://schemas.openxmlformats.org/drawingml/2006/main">
            <a:r>
              <a:t>      "원천 소득자료와 산정 대상 기간을 연결한 뒤 불일치 자료를 사람이 검토하도록 하는 재발 방지 구조. 통지에는 사용 근거와 산정 경로를 남기고 이의제기·재심 결과를 원 규칙에 환류하는 설계.",</a:t>
            </a:r>
          </a:p>
          <a:p xmlns:a="http://schemas.openxmlformats.org/drawingml/2006/main">
            <a:r>
              <a:t>      "TS에서는 AI 분류·계산 결과를 처분·부과·승인으로 곧바로 확정하지 않는 책임 경계에 활용. 근거 없는 자동 확정 차단, 기간 불일치 탐지, 재심 가능성과 증빙 추적을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"행정 산정 요청",</a:t>
            </a:r>
          </a:p>
          <a:p xmlns:a="http://schemas.openxmlformats.org/drawingml/2006/main">
            <a:r>
              <a:t>          "layer": "이용 접점",</a:t>
            </a:r>
          </a:p>
          <a:p xmlns:a="http://schemas.openxmlformats.org/drawingml/2006/main">
            <a:r>
              <a:t>          "detail": "행정 담당자·대상자·재심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"대상·적용기간",</a:t>
            </a:r>
          </a:p>
          <a:p xmlns:a="http://schemas.openxmlformats.org/drawingml/2006/main">
            <a:r>
              <a:t>          "layer": "업무 문맥",</a:t>
            </a:r>
          </a:p>
          <a:p xmlns:a="http://schemas.openxmlformats.org/drawingml/2006/main">
            <a:r>
              <a:t>          "detail": "자료의 대상·기간·적용 근거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"원천 소득 조회",</a:t>
            </a:r>
          </a:p>
          <a:p xmlns:a="http://schemas.openxmlformats.org/drawingml/2006/main">
            <a:r>
              <a:t>          "layer": "자료 조회",</a:t>
            </a:r>
          </a:p>
          <a:p xmlns:a="http://schemas.openxmlformats.org/drawingml/2006/main">
            <a:r>
              <a:t>          "detail": "기관별 소득자료",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"기간·산식 대조",</a:t>
            </a:r>
          </a:p>
          <a:p xmlns:a="http://schemas.openxmlformats.org/drawingml/2006/main">
            <a:r>
              <a:t>          "layer": "핵심 처리",</a:t>
            </a:r>
          </a:p>
          <a:p xmlns:a="http://schemas.openxmlformats.org/drawingml/2006/main">
            <a:r>
              <a:t>          "detail": "불일치 자료의 자동 확정 보류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"증빙 불일치 보류",</a:t>
            </a:r>
          </a:p>
          <a:p xmlns:a="http://schemas.openxmlformats.org/drawingml/2006/main">
            <a:r>
              <a:t>          "layer": "결과 검증",</a:t>
            </a:r>
          </a:p>
          <a:p xmlns:a="http://schemas.openxmlformats.org/drawingml/2006/main">
            <a:r>
              <a:t>          "detail": "원천 증빙 불일치 시 자동 확정 보류",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근거 확인",</a:t>
            </a:r>
          </a:p>
          <a:p xmlns:a="http://schemas.openxmlformats.org/drawingml/2006/main">
            <a:r>
              <a:t>          "layer": "사람 확인",</a:t>
            </a:r>
          </a:p>
          <a:p xmlns:a="http://schemas.openxmlformats.org/drawingml/2006/main">
            <a:r>
              <a:t>          "detail": "기간이 일치하는 증빙을 확인한 뒤 담당자가 행정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"통지·이의제기",</a:t>
            </a:r>
          </a:p>
          <a:p xmlns:a="http://schemas.openxmlformats.org/drawingml/2006/main">
            <a:r>
              <a:t>          "layer": "업무 연결",</a:t>
            </a:r>
          </a:p>
          <a:p xmlns:a="http://schemas.openxmlformats.org/drawingml/2006/main">
            <a:r>
              <a:t>          "detail": "담당자 검토와 설명 가능한 통지·재심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"재심 결과 환류",</a:t>
            </a:r>
          </a:p>
          <a:p xmlns:a="http://schemas.openxmlformats.org/drawingml/2006/main">
            <a:r>
              <a:t>          "layer": "운영 관측",</a:t>
            </a:r>
          </a:p>
          <a:p xmlns:a="http://schemas.openxmlformats.org/drawingml/2006/main">
            <a:r>
              <a:t>          "detail": "오판·이의제기 결과의 규칙 및 절차 개선",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"기관 소득자료",</a:t>
            </a:r>
          </a:p>
          <a:p xmlns:a="http://schemas.openxmlformats.org/drawingml/2006/main">
            <a:r>
              <a:t>          "layer": "데이터 원천",</a:t>
            </a:r>
          </a:p>
          <a:p xmlns:a="http://schemas.openxmlformats.org/drawingml/2006/main">
            <a:r>
              <a:t>          "detail": "소득·산정 근거",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"기간·식별자 정합화",</a:t>
            </a:r>
          </a:p>
          <a:p xmlns:a="http://schemas.openxmlformats.org/drawingml/2006/main">
            <a:r>
              <a:t>          "layer": "준비·갱신",</a:t>
            </a:r>
          </a:p>
          <a:p xmlns:a="http://schemas.openxmlformats.org/drawingml/2006/main">
            <a:r>
              <a:t>          "detail": "소득 등 원천자료와 적용기간 분리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"근거·통지 이력",</a:t>
            </a:r>
          </a:p>
          <a:p xmlns:a="http://schemas.openxmlformats.org/drawingml/2006/main">
            <a:r>
              <a:t>          "layer": "상태·지식 저장",</a:t>
            </a:r>
          </a:p>
          <a:p xmlns:a="http://schemas.openxmlformats.org/drawingml/2006/main">
            <a:r>
              <a:t>          "detail": "기간별 산정 대사와 보류·재심·담당자 판단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"산정·재심 규칙",</a:t>
            </a:r>
          </a:p>
          <a:p xmlns:a="http://schemas.openxmlformats.org/drawingml/2006/main">
            <a:r>
              <a:t>          "layer": "권한·정책",</a:t>
            </a:r>
          </a:p>
          <a:p xmlns:a="http://schemas.openxmlformats.org/drawingml/2006/main">
            <a:r>
              <a:t>          "detail": "연간 자료를 짧은 기간에 일률 배분·당사자 반박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"기관 간 자료 → 자동 산정·결정 → 대상자 통지 → 이의제기·재심"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"자료의 대상·기간·적용 근거 대조",</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"기관별 소득자료",</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"산정·재심 규칙",</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"채무 통지",</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"채무 통지",</a:t>
            </a:r>
          </a:p>
          <a:p xmlns:a="http://schemas.openxmlformats.org/drawingml/2006/main">
            <a:r>
              <a:t>          "check": "연간 자료를 짧은 기간에 일률 배분·당사자 반박 증빙"</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"이의·재심 기록",</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"자동 행정 산정의 근거·재심 체계 분석 / 기관 간 자료·산정·통지·이의제기",</a:t>
            </a:r>
          </a:p>
          <a:p xmlns:a="http://schemas.openxmlformats.org/drawingml/2006/main">
            <a:r>
              <a:t>        "extension": "검사·지원·자격 업무의 근거 조문·증빙·전결 확인 후 담당자 판단"</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"연간 자료를 짧은 기간에 일률 배분·당사자 반박 증빙",</a:t>
            </a:r>
          </a:p>
          <a:p xmlns:a="http://schemas.openxmlformats.org/drawingml/2006/main">
            <a:r>
              <a:t>        "hold": "원천 증빙 불일치 시 자동 확정 보류",</a:t>
            </a:r>
          </a:p>
          <a:p xmlns:a="http://schemas.openxmlformats.org/drawingml/2006/main">
            <a:r>
              <a:t>        "recovery": "오판·이의제기 결과의 규칙 및 절차 개선",</a:t>
            </a:r>
          </a:p>
          <a:p xmlns:a="http://schemas.openxmlformats.org/drawingml/2006/main">
            <a:r>
              <a:t>        "evidence": "기간별 산정 대사와 보류·재심·담당자 판단 기록"</a:t>
            </a:r>
          </a:p>
          <a:p xmlns:a="http://schemas.openxmlformats.org/drawingml/2006/main">
            <a:r>
              <a:t>      },</a:t>
            </a:r>
          </a:p>
          <a:p xmlns:a="http://schemas.openxmlformats.org/drawingml/2006/main">
            <a:r>
              <a:t>      "data": {</a:t>
            </a:r>
          </a:p>
          <a:p xmlns:a="http://schemas.openxmlformats.org/drawingml/2006/main">
            <a:r>
              <a:t>        "source": "소득·산정 근거",</a:t>
            </a:r>
          </a:p>
          <a:p xmlns:a="http://schemas.openxmlformats.org/drawingml/2006/main">
            <a:r>
              <a:t>        "prepare": "소득 등 원천자료와 적용기간 분리 관리",</a:t>
            </a:r>
          </a:p>
          <a:p xmlns:a="http://schemas.openxmlformats.org/drawingml/2006/main">
            <a:r>
              <a:t>        "output": "기관별 소득자료",</a:t>
            </a:r>
          </a:p>
          <a:p xmlns:a="http://schemas.openxmlformats.org/drawingml/2006/main">
            <a:r>
              <a:t>        "refresh": "오판·이의제기 결과의 규칙 및 절차 개선"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"AX07",</a:t>
            </a:r>
          </a:p>
          <a:p xmlns:a="http://schemas.openxmlformats.org/drawingml/2006/main">
            <a:r>
              <a:t>    "success": [</a:t>
            </a:r>
          </a:p>
          <a:p xmlns:a="http://schemas.openxmlformats.org/drawingml/2006/main">
            <a:r>
              <a:t>      "자동 결정 전 법적·증빙 근거 확인",</a:t>
            </a:r>
          </a:p>
          <a:p xmlns:a="http://schemas.openxmlformats.org/drawingml/2006/main">
            <a:r>
              <a:t>      "이의제기와 재심 경로 확보"</a:t>
            </a:r>
          </a:p>
          <a:p xmlns:a="http://schemas.openxmlformats.org/drawingml/2006/main">
            <a:r>
              <a:t>    ],</a:t>
            </a:r>
          </a:p>
          <a:p xmlns:a="http://schemas.openxmlformats.org/drawingml/2006/main">
            <a:r>
              <a:t>    "risks": [</a:t>
            </a:r>
          </a:p>
          <a:p xmlns:a="http://schemas.openxmlformats.org/drawingml/2006/main">
            <a:r>
              <a:t>      "자료 기간·산정 전제의 부적합",</a:t>
            </a:r>
          </a:p>
          <a:p xmlns:a="http://schemas.openxmlformats.org/drawingml/2006/main">
            <a:r>
              <a:t>      "자동 판단에 대한 책임·재심 통제 부족"</a:t>
            </a:r>
          </a:p>
          <a:p xmlns:a="http://schemas.openxmlformats.org/drawingml/2006/main">
            <a:r>
              <a:t>    ],</a:t>
            </a:r>
          </a:p>
          <a:p xmlns:a="http://schemas.openxmlformats.org/drawingml/2006/main">
            <a:r>
              <a:t>    "architecture": [</a:t>
            </a:r>
          </a:p>
          <a:p xmlns:a="http://schemas.openxmlformats.org/drawingml/2006/main">
            <a:r>
              <a:t>      "기관 자료 교환",</a:t>
            </a:r>
          </a:p>
          <a:p xmlns:a="http://schemas.openxmlformats.org/drawingml/2006/main">
            <a:r>
              <a:t>      "자동 산정·통지",</a:t>
            </a:r>
          </a:p>
          <a:p xmlns:a="http://schemas.openxmlformats.org/drawingml/2006/main">
            <a:r>
              <a:t>      "소득·산정 근거",</a:t>
            </a:r>
          </a:p>
          <a:p xmlns:a="http://schemas.openxmlformats.org/drawingml/2006/main">
            <a:r>
              <a:t>      "대상자·재심 담당"</a:t>
            </a:r>
          </a:p>
          <a:p xmlns:a="http://schemas.openxmlformats.org/drawingml/2006/main">
            <a:r>
              <a:t>    ],</a:t>
            </a:r>
          </a:p>
          <a:p xmlns:a="http://schemas.openxmlformats.org/drawingml/2006/main">
            <a:r>
              <a:t>    "transfers": [</a:t>
            </a:r>
          </a:p>
          <a:p xmlns:a="http://schemas.openxmlformats.org/drawingml/2006/main">
            <a:r>
              <a:t>      "기관별 소득자료",</a:t>
            </a:r>
          </a:p>
          <a:p xmlns:a="http://schemas.openxmlformats.org/drawingml/2006/main">
            <a:r>
              <a:t>      "산정 대상·기간",</a:t>
            </a:r>
          </a:p>
          <a:p xmlns:a="http://schemas.openxmlformats.org/drawingml/2006/main">
            <a:r>
              <a:t>      "채무 통지",</a:t>
            </a:r>
          </a:p>
          <a:p xmlns:a="http://schemas.openxmlformats.org/drawingml/2006/main">
            <a:r>
              <a:t>      "이의·재심 기록"</a:t>
            </a:r>
          </a:p>
          <a:p xmlns:a="http://schemas.openxmlformats.org/drawingml/2006/main">
            <a:r>
              <a:t>    ],</a:t>
            </a:r>
          </a:p>
          <a:p xmlns:a="http://schemas.openxmlformats.org/drawingml/2006/main">
            <a:r>
              <a:t>    "control": "원천 증빙 불일치 시 자동 확정 보류",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호주 왕립위원회 · Robodebt 최종 보고서 https://robodebt.royalcommission.gov.au/publications/report</a:t>
            </a:r>
          </a:p>
          <a:p xmlns:a="http://schemas.openxmlformats.org/drawingml/2006/main">
            <a:r>
              <a:t>홈페이지 https://heen1987-ops.github.io/TS-business-Plan-001/index.html?view=casebook&amp;case=AX07</a:t>
            </a:r>
          </a:p>
          <a:p xmlns:a="http://schemas.openxmlformats.org/drawingml/2006/main">
            <a:r>
              <a:t>한계: 규칙 기반 행정 자동화의 실패 교훈 · 생성형 AI 사례 아님</a:t>
            </a:r>
          </a:p>
          <a:p xmlns:a="http://schemas.openxmlformats.org/drawingml/2006/main">
            <a:r>
              <a:t>재발 방지 조건: 자동 결정 전 법적·증빙 근거 확인 / 이의제기와 재심 경로 확보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"AX07",</a:t>
            </a:r>
          </a:p>
          <a:p xmlns:a="http://schemas.openxmlformats.org/drawingml/2006/main">
            <a:r>
              <a:t>    "title": "호주 Robodebt",</a:t>
            </a:r>
          </a:p>
          <a:p xmlns:a="http://schemas.openxmlformats.org/drawingml/2006/main">
            <a:r>
              <a:t>    "region": "해외",</a:t>
            </a:r>
          </a:p>
          <a:p xmlns:a="http://schemas.openxmlformats.org/drawingml/2006/main">
            <a:r>
              <a:t>    "country": "호주",</a:t>
            </a:r>
          </a:p>
          <a:p xmlns:a="http://schemas.openxmlformats.org/drawingml/2006/main">
            <a:r>
              <a:t>    "result": "실패",</a:t>
            </a:r>
          </a:p>
          <a:p xmlns:a="http://schemas.openxmlformats.org/drawingml/2006/main">
            <a:r>
              <a:t>    "kind": "행정 자동화·책임 통제",</a:t>
            </a:r>
          </a:p>
          <a:p xmlns:a="http://schemas.openxmlformats.org/drawingml/2006/main">
            <a:r>
              <a:t>    "period": "2023 최종 조사",</a:t>
            </a:r>
          </a:p>
          <a:p xmlns:a="http://schemas.openxmlformats.org/drawingml/2006/main">
            <a:r>
              <a:t>    "sources": [</a:t>
            </a:r>
          </a:p>
          <a:p xmlns:a="http://schemas.openxmlformats.org/drawingml/2006/main">
            <a:r>
              <a:t>      "S08"</a:t>
            </a:r>
          </a:p>
          <a:p xmlns:a="http://schemas.openxmlformats.org/drawingml/2006/main">
            <a:r>
              <a:t>    ],</a:t>
            </a:r>
          </a:p>
          <a:p xmlns:a="http://schemas.openxmlformats.org/drawingml/2006/main">
            <a:r>
              <a:t>    "keywords": [</a:t>
            </a:r>
          </a:p>
          <a:p xmlns:a="http://schemas.openxmlformats.org/drawingml/2006/main">
            <a:r>
              <a:t>      "행정 판단",</a:t>
            </a:r>
          </a:p>
          <a:p xmlns:a="http://schemas.openxmlformats.org/drawingml/2006/main">
            <a:r>
              <a:t>      "적법성",</a:t>
            </a:r>
          </a:p>
          <a:p xmlns:a="http://schemas.openxmlformats.org/drawingml/2006/main">
            <a:r>
              <a:t>      "이의제기",</a:t>
            </a:r>
          </a:p>
          <a:p xmlns:a="http://schemas.openxmlformats.org/drawingml/2006/main">
            <a:r>
              <a:t>      "공정성"</a:t>
            </a:r>
          </a:p>
          <a:p xmlns:a="http://schemas.openxmlformats.org/drawingml/2006/main">
            <a:r>
              <a:t>    ],</a:t>
            </a:r>
          </a:p>
          <a:p xmlns:a="http://schemas.openxmlformats.org/drawingml/2006/main">
            <a:r>
              <a:t>    "fact": "왕립위원회 최종 조사에서 자동 결정의 법적 틀·재심 경로·데이터 교환 통제·취약계층 대응 개선 권고",</a:t>
            </a:r>
          </a:p>
          <a:p xmlns:a="http://schemas.openxmlformats.org/drawingml/2006/main">
            <a:r>
              <a:t>    "limit": "규칙 기반 행정 자동화의 실패 교훈 · 생성형 AI 사례 아님",</a:t>
            </a:r>
          </a:p>
          <a:p xmlns:a="http://schemas.openxmlformats.org/drawingml/2006/main">
            <a:r>
              <a:t>    "flow": [</a:t>
            </a:r>
          </a:p>
          <a:p xmlns:a="http://schemas.openxmlformats.org/drawingml/2006/main">
            <a:r>
              <a:t>      "기관 간 자료",</a:t>
            </a:r>
          </a:p>
          <a:p xmlns:a="http://schemas.openxmlformats.org/drawingml/2006/main">
            <a:r>
              <a:t>      "자동 산정·결정",</a:t>
            </a:r>
          </a:p>
          <a:p xmlns:a="http://schemas.openxmlformats.org/drawingml/2006/main">
            <a:r>
              <a:t>      "대상자 통지",</a:t>
            </a:r>
          </a:p>
          <a:p xmlns:a="http://schemas.openxmlformats.org/drawingml/2006/main">
            <a:r>
              <a:t>      "이의제기·재심"</a:t>
            </a:r>
          </a:p>
          <a:p xmlns:a="http://schemas.openxmlformats.org/drawingml/2006/main">
            <a:r>
              <a:t>    ],</a:t>
            </a:r>
          </a:p>
          <a:p xmlns:a="http://schemas.openxmlformats.org/drawingml/2006/main">
            <a:r>
              <a:t>    "flowBasis": "조사 권고의 대상 업무를 설명하기 위한 재구성",</a:t>
            </a:r>
          </a:p>
          <a:p xmlns:a="http://schemas.openxmlformats.org/drawingml/2006/main">
            <a:r>
              <a:t>    "lesson":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"근거·입력 검증 / 자동 확정 제한 / 이의제기·재검토 연결",</a:t>
            </a:r>
          </a:p>
          <a:p xmlns:a="http://schemas.openxmlformats.org/drawingml/2006/main">
            <a:r>
              <a:t>    "test": "누락·기간 불일치·권한 부재 시 보류 및 재심 처리 추적",</a:t>
            </a:r>
          </a:p>
          <a:p xmlns:a="http://schemas.openxmlformats.org/drawingml/2006/main">
            <a:r>
              <a:t>    "metric": "근거 누락률 / 오판 보완률 / 이의처리 시간"</a:t>
            </a:r>
          </a:p>
          <a:p xmlns:a="http://schemas.openxmlformats.org/drawingml/2006/main">
            <a:r>
              <a:t>  },</a:t>
            </a:r>
          </a:p>
          <a:p xmlns:a="http://schemas.openxmlformats.org/drawingml/2006/main">
            <a:r>
              <a:t>  "design": {</a:t>
            </a:r>
          </a:p>
          <a:p xmlns:a="http://schemas.openxmlformats.org/drawingml/2006/main">
            <a:r>
              <a:t>    "id": "AX07",</a:t>
            </a:r>
          </a:p>
          <a:p xmlns:a="http://schemas.openxmlformats.org/drawingml/2006/main">
            <a:r>
              <a:t>    "canonicalId": "AX07",</a:t>
            </a:r>
          </a:p>
          <a:p xmlns:a="http://schemas.openxmlformats.org/drawingml/2006/main">
            <a:r>
              <a:t>    "purpose": "자동 행정 산정의 근거·재심 체계 분석",</a:t>
            </a:r>
          </a:p>
          <a:p xmlns:a="http://schemas.openxmlformats.org/drawingml/2006/main">
            <a:r>
              <a:t>    "users": "행정 담당자·대상자·재심 담당",</a:t>
            </a:r>
          </a:p>
          <a:p xmlns:a="http://schemas.openxmlformats.org/drawingml/2006/main">
            <a:r>
              <a:t>    "scope": [</a:t>
            </a:r>
          </a:p>
          <a:p xmlns:a="http://schemas.openxmlformats.org/drawingml/2006/main">
            <a:r>
              <a:t>      "기관 간 자료",</a:t>
            </a:r>
          </a:p>
          <a:p xmlns:a="http://schemas.openxmlformats.org/drawingml/2006/main">
            <a:r>
              <a:t>      "산정·통지",</a:t>
            </a:r>
          </a:p>
          <a:p xmlns:a="http://schemas.openxmlformats.org/drawingml/2006/main">
            <a:r>
              <a:t>      "이의제기"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자료 교환",</a:t>
            </a:r>
          </a:p>
          <a:p xmlns:a="http://schemas.openxmlformats.org/drawingml/2006/main">
            <a:r>
              <a:t>        "detail": "자료의 대상·기간·적용 근거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간 자료 / 산정·통지 / 이의제기",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"자동 산정·통지",</a:t>
            </a:r>
          </a:p>
          <a:p xmlns:a="http://schemas.openxmlformats.org/drawingml/2006/main">
            <a:r>
              <a:t>        "detail": "불일치 자료의 자동 확정 보류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"대상자·재심 담당",</a:t>
            </a:r>
          </a:p>
          <a:p xmlns:a="http://schemas.openxmlformats.org/drawingml/2006/main">
            <a:r>
              <a:t>        "detail": "담당자 검토와 설명 가능한 통지·재심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"소득·산정 근거",</a:t>
            </a:r>
          </a:p>
          <a:p xmlns:a="http://schemas.openxmlformats.org/drawingml/2006/main">
            <a:r>
              <a:t>        "detail": "소득 등 원천자료와 적용기간 분리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"오판·이의제기 결과의 규칙 및 절차 개선",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"기관 간 자료",</a:t>
            </a:r>
          </a:p>
          <a:p xmlns:a="http://schemas.openxmlformats.org/drawingml/2006/main">
            <a:r>
              <a:t>        "input": "자료의 대상·기간·적용 근거 대조",</a:t>
            </a:r>
          </a:p>
          <a:p xmlns:a="http://schemas.openxmlformats.org/drawingml/2006/main">
            <a:r>
              <a:t>        "process": "소득 등 원천자료와 적용기간 분리 관리",</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"title": "자동 산정·결정",</a:t>
            </a:r>
          </a:p>
          <a:p xmlns:a="http://schemas.openxmlformats.org/drawingml/2006/main">
            <a:r>
              <a:t>        "input": "기관별 소득자료",</a:t>
            </a:r>
          </a:p>
          <a:p xmlns:a="http://schemas.openxmlformats.org/drawingml/2006/main">
            <a:r>
              <a:t>        "process": "불일치 자료의 자동 확정 보류 설계",</a:t>
            </a:r>
          </a:p>
          <a:p xmlns:a="http://schemas.openxmlformats.org/drawingml/2006/main">
            <a:r>
              <a:t>        "output": "산정 대상·기간"</a:t>
            </a:r>
          </a:p>
          <a:p xmlns:a="http://schemas.openxmlformats.org/drawingml/2006/main">
            <a:r>
              <a:t>      },</a:t>
            </a:r>
          </a:p>
          <a:p xmlns:a="http://schemas.openxmlformats.org/drawingml/2006/main">
            <a:r>
              <a:t>      {</a:t>
            </a:r>
          </a:p>
          <a:p xmlns:a="http://schemas.openxmlformats.org/drawingml/2006/main">
            <a:r>
              <a:t>        "title": "대상자 통지",</a:t>
            </a:r>
          </a:p>
          <a:p xmlns:a="http://schemas.openxmlformats.org/drawingml/2006/main">
            <a:r>
              <a:t>        "input": "산정 대상·기간",</a:t>
            </a:r>
          </a:p>
          <a:p xmlns:a="http://schemas.openxmlformats.org/drawingml/2006/main">
            <a:r>
              <a:t>        "process": "원천 증빙 불일치 시 자동 확정 보류",</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"title": "이의제기·재심",</a:t>
            </a:r>
          </a:p>
          <a:p xmlns:a="http://schemas.openxmlformats.org/drawingml/2006/main">
            <a:r>
              <a:t>        "input": "채무 통지",</a:t>
            </a:r>
          </a:p>
          <a:p xmlns:a="http://schemas.openxmlformats.org/drawingml/2006/main">
            <a:r>
              <a:t>        "process":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"기간이 일치하는 증빙을 확인한 뒤 담당자가 행정 결과 검토",</a:t>
            </a:r>
          </a:p>
          <a:p xmlns:a="http://schemas.openxmlformats.org/drawingml/2006/main">
            <a:r>
              <a:t>      "exception": "연간 자료를 짧은 기간에 일률 배분·당사자 반박 증빙",</a:t>
            </a:r>
          </a:p>
          <a:p xmlns:a="http://schemas.openxmlformats.org/drawingml/2006/main">
            <a:r>
              <a:t>      "evidence": "기간별 산정 대사와 보류·재심·담당자 판단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"행정 담당자·대상자·재심 담당",</a:t>
            </a:r>
          </a:p>
          <a:p xmlns:a="http://schemas.openxmlformats.org/drawingml/2006/main">
            <a:r>
              <a:t>          "processing": "자료의 대상·기간·적용 근거 대조",</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"소득·산정 근거",</a:t>
            </a:r>
          </a:p>
          <a:p xmlns:a="http://schemas.openxmlformats.org/drawingml/2006/main">
            <a:r>
              <a:t>          "processing": "소득 등 원천자료와 적용기간 분리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"기관별 소득자료",</a:t>
            </a:r>
          </a:p>
          <a:p xmlns:a="http://schemas.openxmlformats.org/drawingml/2006/main">
            <a:r>
              <a:t>          "processing": "불일치 자료의 자동 확정 보류 설계",</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"채무 통지",</a:t>
            </a:r>
          </a:p>
          <a:p xmlns:a="http://schemas.openxmlformats.org/drawingml/2006/main">
            <a:r>
              <a:t>          "processing":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"오판·이의제기 결과의 규칙 및 절차 개선",</a:t>
            </a:r>
          </a:p>
          <a:p xmlns:a="http://schemas.openxmlformats.org/drawingml/2006/main">
            <a:r>
              <a:t>          "output": "기간별 산정 대사와 보류·재심·담당자 판단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"오판·이의제기 결과의 규칙 및 절차 개선",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"S08",</a:t>
            </a:r>
          </a:p>
          <a:p xmlns:a="http://schemas.openxmlformats.org/drawingml/2006/main">
            <a:r>
              <a:t>        "title": "호주 왕립위원회 · Robodebt 최종 보고서",</a:t>
            </a:r>
          </a:p>
          <a:p xmlns:a="http://schemas.openxmlformats.org/drawingml/2006/main">
            <a:r>
              <a:t>        "url": "https://robodebt.royalcommission.gov.au/publications/report",</a:t>
            </a:r>
          </a:p>
          <a:p xmlns:a="http://schemas.openxmlformats.org/drawingml/2006/main">
            <a:r>
              <a:t>        "published": "2023-07-07",</a:t>
            </a:r>
          </a:p>
          <a:p xmlns:a="http://schemas.openxmlformats.org/drawingml/2006/main">
            <a:r>
              <a:t>        "level": "독립 조사 / 2023-07-11 정정본 안내",</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"sourceDetail": null,</a:t>
            </a:r>
          </a:p>
          <a:p xmlns:a="http://schemas.openxmlformats.org/drawingml/2006/main">
            <a:r>
              <a:t>    "narrative": [</a:t>
            </a:r>
          </a:p>
          <a:p xmlns:a="http://schemas.openxmlformats.org/drawingml/2006/main">
            <a:r>
              <a:t>      "기관 자료를 이용한 자동 산정·통지의 법적·증빙 통제 실패를 다룬 사례. 생성형 AI의 오답 문제보다 자료의 적용 기간과 산정 전제, 당사자의 이의제기 절차가 핵심인 행정 자동화 사례.",</a:t>
            </a:r>
          </a:p>
          <a:p xmlns:a="http://schemas.openxmlformats.org/drawingml/2006/main">
            <a:r>
              <a:t>      "원천 소득자료와 산정 대상 기간을 연결한 뒤 불일치 자료를 사람이 검토하도록 하는 재발 방지 구조. 통지에는 사용 근거와 산정 경로를 남기고 이의제기·재심 결과를 원 규칙에 환류하는 설계.",</a:t>
            </a:r>
          </a:p>
          <a:p xmlns:a="http://schemas.openxmlformats.org/drawingml/2006/main">
            <a:r>
              <a:t>      "TS에서는 AI 분류·계산 결과를 처분·부과·승인으로 곧바로 확정하지 않는 책임 경계에 활용. 근거 없는 자동 확정 차단, 기간 불일치 탐지, 재심 가능성과 증빙 추적을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"행정 산정 요청",</a:t>
            </a:r>
          </a:p>
          <a:p xmlns:a="http://schemas.openxmlformats.org/drawingml/2006/main">
            <a:r>
              <a:t>          "layer": "이용 접점",</a:t>
            </a:r>
          </a:p>
          <a:p xmlns:a="http://schemas.openxmlformats.org/drawingml/2006/main">
            <a:r>
              <a:t>          "detail": "행정 담당자·대상자·재심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"대상·적용기간",</a:t>
            </a:r>
          </a:p>
          <a:p xmlns:a="http://schemas.openxmlformats.org/drawingml/2006/main">
            <a:r>
              <a:t>          "layer": "업무 문맥",</a:t>
            </a:r>
          </a:p>
          <a:p xmlns:a="http://schemas.openxmlformats.org/drawingml/2006/main">
            <a:r>
              <a:t>          "detail": "자료의 대상·기간·적용 근거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"원천 소득 조회",</a:t>
            </a:r>
          </a:p>
          <a:p xmlns:a="http://schemas.openxmlformats.org/drawingml/2006/main">
            <a:r>
              <a:t>          "layer": "자료 조회",</a:t>
            </a:r>
          </a:p>
          <a:p xmlns:a="http://schemas.openxmlformats.org/drawingml/2006/main">
            <a:r>
              <a:t>          "detail": "기관별 소득자료",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"기간·산식 대조",</a:t>
            </a:r>
          </a:p>
          <a:p xmlns:a="http://schemas.openxmlformats.org/drawingml/2006/main">
            <a:r>
              <a:t>          "layer": "핵심 처리",</a:t>
            </a:r>
          </a:p>
          <a:p xmlns:a="http://schemas.openxmlformats.org/drawingml/2006/main">
            <a:r>
              <a:t>          "detail": "불일치 자료의 자동 확정 보류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"증빙 불일치 보류",</a:t>
            </a:r>
          </a:p>
          <a:p xmlns:a="http://schemas.openxmlformats.org/drawingml/2006/main">
            <a:r>
              <a:t>          "layer": "결과 검증",</a:t>
            </a:r>
          </a:p>
          <a:p xmlns:a="http://schemas.openxmlformats.org/drawingml/2006/main">
            <a:r>
              <a:t>          "detail": "원천 증빙 불일치 시 자동 확정 보류",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근거 확인",</a:t>
            </a:r>
          </a:p>
          <a:p xmlns:a="http://schemas.openxmlformats.org/drawingml/2006/main">
            <a:r>
              <a:t>          "layer": "사람 확인",</a:t>
            </a:r>
          </a:p>
          <a:p xmlns:a="http://schemas.openxmlformats.org/drawingml/2006/main">
            <a:r>
              <a:t>          "detail": "기간이 일치하는 증빙을 확인한 뒤 담당자가 행정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"통지·이의제기",</a:t>
            </a:r>
          </a:p>
          <a:p xmlns:a="http://schemas.openxmlformats.org/drawingml/2006/main">
            <a:r>
              <a:t>          "layer": "업무 연결",</a:t>
            </a:r>
          </a:p>
          <a:p xmlns:a="http://schemas.openxmlformats.org/drawingml/2006/main">
            <a:r>
              <a:t>          "detail": "담당자 검토와 설명 가능한 통지·재심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"재심 결과 환류",</a:t>
            </a:r>
          </a:p>
          <a:p xmlns:a="http://schemas.openxmlformats.org/drawingml/2006/main">
            <a:r>
              <a:t>          "layer": "운영 관측",</a:t>
            </a:r>
          </a:p>
          <a:p xmlns:a="http://schemas.openxmlformats.org/drawingml/2006/main">
            <a:r>
              <a:t>          "detail": "오판·이의제기 결과의 규칙 및 절차 개선",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"기관 소득자료",</a:t>
            </a:r>
          </a:p>
          <a:p xmlns:a="http://schemas.openxmlformats.org/drawingml/2006/main">
            <a:r>
              <a:t>          "layer": "데이터 원천",</a:t>
            </a:r>
          </a:p>
          <a:p xmlns:a="http://schemas.openxmlformats.org/drawingml/2006/main">
            <a:r>
              <a:t>          "detail": "소득·산정 근거",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"기간·식별자 정합화",</a:t>
            </a:r>
          </a:p>
          <a:p xmlns:a="http://schemas.openxmlformats.org/drawingml/2006/main">
            <a:r>
              <a:t>          "layer": "준비·갱신",</a:t>
            </a:r>
          </a:p>
          <a:p xmlns:a="http://schemas.openxmlformats.org/drawingml/2006/main">
            <a:r>
              <a:t>          "detail": "소득 등 원천자료와 적용기간 분리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"근거·통지 이력",</a:t>
            </a:r>
          </a:p>
          <a:p xmlns:a="http://schemas.openxmlformats.org/drawingml/2006/main">
            <a:r>
              <a:t>          "layer": "상태·지식 저장",</a:t>
            </a:r>
          </a:p>
          <a:p xmlns:a="http://schemas.openxmlformats.org/drawingml/2006/main">
            <a:r>
              <a:t>          "detail": "기간별 산정 대사와 보류·재심·담당자 판단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"산정·재심 규칙",</a:t>
            </a:r>
          </a:p>
          <a:p xmlns:a="http://schemas.openxmlformats.org/drawingml/2006/main">
            <a:r>
              <a:t>          "layer": "권한·정책",</a:t>
            </a:r>
          </a:p>
          <a:p xmlns:a="http://schemas.openxmlformats.org/drawingml/2006/main">
            <a:r>
              <a:t>          "detail": "연간 자료를 짧은 기간에 일률 배분·당사자 반박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"기관 간 자료 → 자동 산정·결정 → 대상자 통지 → 이의제기·재심"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"자료의 대상·기간·적용 근거 대조",</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"기관별 소득자료",</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"산정·재심 규칙",</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"채무 통지",</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"채무 통지",</a:t>
            </a:r>
          </a:p>
          <a:p xmlns:a="http://schemas.openxmlformats.org/drawingml/2006/main">
            <a:r>
              <a:t>          "check": "연간 자료를 짧은 기간에 일률 배분·당사자 반박 증빙"</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"이의·재심 기록",</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"자동 행정 산정의 근거·재심 체계 분석 / 기관 간 자료·산정·통지·이의제기",</a:t>
            </a:r>
          </a:p>
          <a:p xmlns:a="http://schemas.openxmlformats.org/drawingml/2006/main">
            <a:r>
              <a:t>        "extension": "검사·지원·자격 업무의 근거 조문·증빙·전결 확인 후 담당자 판단"</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"연간 자료를 짧은 기간에 일률 배분·당사자 반박 증빙",</a:t>
            </a:r>
          </a:p>
          <a:p xmlns:a="http://schemas.openxmlformats.org/drawingml/2006/main">
            <a:r>
              <a:t>        "hold": "원천 증빙 불일치 시 자동 확정 보류",</a:t>
            </a:r>
          </a:p>
          <a:p xmlns:a="http://schemas.openxmlformats.org/drawingml/2006/main">
            <a:r>
              <a:t>        "recovery": "오판·이의제기 결과의 규칙 및 절차 개선",</a:t>
            </a:r>
          </a:p>
          <a:p xmlns:a="http://schemas.openxmlformats.org/drawingml/2006/main">
            <a:r>
              <a:t>        "evidence": "기간별 산정 대사와 보류·재심·담당자 판단 기록"</a:t>
            </a:r>
          </a:p>
          <a:p xmlns:a="http://schemas.openxmlformats.org/drawingml/2006/main">
            <a:r>
              <a:t>      },</a:t>
            </a:r>
          </a:p>
          <a:p xmlns:a="http://schemas.openxmlformats.org/drawingml/2006/main">
            <a:r>
              <a:t>      "data": {</a:t>
            </a:r>
          </a:p>
          <a:p xmlns:a="http://schemas.openxmlformats.org/drawingml/2006/main">
            <a:r>
              <a:t>        "source": "소득·산정 근거",</a:t>
            </a:r>
          </a:p>
          <a:p xmlns:a="http://schemas.openxmlformats.org/drawingml/2006/main">
            <a:r>
              <a:t>        "prepare": "소득 등 원천자료와 적용기간 분리 관리",</a:t>
            </a:r>
          </a:p>
          <a:p xmlns:a="http://schemas.openxmlformats.org/drawingml/2006/main">
            <a:r>
              <a:t>        "output": "기관별 소득자료",</a:t>
            </a:r>
          </a:p>
          <a:p xmlns:a="http://schemas.openxmlformats.org/drawingml/2006/main">
            <a:r>
              <a:t>        "refresh": "오판·이의제기 결과의 규칙 및 절차 개선"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"AX07",</a:t>
            </a:r>
          </a:p>
          <a:p xmlns:a="http://schemas.openxmlformats.org/drawingml/2006/main">
            <a:r>
              <a:t>    "success": [</a:t>
            </a:r>
          </a:p>
          <a:p xmlns:a="http://schemas.openxmlformats.org/drawingml/2006/main">
            <a:r>
              <a:t>      "자동 결정 전 법적·증빙 근거 확인",</a:t>
            </a:r>
          </a:p>
          <a:p xmlns:a="http://schemas.openxmlformats.org/drawingml/2006/main">
            <a:r>
              <a:t>      "이의제기와 재심 경로 확보"</a:t>
            </a:r>
          </a:p>
          <a:p xmlns:a="http://schemas.openxmlformats.org/drawingml/2006/main">
            <a:r>
              <a:t>    ],</a:t>
            </a:r>
          </a:p>
          <a:p xmlns:a="http://schemas.openxmlformats.org/drawingml/2006/main">
            <a:r>
              <a:t>    "risks": [</a:t>
            </a:r>
          </a:p>
          <a:p xmlns:a="http://schemas.openxmlformats.org/drawingml/2006/main">
            <a:r>
              <a:t>      "자료 기간·산정 전제의 부적합",</a:t>
            </a:r>
          </a:p>
          <a:p xmlns:a="http://schemas.openxmlformats.org/drawingml/2006/main">
            <a:r>
              <a:t>      "자동 판단에 대한 책임·재심 통제 부족"</a:t>
            </a:r>
          </a:p>
          <a:p xmlns:a="http://schemas.openxmlformats.org/drawingml/2006/main">
            <a:r>
              <a:t>    ],</a:t>
            </a:r>
          </a:p>
          <a:p xmlns:a="http://schemas.openxmlformats.org/drawingml/2006/main">
            <a:r>
              <a:t>    "architecture": [</a:t>
            </a:r>
          </a:p>
          <a:p xmlns:a="http://schemas.openxmlformats.org/drawingml/2006/main">
            <a:r>
              <a:t>      "기관 자료 교환",</a:t>
            </a:r>
          </a:p>
          <a:p xmlns:a="http://schemas.openxmlformats.org/drawingml/2006/main">
            <a:r>
              <a:t>      "자동 산정·통지",</a:t>
            </a:r>
          </a:p>
          <a:p xmlns:a="http://schemas.openxmlformats.org/drawingml/2006/main">
            <a:r>
              <a:t>      "소득·산정 근거",</a:t>
            </a:r>
          </a:p>
          <a:p xmlns:a="http://schemas.openxmlformats.org/drawingml/2006/main">
            <a:r>
              <a:t>      "대상자·재심 담당"</a:t>
            </a:r>
          </a:p>
          <a:p xmlns:a="http://schemas.openxmlformats.org/drawingml/2006/main">
            <a:r>
              <a:t>    ],</a:t>
            </a:r>
          </a:p>
          <a:p xmlns:a="http://schemas.openxmlformats.org/drawingml/2006/main">
            <a:r>
              <a:t>    "transfers": [</a:t>
            </a:r>
          </a:p>
          <a:p xmlns:a="http://schemas.openxmlformats.org/drawingml/2006/main">
            <a:r>
              <a:t>      "기관별 소득자료",</a:t>
            </a:r>
          </a:p>
          <a:p xmlns:a="http://schemas.openxmlformats.org/drawingml/2006/main">
            <a:r>
              <a:t>      "산정 대상·기간",</a:t>
            </a:r>
          </a:p>
          <a:p xmlns:a="http://schemas.openxmlformats.org/drawingml/2006/main">
            <a:r>
              <a:t>      "채무 통지",</a:t>
            </a:r>
          </a:p>
          <a:p xmlns:a="http://schemas.openxmlformats.org/drawingml/2006/main">
            <a:r>
              <a:t>      "이의·재심 기록"</a:t>
            </a:r>
          </a:p>
          <a:p xmlns:a="http://schemas.openxmlformats.org/drawingml/2006/main">
            <a:r>
              <a:t>    ],</a:t>
            </a:r>
          </a:p>
          <a:p xmlns:a="http://schemas.openxmlformats.org/drawingml/2006/main">
            <a:r>
              <a:t>    "control": "원천 증빙 불일치 시 자동 확정 보류",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호주 왕립위원회 · Robodebt 최종 보고서 https://robodebt.royalcommission.gov.au/publications/report</a:t>
            </a:r>
          </a:p>
          <a:p xmlns:a="http://schemas.openxmlformats.org/drawingml/2006/main">
            <a:r>
              <a:t>홈페이지 https://heen1987-ops.github.io/TS-business-Plan-001/index.html?view=casebook&amp;case=AX07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"AX07",</a:t>
            </a:r>
          </a:p>
          <a:p xmlns:a="http://schemas.openxmlformats.org/drawingml/2006/main">
            <a:r>
              <a:t>    "title": "호주 Robodebt",</a:t>
            </a:r>
          </a:p>
          <a:p xmlns:a="http://schemas.openxmlformats.org/drawingml/2006/main">
            <a:r>
              <a:t>    "region": "해외",</a:t>
            </a:r>
          </a:p>
          <a:p xmlns:a="http://schemas.openxmlformats.org/drawingml/2006/main">
            <a:r>
              <a:t>    "country": "호주",</a:t>
            </a:r>
          </a:p>
          <a:p xmlns:a="http://schemas.openxmlformats.org/drawingml/2006/main">
            <a:r>
              <a:t>    "result": "실패",</a:t>
            </a:r>
          </a:p>
          <a:p xmlns:a="http://schemas.openxmlformats.org/drawingml/2006/main">
            <a:r>
              <a:t>    "kind": "행정 자동화·책임 통제",</a:t>
            </a:r>
          </a:p>
          <a:p xmlns:a="http://schemas.openxmlformats.org/drawingml/2006/main">
            <a:r>
              <a:t>    "period": "2023 최종 조사",</a:t>
            </a:r>
          </a:p>
          <a:p xmlns:a="http://schemas.openxmlformats.org/drawingml/2006/main">
            <a:r>
              <a:t>    "sources": [</a:t>
            </a:r>
          </a:p>
          <a:p xmlns:a="http://schemas.openxmlformats.org/drawingml/2006/main">
            <a:r>
              <a:t>      "S08"</a:t>
            </a:r>
          </a:p>
          <a:p xmlns:a="http://schemas.openxmlformats.org/drawingml/2006/main">
            <a:r>
              <a:t>    ],</a:t>
            </a:r>
          </a:p>
          <a:p xmlns:a="http://schemas.openxmlformats.org/drawingml/2006/main">
            <a:r>
              <a:t>    "keywords": [</a:t>
            </a:r>
          </a:p>
          <a:p xmlns:a="http://schemas.openxmlformats.org/drawingml/2006/main">
            <a:r>
              <a:t>      "행정 판단",</a:t>
            </a:r>
          </a:p>
          <a:p xmlns:a="http://schemas.openxmlformats.org/drawingml/2006/main">
            <a:r>
              <a:t>      "적법성",</a:t>
            </a:r>
          </a:p>
          <a:p xmlns:a="http://schemas.openxmlformats.org/drawingml/2006/main">
            <a:r>
              <a:t>      "이의제기",</a:t>
            </a:r>
          </a:p>
          <a:p xmlns:a="http://schemas.openxmlformats.org/drawingml/2006/main">
            <a:r>
              <a:t>      "공정성"</a:t>
            </a:r>
          </a:p>
          <a:p xmlns:a="http://schemas.openxmlformats.org/drawingml/2006/main">
            <a:r>
              <a:t>    ],</a:t>
            </a:r>
          </a:p>
          <a:p xmlns:a="http://schemas.openxmlformats.org/drawingml/2006/main">
            <a:r>
              <a:t>    "fact": "왕립위원회 최종 조사에서 자동 결정의 법적 틀·재심 경로·데이터 교환 통제·취약계층 대응 개선 권고",</a:t>
            </a:r>
          </a:p>
          <a:p xmlns:a="http://schemas.openxmlformats.org/drawingml/2006/main">
            <a:r>
              <a:t>    "limit": "규칙 기반 행정 자동화의 실패 교훈 · 생성형 AI 사례 아님",</a:t>
            </a:r>
          </a:p>
          <a:p xmlns:a="http://schemas.openxmlformats.org/drawingml/2006/main">
            <a:r>
              <a:t>    "flow": [</a:t>
            </a:r>
          </a:p>
          <a:p xmlns:a="http://schemas.openxmlformats.org/drawingml/2006/main">
            <a:r>
              <a:t>      "기관 간 자료",</a:t>
            </a:r>
          </a:p>
          <a:p xmlns:a="http://schemas.openxmlformats.org/drawingml/2006/main">
            <a:r>
              <a:t>      "자동 산정·결정",</a:t>
            </a:r>
          </a:p>
          <a:p xmlns:a="http://schemas.openxmlformats.org/drawingml/2006/main">
            <a:r>
              <a:t>      "대상자 통지",</a:t>
            </a:r>
          </a:p>
          <a:p xmlns:a="http://schemas.openxmlformats.org/drawingml/2006/main">
            <a:r>
              <a:t>      "이의제기·재심"</a:t>
            </a:r>
          </a:p>
          <a:p xmlns:a="http://schemas.openxmlformats.org/drawingml/2006/main">
            <a:r>
              <a:t>    ],</a:t>
            </a:r>
          </a:p>
          <a:p xmlns:a="http://schemas.openxmlformats.org/drawingml/2006/main">
            <a:r>
              <a:t>    "flowBasis": "조사 권고의 대상 업무를 설명하기 위한 재구성",</a:t>
            </a:r>
          </a:p>
          <a:p xmlns:a="http://schemas.openxmlformats.org/drawingml/2006/main">
            <a:r>
              <a:t>    "lesson":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"근거·입력 검증 / 자동 확정 제한 / 이의제기·재검토 연결",</a:t>
            </a:r>
          </a:p>
          <a:p xmlns:a="http://schemas.openxmlformats.org/drawingml/2006/main">
            <a:r>
              <a:t>    "test": "누락·기간 불일치·권한 부재 시 보류 및 재심 처리 추적",</a:t>
            </a:r>
          </a:p>
          <a:p xmlns:a="http://schemas.openxmlformats.org/drawingml/2006/main">
            <a:r>
              <a:t>    "metric": "근거 누락률 / 오판 보완률 / 이의처리 시간"</a:t>
            </a:r>
          </a:p>
          <a:p xmlns:a="http://schemas.openxmlformats.org/drawingml/2006/main">
            <a:r>
              <a:t>  },</a:t>
            </a:r>
          </a:p>
          <a:p xmlns:a="http://schemas.openxmlformats.org/drawingml/2006/main">
            <a:r>
              <a:t>  "design": {</a:t>
            </a:r>
          </a:p>
          <a:p xmlns:a="http://schemas.openxmlformats.org/drawingml/2006/main">
            <a:r>
              <a:t>    "id": "AX07",</a:t>
            </a:r>
          </a:p>
          <a:p xmlns:a="http://schemas.openxmlformats.org/drawingml/2006/main">
            <a:r>
              <a:t>    "canonicalId": "AX07",</a:t>
            </a:r>
          </a:p>
          <a:p xmlns:a="http://schemas.openxmlformats.org/drawingml/2006/main">
            <a:r>
              <a:t>    "purpose": "자동 행정 산정의 근거·재심 체계 분석",</a:t>
            </a:r>
          </a:p>
          <a:p xmlns:a="http://schemas.openxmlformats.org/drawingml/2006/main">
            <a:r>
              <a:t>    "users": "행정 담당자·대상자·재심 담당",</a:t>
            </a:r>
          </a:p>
          <a:p xmlns:a="http://schemas.openxmlformats.org/drawingml/2006/main">
            <a:r>
              <a:t>    "scope": [</a:t>
            </a:r>
          </a:p>
          <a:p xmlns:a="http://schemas.openxmlformats.org/drawingml/2006/main">
            <a:r>
              <a:t>      "기관 간 자료",</a:t>
            </a:r>
          </a:p>
          <a:p xmlns:a="http://schemas.openxmlformats.org/drawingml/2006/main">
            <a:r>
              <a:t>      "산정·통지",</a:t>
            </a:r>
          </a:p>
          <a:p xmlns:a="http://schemas.openxmlformats.org/drawingml/2006/main">
            <a:r>
              <a:t>      "이의제기"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자료 교환",</a:t>
            </a:r>
          </a:p>
          <a:p xmlns:a="http://schemas.openxmlformats.org/drawingml/2006/main">
            <a:r>
              <a:t>        "detail": "자료의 대상·기간·적용 근거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간 자료 / 산정·통지 / 이의제기",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"자동 산정·통지",</a:t>
            </a:r>
          </a:p>
          <a:p xmlns:a="http://schemas.openxmlformats.org/drawingml/2006/main">
            <a:r>
              <a:t>        "detail": "불일치 자료의 자동 확정 보류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"대상자·재심 담당",</a:t>
            </a:r>
          </a:p>
          <a:p xmlns:a="http://schemas.openxmlformats.org/drawingml/2006/main">
            <a:r>
              <a:t>        "detail": "담당자 검토와 설명 가능한 통지·재심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"소득·산정 근거",</a:t>
            </a:r>
          </a:p>
          <a:p xmlns:a="http://schemas.openxmlformats.org/drawingml/2006/main">
            <a:r>
              <a:t>        "detail": "소득 등 원천자료와 적용기간 분리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"오판·이의제기 결과의 규칙 및 절차 개선",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"기관 간 자료",</a:t>
            </a:r>
          </a:p>
          <a:p xmlns:a="http://schemas.openxmlformats.org/drawingml/2006/main">
            <a:r>
              <a:t>        "input": "자료의 대상·기간·적용 근거 대조",</a:t>
            </a:r>
          </a:p>
          <a:p xmlns:a="http://schemas.openxmlformats.org/drawingml/2006/main">
            <a:r>
              <a:t>        "process": "소득 등 원천자료와 적용기간 분리 관리",</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"title": "자동 산정·결정",</a:t>
            </a:r>
          </a:p>
          <a:p xmlns:a="http://schemas.openxmlformats.org/drawingml/2006/main">
            <a:r>
              <a:t>        "input": "기관별 소득자료",</a:t>
            </a:r>
          </a:p>
          <a:p xmlns:a="http://schemas.openxmlformats.org/drawingml/2006/main">
            <a:r>
              <a:t>        "process": "불일치 자료의 자동 확정 보류 설계",</a:t>
            </a:r>
          </a:p>
          <a:p xmlns:a="http://schemas.openxmlformats.org/drawingml/2006/main">
            <a:r>
              <a:t>        "output": "산정 대상·기간"</a:t>
            </a:r>
          </a:p>
          <a:p xmlns:a="http://schemas.openxmlformats.org/drawingml/2006/main">
            <a:r>
              <a:t>      },</a:t>
            </a:r>
          </a:p>
          <a:p xmlns:a="http://schemas.openxmlformats.org/drawingml/2006/main">
            <a:r>
              <a:t>      {</a:t>
            </a:r>
          </a:p>
          <a:p xmlns:a="http://schemas.openxmlformats.org/drawingml/2006/main">
            <a:r>
              <a:t>        "title": "대상자 통지",</a:t>
            </a:r>
          </a:p>
          <a:p xmlns:a="http://schemas.openxmlformats.org/drawingml/2006/main">
            <a:r>
              <a:t>        "input": "산정 대상·기간",</a:t>
            </a:r>
          </a:p>
          <a:p xmlns:a="http://schemas.openxmlformats.org/drawingml/2006/main">
            <a:r>
              <a:t>        "process": "원천 증빙 불일치 시 자동 확정 보류",</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"title": "이의제기·재심",</a:t>
            </a:r>
          </a:p>
          <a:p xmlns:a="http://schemas.openxmlformats.org/drawingml/2006/main">
            <a:r>
              <a:t>        "input": "채무 통지",</a:t>
            </a:r>
          </a:p>
          <a:p xmlns:a="http://schemas.openxmlformats.org/drawingml/2006/main">
            <a:r>
              <a:t>        "process":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"기간이 일치하는 증빙을 확인한 뒤 담당자가 행정 결과 검토",</a:t>
            </a:r>
          </a:p>
          <a:p xmlns:a="http://schemas.openxmlformats.org/drawingml/2006/main">
            <a:r>
              <a:t>      "exception": "연간 자료를 짧은 기간에 일률 배분·당사자 반박 증빙",</a:t>
            </a:r>
          </a:p>
          <a:p xmlns:a="http://schemas.openxmlformats.org/drawingml/2006/main">
            <a:r>
              <a:t>      "evidence": "기간별 산정 대사와 보류·재심·담당자 판단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"행정 담당자·대상자·재심 담당",</a:t>
            </a:r>
          </a:p>
          <a:p xmlns:a="http://schemas.openxmlformats.org/drawingml/2006/main">
            <a:r>
              <a:t>          "processing": "자료의 대상·기간·적용 근거 대조",</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"소득·산정 근거",</a:t>
            </a:r>
          </a:p>
          <a:p xmlns:a="http://schemas.openxmlformats.org/drawingml/2006/main">
            <a:r>
              <a:t>          "processing": "소득 등 원천자료와 적용기간 분리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"기관별 소득자료",</a:t>
            </a:r>
          </a:p>
          <a:p xmlns:a="http://schemas.openxmlformats.org/drawingml/2006/main">
            <a:r>
              <a:t>          "processing": "불일치 자료의 자동 확정 보류 설계",</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"채무 통지",</a:t>
            </a:r>
          </a:p>
          <a:p xmlns:a="http://schemas.openxmlformats.org/drawingml/2006/main">
            <a:r>
              <a:t>          "processing":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"오판·이의제기 결과의 규칙 및 절차 개선",</a:t>
            </a:r>
          </a:p>
          <a:p xmlns:a="http://schemas.openxmlformats.org/drawingml/2006/main">
            <a:r>
              <a:t>          "output": "기간별 산정 대사와 보류·재심·담당자 판단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"오판·이의제기 결과의 규칙 및 절차 개선",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"S08",</a:t>
            </a:r>
          </a:p>
          <a:p xmlns:a="http://schemas.openxmlformats.org/drawingml/2006/main">
            <a:r>
              <a:t>        "title": "호주 왕립위원회 · Robodebt 최종 보고서",</a:t>
            </a:r>
          </a:p>
          <a:p xmlns:a="http://schemas.openxmlformats.org/drawingml/2006/main">
            <a:r>
              <a:t>        "url": "https://robodebt.royalcommission.gov.au/publications/report",</a:t>
            </a:r>
          </a:p>
          <a:p xmlns:a="http://schemas.openxmlformats.org/drawingml/2006/main">
            <a:r>
              <a:t>        "published": "2023-07-07",</a:t>
            </a:r>
          </a:p>
          <a:p xmlns:a="http://schemas.openxmlformats.org/drawingml/2006/main">
            <a:r>
              <a:t>        "level": "독립 조사 / 2023-07-11 정정본 안내",</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"sourceDetail": null,</a:t>
            </a:r>
          </a:p>
          <a:p xmlns:a="http://schemas.openxmlformats.org/drawingml/2006/main">
            <a:r>
              <a:t>    "narrative": [</a:t>
            </a:r>
          </a:p>
          <a:p xmlns:a="http://schemas.openxmlformats.org/drawingml/2006/main">
            <a:r>
              <a:t>      "기관 자료를 이용한 자동 산정·통지의 법적·증빙 통제 실패를 다룬 사례. 생성형 AI의 오답 문제보다 자료의 적용 기간과 산정 전제, 당사자의 이의제기 절차가 핵심인 행정 자동화 사례.",</a:t>
            </a:r>
          </a:p>
          <a:p xmlns:a="http://schemas.openxmlformats.org/drawingml/2006/main">
            <a:r>
              <a:t>      "원천 소득자료와 산정 대상 기간을 연결한 뒤 불일치 자료를 사람이 검토하도록 하는 재발 방지 구조. 통지에는 사용 근거와 산정 경로를 남기고 이의제기·재심 결과를 원 규칙에 환류하는 설계.",</a:t>
            </a:r>
          </a:p>
          <a:p xmlns:a="http://schemas.openxmlformats.org/drawingml/2006/main">
            <a:r>
              <a:t>      "TS에서는 AI 분류·계산 결과를 처분·부과·승인으로 곧바로 확정하지 않는 책임 경계에 활용. 근거 없는 자동 확정 차단, 기간 불일치 탐지, 재심 가능성과 증빙 추적을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"행정 산정 요청",</a:t>
            </a:r>
          </a:p>
          <a:p xmlns:a="http://schemas.openxmlformats.org/drawingml/2006/main">
            <a:r>
              <a:t>          "layer": "이용 접점",</a:t>
            </a:r>
          </a:p>
          <a:p xmlns:a="http://schemas.openxmlformats.org/drawingml/2006/main">
            <a:r>
              <a:t>          "detail": "행정 담당자·대상자·재심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"대상·적용기간",</a:t>
            </a:r>
          </a:p>
          <a:p xmlns:a="http://schemas.openxmlformats.org/drawingml/2006/main">
            <a:r>
              <a:t>          "layer": "업무 문맥",</a:t>
            </a:r>
          </a:p>
          <a:p xmlns:a="http://schemas.openxmlformats.org/drawingml/2006/main">
            <a:r>
              <a:t>          "detail": "자료의 대상·기간·적용 근거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"원천 소득 조회",</a:t>
            </a:r>
          </a:p>
          <a:p xmlns:a="http://schemas.openxmlformats.org/drawingml/2006/main">
            <a:r>
              <a:t>          "layer": "자료 조회",</a:t>
            </a:r>
          </a:p>
          <a:p xmlns:a="http://schemas.openxmlformats.org/drawingml/2006/main">
            <a:r>
              <a:t>          "detail": "기관별 소득자료",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"기간·산식 대조",</a:t>
            </a:r>
          </a:p>
          <a:p xmlns:a="http://schemas.openxmlformats.org/drawingml/2006/main">
            <a:r>
              <a:t>          "layer": "핵심 처리",</a:t>
            </a:r>
          </a:p>
          <a:p xmlns:a="http://schemas.openxmlformats.org/drawingml/2006/main">
            <a:r>
              <a:t>          "detail": "불일치 자료의 자동 확정 보류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"증빙 불일치 보류",</a:t>
            </a:r>
          </a:p>
          <a:p xmlns:a="http://schemas.openxmlformats.org/drawingml/2006/main">
            <a:r>
              <a:t>          "layer": "결과 검증",</a:t>
            </a:r>
          </a:p>
          <a:p xmlns:a="http://schemas.openxmlformats.org/drawingml/2006/main">
            <a:r>
              <a:t>          "detail": "원천 증빙 불일치 시 자동 확정 보류",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근거 확인",</a:t>
            </a:r>
          </a:p>
          <a:p xmlns:a="http://schemas.openxmlformats.org/drawingml/2006/main">
            <a:r>
              <a:t>          "layer": "사람 확인",</a:t>
            </a:r>
          </a:p>
          <a:p xmlns:a="http://schemas.openxmlformats.org/drawingml/2006/main">
            <a:r>
              <a:t>          "detail": "기간이 일치하는 증빙을 확인한 뒤 담당자가 행정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"통지·이의제기",</a:t>
            </a:r>
          </a:p>
          <a:p xmlns:a="http://schemas.openxmlformats.org/drawingml/2006/main">
            <a:r>
              <a:t>          "layer": "업무 연결",</a:t>
            </a:r>
          </a:p>
          <a:p xmlns:a="http://schemas.openxmlformats.org/drawingml/2006/main">
            <a:r>
              <a:t>          "detail": "담당자 검토와 설명 가능한 통지·재심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"재심 결과 환류",</a:t>
            </a:r>
          </a:p>
          <a:p xmlns:a="http://schemas.openxmlformats.org/drawingml/2006/main">
            <a:r>
              <a:t>          "layer": "운영 관측",</a:t>
            </a:r>
          </a:p>
          <a:p xmlns:a="http://schemas.openxmlformats.org/drawingml/2006/main">
            <a:r>
              <a:t>          "detail": "오판·이의제기 결과의 규칙 및 절차 개선",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"기관 소득자료",</a:t>
            </a:r>
          </a:p>
          <a:p xmlns:a="http://schemas.openxmlformats.org/drawingml/2006/main">
            <a:r>
              <a:t>          "layer": "데이터 원천",</a:t>
            </a:r>
          </a:p>
          <a:p xmlns:a="http://schemas.openxmlformats.org/drawingml/2006/main">
            <a:r>
              <a:t>          "detail": "소득·산정 근거",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"기간·식별자 정합화",</a:t>
            </a:r>
          </a:p>
          <a:p xmlns:a="http://schemas.openxmlformats.org/drawingml/2006/main">
            <a:r>
              <a:t>          "layer": "준비·갱신",</a:t>
            </a:r>
          </a:p>
          <a:p xmlns:a="http://schemas.openxmlformats.org/drawingml/2006/main">
            <a:r>
              <a:t>          "detail": "소득 등 원천자료와 적용기간 분리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"근거·통지 이력",</a:t>
            </a:r>
          </a:p>
          <a:p xmlns:a="http://schemas.openxmlformats.org/drawingml/2006/main">
            <a:r>
              <a:t>          "layer": "상태·지식 저장",</a:t>
            </a:r>
          </a:p>
          <a:p xmlns:a="http://schemas.openxmlformats.org/drawingml/2006/main">
            <a:r>
              <a:t>          "detail": "기간별 산정 대사와 보류·재심·담당자 판단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"산정·재심 규칙",</a:t>
            </a:r>
          </a:p>
          <a:p xmlns:a="http://schemas.openxmlformats.org/drawingml/2006/main">
            <a:r>
              <a:t>          "layer": "권한·정책",</a:t>
            </a:r>
          </a:p>
          <a:p xmlns:a="http://schemas.openxmlformats.org/drawingml/2006/main">
            <a:r>
              <a:t>          "detail": "연간 자료를 짧은 기간에 일률 배분·당사자 반박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"기관 간 자료 → 자동 산정·결정 → 대상자 통지 → 이의제기·재심"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"자료의 대상·기간·적용 근거 대조",</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"기관별 소득자료",</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"산정·재심 규칙",</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"채무 통지",</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"채무 통지",</a:t>
            </a:r>
          </a:p>
          <a:p xmlns:a="http://schemas.openxmlformats.org/drawingml/2006/main">
            <a:r>
              <a:t>          "check": "연간 자료를 짧은 기간에 일률 배분·당사자 반박 증빙"</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"이의·재심 기록",</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"자동 행정 산정의 근거·재심 체계 분석 / 기관 간 자료·산정·통지·이의제기",</a:t>
            </a:r>
          </a:p>
          <a:p xmlns:a="http://schemas.openxmlformats.org/drawingml/2006/main">
            <a:r>
              <a:t>        "extension": "검사·지원·자격 업무의 근거 조문·증빙·전결 확인 후 담당자 판단"</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"연간 자료를 짧은 기간에 일률 배분·당사자 반박 증빙",</a:t>
            </a:r>
          </a:p>
          <a:p xmlns:a="http://schemas.openxmlformats.org/drawingml/2006/main">
            <a:r>
              <a:t>        "hold": "원천 증빙 불일치 시 자동 확정 보류",</a:t>
            </a:r>
          </a:p>
          <a:p xmlns:a="http://schemas.openxmlformats.org/drawingml/2006/main">
            <a:r>
              <a:t>        "recovery": "오판·이의제기 결과의 규칙 및 절차 개선",</a:t>
            </a:r>
          </a:p>
          <a:p xmlns:a="http://schemas.openxmlformats.org/drawingml/2006/main">
            <a:r>
              <a:t>        "evidence": "기간별 산정 대사와 보류·재심·담당자 판단 기록"</a:t>
            </a:r>
          </a:p>
          <a:p xmlns:a="http://schemas.openxmlformats.org/drawingml/2006/main">
            <a:r>
              <a:t>      },</a:t>
            </a:r>
          </a:p>
          <a:p xmlns:a="http://schemas.openxmlformats.org/drawingml/2006/main">
            <a:r>
              <a:t>      "data": {</a:t>
            </a:r>
          </a:p>
          <a:p xmlns:a="http://schemas.openxmlformats.org/drawingml/2006/main">
            <a:r>
              <a:t>        "source": "소득·산정 근거",</a:t>
            </a:r>
          </a:p>
          <a:p xmlns:a="http://schemas.openxmlformats.org/drawingml/2006/main">
            <a:r>
              <a:t>        "prepare": "소득 등 원천자료와 적용기간 분리 관리",</a:t>
            </a:r>
          </a:p>
          <a:p xmlns:a="http://schemas.openxmlformats.org/drawingml/2006/main">
            <a:r>
              <a:t>        "output": "기관별 소득자료",</a:t>
            </a:r>
          </a:p>
          <a:p xmlns:a="http://schemas.openxmlformats.org/drawingml/2006/main">
            <a:r>
              <a:t>        "refresh": "오판·이의제기 결과의 규칙 및 절차 개선"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"AX07",</a:t>
            </a:r>
          </a:p>
          <a:p xmlns:a="http://schemas.openxmlformats.org/drawingml/2006/main">
            <a:r>
              <a:t>    "success": [</a:t>
            </a:r>
          </a:p>
          <a:p xmlns:a="http://schemas.openxmlformats.org/drawingml/2006/main">
            <a:r>
              <a:t>      "자동 결정 전 법적·증빙 근거 확인",</a:t>
            </a:r>
          </a:p>
          <a:p xmlns:a="http://schemas.openxmlformats.org/drawingml/2006/main">
            <a:r>
              <a:t>      "이의제기와 재심 경로 확보"</a:t>
            </a:r>
          </a:p>
          <a:p xmlns:a="http://schemas.openxmlformats.org/drawingml/2006/main">
            <a:r>
              <a:t>    ],</a:t>
            </a:r>
          </a:p>
          <a:p xmlns:a="http://schemas.openxmlformats.org/drawingml/2006/main">
            <a:r>
              <a:t>    "risks": [</a:t>
            </a:r>
          </a:p>
          <a:p xmlns:a="http://schemas.openxmlformats.org/drawingml/2006/main">
            <a:r>
              <a:t>      "자료 기간·산정 전제의 부적합",</a:t>
            </a:r>
          </a:p>
          <a:p xmlns:a="http://schemas.openxmlformats.org/drawingml/2006/main">
            <a:r>
              <a:t>      "자동 판단에 대한 책임·재심 통제 부족"</a:t>
            </a:r>
          </a:p>
          <a:p xmlns:a="http://schemas.openxmlformats.org/drawingml/2006/main">
            <a:r>
              <a:t>    ],</a:t>
            </a:r>
          </a:p>
          <a:p xmlns:a="http://schemas.openxmlformats.org/drawingml/2006/main">
            <a:r>
              <a:t>    "architecture": [</a:t>
            </a:r>
          </a:p>
          <a:p xmlns:a="http://schemas.openxmlformats.org/drawingml/2006/main">
            <a:r>
              <a:t>      "기관 자료 교환",</a:t>
            </a:r>
          </a:p>
          <a:p xmlns:a="http://schemas.openxmlformats.org/drawingml/2006/main">
            <a:r>
              <a:t>      "자동 산정·통지",</a:t>
            </a:r>
          </a:p>
          <a:p xmlns:a="http://schemas.openxmlformats.org/drawingml/2006/main">
            <a:r>
              <a:t>      "소득·산정 근거",</a:t>
            </a:r>
          </a:p>
          <a:p xmlns:a="http://schemas.openxmlformats.org/drawingml/2006/main">
            <a:r>
              <a:t>      "대상자·재심 담당"</a:t>
            </a:r>
          </a:p>
          <a:p xmlns:a="http://schemas.openxmlformats.org/drawingml/2006/main">
            <a:r>
              <a:t>    ],</a:t>
            </a:r>
          </a:p>
          <a:p xmlns:a="http://schemas.openxmlformats.org/drawingml/2006/main">
            <a:r>
              <a:t>    "transfers": [</a:t>
            </a:r>
          </a:p>
          <a:p xmlns:a="http://schemas.openxmlformats.org/drawingml/2006/main">
            <a:r>
              <a:t>      "기관별 소득자료",</a:t>
            </a:r>
          </a:p>
          <a:p xmlns:a="http://schemas.openxmlformats.org/drawingml/2006/main">
            <a:r>
              <a:t>      "산정 대상·기간",</a:t>
            </a:r>
          </a:p>
          <a:p xmlns:a="http://schemas.openxmlformats.org/drawingml/2006/main">
            <a:r>
              <a:t>      "채무 통지",</a:t>
            </a:r>
          </a:p>
          <a:p xmlns:a="http://schemas.openxmlformats.org/drawingml/2006/main">
            <a:r>
              <a:t>      "이의·재심 기록"</a:t>
            </a:r>
          </a:p>
          <a:p xmlns:a="http://schemas.openxmlformats.org/drawingml/2006/main">
            <a:r>
              <a:t>    ],</a:t>
            </a:r>
          </a:p>
          <a:p xmlns:a="http://schemas.openxmlformats.org/drawingml/2006/main">
            <a:r>
              <a:t>    "control": "원천 증빙 불일치 시 자동 확정 보류",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호주 왕립위원회 · Robodebt 최종 보고서 https://robodebt.royalcommission.gov.au/publications/report</a:t>
            </a:r>
          </a:p>
          <a:p xmlns:a="http://schemas.openxmlformats.org/drawingml/2006/main">
            <a:r>
              <a:t>홈페이지 https://heen1987-ops.github.io/TS-business-Plan-001/index.html?view=casebook&amp;case=AX07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"AX07",</a:t>
            </a:r>
          </a:p>
          <a:p xmlns:a="http://schemas.openxmlformats.org/drawingml/2006/main">
            <a:r>
              <a:t>    "title": "호주 Robodebt",</a:t>
            </a:r>
          </a:p>
          <a:p xmlns:a="http://schemas.openxmlformats.org/drawingml/2006/main">
            <a:r>
              <a:t>    "region": "해외",</a:t>
            </a:r>
          </a:p>
          <a:p xmlns:a="http://schemas.openxmlformats.org/drawingml/2006/main">
            <a:r>
              <a:t>    "country": "호주",</a:t>
            </a:r>
          </a:p>
          <a:p xmlns:a="http://schemas.openxmlformats.org/drawingml/2006/main">
            <a:r>
              <a:t>    "result": "실패",</a:t>
            </a:r>
          </a:p>
          <a:p xmlns:a="http://schemas.openxmlformats.org/drawingml/2006/main">
            <a:r>
              <a:t>    "kind": "행정 자동화·책임 통제",</a:t>
            </a:r>
          </a:p>
          <a:p xmlns:a="http://schemas.openxmlformats.org/drawingml/2006/main">
            <a:r>
              <a:t>    "period": "2023 최종 조사",</a:t>
            </a:r>
          </a:p>
          <a:p xmlns:a="http://schemas.openxmlformats.org/drawingml/2006/main">
            <a:r>
              <a:t>    "sources": [</a:t>
            </a:r>
          </a:p>
          <a:p xmlns:a="http://schemas.openxmlformats.org/drawingml/2006/main">
            <a:r>
              <a:t>      "S08"</a:t>
            </a:r>
          </a:p>
          <a:p xmlns:a="http://schemas.openxmlformats.org/drawingml/2006/main">
            <a:r>
              <a:t>    ],</a:t>
            </a:r>
          </a:p>
          <a:p xmlns:a="http://schemas.openxmlformats.org/drawingml/2006/main">
            <a:r>
              <a:t>    "keywords": [</a:t>
            </a:r>
          </a:p>
          <a:p xmlns:a="http://schemas.openxmlformats.org/drawingml/2006/main">
            <a:r>
              <a:t>      "행정 판단",</a:t>
            </a:r>
          </a:p>
          <a:p xmlns:a="http://schemas.openxmlformats.org/drawingml/2006/main">
            <a:r>
              <a:t>      "적법성",</a:t>
            </a:r>
          </a:p>
          <a:p xmlns:a="http://schemas.openxmlformats.org/drawingml/2006/main">
            <a:r>
              <a:t>      "이의제기",</a:t>
            </a:r>
          </a:p>
          <a:p xmlns:a="http://schemas.openxmlformats.org/drawingml/2006/main">
            <a:r>
              <a:t>      "공정성"</a:t>
            </a:r>
          </a:p>
          <a:p xmlns:a="http://schemas.openxmlformats.org/drawingml/2006/main">
            <a:r>
              <a:t>    ],</a:t>
            </a:r>
          </a:p>
          <a:p xmlns:a="http://schemas.openxmlformats.org/drawingml/2006/main">
            <a:r>
              <a:t>    "fact": "왕립위원회 최종 조사에서 자동 결정의 법적 틀·재심 경로·데이터 교환 통제·취약계층 대응 개선 권고",</a:t>
            </a:r>
          </a:p>
          <a:p xmlns:a="http://schemas.openxmlformats.org/drawingml/2006/main">
            <a:r>
              <a:t>    "limit": "규칙 기반 행정 자동화의 실패 교훈 · 생성형 AI 사례 아님",</a:t>
            </a:r>
          </a:p>
          <a:p xmlns:a="http://schemas.openxmlformats.org/drawingml/2006/main">
            <a:r>
              <a:t>    "flow": [</a:t>
            </a:r>
          </a:p>
          <a:p xmlns:a="http://schemas.openxmlformats.org/drawingml/2006/main">
            <a:r>
              <a:t>      "기관 간 자료",</a:t>
            </a:r>
          </a:p>
          <a:p xmlns:a="http://schemas.openxmlformats.org/drawingml/2006/main">
            <a:r>
              <a:t>      "자동 산정·결정",</a:t>
            </a:r>
          </a:p>
          <a:p xmlns:a="http://schemas.openxmlformats.org/drawingml/2006/main">
            <a:r>
              <a:t>      "대상자 통지",</a:t>
            </a:r>
          </a:p>
          <a:p xmlns:a="http://schemas.openxmlformats.org/drawingml/2006/main">
            <a:r>
              <a:t>      "이의제기·재심"</a:t>
            </a:r>
          </a:p>
          <a:p xmlns:a="http://schemas.openxmlformats.org/drawingml/2006/main">
            <a:r>
              <a:t>    ],</a:t>
            </a:r>
          </a:p>
          <a:p xmlns:a="http://schemas.openxmlformats.org/drawingml/2006/main">
            <a:r>
              <a:t>    "flowBasis": "조사 권고의 대상 업무를 설명하기 위한 재구성",</a:t>
            </a:r>
          </a:p>
          <a:p xmlns:a="http://schemas.openxmlformats.org/drawingml/2006/main">
            <a:r>
              <a:t>    "lesson":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"근거·입력 검증 / 자동 확정 제한 / 이의제기·재검토 연결",</a:t>
            </a:r>
          </a:p>
          <a:p xmlns:a="http://schemas.openxmlformats.org/drawingml/2006/main">
            <a:r>
              <a:t>    "test": "누락·기간 불일치·권한 부재 시 보류 및 재심 처리 추적",</a:t>
            </a:r>
          </a:p>
          <a:p xmlns:a="http://schemas.openxmlformats.org/drawingml/2006/main">
            <a:r>
              <a:t>    "metric": "근거 누락률 / 오판 보완률 / 이의처리 시간"</a:t>
            </a:r>
          </a:p>
          <a:p xmlns:a="http://schemas.openxmlformats.org/drawingml/2006/main">
            <a:r>
              <a:t>  },</a:t>
            </a:r>
          </a:p>
          <a:p xmlns:a="http://schemas.openxmlformats.org/drawingml/2006/main">
            <a:r>
              <a:t>  "design": {</a:t>
            </a:r>
          </a:p>
          <a:p xmlns:a="http://schemas.openxmlformats.org/drawingml/2006/main">
            <a:r>
              <a:t>    "id": "AX07",</a:t>
            </a:r>
          </a:p>
          <a:p xmlns:a="http://schemas.openxmlformats.org/drawingml/2006/main">
            <a:r>
              <a:t>    "canonicalId": "AX07",</a:t>
            </a:r>
          </a:p>
          <a:p xmlns:a="http://schemas.openxmlformats.org/drawingml/2006/main">
            <a:r>
              <a:t>    "purpose": "자동 행정 산정의 근거·재심 체계 분석",</a:t>
            </a:r>
          </a:p>
          <a:p xmlns:a="http://schemas.openxmlformats.org/drawingml/2006/main">
            <a:r>
              <a:t>    "users": "행정 담당자·대상자·재심 담당",</a:t>
            </a:r>
          </a:p>
          <a:p xmlns:a="http://schemas.openxmlformats.org/drawingml/2006/main">
            <a:r>
              <a:t>    "scope": [</a:t>
            </a:r>
          </a:p>
          <a:p xmlns:a="http://schemas.openxmlformats.org/drawingml/2006/main">
            <a:r>
              <a:t>      "기관 간 자료",</a:t>
            </a:r>
          </a:p>
          <a:p xmlns:a="http://schemas.openxmlformats.org/drawingml/2006/main">
            <a:r>
              <a:t>      "산정·통지",</a:t>
            </a:r>
          </a:p>
          <a:p xmlns:a="http://schemas.openxmlformats.org/drawingml/2006/main">
            <a:r>
              <a:t>      "이의제기"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자료 교환",</a:t>
            </a:r>
          </a:p>
          <a:p xmlns:a="http://schemas.openxmlformats.org/drawingml/2006/main">
            <a:r>
              <a:t>        "detail": "자료의 대상·기간·적용 근거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간 자료 / 산정·통지 / 이의제기",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"자동 산정·통지",</a:t>
            </a:r>
          </a:p>
          <a:p xmlns:a="http://schemas.openxmlformats.org/drawingml/2006/main">
            <a:r>
              <a:t>        "detail": "불일치 자료의 자동 확정 보류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"대상자·재심 담당",</a:t>
            </a:r>
          </a:p>
          <a:p xmlns:a="http://schemas.openxmlformats.org/drawingml/2006/main">
            <a:r>
              <a:t>        "detail": "담당자 검토와 설명 가능한 통지·재심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"소득·산정 근거",</a:t>
            </a:r>
          </a:p>
          <a:p xmlns:a="http://schemas.openxmlformats.org/drawingml/2006/main">
            <a:r>
              <a:t>        "detail": "소득 등 원천자료와 적용기간 분리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"오판·이의제기 결과의 규칙 및 절차 개선",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"기관 간 자료",</a:t>
            </a:r>
          </a:p>
          <a:p xmlns:a="http://schemas.openxmlformats.org/drawingml/2006/main">
            <a:r>
              <a:t>        "input": "자료의 대상·기간·적용 근거 대조",</a:t>
            </a:r>
          </a:p>
          <a:p xmlns:a="http://schemas.openxmlformats.org/drawingml/2006/main">
            <a:r>
              <a:t>        "process": "소득 등 원천자료와 적용기간 분리 관리",</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"title": "자동 산정·결정",</a:t>
            </a:r>
          </a:p>
          <a:p xmlns:a="http://schemas.openxmlformats.org/drawingml/2006/main">
            <a:r>
              <a:t>        "input": "기관별 소득자료",</a:t>
            </a:r>
          </a:p>
          <a:p xmlns:a="http://schemas.openxmlformats.org/drawingml/2006/main">
            <a:r>
              <a:t>        "process": "불일치 자료의 자동 확정 보류 설계",</a:t>
            </a:r>
          </a:p>
          <a:p xmlns:a="http://schemas.openxmlformats.org/drawingml/2006/main">
            <a:r>
              <a:t>        "output": "산정 대상·기간"</a:t>
            </a:r>
          </a:p>
          <a:p xmlns:a="http://schemas.openxmlformats.org/drawingml/2006/main">
            <a:r>
              <a:t>      },</a:t>
            </a:r>
          </a:p>
          <a:p xmlns:a="http://schemas.openxmlformats.org/drawingml/2006/main">
            <a:r>
              <a:t>      {</a:t>
            </a:r>
          </a:p>
          <a:p xmlns:a="http://schemas.openxmlformats.org/drawingml/2006/main">
            <a:r>
              <a:t>        "title": "대상자 통지",</a:t>
            </a:r>
          </a:p>
          <a:p xmlns:a="http://schemas.openxmlformats.org/drawingml/2006/main">
            <a:r>
              <a:t>        "input": "산정 대상·기간",</a:t>
            </a:r>
          </a:p>
          <a:p xmlns:a="http://schemas.openxmlformats.org/drawingml/2006/main">
            <a:r>
              <a:t>        "process": "원천 증빙 불일치 시 자동 확정 보류",</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"title": "이의제기·재심",</a:t>
            </a:r>
          </a:p>
          <a:p xmlns:a="http://schemas.openxmlformats.org/drawingml/2006/main">
            <a:r>
              <a:t>        "input": "채무 통지",</a:t>
            </a:r>
          </a:p>
          <a:p xmlns:a="http://schemas.openxmlformats.org/drawingml/2006/main">
            <a:r>
              <a:t>        "process":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"기간이 일치하는 증빙을 확인한 뒤 담당자가 행정 결과 검토",</a:t>
            </a:r>
          </a:p>
          <a:p xmlns:a="http://schemas.openxmlformats.org/drawingml/2006/main">
            <a:r>
              <a:t>      "exception": "연간 자료를 짧은 기간에 일률 배분·당사자 반박 증빙",</a:t>
            </a:r>
          </a:p>
          <a:p xmlns:a="http://schemas.openxmlformats.org/drawingml/2006/main">
            <a:r>
              <a:t>      "evidence": "기간별 산정 대사와 보류·재심·담당자 판단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"행정 담당자·대상자·재심 담당",</a:t>
            </a:r>
          </a:p>
          <a:p xmlns:a="http://schemas.openxmlformats.org/drawingml/2006/main">
            <a:r>
              <a:t>          "processing": "자료의 대상·기간·적용 근거 대조",</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"소득·산정 근거",</a:t>
            </a:r>
          </a:p>
          <a:p xmlns:a="http://schemas.openxmlformats.org/drawingml/2006/main">
            <a:r>
              <a:t>          "processing": "소득 등 원천자료와 적용기간 분리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"기관별 소득자료",</a:t>
            </a:r>
          </a:p>
          <a:p xmlns:a="http://schemas.openxmlformats.org/drawingml/2006/main">
            <a:r>
              <a:t>          "processing": "불일치 자료의 자동 확정 보류 설계",</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"채무 통지",</a:t>
            </a:r>
          </a:p>
          <a:p xmlns:a="http://schemas.openxmlformats.org/drawingml/2006/main">
            <a:r>
              <a:t>          "processing":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"오판·이의제기 결과의 규칙 및 절차 개선",</a:t>
            </a:r>
          </a:p>
          <a:p xmlns:a="http://schemas.openxmlformats.org/drawingml/2006/main">
            <a:r>
              <a:t>          "output": "기간별 산정 대사와 보류·재심·담당자 판단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"오판·이의제기 결과의 규칙 및 절차 개선",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"S08",</a:t>
            </a:r>
          </a:p>
          <a:p xmlns:a="http://schemas.openxmlformats.org/drawingml/2006/main">
            <a:r>
              <a:t>        "title": "호주 왕립위원회 · Robodebt 최종 보고서",</a:t>
            </a:r>
          </a:p>
          <a:p xmlns:a="http://schemas.openxmlformats.org/drawingml/2006/main">
            <a:r>
              <a:t>        "url": "https://robodebt.royalcommission.gov.au/publications/report",</a:t>
            </a:r>
          </a:p>
          <a:p xmlns:a="http://schemas.openxmlformats.org/drawingml/2006/main">
            <a:r>
              <a:t>        "published": "2023-07-07",</a:t>
            </a:r>
          </a:p>
          <a:p xmlns:a="http://schemas.openxmlformats.org/drawingml/2006/main">
            <a:r>
              <a:t>        "level": "독립 조사 / 2023-07-11 정정본 안내",</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"sourceDetail": null,</a:t>
            </a:r>
          </a:p>
          <a:p xmlns:a="http://schemas.openxmlformats.org/drawingml/2006/main">
            <a:r>
              <a:t>    "narrative": [</a:t>
            </a:r>
          </a:p>
          <a:p xmlns:a="http://schemas.openxmlformats.org/drawingml/2006/main">
            <a:r>
              <a:t>      "기관 자료를 이용한 자동 산정·통지의 법적·증빙 통제 실패를 다룬 사례. 생성형 AI의 오답 문제보다 자료의 적용 기간과 산정 전제, 당사자의 이의제기 절차가 핵심인 행정 자동화 사례.",</a:t>
            </a:r>
          </a:p>
          <a:p xmlns:a="http://schemas.openxmlformats.org/drawingml/2006/main">
            <a:r>
              <a:t>      "원천 소득자료와 산정 대상 기간을 연결한 뒤 불일치 자료를 사람이 검토하도록 하는 재발 방지 구조. 통지에는 사용 근거와 산정 경로를 남기고 이의제기·재심 결과를 원 규칙에 환류하는 설계.",</a:t>
            </a:r>
          </a:p>
          <a:p xmlns:a="http://schemas.openxmlformats.org/drawingml/2006/main">
            <a:r>
              <a:t>      "TS에서는 AI 분류·계산 결과를 처분·부과·승인으로 곧바로 확정하지 않는 책임 경계에 활용. 근거 없는 자동 확정 차단, 기간 불일치 탐지, 재심 가능성과 증빙 추적을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"행정 산정 요청",</a:t>
            </a:r>
          </a:p>
          <a:p xmlns:a="http://schemas.openxmlformats.org/drawingml/2006/main">
            <a:r>
              <a:t>          "layer": "이용 접점",</a:t>
            </a:r>
          </a:p>
          <a:p xmlns:a="http://schemas.openxmlformats.org/drawingml/2006/main">
            <a:r>
              <a:t>          "detail": "행정 담당자·대상자·재심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"대상·적용기간",</a:t>
            </a:r>
          </a:p>
          <a:p xmlns:a="http://schemas.openxmlformats.org/drawingml/2006/main">
            <a:r>
              <a:t>          "layer": "업무 문맥",</a:t>
            </a:r>
          </a:p>
          <a:p xmlns:a="http://schemas.openxmlformats.org/drawingml/2006/main">
            <a:r>
              <a:t>          "detail": "자료의 대상·기간·적용 근거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"원천 소득 조회",</a:t>
            </a:r>
          </a:p>
          <a:p xmlns:a="http://schemas.openxmlformats.org/drawingml/2006/main">
            <a:r>
              <a:t>          "layer": "자료 조회",</a:t>
            </a:r>
          </a:p>
          <a:p xmlns:a="http://schemas.openxmlformats.org/drawingml/2006/main">
            <a:r>
              <a:t>          "detail": "기관별 소득자료",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"기간·산식 대조",</a:t>
            </a:r>
          </a:p>
          <a:p xmlns:a="http://schemas.openxmlformats.org/drawingml/2006/main">
            <a:r>
              <a:t>          "layer": "핵심 처리",</a:t>
            </a:r>
          </a:p>
          <a:p xmlns:a="http://schemas.openxmlformats.org/drawingml/2006/main">
            <a:r>
              <a:t>          "detail": "불일치 자료의 자동 확정 보류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"증빙 불일치 보류",</a:t>
            </a:r>
          </a:p>
          <a:p xmlns:a="http://schemas.openxmlformats.org/drawingml/2006/main">
            <a:r>
              <a:t>          "layer": "결과 검증",</a:t>
            </a:r>
          </a:p>
          <a:p xmlns:a="http://schemas.openxmlformats.org/drawingml/2006/main">
            <a:r>
              <a:t>          "detail": "원천 증빙 불일치 시 자동 확정 보류",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근거 확인",</a:t>
            </a:r>
          </a:p>
          <a:p xmlns:a="http://schemas.openxmlformats.org/drawingml/2006/main">
            <a:r>
              <a:t>          "layer": "사람 확인",</a:t>
            </a:r>
          </a:p>
          <a:p xmlns:a="http://schemas.openxmlformats.org/drawingml/2006/main">
            <a:r>
              <a:t>          "detail": "기간이 일치하는 증빙을 확인한 뒤 담당자가 행정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"통지·이의제기",</a:t>
            </a:r>
          </a:p>
          <a:p xmlns:a="http://schemas.openxmlformats.org/drawingml/2006/main">
            <a:r>
              <a:t>          "layer": "업무 연결",</a:t>
            </a:r>
          </a:p>
          <a:p xmlns:a="http://schemas.openxmlformats.org/drawingml/2006/main">
            <a:r>
              <a:t>          "detail": "담당자 검토와 설명 가능한 통지·재심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"재심 결과 환류",</a:t>
            </a:r>
          </a:p>
          <a:p xmlns:a="http://schemas.openxmlformats.org/drawingml/2006/main">
            <a:r>
              <a:t>          "layer": "운영 관측",</a:t>
            </a:r>
          </a:p>
          <a:p xmlns:a="http://schemas.openxmlformats.org/drawingml/2006/main">
            <a:r>
              <a:t>          "detail": "오판·이의제기 결과의 규칙 및 절차 개선",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"기관 소득자료",</a:t>
            </a:r>
          </a:p>
          <a:p xmlns:a="http://schemas.openxmlformats.org/drawingml/2006/main">
            <a:r>
              <a:t>          "layer": "데이터 원천",</a:t>
            </a:r>
          </a:p>
          <a:p xmlns:a="http://schemas.openxmlformats.org/drawingml/2006/main">
            <a:r>
              <a:t>          "detail": "소득·산정 근거",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"기간·식별자 정합화",</a:t>
            </a:r>
          </a:p>
          <a:p xmlns:a="http://schemas.openxmlformats.org/drawingml/2006/main">
            <a:r>
              <a:t>          "layer": "준비·갱신",</a:t>
            </a:r>
          </a:p>
          <a:p xmlns:a="http://schemas.openxmlformats.org/drawingml/2006/main">
            <a:r>
              <a:t>          "detail": "소득 등 원천자료와 적용기간 분리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"근거·통지 이력",</a:t>
            </a:r>
          </a:p>
          <a:p xmlns:a="http://schemas.openxmlformats.org/drawingml/2006/main">
            <a:r>
              <a:t>          "layer": "상태·지식 저장",</a:t>
            </a:r>
          </a:p>
          <a:p xmlns:a="http://schemas.openxmlformats.org/drawingml/2006/main">
            <a:r>
              <a:t>          "detail": "기간별 산정 대사와 보류·재심·담당자 판단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"산정·재심 규칙",</a:t>
            </a:r>
          </a:p>
          <a:p xmlns:a="http://schemas.openxmlformats.org/drawingml/2006/main">
            <a:r>
              <a:t>          "layer": "권한·정책",</a:t>
            </a:r>
          </a:p>
          <a:p xmlns:a="http://schemas.openxmlformats.org/drawingml/2006/main">
            <a:r>
              <a:t>          "detail": "연간 자료를 짧은 기간에 일률 배분·당사자 반박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"기관 간 자료 → 자동 산정·결정 → 대상자 통지 → 이의제기·재심"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"자료의 대상·기간·적용 근거 대조",</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"기관별 소득자료",</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"산정·재심 규칙",</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"채무 통지",</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"채무 통지",</a:t>
            </a:r>
          </a:p>
          <a:p xmlns:a="http://schemas.openxmlformats.org/drawingml/2006/main">
            <a:r>
              <a:t>          "check": "연간 자료를 짧은 기간에 일률 배분·당사자 반박 증빙"</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"이의·재심 기록",</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"자동 행정 산정의 근거·재심 체계 분석 / 기관 간 자료·산정·통지·이의제기",</a:t>
            </a:r>
          </a:p>
          <a:p xmlns:a="http://schemas.openxmlformats.org/drawingml/2006/main">
            <a:r>
              <a:t>        "extension": "검사·지원·자격 업무의 근거 조문·증빙·전결 확인 후 담당자 판단"</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"연간 자료를 짧은 기간에 일률 배분·당사자 반박 증빙",</a:t>
            </a:r>
          </a:p>
          <a:p xmlns:a="http://schemas.openxmlformats.org/drawingml/2006/main">
            <a:r>
              <a:t>        "hold": "원천 증빙 불일치 시 자동 확정 보류",</a:t>
            </a:r>
          </a:p>
          <a:p xmlns:a="http://schemas.openxmlformats.org/drawingml/2006/main">
            <a:r>
              <a:t>        "recovery": "오판·이의제기 결과의 규칙 및 절차 개선",</a:t>
            </a:r>
          </a:p>
          <a:p xmlns:a="http://schemas.openxmlformats.org/drawingml/2006/main">
            <a:r>
              <a:t>        "evidence": "기간별 산정 대사와 보류·재심·담당자 판단 기록"</a:t>
            </a:r>
          </a:p>
          <a:p xmlns:a="http://schemas.openxmlformats.org/drawingml/2006/main">
            <a:r>
              <a:t>      },</a:t>
            </a:r>
          </a:p>
          <a:p xmlns:a="http://schemas.openxmlformats.org/drawingml/2006/main">
            <a:r>
              <a:t>      "data": {</a:t>
            </a:r>
          </a:p>
          <a:p xmlns:a="http://schemas.openxmlformats.org/drawingml/2006/main">
            <a:r>
              <a:t>        "source": "소득·산정 근거",</a:t>
            </a:r>
          </a:p>
          <a:p xmlns:a="http://schemas.openxmlformats.org/drawingml/2006/main">
            <a:r>
              <a:t>        "prepare": "소득 등 원천자료와 적용기간 분리 관리",</a:t>
            </a:r>
          </a:p>
          <a:p xmlns:a="http://schemas.openxmlformats.org/drawingml/2006/main">
            <a:r>
              <a:t>        "output": "기관별 소득자료",</a:t>
            </a:r>
          </a:p>
          <a:p xmlns:a="http://schemas.openxmlformats.org/drawingml/2006/main">
            <a:r>
              <a:t>        "refresh": "오판·이의제기 결과의 규칙 및 절차 개선"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"AX07",</a:t>
            </a:r>
          </a:p>
          <a:p xmlns:a="http://schemas.openxmlformats.org/drawingml/2006/main">
            <a:r>
              <a:t>    "success": [</a:t>
            </a:r>
          </a:p>
          <a:p xmlns:a="http://schemas.openxmlformats.org/drawingml/2006/main">
            <a:r>
              <a:t>      "자동 결정 전 법적·증빙 근거 확인",</a:t>
            </a:r>
          </a:p>
          <a:p xmlns:a="http://schemas.openxmlformats.org/drawingml/2006/main">
            <a:r>
              <a:t>      "이의제기와 재심 경로 확보"</a:t>
            </a:r>
          </a:p>
          <a:p xmlns:a="http://schemas.openxmlformats.org/drawingml/2006/main">
            <a:r>
              <a:t>    ],</a:t>
            </a:r>
          </a:p>
          <a:p xmlns:a="http://schemas.openxmlformats.org/drawingml/2006/main">
            <a:r>
              <a:t>    "risks": [</a:t>
            </a:r>
          </a:p>
          <a:p xmlns:a="http://schemas.openxmlformats.org/drawingml/2006/main">
            <a:r>
              <a:t>      "자료 기간·산정 전제의 부적합",</a:t>
            </a:r>
          </a:p>
          <a:p xmlns:a="http://schemas.openxmlformats.org/drawingml/2006/main">
            <a:r>
              <a:t>      "자동 판단에 대한 책임·재심 통제 부족"</a:t>
            </a:r>
          </a:p>
          <a:p xmlns:a="http://schemas.openxmlformats.org/drawingml/2006/main">
            <a:r>
              <a:t>    ],</a:t>
            </a:r>
          </a:p>
          <a:p xmlns:a="http://schemas.openxmlformats.org/drawingml/2006/main">
            <a:r>
              <a:t>    "architecture": [</a:t>
            </a:r>
          </a:p>
          <a:p xmlns:a="http://schemas.openxmlformats.org/drawingml/2006/main">
            <a:r>
              <a:t>      "기관 자료 교환",</a:t>
            </a:r>
          </a:p>
          <a:p xmlns:a="http://schemas.openxmlformats.org/drawingml/2006/main">
            <a:r>
              <a:t>      "자동 산정·통지",</a:t>
            </a:r>
          </a:p>
          <a:p xmlns:a="http://schemas.openxmlformats.org/drawingml/2006/main">
            <a:r>
              <a:t>      "소득·산정 근거",</a:t>
            </a:r>
          </a:p>
          <a:p xmlns:a="http://schemas.openxmlformats.org/drawingml/2006/main">
            <a:r>
              <a:t>      "대상자·재심 담당"</a:t>
            </a:r>
          </a:p>
          <a:p xmlns:a="http://schemas.openxmlformats.org/drawingml/2006/main">
            <a:r>
              <a:t>    ],</a:t>
            </a:r>
          </a:p>
          <a:p xmlns:a="http://schemas.openxmlformats.org/drawingml/2006/main">
            <a:r>
              <a:t>    "transfers": [</a:t>
            </a:r>
          </a:p>
          <a:p xmlns:a="http://schemas.openxmlformats.org/drawingml/2006/main">
            <a:r>
              <a:t>      "기관별 소득자료",</a:t>
            </a:r>
          </a:p>
          <a:p xmlns:a="http://schemas.openxmlformats.org/drawingml/2006/main">
            <a:r>
              <a:t>      "산정 대상·기간",</a:t>
            </a:r>
          </a:p>
          <a:p xmlns:a="http://schemas.openxmlformats.org/drawingml/2006/main">
            <a:r>
              <a:t>      "채무 통지",</a:t>
            </a:r>
          </a:p>
          <a:p xmlns:a="http://schemas.openxmlformats.org/drawingml/2006/main">
            <a:r>
              <a:t>      "이의·재심 기록"</a:t>
            </a:r>
          </a:p>
          <a:p xmlns:a="http://schemas.openxmlformats.org/drawingml/2006/main">
            <a:r>
              <a:t>    ],</a:t>
            </a:r>
          </a:p>
          <a:p xmlns:a="http://schemas.openxmlformats.org/drawingml/2006/main">
            <a:r>
              <a:t>    "control": "원천 증빙 불일치 시 자동 확정 보류",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호주 왕립위원회 · Robodebt 최종 보고서 https://robodebt.royalcommission.gov.au/publications/report</a:t>
            </a:r>
          </a:p>
          <a:p xmlns:a="http://schemas.openxmlformats.org/drawingml/2006/main">
            <a:r>
              <a:t>홈페이지 https://heen1987-ops.github.io/TS-business-Plan-001/index.html?view=casebook&amp;case=AX07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"AX08",</a:t>
            </a:r>
          </a:p>
          <a:p xmlns:a="http://schemas.openxmlformats.org/drawingml/2006/main">
            <a:r>
              <a:t>    "title": "Cruise 사고보고",</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"자율주행 안전·사고보고",</a:t>
            </a:r>
          </a:p>
          <a:p xmlns:a="http://schemas.openxmlformats.org/drawingml/2006/main">
            <a:r>
              <a:t>    "period": "2023 사고 / 2024 시정",</a:t>
            </a:r>
          </a:p>
          <a:p xmlns:a="http://schemas.openxmlformats.org/drawingml/2006/main">
            <a:r>
              <a:t>    "sources": [</a:t>
            </a:r>
          </a:p>
          <a:p xmlns:a="http://schemas.openxmlformats.org/drawingml/2006/main">
            <a:r>
              <a:t>      "S09"</a:t>
            </a:r>
          </a:p>
          <a:p xmlns:a="http://schemas.openxmlformats.org/drawingml/2006/main">
            <a:r>
              <a:t>    ],</a:t>
            </a:r>
          </a:p>
          <a:p xmlns:a="http://schemas.openxmlformats.org/drawingml/2006/main">
            <a:r>
              <a:t>    "keywords": [</a:t>
            </a:r>
          </a:p>
          <a:p xmlns:a="http://schemas.openxmlformats.org/drawingml/2006/main">
            <a:r>
              <a:t>      "미래 모빌리티",</a:t>
            </a:r>
          </a:p>
          <a:p xmlns:a="http://schemas.openxmlformats.org/drawingml/2006/main">
            <a:r>
              <a:t>      "사고",</a:t>
            </a:r>
          </a:p>
          <a:p xmlns:a="http://schemas.openxmlformats.org/drawingml/2006/main">
            <a:r>
              <a:t>      "실증",</a:t>
            </a:r>
          </a:p>
          <a:p xmlns:a="http://schemas.openxmlformats.org/drawingml/2006/main">
            <a:r>
              <a:t>      "안전보고"</a:t>
            </a:r>
          </a:p>
          <a:p xmlns:a="http://schemas.openxmlformats.org/drawingml/2006/main">
            <a:r>
              <a:t>    ],</a:t>
            </a:r>
          </a:p>
          <a:p xmlns:a="http://schemas.openxmlformats.org/drawingml/2006/main">
            <a:r>
              <a:t>    "fact": "충돌 후 상황을 빠뜨린 사고보고에 대한 NHTSA 시정 명령 및 강화된 보고·감독",</a:t>
            </a:r>
          </a:p>
          <a:p xmlns:a="http://schemas.openxmlformats.org/drawingml/2006/main">
            <a:r>
              <a:t>    "limit": "보고 완전성·안전 거버넌스 문제 · 사고 원인을 LLM 오류로 단정 불가",</a:t>
            </a:r>
          </a:p>
          <a:p xmlns:a="http://schemas.openxmlformats.org/drawingml/2006/main">
            <a:r>
              <a:t>    "flow": [</a:t>
            </a:r>
          </a:p>
          <a:p xmlns:a="http://schemas.openxmlformats.org/drawingml/2006/main">
            <a:r>
              <a:t>      "사고 원시 증거",</a:t>
            </a:r>
          </a:p>
          <a:p xmlns:a="http://schemas.openxmlformats.org/drawingml/2006/main">
            <a:r>
              <a:t>      "사건 타임라인",</a:t>
            </a:r>
          </a:p>
          <a:p xmlns:a="http://schemas.openxmlformats.org/drawingml/2006/main">
            <a:r>
              <a:t>      "보고서 작성",</a:t>
            </a:r>
          </a:p>
          <a:p xmlns:a="http://schemas.openxmlformats.org/drawingml/2006/main">
            <a:r>
              <a:t>      "감독기관 보고"</a:t>
            </a:r>
          </a:p>
          <a:p xmlns:a="http://schemas.openxmlformats.org/drawingml/2006/main">
            <a:r>
              <a:t>    ],</a:t>
            </a:r>
          </a:p>
          <a:p xmlns:a="http://schemas.openxmlformats.org/drawingml/2006/main">
            <a:r>
              <a:t>    "flowBasis": "공개 시정 내용 기반 보고 흐름 재구성",</a:t>
            </a:r>
          </a:p>
          <a:p xmlns:a="http://schemas.openxmlformats.org/drawingml/2006/main">
            <a:r>
              <a:t>    "lesson":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"증거 무결성 / 필수 사건 체크 / 누락 경고 / 검토·승인 이력",</a:t>
            </a:r>
          </a:p>
          <a:p xmlns:a="http://schemas.openxmlformats.org/drawingml/2006/main">
            <a:r>
              <a:t>    "test": "누락 사건·충돌 시각 주입 후 탐지 및 승인 없이 전송 차단",</a:t>
            </a:r>
          </a:p>
          <a:p xmlns:a="http://schemas.openxmlformats.org/drawingml/2006/main">
            <a:r>
              <a:t>    "metric": "필수 사건 재현율 / 검토 누락률"</a:t>
            </a:r>
          </a:p>
          <a:p xmlns:a="http://schemas.openxmlformats.org/drawingml/2006/main">
            <a:r>
              <a:t>  },</a:t>
            </a:r>
          </a:p>
          <a:p xmlns:a="http://schemas.openxmlformats.org/drawingml/2006/main">
            <a:r>
              <a:t>  "design": {</a:t>
            </a:r>
          </a:p>
          <a:p xmlns:a="http://schemas.openxmlformats.org/drawingml/2006/main">
            <a:r>
              <a:t>    "id": "AX08",</a:t>
            </a:r>
          </a:p>
          <a:p xmlns:a="http://schemas.openxmlformats.org/drawingml/2006/main">
            <a:r>
              <a:t>    "canonicalId": "AX08",</a:t>
            </a:r>
          </a:p>
          <a:p xmlns:a="http://schemas.openxmlformats.org/drawingml/2006/main">
            <a:r>
              <a:t>    "purpose": "사고보고의 원시 증거 누락 방지",</a:t>
            </a:r>
          </a:p>
          <a:p xmlns:a="http://schemas.openxmlformats.org/drawingml/2006/main">
            <a:r>
              <a:t>    "users": "실증 운영자·사고 조사자·감독기관",</a:t>
            </a:r>
          </a:p>
          <a:p xmlns:a="http://schemas.openxmlformats.org/drawingml/2006/main">
            <a:r>
              <a:t>    "scope": [</a:t>
            </a:r>
          </a:p>
          <a:p xmlns:a="http://schemas.openxmlformats.org/drawingml/2006/main">
            <a:r>
              <a:t>      "사건 식별",</a:t>
            </a:r>
          </a:p>
          <a:p xmlns:a="http://schemas.openxmlformats.org/drawingml/2006/main">
            <a:r>
              <a:t>      "시간순 증거",</a:t>
            </a:r>
          </a:p>
          <a:p xmlns:a="http://schemas.openxmlformats.org/drawingml/2006/main">
            <a:r>
              <a:t>      "보고 완전성"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"사고 영상·로그",</a:t>
            </a:r>
          </a:p>
          <a:p xmlns:a="http://schemas.openxmlformats.org/drawingml/2006/main">
            <a:r>
              <a:t>        "detail": "사고 ID와 보고 대상 기간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"사건 식별 / 시간순 증거 / 보고 완전성",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"타임라인·보고서 구성",</a:t>
            </a:r>
          </a:p>
          <a:p xmlns:a="http://schemas.openxmlformats.org/drawingml/2006/main">
            <a:r>
              <a:t>        "detail": "시각별 사건 재구성과 필수 항목 대사",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"감독기관·보고 담당",</a:t>
            </a:r>
          </a:p>
          <a:p xmlns:a="http://schemas.openxmlformats.org/drawingml/2006/main">
            <a:r>
              <a:t>        "detail": "작성자 검토와 승인자 확인 후 공식 제출",</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"원시 증거·보고 판본",</a:t>
            </a:r>
          </a:p>
          <a:p xmlns:a="http://schemas.openxmlformats.org/drawingml/2006/main">
            <a:r>
              <a:t>        "detail": "센서·영상·보고 원본의 시점·버전 보존",</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"추가 발견 증거의 보완 보고·수정 이력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"사고 원시 증거",</a:t>
            </a:r>
          </a:p>
          <a:p xmlns:a="http://schemas.openxmlformats.org/drawingml/2006/main">
            <a:r>
              <a:t>        "input": "사고 ID와 보고 대상 기간 지정",</a:t>
            </a:r>
          </a:p>
          <a:p xmlns:a="http://schemas.openxmlformats.org/drawingml/2006/main">
            <a:r>
              <a:t>        "process": "센서·영상·보고 원본의 시점·버전 보존",</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"title": "사건 타임라인",</a:t>
            </a:r>
          </a:p>
          <a:p xmlns:a="http://schemas.openxmlformats.org/drawingml/2006/main">
            <a:r>
              <a:t>        "input": "시각별 원시 증거",</a:t>
            </a:r>
          </a:p>
          <a:p xmlns:a="http://schemas.openxmlformats.org/drawingml/2006/main">
            <a:r>
              <a:t>        "process": "시각별 사건 재구성과 필수 항목 대사",</a:t>
            </a:r>
          </a:p>
          <a:p xmlns:a="http://schemas.openxmlformats.org/drawingml/2006/main">
            <a:r>
              <a:t>        "output": "충돌 전후 사건"</a:t>
            </a:r>
          </a:p>
          <a:p xmlns:a="http://schemas.openxmlformats.org/drawingml/2006/main">
            <a:r>
              <a:t>      },</a:t>
            </a:r>
          </a:p>
          <a:p xmlns:a="http://schemas.openxmlformats.org/drawingml/2006/main">
            <a:r>
              <a:t>      {</a:t>
            </a:r>
          </a:p>
          <a:p xmlns:a="http://schemas.openxmlformats.org/drawingml/2006/main">
            <a:r>
              <a:t>        "title": "보고서 작성",</a:t>
            </a:r>
          </a:p>
          <a:p xmlns:a="http://schemas.openxmlformats.org/drawingml/2006/main">
            <a:r>
              <a:t>        "input": "충돌 전후 사건",</a:t>
            </a:r>
          </a:p>
          <a:p xmlns:a="http://schemas.openxmlformats.org/drawingml/2006/main">
            <a:r>
              <a:t>        "process": "충돌 전·중·후 증거의 완전성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"title": "감독기관 보고",</a:t>
            </a:r>
          </a:p>
          <a:p xmlns:a="http://schemas.openxmlformats.org/drawingml/2006/main">
            <a:r>
              <a:t>        "input": "필수 보고 항목",</a:t>
            </a:r>
          </a:p>
          <a:p xmlns:a="http://schemas.openxmlformats.org/drawingml/2006/main">
            <a:r>
              <a:t>        "process":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"사고 발생 전후 전체 이벤트를 보고 항목에 연결",</a:t>
            </a:r>
          </a:p>
          <a:p xmlns:a="http://schemas.openxmlformats.org/drawingml/2006/main">
            <a:r>
              <a:t>      "exception": "충돌 이후 이벤트 삭제·영상과 로그 시각 충돌",</a:t>
            </a:r>
          </a:p>
          <a:p xmlns:a="http://schemas.openxmlformats.org/drawingml/2006/main">
            <a:r>
              <a:t>      "evidence": "원시 증거별 보고 포함 여부와 누락 경고·승인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"실증 운영자·사고 조사자·감독기관",</a:t>
            </a:r>
          </a:p>
          <a:p xmlns:a="http://schemas.openxmlformats.org/drawingml/2006/main">
            <a:r>
              <a:t>          "processing": "사고 ID와 보고 대상 기간 지정",</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"원시 증거·보고 판본",</a:t>
            </a:r>
          </a:p>
          <a:p xmlns:a="http://schemas.openxmlformats.org/drawingml/2006/main">
            <a:r>
              <a:t>          "processing": "센서·영상·보고 원본의 시점·버전 보존",</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"시각별 원시 증거",</a:t>
            </a:r>
          </a:p>
          <a:p xmlns:a="http://schemas.openxmlformats.org/drawingml/2006/main">
            <a:r>
              <a:t>          "processing": "시각별 사건 재구성과 필수 항목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"필수 보고 항목",</a:t>
            </a:r>
          </a:p>
          <a:p xmlns:a="http://schemas.openxmlformats.org/drawingml/2006/main">
            <a:r>
              <a:t>          "processing":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"추가 발견 증거의 보완 보고·수정 이력 추적",</a:t>
            </a:r>
          </a:p>
          <a:p xmlns:a="http://schemas.openxmlformats.org/drawingml/2006/main">
            <a:r>
              <a:t>          "output": "원시 증거별 보고 포함 여부와 누락 경고·승인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"추가 발견 증거의 보완 보고·수정 이력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"S09",</a:t>
            </a:r>
          </a:p>
          <a:p xmlns:a="http://schemas.openxmlformats.org/drawingml/2006/main">
            <a:r>
              <a:t>        "title": "NHTSA · Cruise 사고보고 시정 명령",</a:t>
            </a:r>
          </a:p>
          <a:p xmlns:a="http://schemas.openxmlformats.org/drawingml/2006/main">
            <a:r>
              <a:t>        "url": "https://www.nhtsa.gov/press-releases/consent-order-cruise-crash-reporting",</a:t>
            </a:r>
          </a:p>
          <a:p xmlns:a="http://schemas.openxmlformats.org/drawingml/2006/main">
            <a:r>
              <a:t>        "published": "2024-09-30",</a:t>
            </a:r>
          </a:p>
          <a:p xmlns:a="http://schemas.openxmlformats.org/drawingml/2006/main">
            <a:r>
              <a:t>        "level": "감독기관 시정 명령",</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"sourceDetail": null,</a:t>
            </a:r>
          </a:p>
          <a:p xmlns:a="http://schemas.openxmlformats.org/drawingml/2006/main">
            <a:r>
              <a:t>    "narrative": [</a:t>
            </a:r>
          </a:p>
          <a:p xmlns:a="http://schemas.openxmlformats.org/drawingml/2006/main">
            <a:r>
              <a:t>      "자율주행 사고의 원시 증거와 감독기관 보고 사이에서 누락이 발생한 시정 사례. 모델의 주행 성능과 별개로 사고 전후 정보를 완전하게 보고하는 운영 책임이 주요 쟁점.",</a:t>
            </a:r>
          </a:p>
          <a:p xmlns:a="http://schemas.openxmlformats.org/drawingml/2006/main">
            <a:r>
              <a:t>      "영상·센서·이벤트 로그를 사고 ID와 시간축으로 묶고 필수 보고 항목과 대조하는 CCK 설계. 요약 보고서를 만들더라도 원본 증거·작성 판본·승인자·추가 보완 이력을 함께 유지하는 구조.",</a:t>
            </a:r>
          </a:p>
          <a:p xmlns:a="http://schemas.openxmlformats.org/drawingml/2006/main">
            <a:r>
              <a:t>      "TS 사고조사 지원에서 자동 요약의 편의보다 증거 누락을 우선 평가할 근거. 충돌 전·중·후 자료와 수정본을 섞은 시험으로 사건 재구성, 빠진 항목 경고, 제출본 추적을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"사고보고 접수",</a:t>
            </a:r>
          </a:p>
          <a:p xmlns:a="http://schemas.openxmlformats.org/drawingml/2006/main">
            <a:r>
              <a:t>          "layer": "이용 접점",</a:t>
            </a:r>
          </a:p>
          <a:p xmlns:a="http://schemas.openxmlformats.org/drawingml/2006/main">
            <a:r>
              <a:t>          "detail": "실증 운영자·사고 조사자·감독기관",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"사고 ID·기간",</a:t>
            </a:r>
          </a:p>
          <a:p xmlns:a="http://schemas.openxmlformats.org/drawingml/2006/main">
            <a:r>
              <a:t>          "layer": "업무 문맥",</a:t>
            </a:r>
          </a:p>
          <a:p xmlns:a="http://schemas.openxmlformats.org/drawingml/2006/main">
            <a:r>
              <a:t>          "detail": "사고 ID와 보고 대상 기간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"영상·로그 조회",</a:t>
            </a:r>
          </a:p>
          <a:p xmlns:a="http://schemas.openxmlformats.org/drawingml/2006/main">
            <a:r>
              <a:t>          "layer": "자료 조회",</a:t>
            </a:r>
          </a:p>
          <a:p xmlns:a="http://schemas.openxmlformats.org/drawingml/2006/main">
            <a:r>
              <a:t>          "detail": "시각별 원시 증거",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"시각별 사건 재구성",</a:t>
            </a:r>
          </a:p>
          <a:p xmlns:a="http://schemas.openxmlformats.org/drawingml/2006/main">
            <a:r>
              <a:t>          "layer": "핵심 처리",</a:t>
            </a:r>
          </a:p>
          <a:p xmlns:a="http://schemas.openxmlformats.org/drawingml/2006/main">
            <a:r>
              <a:t>          "detail": "시각별 사건 재구성과 필수 항목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"필수 항목 대사",</a:t>
            </a:r>
          </a:p>
          <a:p xmlns:a="http://schemas.openxmlformats.org/drawingml/2006/main">
            <a:r>
              <a:t>          "layer": "결과 검증",</a:t>
            </a:r>
          </a:p>
          <a:p xmlns:a="http://schemas.openxmlformats.org/drawingml/2006/main">
            <a:r>
              <a:t>          "detail": "충돌 전·중·후 증거의 완전성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"작성·승인자 확인",</a:t>
            </a:r>
          </a:p>
          <a:p xmlns:a="http://schemas.openxmlformats.org/drawingml/2006/main">
            <a:r>
              <a:t>          "layer": "사람 확인",</a:t>
            </a:r>
          </a:p>
          <a:p xmlns:a="http://schemas.openxmlformats.org/drawingml/2006/main">
            <a:r>
              <a:t>          "detail": "사고 발생 전후 전체 이벤트를 보고 항목에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"제출·보완 보고",</a:t>
            </a:r>
          </a:p>
          <a:p xmlns:a="http://schemas.openxmlformats.org/drawingml/2006/main">
            <a:r>
              <a:t>          "layer": "업무 연결",</a:t>
            </a:r>
          </a:p>
          <a:p xmlns:a="http://schemas.openxmlformats.org/drawingml/2006/main">
            <a:r>
              <a:t>          "detail": "작성자 검토와 승인자 확인 후 공식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"누락·수정 추적",</a:t>
            </a:r>
          </a:p>
          <a:p xmlns:a="http://schemas.openxmlformats.org/drawingml/2006/main">
            <a:r>
              <a:t>          "layer": "운영 관측",</a:t>
            </a:r>
          </a:p>
          <a:p xmlns:a="http://schemas.openxmlformats.org/drawingml/2006/main">
            <a:r>
              <a:t>          "detail": "추가 발견 증거의 보완 보고·수정 이력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"원시 영상·센서",</a:t>
            </a:r>
          </a:p>
          <a:p xmlns:a="http://schemas.openxmlformats.org/drawingml/2006/main">
            <a:r>
              <a:t>          "layer": "데이터 원천",</a:t>
            </a:r>
          </a:p>
          <a:p xmlns:a="http://schemas.openxmlformats.org/drawingml/2006/main">
            <a:r>
              <a:t>          "detail": "원시 증거·보고 판본",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"시간축·판본 정합화",</a:t>
            </a:r>
          </a:p>
          <a:p xmlns:a="http://schemas.openxmlformats.org/drawingml/2006/main">
            <a:r>
              <a:t>          "layer": "준비·갱신",</a:t>
            </a:r>
          </a:p>
          <a:p xmlns:a="http://schemas.openxmlformats.org/drawingml/2006/main">
            <a:r>
              <a:t>          "detail": "센서·영상·보고 원본의 시점·버전 보존",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"증거·보고 판본",</a:t>
            </a:r>
          </a:p>
          <a:p xmlns:a="http://schemas.openxmlformats.org/drawingml/2006/main">
            <a:r>
              <a:t>          "layer": "상태·지식 저장",</a:t>
            </a:r>
          </a:p>
          <a:p xmlns:a="http://schemas.openxmlformats.org/drawingml/2006/main">
            <a:r>
              <a:t>          "detail": "원시 증거별 보고 포함 여부와 누락 경고·승인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"보존·보고 규칙",</a:t>
            </a:r>
          </a:p>
          <a:p xmlns:a="http://schemas.openxmlformats.org/drawingml/2006/main">
            <a:r>
              <a:t>          "layer": "권한·정책",</a:t>
            </a:r>
          </a:p>
          <a:p xmlns:a="http://schemas.openxmlformats.org/drawingml/2006/main">
            <a:r>
              <a:t>          "detail": "충돌 이후 이벤트 삭제·영상과 로그 시각 충돌",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"사고 원시 증거 → 사건 타임라인 → 보고서 작성 → 감독기관 보고"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"원시 증거·보고 판본",</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"충돌 전후 사건",</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"제출·보완 기록",</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"사고보고의 원시 증거 누락 방지 / 사건 식별·시간순 증거·보고 완전성",</a:t>
            </a:r>
          </a:p>
          <a:p xmlns:a="http://schemas.openxmlformats.org/drawingml/2006/main">
            <a:r>
              <a:t>        "extension": "TS 실증·사고·점검 자료의 사건 ID와 원문 시점별 근거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"충돌 이후 이벤트 삭제·영상과 로그 시각 충돌",</a:t>
            </a:r>
          </a:p>
          <a:p xmlns:a="http://schemas.openxmlformats.org/drawingml/2006/main">
            <a:r>
              <a:t>        "hold": "충돌 전·중·후 증거의 완전성 대사",</a:t>
            </a:r>
          </a:p>
          <a:p xmlns:a="http://schemas.openxmlformats.org/drawingml/2006/main">
            <a:r>
              <a:t>        "recovery": "추가 발견 증거의 보완 보고·수정 이력 추적",</a:t>
            </a:r>
          </a:p>
          <a:p xmlns:a="http://schemas.openxmlformats.org/drawingml/2006/main">
            <a:r>
              <a:t>        "evidence": "원시 증거별 보고 포함 여부와 누락 경고·승인 이력"</a:t>
            </a:r>
          </a:p>
          <a:p xmlns:a="http://schemas.openxmlformats.org/drawingml/2006/main">
            <a:r>
              <a:t>      },</a:t>
            </a:r>
          </a:p>
          <a:p xmlns:a="http://schemas.openxmlformats.org/drawingml/2006/main">
            <a:r>
              <a:t>      "data": {</a:t>
            </a:r>
          </a:p>
          <a:p xmlns:a="http://schemas.openxmlformats.org/drawingml/2006/main">
            <a:r>
              <a:t>        "source": "원시 증거·보고 판본",</a:t>
            </a:r>
          </a:p>
          <a:p xmlns:a="http://schemas.openxmlformats.org/drawingml/2006/main">
            <a:r>
              <a:t>        "prepare": "센서·영상·보고 원본의 시점·버전 보존",</a:t>
            </a:r>
          </a:p>
          <a:p xmlns:a="http://schemas.openxmlformats.org/drawingml/2006/main">
            <a:r>
              <a:t>        "output": "시각별 원시 증거",</a:t>
            </a:r>
          </a:p>
          <a:p xmlns:a="http://schemas.openxmlformats.org/drawingml/2006/main">
            <a:r>
              <a:t>        "refresh": "추가 발견 증거의 보완 보고·수정 이력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"AX08",</a:t>
            </a:r>
          </a:p>
          <a:p xmlns:a="http://schemas.openxmlformats.org/drawingml/2006/main">
            <a:r>
              <a:t>    "success": [</a:t>
            </a:r>
          </a:p>
          <a:p xmlns:a="http://schemas.openxmlformats.org/drawingml/2006/main">
            <a:r>
              <a:t>      "원시 영상과 보고 항목의 대사",</a:t>
            </a:r>
          </a:p>
          <a:p xmlns:a="http://schemas.openxmlformats.org/drawingml/2006/main">
            <a:r>
              <a:t>      "보고 책임자와 변경 이력 관리"</a:t>
            </a:r>
          </a:p>
          <a:p xmlns:a="http://schemas.openxmlformats.org/drawingml/2006/main">
            <a:r>
              <a:t>    ],</a:t>
            </a:r>
          </a:p>
          <a:p xmlns:a="http://schemas.openxmlformats.org/drawingml/2006/main">
            <a:r>
              <a:t>    "risks": [</a:t>
            </a:r>
          </a:p>
          <a:p xmlns:a="http://schemas.openxmlformats.org/drawingml/2006/main">
            <a:r>
              <a:t>      "사고 후 상황의 보고 누락",</a:t>
            </a:r>
          </a:p>
          <a:p xmlns:a="http://schemas.openxmlformats.org/drawingml/2006/main">
            <a:r>
              <a:t>      "요약본만으로 사고 전체를 판단하는 위험"</a:t>
            </a:r>
          </a:p>
          <a:p xmlns:a="http://schemas.openxmlformats.org/drawingml/2006/main">
            <a:r>
              <a:t>    ],</a:t>
            </a:r>
          </a:p>
          <a:p xmlns:a="http://schemas.openxmlformats.org/drawingml/2006/main">
            <a:r>
              <a:t>    "architecture": [</a:t>
            </a:r>
          </a:p>
          <a:p xmlns:a="http://schemas.openxmlformats.org/drawingml/2006/main">
            <a:r>
              <a:t>      "사고 영상·로그",</a:t>
            </a:r>
          </a:p>
          <a:p xmlns:a="http://schemas.openxmlformats.org/drawingml/2006/main">
            <a:r>
              <a:t>      "타임라인·보고서 구성",</a:t>
            </a:r>
          </a:p>
          <a:p xmlns:a="http://schemas.openxmlformats.org/drawingml/2006/main">
            <a:r>
              <a:t>      "원시 증거·보고 판본",</a:t>
            </a:r>
          </a:p>
          <a:p xmlns:a="http://schemas.openxmlformats.org/drawingml/2006/main">
            <a:r>
              <a:t>      "감독기관·보고 담당"</a:t>
            </a:r>
          </a:p>
          <a:p xmlns:a="http://schemas.openxmlformats.org/drawingml/2006/main">
            <a:r>
              <a:t>    ],</a:t>
            </a:r>
          </a:p>
          <a:p xmlns:a="http://schemas.openxmlformats.org/drawingml/2006/main">
            <a:r>
              <a:t>    "transfers": [</a:t>
            </a:r>
          </a:p>
          <a:p xmlns:a="http://schemas.openxmlformats.org/drawingml/2006/main">
            <a:r>
              <a:t>      "시각별 원시 증거",</a:t>
            </a:r>
          </a:p>
          <a:p xmlns:a="http://schemas.openxmlformats.org/drawingml/2006/main">
            <a:r>
              <a:t>      "충돌 전후 사건",</a:t>
            </a:r>
          </a:p>
          <a:p xmlns:a="http://schemas.openxmlformats.org/drawingml/2006/main">
            <a:r>
              <a:t>      "필수 보고 항목",</a:t>
            </a:r>
          </a:p>
          <a:p xmlns:a="http://schemas.openxmlformats.org/drawingml/2006/main">
            <a:r>
              <a:t>      "제출·보완 기록"</a:t>
            </a:r>
          </a:p>
          <a:p xmlns:a="http://schemas.openxmlformats.org/drawingml/2006/main">
            <a:r>
              <a:t>    ],</a:t>
            </a:r>
          </a:p>
          <a:p xmlns:a="http://schemas.openxmlformats.org/drawingml/2006/main">
            <a:r>
              <a:t>    "control": "충돌 전·중·후 증거의 완전성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NHTSA · Cruise 사고보고 시정 명령 https://www.nhtsa.gov/press-releases/consent-order-cruise-crash-reporting</a:t>
            </a:r>
          </a:p>
          <a:p xmlns:a="http://schemas.openxmlformats.org/drawingml/2006/main">
            <a:r>
              <a:t>홈페이지 https://heen1987-ops.github.io/TS-business-Plan-001/index.html?view=casebook&amp;case=AX08</a:t>
            </a:r>
          </a:p>
          <a:p xmlns:a="http://schemas.openxmlformats.org/drawingml/2006/main">
            <a:r>
              <a:t>한계: 보고 완전성·안전 거버넌스 문제 · 사고 원인을 LLM 오류로 단정 불가</a:t>
            </a:r>
          </a:p>
          <a:p xmlns:a="http://schemas.openxmlformats.org/drawingml/2006/main">
            <a:r>
              <a:t>재발 방지 조건: 원시 영상과 보고 항목의 대사 / 보고 책임자와 변경 이력 관리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"AX08",</a:t>
            </a:r>
          </a:p>
          <a:p xmlns:a="http://schemas.openxmlformats.org/drawingml/2006/main">
            <a:r>
              <a:t>    "title": "Cruise 사고보고",</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"자율주행 안전·사고보고",</a:t>
            </a:r>
          </a:p>
          <a:p xmlns:a="http://schemas.openxmlformats.org/drawingml/2006/main">
            <a:r>
              <a:t>    "period": "2023 사고 / 2024 시정",</a:t>
            </a:r>
          </a:p>
          <a:p xmlns:a="http://schemas.openxmlformats.org/drawingml/2006/main">
            <a:r>
              <a:t>    "sources": [</a:t>
            </a:r>
          </a:p>
          <a:p xmlns:a="http://schemas.openxmlformats.org/drawingml/2006/main">
            <a:r>
              <a:t>      "S09"</a:t>
            </a:r>
          </a:p>
          <a:p xmlns:a="http://schemas.openxmlformats.org/drawingml/2006/main">
            <a:r>
              <a:t>    ],</a:t>
            </a:r>
          </a:p>
          <a:p xmlns:a="http://schemas.openxmlformats.org/drawingml/2006/main">
            <a:r>
              <a:t>    "keywords": [</a:t>
            </a:r>
          </a:p>
          <a:p xmlns:a="http://schemas.openxmlformats.org/drawingml/2006/main">
            <a:r>
              <a:t>      "미래 모빌리티",</a:t>
            </a:r>
          </a:p>
          <a:p xmlns:a="http://schemas.openxmlformats.org/drawingml/2006/main">
            <a:r>
              <a:t>      "사고",</a:t>
            </a:r>
          </a:p>
          <a:p xmlns:a="http://schemas.openxmlformats.org/drawingml/2006/main">
            <a:r>
              <a:t>      "실증",</a:t>
            </a:r>
          </a:p>
          <a:p xmlns:a="http://schemas.openxmlformats.org/drawingml/2006/main">
            <a:r>
              <a:t>      "안전보고"</a:t>
            </a:r>
          </a:p>
          <a:p xmlns:a="http://schemas.openxmlformats.org/drawingml/2006/main">
            <a:r>
              <a:t>    ],</a:t>
            </a:r>
          </a:p>
          <a:p xmlns:a="http://schemas.openxmlformats.org/drawingml/2006/main">
            <a:r>
              <a:t>    "fact": "충돌 후 상황을 빠뜨린 사고보고에 대한 NHTSA 시정 명령 및 강화된 보고·감독",</a:t>
            </a:r>
          </a:p>
          <a:p xmlns:a="http://schemas.openxmlformats.org/drawingml/2006/main">
            <a:r>
              <a:t>    "limit": "보고 완전성·안전 거버넌스 문제 · 사고 원인을 LLM 오류로 단정 불가",</a:t>
            </a:r>
          </a:p>
          <a:p xmlns:a="http://schemas.openxmlformats.org/drawingml/2006/main">
            <a:r>
              <a:t>    "flow": [</a:t>
            </a:r>
          </a:p>
          <a:p xmlns:a="http://schemas.openxmlformats.org/drawingml/2006/main">
            <a:r>
              <a:t>      "사고 원시 증거",</a:t>
            </a:r>
          </a:p>
          <a:p xmlns:a="http://schemas.openxmlformats.org/drawingml/2006/main">
            <a:r>
              <a:t>      "사건 타임라인",</a:t>
            </a:r>
          </a:p>
          <a:p xmlns:a="http://schemas.openxmlformats.org/drawingml/2006/main">
            <a:r>
              <a:t>      "보고서 작성",</a:t>
            </a:r>
          </a:p>
          <a:p xmlns:a="http://schemas.openxmlformats.org/drawingml/2006/main">
            <a:r>
              <a:t>      "감독기관 보고"</a:t>
            </a:r>
          </a:p>
          <a:p xmlns:a="http://schemas.openxmlformats.org/drawingml/2006/main">
            <a:r>
              <a:t>    ],</a:t>
            </a:r>
          </a:p>
          <a:p xmlns:a="http://schemas.openxmlformats.org/drawingml/2006/main">
            <a:r>
              <a:t>    "flowBasis": "공개 시정 내용 기반 보고 흐름 재구성",</a:t>
            </a:r>
          </a:p>
          <a:p xmlns:a="http://schemas.openxmlformats.org/drawingml/2006/main">
            <a:r>
              <a:t>    "lesson":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"증거 무결성 / 필수 사건 체크 / 누락 경고 / 검토·승인 이력",</a:t>
            </a:r>
          </a:p>
          <a:p xmlns:a="http://schemas.openxmlformats.org/drawingml/2006/main">
            <a:r>
              <a:t>    "test": "누락 사건·충돌 시각 주입 후 탐지 및 승인 없이 전송 차단",</a:t>
            </a:r>
          </a:p>
          <a:p xmlns:a="http://schemas.openxmlformats.org/drawingml/2006/main">
            <a:r>
              <a:t>    "metric": "필수 사건 재현율 / 검토 누락률"</a:t>
            </a:r>
          </a:p>
          <a:p xmlns:a="http://schemas.openxmlformats.org/drawingml/2006/main">
            <a:r>
              <a:t>  },</a:t>
            </a:r>
          </a:p>
          <a:p xmlns:a="http://schemas.openxmlformats.org/drawingml/2006/main">
            <a:r>
              <a:t>  "design": {</a:t>
            </a:r>
          </a:p>
          <a:p xmlns:a="http://schemas.openxmlformats.org/drawingml/2006/main">
            <a:r>
              <a:t>    "id": "AX08",</a:t>
            </a:r>
          </a:p>
          <a:p xmlns:a="http://schemas.openxmlformats.org/drawingml/2006/main">
            <a:r>
              <a:t>    "canonicalId": "AX08",</a:t>
            </a:r>
          </a:p>
          <a:p xmlns:a="http://schemas.openxmlformats.org/drawingml/2006/main">
            <a:r>
              <a:t>    "purpose": "사고보고의 원시 증거 누락 방지",</a:t>
            </a:r>
          </a:p>
          <a:p xmlns:a="http://schemas.openxmlformats.org/drawingml/2006/main">
            <a:r>
              <a:t>    "users": "실증 운영자·사고 조사자·감독기관",</a:t>
            </a:r>
          </a:p>
          <a:p xmlns:a="http://schemas.openxmlformats.org/drawingml/2006/main">
            <a:r>
              <a:t>    "scope": [</a:t>
            </a:r>
          </a:p>
          <a:p xmlns:a="http://schemas.openxmlformats.org/drawingml/2006/main">
            <a:r>
              <a:t>      "사건 식별",</a:t>
            </a:r>
          </a:p>
          <a:p xmlns:a="http://schemas.openxmlformats.org/drawingml/2006/main">
            <a:r>
              <a:t>      "시간순 증거",</a:t>
            </a:r>
          </a:p>
          <a:p xmlns:a="http://schemas.openxmlformats.org/drawingml/2006/main">
            <a:r>
              <a:t>      "보고 완전성"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"사고 영상·로그",</a:t>
            </a:r>
          </a:p>
          <a:p xmlns:a="http://schemas.openxmlformats.org/drawingml/2006/main">
            <a:r>
              <a:t>        "detail": "사고 ID와 보고 대상 기간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"사건 식별 / 시간순 증거 / 보고 완전성",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"타임라인·보고서 구성",</a:t>
            </a:r>
          </a:p>
          <a:p xmlns:a="http://schemas.openxmlformats.org/drawingml/2006/main">
            <a:r>
              <a:t>        "detail": "시각별 사건 재구성과 필수 항목 대사",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"감독기관·보고 담당",</a:t>
            </a:r>
          </a:p>
          <a:p xmlns:a="http://schemas.openxmlformats.org/drawingml/2006/main">
            <a:r>
              <a:t>        "detail": "작성자 검토와 승인자 확인 후 공식 제출",</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"원시 증거·보고 판본",</a:t>
            </a:r>
          </a:p>
          <a:p xmlns:a="http://schemas.openxmlformats.org/drawingml/2006/main">
            <a:r>
              <a:t>        "detail": "센서·영상·보고 원본의 시점·버전 보존",</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"추가 발견 증거의 보완 보고·수정 이력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"사고 원시 증거",</a:t>
            </a:r>
          </a:p>
          <a:p xmlns:a="http://schemas.openxmlformats.org/drawingml/2006/main">
            <a:r>
              <a:t>        "input": "사고 ID와 보고 대상 기간 지정",</a:t>
            </a:r>
          </a:p>
          <a:p xmlns:a="http://schemas.openxmlformats.org/drawingml/2006/main">
            <a:r>
              <a:t>        "process": "센서·영상·보고 원본의 시점·버전 보존",</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"title": "사건 타임라인",</a:t>
            </a:r>
          </a:p>
          <a:p xmlns:a="http://schemas.openxmlformats.org/drawingml/2006/main">
            <a:r>
              <a:t>        "input": "시각별 원시 증거",</a:t>
            </a:r>
          </a:p>
          <a:p xmlns:a="http://schemas.openxmlformats.org/drawingml/2006/main">
            <a:r>
              <a:t>        "process": "시각별 사건 재구성과 필수 항목 대사",</a:t>
            </a:r>
          </a:p>
          <a:p xmlns:a="http://schemas.openxmlformats.org/drawingml/2006/main">
            <a:r>
              <a:t>        "output": "충돌 전후 사건"</a:t>
            </a:r>
          </a:p>
          <a:p xmlns:a="http://schemas.openxmlformats.org/drawingml/2006/main">
            <a:r>
              <a:t>      },</a:t>
            </a:r>
          </a:p>
          <a:p xmlns:a="http://schemas.openxmlformats.org/drawingml/2006/main">
            <a:r>
              <a:t>      {</a:t>
            </a:r>
          </a:p>
          <a:p xmlns:a="http://schemas.openxmlformats.org/drawingml/2006/main">
            <a:r>
              <a:t>        "title": "보고서 작성",</a:t>
            </a:r>
          </a:p>
          <a:p xmlns:a="http://schemas.openxmlformats.org/drawingml/2006/main">
            <a:r>
              <a:t>        "input": "충돌 전후 사건",</a:t>
            </a:r>
          </a:p>
          <a:p xmlns:a="http://schemas.openxmlformats.org/drawingml/2006/main">
            <a:r>
              <a:t>        "process": "충돌 전·중·후 증거의 완전성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"title": "감독기관 보고",</a:t>
            </a:r>
          </a:p>
          <a:p xmlns:a="http://schemas.openxmlformats.org/drawingml/2006/main">
            <a:r>
              <a:t>        "input": "필수 보고 항목",</a:t>
            </a:r>
          </a:p>
          <a:p xmlns:a="http://schemas.openxmlformats.org/drawingml/2006/main">
            <a:r>
              <a:t>        "process":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"사고 발생 전후 전체 이벤트를 보고 항목에 연결",</a:t>
            </a:r>
          </a:p>
          <a:p xmlns:a="http://schemas.openxmlformats.org/drawingml/2006/main">
            <a:r>
              <a:t>      "exception": "충돌 이후 이벤트 삭제·영상과 로그 시각 충돌",</a:t>
            </a:r>
          </a:p>
          <a:p xmlns:a="http://schemas.openxmlformats.org/drawingml/2006/main">
            <a:r>
              <a:t>      "evidence": "원시 증거별 보고 포함 여부와 누락 경고·승인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"실증 운영자·사고 조사자·감독기관",</a:t>
            </a:r>
          </a:p>
          <a:p xmlns:a="http://schemas.openxmlformats.org/drawingml/2006/main">
            <a:r>
              <a:t>          "processing": "사고 ID와 보고 대상 기간 지정",</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"원시 증거·보고 판본",</a:t>
            </a:r>
          </a:p>
          <a:p xmlns:a="http://schemas.openxmlformats.org/drawingml/2006/main">
            <a:r>
              <a:t>          "processing": "센서·영상·보고 원본의 시점·버전 보존",</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"시각별 원시 증거",</a:t>
            </a:r>
          </a:p>
          <a:p xmlns:a="http://schemas.openxmlformats.org/drawingml/2006/main">
            <a:r>
              <a:t>          "processing": "시각별 사건 재구성과 필수 항목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"필수 보고 항목",</a:t>
            </a:r>
          </a:p>
          <a:p xmlns:a="http://schemas.openxmlformats.org/drawingml/2006/main">
            <a:r>
              <a:t>          "processing":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"추가 발견 증거의 보완 보고·수정 이력 추적",</a:t>
            </a:r>
          </a:p>
          <a:p xmlns:a="http://schemas.openxmlformats.org/drawingml/2006/main">
            <a:r>
              <a:t>          "output": "원시 증거별 보고 포함 여부와 누락 경고·승인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"추가 발견 증거의 보완 보고·수정 이력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"S09",</a:t>
            </a:r>
          </a:p>
          <a:p xmlns:a="http://schemas.openxmlformats.org/drawingml/2006/main">
            <a:r>
              <a:t>        "title": "NHTSA · Cruise 사고보고 시정 명령",</a:t>
            </a:r>
          </a:p>
          <a:p xmlns:a="http://schemas.openxmlformats.org/drawingml/2006/main">
            <a:r>
              <a:t>        "url": "https://www.nhtsa.gov/press-releases/consent-order-cruise-crash-reporting",</a:t>
            </a:r>
          </a:p>
          <a:p xmlns:a="http://schemas.openxmlformats.org/drawingml/2006/main">
            <a:r>
              <a:t>        "published": "2024-09-30",</a:t>
            </a:r>
          </a:p>
          <a:p xmlns:a="http://schemas.openxmlformats.org/drawingml/2006/main">
            <a:r>
              <a:t>        "level": "감독기관 시정 명령",</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"sourceDetail": null,</a:t>
            </a:r>
          </a:p>
          <a:p xmlns:a="http://schemas.openxmlformats.org/drawingml/2006/main">
            <a:r>
              <a:t>    "narrative": [</a:t>
            </a:r>
          </a:p>
          <a:p xmlns:a="http://schemas.openxmlformats.org/drawingml/2006/main">
            <a:r>
              <a:t>      "자율주행 사고의 원시 증거와 감독기관 보고 사이에서 누락이 발생한 시정 사례. 모델의 주행 성능과 별개로 사고 전후 정보를 완전하게 보고하는 운영 책임이 주요 쟁점.",</a:t>
            </a:r>
          </a:p>
          <a:p xmlns:a="http://schemas.openxmlformats.org/drawingml/2006/main">
            <a:r>
              <a:t>      "영상·센서·이벤트 로그를 사고 ID와 시간축으로 묶고 필수 보고 항목과 대조하는 CCK 설계. 요약 보고서를 만들더라도 원본 증거·작성 판본·승인자·추가 보완 이력을 함께 유지하는 구조.",</a:t>
            </a:r>
          </a:p>
          <a:p xmlns:a="http://schemas.openxmlformats.org/drawingml/2006/main">
            <a:r>
              <a:t>      "TS 사고조사 지원에서 자동 요약의 편의보다 증거 누락을 우선 평가할 근거. 충돌 전·중·후 자료와 수정본을 섞은 시험으로 사건 재구성, 빠진 항목 경고, 제출본 추적을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"사고보고 접수",</a:t>
            </a:r>
          </a:p>
          <a:p xmlns:a="http://schemas.openxmlformats.org/drawingml/2006/main">
            <a:r>
              <a:t>          "layer": "이용 접점",</a:t>
            </a:r>
          </a:p>
          <a:p xmlns:a="http://schemas.openxmlformats.org/drawingml/2006/main">
            <a:r>
              <a:t>          "detail": "실증 운영자·사고 조사자·감독기관",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"사고 ID·기간",</a:t>
            </a:r>
          </a:p>
          <a:p xmlns:a="http://schemas.openxmlformats.org/drawingml/2006/main">
            <a:r>
              <a:t>          "layer": "업무 문맥",</a:t>
            </a:r>
          </a:p>
          <a:p xmlns:a="http://schemas.openxmlformats.org/drawingml/2006/main">
            <a:r>
              <a:t>          "detail": "사고 ID와 보고 대상 기간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"영상·로그 조회",</a:t>
            </a:r>
          </a:p>
          <a:p xmlns:a="http://schemas.openxmlformats.org/drawingml/2006/main">
            <a:r>
              <a:t>          "layer": "자료 조회",</a:t>
            </a:r>
          </a:p>
          <a:p xmlns:a="http://schemas.openxmlformats.org/drawingml/2006/main">
            <a:r>
              <a:t>          "detail": "시각별 원시 증거",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"시각별 사건 재구성",</a:t>
            </a:r>
          </a:p>
          <a:p xmlns:a="http://schemas.openxmlformats.org/drawingml/2006/main">
            <a:r>
              <a:t>          "layer": "핵심 처리",</a:t>
            </a:r>
          </a:p>
          <a:p xmlns:a="http://schemas.openxmlformats.org/drawingml/2006/main">
            <a:r>
              <a:t>          "detail": "시각별 사건 재구성과 필수 항목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"필수 항목 대사",</a:t>
            </a:r>
          </a:p>
          <a:p xmlns:a="http://schemas.openxmlformats.org/drawingml/2006/main">
            <a:r>
              <a:t>          "layer": "결과 검증",</a:t>
            </a:r>
          </a:p>
          <a:p xmlns:a="http://schemas.openxmlformats.org/drawingml/2006/main">
            <a:r>
              <a:t>          "detail": "충돌 전·중·후 증거의 완전성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"작성·승인자 확인",</a:t>
            </a:r>
          </a:p>
          <a:p xmlns:a="http://schemas.openxmlformats.org/drawingml/2006/main">
            <a:r>
              <a:t>          "layer": "사람 확인",</a:t>
            </a:r>
          </a:p>
          <a:p xmlns:a="http://schemas.openxmlformats.org/drawingml/2006/main">
            <a:r>
              <a:t>          "detail": "사고 발생 전후 전체 이벤트를 보고 항목에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"제출·보완 보고",</a:t>
            </a:r>
          </a:p>
          <a:p xmlns:a="http://schemas.openxmlformats.org/drawingml/2006/main">
            <a:r>
              <a:t>          "layer": "업무 연결",</a:t>
            </a:r>
          </a:p>
          <a:p xmlns:a="http://schemas.openxmlformats.org/drawingml/2006/main">
            <a:r>
              <a:t>          "detail": "작성자 검토와 승인자 확인 후 공식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"누락·수정 추적",</a:t>
            </a:r>
          </a:p>
          <a:p xmlns:a="http://schemas.openxmlformats.org/drawingml/2006/main">
            <a:r>
              <a:t>          "layer": "운영 관측",</a:t>
            </a:r>
          </a:p>
          <a:p xmlns:a="http://schemas.openxmlformats.org/drawingml/2006/main">
            <a:r>
              <a:t>          "detail": "추가 발견 증거의 보완 보고·수정 이력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"원시 영상·센서",</a:t>
            </a:r>
          </a:p>
          <a:p xmlns:a="http://schemas.openxmlformats.org/drawingml/2006/main">
            <a:r>
              <a:t>          "layer": "데이터 원천",</a:t>
            </a:r>
          </a:p>
          <a:p xmlns:a="http://schemas.openxmlformats.org/drawingml/2006/main">
            <a:r>
              <a:t>          "detail": "원시 증거·보고 판본",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"시간축·판본 정합화",</a:t>
            </a:r>
          </a:p>
          <a:p xmlns:a="http://schemas.openxmlformats.org/drawingml/2006/main">
            <a:r>
              <a:t>          "layer": "준비·갱신",</a:t>
            </a:r>
          </a:p>
          <a:p xmlns:a="http://schemas.openxmlformats.org/drawingml/2006/main">
            <a:r>
              <a:t>          "detail": "센서·영상·보고 원본의 시점·버전 보존",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"증거·보고 판본",</a:t>
            </a:r>
          </a:p>
          <a:p xmlns:a="http://schemas.openxmlformats.org/drawingml/2006/main">
            <a:r>
              <a:t>          "layer": "상태·지식 저장",</a:t>
            </a:r>
          </a:p>
          <a:p xmlns:a="http://schemas.openxmlformats.org/drawingml/2006/main">
            <a:r>
              <a:t>          "detail": "원시 증거별 보고 포함 여부와 누락 경고·승인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"보존·보고 규칙",</a:t>
            </a:r>
          </a:p>
          <a:p xmlns:a="http://schemas.openxmlformats.org/drawingml/2006/main">
            <a:r>
              <a:t>          "layer": "권한·정책",</a:t>
            </a:r>
          </a:p>
          <a:p xmlns:a="http://schemas.openxmlformats.org/drawingml/2006/main">
            <a:r>
              <a:t>          "detail": "충돌 이후 이벤트 삭제·영상과 로그 시각 충돌",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"사고 원시 증거 → 사건 타임라인 → 보고서 작성 → 감독기관 보고"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"원시 증거·보고 판본",</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"충돌 전후 사건",</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"제출·보완 기록",</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"사고보고의 원시 증거 누락 방지 / 사건 식별·시간순 증거·보고 완전성",</a:t>
            </a:r>
          </a:p>
          <a:p xmlns:a="http://schemas.openxmlformats.org/drawingml/2006/main">
            <a:r>
              <a:t>        "extension": "TS 실증·사고·점검 자료의 사건 ID와 원문 시점별 근거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"충돌 이후 이벤트 삭제·영상과 로그 시각 충돌",</a:t>
            </a:r>
          </a:p>
          <a:p xmlns:a="http://schemas.openxmlformats.org/drawingml/2006/main">
            <a:r>
              <a:t>        "hold": "충돌 전·중·후 증거의 완전성 대사",</a:t>
            </a:r>
          </a:p>
          <a:p xmlns:a="http://schemas.openxmlformats.org/drawingml/2006/main">
            <a:r>
              <a:t>        "recovery": "추가 발견 증거의 보완 보고·수정 이력 추적",</a:t>
            </a:r>
          </a:p>
          <a:p xmlns:a="http://schemas.openxmlformats.org/drawingml/2006/main">
            <a:r>
              <a:t>        "evidence": "원시 증거별 보고 포함 여부와 누락 경고·승인 이력"</a:t>
            </a:r>
          </a:p>
          <a:p xmlns:a="http://schemas.openxmlformats.org/drawingml/2006/main">
            <a:r>
              <a:t>      },</a:t>
            </a:r>
          </a:p>
          <a:p xmlns:a="http://schemas.openxmlformats.org/drawingml/2006/main">
            <a:r>
              <a:t>      "data": {</a:t>
            </a:r>
          </a:p>
          <a:p xmlns:a="http://schemas.openxmlformats.org/drawingml/2006/main">
            <a:r>
              <a:t>        "source": "원시 증거·보고 판본",</a:t>
            </a:r>
          </a:p>
          <a:p xmlns:a="http://schemas.openxmlformats.org/drawingml/2006/main">
            <a:r>
              <a:t>        "prepare": "센서·영상·보고 원본의 시점·버전 보존",</a:t>
            </a:r>
          </a:p>
          <a:p xmlns:a="http://schemas.openxmlformats.org/drawingml/2006/main">
            <a:r>
              <a:t>        "output": "시각별 원시 증거",</a:t>
            </a:r>
          </a:p>
          <a:p xmlns:a="http://schemas.openxmlformats.org/drawingml/2006/main">
            <a:r>
              <a:t>        "refresh": "추가 발견 증거의 보완 보고·수정 이력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"AX08",</a:t>
            </a:r>
          </a:p>
          <a:p xmlns:a="http://schemas.openxmlformats.org/drawingml/2006/main">
            <a:r>
              <a:t>    "success": [</a:t>
            </a:r>
          </a:p>
          <a:p xmlns:a="http://schemas.openxmlformats.org/drawingml/2006/main">
            <a:r>
              <a:t>      "원시 영상과 보고 항목의 대사",</a:t>
            </a:r>
          </a:p>
          <a:p xmlns:a="http://schemas.openxmlformats.org/drawingml/2006/main">
            <a:r>
              <a:t>      "보고 책임자와 변경 이력 관리"</a:t>
            </a:r>
          </a:p>
          <a:p xmlns:a="http://schemas.openxmlformats.org/drawingml/2006/main">
            <a:r>
              <a:t>    ],</a:t>
            </a:r>
          </a:p>
          <a:p xmlns:a="http://schemas.openxmlformats.org/drawingml/2006/main">
            <a:r>
              <a:t>    "risks": [</a:t>
            </a:r>
          </a:p>
          <a:p xmlns:a="http://schemas.openxmlformats.org/drawingml/2006/main">
            <a:r>
              <a:t>      "사고 후 상황의 보고 누락",</a:t>
            </a:r>
          </a:p>
          <a:p xmlns:a="http://schemas.openxmlformats.org/drawingml/2006/main">
            <a:r>
              <a:t>      "요약본만으로 사고 전체를 판단하는 위험"</a:t>
            </a:r>
          </a:p>
          <a:p xmlns:a="http://schemas.openxmlformats.org/drawingml/2006/main">
            <a:r>
              <a:t>    ],</a:t>
            </a:r>
          </a:p>
          <a:p xmlns:a="http://schemas.openxmlformats.org/drawingml/2006/main">
            <a:r>
              <a:t>    "architecture": [</a:t>
            </a:r>
          </a:p>
          <a:p xmlns:a="http://schemas.openxmlformats.org/drawingml/2006/main">
            <a:r>
              <a:t>      "사고 영상·로그",</a:t>
            </a:r>
          </a:p>
          <a:p xmlns:a="http://schemas.openxmlformats.org/drawingml/2006/main">
            <a:r>
              <a:t>      "타임라인·보고서 구성",</a:t>
            </a:r>
          </a:p>
          <a:p xmlns:a="http://schemas.openxmlformats.org/drawingml/2006/main">
            <a:r>
              <a:t>      "원시 증거·보고 판본",</a:t>
            </a:r>
          </a:p>
          <a:p xmlns:a="http://schemas.openxmlformats.org/drawingml/2006/main">
            <a:r>
              <a:t>      "감독기관·보고 담당"</a:t>
            </a:r>
          </a:p>
          <a:p xmlns:a="http://schemas.openxmlformats.org/drawingml/2006/main">
            <a:r>
              <a:t>    ],</a:t>
            </a:r>
          </a:p>
          <a:p xmlns:a="http://schemas.openxmlformats.org/drawingml/2006/main">
            <a:r>
              <a:t>    "transfers": [</a:t>
            </a:r>
          </a:p>
          <a:p xmlns:a="http://schemas.openxmlformats.org/drawingml/2006/main">
            <a:r>
              <a:t>      "시각별 원시 증거",</a:t>
            </a:r>
          </a:p>
          <a:p xmlns:a="http://schemas.openxmlformats.org/drawingml/2006/main">
            <a:r>
              <a:t>      "충돌 전후 사건",</a:t>
            </a:r>
          </a:p>
          <a:p xmlns:a="http://schemas.openxmlformats.org/drawingml/2006/main">
            <a:r>
              <a:t>      "필수 보고 항목",</a:t>
            </a:r>
          </a:p>
          <a:p xmlns:a="http://schemas.openxmlformats.org/drawingml/2006/main">
            <a:r>
              <a:t>      "제출·보완 기록"</a:t>
            </a:r>
          </a:p>
          <a:p xmlns:a="http://schemas.openxmlformats.org/drawingml/2006/main">
            <a:r>
              <a:t>    ],</a:t>
            </a:r>
          </a:p>
          <a:p xmlns:a="http://schemas.openxmlformats.org/drawingml/2006/main">
            <a:r>
              <a:t>    "control": "충돌 전·중·후 증거의 완전성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NHTSA · Cruise 사고보고 시정 명령 https://www.nhtsa.gov/press-releases/consent-order-cruise-crash-reporting</a:t>
            </a:r>
          </a:p>
          <a:p xmlns:a="http://schemas.openxmlformats.org/drawingml/2006/main">
            <a:r>
              <a:t>홈페이지 https://heen1987-ops.github.io/TS-business-Plan-001/index.html?view=casebook&amp;case=AX08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"AX08",</a:t>
            </a:r>
          </a:p>
          <a:p xmlns:a="http://schemas.openxmlformats.org/drawingml/2006/main">
            <a:r>
              <a:t>    "title": "Cruise 사고보고",</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"자율주행 안전·사고보고",</a:t>
            </a:r>
          </a:p>
          <a:p xmlns:a="http://schemas.openxmlformats.org/drawingml/2006/main">
            <a:r>
              <a:t>    "period": "2023 사고 / 2024 시정",</a:t>
            </a:r>
          </a:p>
          <a:p xmlns:a="http://schemas.openxmlformats.org/drawingml/2006/main">
            <a:r>
              <a:t>    "sources": [</a:t>
            </a:r>
          </a:p>
          <a:p xmlns:a="http://schemas.openxmlformats.org/drawingml/2006/main">
            <a:r>
              <a:t>      "S09"</a:t>
            </a:r>
          </a:p>
          <a:p xmlns:a="http://schemas.openxmlformats.org/drawingml/2006/main">
            <a:r>
              <a:t>    ],</a:t>
            </a:r>
          </a:p>
          <a:p xmlns:a="http://schemas.openxmlformats.org/drawingml/2006/main">
            <a:r>
              <a:t>    "keywords": [</a:t>
            </a:r>
          </a:p>
          <a:p xmlns:a="http://schemas.openxmlformats.org/drawingml/2006/main">
            <a:r>
              <a:t>      "미래 모빌리티",</a:t>
            </a:r>
          </a:p>
          <a:p xmlns:a="http://schemas.openxmlformats.org/drawingml/2006/main">
            <a:r>
              <a:t>      "사고",</a:t>
            </a:r>
          </a:p>
          <a:p xmlns:a="http://schemas.openxmlformats.org/drawingml/2006/main">
            <a:r>
              <a:t>      "실증",</a:t>
            </a:r>
          </a:p>
          <a:p xmlns:a="http://schemas.openxmlformats.org/drawingml/2006/main">
            <a:r>
              <a:t>      "안전보고"</a:t>
            </a:r>
          </a:p>
          <a:p xmlns:a="http://schemas.openxmlformats.org/drawingml/2006/main">
            <a:r>
              <a:t>    ],</a:t>
            </a:r>
          </a:p>
          <a:p xmlns:a="http://schemas.openxmlformats.org/drawingml/2006/main">
            <a:r>
              <a:t>    "fact": "충돌 후 상황을 빠뜨린 사고보고에 대한 NHTSA 시정 명령 및 강화된 보고·감독",</a:t>
            </a:r>
          </a:p>
          <a:p xmlns:a="http://schemas.openxmlformats.org/drawingml/2006/main">
            <a:r>
              <a:t>    "limit": "보고 완전성·안전 거버넌스 문제 · 사고 원인을 LLM 오류로 단정 불가",</a:t>
            </a:r>
          </a:p>
          <a:p xmlns:a="http://schemas.openxmlformats.org/drawingml/2006/main">
            <a:r>
              <a:t>    "flow": [</a:t>
            </a:r>
          </a:p>
          <a:p xmlns:a="http://schemas.openxmlformats.org/drawingml/2006/main">
            <a:r>
              <a:t>      "사고 원시 증거",</a:t>
            </a:r>
          </a:p>
          <a:p xmlns:a="http://schemas.openxmlformats.org/drawingml/2006/main">
            <a:r>
              <a:t>      "사건 타임라인",</a:t>
            </a:r>
          </a:p>
          <a:p xmlns:a="http://schemas.openxmlformats.org/drawingml/2006/main">
            <a:r>
              <a:t>      "보고서 작성",</a:t>
            </a:r>
          </a:p>
          <a:p xmlns:a="http://schemas.openxmlformats.org/drawingml/2006/main">
            <a:r>
              <a:t>      "감독기관 보고"</a:t>
            </a:r>
          </a:p>
          <a:p xmlns:a="http://schemas.openxmlformats.org/drawingml/2006/main">
            <a:r>
              <a:t>    ],</a:t>
            </a:r>
          </a:p>
          <a:p xmlns:a="http://schemas.openxmlformats.org/drawingml/2006/main">
            <a:r>
              <a:t>    "flowBasis": "공개 시정 내용 기반 보고 흐름 재구성",</a:t>
            </a:r>
          </a:p>
          <a:p xmlns:a="http://schemas.openxmlformats.org/drawingml/2006/main">
            <a:r>
              <a:t>    "lesson":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"증거 무결성 / 필수 사건 체크 / 누락 경고 / 검토·승인 이력",</a:t>
            </a:r>
          </a:p>
          <a:p xmlns:a="http://schemas.openxmlformats.org/drawingml/2006/main">
            <a:r>
              <a:t>    "test": "누락 사건·충돌 시각 주입 후 탐지 및 승인 없이 전송 차단",</a:t>
            </a:r>
          </a:p>
          <a:p xmlns:a="http://schemas.openxmlformats.org/drawingml/2006/main">
            <a:r>
              <a:t>    "metric": "필수 사건 재현율 / 검토 누락률"</a:t>
            </a:r>
          </a:p>
          <a:p xmlns:a="http://schemas.openxmlformats.org/drawingml/2006/main">
            <a:r>
              <a:t>  },</a:t>
            </a:r>
          </a:p>
          <a:p xmlns:a="http://schemas.openxmlformats.org/drawingml/2006/main">
            <a:r>
              <a:t>  "design": {</a:t>
            </a:r>
          </a:p>
          <a:p xmlns:a="http://schemas.openxmlformats.org/drawingml/2006/main">
            <a:r>
              <a:t>    "id": "AX08",</a:t>
            </a:r>
          </a:p>
          <a:p xmlns:a="http://schemas.openxmlformats.org/drawingml/2006/main">
            <a:r>
              <a:t>    "canonicalId": "AX08",</a:t>
            </a:r>
          </a:p>
          <a:p xmlns:a="http://schemas.openxmlformats.org/drawingml/2006/main">
            <a:r>
              <a:t>    "purpose": "사고보고의 원시 증거 누락 방지",</a:t>
            </a:r>
          </a:p>
          <a:p xmlns:a="http://schemas.openxmlformats.org/drawingml/2006/main">
            <a:r>
              <a:t>    "users": "실증 운영자·사고 조사자·감독기관",</a:t>
            </a:r>
          </a:p>
          <a:p xmlns:a="http://schemas.openxmlformats.org/drawingml/2006/main">
            <a:r>
              <a:t>    "scope": [</a:t>
            </a:r>
          </a:p>
          <a:p xmlns:a="http://schemas.openxmlformats.org/drawingml/2006/main">
            <a:r>
              <a:t>      "사건 식별",</a:t>
            </a:r>
          </a:p>
          <a:p xmlns:a="http://schemas.openxmlformats.org/drawingml/2006/main">
            <a:r>
              <a:t>      "시간순 증거",</a:t>
            </a:r>
          </a:p>
          <a:p xmlns:a="http://schemas.openxmlformats.org/drawingml/2006/main">
            <a:r>
              <a:t>      "보고 완전성"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"사고 영상·로그",</a:t>
            </a:r>
          </a:p>
          <a:p xmlns:a="http://schemas.openxmlformats.org/drawingml/2006/main">
            <a:r>
              <a:t>        "detail": "사고 ID와 보고 대상 기간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"사건 식별 / 시간순 증거 / 보고 완전성",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"타임라인·보고서 구성",</a:t>
            </a:r>
          </a:p>
          <a:p xmlns:a="http://schemas.openxmlformats.org/drawingml/2006/main">
            <a:r>
              <a:t>        "detail": "시각별 사건 재구성과 필수 항목 대사",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"감독기관·보고 담당",</a:t>
            </a:r>
          </a:p>
          <a:p xmlns:a="http://schemas.openxmlformats.org/drawingml/2006/main">
            <a:r>
              <a:t>        "detail": "작성자 검토와 승인자 확인 후 공식 제출",</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"원시 증거·보고 판본",</a:t>
            </a:r>
          </a:p>
          <a:p xmlns:a="http://schemas.openxmlformats.org/drawingml/2006/main">
            <a:r>
              <a:t>        "detail": "센서·영상·보고 원본의 시점·버전 보존",</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"추가 발견 증거의 보완 보고·수정 이력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"사고 원시 증거",</a:t>
            </a:r>
          </a:p>
          <a:p xmlns:a="http://schemas.openxmlformats.org/drawingml/2006/main">
            <a:r>
              <a:t>        "input": "사고 ID와 보고 대상 기간 지정",</a:t>
            </a:r>
          </a:p>
          <a:p xmlns:a="http://schemas.openxmlformats.org/drawingml/2006/main">
            <a:r>
              <a:t>        "process": "센서·영상·보고 원본의 시점·버전 보존",</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"title": "사건 타임라인",</a:t>
            </a:r>
          </a:p>
          <a:p xmlns:a="http://schemas.openxmlformats.org/drawingml/2006/main">
            <a:r>
              <a:t>        "input": "시각별 원시 증거",</a:t>
            </a:r>
          </a:p>
          <a:p xmlns:a="http://schemas.openxmlformats.org/drawingml/2006/main">
            <a:r>
              <a:t>        "process": "시각별 사건 재구성과 필수 항목 대사",</a:t>
            </a:r>
          </a:p>
          <a:p xmlns:a="http://schemas.openxmlformats.org/drawingml/2006/main">
            <a:r>
              <a:t>        "output": "충돌 전후 사건"</a:t>
            </a:r>
          </a:p>
          <a:p xmlns:a="http://schemas.openxmlformats.org/drawingml/2006/main">
            <a:r>
              <a:t>      },</a:t>
            </a:r>
          </a:p>
          <a:p xmlns:a="http://schemas.openxmlformats.org/drawingml/2006/main">
            <a:r>
              <a:t>      {</a:t>
            </a:r>
          </a:p>
          <a:p xmlns:a="http://schemas.openxmlformats.org/drawingml/2006/main">
            <a:r>
              <a:t>        "title": "보고서 작성",</a:t>
            </a:r>
          </a:p>
          <a:p xmlns:a="http://schemas.openxmlformats.org/drawingml/2006/main">
            <a:r>
              <a:t>        "input": "충돌 전후 사건",</a:t>
            </a:r>
          </a:p>
          <a:p xmlns:a="http://schemas.openxmlformats.org/drawingml/2006/main">
            <a:r>
              <a:t>        "process": "충돌 전·중·후 증거의 완전성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"title": "감독기관 보고",</a:t>
            </a:r>
          </a:p>
          <a:p xmlns:a="http://schemas.openxmlformats.org/drawingml/2006/main">
            <a:r>
              <a:t>        "input": "필수 보고 항목",</a:t>
            </a:r>
          </a:p>
          <a:p xmlns:a="http://schemas.openxmlformats.org/drawingml/2006/main">
            <a:r>
              <a:t>        "process":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"사고 발생 전후 전체 이벤트를 보고 항목에 연결",</a:t>
            </a:r>
          </a:p>
          <a:p xmlns:a="http://schemas.openxmlformats.org/drawingml/2006/main">
            <a:r>
              <a:t>      "exception": "충돌 이후 이벤트 삭제·영상과 로그 시각 충돌",</a:t>
            </a:r>
          </a:p>
          <a:p xmlns:a="http://schemas.openxmlformats.org/drawingml/2006/main">
            <a:r>
              <a:t>      "evidence": "원시 증거별 보고 포함 여부와 누락 경고·승인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"실증 운영자·사고 조사자·감독기관",</a:t>
            </a:r>
          </a:p>
          <a:p xmlns:a="http://schemas.openxmlformats.org/drawingml/2006/main">
            <a:r>
              <a:t>          "processing": "사고 ID와 보고 대상 기간 지정",</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"원시 증거·보고 판본",</a:t>
            </a:r>
          </a:p>
          <a:p xmlns:a="http://schemas.openxmlformats.org/drawingml/2006/main">
            <a:r>
              <a:t>          "processing": "센서·영상·보고 원본의 시점·버전 보존",</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"시각별 원시 증거",</a:t>
            </a:r>
          </a:p>
          <a:p xmlns:a="http://schemas.openxmlformats.org/drawingml/2006/main">
            <a:r>
              <a:t>          "processing": "시각별 사건 재구성과 필수 항목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"필수 보고 항목",</a:t>
            </a:r>
          </a:p>
          <a:p xmlns:a="http://schemas.openxmlformats.org/drawingml/2006/main">
            <a:r>
              <a:t>          "processing":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"추가 발견 증거의 보완 보고·수정 이력 추적",</a:t>
            </a:r>
          </a:p>
          <a:p xmlns:a="http://schemas.openxmlformats.org/drawingml/2006/main">
            <a:r>
              <a:t>          "output": "원시 증거별 보고 포함 여부와 누락 경고·승인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"추가 발견 증거의 보완 보고·수정 이력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"S09",</a:t>
            </a:r>
          </a:p>
          <a:p xmlns:a="http://schemas.openxmlformats.org/drawingml/2006/main">
            <a:r>
              <a:t>        "title": "NHTSA · Cruise 사고보고 시정 명령",</a:t>
            </a:r>
          </a:p>
          <a:p xmlns:a="http://schemas.openxmlformats.org/drawingml/2006/main">
            <a:r>
              <a:t>        "url": "https://www.nhtsa.gov/press-releases/consent-order-cruise-crash-reporting",</a:t>
            </a:r>
          </a:p>
          <a:p xmlns:a="http://schemas.openxmlformats.org/drawingml/2006/main">
            <a:r>
              <a:t>        "published": "2024-09-30",</a:t>
            </a:r>
          </a:p>
          <a:p xmlns:a="http://schemas.openxmlformats.org/drawingml/2006/main">
            <a:r>
              <a:t>        "level": "감독기관 시정 명령",</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"sourceDetail": null,</a:t>
            </a:r>
          </a:p>
          <a:p xmlns:a="http://schemas.openxmlformats.org/drawingml/2006/main">
            <a:r>
              <a:t>    "narrative": [</a:t>
            </a:r>
          </a:p>
          <a:p xmlns:a="http://schemas.openxmlformats.org/drawingml/2006/main">
            <a:r>
              <a:t>      "자율주행 사고의 원시 증거와 감독기관 보고 사이에서 누락이 발생한 시정 사례. 모델의 주행 성능과 별개로 사고 전후 정보를 완전하게 보고하는 운영 책임이 주요 쟁점.",</a:t>
            </a:r>
          </a:p>
          <a:p xmlns:a="http://schemas.openxmlformats.org/drawingml/2006/main">
            <a:r>
              <a:t>      "영상·센서·이벤트 로그를 사고 ID와 시간축으로 묶고 필수 보고 항목과 대조하는 CCK 설계. 요약 보고서를 만들더라도 원본 증거·작성 판본·승인자·추가 보완 이력을 함께 유지하는 구조.",</a:t>
            </a:r>
          </a:p>
          <a:p xmlns:a="http://schemas.openxmlformats.org/drawingml/2006/main">
            <a:r>
              <a:t>      "TS 사고조사 지원에서 자동 요약의 편의보다 증거 누락을 우선 평가할 근거. 충돌 전·중·후 자료와 수정본을 섞은 시험으로 사건 재구성, 빠진 항목 경고, 제출본 추적을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"사고보고 접수",</a:t>
            </a:r>
          </a:p>
          <a:p xmlns:a="http://schemas.openxmlformats.org/drawingml/2006/main">
            <a:r>
              <a:t>          "layer": "이용 접점",</a:t>
            </a:r>
          </a:p>
          <a:p xmlns:a="http://schemas.openxmlformats.org/drawingml/2006/main">
            <a:r>
              <a:t>          "detail": "실증 운영자·사고 조사자·감독기관",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"사고 ID·기간",</a:t>
            </a:r>
          </a:p>
          <a:p xmlns:a="http://schemas.openxmlformats.org/drawingml/2006/main">
            <a:r>
              <a:t>          "layer": "업무 문맥",</a:t>
            </a:r>
          </a:p>
          <a:p xmlns:a="http://schemas.openxmlformats.org/drawingml/2006/main">
            <a:r>
              <a:t>          "detail": "사고 ID와 보고 대상 기간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"영상·로그 조회",</a:t>
            </a:r>
          </a:p>
          <a:p xmlns:a="http://schemas.openxmlformats.org/drawingml/2006/main">
            <a:r>
              <a:t>          "layer": "자료 조회",</a:t>
            </a:r>
          </a:p>
          <a:p xmlns:a="http://schemas.openxmlformats.org/drawingml/2006/main">
            <a:r>
              <a:t>          "detail": "시각별 원시 증거",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"시각별 사건 재구성",</a:t>
            </a:r>
          </a:p>
          <a:p xmlns:a="http://schemas.openxmlformats.org/drawingml/2006/main">
            <a:r>
              <a:t>          "layer": "핵심 처리",</a:t>
            </a:r>
          </a:p>
          <a:p xmlns:a="http://schemas.openxmlformats.org/drawingml/2006/main">
            <a:r>
              <a:t>          "detail": "시각별 사건 재구성과 필수 항목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"필수 항목 대사",</a:t>
            </a:r>
          </a:p>
          <a:p xmlns:a="http://schemas.openxmlformats.org/drawingml/2006/main">
            <a:r>
              <a:t>          "layer": "결과 검증",</a:t>
            </a:r>
          </a:p>
          <a:p xmlns:a="http://schemas.openxmlformats.org/drawingml/2006/main">
            <a:r>
              <a:t>          "detail": "충돌 전·중·후 증거의 완전성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"작성·승인자 확인",</a:t>
            </a:r>
          </a:p>
          <a:p xmlns:a="http://schemas.openxmlformats.org/drawingml/2006/main">
            <a:r>
              <a:t>          "layer": "사람 확인",</a:t>
            </a:r>
          </a:p>
          <a:p xmlns:a="http://schemas.openxmlformats.org/drawingml/2006/main">
            <a:r>
              <a:t>          "detail": "사고 발생 전후 전체 이벤트를 보고 항목에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"제출·보완 보고",</a:t>
            </a:r>
          </a:p>
          <a:p xmlns:a="http://schemas.openxmlformats.org/drawingml/2006/main">
            <a:r>
              <a:t>          "layer": "업무 연결",</a:t>
            </a:r>
          </a:p>
          <a:p xmlns:a="http://schemas.openxmlformats.org/drawingml/2006/main">
            <a:r>
              <a:t>          "detail": "작성자 검토와 승인자 확인 후 공식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"누락·수정 추적",</a:t>
            </a:r>
          </a:p>
          <a:p xmlns:a="http://schemas.openxmlformats.org/drawingml/2006/main">
            <a:r>
              <a:t>          "layer": "운영 관측",</a:t>
            </a:r>
          </a:p>
          <a:p xmlns:a="http://schemas.openxmlformats.org/drawingml/2006/main">
            <a:r>
              <a:t>          "detail": "추가 발견 증거의 보완 보고·수정 이력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"원시 영상·센서",</a:t>
            </a:r>
          </a:p>
          <a:p xmlns:a="http://schemas.openxmlformats.org/drawingml/2006/main">
            <a:r>
              <a:t>          "layer": "데이터 원천",</a:t>
            </a:r>
          </a:p>
          <a:p xmlns:a="http://schemas.openxmlformats.org/drawingml/2006/main">
            <a:r>
              <a:t>          "detail": "원시 증거·보고 판본",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"시간축·판본 정합화",</a:t>
            </a:r>
          </a:p>
          <a:p xmlns:a="http://schemas.openxmlformats.org/drawingml/2006/main">
            <a:r>
              <a:t>          "layer": "준비·갱신",</a:t>
            </a:r>
          </a:p>
          <a:p xmlns:a="http://schemas.openxmlformats.org/drawingml/2006/main">
            <a:r>
              <a:t>          "detail": "센서·영상·보고 원본의 시점·버전 보존",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"증거·보고 판본",</a:t>
            </a:r>
          </a:p>
          <a:p xmlns:a="http://schemas.openxmlformats.org/drawingml/2006/main">
            <a:r>
              <a:t>          "layer": "상태·지식 저장",</a:t>
            </a:r>
          </a:p>
          <a:p xmlns:a="http://schemas.openxmlformats.org/drawingml/2006/main">
            <a:r>
              <a:t>          "detail": "원시 증거별 보고 포함 여부와 누락 경고·승인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"보존·보고 규칙",</a:t>
            </a:r>
          </a:p>
          <a:p xmlns:a="http://schemas.openxmlformats.org/drawingml/2006/main">
            <a:r>
              <a:t>          "layer": "권한·정책",</a:t>
            </a:r>
          </a:p>
          <a:p xmlns:a="http://schemas.openxmlformats.org/drawingml/2006/main">
            <a:r>
              <a:t>          "detail": "충돌 이후 이벤트 삭제·영상과 로그 시각 충돌",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"사고 원시 증거 → 사건 타임라인 → 보고서 작성 → 감독기관 보고"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"원시 증거·보고 판본",</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"충돌 전후 사건",</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"제출·보완 기록",</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"사고보고의 원시 증거 누락 방지 / 사건 식별·시간순 증거·보고 완전성",</a:t>
            </a:r>
          </a:p>
          <a:p xmlns:a="http://schemas.openxmlformats.org/drawingml/2006/main">
            <a:r>
              <a:t>        "extension": "TS 실증·사고·점검 자료의 사건 ID와 원문 시점별 근거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"충돌 이후 이벤트 삭제·영상과 로그 시각 충돌",</a:t>
            </a:r>
          </a:p>
          <a:p xmlns:a="http://schemas.openxmlformats.org/drawingml/2006/main">
            <a:r>
              <a:t>        "hold": "충돌 전·중·후 증거의 완전성 대사",</a:t>
            </a:r>
          </a:p>
          <a:p xmlns:a="http://schemas.openxmlformats.org/drawingml/2006/main">
            <a:r>
              <a:t>        "recovery": "추가 발견 증거의 보완 보고·수정 이력 추적",</a:t>
            </a:r>
          </a:p>
          <a:p xmlns:a="http://schemas.openxmlformats.org/drawingml/2006/main">
            <a:r>
              <a:t>        "evidence": "원시 증거별 보고 포함 여부와 누락 경고·승인 이력"</a:t>
            </a:r>
          </a:p>
          <a:p xmlns:a="http://schemas.openxmlformats.org/drawingml/2006/main">
            <a:r>
              <a:t>      },</a:t>
            </a:r>
          </a:p>
          <a:p xmlns:a="http://schemas.openxmlformats.org/drawingml/2006/main">
            <a:r>
              <a:t>      "data": {</a:t>
            </a:r>
          </a:p>
          <a:p xmlns:a="http://schemas.openxmlformats.org/drawingml/2006/main">
            <a:r>
              <a:t>        "source": "원시 증거·보고 판본",</a:t>
            </a:r>
          </a:p>
          <a:p xmlns:a="http://schemas.openxmlformats.org/drawingml/2006/main">
            <a:r>
              <a:t>        "prepare": "센서·영상·보고 원본의 시점·버전 보존",</a:t>
            </a:r>
          </a:p>
          <a:p xmlns:a="http://schemas.openxmlformats.org/drawingml/2006/main">
            <a:r>
              <a:t>        "output": "시각별 원시 증거",</a:t>
            </a:r>
          </a:p>
          <a:p xmlns:a="http://schemas.openxmlformats.org/drawingml/2006/main">
            <a:r>
              <a:t>        "refresh": "추가 발견 증거의 보완 보고·수정 이력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"AX08",</a:t>
            </a:r>
          </a:p>
          <a:p xmlns:a="http://schemas.openxmlformats.org/drawingml/2006/main">
            <a:r>
              <a:t>    "success": [</a:t>
            </a:r>
          </a:p>
          <a:p xmlns:a="http://schemas.openxmlformats.org/drawingml/2006/main">
            <a:r>
              <a:t>      "원시 영상과 보고 항목의 대사",</a:t>
            </a:r>
          </a:p>
          <a:p xmlns:a="http://schemas.openxmlformats.org/drawingml/2006/main">
            <a:r>
              <a:t>      "보고 책임자와 변경 이력 관리"</a:t>
            </a:r>
          </a:p>
          <a:p xmlns:a="http://schemas.openxmlformats.org/drawingml/2006/main">
            <a:r>
              <a:t>    ],</a:t>
            </a:r>
          </a:p>
          <a:p xmlns:a="http://schemas.openxmlformats.org/drawingml/2006/main">
            <a:r>
              <a:t>    "risks": [</a:t>
            </a:r>
          </a:p>
          <a:p xmlns:a="http://schemas.openxmlformats.org/drawingml/2006/main">
            <a:r>
              <a:t>      "사고 후 상황의 보고 누락",</a:t>
            </a:r>
          </a:p>
          <a:p xmlns:a="http://schemas.openxmlformats.org/drawingml/2006/main">
            <a:r>
              <a:t>      "요약본만으로 사고 전체를 판단하는 위험"</a:t>
            </a:r>
          </a:p>
          <a:p xmlns:a="http://schemas.openxmlformats.org/drawingml/2006/main">
            <a:r>
              <a:t>    ],</a:t>
            </a:r>
          </a:p>
          <a:p xmlns:a="http://schemas.openxmlformats.org/drawingml/2006/main">
            <a:r>
              <a:t>    "architecture": [</a:t>
            </a:r>
          </a:p>
          <a:p xmlns:a="http://schemas.openxmlformats.org/drawingml/2006/main">
            <a:r>
              <a:t>      "사고 영상·로그",</a:t>
            </a:r>
          </a:p>
          <a:p xmlns:a="http://schemas.openxmlformats.org/drawingml/2006/main">
            <a:r>
              <a:t>      "타임라인·보고서 구성",</a:t>
            </a:r>
          </a:p>
          <a:p xmlns:a="http://schemas.openxmlformats.org/drawingml/2006/main">
            <a:r>
              <a:t>      "원시 증거·보고 판본",</a:t>
            </a:r>
          </a:p>
          <a:p xmlns:a="http://schemas.openxmlformats.org/drawingml/2006/main">
            <a:r>
              <a:t>      "감독기관·보고 담당"</a:t>
            </a:r>
          </a:p>
          <a:p xmlns:a="http://schemas.openxmlformats.org/drawingml/2006/main">
            <a:r>
              <a:t>    ],</a:t>
            </a:r>
          </a:p>
          <a:p xmlns:a="http://schemas.openxmlformats.org/drawingml/2006/main">
            <a:r>
              <a:t>    "transfers": [</a:t>
            </a:r>
          </a:p>
          <a:p xmlns:a="http://schemas.openxmlformats.org/drawingml/2006/main">
            <a:r>
              <a:t>      "시각별 원시 증거",</a:t>
            </a:r>
          </a:p>
          <a:p xmlns:a="http://schemas.openxmlformats.org/drawingml/2006/main">
            <a:r>
              <a:t>      "충돌 전후 사건",</a:t>
            </a:r>
          </a:p>
          <a:p xmlns:a="http://schemas.openxmlformats.org/drawingml/2006/main">
            <a:r>
              <a:t>      "필수 보고 항목",</a:t>
            </a:r>
          </a:p>
          <a:p xmlns:a="http://schemas.openxmlformats.org/drawingml/2006/main">
            <a:r>
              <a:t>      "제출·보완 기록"</a:t>
            </a:r>
          </a:p>
          <a:p xmlns:a="http://schemas.openxmlformats.org/drawingml/2006/main">
            <a:r>
              <a:t>    ],</a:t>
            </a:r>
          </a:p>
          <a:p xmlns:a="http://schemas.openxmlformats.org/drawingml/2006/main">
            <a:r>
              <a:t>    "control": "충돌 전·중·후 증거의 완전성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NHTSA · Cruise 사고보고 시정 명령 https://www.nhtsa.gov/press-releases/consent-order-cruise-crash-reporting</a:t>
            </a:r>
          </a:p>
          <a:p xmlns:a="http://schemas.openxmlformats.org/drawingml/2006/main">
            <a:r>
              <a:t>홈페이지 https://heen1987-ops.github.io/TS-business-Plan-001/index.html?view=casebook&amp;case=AX08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"AX08",</a:t>
            </a:r>
          </a:p>
          <a:p xmlns:a="http://schemas.openxmlformats.org/drawingml/2006/main">
            <a:r>
              <a:t>    "title": "Cruise 사고보고",</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"자율주행 안전·사고보고",</a:t>
            </a:r>
          </a:p>
          <a:p xmlns:a="http://schemas.openxmlformats.org/drawingml/2006/main">
            <a:r>
              <a:t>    "period": "2023 사고 / 2024 시정",</a:t>
            </a:r>
          </a:p>
          <a:p xmlns:a="http://schemas.openxmlformats.org/drawingml/2006/main">
            <a:r>
              <a:t>    "sources": [</a:t>
            </a:r>
          </a:p>
          <a:p xmlns:a="http://schemas.openxmlformats.org/drawingml/2006/main">
            <a:r>
              <a:t>      "S09"</a:t>
            </a:r>
          </a:p>
          <a:p xmlns:a="http://schemas.openxmlformats.org/drawingml/2006/main">
            <a:r>
              <a:t>    ],</a:t>
            </a:r>
          </a:p>
          <a:p xmlns:a="http://schemas.openxmlformats.org/drawingml/2006/main">
            <a:r>
              <a:t>    "keywords": [</a:t>
            </a:r>
          </a:p>
          <a:p xmlns:a="http://schemas.openxmlformats.org/drawingml/2006/main">
            <a:r>
              <a:t>      "미래 모빌리티",</a:t>
            </a:r>
          </a:p>
          <a:p xmlns:a="http://schemas.openxmlformats.org/drawingml/2006/main">
            <a:r>
              <a:t>      "사고",</a:t>
            </a:r>
          </a:p>
          <a:p xmlns:a="http://schemas.openxmlformats.org/drawingml/2006/main">
            <a:r>
              <a:t>      "실증",</a:t>
            </a:r>
          </a:p>
          <a:p xmlns:a="http://schemas.openxmlformats.org/drawingml/2006/main">
            <a:r>
              <a:t>      "안전보고"</a:t>
            </a:r>
          </a:p>
          <a:p xmlns:a="http://schemas.openxmlformats.org/drawingml/2006/main">
            <a:r>
              <a:t>    ],</a:t>
            </a:r>
          </a:p>
          <a:p xmlns:a="http://schemas.openxmlformats.org/drawingml/2006/main">
            <a:r>
              <a:t>    "fact": "충돌 후 상황을 빠뜨린 사고보고에 대한 NHTSA 시정 명령 및 강화된 보고·감독",</a:t>
            </a:r>
          </a:p>
          <a:p xmlns:a="http://schemas.openxmlformats.org/drawingml/2006/main">
            <a:r>
              <a:t>    "limit": "보고 완전성·안전 거버넌스 문제 · 사고 원인을 LLM 오류로 단정 불가",</a:t>
            </a:r>
          </a:p>
          <a:p xmlns:a="http://schemas.openxmlformats.org/drawingml/2006/main">
            <a:r>
              <a:t>    "flow": [</a:t>
            </a:r>
          </a:p>
          <a:p xmlns:a="http://schemas.openxmlformats.org/drawingml/2006/main">
            <a:r>
              <a:t>      "사고 원시 증거",</a:t>
            </a:r>
          </a:p>
          <a:p xmlns:a="http://schemas.openxmlformats.org/drawingml/2006/main">
            <a:r>
              <a:t>      "사건 타임라인",</a:t>
            </a:r>
          </a:p>
          <a:p xmlns:a="http://schemas.openxmlformats.org/drawingml/2006/main">
            <a:r>
              <a:t>      "보고서 작성",</a:t>
            </a:r>
          </a:p>
          <a:p xmlns:a="http://schemas.openxmlformats.org/drawingml/2006/main">
            <a:r>
              <a:t>      "감독기관 보고"</a:t>
            </a:r>
          </a:p>
          <a:p xmlns:a="http://schemas.openxmlformats.org/drawingml/2006/main">
            <a:r>
              <a:t>    ],</a:t>
            </a:r>
          </a:p>
          <a:p xmlns:a="http://schemas.openxmlformats.org/drawingml/2006/main">
            <a:r>
              <a:t>    "flowBasis": "공개 시정 내용 기반 보고 흐름 재구성",</a:t>
            </a:r>
          </a:p>
          <a:p xmlns:a="http://schemas.openxmlformats.org/drawingml/2006/main">
            <a:r>
              <a:t>    "lesson":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"증거 무결성 / 필수 사건 체크 / 누락 경고 / 검토·승인 이력",</a:t>
            </a:r>
          </a:p>
          <a:p xmlns:a="http://schemas.openxmlformats.org/drawingml/2006/main">
            <a:r>
              <a:t>    "test": "누락 사건·충돌 시각 주입 후 탐지 및 승인 없이 전송 차단",</a:t>
            </a:r>
          </a:p>
          <a:p xmlns:a="http://schemas.openxmlformats.org/drawingml/2006/main">
            <a:r>
              <a:t>    "metric": "필수 사건 재현율 / 검토 누락률"</a:t>
            </a:r>
          </a:p>
          <a:p xmlns:a="http://schemas.openxmlformats.org/drawingml/2006/main">
            <a:r>
              <a:t>  },</a:t>
            </a:r>
          </a:p>
          <a:p xmlns:a="http://schemas.openxmlformats.org/drawingml/2006/main">
            <a:r>
              <a:t>  "design": {</a:t>
            </a:r>
          </a:p>
          <a:p xmlns:a="http://schemas.openxmlformats.org/drawingml/2006/main">
            <a:r>
              <a:t>    "id": "AX08",</a:t>
            </a:r>
          </a:p>
          <a:p xmlns:a="http://schemas.openxmlformats.org/drawingml/2006/main">
            <a:r>
              <a:t>    "canonicalId": "AX08",</a:t>
            </a:r>
          </a:p>
          <a:p xmlns:a="http://schemas.openxmlformats.org/drawingml/2006/main">
            <a:r>
              <a:t>    "purpose": "사고보고의 원시 증거 누락 방지",</a:t>
            </a:r>
          </a:p>
          <a:p xmlns:a="http://schemas.openxmlformats.org/drawingml/2006/main">
            <a:r>
              <a:t>    "users": "실증 운영자·사고 조사자·감독기관",</a:t>
            </a:r>
          </a:p>
          <a:p xmlns:a="http://schemas.openxmlformats.org/drawingml/2006/main">
            <a:r>
              <a:t>    "scope": [</a:t>
            </a:r>
          </a:p>
          <a:p xmlns:a="http://schemas.openxmlformats.org/drawingml/2006/main">
            <a:r>
              <a:t>      "사건 식별",</a:t>
            </a:r>
          </a:p>
          <a:p xmlns:a="http://schemas.openxmlformats.org/drawingml/2006/main">
            <a:r>
              <a:t>      "시간순 증거",</a:t>
            </a:r>
          </a:p>
          <a:p xmlns:a="http://schemas.openxmlformats.org/drawingml/2006/main">
            <a:r>
              <a:t>      "보고 완전성"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"사고 영상·로그",</a:t>
            </a:r>
          </a:p>
          <a:p xmlns:a="http://schemas.openxmlformats.org/drawingml/2006/main">
            <a:r>
              <a:t>        "detail": "사고 ID와 보고 대상 기간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"사건 식별 / 시간순 증거 / 보고 완전성",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"타임라인·보고서 구성",</a:t>
            </a:r>
          </a:p>
          <a:p xmlns:a="http://schemas.openxmlformats.org/drawingml/2006/main">
            <a:r>
              <a:t>        "detail": "시각별 사건 재구성과 필수 항목 대사",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"감독기관·보고 담당",</a:t>
            </a:r>
          </a:p>
          <a:p xmlns:a="http://schemas.openxmlformats.org/drawingml/2006/main">
            <a:r>
              <a:t>        "detail": "작성자 검토와 승인자 확인 후 공식 제출",</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"원시 증거·보고 판본",</a:t>
            </a:r>
          </a:p>
          <a:p xmlns:a="http://schemas.openxmlformats.org/drawingml/2006/main">
            <a:r>
              <a:t>        "detail": "센서·영상·보고 원본의 시점·버전 보존",</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"추가 발견 증거의 보완 보고·수정 이력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"사고 원시 증거",</a:t>
            </a:r>
          </a:p>
          <a:p xmlns:a="http://schemas.openxmlformats.org/drawingml/2006/main">
            <a:r>
              <a:t>        "input": "사고 ID와 보고 대상 기간 지정",</a:t>
            </a:r>
          </a:p>
          <a:p xmlns:a="http://schemas.openxmlformats.org/drawingml/2006/main">
            <a:r>
              <a:t>        "process": "센서·영상·보고 원본의 시점·버전 보존",</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"title": "사건 타임라인",</a:t>
            </a:r>
          </a:p>
          <a:p xmlns:a="http://schemas.openxmlformats.org/drawingml/2006/main">
            <a:r>
              <a:t>        "input": "시각별 원시 증거",</a:t>
            </a:r>
          </a:p>
          <a:p xmlns:a="http://schemas.openxmlformats.org/drawingml/2006/main">
            <a:r>
              <a:t>        "process": "시각별 사건 재구성과 필수 항목 대사",</a:t>
            </a:r>
          </a:p>
          <a:p xmlns:a="http://schemas.openxmlformats.org/drawingml/2006/main">
            <a:r>
              <a:t>        "output": "충돌 전후 사건"</a:t>
            </a:r>
          </a:p>
          <a:p xmlns:a="http://schemas.openxmlformats.org/drawingml/2006/main">
            <a:r>
              <a:t>      },</a:t>
            </a:r>
          </a:p>
          <a:p xmlns:a="http://schemas.openxmlformats.org/drawingml/2006/main">
            <a:r>
              <a:t>      {</a:t>
            </a:r>
          </a:p>
          <a:p xmlns:a="http://schemas.openxmlformats.org/drawingml/2006/main">
            <a:r>
              <a:t>        "title": "보고서 작성",</a:t>
            </a:r>
          </a:p>
          <a:p xmlns:a="http://schemas.openxmlformats.org/drawingml/2006/main">
            <a:r>
              <a:t>        "input": "충돌 전후 사건",</a:t>
            </a:r>
          </a:p>
          <a:p xmlns:a="http://schemas.openxmlformats.org/drawingml/2006/main">
            <a:r>
              <a:t>        "process": "충돌 전·중·후 증거의 완전성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"title": "감독기관 보고",</a:t>
            </a:r>
          </a:p>
          <a:p xmlns:a="http://schemas.openxmlformats.org/drawingml/2006/main">
            <a:r>
              <a:t>        "input": "필수 보고 항목",</a:t>
            </a:r>
          </a:p>
          <a:p xmlns:a="http://schemas.openxmlformats.org/drawingml/2006/main">
            <a:r>
              <a:t>        "process":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"사고 발생 전후 전체 이벤트를 보고 항목에 연결",</a:t>
            </a:r>
          </a:p>
          <a:p xmlns:a="http://schemas.openxmlformats.org/drawingml/2006/main">
            <a:r>
              <a:t>      "exception": "충돌 이후 이벤트 삭제·영상과 로그 시각 충돌",</a:t>
            </a:r>
          </a:p>
          <a:p xmlns:a="http://schemas.openxmlformats.org/drawingml/2006/main">
            <a:r>
              <a:t>      "evidence": "원시 증거별 보고 포함 여부와 누락 경고·승인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"실증 운영자·사고 조사자·감독기관",</a:t>
            </a:r>
          </a:p>
          <a:p xmlns:a="http://schemas.openxmlformats.org/drawingml/2006/main">
            <a:r>
              <a:t>          "processing": "사고 ID와 보고 대상 기간 지정",</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"원시 증거·보고 판본",</a:t>
            </a:r>
          </a:p>
          <a:p xmlns:a="http://schemas.openxmlformats.org/drawingml/2006/main">
            <a:r>
              <a:t>          "processing": "센서·영상·보고 원본의 시점·버전 보존",</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"시각별 원시 증거",</a:t>
            </a:r>
          </a:p>
          <a:p xmlns:a="http://schemas.openxmlformats.org/drawingml/2006/main">
            <a:r>
              <a:t>          "processing": "시각별 사건 재구성과 필수 항목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"필수 보고 항목",</a:t>
            </a:r>
          </a:p>
          <a:p xmlns:a="http://schemas.openxmlformats.org/drawingml/2006/main">
            <a:r>
              <a:t>          "processing":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"추가 발견 증거의 보완 보고·수정 이력 추적",</a:t>
            </a:r>
          </a:p>
          <a:p xmlns:a="http://schemas.openxmlformats.org/drawingml/2006/main">
            <a:r>
              <a:t>          "output": "원시 증거별 보고 포함 여부와 누락 경고·승인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"추가 발견 증거의 보완 보고·수정 이력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"S09",</a:t>
            </a:r>
          </a:p>
          <a:p xmlns:a="http://schemas.openxmlformats.org/drawingml/2006/main">
            <a:r>
              <a:t>        "title": "NHTSA · Cruise 사고보고 시정 명령",</a:t>
            </a:r>
          </a:p>
          <a:p xmlns:a="http://schemas.openxmlformats.org/drawingml/2006/main">
            <a:r>
              <a:t>        "url": "https://www.nhtsa.gov/press-releases/consent-order-cruise-crash-reporting",</a:t>
            </a:r>
          </a:p>
          <a:p xmlns:a="http://schemas.openxmlformats.org/drawingml/2006/main">
            <a:r>
              <a:t>        "published": "2024-09-30",</a:t>
            </a:r>
          </a:p>
          <a:p xmlns:a="http://schemas.openxmlformats.org/drawingml/2006/main">
            <a:r>
              <a:t>        "level": "감독기관 시정 명령",</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"sourceDetail": null,</a:t>
            </a:r>
          </a:p>
          <a:p xmlns:a="http://schemas.openxmlformats.org/drawingml/2006/main">
            <a:r>
              <a:t>    "narrative": [</a:t>
            </a:r>
          </a:p>
          <a:p xmlns:a="http://schemas.openxmlformats.org/drawingml/2006/main">
            <a:r>
              <a:t>      "자율주행 사고의 원시 증거와 감독기관 보고 사이에서 누락이 발생한 시정 사례. 모델의 주행 성능과 별개로 사고 전후 정보를 완전하게 보고하는 운영 책임이 주요 쟁점.",</a:t>
            </a:r>
          </a:p>
          <a:p xmlns:a="http://schemas.openxmlformats.org/drawingml/2006/main">
            <a:r>
              <a:t>      "영상·센서·이벤트 로그를 사고 ID와 시간축으로 묶고 필수 보고 항목과 대조하는 CCK 설계. 요약 보고서를 만들더라도 원본 증거·작성 판본·승인자·추가 보완 이력을 함께 유지하는 구조.",</a:t>
            </a:r>
          </a:p>
          <a:p xmlns:a="http://schemas.openxmlformats.org/drawingml/2006/main">
            <a:r>
              <a:t>      "TS 사고조사 지원에서 자동 요약의 편의보다 증거 누락을 우선 평가할 근거. 충돌 전·중·후 자료와 수정본을 섞은 시험으로 사건 재구성, 빠진 항목 경고, 제출본 추적을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"사고보고 접수",</a:t>
            </a:r>
          </a:p>
          <a:p xmlns:a="http://schemas.openxmlformats.org/drawingml/2006/main">
            <a:r>
              <a:t>          "layer": "이용 접점",</a:t>
            </a:r>
          </a:p>
          <a:p xmlns:a="http://schemas.openxmlformats.org/drawingml/2006/main">
            <a:r>
              <a:t>          "detail": "실증 운영자·사고 조사자·감독기관",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"사고 ID·기간",</a:t>
            </a:r>
          </a:p>
          <a:p xmlns:a="http://schemas.openxmlformats.org/drawingml/2006/main">
            <a:r>
              <a:t>          "layer": "업무 문맥",</a:t>
            </a:r>
          </a:p>
          <a:p xmlns:a="http://schemas.openxmlformats.org/drawingml/2006/main">
            <a:r>
              <a:t>          "detail": "사고 ID와 보고 대상 기간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"영상·로그 조회",</a:t>
            </a:r>
          </a:p>
          <a:p xmlns:a="http://schemas.openxmlformats.org/drawingml/2006/main">
            <a:r>
              <a:t>          "layer": "자료 조회",</a:t>
            </a:r>
          </a:p>
          <a:p xmlns:a="http://schemas.openxmlformats.org/drawingml/2006/main">
            <a:r>
              <a:t>          "detail": "시각별 원시 증거",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"시각별 사건 재구성",</a:t>
            </a:r>
          </a:p>
          <a:p xmlns:a="http://schemas.openxmlformats.org/drawingml/2006/main">
            <a:r>
              <a:t>          "layer": "핵심 처리",</a:t>
            </a:r>
          </a:p>
          <a:p xmlns:a="http://schemas.openxmlformats.org/drawingml/2006/main">
            <a:r>
              <a:t>          "detail": "시각별 사건 재구성과 필수 항목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"필수 항목 대사",</a:t>
            </a:r>
          </a:p>
          <a:p xmlns:a="http://schemas.openxmlformats.org/drawingml/2006/main">
            <a:r>
              <a:t>          "layer": "결과 검증",</a:t>
            </a:r>
          </a:p>
          <a:p xmlns:a="http://schemas.openxmlformats.org/drawingml/2006/main">
            <a:r>
              <a:t>          "detail": "충돌 전·중·후 증거의 완전성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"작성·승인자 확인",</a:t>
            </a:r>
          </a:p>
          <a:p xmlns:a="http://schemas.openxmlformats.org/drawingml/2006/main">
            <a:r>
              <a:t>          "layer": "사람 확인",</a:t>
            </a:r>
          </a:p>
          <a:p xmlns:a="http://schemas.openxmlformats.org/drawingml/2006/main">
            <a:r>
              <a:t>          "detail": "사고 발생 전후 전체 이벤트를 보고 항목에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"제출·보완 보고",</a:t>
            </a:r>
          </a:p>
          <a:p xmlns:a="http://schemas.openxmlformats.org/drawingml/2006/main">
            <a:r>
              <a:t>          "layer": "업무 연결",</a:t>
            </a:r>
          </a:p>
          <a:p xmlns:a="http://schemas.openxmlformats.org/drawingml/2006/main">
            <a:r>
              <a:t>          "detail": "작성자 검토와 승인자 확인 후 공식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"누락·수정 추적",</a:t>
            </a:r>
          </a:p>
          <a:p xmlns:a="http://schemas.openxmlformats.org/drawingml/2006/main">
            <a:r>
              <a:t>          "layer": "운영 관측",</a:t>
            </a:r>
          </a:p>
          <a:p xmlns:a="http://schemas.openxmlformats.org/drawingml/2006/main">
            <a:r>
              <a:t>          "detail": "추가 발견 증거의 보완 보고·수정 이력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"원시 영상·센서",</a:t>
            </a:r>
          </a:p>
          <a:p xmlns:a="http://schemas.openxmlformats.org/drawingml/2006/main">
            <a:r>
              <a:t>          "layer": "데이터 원천",</a:t>
            </a:r>
          </a:p>
          <a:p xmlns:a="http://schemas.openxmlformats.org/drawingml/2006/main">
            <a:r>
              <a:t>          "detail": "원시 증거·보고 판본",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"시간축·판본 정합화",</a:t>
            </a:r>
          </a:p>
          <a:p xmlns:a="http://schemas.openxmlformats.org/drawingml/2006/main">
            <a:r>
              <a:t>          "layer": "준비·갱신",</a:t>
            </a:r>
          </a:p>
          <a:p xmlns:a="http://schemas.openxmlformats.org/drawingml/2006/main">
            <a:r>
              <a:t>          "detail": "센서·영상·보고 원본의 시점·버전 보존",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"증거·보고 판본",</a:t>
            </a:r>
          </a:p>
          <a:p xmlns:a="http://schemas.openxmlformats.org/drawingml/2006/main">
            <a:r>
              <a:t>          "layer": "상태·지식 저장",</a:t>
            </a:r>
          </a:p>
          <a:p xmlns:a="http://schemas.openxmlformats.org/drawingml/2006/main">
            <a:r>
              <a:t>          "detail": "원시 증거별 보고 포함 여부와 누락 경고·승인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"보존·보고 규칙",</a:t>
            </a:r>
          </a:p>
          <a:p xmlns:a="http://schemas.openxmlformats.org/drawingml/2006/main">
            <a:r>
              <a:t>          "layer": "권한·정책",</a:t>
            </a:r>
          </a:p>
          <a:p xmlns:a="http://schemas.openxmlformats.org/drawingml/2006/main">
            <a:r>
              <a:t>          "detail": "충돌 이후 이벤트 삭제·영상과 로그 시각 충돌",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"사고 원시 증거 → 사건 타임라인 → 보고서 작성 → 감독기관 보고"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"원시 증거·보고 판본",</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"충돌 전후 사건",</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"제출·보완 기록",</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"사고보고의 원시 증거 누락 방지 / 사건 식별·시간순 증거·보고 완전성",</a:t>
            </a:r>
          </a:p>
          <a:p xmlns:a="http://schemas.openxmlformats.org/drawingml/2006/main">
            <a:r>
              <a:t>        "extension": "TS 실증·사고·점검 자료의 사건 ID와 원문 시점별 근거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"충돌 이후 이벤트 삭제·영상과 로그 시각 충돌",</a:t>
            </a:r>
          </a:p>
          <a:p xmlns:a="http://schemas.openxmlformats.org/drawingml/2006/main">
            <a:r>
              <a:t>        "hold": "충돌 전·중·후 증거의 완전성 대사",</a:t>
            </a:r>
          </a:p>
          <a:p xmlns:a="http://schemas.openxmlformats.org/drawingml/2006/main">
            <a:r>
              <a:t>        "recovery": "추가 발견 증거의 보완 보고·수정 이력 추적",</a:t>
            </a:r>
          </a:p>
          <a:p xmlns:a="http://schemas.openxmlformats.org/drawingml/2006/main">
            <a:r>
              <a:t>        "evidence": "원시 증거별 보고 포함 여부와 누락 경고·승인 이력"</a:t>
            </a:r>
          </a:p>
          <a:p xmlns:a="http://schemas.openxmlformats.org/drawingml/2006/main">
            <a:r>
              <a:t>      },</a:t>
            </a:r>
          </a:p>
          <a:p xmlns:a="http://schemas.openxmlformats.org/drawingml/2006/main">
            <a:r>
              <a:t>      "data": {</a:t>
            </a:r>
          </a:p>
          <a:p xmlns:a="http://schemas.openxmlformats.org/drawingml/2006/main">
            <a:r>
              <a:t>        "source": "원시 증거·보고 판본",</a:t>
            </a:r>
          </a:p>
          <a:p xmlns:a="http://schemas.openxmlformats.org/drawingml/2006/main">
            <a:r>
              <a:t>        "prepare": "센서·영상·보고 원본의 시점·버전 보존",</a:t>
            </a:r>
          </a:p>
          <a:p xmlns:a="http://schemas.openxmlformats.org/drawingml/2006/main">
            <a:r>
              <a:t>        "output": "시각별 원시 증거",</a:t>
            </a:r>
          </a:p>
          <a:p xmlns:a="http://schemas.openxmlformats.org/drawingml/2006/main">
            <a:r>
              <a:t>        "refresh": "추가 발견 증거의 보완 보고·수정 이력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"AX08",</a:t>
            </a:r>
          </a:p>
          <a:p xmlns:a="http://schemas.openxmlformats.org/drawingml/2006/main">
            <a:r>
              <a:t>    "success": [</a:t>
            </a:r>
          </a:p>
          <a:p xmlns:a="http://schemas.openxmlformats.org/drawingml/2006/main">
            <a:r>
              <a:t>      "원시 영상과 보고 항목의 대사",</a:t>
            </a:r>
          </a:p>
          <a:p xmlns:a="http://schemas.openxmlformats.org/drawingml/2006/main">
            <a:r>
              <a:t>      "보고 책임자와 변경 이력 관리"</a:t>
            </a:r>
          </a:p>
          <a:p xmlns:a="http://schemas.openxmlformats.org/drawingml/2006/main">
            <a:r>
              <a:t>    ],</a:t>
            </a:r>
          </a:p>
          <a:p xmlns:a="http://schemas.openxmlformats.org/drawingml/2006/main">
            <a:r>
              <a:t>    "risks": [</a:t>
            </a:r>
          </a:p>
          <a:p xmlns:a="http://schemas.openxmlformats.org/drawingml/2006/main">
            <a:r>
              <a:t>      "사고 후 상황의 보고 누락",</a:t>
            </a:r>
          </a:p>
          <a:p xmlns:a="http://schemas.openxmlformats.org/drawingml/2006/main">
            <a:r>
              <a:t>      "요약본만으로 사고 전체를 판단하는 위험"</a:t>
            </a:r>
          </a:p>
          <a:p xmlns:a="http://schemas.openxmlformats.org/drawingml/2006/main">
            <a:r>
              <a:t>    ],</a:t>
            </a:r>
          </a:p>
          <a:p xmlns:a="http://schemas.openxmlformats.org/drawingml/2006/main">
            <a:r>
              <a:t>    "architecture": [</a:t>
            </a:r>
          </a:p>
          <a:p xmlns:a="http://schemas.openxmlformats.org/drawingml/2006/main">
            <a:r>
              <a:t>      "사고 영상·로그",</a:t>
            </a:r>
          </a:p>
          <a:p xmlns:a="http://schemas.openxmlformats.org/drawingml/2006/main">
            <a:r>
              <a:t>      "타임라인·보고서 구성",</a:t>
            </a:r>
          </a:p>
          <a:p xmlns:a="http://schemas.openxmlformats.org/drawingml/2006/main">
            <a:r>
              <a:t>      "원시 증거·보고 판본",</a:t>
            </a:r>
          </a:p>
          <a:p xmlns:a="http://schemas.openxmlformats.org/drawingml/2006/main">
            <a:r>
              <a:t>      "감독기관·보고 담당"</a:t>
            </a:r>
          </a:p>
          <a:p xmlns:a="http://schemas.openxmlformats.org/drawingml/2006/main">
            <a:r>
              <a:t>    ],</a:t>
            </a:r>
          </a:p>
          <a:p xmlns:a="http://schemas.openxmlformats.org/drawingml/2006/main">
            <a:r>
              <a:t>    "transfers": [</a:t>
            </a:r>
          </a:p>
          <a:p xmlns:a="http://schemas.openxmlformats.org/drawingml/2006/main">
            <a:r>
              <a:t>      "시각별 원시 증거",</a:t>
            </a:r>
          </a:p>
          <a:p xmlns:a="http://schemas.openxmlformats.org/drawingml/2006/main">
            <a:r>
              <a:t>      "충돌 전후 사건",</a:t>
            </a:r>
          </a:p>
          <a:p xmlns:a="http://schemas.openxmlformats.org/drawingml/2006/main">
            <a:r>
              <a:t>      "필수 보고 항목",</a:t>
            </a:r>
          </a:p>
          <a:p xmlns:a="http://schemas.openxmlformats.org/drawingml/2006/main">
            <a:r>
              <a:t>      "제출·보완 기록"</a:t>
            </a:r>
          </a:p>
          <a:p xmlns:a="http://schemas.openxmlformats.org/drawingml/2006/main">
            <a:r>
              <a:t>    ],</a:t>
            </a:r>
          </a:p>
          <a:p xmlns:a="http://schemas.openxmlformats.org/drawingml/2006/main">
            <a:r>
              <a:t>    "control": "충돌 전·중·후 증거의 완전성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NHTSA · Cruise 사고보고 시정 명령 https://www.nhtsa.gov/press-releases/consent-order-cruise-crash-reporting</a:t>
            </a:r>
          </a:p>
          <a:p xmlns:a="http://schemas.openxmlformats.org/drawingml/2006/main">
            <a:r>
              <a:t>홈페이지 https://heen1987-ops.github.io/TS-business-Plan-001/index.html?view=casebook&amp;case=AX08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"AX09",</a:t>
            </a:r>
          </a:p>
          <a:p xmlns:a="http://schemas.openxmlformats.org/drawingml/2006/main">
            <a:r>
              <a:t>    "title": "Morgan Stanley 지식지원",</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"전문가 업무·평가셋",</a:t>
            </a:r>
          </a:p>
          <a:p xmlns:a="http://schemas.openxmlformats.org/drawingml/2006/main">
            <a:r>
              <a:t>    "period": "출처 열람 2026.10",</a:t>
            </a:r>
          </a:p>
          <a:p xmlns:a="http://schemas.openxmlformats.org/drawingml/2006/main">
            <a:r>
              <a:t>    "sources": [</a:t>
            </a:r>
          </a:p>
          <a:p xmlns:a="http://schemas.openxmlformats.org/drawingml/2006/main">
            <a:r>
              <a:t>      "S10"</a:t>
            </a:r>
          </a:p>
          <a:p xmlns:a="http://schemas.openxmlformats.org/drawingml/2006/main">
            <a:r>
              <a:t>    ],</a:t>
            </a:r>
          </a:p>
          <a:p xmlns:a="http://schemas.openxmlformats.org/drawingml/2006/main">
            <a:r>
              <a:t>    "keywords": [</a:t>
            </a:r>
          </a:p>
          <a:p xmlns:a="http://schemas.openxmlformats.org/drawingml/2006/main">
            <a:r>
              <a:t>      "전문지식",</a:t>
            </a:r>
          </a:p>
          <a:p xmlns:a="http://schemas.openxmlformats.org/drawingml/2006/main">
            <a:r>
              <a:t>      "문서검색",</a:t>
            </a:r>
          </a:p>
          <a:p xmlns:a="http://schemas.openxmlformats.org/drawingml/2006/main">
            <a:r>
              <a:t>      "평가",</a:t>
            </a:r>
          </a:p>
          <a:p xmlns:a="http://schemas.openxmlformats.org/drawingml/2006/main">
            <a:r>
              <a:t>      "업무 품질"</a:t>
            </a:r>
          </a:p>
          <a:p xmlns:a="http://schemas.openxmlformats.org/drawingml/2006/main">
            <a:r>
              <a:t>    ],</a:t>
            </a:r>
          </a:p>
          <a:p xmlns:a="http://schemas.openxmlformats.org/drawingml/2006/main">
            <a:r>
              <a:t>    "fact": "공급사 고객사례에서 자문팀의 98% 초과 활용과 전문가 평가 기반 개선 체계 보고",</a:t>
            </a:r>
          </a:p>
          <a:p xmlns:a="http://schemas.openxmlformats.org/drawingml/2006/main">
            <a:r>
              <a:t>    "limit": "자문팀 기준 공급사 발표 · 생산성 인과효과·TS 정확도 근거와 구분",</a:t>
            </a:r>
          </a:p>
          <a:p xmlns:a="http://schemas.openxmlformats.org/drawingml/2006/main">
            <a:r>
              <a:t>    "flow": [</a:t>
            </a:r>
          </a:p>
          <a:p xmlns:a="http://schemas.openxmlformats.org/drawingml/2006/main">
            <a:r>
              <a:t>      "전문가 질문",</a:t>
            </a:r>
          </a:p>
          <a:p xmlns:a="http://schemas.openxmlformats.org/drawingml/2006/main">
            <a:r>
              <a:t>      "사내 지식 검색",</a:t>
            </a:r>
          </a:p>
          <a:p xmlns:a="http://schemas.openxmlformats.org/drawingml/2006/main">
            <a:r>
              <a:t>      "근거 응답",</a:t>
            </a:r>
          </a:p>
          <a:p xmlns:a="http://schemas.openxmlformats.org/drawingml/2006/main">
            <a:r>
              <a:t>      "전문가 평가·개선"</a:t>
            </a:r>
          </a:p>
          <a:p xmlns:a="http://schemas.openxmlformats.org/drawingml/2006/main">
            <a:r>
              <a:t>    ],</a:t>
            </a:r>
          </a:p>
          <a:p xmlns:a="http://schemas.openxmlformats.org/drawingml/2006/main">
            <a:r>
              <a:t>    "flowBasis": "고객사례의 검색·평가 설명 기반 재구성",</a:t>
            </a:r>
          </a:p>
          <a:p xmlns:a="http://schemas.openxmlformats.org/drawingml/2006/main">
            <a:r>
              <a:t>    "lesson": "업무 전문가 정답셋과 변경 시 회귀 평가",</a:t>
            </a:r>
          </a:p>
          <a:p xmlns:a="http://schemas.openxmlformats.org/drawingml/2006/main">
            <a:r>
              <a:t>    "local": "부서별 규정·기술 기준·서식에 근거 위치와 판본을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평가셋 / 근거 위치 / 답변 보류 / 변경 영향 재평가",</a:t>
            </a:r>
          </a:p>
          <a:p xmlns:a="http://schemas.openxmlformats.org/drawingml/2006/main">
            <a:r>
              <a:t>    "test": "숨긴 평가셋의 근거 일치·판본 일치·거부율 평가",</a:t>
            </a:r>
          </a:p>
          <a:p xmlns:a="http://schemas.openxmlformats.org/drawingml/2006/main">
            <a:r>
              <a:t>    "metric": "근거 정확도 / 재작업률 / 지식 탐색시간"</a:t>
            </a:r>
          </a:p>
          <a:p xmlns:a="http://schemas.openxmlformats.org/drawingml/2006/main">
            <a:r>
              <a:t>  },</a:t>
            </a:r>
          </a:p>
          <a:p xmlns:a="http://schemas.openxmlformats.org/drawingml/2006/main">
            <a:r>
              <a:t>  "design": {</a:t>
            </a:r>
          </a:p>
          <a:p xmlns:a="http://schemas.openxmlformats.org/drawingml/2006/main">
            <a:r>
              <a:t>    "id": "AX09",</a:t>
            </a:r>
          </a:p>
          <a:p xmlns:a="http://schemas.openxmlformats.org/drawingml/2006/main">
            <a:r>
              <a:t>    "canonicalId": "AX09",</a:t>
            </a:r>
          </a:p>
          <a:p xmlns:a="http://schemas.openxmlformats.org/drawingml/2006/main">
            <a:r>
              <a:t>    "purpose": "전문가 지식 탐색과 정답 평가의 결합",</a:t>
            </a:r>
          </a:p>
          <a:p xmlns:a="http://schemas.openxmlformats.org/drawingml/2006/main">
            <a:r>
              <a:t>    "users": "금융 자문가·지식관리자",</a:t>
            </a:r>
          </a:p>
          <a:p xmlns:a="http://schemas.openxmlformats.org/drawingml/2006/main">
            <a:r>
              <a:t>    "scope": [</a:t>
            </a:r>
          </a:p>
          <a:p xmlns:a="http://schemas.openxmlformats.org/drawingml/2006/main">
            <a:r>
              <a:t>      "지식 검색",</a:t>
            </a:r>
          </a:p>
          <a:p xmlns:a="http://schemas.openxmlformats.org/drawingml/2006/main">
            <a:r>
              <a:t>      "근거 응답",</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"자문가 질문",</a:t>
            </a:r>
          </a:p>
          <a:p xmlns:a="http://schemas.openxmlformats.org/drawingml/2006/main">
            <a:r>
              <a:t>        "detail": "질문의 업무 범위·자료 접근조건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"지식 검색 / 근거 응답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"지식 검색·근거 응답",</a:t>
            </a:r>
          </a:p>
          <a:p xmlns:a="http://schemas.openxmlformats.org/drawingml/2006/main">
            <a:r>
              <a:t>        "detail": "관련 문서 검색과 근거 응답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"전문가 검토",</a:t>
            </a:r>
          </a:p>
          <a:p xmlns:a="http://schemas.openxmlformats.org/drawingml/2006/main">
            <a:r>
              <a:t>        "detail": "자문가가 근거를 검토한 후 업무에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지식·평가셋",</a:t>
            </a:r>
          </a:p>
          <a:p xmlns:a="http://schemas.openxmlformats.org/drawingml/2006/main">
            <a:r>
              <a:t>        "detail": "승인 지식·원문 위치·판본별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"전문가 정답셋과 오류 유형별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"전문가 질문",</a:t>
            </a:r>
          </a:p>
          <a:p xmlns:a="http://schemas.openxmlformats.org/drawingml/2006/main">
            <a:r>
              <a:t>        "input": "질문의 업무 범위·자료 접근조건 확인",</a:t>
            </a:r>
          </a:p>
          <a:p xmlns:a="http://schemas.openxmlformats.org/drawingml/2006/main">
            <a:r>
              <a:t>        "process": "승인 지식·원문 위치·판본별 색인 구성",</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"title": "사내 지식 검색",</a:t>
            </a:r>
          </a:p>
          <a:p xmlns:a="http://schemas.openxmlformats.org/drawingml/2006/main">
            <a:r>
              <a:t>        "input": "질문·업무 목적",</a:t>
            </a:r>
          </a:p>
          <a:p xmlns:a="http://schemas.openxmlformats.org/drawingml/2006/main">
            <a:r>
              <a:t>        "process": "관련 문서 검색과 근거 응답 생성",</a:t>
            </a:r>
          </a:p>
          <a:p xmlns:a="http://schemas.openxmlformats.org/drawingml/2006/main">
            <a:r>
              <a:t>        "output": "관련 문서"</a:t>
            </a:r>
          </a:p>
          <a:p xmlns:a="http://schemas.openxmlformats.org/drawingml/2006/main">
            <a:r>
              <a:t>      },</a:t>
            </a:r>
          </a:p>
          <a:p xmlns:a="http://schemas.openxmlformats.org/drawingml/2006/main">
            <a:r>
              <a:t>      {</a:t>
            </a:r>
          </a:p>
          <a:p xmlns:a="http://schemas.openxmlformats.org/drawingml/2006/main">
            <a:r>
              <a:t>        "title": "근거 응답",</a:t>
            </a:r>
          </a:p>
          <a:p xmlns:a="http://schemas.openxmlformats.org/drawingml/2006/main">
            <a:r>
              <a:t>        "input": "관련 문서",</a:t>
            </a:r>
          </a:p>
          <a:p xmlns:a="http://schemas.openxmlformats.org/drawingml/2006/main">
            <a:r>
              <a:t>        "process": "문서 개정 후 숨긴 평가셋 재검증",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"전문가 평가·개선",</a:t>
            </a:r>
          </a:p>
          <a:p xmlns:a="http://schemas.openxmlformats.org/drawingml/2006/main">
            <a:r>
              <a:t>        "input": "근거 답변",</a:t>
            </a:r>
          </a:p>
          <a:p xmlns:a="http://schemas.openxmlformats.org/drawingml/2006/main">
            <a:r>
              <a:t>        "process":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"전문가가 규정 질의의 답변·인용 원문·판본을 평가",</a:t>
            </a:r>
          </a:p>
          <a:p xmlns:a="http://schemas.openxmlformats.org/drawingml/2006/main">
            <a:r>
              <a:t>      "exception": "구버전 문서·근거 없는 질문·서로 다른 상품 조건",</a:t>
            </a:r>
          </a:p>
          <a:p xmlns:a="http://schemas.openxmlformats.org/drawingml/2006/main">
            <a:r>
              <a:t>      "evidence": "전문가 정답표와 근거 정확도·보류 적정성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"금융 자문가·지식관리자",</a:t>
            </a:r>
          </a:p>
          <a:p xmlns:a="http://schemas.openxmlformats.org/drawingml/2006/main">
            <a:r>
              <a:t>          "processing": "질문의 업무 범위·자료 접근조건 확인",</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지식·평가셋",</a:t>
            </a:r>
          </a:p>
          <a:p xmlns:a="http://schemas.openxmlformats.org/drawingml/2006/main">
            <a:r>
              <a:t>          "processing": "승인 지식·원문 위치·판본별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목적",</a:t>
            </a:r>
          </a:p>
          <a:p xmlns:a="http://schemas.openxmlformats.org/drawingml/2006/main">
            <a:r>
              <a:t>          "processing": "관련 문서 검색과 근거 응답 생성",</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"전문가 정답셋과 오류 유형별 회귀 평가",</a:t>
            </a:r>
          </a:p>
          <a:p xmlns:a="http://schemas.openxmlformats.org/drawingml/2006/main">
            <a:r>
              <a:t>          "output": "전문가 정답표와 근거 정확도·보류 적정성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"전문가 정답셋과 오류 유형별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"S10",</a:t>
            </a:r>
          </a:p>
          <a:p xmlns:a="http://schemas.openxmlformats.org/drawingml/2006/main">
            <a:r>
              <a:t>        "title": "OpenAI · Morgan Stanley 평가·도입 사례",</a:t>
            </a:r>
          </a:p>
          <a:p xmlns:a="http://schemas.openxmlformats.org/drawingml/2006/main">
            <a:r>
              <a:t>        "url": "https://openai.com/index/morgan-stanley/",</a:t>
            </a:r>
          </a:p>
          <a:p xmlns:a="http://schemas.openxmlformats.org/drawingml/2006/main">
            <a:r>
              <a:t>        "published": "게시일 미표시",</a:t>
            </a:r>
          </a:p>
          <a:p xmlns:a="http://schemas.openxmlformats.org/drawingml/2006/main">
            <a:r>
              <a:t>        "level": "공급사 고객사례",</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"업무 전문가 정답셋과 변경 시 회귀 평가",</a:t>
            </a:r>
          </a:p>
          <a:p xmlns:a="http://schemas.openxmlformats.org/drawingml/2006/main">
            <a:r>
              <a:t>    "local": "부서별 규정·기술 기준·서식에 근거 위치와 판본을 연결",</a:t>
            </a:r>
          </a:p>
          <a:p xmlns:a="http://schemas.openxmlformats.org/drawingml/2006/main">
            <a:r>
              <a:t>    "sourceDetail": null,</a:t>
            </a:r>
          </a:p>
          <a:p xmlns:a="http://schemas.openxmlformats.org/drawingml/2006/main">
            <a:r>
              <a:t>    "narrative": [</a:t>
            </a:r>
          </a:p>
          <a:p xmlns:a="http://schemas.openxmlformats.org/drawingml/2006/main">
            <a:r>
              <a:t>      "금융 자문가가 승인된 사내 전문지식을 검색하고 근거 있는 답변을 얻도록 한 사례. 직원의 문서 탐색을 지원하면서 전문가 평가를 품질 개선에 연결한 접근.",</a:t>
            </a:r>
          </a:p>
          <a:p xmlns:a="http://schemas.openxmlformats.org/drawingml/2006/main">
            <a:r>
              <a:t>      "업무 질문의 자료 범위를 확인하고 관련 문서·원문 위치를 검색한 뒤 자문가가 답변을 검토하는 흐름. TS 적용 시 검사·인증·안전 규정별 전문가 정답셋과 문서 개정 이력을 연결하는 설계.",</a:t>
            </a:r>
          </a:p>
          <a:p xmlns:a="http://schemas.openxmlformats.org/drawingml/2006/main">
            <a:r>
              <a:t>      "활용자 수·도입 확대와 답변의 정답률을 구분해 평가할 필요. 숨긴 평가셋, 근거 조문 일치, 개정 후 회귀시험, 전문가 수정시간을 함께 수집하는 CCK 벤치마킹."</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"자문가 질문",</a:t>
            </a:r>
          </a:p>
          <a:p xmlns:a="http://schemas.openxmlformats.org/drawingml/2006/main">
            <a:r>
              <a:t>          "layer": "이용 접점",</a:t>
            </a:r>
          </a:p>
          <a:p xmlns:a="http://schemas.openxmlformats.org/drawingml/2006/main">
            <a:r>
              <a:t>          "detail": "금융 자문가·지식관리자",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"질의·접근 문맥",</a:t>
            </a:r>
          </a:p>
          <a:p xmlns:a="http://schemas.openxmlformats.org/drawingml/2006/main">
            <a:r>
              <a:t>          "layer": "업무 문맥",</a:t>
            </a:r>
          </a:p>
          <a:p xmlns:a="http://schemas.openxmlformats.org/drawingml/2006/main">
            <a:r>
              <a:t>          "detail": "질문의 업무 범위·자료 접근조건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문서 검색",</a:t>
            </a:r>
          </a:p>
          <a:p xmlns:a="http://schemas.openxmlformats.org/drawingml/2006/main">
            <a:r>
              <a:t>          "layer": "자료 조회",</a:t>
            </a:r>
          </a:p>
          <a:p xmlns:a="http://schemas.openxmlformats.org/drawingml/2006/main">
            <a:r>
              <a:t>          "detail": "질문·업무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응답 생성",</a:t>
            </a:r>
          </a:p>
          <a:p xmlns:a="http://schemas.openxmlformats.org/drawingml/2006/main">
            <a:r>
              <a:t>          "layer": "핵심 처리",</a:t>
            </a:r>
          </a:p>
          <a:p xmlns:a="http://schemas.openxmlformats.org/drawingml/2006/main">
            <a:r>
              <a:t>          "detail": "관련 문서 검색과 근거 응답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"문서·답변 대조",</a:t>
            </a:r>
          </a:p>
          <a:p xmlns:a="http://schemas.openxmlformats.org/drawingml/2006/main">
            <a:r>
              <a:t>          "layer": "결과 검증",</a:t>
            </a:r>
          </a:p>
          <a:p xmlns:a="http://schemas.openxmlformats.org/drawingml/2006/main">
            <a:r>
              <a:t>          "detail": "문서 개정 후 숨긴 평가셋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확인",</a:t>
            </a:r>
          </a:p>
          <a:p xmlns:a="http://schemas.openxmlformats.org/drawingml/2006/main">
            <a:r>
              <a:t>          "layer": "사람 확인",</a:t>
            </a:r>
          </a:p>
          <a:p xmlns:a="http://schemas.openxmlformats.org/drawingml/2006/main">
            <a:r>
              <a:t>          "detail": "전문가가 규정 질의의 답변·인용 원문·판본을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 업무 활용",</a:t>
            </a:r>
          </a:p>
          <a:p xmlns:a="http://schemas.openxmlformats.org/drawingml/2006/main">
            <a:r>
              <a:t>          "layer": "업무 연결",</a:t>
            </a:r>
          </a:p>
          <a:p xmlns:a="http://schemas.openxmlformats.org/drawingml/2006/main">
            <a:r>
              <a:t>          "detail": "자문가가 근거를 검토한 후 업무에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"정답셋 회귀평가",</a:t>
            </a:r>
          </a:p>
          <a:p xmlns:a="http://schemas.openxmlformats.org/drawingml/2006/main">
            <a:r>
              <a:t>          "layer": "운영 관측",</a:t>
            </a:r>
          </a:p>
          <a:p xmlns:a="http://schemas.openxmlformats.org/drawingml/2006/main">
            <a:r>
              <a:t>          "detail": "전문가 정답셋과 오류 유형별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전문지식",</a:t>
            </a:r>
          </a:p>
          <a:p xmlns:a="http://schemas.openxmlformats.org/drawingml/2006/main">
            <a:r>
              <a:t>          "layer": "데이터 원천",</a:t>
            </a:r>
          </a:p>
          <a:p xmlns:a="http://schemas.openxmlformats.org/drawingml/2006/main">
            <a:r>
              <a:t>          "detail": "사내 지식·평가셋",</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 위치·판본화",</a:t>
            </a:r>
          </a:p>
          <a:p xmlns:a="http://schemas.openxmlformats.org/drawingml/2006/main">
            <a:r>
              <a:t>          "layer": "준비·갱신",</a:t>
            </a:r>
          </a:p>
          <a:p xmlns:a="http://schemas.openxmlformats.org/drawingml/2006/main">
            <a:r>
              <a:t>          "detail": "승인 지식·원문 위치·판본별 색인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"전문가 정답표와 근거 정확도·보류 적정성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"자료 접근정책",</a:t>
            </a:r>
          </a:p>
          <a:p xmlns:a="http://schemas.openxmlformats.org/drawingml/2006/main">
            <a:r>
              <a:t>          "layer": "권한·정책",</a:t>
            </a:r>
          </a:p>
          <a:p xmlns:a="http://schemas.openxmlformats.org/drawingml/2006/main">
            <a:r>
              <a:t>          "detail": "구버전 문서·근거 없는 질문·서로 다른 상품 조건",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"전문가 질문 → 사내 지식 검색 → 근거 응답 → 전문가 평가·개선"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"사내 지식·평가셋",</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"질문의 업무 범위·자료 접근조건 확인",</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정답표와 근거 정확도·보류 적정성 결과",</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문서",</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"전문가 지식 탐색과 정답 평가의 결합 / 지식 검색·근거 응답·전문가 평가",</a:t>
            </a:r>
          </a:p>
          <a:p xmlns:a="http://schemas.openxmlformats.org/drawingml/2006/main">
            <a:r>
              <a:t>        "extension": "부서별 규정·기술 기준·서식에 근거 위치와 판본을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"구버전 문서·근거 없는 질문·서로 다른 상품 조건",</a:t>
            </a:r>
          </a:p>
          <a:p xmlns:a="http://schemas.openxmlformats.org/drawingml/2006/main">
            <a:r>
              <a:t>        "hold": "문서 개정 후 숨긴 평가셋 재검증",</a:t>
            </a:r>
          </a:p>
          <a:p xmlns:a="http://schemas.openxmlformats.org/drawingml/2006/main">
            <a:r>
              <a:t>        "recovery": "전문가 정답셋과 오류 유형별 회귀 평가",</a:t>
            </a:r>
          </a:p>
          <a:p xmlns:a="http://schemas.openxmlformats.org/drawingml/2006/main">
            <a:r>
              <a:t>        "evidence": "전문가 정답표와 근거 정확도·보류 적정성 결과"</a:t>
            </a:r>
          </a:p>
          <a:p xmlns:a="http://schemas.openxmlformats.org/drawingml/2006/main">
            <a:r>
              <a:t>      },</a:t>
            </a:r>
          </a:p>
          <a:p xmlns:a="http://schemas.openxmlformats.org/drawingml/2006/main">
            <a:r>
              <a:t>      "data": {</a:t>
            </a:r>
          </a:p>
          <a:p xmlns:a="http://schemas.openxmlformats.org/drawingml/2006/main">
            <a:r>
              <a:t>        "source": "사내 지식·평가셋",</a:t>
            </a:r>
          </a:p>
          <a:p xmlns:a="http://schemas.openxmlformats.org/drawingml/2006/main">
            <a:r>
              <a:t>        "prepare": "승인 지식·원문 위치·판본별 색인 구성",</a:t>
            </a:r>
          </a:p>
          <a:p xmlns:a="http://schemas.openxmlformats.org/drawingml/2006/main">
            <a:r>
              <a:t>        "output": "질문·업무 목적",</a:t>
            </a:r>
          </a:p>
          <a:p xmlns:a="http://schemas.openxmlformats.org/drawingml/2006/main">
            <a:r>
              <a:t>        "refresh": "전문가 정답셋과 오류 유형별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"AX09",</a:t>
            </a:r>
          </a:p>
          <a:p xmlns:a="http://schemas.openxmlformats.org/drawingml/2006/main">
            <a:r>
              <a:t>    "success": [</a:t>
            </a:r>
          </a:p>
          <a:p xmlns:a="http://schemas.openxmlformats.org/drawingml/2006/main">
            <a:r>
              <a:t>      "전문가 평가셋과 지속 개선",</a:t>
            </a:r>
          </a:p>
          <a:p xmlns:a="http://schemas.openxmlformats.org/drawingml/2006/main">
            <a:r>
              <a:t>      "현업 지식을 업무 접점에서 검색"</a:t>
            </a:r>
          </a:p>
          <a:p xmlns:a="http://schemas.openxmlformats.org/drawingml/2006/main">
            <a:r>
              <a:t>    ],</a:t>
            </a:r>
          </a:p>
          <a:p xmlns:a="http://schemas.openxmlformats.org/drawingml/2006/main">
            <a:r>
              <a:t>    "risks": [</a:t>
            </a:r>
          </a:p>
          <a:p xmlns:a="http://schemas.openxmlformats.org/drawingml/2006/main">
            <a:r>
              <a:t>      "활용률과 정답률의 혼동",</a:t>
            </a:r>
          </a:p>
          <a:p xmlns:a="http://schemas.openxmlformats.org/drawingml/2006/main">
            <a:r>
              <a:t>      "자료 개정에 따른 답변 품질 저하"</a:t>
            </a:r>
          </a:p>
          <a:p xmlns:a="http://schemas.openxmlformats.org/drawingml/2006/main">
            <a:r>
              <a:t>    ],</a:t>
            </a:r>
          </a:p>
          <a:p xmlns:a="http://schemas.openxmlformats.org/drawingml/2006/main">
            <a:r>
              <a:t>    "architecture": [</a:t>
            </a:r>
          </a:p>
          <a:p xmlns:a="http://schemas.openxmlformats.org/drawingml/2006/main">
            <a:r>
              <a:t>      "자문가 질문",</a:t>
            </a:r>
          </a:p>
          <a:p xmlns:a="http://schemas.openxmlformats.org/drawingml/2006/main">
            <a:r>
              <a:t>      "지식 검색·근거 응답",</a:t>
            </a:r>
          </a:p>
          <a:p xmlns:a="http://schemas.openxmlformats.org/drawingml/2006/main">
            <a:r>
              <a:t>      "사내 지식·평가셋",</a:t>
            </a:r>
          </a:p>
          <a:p xmlns:a="http://schemas.openxmlformats.org/drawingml/2006/main">
            <a:r>
              <a:t>      "전문가 검토"</a:t>
            </a:r>
          </a:p>
          <a:p xmlns:a="http://schemas.openxmlformats.org/drawingml/2006/main">
            <a:r>
              <a:t>    ],</a:t>
            </a:r>
          </a:p>
          <a:p xmlns:a="http://schemas.openxmlformats.org/drawingml/2006/main">
            <a:r>
              <a:t>    "transfers": [</a:t>
            </a:r>
          </a:p>
          <a:p xmlns:a="http://schemas.openxmlformats.org/drawingml/2006/main">
            <a:r>
              <a:t>      "질문·업무 목적",</a:t>
            </a:r>
          </a:p>
          <a:p xmlns:a="http://schemas.openxmlformats.org/drawingml/2006/main">
            <a:r>
              <a:t>      "관련 문서",</a:t>
            </a:r>
          </a:p>
          <a:p xmlns:a="http://schemas.openxmlformats.org/drawingml/2006/main">
            <a:r>
              <a:t>      "근거 답변",</a:t>
            </a:r>
          </a:p>
          <a:p xmlns:a="http://schemas.openxmlformats.org/drawingml/2006/main">
            <a:r>
              <a:t>      "평가·수정 기록"</a:t>
            </a:r>
          </a:p>
          <a:p xmlns:a="http://schemas.openxmlformats.org/drawingml/2006/main">
            <a:r>
              <a:t>    ],</a:t>
            </a:r>
          </a:p>
          <a:p xmlns:a="http://schemas.openxmlformats.org/drawingml/2006/main">
            <a:r>
              <a:t>    "control": "문서 개정 후 숨긴 평가셋 재검증",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OpenAI · Morgan Stanley 평가·도입 사례 https://openai.com/index/morgan-stanley/</a:t>
            </a:r>
          </a:p>
          <a:p xmlns:a="http://schemas.openxmlformats.org/drawingml/2006/main">
            <a:r>
              <a:t>홈페이지 https://heen1987-ops.github.io/TS-business-Plan-001/index.html?view=casebook&amp;case=AX09</a:t>
            </a:r>
          </a:p>
          <a:p xmlns:a="http://schemas.openxmlformats.org/drawingml/2006/main">
            <a:r>
              <a:t>한계: 자문팀 기준 공급사 발표 · 생산성 인과효과·TS 정확도 근거와 구분</a:t>
            </a:r>
          </a:p>
          <a:p xmlns:a="http://schemas.openxmlformats.org/drawingml/2006/main">
            <a:r>
              <a:t>실패 위험: 활용률과 정답률의 혼동 / 자료 개정에 따른 답변 품질 저하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"AX09",</a:t>
            </a:r>
          </a:p>
          <a:p xmlns:a="http://schemas.openxmlformats.org/drawingml/2006/main">
            <a:r>
              <a:t>    "title": "Morgan Stanley 지식지원",</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"전문가 업무·평가셋",</a:t>
            </a:r>
          </a:p>
          <a:p xmlns:a="http://schemas.openxmlformats.org/drawingml/2006/main">
            <a:r>
              <a:t>    "period": "출처 열람 2026.10",</a:t>
            </a:r>
          </a:p>
          <a:p xmlns:a="http://schemas.openxmlformats.org/drawingml/2006/main">
            <a:r>
              <a:t>    "sources": [</a:t>
            </a:r>
          </a:p>
          <a:p xmlns:a="http://schemas.openxmlformats.org/drawingml/2006/main">
            <a:r>
              <a:t>      "S10"</a:t>
            </a:r>
          </a:p>
          <a:p xmlns:a="http://schemas.openxmlformats.org/drawingml/2006/main">
            <a:r>
              <a:t>    ],</a:t>
            </a:r>
          </a:p>
          <a:p xmlns:a="http://schemas.openxmlformats.org/drawingml/2006/main">
            <a:r>
              <a:t>    "keywords": [</a:t>
            </a:r>
          </a:p>
          <a:p xmlns:a="http://schemas.openxmlformats.org/drawingml/2006/main">
            <a:r>
              <a:t>      "전문지식",</a:t>
            </a:r>
          </a:p>
          <a:p xmlns:a="http://schemas.openxmlformats.org/drawingml/2006/main">
            <a:r>
              <a:t>      "문서검색",</a:t>
            </a:r>
          </a:p>
          <a:p xmlns:a="http://schemas.openxmlformats.org/drawingml/2006/main">
            <a:r>
              <a:t>      "평가",</a:t>
            </a:r>
          </a:p>
          <a:p xmlns:a="http://schemas.openxmlformats.org/drawingml/2006/main">
            <a:r>
              <a:t>      "업무 품질"</a:t>
            </a:r>
          </a:p>
          <a:p xmlns:a="http://schemas.openxmlformats.org/drawingml/2006/main">
            <a:r>
              <a:t>    ],</a:t>
            </a:r>
          </a:p>
          <a:p xmlns:a="http://schemas.openxmlformats.org/drawingml/2006/main">
            <a:r>
              <a:t>    "fact": "공급사 고객사례에서 자문팀의 98% 초과 활용과 전문가 평가 기반 개선 체계 보고",</a:t>
            </a:r>
          </a:p>
          <a:p xmlns:a="http://schemas.openxmlformats.org/drawingml/2006/main">
            <a:r>
              <a:t>    "limit": "자문팀 기준 공급사 발표 · 생산성 인과효과·TS 정확도 근거와 구분",</a:t>
            </a:r>
          </a:p>
          <a:p xmlns:a="http://schemas.openxmlformats.org/drawingml/2006/main">
            <a:r>
              <a:t>    "flow": [</a:t>
            </a:r>
          </a:p>
          <a:p xmlns:a="http://schemas.openxmlformats.org/drawingml/2006/main">
            <a:r>
              <a:t>      "전문가 질문",</a:t>
            </a:r>
          </a:p>
          <a:p xmlns:a="http://schemas.openxmlformats.org/drawingml/2006/main">
            <a:r>
              <a:t>      "사내 지식 검색",</a:t>
            </a:r>
          </a:p>
          <a:p xmlns:a="http://schemas.openxmlformats.org/drawingml/2006/main">
            <a:r>
              <a:t>      "근거 응답",</a:t>
            </a:r>
          </a:p>
          <a:p xmlns:a="http://schemas.openxmlformats.org/drawingml/2006/main">
            <a:r>
              <a:t>      "전문가 평가·개선"</a:t>
            </a:r>
          </a:p>
          <a:p xmlns:a="http://schemas.openxmlformats.org/drawingml/2006/main">
            <a:r>
              <a:t>    ],</a:t>
            </a:r>
          </a:p>
          <a:p xmlns:a="http://schemas.openxmlformats.org/drawingml/2006/main">
            <a:r>
              <a:t>    "flowBasis": "고객사례의 검색·평가 설명 기반 재구성",</a:t>
            </a:r>
          </a:p>
          <a:p xmlns:a="http://schemas.openxmlformats.org/drawingml/2006/main">
            <a:r>
              <a:t>    "lesson": "업무 전문가 정답셋과 변경 시 회귀 평가",</a:t>
            </a:r>
          </a:p>
          <a:p xmlns:a="http://schemas.openxmlformats.org/drawingml/2006/main">
            <a:r>
              <a:t>    "local": "부서별 규정·기술 기준·서식에 근거 위치와 판본을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평가셋 / 근거 위치 / 답변 보류 / 변경 영향 재평가",</a:t>
            </a:r>
          </a:p>
          <a:p xmlns:a="http://schemas.openxmlformats.org/drawingml/2006/main">
            <a:r>
              <a:t>    "test": "숨긴 평가셋의 근거 일치·판본 일치·거부율 평가",</a:t>
            </a:r>
          </a:p>
          <a:p xmlns:a="http://schemas.openxmlformats.org/drawingml/2006/main">
            <a:r>
              <a:t>    "metric": "근거 정확도 / 재작업률 / 지식 탐색시간"</a:t>
            </a:r>
          </a:p>
          <a:p xmlns:a="http://schemas.openxmlformats.org/drawingml/2006/main">
            <a:r>
              <a:t>  },</a:t>
            </a:r>
          </a:p>
          <a:p xmlns:a="http://schemas.openxmlformats.org/drawingml/2006/main">
            <a:r>
              <a:t>  "design": {</a:t>
            </a:r>
          </a:p>
          <a:p xmlns:a="http://schemas.openxmlformats.org/drawingml/2006/main">
            <a:r>
              <a:t>    "id": "AX09",</a:t>
            </a:r>
          </a:p>
          <a:p xmlns:a="http://schemas.openxmlformats.org/drawingml/2006/main">
            <a:r>
              <a:t>    "canonicalId": "AX09",</a:t>
            </a:r>
          </a:p>
          <a:p xmlns:a="http://schemas.openxmlformats.org/drawingml/2006/main">
            <a:r>
              <a:t>    "purpose": "전문가 지식 탐색과 정답 평가의 결합",</a:t>
            </a:r>
          </a:p>
          <a:p xmlns:a="http://schemas.openxmlformats.org/drawingml/2006/main">
            <a:r>
              <a:t>    "users": "금융 자문가·지식관리자",</a:t>
            </a:r>
          </a:p>
          <a:p xmlns:a="http://schemas.openxmlformats.org/drawingml/2006/main">
            <a:r>
              <a:t>    "scope": [</a:t>
            </a:r>
          </a:p>
          <a:p xmlns:a="http://schemas.openxmlformats.org/drawingml/2006/main">
            <a:r>
              <a:t>      "지식 검색",</a:t>
            </a:r>
          </a:p>
          <a:p xmlns:a="http://schemas.openxmlformats.org/drawingml/2006/main">
            <a:r>
              <a:t>      "근거 응답",</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"자문가 질문",</a:t>
            </a:r>
          </a:p>
          <a:p xmlns:a="http://schemas.openxmlformats.org/drawingml/2006/main">
            <a:r>
              <a:t>        "detail": "질문의 업무 범위·자료 접근조건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"지식 검색 / 근거 응답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"지식 검색·근거 응답",</a:t>
            </a:r>
          </a:p>
          <a:p xmlns:a="http://schemas.openxmlformats.org/drawingml/2006/main">
            <a:r>
              <a:t>        "detail": "관련 문서 검색과 근거 응답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"전문가 검토",</a:t>
            </a:r>
          </a:p>
          <a:p xmlns:a="http://schemas.openxmlformats.org/drawingml/2006/main">
            <a:r>
              <a:t>        "detail": "자문가가 근거를 검토한 후 업무에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지식·평가셋",</a:t>
            </a:r>
          </a:p>
          <a:p xmlns:a="http://schemas.openxmlformats.org/drawingml/2006/main">
            <a:r>
              <a:t>        "detail": "승인 지식·원문 위치·판본별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"전문가 정답셋과 오류 유형별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"전문가 질문",</a:t>
            </a:r>
          </a:p>
          <a:p xmlns:a="http://schemas.openxmlformats.org/drawingml/2006/main">
            <a:r>
              <a:t>        "input": "질문의 업무 범위·자료 접근조건 확인",</a:t>
            </a:r>
          </a:p>
          <a:p xmlns:a="http://schemas.openxmlformats.org/drawingml/2006/main">
            <a:r>
              <a:t>        "process": "승인 지식·원문 위치·판본별 색인 구성",</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"title": "사내 지식 검색",</a:t>
            </a:r>
          </a:p>
          <a:p xmlns:a="http://schemas.openxmlformats.org/drawingml/2006/main">
            <a:r>
              <a:t>        "input": "질문·업무 목적",</a:t>
            </a:r>
          </a:p>
          <a:p xmlns:a="http://schemas.openxmlformats.org/drawingml/2006/main">
            <a:r>
              <a:t>        "process": "관련 문서 검색과 근거 응답 생성",</a:t>
            </a:r>
          </a:p>
          <a:p xmlns:a="http://schemas.openxmlformats.org/drawingml/2006/main">
            <a:r>
              <a:t>        "output": "관련 문서"</a:t>
            </a:r>
          </a:p>
          <a:p xmlns:a="http://schemas.openxmlformats.org/drawingml/2006/main">
            <a:r>
              <a:t>      },</a:t>
            </a:r>
          </a:p>
          <a:p xmlns:a="http://schemas.openxmlformats.org/drawingml/2006/main">
            <a:r>
              <a:t>      {</a:t>
            </a:r>
          </a:p>
          <a:p xmlns:a="http://schemas.openxmlformats.org/drawingml/2006/main">
            <a:r>
              <a:t>        "title": "근거 응답",</a:t>
            </a:r>
          </a:p>
          <a:p xmlns:a="http://schemas.openxmlformats.org/drawingml/2006/main">
            <a:r>
              <a:t>        "input": "관련 문서",</a:t>
            </a:r>
          </a:p>
          <a:p xmlns:a="http://schemas.openxmlformats.org/drawingml/2006/main">
            <a:r>
              <a:t>        "process": "문서 개정 후 숨긴 평가셋 재검증",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"전문가 평가·개선",</a:t>
            </a:r>
          </a:p>
          <a:p xmlns:a="http://schemas.openxmlformats.org/drawingml/2006/main">
            <a:r>
              <a:t>        "input": "근거 답변",</a:t>
            </a:r>
          </a:p>
          <a:p xmlns:a="http://schemas.openxmlformats.org/drawingml/2006/main">
            <a:r>
              <a:t>        "process":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"전문가가 규정 질의의 답변·인용 원문·판본을 평가",</a:t>
            </a:r>
          </a:p>
          <a:p xmlns:a="http://schemas.openxmlformats.org/drawingml/2006/main">
            <a:r>
              <a:t>      "exception": "구버전 문서·근거 없는 질문·서로 다른 상품 조건",</a:t>
            </a:r>
          </a:p>
          <a:p xmlns:a="http://schemas.openxmlformats.org/drawingml/2006/main">
            <a:r>
              <a:t>      "evidence": "전문가 정답표와 근거 정확도·보류 적정성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"금융 자문가·지식관리자",</a:t>
            </a:r>
          </a:p>
          <a:p xmlns:a="http://schemas.openxmlformats.org/drawingml/2006/main">
            <a:r>
              <a:t>          "processing": "질문의 업무 범위·자료 접근조건 확인",</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지식·평가셋",</a:t>
            </a:r>
          </a:p>
          <a:p xmlns:a="http://schemas.openxmlformats.org/drawingml/2006/main">
            <a:r>
              <a:t>          "processing": "승인 지식·원문 위치·판본별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목적",</a:t>
            </a:r>
          </a:p>
          <a:p xmlns:a="http://schemas.openxmlformats.org/drawingml/2006/main">
            <a:r>
              <a:t>          "processing": "관련 문서 검색과 근거 응답 생성",</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"전문가 정답셋과 오류 유형별 회귀 평가",</a:t>
            </a:r>
          </a:p>
          <a:p xmlns:a="http://schemas.openxmlformats.org/drawingml/2006/main">
            <a:r>
              <a:t>          "output": "전문가 정답표와 근거 정확도·보류 적정성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"전문가 정답셋과 오류 유형별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"S10",</a:t>
            </a:r>
          </a:p>
          <a:p xmlns:a="http://schemas.openxmlformats.org/drawingml/2006/main">
            <a:r>
              <a:t>        "title": "OpenAI · Morgan Stanley 평가·도입 사례",</a:t>
            </a:r>
          </a:p>
          <a:p xmlns:a="http://schemas.openxmlformats.org/drawingml/2006/main">
            <a:r>
              <a:t>        "url": "https://openai.com/index/morgan-stanley/",</a:t>
            </a:r>
          </a:p>
          <a:p xmlns:a="http://schemas.openxmlformats.org/drawingml/2006/main">
            <a:r>
              <a:t>        "published": "게시일 미표시",</a:t>
            </a:r>
          </a:p>
          <a:p xmlns:a="http://schemas.openxmlformats.org/drawingml/2006/main">
            <a:r>
              <a:t>        "level": "공급사 고객사례",</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"업무 전문가 정답셋과 변경 시 회귀 평가",</a:t>
            </a:r>
          </a:p>
          <a:p xmlns:a="http://schemas.openxmlformats.org/drawingml/2006/main">
            <a:r>
              <a:t>    "local": "부서별 규정·기술 기준·서식에 근거 위치와 판본을 연결",</a:t>
            </a:r>
          </a:p>
          <a:p xmlns:a="http://schemas.openxmlformats.org/drawingml/2006/main">
            <a:r>
              <a:t>    "sourceDetail": null,</a:t>
            </a:r>
          </a:p>
          <a:p xmlns:a="http://schemas.openxmlformats.org/drawingml/2006/main">
            <a:r>
              <a:t>    "narrative": [</a:t>
            </a:r>
          </a:p>
          <a:p xmlns:a="http://schemas.openxmlformats.org/drawingml/2006/main">
            <a:r>
              <a:t>      "금융 자문가가 승인된 사내 전문지식을 검색하고 근거 있는 답변을 얻도록 한 사례. 직원의 문서 탐색을 지원하면서 전문가 평가를 품질 개선에 연결한 접근.",</a:t>
            </a:r>
          </a:p>
          <a:p xmlns:a="http://schemas.openxmlformats.org/drawingml/2006/main">
            <a:r>
              <a:t>      "업무 질문의 자료 범위를 확인하고 관련 문서·원문 위치를 검색한 뒤 자문가가 답변을 검토하는 흐름. TS 적용 시 검사·인증·안전 규정별 전문가 정답셋과 문서 개정 이력을 연결하는 설계.",</a:t>
            </a:r>
          </a:p>
          <a:p xmlns:a="http://schemas.openxmlformats.org/drawingml/2006/main">
            <a:r>
              <a:t>      "활용자 수·도입 확대와 답변의 정답률을 구분해 평가할 필요. 숨긴 평가셋, 근거 조문 일치, 개정 후 회귀시험, 전문가 수정시간을 함께 수집하는 CCK 벤치마킹."</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"자문가 질문",</a:t>
            </a:r>
          </a:p>
          <a:p xmlns:a="http://schemas.openxmlformats.org/drawingml/2006/main">
            <a:r>
              <a:t>          "layer": "이용 접점",</a:t>
            </a:r>
          </a:p>
          <a:p xmlns:a="http://schemas.openxmlformats.org/drawingml/2006/main">
            <a:r>
              <a:t>          "detail": "금융 자문가·지식관리자",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"질의·접근 문맥",</a:t>
            </a:r>
          </a:p>
          <a:p xmlns:a="http://schemas.openxmlformats.org/drawingml/2006/main">
            <a:r>
              <a:t>          "layer": "업무 문맥",</a:t>
            </a:r>
          </a:p>
          <a:p xmlns:a="http://schemas.openxmlformats.org/drawingml/2006/main">
            <a:r>
              <a:t>          "detail": "질문의 업무 범위·자료 접근조건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문서 검색",</a:t>
            </a:r>
          </a:p>
          <a:p xmlns:a="http://schemas.openxmlformats.org/drawingml/2006/main">
            <a:r>
              <a:t>          "layer": "자료 조회",</a:t>
            </a:r>
          </a:p>
          <a:p xmlns:a="http://schemas.openxmlformats.org/drawingml/2006/main">
            <a:r>
              <a:t>          "detail": "질문·업무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응답 생성",</a:t>
            </a:r>
          </a:p>
          <a:p xmlns:a="http://schemas.openxmlformats.org/drawingml/2006/main">
            <a:r>
              <a:t>          "layer": "핵심 처리",</a:t>
            </a:r>
          </a:p>
          <a:p xmlns:a="http://schemas.openxmlformats.org/drawingml/2006/main">
            <a:r>
              <a:t>          "detail": "관련 문서 검색과 근거 응답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"문서·답변 대조",</a:t>
            </a:r>
          </a:p>
          <a:p xmlns:a="http://schemas.openxmlformats.org/drawingml/2006/main">
            <a:r>
              <a:t>          "layer": "결과 검증",</a:t>
            </a:r>
          </a:p>
          <a:p xmlns:a="http://schemas.openxmlformats.org/drawingml/2006/main">
            <a:r>
              <a:t>          "detail": "문서 개정 후 숨긴 평가셋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확인",</a:t>
            </a:r>
          </a:p>
          <a:p xmlns:a="http://schemas.openxmlformats.org/drawingml/2006/main">
            <a:r>
              <a:t>          "layer": "사람 확인",</a:t>
            </a:r>
          </a:p>
          <a:p xmlns:a="http://schemas.openxmlformats.org/drawingml/2006/main">
            <a:r>
              <a:t>          "detail": "전문가가 규정 질의의 답변·인용 원문·판본을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 업무 활용",</a:t>
            </a:r>
          </a:p>
          <a:p xmlns:a="http://schemas.openxmlformats.org/drawingml/2006/main">
            <a:r>
              <a:t>          "layer": "업무 연결",</a:t>
            </a:r>
          </a:p>
          <a:p xmlns:a="http://schemas.openxmlformats.org/drawingml/2006/main">
            <a:r>
              <a:t>          "detail": "자문가가 근거를 검토한 후 업무에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"정답셋 회귀평가",</a:t>
            </a:r>
          </a:p>
          <a:p xmlns:a="http://schemas.openxmlformats.org/drawingml/2006/main">
            <a:r>
              <a:t>          "layer": "운영 관측",</a:t>
            </a:r>
          </a:p>
          <a:p xmlns:a="http://schemas.openxmlformats.org/drawingml/2006/main">
            <a:r>
              <a:t>          "detail": "전문가 정답셋과 오류 유형별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전문지식",</a:t>
            </a:r>
          </a:p>
          <a:p xmlns:a="http://schemas.openxmlformats.org/drawingml/2006/main">
            <a:r>
              <a:t>          "layer": "데이터 원천",</a:t>
            </a:r>
          </a:p>
          <a:p xmlns:a="http://schemas.openxmlformats.org/drawingml/2006/main">
            <a:r>
              <a:t>          "detail": "사내 지식·평가셋",</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 위치·판본화",</a:t>
            </a:r>
          </a:p>
          <a:p xmlns:a="http://schemas.openxmlformats.org/drawingml/2006/main">
            <a:r>
              <a:t>          "layer": "준비·갱신",</a:t>
            </a:r>
          </a:p>
          <a:p xmlns:a="http://schemas.openxmlformats.org/drawingml/2006/main">
            <a:r>
              <a:t>          "detail": "승인 지식·원문 위치·판본별 색인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"전문가 정답표와 근거 정확도·보류 적정성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"자료 접근정책",</a:t>
            </a:r>
          </a:p>
          <a:p xmlns:a="http://schemas.openxmlformats.org/drawingml/2006/main">
            <a:r>
              <a:t>          "layer": "권한·정책",</a:t>
            </a:r>
          </a:p>
          <a:p xmlns:a="http://schemas.openxmlformats.org/drawingml/2006/main">
            <a:r>
              <a:t>          "detail": "구버전 문서·근거 없는 질문·서로 다른 상품 조건",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"전문가 질문 → 사내 지식 검색 → 근거 응답 → 전문가 평가·개선"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"사내 지식·평가셋",</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"질문의 업무 범위·자료 접근조건 확인",</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정답표와 근거 정확도·보류 적정성 결과",</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문서",</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"전문가 지식 탐색과 정답 평가의 결합 / 지식 검색·근거 응답·전문가 평가",</a:t>
            </a:r>
          </a:p>
          <a:p xmlns:a="http://schemas.openxmlformats.org/drawingml/2006/main">
            <a:r>
              <a:t>        "extension": "부서별 규정·기술 기준·서식에 근거 위치와 판본을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"구버전 문서·근거 없는 질문·서로 다른 상품 조건",</a:t>
            </a:r>
          </a:p>
          <a:p xmlns:a="http://schemas.openxmlformats.org/drawingml/2006/main">
            <a:r>
              <a:t>        "hold": "문서 개정 후 숨긴 평가셋 재검증",</a:t>
            </a:r>
          </a:p>
          <a:p xmlns:a="http://schemas.openxmlformats.org/drawingml/2006/main">
            <a:r>
              <a:t>        "recovery": "전문가 정답셋과 오류 유형별 회귀 평가",</a:t>
            </a:r>
          </a:p>
          <a:p xmlns:a="http://schemas.openxmlformats.org/drawingml/2006/main">
            <a:r>
              <a:t>        "evidence": "전문가 정답표와 근거 정확도·보류 적정성 결과"</a:t>
            </a:r>
          </a:p>
          <a:p xmlns:a="http://schemas.openxmlformats.org/drawingml/2006/main">
            <a:r>
              <a:t>      },</a:t>
            </a:r>
          </a:p>
          <a:p xmlns:a="http://schemas.openxmlformats.org/drawingml/2006/main">
            <a:r>
              <a:t>      "data": {</a:t>
            </a:r>
          </a:p>
          <a:p xmlns:a="http://schemas.openxmlformats.org/drawingml/2006/main">
            <a:r>
              <a:t>        "source": "사내 지식·평가셋",</a:t>
            </a:r>
          </a:p>
          <a:p xmlns:a="http://schemas.openxmlformats.org/drawingml/2006/main">
            <a:r>
              <a:t>        "prepare": "승인 지식·원문 위치·판본별 색인 구성",</a:t>
            </a:r>
          </a:p>
          <a:p xmlns:a="http://schemas.openxmlformats.org/drawingml/2006/main">
            <a:r>
              <a:t>        "output": "질문·업무 목적",</a:t>
            </a:r>
          </a:p>
          <a:p xmlns:a="http://schemas.openxmlformats.org/drawingml/2006/main">
            <a:r>
              <a:t>        "refresh": "전문가 정답셋과 오류 유형별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"AX09",</a:t>
            </a:r>
          </a:p>
          <a:p xmlns:a="http://schemas.openxmlformats.org/drawingml/2006/main">
            <a:r>
              <a:t>    "success": [</a:t>
            </a:r>
          </a:p>
          <a:p xmlns:a="http://schemas.openxmlformats.org/drawingml/2006/main">
            <a:r>
              <a:t>      "전문가 평가셋과 지속 개선",</a:t>
            </a:r>
          </a:p>
          <a:p xmlns:a="http://schemas.openxmlformats.org/drawingml/2006/main">
            <a:r>
              <a:t>      "현업 지식을 업무 접점에서 검색"</a:t>
            </a:r>
          </a:p>
          <a:p xmlns:a="http://schemas.openxmlformats.org/drawingml/2006/main">
            <a:r>
              <a:t>    ],</a:t>
            </a:r>
          </a:p>
          <a:p xmlns:a="http://schemas.openxmlformats.org/drawingml/2006/main">
            <a:r>
              <a:t>    "risks": [</a:t>
            </a:r>
          </a:p>
          <a:p xmlns:a="http://schemas.openxmlformats.org/drawingml/2006/main">
            <a:r>
              <a:t>      "활용률과 정답률의 혼동",</a:t>
            </a:r>
          </a:p>
          <a:p xmlns:a="http://schemas.openxmlformats.org/drawingml/2006/main">
            <a:r>
              <a:t>      "자료 개정에 따른 답변 품질 저하"</a:t>
            </a:r>
          </a:p>
          <a:p xmlns:a="http://schemas.openxmlformats.org/drawingml/2006/main">
            <a:r>
              <a:t>    ],</a:t>
            </a:r>
          </a:p>
          <a:p xmlns:a="http://schemas.openxmlformats.org/drawingml/2006/main">
            <a:r>
              <a:t>    "architecture": [</a:t>
            </a:r>
          </a:p>
          <a:p xmlns:a="http://schemas.openxmlformats.org/drawingml/2006/main">
            <a:r>
              <a:t>      "자문가 질문",</a:t>
            </a:r>
          </a:p>
          <a:p xmlns:a="http://schemas.openxmlformats.org/drawingml/2006/main">
            <a:r>
              <a:t>      "지식 검색·근거 응답",</a:t>
            </a:r>
          </a:p>
          <a:p xmlns:a="http://schemas.openxmlformats.org/drawingml/2006/main">
            <a:r>
              <a:t>      "사내 지식·평가셋",</a:t>
            </a:r>
          </a:p>
          <a:p xmlns:a="http://schemas.openxmlformats.org/drawingml/2006/main">
            <a:r>
              <a:t>      "전문가 검토"</a:t>
            </a:r>
          </a:p>
          <a:p xmlns:a="http://schemas.openxmlformats.org/drawingml/2006/main">
            <a:r>
              <a:t>    ],</a:t>
            </a:r>
          </a:p>
          <a:p xmlns:a="http://schemas.openxmlformats.org/drawingml/2006/main">
            <a:r>
              <a:t>    "transfers": [</a:t>
            </a:r>
          </a:p>
          <a:p xmlns:a="http://schemas.openxmlformats.org/drawingml/2006/main">
            <a:r>
              <a:t>      "질문·업무 목적",</a:t>
            </a:r>
          </a:p>
          <a:p xmlns:a="http://schemas.openxmlformats.org/drawingml/2006/main">
            <a:r>
              <a:t>      "관련 문서",</a:t>
            </a:r>
          </a:p>
          <a:p xmlns:a="http://schemas.openxmlformats.org/drawingml/2006/main">
            <a:r>
              <a:t>      "근거 답변",</a:t>
            </a:r>
          </a:p>
          <a:p xmlns:a="http://schemas.openxmlformats.org/drawingml/2006/main">
            <a:r>
              <a:t>      "평가·수정 기록"</a:t>
            </a:r>
          </a:p>
          <a:p xmlns:a="http://schemas.openxmlformats.org/drawingml/2006/main">
            <a:r>
              <a:t>    ],</a:t>
            </a:r>
          </a:p>
          <a:p xmlns:a="http://schemas.openxmlformats.org/drawingml/2006/main">
            <a:r>
              <a:t>    "control": "문서 개정 후 숨긴 평가셋 재검증",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OpenAI · Morgan Stanley 평가·도입 사례 https://openai.com/index/morgan-stanley/</a:t>
            </a:r>
          </a:p>
          <a:p xmlns:a="http://schemas.openxmlformats.org/drawingml/2006/main">
            <a:r>
              <a:t>홈페이지 https://heen1987-ops.github.io/TS-business-Plan-001/index.html?view=casebook&amp;case=AX09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"AX09",</a:t>
            </a:r>
          </a:p>
          <a:p xmlns:a="http://schemas.openxmlformats.org/drawingml/2006/main">
            <a:r>
              <a:t>    "title": "Morgan Stanley 지식지원",</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"전문가 업무·평가셋",</a:t>
            </a:r>
          </a:p>
          <a:p xmlns:a="http://schemas.openxmlformats.org/drawingml/2006/main">
            <a:r>
              <a:t>    "period": "출처 열람 2026.10",</a:t>
            </a:r>
          </a:p>
          <a:p xmlns:a="http://schemas.openxmlformats.org/drawingml/2006/main">
            <a:r>
              <a:t>    "sources": [</a:t>
            </a:r>
          </a:p>
          <a:p xmlns:a="http://schemas.openxmlformats.org/drawingml/2006/main">
            <a:r>
              <a:t>      "S10"</a:t>
            </a:r>
          </a:p>
          <a:p xmlns:a="http://schemas.openxmlformats.org/drawingml/2006/main">
            <a:r>
              <a:t>    ],</a:t>
            </a:r>
          </a:p>
          <a:p xmlns:a="http://schemas.openxmlformats.org/drawingml/2006/main">
            <a:r>
              <a:t>    "keywords": [</a:t>
            </a:r>
          </a:p>
          <a:p xmlns:a="http://schemas.openxmlformats.org/drawingml/2006/main">
            <a:r>
              <a:t>      "전문지식",</a:t>
            </a:r>
          </a:p>
          <a:p xmlns:a="http://schemas.openxmlformats.org/drawingml/2006/main">
            <a:r>
              <a:t>      "문서검색",</a:t>
            </a:r>
          </a:p>
          <a:p xmlns:a="http://schemas.openxmlformats.org/drawingml/2006/main">
            <a:r>
              <a:t>      "평가",</a:t>
            </a:r>
          </a:p>
          <a:p xmlns:a="http://schemas.openxmlformats.org/drawingml/2006/main">
            <a:r>
              <a:t>      "업무 품질"</a:t>
            </a:r>
          </a:p>
          <a:p xmlns:a="http://schemas.openxmlformats.org/drawingml/2006/main">
            <a:r>
              <a:t>    ],</a:t>
            </a:r>
          </a:p>
          <a:p xmlns:a="http://schemas.openxmlformats.org/drawingml/2006/main">
            <a:r>
              <a:t>    "fact": "공급사 고객사례에서 자문팀의 98% 초과 활용과 전문가 평가 기반 개선 체계 보고",</a:t>
            </a:r>
          </a:p>
          <a:p xmlns:a="http://schemas.openxmlformats.org/drawingml/2006/main">
            <a:r>
              <a:t>    "limit": "자문팀 기준 공급사 발표 · 생산성 인과효과·TS 정확도 근거와 구분",</a:t>
            </a:r>
          </a:p>
          <a:p xmlns:a="http://schemas.openxmlformats.org/drawingml/2006/main">
            <a:r>
              <a:t>    "flow": [</a:t>
            </a:r>
          </a:p>
          <a:p xmlns:a="http://schemas.openxmlformats.org/drawingml/2006/main">
            <a:r>
              <a:t>      "전문가 질문",</a:t>
            </a:r>
          </a:p>
          <a:p xmlns:a="http://schemas.openxmlformats.org/drawingml/2006/main">
            <a:r>
              <a:t>      "사내 지식 검색",</a:t>
            </a:r>
          </a:p>
          <a:p xmlns:a="http://schemas.openxmlformats.org/drawingml/2006/main">
            <a:r>
              <a:t>      "근거 응답",</a:t>
            </a:r>
          </a:p>
          <a:p xmlns:a="http://schemas.openxmlformats.org/drawingml/2006/main">
            <a:r>
              <a:t>      "전문가 평가·개선"</a:t>
            </a:r>
          </a:p>
          <a:p xmlns:a="http://schemas.openxmlformats.org/drawingml/2006/main">
            <a:r>
              <a:t>    ],</a:t>
            </a:r>
          </a:p>
          <a:p xmlns:a="http://schemas.openxmlformats.org/drawingml/2006/main">
            <a:r>
              <a:t>    "flowBasis": "고객사례의 검색·평가 설명 기반 재구성",</a:t>
            </a:r>
          </a:p>
          <a:p xmlns:a="http://schemas.openxmlformats.org/drawingml/2006/main">
            <a:r>
              <a:t>    "lesson": "업무 전문가 정답셋과 변경 시 회귀 평가",</a:t>
            </a:r>
          </a:p>
          <a:p xmlns:a="http://schemas.openxmlformats.org/drawingml/2006/main">
            <a:r>
              <a:t>    "local": "부서별 규정·기술 기준·서식에 근거 위치와 판본을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평가셋 / 근거 위치 / 답변 보류 / 변경 영향 재평가",</a:t>
            </a:r>
          </a:p>
          <a:p xmlns:a="http://schemas.openxmlformats.org/drawingml/2006/main">
            <a:r>
              <a:t>    "test": "숨긴 평가셋의 근거 일치·판본 일치·거부율 평가",</a:t>
            </a:r>
          </a:p>
          <a:p xmlns:a="http://schemas.openxmlformats.org/drawingml/2006/main">
            <a:r>
              <a:t>    "metric": "근거 정확도 / 재작업률 / 지식 탐색시간"</a:t>
            </a:r>
          </a:p>
          <a:p xmlns:a="http://schemas.openxmlformats.org/drawingml/2006/main">
            <a:r>
              <a:t>  },</a:t>
            </a:r>
          </a:p>
          <a:p xmlns:a="http://schemas.openxmlformats.org/drawingml/2006/main">
            <a:r>
              <a:t>  "design": {</a:t>
            </a:r>
          </a:p>
          <a:p xmlns:a="http://schemas.openxmlformats.org/drawingml/2006/main">
            <a:r>
              <a:t>    "id": "AX09",</a:t>
            </a:r>
          </a:p>
          <a:p xmlns:a="http://schemas.openxmlformats.org/drawingml/2006/main">
            <a:r>
              <a:t>    "canonicalId": "AX09",</a:t>
            </a:r>
          </a:p>
          <a:p xmlns:a="http://schemas.openxmlformats.org/drawingml/2006/main">
            <a:r>
              <a:t>    "purpose": "전문가 지식 탐색과 정답 평가의 결합",</a:t>
            </a:r>
          </a:p>
          <a:p xmlns:a="http://schemas.openxmlformats.org/drawingml/2006/main">
            <a:r>
              <a:t>    "users": "금융 자문가·지식관리자",</a:t>
            </a:r>
          </a:p>
          <a:p xmlns:a="http://schemas.openxmlformats.org/drawingml/2006/main">
            <a:r>
              <a:t>    "scope": [</a:t>
            </a:r>
          </a:p>
          <a:p xmlns:a="http://schemas.openxmlformats.org/drawingml/2006/main">
            <a:r>
              <a:t>      "지식 검색",</a:t>
            </a:r>
          </a:p>
          <a:p xmlns:a="http://schemas.openxmlformats.org/drawingml/2006/main">
            <a:r>
              <a:t>      "근거 응답",</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"자문가 질문",</a:t>
            </a:r>
          </a:p>
          <a:p xmlns:a="http://schemas.openxmlformats.org/drawingml/2006/main">
            <a:r>
              <a:t>        "detail": "질문의 업무 범위·자료 접근조건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"지식 검색 / 근거 응답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"지식 검색·근거 응답",</a:t>
            </a:r>
          </a:p>
          <a:p xmlns:a="http://schemas.openxmlformats.org/drawingml/2006/main">
            <a:r>
              <a:t>        "detail": "관련 문서 검색과 근거 응답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"전문가 검토",</a:t>
            </a:r>
          </a:p>
          <a:p xmlns:a="http://schemas.openxmlformats.org/drawingml/2006/main">
            <a:r>
              <a:t>        "detail": "자문가가 근거를 검토한 후 업무에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지식·평가셋",</a:t>
            </a:r>
          </a:p>
          <a:p xmlns:a="http://schemas.openxmlformats.org/drawingml/2006/main">
            <a:r>
              <a:t>        "detail": "승인 지식·원문 위치·판본별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"전문가 정답셋과 오류 유형별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"전문가 질문",</a:t>
            </a:r>
          </a:p>
          <a:p xmlns:a="http://schemas.openxmlformats.org/drawingml/2006/main">
            <a:r>
              <a:t>        "input": "질문의 업무 범위·자료 접근조건 확인",</a:t>
            </a:r>
          </a:p>
          <a:p xmlns:a="http://schemas.openxmlformats.org/drawingml/2006/main">
            <a:r>
              <a:t>        "process": "승인 지식·원문 위치·판본별 색인 구성",</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"title": "사내 지식 검색",</a:t>
            </a:r>
          </a:p>
          <a:p xmlns:a="http://schemas.openxmlformats.org/drawingml/2006/main">
            <a:r>
              <a:t>        "input": "질문·업무 목적",</a:t>
            </a:r>
          </a:p>
          <a:p xmlns:a="http://schemas.openxmlformats.org/drawingml/2006/main">
            <a:r>
              <a:t>        "process": "관련 문서 검색과 근거 응답 생성",</a:t>
            </a:r>
          </a:p>
          <a:p xmlns:a="http://schemas.openxmlformats.org/drawingml/2006/main">
            <a:r>
              <a:t>        "output": "관련 문서"</a:t>
            </a:r>
          </a:p>
          <a:p xmlns:a="http://schemas.openxmlformats.org/drawingml/2006/main">
            <a:r>
              <a:t>      },</a:t>
            </a:r>
          </a:p>
          <a:p xmlns:a="http://schemas.openxmlformats.org/drawingml/2006/main">
            <a:r>
              <a:t>      {</a:t>
            </a:r>
          </a:p>
          <a:p xmlns:a="http://schemas.openxmlformats.org/drawingml/2006/main">
            <a:r>
              <a:t>        "title": "근거 응답",</a:t>
            </a:r>
          </a:p>
          <a:p xmlns:a="http://schemas.openxmlformats.org/drawingml/2006/main">
            <a:r>
              <a:t>        "input": "관련 문서",</a:t>
            </a:r>
          </a:p>
          <a:p xmlns:a="http://schemas.openxmlformats.org/drawingml/2006/main">
            <a:r>
              <a:t>        "process": "문서 개정 후 숨긴 평가셋 재검증",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"전문가 평가·개선",</a:t>
            </a:r>
          </a:p>
          <a:p xmlns:a="http://schemas.openxmlformats.org/drawingml/2006/main">
            <a:r>
              <a:t>        "input": "근거 답변",</a:t>
            </a:r>
          </a:p>
          <a:p xmlns:a="http://schemas.openxmlformats.org/drawingml/2006/main">
            <a:r>
              <a:t>        "process":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"전문가가 규정 질의의 답변·인용 원문·판본을 평가",</a:t>
            </a:r>
          </a:p>
          <a:p xmlns:a="http://schemas.openxmlformats.org/drawingml/2006/main">
            <a:r>
              <a:t>      "exception": "구버전 문서·근거 없는 질문·서로 다른 상품 조건",</a:t>
            </a:r>
          </a:p>
          <a:p xmlns:a="http://schemas.openxmlformats.org/drawingml/2006/main">
            <a:r>
              <a:t>      "evidence": "전문가 정답표와 근거 정확도·보류 적정성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"금융 자문가·지식관리자",</a:t>
            </a:r>
          </a:p>
          <a:p xmlns:a="http://schemas.openxmlformats.org/drawingml/2006/main">
            <a:r>
              <a:t>          "processing": "질문의 업무 범위·자료 접근조건 확인",</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지식·평가셋",</a:t>
            </a:r>
          </a:p>
          <a:p xmlns:a="http://schemas.openxmlformats.org/drawingml/2006/main">
            <a:r>
              <a:t>          "processing": "승인 지식·원문 위치·판본별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목적",</a:t>
            </a:r>
          </a:p>
          <a:p xmlns:a="http://schemas.openxmlformats.org/drawingml/2006/main">
            <a:r>
              <a:t>          "processing": "관련 문서 검색과 근거 응답 생성",</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"전문가 정답셋과 오류 유형별 회귀 평가",</a:t>
            </a:r>
          </a:p>
          <a:p xmlns:a="http://schemas.openxmlformats.org/drawingml/2006/main">
            <a:r>
              <a:t>          "output": "전문가 정답표와 근거 정확도·보류 적정성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"전문가 정답셋과 오류 유형별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"S10",</a:t>
            </a:r>
          </a:p>
          <a:p xmlns:a="http://schemas.openxmlformats.org/drawingml/2006/main">
            <a:r>
              <a:t>        "title": "OpenAI · Morgan Stanley 평가·도입 사례",</a:t>
            </a:r>
          </a:p>
          <a:p xmlns:a="http://schemas.openxmlformats.org/drawingml/2006/main">
            <a:r>
              <a:t>        "url": "https://openai.com/index/morgan-stanley/",</a:t>
            </a:r>
          </a:p>
          <a:p xmlns:a="http://schemas.openxmlformats.org/drawingml/2006/main">
            <a:r>
              <a:t>        "published": "게시일 미표시",</a:t>
            </a:r>
          </a:p>
          <a:p xmlns:a="http://schemas.openxmlformats.org/drawingml/2006/main">
            <a:r>
              <a:t>        "level": "공급사 고객사례",</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"업무 전문가 정답셋과 변경 시 회귀 평가",</a:t>
            </a:r>
          </a:p>
          <a:p xmlns:a="http://schemas.openxmlformats.org/drawingml/2006/main">
            <a:r>
              <a:t>    "local": "부서별 규정·기술 기준·서식에 근거 위치와 판본을 연결",</a:t>
            </a:r>
          </a:p>
          <a:p xmlns:a="http://schemas.openxmlformats.org/drawingml/2006/main">
            <a:r>
              <a:t>    "sourceDetail": null,</a:t>
            </a:r>
          </a:p>
          <a:p xmlns:a="http://schemas.openxmlformats.org/drawingml/2006/main">
            <a:r>
              <a:t>    "narrative": [</a:t>
            </a:r>
          </a:p>
          <a:p xmlns:a="http://schemas.openxmlformats.org/drawingml/2006/main">
            <a:r>
              <a:t>      "금융 자문가가 승인된 사내 전문지식을 검색하고 근거 있는 답변을 얻도록 한 사례. 직원의 문서 탐색을 지원하면서 전문가 평가를 품질 개선에 연결한 접근.",</a:t>
            </a:r>
          </a:p>
          <a:p xmlns:a="http://schemas.openxmlformats.org/drawingml/2006/main">
            <a:r>
              <a:t>      "업무 질문의 자료 범위를 확인하고 관련 문서·원문 위치를 검색한 뒤 자문가가 답변을 검토하는 흐름. TS 적용 시 검사·인증·안전 규정별 전문가 정답셋과 문서 개정 이력을 연결하는 설계.",</a:t>
            </a:r>
          </a:p>
          <a:p xmlns:a="http://schemas.openxmlformats.org/drawingml/2006/main">
            <a:r>
              <a:t>      "활용자 수·도입 확대와 답변의 정답률을 구분해 평가할 필요. 숨긴 평가셋, 근거 조문 일치, 개정 후 회귀시험, 전문가 수정시간을 함께 수집하는 CCK 벤치마킹."</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"자문가 질문",</a:t>
            </a:r>
          </a:p>
          <a:p xmlns:a="http://schemas.openxmlformats.org/drawingml/2006/main">
            <a:r>
              <a:t>          "layer": "이용 접점",</a:t>
            </a:r>
          </a:p>
          <a:p xmlns:a="http://schemas.openxmlformats.org/drawingml/2006/main">
            <a:r>
              <a:t>          "detail": "금융 자문가·지식관리자",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"질의·접근 문맥",</a:t>
            </a:r>
          </a:p>
          <a:p xmlns:a="http://schemas.openxmlformats.org/drawingml/2006/main">
            <a:r>
              <a:t>          "layer": "업무 문맥",</a:t>
            </a:r>
          </a:p>
          <a:p xmlns:a="http://schemas.openxmlformats.org/drawingml/2006/main">
            <a:r>
              <a:t>          "detail": "질문의 업무 범위·자료 접근조건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문서 검색",</a:t>
            </a:r>
          </a:p>
          <a:p xmlns:a="http://schemas.openxmlformats.org/drawingml/2006/main">
            <a:r>
              <a:t>          "layer": "자료 조회",</a:t>
            </a:r>
          </a:p>
          <a:p xmlns:a="http://schemas.openxmlformats.org/drawingml/2006/main">
            <a:r>
              <a:t>          "detail": "질문·업무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응답 생성",</a:t>
            </a:r>
          </a:p>
          <a:p xmlns:a="http://schemas.openxmlformats.org/drawingml/2006/main">
            <a:r>
              <a:t>          "layer": "핵심 처리",</a:t>
            </a:r>
          </a:p>
          <a:p xmlns:a="http://schemas.openxmlformats.org/drawingml/2006/main">
            <a:r>
              <a:t>          "detail": "관련 문서 검색과 근거 응답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"문서·답변 대조",</a:t>
            </a:r>
          </a:p>
          <a:p xmlns:a="http://schemas.openxmlformats.org/drawingml/2006/main">
            <a:r>
              <a:t>          "layer": "결과 검증",</a:t>
            </a:r>
          </a:p>
          <a:p xmlns:a="http://schemas.openxmlformats.org/drawingml/2006/main">
            <a:r>
              <a:t>          "detail": "문서 개정 후 숨긴 평가셋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확인",</a:t>
            </a:r>
          </a:p>
          <a:p xmlns:a="http://schemas.openxmlformats.org/drawingml/2006/main">
            <a:r>
              <a:t>          "layer": "사람 확인",</a:t>
            </a:r>
          </a:p>
          <a:p xmlns:a="http://schemas.openxmlformats.org/drawingml/2006/main">
            <a:r>
              <a:t>          "detail": "전문가가 규정 질의의 답변·인용 원문·판본을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 업무 활용",</a:t>
            </a:r>
          </a:p>
          <a:p xmlns:a="http://schemas.openxmlformats.org/drawingml/2006/main">
            <a:r>
              <a:t>          "layer": "업무 연결",</a:t>
            </a:r>
          </a:p>
          <a:p xmlns:a="http://schemas.openxmlformats.org/drawingml/2006/main">
            <a:r>
              <a:t>          "detail": "자문가가 근거를 검토한 후 업무에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"정답셋 회귀평가",</a:t>
            </a:r>
          </a:p>
          <a:p xmlns:a="http://schemas.openxmlformats.org/drawingml/2006/main">
            <a:r>
              <a:t>          "layer": "운영 관측",</a:t>
            </a:r>
          </a:p>
          <a:p xmlns:a="http://schemas.openxmlformats.org/drawingml/2006/main">
            <a:r>
              <a:t>          "detail": "전문가 정답셋과 오류 유형별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전문지식",</a:t>
            </a:r>
          </a:p>
          <a:p xmlns:a="http://schemas.openxmlformats.org/drawingml/2006/main">
            <a:r>
              <a:t>          "layer": "데이터 원천",</a:t>
            </a:r>
          </a:p>
          <a:p xmlns:a="http://schemas.openxmlformats.org/drawingml/2006/main">
            <a:r>
              <a:t>          "detail": "사내 지식·평가셋",</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 위치·판본화",</a:t>
            </a:r>
          </a:p>
          <a:p xmlns:a="http://schemas.openxmlformats.org/drawingml/2006/main">
            <a:r>
              <a:t>          "layer": "준비·갱신",</a:t>
            </a:r>
          </a:p>
          <a:p xmlns:a="http://schemas.openxmlformats.org/drawingml/2006/main">
            <a:r>
              <a:t>          "detail": "승인 지식·원문 위치·판본별 색인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"전문가 정답표와 근거 정확도·보류 적정성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"자료 접근정책",</a:t>
            </a:r>
          </a:p>
          <a:p xmlns:a="http://schemas.openxmlformats.org/drawingml/2006/main">
            <a:r>
              <a:t>          "layer": "권한·정책",</a:t>
            </a:r>
          </a:p>
          <a:p xmlns:a="http://schemas.openxmlformats.org/drawingml/2006/main">
            <a:r>
              <a:t>          "detail": "구버전 문서·근거 없는 질문·서로 다른 상품 조건",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"전문가 질문 → 사내 지식 검색 → 근거 응답 → 전문가 평가·개선"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"사내 지식·평가셋",</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"질문의 업무 범위·자료 접근조건 확인",</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정답표와 근거 정확도·보류 적정성 결과",</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문서",</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"전문가 지식 탐색과 정답 평가의 결합 / 지식 검색·근거 응답·전문가 평가",</a:t>
            </a:r>
          </a:p>
          <a:p xmlns:a="http://schemas.openxmlformats.org/drawingml/2006/main">
            <a:r>
              <a:t>        "extension": "부서별 규정·기술 기준·서식에 근거 위치와 판본을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"구버전 문서·근거 없는 질문·서로 다른 상품 조건",</a:t>
            </a:r>
          </a:p>
          <a:p xmlns:a="http://schemas.openxmlformats.org/drawingml/2006/main">
            <a:r>
              <a:t>        "hold": "문서 개정 후 숨긴 평가셋 재검증",</a:t>
            </a:r>
          </a:p>
          <a:p xmlns:a="http://schemas.openxmlformats.org/drawingml/2006/main">
            <a:r>
              <a:t>        "recovery": "전문가 정답셋과 오류 유형별 회귀 평가",</a:t>
            </a:r>
          </a:p>
          <a:p xmlns:a="http://schemas.openxmlformats.org/drawingml/2006/main">
            <a:r>
              <a:t>        "evidence": "전문가 정답표와 근거 정확도·보류 적정성 결과"</a:t>
            </a:r>
          </a:p>
          <a:p xmlns:a="http://schemas.openxmlformats.org/drawingml/2006/main">
            <a:r>
              <a:t>      },</a:t>
            </a:r>
          </a:p>
          <a:p xmlns:a="http://schemas.openxmlformats.org/drawingml/2006/main">
            <a:r>
              <a:t>      "data": {</a:t>
            </a:r>
          </a:p>
          <a:p xmlns:a="http://schemas.openxmlformats.org/drawingml/2006/main">
            <a:r>
              <a:t>        "source": "사내 지식·평가셋",</a:t>
            </a:r>
          </a:p>
          <a:p xmlns:a="http://schemas.openxmlformats.org/drawingml/2006/main">
            <a:r>
              <a:t>        "prepare": "승인 지식·원문 위치·판본별 색인 구성",</a:t>
            </a:r>
          </a:p>
          <a:p xmlns:a="http://schemas.openxmlformats.org/drawingml/2006/main">
            <a:r>
              <a:t>        "output": "질문·업무 목적",</a:t>
            </a:r>
          </a:p>
          <a:p xmlns:a="http://schemas.openxmlformats.org/drawingml/2006/main">
            <a:r>
              <a:t>        "refresh": "전문가 정답셋과 오류 유형별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"AX09",</a:t>
            </a:r>
          </a:p>
          <a:p xmlns:a="http://schemas.openxmlformats.org/drawingml/2006/main">
            <a:r>
              <a:t>    "success": [</a:t>
            </a:r>
          </a:p>
          <a:p xmlns:a="http://schemas.openxmlformats.org/drawingml/2006/main">
            <a:r>
              <a:t>      "전문가 평가셋과 지속 개선",</a:t>
            </a:r>
          </a:p>
          <a:p xmlns:a="http://schemas.openxmlformats.org/drawingml/2006/main">
            <a:r>
              <a:t>      "현업 지식을 업무 접점에서 검색"</a:t>
            </a:r>
          </a:p>
          <a:p xmlns:a="http://schemas.openxmlformats.org/drawingml/2006/main">
            <a:r>
              <a:t>    ],</a:t>
            </a:r>
          </a:p>
          <a:p xmlns:a="http://schemas.openxmlformats.org/drawingml/2006/main">
            <a:r>
              <a:t>    "risks": [</a:t>
            </a:r>
          </a:p>
          <a:p xmlns:a="http://schemas.openxmlformats.org/drawingml/2006/main">
            <a:r>
              <a:t>      "활용률과 정답률의 혼동",</a:t>
            </a:r>
          </a:p>
          <a:p xmlns:a="http://schemas.openxmlformats.org/drawingml/2006/main">
            <a:r>
              <a:t>      "자료 개정에 따른 답변 품질 저하"</a:t>
            </a:r>
          </a:p>
          <a:p xmlns:a="http://schemas.openxmlformats.org/drawingml/2006/main">
            <a:r>
              <a:t>    ],</a:t>
            </a:r>
          </a:p>
          <a:p xmlns:a="http://schemas.openxmlformats.org/drawingml/2006/main">
            <a:r>
              <a:t>    "architecture": [</a:t>
            </a:r>
          </a:p>
          <a:p xmlns:a="http://schemas.openxmlformats.org/drawingml/2006/main">
            <a:r>
              <a:t>      "자문가 질문",</a:t>
            </a:r>
          </a:p>
          <a:p xmlns:a="http://schemas.openxmlformats.org/drawingml/2006/main">
            <a:r>
              <a:t>      "지식 검색·근거 응답",</a:t>
            </a:r>
          </a:p>
          <a:p xmlns:a="http://schemas.openxmlformats.org/drawingml/2006/main">
            <a:r>
              <a:t>      "사내 지식·평가셋",</a:t>
            </a:r>
          </a:p>
          <a:p xmlns:a="http://schemas.openxmlformats.org/drawingml/2006/main">
            <a:r>
              <a:t>      "전문가 검토"</a:t>
            </a:r>
          </a:p>
          <a:p xmlns:a="http://schemas.openxmlformats.org/drawingml/2006/main">
            <a:r>
              <a:t>    ],</a:t>
            </a:r>
          </a:p>
          <a:p xmlns:a="http://schemas.openxmlformats.org/drawingml/2006/main">
            <a:r>
              <a:t>    "transfers": [</a:t>
            </a:r>
          </a:p>
          <a:p xmlns:a="http://schemas.openxmlformats.org/drawingml/2006/main">
            <a:r>
              <a:t>      "질문·업무 목적",</a:t>
            </a:r>
          </a:p>
          <a:p xmlns:a="http://schemas.openxmlformats.org/drawingml/2006/main">
            <a:r>
              <a:t>      "관련 문서",</a:t>
            </a:r>
          </a:p>
          <a:p xmlns:a="http://schemas.openxmlformats.org/drawingml/2006/main">
            <a:r>
              <a:t>      "근거 답변",</a:t>
            </a:r>
          </a:p>
          <a:p xmlns:a="http://schemas.openxmlformats.org/drawingml/2006/main">
            <a:r>
              <a:t>      "평가·수정 기록"</a:t>
            </a:r>
          </a:p>
          <a:p xmlns:a="http://schemas.openxmlformats.org/drawingml/2006/main">
            <a:r>
              <a:t>    ],</a:t>
            </a:r>
          </a:p>
          <a:p xmlns:a="http://schemas.openxmlformats.org/drawingml/2006/main">
            <a:r>
              <a:t>    "control": "문서 개정 후 숨긴 평가셋 재검증",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OpenAI · Morgan Stanley 평가·도입 사례 https://openai.com/index/morgan-stanley/</a:t>
            </a:r>
          </a:p>
          <a:p xmlns:a="http://schemas.openxmlformats.org/drawingml/2006/main">
            <a:r>
              <a:t>홈페이지 https://heen1987-ops.github.io/TS-business-Plan-001/index.html?view=casebook&amp;case=AX09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"AX09",</a:t>
            </a:r>
          </a:p>
          <a:p xmlns:a="http://schemas.openxmlformats.org/drawingml/2006/main">
            <a:r>
              <a:t>    "title": "Morgan Stanley 지식지원",</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"전문가 업무·평가셋",</a:t>
            </a:r>
          </a:p>
          <a:p xmlns:a="http://schemas.openxmlformats.org/drawingml/2006/main">
            <a:r>
              <a:t>    "period": "출처 열람 2026.10",</a:t>
            </a:r>
          </a:p>
          <a:p xmlns:a="http://schemas.openxmlformats.org/drawingml/2006/main">
            <a:r>
              <a:t>    "sources": [</a:t>
            </a:r>
          </a:p>
          <a:p xmlns:a="http://schemas.openxmlformats.org/drawingml/2006/main">
            <a:r>
              <a:t>      "S10"</a:t>
            </a:r>
          </a:p>
          <a:p xmlns:a="http://schemas.openxmlformats.org/drawingml/2006/main">
            <a:r>
              <a:t>    ],</a:t>
            </a:r>
          </a:p>
          <a:p xmlns:a="http://schemas.openxmlformats.org/drawingml/2006/main">
            <a:r>
              <a:t>    "keywords": [</a:t>
            </a:r>
          </a:p>
          <a:p xmlns:a="http://schemas.openxmlformats.org/drawingml/2006/main">
            <a:r>
              <a:t>      "전문지식",</a:t>
            </a:r>
          </a:p>
          <a:p xmlns:a="http://schemas.openxmlformats.org/drawingml/2006/main">
            <a:r>
              <a:t>      "문서검색",</a:t>
            </a:r>
          </a:p>
          <a:p xmlns:a="http://schemas.openxmlformats.org/drawingml/2006/main">
            <a:r>
              <a:t>      "평가",</a:t>
            </a:r>
          </a:p>
          <a:p xmlns:a="http://schemas.openxmlformats.org/drawingml/2006/main">
            <a:r>
              <a:t>      "업무 품질"</a:t>
            </a:r>
          </a:p>
          <a:p xmlns:a="http://schemas.openxmlformats.org/drawingml/2006/main">
            <a:r>
              <a:t>    ],</a:t>
            </a:r>
          </a:p>
          <a:p xmlns:a="http://schemas.openxmlformats.org/drawingml/2006/main">
            <a:r>
              <a:t>    "fact": "공급사 고객사례에서 자문팀의 98% 초과 활용과 전문가 평가 기반 개선 체계 보고",</a:t>
            </a:r>
          </a:p>
          <a:p xmlns:a="http://schemas.openxmlformats.org/drawingml/2006/main">
            <a:r>
              <a:t>    "limit": "자문팀 기준 공급사 발표 · 생산성 인과효과·TS 정확도 근거와 구분",</a:t>
            </a:r>
          </a:p>
          <a:p xmlns:a="http://schemas.openxmlformats.org/drawingml/2006/main">
            <a:r>
              <a:t>    "flow": [</a:t>
            </a:r>
          </a:p>
          <a:p xmlns:a="http://schemas.openxmlformats.org/drawingml/2006/main">
            <a:r>
              <a:t>      "전문가 질문",</a:t>
            </a:r>
          </a:p>
          <a:p xmlns:a="http://schemas.openxmlformats.org/drawingml/2006/main">
            <a:r>
              <a:t>      "사내 지식 검색",</a:t>
            </a:r>
          </a:p>
          <a:p xmlns:a="http://schemas.openxmlformats.org/drawingml/2006/main">
            <a:r>
              <a:t>      "근거 응답",</a:t>
            </a:r>
          </a:p>
          <a:p xmlns:a="http://schemas.openxmlformats.org/drawingml/2006/main">
            <a:r>
              <a:t>      "전문가 평가·개선"</a:t>
            </a:r>
          </a:p>
          <a:p xmlns:a="http://schemas.openxmlformats.org/drawingml/2006/main">
            <a:r>
              <a:t>    ],</a:t>
            </a:r>
          </a:p>
          <a:p xmlns:a="http://schemas.openxmlformats.org/drawingml/2006/main">
            <a:r>
              <a:t>    "flowBasis": "고객사례의 검색·평가 설명 기반 재구성",</a:t>
            </a:r>
          </a:p>
          <a:p xmlns:a="http://schemas.openxmlformats.org/drawingml/2006/main">
            <a:r>
              <a:t>    "lesson": "업무 전문가 정답셋과 변경 시 회귀 평가",</a:t>
            </a:r>
          </a:p>
          <a:p xmlns:a="http://schemas.openxmlformats.org/drawingml/2006/main">
            <a:r>
              <a:t>    "local": "부서별 규정·기술 기준·서식에 근거 위치와 판본을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평가셋 / 근거 위치 / 답변 보류 / 변경 영향 재평가",</a:t>
            </a:r>
          </a:p>
          <a:p xmlns:a="http://schemas.openxmlformats.org/drawingml/2006/main">
            <a:r>
              <a:t>    "test": "숨긴 평가셋의 근거 일치·판본 일치·거부율 평가",</a:t>
            </a:r>
          </a:p>
          <a:p xmlns:a="http://schemas.openxmlformats.org/drawingml/2006/main">
            <a:r>
              <a:t>    "metric": "근거 정확도 / 재작업률 / 지식 탐색시간"</a:t>
            </a:r>
          </a:p>
          <a:p xmlns:a="http://schemas.openxmlformats.org/drawingml/2006/main">
            <a:r>
              <a:t>  },</a:t>
            </a:r>
          </a:p>
          <a:p xmlns:a="http://schemas.openxmlformats.org/drawingml/2006/main">
            <a:r>
              <a:t>  "design": {</a:t>
            </a:r>
          </a:p>
          <a:p xmlns:a="http://schemas.openxmlformats.org/drawingml/2006/main">
            <a:r>
              <a:t>    "id": "AX09",</a:t>
            </a:r>
          </a:p>
          <a:p xmlns:a="http://schemas.openxmlformats.org/drawingml/2006/main">
            <a:r>
              <a:t>    "canonicalId": "AX09",</a:t>
            </a:r>
          </a:p>
          <a:p xmlns:a="http://schemas.openxmlformats.org/drawingml/2006/main">
            <a:r>
              <a:t>    "purpose": "전문가 지식 탐색과 정답 평가의 결합",</a:t>
            </a:r>
          </a:p>
          <a:p xmlns:a="http://schemas.openxmlformats.org/drawingml/2006/main">
            <a:r>
              <a:t>    "users": "금융 자문가·지식관리자",</a:t>
            </a:r>
          </a:p>
          <a:p xmlns:a="http://schemas.openxmlformats.org/drawingml/2006/main">
            <a:r>
              <a:t>    "scope": [</a:t>
            </a:r>
          </a:p>
          <a:p xmlns:a="http://schemas.openxmlformats.org/drawingml/2006/main">
            <a:r>
              <a:t>      "지식 검색",</a:t>
            </a:r>
          </a:p>
          <a:p xmlns:a="http://schemas.openxmlformats.org/drawingml/2006/main">
            <a:r>
              <a:t>      "근거 응답",</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"자문가 질문",</a:t>
            </a:r>
          </a:p>
          <a:p xmlns:a="http://schemas.openxmlformats.org/drawingml/2006/main">
            <a:r>
              <a:t>        "detail": "질문의 업무 범위·자료 접근조건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"지식 검색 / 근거 응답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"지식 검색·근거 응답",</a:t>
            </a:r>
          </a:p>
          <a:p xmlns:a="http://schemas.openxmlformats.org/drawingml/2006/main">
            <a:r>
              <a:t>        "detail": "관련 문서 검색과 근거 응답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"전문가 검토",</a:t>
            </a:r>
          </a:p>
          <a:p xmlns:a="http://schemas.openxmlformats.org/drawingml/2006/main">
            <a:r>
              <a:t>        "detail": "자문가가 근거를 검토한 후 업무에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지식·평가셋",</a:t>
            </a:r>
          </a:p>
          <a:p xmlns:a="http://schemas.openxmlformats.org/drawingml/2006/main">
            <a:r>
              <a:t>        "detail": "승인 지식·원문 위치·판본별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"전문가 정답셋과 오류 유형별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"전문가 질문",</a:t>
            </a:r>
          </a:p>
          <a:p xmlns:a="http://schemas.openxmlformats.org/drawingml/2006/main">
            <a:r>
              <a:t>        "input": "질문의 업무 범위·자료 접근조건 확인",</a:t>
            </a:r>
          </a:p>
          <a:p xmlns:a="http://schemas.openxmlformats.org/drawingml/2006/main">
            <a:r>
              <a:t>        "process": "승인 지식·원문 위치·판본별 색인 구성",</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"title": "사내 지식 검색",</a:t>
            </a:r>
          </a:p>
          <a:p xmlns:a="http://schemas.openxmlformats.org/drawingml/2006/main">
            <a:r>
              <a:t>        "input": "질문·업무 목적",</a:t>
            </a:r>
          </a:p>
          <a:p xmlns:a="http://schemas.openxmlformats.org/drawingml/2006/main">
            <a:r>
              <a:t>        "process": "관련 문서 검색과 근거 응답 생성",</a:t>
            </a:r>
          </a:p>
          <a:p xmlns:a="http://schemas.openxmlformats.org/drawingml/2006/main">
            <a:r>
              <a:t>        "output": "관련 문서"</a:t>
            </a:r>
          </a:p>
          <a:p xmlns:a="http://schemas.openxmlformats.org/drawingml/2006/main">
            <a:r>
              <a:t>      },</a:t>
            </a:r>
          </a:p>
          <a:p xmlns:a="http://schemas.openxmlformats.org/drawingml/2006/main">
            <a:r>
              <a:t>      {</a:t>
            </a:r>
          </a:p>
          <a:p xmlns:a="http://schemas.openxmlformats.org/drawingml/2006/main">
            <a:r>
              <a:t>        "title": "근거 응답",</a:t>
            </a:r>
          </a:p>
          <a:p xmlns:a="http://schemas.openxmlformats.org/drawingml/2006/main">
            <a:r>
              <a:t>        "input": "관련 문서",</a:t>
            </a:r>
          </a:p>
          <a:p xmlns:a="http://schemas.openxmlformats.org/drawingml/2006/main">
            <a:r>
              <a:t>        "process": "문서 개정 후 숨긴 평가셋 재검증",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"전문가 평가·개선",</a:t>
            </a:r>
          </a:p>
          <a:p xmlns:a="http://schemas.openxmlformats.org/drawingml/2006/main">
            <a:r>
              <a:t>        "input": "근거 답변",</a:t>
            </a:r>
          </a:p>
          <a:p xmlns:a="http://schemas.openxmlformats.org/drawingml/2006/main">
            <a:r>
              <a:t>        "process":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"전문가가 규정 질의의 답변·인용 원문·판본을 평가",</a:t>
            </a:r>
          </a:p>
          <a:p xmlns:a="http://schemas.openxmlformats.org/drawingml/2006/main">
            <a:r>
              <a:t>      "exception": "구버전 문서·근거 없는 질문·서로 다른 상품 조건",</a:t>
            </a:r>
          </a:p>
          <a:p xmlns:a="http://schemas.openxmlformats.org/drawingml/2006/main">
            <a:r>
              <a:t>      "evidence": "전문가 정답표와 근거 정확도·보류 적정성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"금융 자문가·지식관리자",</a:t>
            </a:r>
          </a:p>
          <a:p xmlns:a="http://schemas.openxmlformats.org/drawingml/2006/main">
            <a:r>
              <a:t>          "processing": "질문의 업무 범위·자료 접근조건 확인",</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지식·평가셋",</a:t>
            </a:r>
          </a:p>
          <a:p xmlns:a="http://schemas.openxmlformats.org/drawingml/2006/main">
            <a:r>
              <a:t>          "processing": "승인 지식·원문 위치·판본별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목적",</a:t>
            </a:r>
          </a:p>
          <a:p xmlns:a="http://schemas.openxmlformats.org/drawingml/2006/main">
            <a:r>
              <a:t>          "processing": "관련 문서 검색과 근거 응답 생성",</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"전문가 정답셋과 오류 유형별 회귀 평가",</a:t>
            </a:r>
          </a:p>
          <a:p xmlns:a="http://schemas.openxmlformats.org/drawingml/2006/main">
            <a:r>
              <a:t>          "output": "전문가 정답표와 근거 정확도·보류 적정성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"전문가 정답셋과 오류 유형별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"S10",</a:t>
            </a:r>
          </a:p>
          <a:p xmlns:a="http://schemas.openxmlformats.org/drawingml/2006/main">
            <a:r>
              <a:t>        "title": "OpenAI · Morgan Stanley 평가·도입 사례",</a:t>
            </a:r>
          </a:p>
          <a:p xmlns:a="http://schemas.openxmlformats.org/drawingml/2006/main">
            <a:r>
              <a:t>        "url": "https://openai.com/index/morgan-stanley/",</a:t>
            </a:r>
          </a:p>
          <a:p xmlns:a="http://schemas.openxmlformats.org/drawingml/2006/main">
            <a:r>
              <a:t>        "published": "게시일 미표시",</a:t>
            </a:r>
          </a:p>
          <a:p xmlns:a="http://schemas.openxmlformats.org/drawingml/2006/main">
            <a:r>
              <a:t>        "level": "공급사 고객사례",</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"업무 전문가 정답셋과 변경 시 회귀 평가",</a:t>
            </a:r>
          </a:p>
          <a:p xmlns:a="http://schemas.openxmlformats.org/drawingml/2006/main">
            <a:r>
              <a:t>    "local": "부서별 규정·기술 기준·서식에 근거 위치와 판본을 연결",</a:t>
            </a:r>
          </a:p>
          <a:p xmlns:a="http://schemas.openxmlformats.org/drawingml/2006/main">
            <a:r>
              <a:t>    "sourceDetail": null,</a:t>
            </a:r>
          </a:p>
          <a:p xmlns:a="http://schemas.openxmlformats.org/drawingml/2006/main">
            <a:r>
              <a:t>    "narrative": [</a:t>
            </a:r>
          </a:p>
          <a:p xmlns:a="http://schemas.openxmlformats.org/drawingml/2006/main">
            <a:r>
              <a:t>      "금융 자문가가 승인된 사내 전문지식을 검색하고 근거 있는 답변을 얻도록 한 사례. 직원의 문서 탐색을 지원하면서 전문가 평가를 품질 개선에 연결한 접근.",</a:t>
            </a:r>
          </a:p>
          <a:p xmlns:a="http://schemas.openxmlformats.org/drawingml/2006/main">
            <a:r>
              <a:t>      "업무 질문의 자료 범위를 확인하고 관련 문서·원문 위치를 검색한 뒤 자문가가 답변을 검토하는 흐름. TS 적용 시 검사·인증·안전 규정별 전문가 정답셋과 문서 개정 이력을 연결하는 설계.",</a:t>
            </a:r>
          </a:p>
          <a:p xmlns:a="http://schemas.openxmlformats.org/drawingml/2006/main">
            <a:r>
              <a:t>      "활용자 수·도입 확대와 답변의 정답률을 구분해 평가할 필요. 숨긴 평가셋, 근거 조문 일치, 개정 후 회귀시험, 전문가 수정시간을 함께 수집하는 CCK 벤치마킹."</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"자문가 질문",</a:t>
            </a:r>
          </a:p>
          <a:p xmlns:a="http://schemas.openxmlformats.org/drawingml/2006/main">
            <a:r>
              <a:t>          "layer": "이용 접점",</a:t>
            </a:r>
          </a:p>
          <a:p xmlns:a="http://schemas.openxmlformats.org/drawingml/2006/main">
            <a:r>
              <a:t>          "detail": "금융 자문가·지식관리자",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"질의·접근 문맥",</a:t>
            </a:r>
          </a:p>
          <a:p xmlns:a="http://schemas.openxmlformats.org/drawingml/2006/main">
            <a:r>
              <a:t>          "layer": "업무 문맥",</a:t>
            </a:r>
          </a:p>
          <a:p xmlns:a="http://schemas.openxmlformats.org/drawingml/2006/main">
            <a:r>
              <a:t>          "detail": "질문의 업무 범위·자료 접근조건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문서 검색",</a:t>
            </a:r>
          </a:p>
          <a:p xmlns:a="http://schemas.openxmlformats.org/drawingml/2006/main">
            <a:r>
              <a:t>          "layer": "자료 조회",</a:t>
            </a:r>
          </a:p>
          <a:p xmlns:a="http://schemas.openxmlformats.org/drawingml/2006/main">
            <a:r>
              <a:t>          "detail": "질문·업무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응답 생성",</a:t>
            </a:r>
          </a:p>
          <a:p xmlns:a="http://schemas.openxmlformats.org/drawingml/2006/main">
            <a:r>
              <a:t>          "layer": "핵심 처리",</a:t>
            </a:r>
          </a:p>
          <a:p xmlns:a="http://schemas.openxmlformats.org/drawingml/2006/main">
            <a:r>
              <a:t>          "detail": "관련 문서 검색과 근거 응답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"문서·답변 대조",</a:t>
            </a:r>
          </a:p>
          <a:p xmlns:a="http://schemas.openxmlformats.org/drawingml/2006/main">
            <a:r>
              <a:t>          "layer": "결과 검증",</a:t>
            </a:r>
          </a:p>
          <a:p xmlns:a="http://schemas.openxmlformats.org/drawingml/2006/main">
            <a:r>
              <a:t>          "detail": "문서 개정 후 숨긴 평가셋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확인",</a:t>
            </a:r>
          </a:p>
          <a:p xmlns:a="http://schemas.openxmlformats.org/drawingml/2006/main">
            <a:r>
              <a:t>          "layer": "사람 확인",</a:t>
            </a:r>
          </a:p>
          <a:p xmlns:a="http://schemas.openxmlformats.org/drawingml/2006/main">
            <a:r>
              <a:t>          "detail": "전문가가 규정 질의의 답변·인용 원문·판본을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 업무 활용",</a:t>
            </a:r>
          </a:p>
          <a:p xmlns:a="http://schemas.openxmlformats.org/drawingml/2006/main">
            <a:r>
              <a:t>          "layer": "업무 연결",</a:t>
            </a:r>
          </a:p>
          <a:p xmlns:a="http://schemas.openxmlformats.org/drawingml/2006/main">
            <a:r>
              <a:t>          "detail": "자문가가 근거를 검토한 후 업무에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"정답셋 회귀평가",</a:t>
            </a:r>
          </a:p>
          <a:p xmlns:a="http://schemas.openxmlformats.org/drawingml/2006/main">
            <a:r>
              <a:t>          "layer": "운영 관측",</a:t>
            </a:r>
          </a:p>
          <a:p xmlns:a="http://schemas.openxmlformats.org/drawingml/2006/main">
            <a:r>
              <a:t>          "detail": "전문가 정답셋과 오류 유형별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전문지식",</a:t>
            </a:r>
          </a:p>
          <a:p xmlns:a="http://schemas.openxmlformats.org/drawingml/2006/main">
            <a:r>
              <a:t>          "layer": "데이터 원천",</a:t>
            </a:r>
          </a:p>
          <a:p xmlns:a="http://schemas.openxmlformats.org/drawingml/2006/main">
            <a:r>
              <a:t>          "detail": "사내 지식·평가셋",</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 위치·판본화",</a:t>
            </a:r>
          </a:p>
          <a:p xmlns:a="http://schemas.openxmlformats.org/drawingml/2006/main">
            <a:r>
              <a:t>          "layer": "준비·갱신",</a:t>
            </a:r>
          </a:p>
          <a:p xmlns:a="http://schemas.openxmlformats.org/drawingml/2006/main">
            <a:r>
              <a:t>          "detail": "승인 지식·원문 위치·판본별 색인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"전문가 정답표와 근거 정확도·보류 적정성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"자료 접근정책",</a:t>
            </a:r>
          </a:p>
          <a:p xmlns:a="http://schemas.openxmlformats.org/drawingml/2006/main">
            <a:r>
              <a:t>          "layer": "권한·정책",</a:t>
            </a:r>
          </a:p>
          <a:p xmlns:a="http://schemas.openxmlformats.org/drawingml/2006/main">
            <a:r>
              <a:t>          "detail": "구버전 문서·근거 없는 질문·서로 다른 상품 조건",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"전문가 질문 → 사내 지식 검색 → 근거 응답 → 전문가 평가·개선"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"사내 지식·평가셋",</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"질문의 업무 범위·자료 접근조건 확인",</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정답표와 근거 정확도·보류 적정성 결과",</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문서",</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"전문가 지식 탐색과 정답 평가의 결합 / 지식 검색·근거 응답·전문가 평가",</a:t>
            </a:r>
          </a:p>
          <a:p xmlns:a="http://schemas.openxmlformats.org/drawingml/2006/main">
            <a:r>
              <a:t>        "extension": "부서별 규정·기술 기준·서식에 근거 위치와 판본을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"구버전 문서·근거 없는 질문·서로 다른 상품 조건",</a:t>
            </a:r>
          </a:p>
          <a:p xmlns:a="http://schemas.openxmlformats.org/drawingml/2006/main">
            <a:r>
              <a:t>        "hold": "문서 개정 후 숨긴 평가셋 재검증",</a:t>
            </a:r>
          </a:p>
          <a:p xmlns:a="http://schemas.openxmlformats.org/drawingml/2006/main">
            <a:r>
              <a:t>        "recovery": "전문가 정답셋과 오류 유형별 회귀 평가",</a:t>
            </a:r>
          </a:p>
          <a:p xmlns:a="http://schemas.openxmlformats.org/drawingml/2006/main">
            <a:r>
              <a:t>        "evidence": "전문가 정답표와 근거 정확도·보류 적정성 결과"</a:t>
            </a:r>
          </a:p>
          <a:p xmlns:a="http://schemas.openxmlformats.org/drawingml/2006/main">
            <a:r>
              <a:t>      },</a:t>
            </a:r>
          </a:p>
          <a:p xmlns:a="http://schemas.openxmlformats.org/drawingml/2006/main">
            <a:r>
              <a:t>      "data": {</a:t>
            </a:r>
          </a:p>
          <a:p xmlns:a="http://schemas.openxmlformats.org/drawingml/2006/main">
            <a:r>
              <a:t>        "source": "사내 지식·평가셋",</a:t>
            </a:r>
          </a:p>
          <a:p xmlns:a="http://schemas.openxmlformats.org/drawingml/2006/main">
            <a:r>
              <a:t>        "prepare": "승인 지식·원문 위치·판본별 색인 구성",</a:t>
            </a:r>
          </a:p>
          <a:p xmlns:a="http://schemas.openxmlformats.org/drawingml/2006/main">
            <a:r>
              <a:t>        "output": "질문·업무 목적",</a:t>
            </a:r>
          </a:p>
          <a:p xmlns:a="http://schemas.openxmlformats.org/drawingml/2006/main">
            <a:r>
              <a:t>        "refresh": "전문가 정답셋과 오류 유형별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"AX09",</a:t>
            </a:r>
          </a:p>
          <a:p xmlns:a="http://schemas.openxmlformats.org/drawingml/2006/main">
            <a:r>
              <a:t>    "success": [</a:t>
            </a:r>
          </a:p>
          <a:p xmlns:a="http://schemas.openxmlformats.org/drawingml/2006/main">
            <a:r>
              <a:t>      "전문가 평가셋과 지속 개선",</a:t>
            </a:r>
          </a:p>
          <a:p xmlns:a="http://schemas.openxmlformats.org/drawingml/2006/main">
            <a:r>
              <a:t>      "현업 지식을 업무 접점에서 검색"</a:t>
            </a:r>
          </a:p>
          <a:p xmlns:a="http://schemas.openxmlformats.org/drawingml/2006/main">
            <a:r>
              <a:t>    ],</a:t>
            </a:r>
          </a:p>
          <a:p xmlns:a="http://schemas.openxmlformats.org/drawingml/2006/main">
            <a:r>
              <a:t>    "risks": [</a:t>
            </a:r>
          </a:p>
          <a:p xmlns:a="http://schemas.openxmlformats.org/drawingml/2006/main">
            <a:r>
              <a:t>      "활용률과 정답률의 혼동",</a:t>
            </a:r>
          </a:p>
          <a:p xmlns:a="http://schemas.openxmlformats.org/drawingml/2006/main">
            <a:r>
              <a:t>      "자료 개정에 따른 답변 품질 저하"</a:t>
            </a:r>
          </a:p>
          <a:p xmlns:a="http://schemas.openxmlformats.org/drawingml/2006/main">
            <a:r>
              <a:t>    ],</a:t>
            </a:r>
          </a:p>
          <a:p xmlns:a="http://schemas.openxmlformats.org/drawingml/2006/main">
            <a:r>
              <a:t>    "architecture": [</a:t>
            </a:r>
          </a:p>
          <a:p xmlns:a="http://schemas.openxmlformats.org/drawingml/2006/main">
            <a:r>
              <a:t>      "자문가 질문",</a:t>
            </a:r>
          </a:p>
          <a:p xmlns:a="http://schemas.openxmlformats.org/drawingml/2006/main">
            <a:r>
              <a:t>      "지식 검색·근거 응답",</a:t>
            </a:r>
          </a:p>
          <a:p xmlns:a="http://schemas.openxmlformats.org/drawingml/2006/main">
            <a:r>
              <a:t>      "사내 지식·평가셋",</a:t>
            </a:r>
          </a:p>
          <a:p xmlns:a="http://schemas.openxmlformats.org/drawingml/2006/main">
            <a:r>
              <a:t>      "전문가 검토"</a:t>
            </a:r>
          </a:p>
          <a:p xmlns:a="http://schemas.openxmlformats.org/drawingml/2006/main">
            <a:r>
              <a:t>    ],</a:t>
            </a:r>
          </a:p>
          <a:p xmlns:a="http://schemas.openxmlformats.org/drawingml/2006/main">
            <a:r>
              <a:t>    "transfers": [</a:t>
            </a:r>
          </a:p>
          <a:p xmlns:a="http://schemas.openxmlformats.org/drawingml/2006/main">
            <a:r>
              <a:t>      "질문·업무 목적",</a:t>
            </a:r>
          </a:p>
          <a:p xmlns:a="http://schemas.openxmlformats.org/drawingml/2006/main">
            <a:r>
              <a:t>      "관련 문서",</a:t>
            </a:r>
          </a:p>
          <a:p xmlns:a="http://schemas.openxmlformats.org/drawingml/2006/main">
            <a:r>
              <a:t>      "근거 답변",</a:t>
            </a:r>
          </a:p>
          <a:p xmlns:a="http://schemas.openxmlformats.org/drawingml/2006/main">
            <a:r>
              <a:t>      "평가·수정 기록"</a:t>
            </a:r>
          </a:p>
          <a:p xmlns:a="http://schemas.openxmlformats.org/drawingml/2006/main">
            <a:r>
              <a:t>    ],</a:t>
            </a:r>
          </a:p>
          <a:p xmlns:a="http://schemas.openxmlformats.org/drawingml/2006/main">
            <a:r>
              <a:t>    "control": "문서 개정 후 숨긴 평가셋 재검증",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OpenAI · Morgan Stanley 평가·도입 사례 https://openai.com/index/morgan-stanley/</a:t>
            </a:r>
          </a:p>
          <a:p xmlns:a="http://schemas.openxmlformats.org/drawingml/2006/main">
            <a:r>
              <a:t>홈페이지 https://heen1987-ops.github.io/TS-business-Plan-001/index.html?view=casebook&amp;case=AX09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"AX10",</a:t>
            </a:r>
          </a:p>
          <a:p xmlns:a="http://schemas.openxmlformats.org/drawingml/2006/main">
            <a:r>
              <a:t>    "title": "스키폴 Deep Turnaround",</a:t>
            </a:r>
          </a:p>
          <a:p xmlns:a="http://schemas.openxmlformats.org/drawingml/2006/main">
            <a:r>
              <a:t>    "region": "해외",</a:t>
            </a:r>
          </a:p>
          <a:p xmlns:a="http://schemas.openxmlformats.org/drawingml/2006/main">
            <a:r>
              <a:t>    "country": "네덜란드",</a:t>
            </a:r>
          </a:p>
          <a:p xmlns:a="http://schemas.openxmlformats.org/drawingml/2006/main">
            <a:r>
              <a:t>    "result": "성공",</a:t>
            </a:r>
          </a:p>
          <a:p xmlns:a="http://schemas.openxmlformats.org/drawingml/2006/main">
            <a:r>
              <a:t>    "kind": "공항 지상조업 영상 분석",</a:t>
            </a:r>
          </a:p>
          <a:p xmlns:a="http://schemas.openxmlformats.org/drawingml/2006/main">
            <a:r>
              <a:t>    "period": "운영 사례",</a:t>
            </a:r>
          </a:p>
          <a:p xmlns:a="http://schemas.openxmlformats.org/drawingml/2006/main">
            <a:r>
              <a:t>    "sources": [</a:t>
            </a:r>
          </a:p>
          <a:p xmlns:a="http://schemas.openxmlformats.org/drawingml/2006/main">
            <a:r>
              <a:t>      "S-AX10"</a:t>
            </a:r>
          </a:p>
          <a:p xmlns:a="http://schemas.openxmlformats.org/drawingml/2006/main">
            <a:r>
              <a:t>    ],</a:t>
            </a:r>
          </a:p>
          <a:p xmlns:a="http://schemas.openxmlformats.org/drawingml/2006/main">
            <a:r>
              <a:t>    "keywords": [</a:t>
            </a:r>
          </a:p>
          <a:p xmlns:a="http://schemas.openxmlformats.org/drawingml/2006/main">
            <a:r>
              <a:t>      "공항 지상조업 영상 분석"</a:t>
            </a:r>
          </a:p>
          <a:p xmlns:a="http://schemas.openxmlformats.org/drawingml/2006/main">
            <a:r>
              <a:t>    ],</a:t>
            </a:r>
          </a:p>
          <a:p xmlns:a="http://schemas.openxmlformats.org/drawingml/2006/main">
            <a:r>
              <a:t>    "fact": "카메라 영상에서 지상조업 진행 상태를 추출하여 공항·조업 담당자의 협업에 활용",</a:t>
            </a:r>
          </a:p>
          <a:p xmlns:a="http://schemas.openxmlformats.org/drawingml/2006/main">
            <a:r>
              <a:t>    "limit": "운영기관 발표 · TS 감독 업무와 공항 조업 운영의 역할 차이",</a:t>
            </a:r>
          </a:p>
          <a:p xmlns:a="http://schemas.openxmlformats.org/drawingml/2006/main">
            <a:r>
              <a:t>    "flow": [</a:t>
            </a:r>
          </a:p>
          <a:p xmlns:a="http://schemas.openxmlformats.org/drawingml/2006/main">
            <a:r>
              <a:t>      "카메라 영상",</a:t>
            </a:r>
          </a:p>
          <a:p xmlns:a="http://schemas.openxmlformats.org/drawingml/2006/main">
            <a:r>
              <a:t>      "조업 상태 인식",</a:t>
            </a:r>
          </a:p>
          <a:p xmlns:a="http://schemas.openxmlformats.org/drawingml/2006/main">
            <a:r>
              <a:t>      "대시보드·API",</a:t>
            </a:r>
          </a:p>
          <a:p xmlns:a="http://schemas.openxmlformats.org/drawingml/2006/main">
            <a:r>
              <a:t>      "담당자 조정"</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"현장 이벤트의 공동 상황판 연결",</a:t>
            </a:r>
          </a:p>
          <a:p xmlns:a="http://schemas.openxmlformats.org/drawingml/2006/main">
            <a:r>
              <a:t>    "local": "교통안전 점검 사건·담당자·보고 시점을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"사건 분류·증거 시각·협업 인계",</a:t>
            </a:r>
          </a:p>
          <a:p xmlns:a="http://schemas.openxmlformats.org/drawingml/2006/main">
            <a:r>
              <a:t>    "test": "지연·중복 이벤트와 원영상 대조",</a:t>
            </a:r>
          </a:p>
          <a:p xmlns:a="http://schemas.openxmlformats.org/drawingml/2006/main">
            <a:r>
              <a:t>    "metric": "상황 확인시간 / 인계 누락률",</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"AX10",</a:t>
            </a:r>
          </a:p>
          <a:p xmlns:a="http://schemas.openxmlformats.org/drawingml/2006/main">
            <a:r>
              <a:t>    "canonicalId": "AX10",</a:t>
            </a:r>
          </a:p>
          <a:p xmlns:a="http://schemas.openxmlformats.org/drawingml/2006/main">
            <a:r>
              <a:t>    "purpose": "항공기 지상조업 진행상태의 공동 파악",</a:t>
            </a:r>
          </a:p>
          <a:p xmlns:a="http://schemas.openxmlformats.org/drawingml/2006/main">
            <a:r>
              <a:t>    "users": "공항·항공사·조업 담당자",</a:t>
            </a:r>
          </a:p>
          <a:p xmlns:a="http://schemas.openxmlformats.org/drawingml/2006/main">
            <a:r>
              <a:t>    "scope": [</a:t>
            </a:r>
          </a:p>
          <a:p xmlns:a="http://schemas.openxmlformats.org/drawingml/2006/main">
            <a:r>
              <a:t>      "영상 분석",</a:t>
            </a:r>
          </a:p>
          <a:p xmlns:a="http://schemas.openxmlformats.org/drawingml/2006/main">
            <a:r>
              <a:t>      "조업 단계",</a:t>
            </a:r>
          </a:p>
          <a:p xmlns:a="http://schemas.openxmlformats.org/drawingml/2006/main">
            <a:r>
              <a:t>      "협업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"계류장 카메라",</a:t>
            </a:r>
          </a:p>
          <a:p xmlns:a="http://schemas.openxmlformats.org/drawingml/2006/main">
            <a:r>
              <a:t>        "detail": "항공편·주기장·관측시각 매핑",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분석 / 조업 단계 / 협업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"조업 이벤트 인식",</a:t>
            </a:r>
          </a:p>
          <a:p xmlns:a="http://schemas.openxmlformats.org/drawingml/2006/main">
            <a:r>
              <a:t>        "detail": "영상에서 조업 이벤트와 상태 추출",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"공항·조업 담당",</a:t>
            </a:r>
          </a:p>
          <a:p xmlns:a="http://schemas.openxmlformats.org/drawingml/2006/main">
            <a:r>
              <a:t>        "detail": "지연 예상과 확인 필요 상태를 조업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"시간별 조업 상태",</a:t>
            </a:r>
          </a:p>
          <a:p xmlns:a="http://schemas.openxmlformats.org/drawingml/2006/main">
            <a:r>
              <a:t>        "detail": "카메라 프레임·항공편 일정·상태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"누락 이벤트와 실제 이륙 준비상태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"카메라 영상",</a:t>
            </a:r>
          </a:p>
          <a:p xmlns:a="http://schemas.openxmlformats.org/drawingml/2006/main">
            <a:r>
              <a:t>        "input": "항공편·주기장·관측시각 매핑",</a:t>
            </a:r>
          </a:p>
          <a:p xmlns:a="http://schemas.openxmlformats.org/drawingml/2006/main">
            <a:r>
              <a:t>        "process": "카메라 프레임·항공편 일정·상태 이력 연결",</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"title": "조업 상태 인식",</a:t>
            </a:r>
          </a:p>
          <a:p xmlns:a="http://schemas.openxmlformats.org/drawingml/2006/main">
            <a:r>
              <a:t>        "input": "영상 프레임",</a:t>
            </a:r>
          </a:p>
          <a:p xmlns:a="http://schemas.openxmlformats.org/drawingml/2006/main">
            <a:r>
              <a:t>        "process": "영상에서 조업 이벤트와 상태 추출",</a:t>
            </a:r>
          </a:p>
          <a:p xmlns:a="http://schemas.openxmlformats.org/drawingml/2006/main">
            <a:r>
              <a:t>        "output": "이벤트·시각"</a:t>
            </a:r>
          </a:p>
          <a:p xmlns:a="http://schemas.openxmlformats.org/drawingml/2006/main">
            <a:r>
              <a:t>      },</a:t>
            </a:r>
          </a:p>
          <a:p xmlns:a="http://schemas.openxmlformats.org/drawingml/2006/main">
            <a:r>
              <a:t>      {</a:t>
            </a:r>
          </a:p>
          <a:p xmlns:a="http://schemas.openxmlformats.org/drawingml/2006/main">
            <a:r>
              <a:t>        "title": "대시보드·API",</a:t>
            </a:r>
          </a:p>
          <a:p xmlns:a="http://schemas.openxmlformats.org/drawingml/2006/main">
            <a:r>
              <a:t>        "input": "이벤트·시각",</a:t>
            </a:r>
          </a:p>
          <a:p xmlns:a="http://schemas.openxmlformats.org/drawingml/2006/main">
            <a:r>
              <a:t>        "process": "현장 기준 이벤트와 탐지 시각 대조",</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"title": "담당자 조정",</a:t>
            </a:r>
          </a:p>
          <a:p xmlns:a="http://schemas.openxmlformats.org/drawingml/2006/main">
            <a:r>
              <a:t>        "input": "대시보드·API 상태",</a:t>
            </a:r>
          </a:p>
          <a:p xmlns:a="http://schemas.openxmlformats.org/drawingml/2006/main">
            <a:r>
              <a:t>        "process":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"항공편별 지상조업 단계와 지연 후보를 공동 확인",</a:t>
            </a:r>
          </a:p>
          <a:p xmlns:a="http://schemas.openxmlformats.org/drawingml/2006/main">
            <a:r>
              <a:t>      "exception": "카메라 가림·항공편 변경·이벤트 순서 역전",</a:t>
            </a:r>
          </a:p>
          <a:p xmlns:a="http://schemas.openxmlformats.org/drawingml/2006/main">
            <a:r>
              <a:t>      "evidence": "영상 시각 대비 상태 전이표와 담당자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"공항·항공사·조업 담당자",</a:t>
            </a:r>
          </a:p>
          <a:p xmlns:a="http://schemas.openxmlformats.org/drawingml/2006/main">
            <a:r>
              <a:t>          "processing": "항공편·주기장·관측시각 매핑",</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"시간별 조업 상태",</a:t>
            </a:r>
          </a:p>
          <a:p xmlns:a="http://schemas.openxmlformats.org/drawingml/2006/main">
            <a:r>
              <a:t>          "processing": "카메라 프레임·항공편 일정·상태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 프레임",</a:t>
            </a:r>
          </a:p>
          <a:p xmlns:a="http://schemas.openxmlformats.org/drawingml/2006/main">
            <a:r>
              <a:t>          "processing": "영상에서 조업 이벤트와 상태 추출",</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"대시보드·API 상태",</a:t>
            </a:r>
          </a:p>
          <a:p xmlns:a="http://schemas.openxmlformats.org/drawingml/2006/main">
            <a:r>
              <a:t>          "processing":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"누락 이벤트와 실제 이륙 준비상태 대조",</a:t>
            </a:r>
          </a:p>
          <a:p xmlns:a="http://schemas.openxmlformats.org/drawingml/2006/main">
            <a:r>
              <a:t>          "output": "영상 시각 대비 상태 전이표와 담당자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"누락 이벤트와 실제 이륙 준비상태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"S-AX10",</a:t>
            </a:r>
          </a:p>
          <a:p xmlns:a="http://schemas.openxmlformats.org/drawingml/2006/main">
            <a:r>
              <a:t>        "title": "스키폴 Deep Turnaround · 운영기관 사례 / 게시일 미표시",</a:t>
            </a:r>
          </a:p>
          <a:p xmlns:a="http://schemas.openxmlformats.org/drawingml/2006/main">
            <a:r>
              <a:t>        "url": "https://www.schiphol.nl/en/aviation-solutions/case-study-amsterdam-airport-schiphol-deep-turnaround/",</a:t>
            </a:r>
          </a:p>
          <a:p xmlns:a="http://schemas.openxmlformats.org/drawingml/2006/main">
            <a:r>
              <a:t>        "published": "운영 사례",</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이벤트의 공동 상황판 연결",</a:t>
            </a:r>
          </a:p>
          <a:p xmlns:a="http://schemas.openxmlformats.org/drawingml/2006/main">
            <a:r>
              <a:t>    "local": "교통안전 점검 사건·담당자·보고 시점을 연결",</a:t>
            </a:r>
          </a:p>
          <a:p xmlns:a="http://schemas.openxmlformats.org/drawingml/2006/main">
            <a:r>
              <a:t>    "sourceDetail": null,</a:t>
            </a:r>
          </a:p>
          <a:p xmlns:a="http://schemas.openxmlformats.org/drawingml/2006/main">
            <a:r>
              <a:t>    "narrative": [</a:t>
            </a:r>
          </a:p>
          <a:p xmlns:a="http://schemas.openxmlformats.org/drawingml/2006/main">
            <a:r>
              <a:t>      "공항 지상조업의 진행 상태를 영상으로 파악하고 항공사·조업사·공항이 공유하는 사례. 서로 다른 담당자가 같은 항공편의 준비 상태를 확인하도록 하는 협업 변화.",</a:t>
            </a:r>
          </a:p>
          <a:p xmlns:a="http://schemas.openxmlformats.org/drawingml/2006/main">
            <a:r>
              <a:t>      "카메라 관측을 항공편·주기장·시각과 연결하고 조업 이벤트와 상태를 대시보드·API로 전달하는 구조의 재구성. 관측된 상태, 지연 추정, 실제 조업 조치를 별도 기록으로 관리.",</a:t>
            </a:r>
          </a:p>
          <a:p xmlns:a="http://schemas.openxmlformats.org/drawingml/2006/main">
            <a:r>
              <a:t>      "TS 현장 모니터링에 적용할 경우 야간·가림·날씨·카메라 위치별 편차를 평가할 필요. 탐지 정확도뿐 아니라 담당자가 확인한 시점, 조정 조치, 누락 이벤트의 복구까지 비교할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"조업 관측 접점",</a:t>
            </a:r>
          </a:p>
          <a:p xmlns:a="http://schemas.openxmlformats.org/drawingml/2006/main">
            <a:r>
              <a:t>          "layer": "이용 접점",</a:t>
            </a:r>
          </a:p>
          <a:p xmlns:a="http://schemas.openxmlformats.org/drawingml/2006/main">
            <a:r>
              <a:t>          "detail": "공항·항공사·조업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"항공편·주기장",</a:t>
            </a:r>
          </a:p>
          <a:p xmlns:a="http://schemas.openxmlformats.org/drawingml/2006/main">
            <a:r>
              <a:t>          "layer": "업무 문맥",</a:t>
            </a:r>
          </a:p>
          <a:p xmlns:a="http://schemas.openxmlformats.org/drawingml/2006/main">
            <a:r>
              <a:t>          "detail": "항공편·주기장·관측시각 매핑",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"프레임·일정 조회",</a:t>
            </a:r>
          </a:p>
          <a:p xmlns:a="http://schemas.openxmlformats.org/drawingml/2006/main">
            <a:r>
              <a:t>          "layer": "자료 조회",</a:t>
            </a:r>
          </a:p>
          <a:p xmlns:a="http://schemas.openxmlformats.org/drawingml/2006/main">
            <a:r>
              <a:t>          "detail": "영상 프레임",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"조업 이벤트 인식",</a:t>
            </a:r>
          </a:p>
          <a:p xmlns:a="http://schemas.openxmlformats.org/drawingml/2006/main">
            <a:r>
              <a:t>          "layer": "핵심 처리",</a:t>
            </a:r>
          </a:p>
          <a:p xmlns:a="http://schemas.openxmlformats.org/drawingml/2006/main">
            <a:r>
              <a:t>          "detail": "영상에서 조업 이벤트와 상태 추출",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"시각·누락 대조",</a:t>
            </a:r>
          </a:p>
          <a:p xmlns:a="http://schemas.openxmlformats.org/drawingml/2006/main">
            <a:r>
              <a:t>          "layer": "결과 검증",</a:t>
            </a:r>
          </a:p>
          <a:p xmlns:a="http://schemas.openxmlformats.org/drawingml/2006/main">
            <a:r>
              <a:t>          "detail": "현장 기준 이벤트와 탐지 시각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"조업 담당 확인",</a:t>
            </a:r>
          </a:p>
          <a:p xmlns:a="http://schemas.openxmlformats.org/drawingml/2006/main">
            <a:r>
              <a:t>          "layer": "사람 확인",</a:t>
            </a:r>
          </a:p>
          <a:p xmlns:a="http://schemas.openxmlformats.org/drawingml/2006/main">
            <a:r>
              <a:t>          "detail": "항공편별 지상조업 단계와 지연 후보를 공동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"상황판·API 공유",</a:t>
            </a:r>
          </a:p>
          <a:p xmlns:a="http://schemas.openxmlformats.org/drawingml/2006/main">
            <a:r>
              <a:t>          "layer": "업무 연결",</a:t>
            </a:r>
          </a:p>
          <a:p xmlns:a="http://schemas.openxmlformats.org/drawingml/2006/main">
            <a:r>
              <a:t>          "detail": "지연 예상과 확인 필요 상태를 조업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"지연·현장 결과",</a:t>
            </a:r>
          </a:p>
          <a:p xmlns:a="http://schemas.openxmlformats.org/drawingml/2006/main">
            <a:r>
              <a:t>          "layer": "운영 관측",</a:t>
            </a:r>
          </a:p>
          <a:p xmlns:a="http://schemas.openxmlformats.org/drawingml/2006/main">
            <a:r>
              <a:t>          "detail": "누락 이벤트와 실제 이륙 준비상태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"계류장 영상",</a:t>
            </a:r>
          </a:p>
          <a:p xmlns:a="http://schemas.openxmlformats.org/drawingml/2006/main">
            <a:r>
              <a:t>          "layer": "데이터 원천",</a:t>
            </a:r>
          </a:p>
          <a:p xmlns:a="http://schemas.openxmlformats.org/drawingml/2006/main">
            <a:r>
              <a:t>          "detail": "시간별 조업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"영상·항공편 매핑",</a:t>
            </a:r>
          </a:p>
          <a:p xmlns:a="http://schemas.openxmlformats.org/drawingml/2006/main">
            <a:r>
              <a:t>          "layer": "준비·갱신",</a:t>
            </a:r>
          </a:p>
          <a:p xmlns:a="http://schemas.openxmlformats.org/drawingml/2006/main">
            <a:r>
              <a:t>          "detail": "카메라 프레임·항공편 일정·상태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"이벤트 타임라인",</a:t>
            </a:r>
          </a:p>
          <a:p xmlns:a="http://schemas.openxmlformats.org/drawingml/2006/main">
            <a:r>
              <a:t>          "layer": "상태·지식 저장",</a:t>
            </a:r>
          </a:p>
          <a:p xmlns:a="http://schemas.openxmlformats.org/drawingml/2006/main">
            <a:r>
              <a:t>          "detail": "영상 시각 대비 상태 전이표와 담당자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"영상·협업 권한",</a:t>
            </a:r>
          </a:p>
          <a:p xmlns:a="http://schemas.openxmlformats.org/drawingml/2006/main">
            <a:r>
              <a:t>          "layer": "권한·정책",</a:t>
            </a:r>
          </a:p>
          <a:p xmlns:a="http://schemas.openxmlformats.org/drawingml/2006/main">
            <a:r>
              <a:t>          "detail": "카메라 가림·항공편 변경·이벤트 순서 역전",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"카메라 영상 → 조업 상태 인식 → 대시보드·API → 담당자 조정"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"시간별 조업 상태",</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"대시보드·API 상태",</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"영상·협업 권한",</a:t>
            </a:r>
          </a:p>
          <a:p xmlns:a="http://schemas.openxmlformats.org/drawingml/2006/main">
            <a:r>
              <a:t>          "check": "현장 기준 이벤트와 탐지 시각 대조"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"조업 조정",</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"누락 이벤트와 실제 이륙 준비상태 대조",</a:t>
            </a:r>
          </a:p>
          <a:p xmlns:a="http://schemas.openxmlformats.org/drawingml/2006/main">
            <a:r>
              <a:t>          "check": "누락 이벤트와 실제 이륙 준비상태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"항공기 지상조업 진행상태의 공동 파악 / 영상 분석·조업 단계·협업 알림",</a:t>
            </a:r>
          </a:p>
          <a:p xmlns:a="http://schemas.openxmlformats.org/drawingml/2006/main">
            <a:r>
              <a:t>        "extension": "교통안전 점검 사건·담당자·보고 시점을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"카메라 가림·항공편 변경·이벤트 순서 역전",</a:t>
            </a:r>
          </a:p>
          <a:p xmlns:a="http://schemas.openxmlformats.org/drawingml/2006/main">
            <a:r>
              <a:t>        "hold": "현장 기준 이벤트와 탐지 시각 대조",</a:t>
            </a:r>
          </a:p>
          <a:p xmlns:a="http://schemas.openxmlformats.org/drawingml/2006/main">
            <a:r>
              <a:t>        "recovery": "누락 이벤트와 실제 이륙 준비상태 대조",</a:t>
            </a:r>
          </a:p>
          <a:p xmlns:a="http://schemas.openxmlformats.org/drawingml/2006/main">
            <a:r>
              <a:t>        "evidence": "영상 시각 대비 상태 전이표와 담당자 확인 기록"</a:t>
            </a:r>
          </a:p>
          <a:p xmlns:a="http://schemas.openxmlformats.org/drawingml/2006/main">
            <a:r>
              <a:t>      },</a:t>
            </a:r>
          </a:p>
          <a:p xmlns:a="http://schemas.openxmlformats.org/drawingml/2006/main">
            <a:r>
              <a:t>      "data": {</a:t>
            </a:r>
          </a:p>
          <a:p xmlns:a="http://schemas.openxmlformats.org/drawingml/2006/main">
            <a:r>
              <a:t>        "source": "시간별 조업 상태",</a:t>
            </a:r>
          </a:p>
          <a:p xmlns:a="http://schemas.openxmlformats.org/drawingml/2006/main">
            <a:r>
              <a:t>        "prepare": "카메라 프레임·항공편 일정·상태 이력 연결",</a:t>
            </a:r>
          </a:p>
          <a:p xmlns:a="http://schemas.openxmlformats.org/drawingml/2006/main">
            <a:r>
              <a:t>        "output": "영상 프레임",</a:t>
            </a:r>
          </a:p>
          <a:p xmlns:a="http://schemas.openxmlformats.org/drawingml/2006/main">
            <a:r>
              <a:t>        "refresh": "누락 이벤트와 실제 이륙 준비상태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"AX10",</a:t>
            </a:r>
          </a:p>
          <a:p xmlns:a="http://schemas.openxmlformats.org/drawingml/2006/main">
            <a:r>
              <a:t>    "success": [</a:t>
            </a:r>
          </a:p>
          <a:p xmlns:a="http://schemas.openxmlformats.org/drawingml/2006/main">
            <a:r>
              <a:t>      "공통 조업 상태의 공유",</a:t>
            </a:r>
          </a:p>
          <a:p xmlns:a="http://schemas.openxmlformats.org/drawingml/2006/main">
            <a:r>
              <a:t>      "영상 관측과 실제 현장 조정 연결"</a:t>
            </a:r>
          </a:p>
          <a:p xmlns:a="http://schemas.openxmlformats.org/drawingml/2006/main">
            <a:r>
              <a:t>    ],</a:t>
            </a:r>
          </a:p>
          <a:p xmlns:a="http://schemas.openxmlformats.org/drawingml/2006/main">
            <a:r>
              <a:t>    "risks": [</a:t>
            </a:r>
          </a:p>
          <a:p xmlns:a="http://schemas.openxmlformats.org/drawingml/2006/main">
            <a:r>
              <a:t>      "가림·야간·날씨에 따른 인식 편차",</a:t>
            </a:r>
          </a:p>
          <a:p xmlns:a="http://schemas.openxmlformats.org/drawingml/2006/main">
            <a:r>
              <a:t>      "상태 추정과 안전 판단의 혼동"</a:t>
            </a:r>
          </a:p>
          <a:p xmlns:a="http://schemas.openxmlformats.org/drawingml/2006/main">
            <a:r>
              <a:t>    ],</a:t>
            </a:r>
          </a:p>
          <a:p xmlns:a="http://schemas.openxmlformats.org/drawingml/2006/main">
            <a:r>
              <a:t>    "architecture": [</a:t>
            </a:r>
          </a:p>
          <a:p xmlns:a="http://schemas.openxmlformats.org/drawingml/2006/main">
            <a:r>
              <a:t>      "계류장 카메라",</a:t>
            </a:r>
          </a:p>
          <a:p xmlns:a="http://schemas.openxmlformats.org/drawingml/2006/main">
            <a:r>
              <a:t>      "조업 이벤트 인식",</a:t>
            </a:r>
          </a:p>
          <a:p xmlns:a="http://schemas.openxmlformats.org/drawingml/2006/main">
            <a:r>
              <a:t>      "시간별 조업 상태",</a:t>
            </a:r>
          </a:p>
          <a:p xmlns:a="http://schemas.openxmlformats.org/drawingml/2006/main">
            <a:r>
              <a:t>      "공항·조업 담당"</a:t>
            </a:r>
          </a:p>
          <a:p xmlns:a="http://schemas.openxmlformats.org/drawingml/2006/main">
            <a:r>
              <a:t>    ],</a:t>
            </a:r>
          </a:p>
          <a:p xmlns:a="http://schemas.openxmlformats.org/drawingml/2006/main">
            <a:r>
              <a:t>    "transfers": [</a:t>
            </a:r>
          </a:p>
          <a:p xmlns:a="http://schemas.openxmlformats.org/drawingml/2006/main">
            <a:r>
              <a:t>      "영상 프레임",</a:t>
            </a:r>
          </a:p>
          <a:p xmlns:a="http://schemas.openxmlformats.org/drawingml/2006/main">
            <a:r>
              <a:t>      "이벤트·시각",</a:t>
            </a:r>
          </a:p>
          <a:p xmlns:a="http://schemas.openxmlformats.org/drawingml/2006/main">
            <a:r>
              <a:t>      "대시보드·API 상태",</a:t>
            </a:r>
          </a:p>
          <a:p xmlns:a="http://schemas.openxmlformats.org/drawingml/2006/main">
            <a:r>
              <a:t>      "조업 조정"</a:t>
            </a:r>
          </a:p>
          <a:p xmlns:a="http://schemas.openxmlformats.org/drawingml/2006/main">
            <a:r>
              <a:t>    ],</a:t>
            </a:r>
          </a:p>
          <a:p xmlns:a="http://schemas.openxmlformats.org/drawingml/2006/main">
            <a:r>
              <a:t>    "control": "현장 기준 이벤트와 탐지 시각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스키폴 Deep Turnaround · 운영기관 사례 / 게시일 미표시 https://www.schiphol.nl/en/aviation-solutions/case-study-amsterdam-airport-schiphol-deep-turnaround/</a:t>
            </a:r>
          </a:p>
          <a:p xmlns:a="http://schemas.openxmlformats.org/drawingml/2006/main">
            <a:r>
              <a:t>홈페이지 https://heen1987-ops.github.io/TS-business-Plan-001/index.html?view=casebook&amp;case=AX10</a:t>
            </a:r>
          </a:p>
          <a:p xmlns:a="http://schemas.openxmlformats.org/drawingml/2006/main">
            <a:r>
              <a:t>한계: 운영기관 발표 · TS 감독 업무와 공항 조업 운영의 역할 차이</a:t>
            </a:r>
          </a:p>
          <a:p xmlns:a="http://schemas.openxmlformats.org/drawingml/2006/main">
            <a:r>
              <a:t>실패 위험: 가림·야간·날씨에 따른 인식 편차 / 상태 추정과 안전 판단의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"AX10",</a:t>
            </a:r>
          </a:p>
          <a:p xmlns:a="http://schemas.openxmlformats.org/drawingml/2006/main">
            <a:r>
              <a:t>    "title": "스키폴 Deep Turnaround",</a:t>
            </a:r>
          </a:p>
          <a:p xmlns:a="http://schemas.openxmlformats.org/drawingml/2006/main">
            <a:r>
              <a:t>    "region": "해외",</a:t>
            </a:r>
          </a:p>
          <a:p xmlns:a="http://schemas.openxmlformats.org/drawingml/2006/main">
            <a:r>
              <a:t>    "country": "네덜란드",</a:t>
            </a:r>
          </a:p>
          <a:p xmlns:a="http://schemas.openxmlformats.org/drawingml/2006/main">
            <a:r>
              <a:t>    "result": "성공",</a:t>
            </a:r>
          </a:p>
          <a:p xmlns:a="http://schemas.openxmlformats.org/drawingml/2006/main">
            <a:r>
              <a:t>    "kind": "공항 지상조업 영상 분석",</a:t>
            </a:r>
          </a:p>
          <a:p xmlns:a="http://schemas.openxmlformats.org/drawingml/2006/main">
            <a:r>
              <a:t>    "period": "운영 사례",</a:t>
            </a:r>
          </a:p>
          <a:p xmlns:a="http://schemas.openxmlformats.org/drawingml/2006/main">
            <a:r>
              <a:t>    "sources": [</a:t>
            </a:r>
          </a:p>
          <a:p xmlns:a="http://schemas.openxmlformats.org/drawingml/2006/main">
            <a:r>
              <a:t>      "S-AX10"</a:t>
            </a:r>
          </a:p>
          <a:p xmlns:a="http://schemas.openxmlformats.org/drawingml/2006/main">
            <a:r>
              <a:t>    ],</a:t>
            </a:r>
          </a:p>
          <a:p xmlns:a="http://schemas.openxmlformats.org/drawingml/2006/main">
            <a:r>
              <a:t>    "keywords": [</a:t>
            </a:r>
          </a:p>
          <a:p xmlns:a="http://schemas.openxmlformats.org/drawingml/2006/main">
            <a:r>
              <a:t>      "공항 지상조업 영상 분석"</a:t>
            </a:r>
          </a:p>
          <a:p xmlns:a="http://schemas.openxmlformats.org/drawingml/2006/main">
            <a:r>
              <a:t>    ],</a:t>
            </a:r>
          </a:p>
          <a:p xmlns:a="http://schemas.openxmlformats.org/drawingml/2006/main">
            <a:r>
              <a:t>    "fact": "카메라 영상에서 지상조업 진행 상태를 추출하여 공항·조업 담당자의 협업에 활용",</a:t>
            </a:r>
          </a:p>
          <a:p xmlns:a="http://schemas.openxmlformats.org/drawingml/2006/main">
            <a:r>
              <a:t>    "limit": "운영기관 발표 · TS 감독 업무와 공항 조업 운영의 역할 차이",</a:t>
            </a:r>
          </a:p>
          <a:p xmlns:a="http://schemas.openxmlformats.org/drawingml/2006/main">
            <a:r>
              <a:t>    "flow": [</a:t>
            </a:r>
          </a:p>
          <a:p xmlns:a="http://schemas.openxmlformats.org/drawingml/2006/main">
            <a:r>
              <a:t>      "카메라 영상",</a:t>
            </a:r>
          </a:p>
          <a:p xmlns:a="http://schemas.openxmlformats.org/drawingml/2006/main">
            <a:r>
              <a:t>      "조업 상태 인식",</a:t>
            </a:r>
          </a:p>
          <a:p xmlns:a="http://schemas.openxmlformats.org/drawingml/2006/main">
            <a:r>
              <a:t>      "대시보드·API",</a:t>
            </a:r>
          </a:p>
          <a:p xmlns:a="http://schemas.openxmlformats.org/drawingml/2006/main">
            <a:r>
              <a:t>      "담당자 조정"</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"현장 이벤트의 공동 상황판 연결",</a:t>
            </a:r>
          </a:p>
          <a:p xmlns:a="http://schemas.openxmlformats.org/drawingml/2006/main">
            <a:r>
              <a:t>    "local": "교통안전 점검 사건·담당자·보고 시점을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"사건 분류·증거 시각·협업 인계",</a:t>
            </a:r>
          </a:p>
          <a:p xmlns:a="http://schemas.openxmlformats.org/drawingml/2006/main">
            <a:r>
              <a:t>    "test": "지연·중복 이벤트와 원영상 대조",</a:t>
            </a:r>
          </a:p>
          <a:p xmlns:a="http://schemas.openxmlformats.org/drawingml/2006/main">
            <a:r>
              <a:t>    "metric": "상황 확인시간 / 인계 누락률",</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"AX10",</a:t>
            </a:r>
          </a:p>
          <a:p xmlns:a="http://schemas.openxmlformats.org/drawingml/2006/main">
            <a:r>
              <a:t>    "canonicalId": "AX10",</a:t>
            </a:r>
          </a:p>
          <a:p xmlns:a="http://schemas.openxmlformats.org/drawingml/2006/main">
            <a:r>
              <a:t>    "purpose": "항공기 지상조업 진행상태의 공동 파악",</a:t>
            </a:r>
          </a:p>
          <a:p xmlns:a="http://schemas.openxmlformats.org/drawingml/2006/main">
            <a:r>
              <a:t>    "users": "공항·항공사·조업 담당자",</a:t>
            </a:r>
          </a:p>
          <a:p xmlns:a="http://schemas.openxmlformats.org/drawingml/2006/main">
            <a:r>
              <a:t>    "scope": [</a:t>
            </a:r>
          </a:p>
          <a:p xmlns:a="http://schemas.openxmlformats.org/drawingml/2006/main">
            <a:r>
              <a:t>      "영상 분석",</a:t>
            </a:r>
          </a:p>
          <a:p xmlns:a="http://schemas.openxmlformats.org/drawingml/2006/main">
            <a:r>
              <a:t>      "조업 단계",</a:t>
            </a:r>
          </a:p>
          <a:p xmlns:a="http://schemas.openxmlformats.org/drawingml/2006/main">
            <a:r>
              <a:t>      "협업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"계류장 카메라",</a:t>
            </a:r>
          </a:p>
          <a:p xmlns:a="http://schemas.openxmlformats.org/drawingml/2006/main">
            <a:r>
              <a:t>        "detail": "항공편·주기장·관측시각 매핑",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분석 / 조업 단계 / 협업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"조업 이벤트 인식",</a:t>
            </a:r>
          </a:p>
          <a:p xmlns:a="http://schemas.openxmlformats.org/drawingml/2006/main">
            <a:r>
              <a:t>        "detail": "영상에서 조업 이벤트와 상태 추출",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"공항·조업 담당",</a:t>
            </a:r>
          </a:p>
          <a:p xmlns:a="http://schemas.openxmlformats.org/drawingml/2006/main">
            <a:r>
              <a:t>        "detail": "지연 예상과 확인 필요 상태를 조업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"시간별 조업 상태",</a:t>
            </a:r>
          </a:p>
          <a:p xmlns:a="http://schemas.openxmlformats.org/drawingml/2006/main">
            <a:r>
              <a:t>        "detail": "카메라 프레임·항공편 일정·상태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"누락 이벤트와 실제 이륙 준비상태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"카메라 영상",</a:t>
            </a:r>
          </a:p>
          <a:p xmlns:a="http://schemas.openxmlformats.org/drawingml/2006/main">
            <a:r>
              <a:t>        "input": "항공편·주기장·관측시각 매핑",</a:t>
            </a:r>
          </a:p>
          <a:p xmlns:a="http://schemas.openxmlformats.org/drawingml/2006/main">
            <a:r>
              <a:t>        "process": "카메라 프레임·항공편 일정·상태 이력 연결",</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"title": "조업 상태 인식",</a:t>
            </a:r>
          </a:p>
          <a:p xmlns:a="http://schemas.openxmlformats.org/drawingml/2006/main">
            <a:r>
              <a:t>        "input": "영상 프레임",</a:t>
            </a:r>
          </a:p>
          <a:p xmlns:a="http://schemas.openxmlformats.org/drawingml/2006/main">
            <a:r>
              <a:t>        "process": "영상에서 조업 이벤트와 상태 추출",</a:t>
            </a:r>
          </a:p>
          <a:p xmlns:a="http://schemas.openxmlformats.org/drawingml/2006/main">
            <a:r>
              <a:t>        "output": "이벤트·시각"</a:t>
            </a:r>
          </a:p>
          <a:p xmlns:a="http://schemas.openxmlformats.org/drawingml/2006/main">
            <a:r>
              <a:t>      },</a:t>
            </a:r>
          </a:p>
          <a:p xmlns:a="http://schemas.openxmlformats.org/drawingml/2006/main">
            <a:r>
              <a:t>      {</a:t>
            </a:r>
          </a:p>
          <a:p xmlns:a="http://schemas.openxmlformats.org/drawingml/2006/main">
            <a:r>
              <a:t>        "title": "대시보드·API",</a:t>
            </a:r>
          </a:p>
          <a:p xmlns:a="http://schemas.openxmlformats.org/drawingml/2006/main">
            <a:r>
              <a:t>        "input": "이벤트·시각",</a:t>
            </a:r>
          </a:p>
          <a:p xmlns:a="http://schemas.openxmlformats.org/drawingml/2006/main">
            <a:r>
              <a:t>        "process": "현장 기준 이벤트와 탐지 시각 대조",</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"title": "담당자 조정",</a:t>
            </a:r>
          </a:p>
          <a:p xmlns:a="http://schemas.openxmlformats.org/drawingml/2006/main">
            <a:r>
              <a:t>        "input": "대시보드·API 상태",</a:t>
            </a:r>
          </a:p>
          <a:p xmlns:a="http://schemas.openxmlformats.org/drawingml/2006/main">
            <a:r>
              <a:t>        "process":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"항공편별 지상조업 단계와 지연 후보를 공동 확인",</a:t>
            </a:r>
          </a:p>
          <a:p xmlns:a="http://schemas.openxmlformats.org/drawingml/2006/main">
            <a:r>
              <a:t>      "exception": "카메라 가림·항공편 변경·이벤트 순서 역전",</a:t>
            </a:r>
          </a:p>
          <a:p xmlns:a="http://schemas.openxmlformats.org/drawingml/2006/main">
            <a:r>
              <a:t>      "evidence": "영상 시각 대비 상태 전이표와 담당자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"공항·항공사·조업 담당자",</a:t>
            </a:r>
          </a:p>
          <a:p xmlns:a="http://schemas.openxmlformats.org/drawingml/2006/main">
            <a:r>
              <a:t>          "processing": "항공편·주기장·관측시각 매핑",</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"시간별 조업 상태",</a:t>
            </a:r>
          </a:p>
          <a:p xmlns:a="http://schemas.openxmlformats.org/drawingml/2006/main">
            <a:r>
              <a:t>          "processing": "카메라 프레임·항공편 일정·상태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 프레임",</a:t>
            </a:r>
          </a:p>
          <a:p xmlns:a="http://schemas.openxmlformats.org/drawingml/2006/main">
            <a:r>
              <a:t>          "processing": "영상에서 조업 이벤트와 상태 추출",</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"대시보드·API 상태",</a:t>
            </a:r>
          </a:p>
          <a:p xmlns:a="http://schemas.openxmlformats.org/drawingml/2006/main">
            <a:r>
              <a:t>          "processing":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"누락 이벤트와 실제 이륙 준비상태 대조",</a:t>
            </a:r>
          </a:p>
          <a:p xmlns:a="http://schemas.openxmlformats.org/drawingml/2006/main">
            <a:r>
              <a:t>          "output": "영상 시각 대비 상태 전이표와 담당자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"누락 이벤트와 실제 이륙 준비상태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"S-AX10",</a:t>
            </a:r>
          </a:p>
          <a:p xmlns:a="http://schemas.openxmlformats.org/drawingml/2006/main">
            <a:r>
              <a:t>        "title": "스키폴 Deep Turnaround · 운영기관 사례 / 게시일 미표시",</a:t>
            </a:r>
          </a:p>
          <a:p xmlns:a="http://schemas.openxmlformats.org/drawingml/2006/main">
            <a:r>
              <a:t>        "url": "https://www.schiphol.nl/en/aviation-solutions/case-study-amsterdam-airport-schiphol-deep-turnaround/",</a:t>
            </a:r>
          </a:p>
          <a:p xmlns:a="http://schemas.openxmlformats.org/drawingml/2006/main">
            <a:r>
              <a:t>        "published": "운영 사례",</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이벤트의 공동 상황판 연결",</a:t>
            </a:r>
          </a:p>
          <a:p xmlns:a="http://schemas.openxmlformats.org/drawingml/2006/main">
            <a:r>
              <a:t>    "local": "교통안전 점검 사건·담당자·보고 시점을 연결",</a:t>
            </a:r>
          </a:p>
          <a:p xmlns:a="http://schemas.openxmlformats.org/drawingml/2006/main">
            <a:r>
              <a:t>    "sourceDetail": null,</a:t>
            </a:r>
          </a:p>
          <a:p xmlns:a="http://schemas.openxmlformats.org/drawingml/2006/main">
            <a:r>
              <a:t>    "narrative": [</a:t>
            </a:r>
          </a:p>
          <a:p xmlns:a="http://schemas.openxmlformats.org/drawingml/2006/main">
            <a:r>
              <a:t>      "공항 지상조업의 진행 상태를 영상으로 파악하고 항공사·조업사·공항이 공유하는 사례. 서로 다른 담당자가 같은 항공편의 준비 상태를 확인하도록 하는 협업 변화.",</a:t>
            </a:r>
          </a:p>
          <a:p xmlns:a="http://schemas.openxmlformats.org/drawingml/2006/main">
            <a:r>
              <a:t>      "카메라 관측을 항공편·주기장·시각과 연결하고 조업 이벤트와 상태를 대시보드·API로 전달하는 구조의 재구성. 관측된 상태, 지연 추정, 실제 조업 조치를 별도 기록으로 관리.",</a:t>
            </a:r>
          </a:p>
          <a:p xmlns:a="http://schemas.openxmlformats.org/drawingml/2006/main">
            <a:r>
              <a:t>      "TS 현장 모니터링에 적용할 경우 야간·가림·날씨·카메라 위치별 편차를 평가할 필요. 탐지 정확도뿐 아니라 담당자가 확인한 시점, 조정 조치, 누락 이벤트의 복구까지 비교할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"조업 관측 접점",</a:t>
            </a:r>
          </a:p>
          <a:p xmlns:a="http://schemas.openxmlformats.org/drawingml/2006/main">
            <a:r>
              <a:t>          "layer": "이용 접점",</a:t>
            </a:r>
          </a:p>
          <a:p xmlns:a="http://schemas.openxmlformats.org/drawingml/2006/main">
            <a:r>
              <a:t>          "detail": "공항·항공사·조업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"항공편·주기장",</a:t>
            </a:r>
          </a:p>
          <a:p xmlns:a="http://schemas.openxmlformats.org/drawingml/2006/main">
            <a:r>
              <a:t>          "layer": "업무 문맥",</a:t>
            </a:r>
          </a:p>
          <a:p xmlns:a="http://schemas.openxmlformats.org/drawingml/2006/main">
            <a:r>
              <a:t>          "detail": "항공편·주기장·관측시각 매핑",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"프레임·일정 조회",</a:t>
            </a:r>
          </a:p>
          <a:p xmlns:a="http://schemas.openxmlformats.org/drawingml/2006/main">
            <a:r>
              <a:t>          "layer": "자료 조회",</a:t>
            </a:r>
          </a:p>
          <a:p xmlns:a="http://schemas.openxmlformats.org/drawingml/2006/main">
            <a:r>
              <a:t>          "detail": "영상 프레임",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"조업 이벤트 인식",</a:t>
            </a:r>
          </a:p>
          <a:p xmlns:a="http://schemas.openxmlformats.org/drawingml/2006/main">
            <a:r>
              <a:t>          "layer": "핵심 처리",</a:t>
            </a:r>
          </a:p>
          <a:p xmlns:a="http://schemas.openxmlformats.org/drawingml/2006/main">
            <a:r>
              <a:t>          "detail": "영상에서 조업 이벤트와 상태 추출",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"시각·누락 대조",</a:t>
            </a:r>
          </a:p>
          <a:p xmlns:a="http://schemas.openxmlformats.org/drawingml/2006/main">
            <a:r>
              <a:t>          "layer": "결과 검증",</a:t>
            </a:r>
          </a:p>
          <a:p xmlns:a="http://schemas.openxmlformats.org/drawingml/2006/main">
            <a:r>
              <a:t>          "detail": "현장 기준 이벤트와 탐지 시각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"조업 담당 확인",</a:t>
            </a:r>
          </a:p>
          <a:p xmlns:a="http://schemas.openxmlformats.org/drawingml/2006/main">
            <a:r>
              <a:t>          "layer": "사람 확인",</a:t>
            </a:r>
          </a:p>
          <a:p xmlns:a="http://schemas.openxmlformats.org/drawingml/2006/main">
            <a:r>
              <a:t>          "detail": "항공편별 지상조업 단계와 지연 후보를 공동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"상황판·API 공유",</a:t>
            </a:r>
          </a:p>
          <a:p xmlns:a="http://schemas.openxmlformats.org/drawingml/2006/main">
            <a:r>
              <a:t>          "layer": "업무 연결",</a:t>
            </a:r>
          </a:p>
          <a:p xmlns:a="http://schemas.openxmlformats.org/drawingml/2006/main">
            <a:r>
              <a:t>          "detail": "지연 예상과 확인 필요 상태를 조업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"지연·현장 결과",</a:t>
            </a:r>
          </a:p>
          <a:p xmlns:a="http://schemas.openxmlformats.org/drawingml/2006/main">
            <a:r>
              <a:t>          "layer": "운영 관측",</a:t>
            </a:r>
          </a:p>
          <a:p xmlns:a="http://schemas.openxmlformats.org/drawingml/2006/main">
            <a:r>
              <a:t>          "detail": "누락 이벤트와 실제 이륙 준비상태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"계류장 영상",</a:t>
            </a:r>
          </a:p>
          <a:p xmlns:a="http://schemas.openxmlformats.org/drawingml/2006/main">
            <a:r>
              <a:t>          "layer": "데이터 원천",</a:t>
            </a:r>
          </a:p>
          <a:p xmlns:a="http://schemas.openxmlformats.org/drawingml/2006/main">
            <a:r>
              <a:t>          "detail": "시간별 조업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"영상·항공편 매핑",</a:t>
            </a:r>
          </a:p>
          <a:p xmlns:a="http://schemas.openxmlformats.org/drawingml/2006/main">
            <a:r>
              <a:t>          "layer": "준비·갱신",</a:t>
            </a:r>
          </a:p>
          <a:p xmlns:a="http://schemas.openxmlformats.org/drawingml/2006/main">
            <a:r>
              <a:t>          "detail": "카메라 프레임·항공편 일정·상태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"이벤트 타임라인",</a:t>
            </a:r>
          </a:p>
          <a:p xmlns:a="http://schemas.openxmlformats.org/drawingml/2006/main">
            <a:r>
              <a:t>          "layer": "상태·지식 저장",</a:t>
            </a:r>
          </a:p>
          <a:p xmlns:a="http://schemas.openxmlformats.org/drawingml/2006/main">
            <a:r>
              <a:t>          "detail": "영상 시각 대비 상태 전이표와 담당자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"영상·협업 권한",</a:t>
            </a:r>
          </a:p>
          <a:p xmlns:a="http://schemas.openxmlformats.org/drawingml/2006/main">
            <a:r>
              <a:t>          "layer": "권한·정책",</a:t>
            </a:r>
          </a:p>
          <a:p xmlns:a="http://schemas.openxmlformats.org/drawingml/2006/main">
            <a:r>
              <a:t>          "detail": "카메라 가림·항공편 변경·이벤트 순서 역전",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"카메라 영상 → 조업 상태 인식 → 대시보드·API → 담당자 조정"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"시간별 조업 상태",</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"대시보드·API 상태",</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"영상·협업 권한",</a:t>
            </a:r>
          </a:p>
          <a:p xmlns:a="http://schemas.openxmlformats.org/drawingml/2006/main">
            <a:r>
              <a:t>          "check": "현장 기준 이벤트와 탐지 시각 대조"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"조업 조정",</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"누락 이벤트와 실제 이륙 준비상태 대조",</a:t>
            </a:r>
          </a:p>
          <a:p xmlns:a="http://schemas.openxmlformats.org/drawingml/2006/main">
            <a:r>
              <a:t>          "check": "누락 이벤트와 실제 이륙 준비상태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"항공기 지상조업 진행상태의 공동 파악 / 영상 분석·조업 단계·협업 알림",</a:t>
            </a:r>
          </a:p>
          <a:p xmlns:a="http://schemas.openxmlformats.org/drawingml/2006/main">
            <a:r>
              <a:t>        "extension": "교통안전 점검 사건·담당자·보고 시점을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"카메라 가림·항공편 변경·이벤트 순서 역전",</a:t>
            </a:r>
          </a:p>
          <a:p xmlns:a="http://schemas.openxmlformats.org/drawingml/2006/main">
            <a:r>
              <a:t>        "hold": "현장 기준 이벤트와 탐지 시각 대조",</a:t>
            </a:r>
          </a:p>
          <a:p xmlns:a="http://schemas.openxmlformats.org/drawingml/2006/main">
            <a:r>
              <a:t>        "recovery": "누락 이벤트와 실제 이륙 준비상태 대조",</a:t>
            </a:r>
          </a:p>
          <a:p xmlns:a="http://schemas.openxmlformats.org/drawingml/2006/main">
            <a:r>
              <a:t>        "evidence": "영상 시각 대비 상태 전이표와 담당자 확인 기록"</a:t>
            </a:r>
          </a:p>
          <a:p xmlns:a="http://schemas.openxmlformats.org/drawingml/2006/main">
            <a:r>
              <a:t>      },</a:t>
            </a:r>
          </a:p>
          <a:p xmlns:a="http://schemas.openxmlformats.org/drawingml/2006/main">
            <a:r>
              <a:t>      "data": {</a:t>
            </a:r>
          </a:p>
          <a:p xmlns:a="http://schemas.openxmlformats.org/drawingml/2006/main">
            <a:r>
              <a:t>        "source": "시간별 조업 상태",</a:t>
            </a:r>
          </a:p>
          <a:p xmlns:a="http://schemas.openxmlformats.org/drawingml/2006/main">
            <a:r>
              <a:t>        "prepare": "카메라 프레임·항공편 일정·상태 이력 연결",</a:t>
            </a:r>
          </a:p>
          <a:p xmlns:a="http://schemas.openxmlformats.org/drawingml/2006/main">
            <a:r>
              <a:t>        "output": "영상 프레임",</a:t>
            </a:r>
          </a:p>
          <a:p xmlns:a="http://schemas.openxmlformats.org/drawingml/2006/main">
            <a:r>
              <a:t>        "refresh": "누락 이벤트와 실제 이륙 준비상태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"AX10",</a:t>
            </a:r>
          </a:p>
          <a:p xmlns:a="http://schemas.openxmlformats.org/drawingml/2006/main">
            <a:r>
              <a:t>    "success": [</a:t>
            </a:r>
          </a:p>
          <a:p xmlns:a="http://schemas.openxmlformats.org/drawingml/2006/main">
            <a:r>
              <a:t>      "공통 조업 상태의 공유",</a:t>
            </a:r>
          </a:p>
          <a:p xmlns:a="http://schemas.openxmlformats.org/drawingml/2006/main">
            <a:r>
              <a:t>      "영상 관측과 실제 현장 조정 연결"</a:t>
            </a:r>
          </a:p>
          <a:p xmlns:a="http://schemas.openxmlformats.org/drawingml/2006/main">
            <a:r>
              <a:t>    ],</a:t>
            </a:r>
          </a:p>
          <a:p xmlns:a="http://schemas.openxmlformats.org/drawingml/2006/main">
            <a:r>
              <a:t>    "risks": [</a:t>
            </a:r>
          </a:p>
          <a:p xmlns:a="http://schemas.openxmlformats.org/drawingml/2006/main">
            <a:r>
              <a:t>      "가림·야간·날씨에 따른 인식 편차",</a:t>
            </a:r>
          </a:p>
          <a:p xmlns:a="http://schemas.openxmlformats.org/drawingml/2006/main">
            <a:r>
              <a:t>      "상태 추정과 안전 판단의 혼동"</a:t>
            </a:r>
          </a:p>
          <a:p xmlns:a="http://schemas.openxmlformats.org/drawingml/2006/main">
            <a:r>
              <a:t>    ],</a:t>
            </a:r>
          </a:p>
          <a:p xmlns:a="http://schemas.openxmlformats.org/drawingml/2006/main">
            <a:r>
              <a:t>    "architecture": [</a:t>
            </a:r>
          </a:p>
          <a:p xmlns:a="http://schemas.openxmlformats.org/drawingml/2006/main">
            <a:r>
              <a:t>      "계류장 카메라",</a:t>
            </a:r>
          </a:p>
          <a:p xmlns:a="http://schemas.openxmlformats.org/drawingml/2006/main">
            <a:r>
              <a:t>      "조업 이벤트 인식",</a:t>
            </a:r>
          </a:p>
          <a:p xmlns:a="http://schemas.openxmlformats.org/drawingml/2006/main">
            <a:r>
              <a:t>      "시간별 조업 상태",</a:t>
            </a:r>
          </a:p>
          <a:p xmlns:a="http://schemas.openxmlformats.org/drawingml/2006/main">
            <a:r>
              <a:t>      "공항·조업 담당"</a:t>
            </a:r>
          </a:p>
          <a:p xmlns:a="http://schemas.openxmlformats.org/drawingml/2006/main">
            <a:r>
              <a:t>    ],</a:t>
            </a:r>
          </a:p>
          <a:p xmlns:a="http://schemas.openxmlformats.org/drawingml/2006/main">
            <a:r>
              <a:t>    "transfers": [</a:t>
            </a:r>
          </a:p>
          <a:p xmlns:a="http://schemas.openxmlformats.org/drawingml/2006/main">
            <a:r>
              <a:t>      "영상 프레임",</a:t>
            </a:r>
          </a:p>
          <a:p xmlns:a="http://schemas.openxmlformats.org/drawingml/2006/main">
            <a:r>
              <a:t>      "이벤트·시각",</a:t>
            </a:r>
          </a:p>
          <a:p xmlns:a="http://schemas.openxmlformats.org/drawingml/2006/main">
            <a:r>
              <a:t>      "대시보드·API 상태",</a:t>
            </a:r>
          </a:p>
          <a:p xmlns:a="http://schemas.openxmlformats.org/drawingml/2006/main">
            <a:r>
              <a:t>      "조업 조정"</a:t>
            </a:r>
          </a:p>
          <a:p xmlns:a="http://schemas.openxmlformats.org/drawingml/2006/main">
            <a:r>
              <a:t>    ],</a:t>
            </a:r>
          </a:p>
          <a:p xmlns:a="http://schemas.openxmlformats.org/drawingml/2006/main">
            <a:r>
              <a:t>    "control": "현장 기준 이벤트와 탐지 시각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스키폴 Deep Turnaround · 운영기관 사례 / 게시일 미표시 https://www.schiphol.nl/en/aviation-solutions/case-study-amsterdam-airport-schiphol-deep-turnaround/</a:t>
            </a:r>
          </a:p>
          <a:p xmlns:a="http://schemas.openxmlformats.org/drawingml/2006/main">
            <a:r>
              <a:t>홈페이지 https://heen1987-ops.github.io/TS-business-Plan-001/index.html?view=casebook&amp;case=AX10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"AX10",</a:t>
            </a:r>
          </a:p>
          <a:p xmlns:a="http://schemas.openxmlformats.org/drawingml/2006/main">
            <a:r>
              <a:t>    "title": "스키폴 Deep Turnaround",</a:t>
            </a:r>
          </a:p>
          <a:p xmlns:a="http://schemas.openxmlformats.org/drawingml/2006/main">
            <a:r>
              <a:t>    "region": "해외",</a:t>
            </a:r>
          </a:p>
          <a:p xmlns:a="http://schemas.openxmlformats.org/drawingml/2006/main">
            <a:r>
              <a:t>    "country": "네덜란드",</a:t>
            </a:r>
          </a:p>
          <a:p xmlns:a="http://schemas.openxmlformats.org/drawingml/2006/main">
            <a:r>
              <a:t>    "result": "성공",</a:t>
            </a:r>
          </a:p>
          <a:p xmlns:a="http://schemas.openxmlformats.org/drawingml/2006/main">
            <a:r>
              <a:t>    "kind": "공항 지상조업 영상 분석",</a:t>
            </a:r>
          </a:p>
          <a:p xmlns:a="http://schemas.openxmlformats.org/drawingml/2006/main">
            <a:r>
              <a:t>    "period": "운영 사례",</a:t>
            </a:r>
          </a:p>
          <a:p xmlns:a="http://schemas.openxmlformats.org/drawingml/2006/main">
            <a:r>
              <a:t>    "sources": [</a:t>
            </a:r>
          </a:p>
          <a:p xmlns:a="http://schemas.openxmlformats.org/drawingml/2006/main">
            <a:r>
              <a:t>      "S-AX10"</a:t>
            </a:r>
          </a:p>
          <a:p xmlns:a="http://schemas.openxmlformats.org/drawingml/2006/main">
            <a:r>
              <a:t>    ],</a:t>
            </a:r>
          </a:p>
          <a:p xmlns:a="http://schemas.openxmlformats.org/drawingml/2006/main">
            <a:r>
              <a:t>    "keywords": [</a:t>
            </a:r>
          </a:p>
          <a:p xmlns:a="http://schemas.openxmlformats.org/drawingml/2006/main">
            <a:r>
              <a:t>      "공항 지상조업 영상 분석"</a:t>
            </a:r>
          </a:p>
          <a:p xmlns:a="http://schemas.openxmlformats.org/drawingml/2006/main">
            <a:r>
              <a:t>    ],</a:t>
            </a:r>
          </a:p>
          <a:p xmlns:a="http://schemas.openxmlformats.org/drawingml/2006/main">
            <a:r>
              <a:t>    "fact": "카메라 영상에서 지상조업 진행 상태를 추출하여 공항·조업 담당자의 협업에 활용",</a:t>
            </a:r>
          </a:p>
          <a:p xmlns:a="http://schemas.openxmlformats.org/drawingml/2006/main">
            <a:r>
              <a:t>    "limit": "운영기관 발표 · TS 감독 업무와 공항 조업 운영의 역할 차이",</a:t>
            </a:r>
          </a:p>
          <a:p xmlns:a="http://schemas.openxmlformats.org/drawingml/2006/main">
            <a:r>
              <a:t>    "flow": [</a:t>
            </a:r>
          </a:p>
          <a:p xmlns:a="http://schemas.openxmlformats.org/drawingml/2006/main">
            <a:r>
              <a:t>      "카메라 영상",</a:t>
            </a:r>
          </a:p>
          <a:p xmlns:a="http://schemas.openxmlformats.org/drawingml/2006/main">
            <a:r>
              <a:t>      "조업 상태 인식",</a:t>
            </a:r>
          </a:p>
          <a:p xmlns:a="http://schemas.openxmlformats.org/drawingml/2006/main">
            <a:r>
              <a:t>      "대시보드·API",</a:t>
            </a:r>
          </a:p>
          <a:p xmlns:a="http://schemas.openxmlformats.org/drawingml/2006/main">
            <a:r>
              <a:t>      "담당자 조정"</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"현장 이벤트의 공동 상황판 연결",</a:t>
            </a:r>
          </a:p>
          <a:p xmlns:a="http://schemas.openxmlformats.org/drawingml/2006/main">
            <a:r>
              <a:t>    "local": "교통안전 점검 사건·담당자·보고 시점을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"사건 분류·증거 시각·협업 인계",</a:t>
            </a:r>
          </a:p>
          <a:p xmlns:a="http://schemas.openxmlformats.org/drawingml/2006/main">
            <a:r>
              <a:t>    "test": "지연·중복 이벤트와 원영상 대조",</a:t>
            </a:r>
          </a:p>
          <a:p xmlns:a="http://schemas.openxmlformats.org/drawingml/2006/main">
            <a:r>
              <a:t>    "metric": "상황 확인시간 / 인계 누락률",</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"AX10",</a:t>
            </a:r>
          </a:p>
          <a:p xmlns:a="http://schemas.openxmlformats.org/drawingml/2006/main">
            <a:r>
              <a:t>    "canonicalId": "AX10",</a:t>
            </a:r>
          </a:p>
          <a:p xmlns:a="http://schemas.openxmlformats.org/drawingml/2006/main">
            <a:r>
              <a:t>    "purpose": "항공기 지상조업 진행상태의 공동 파악",</a:t>
            </a:r>
          </a:p>
          <a:p xmlns:a="http://schemas.openxmlformats.org/drawingml/2006/main">
            <a:r>
              <a:t>    "users": "공항·항공사·조업 담당자",</a:t>
            </a:r>
          </a:p>
          <a:p xmlns:a="http://schemas.openxmlformats.org/drawingml/2006/main">
            <a:r>
              <a:t>    "scope": [</a:t>
            </a:r>
          </a:p>
          <a:p xmlns:a="http://schemas.openxmlformats.org/drawingml/2006/main">
            <a:r>
              <a:t>      "영상 분석",</a:t>
            </a:r>
          </a:p>
          <a:p xmlns:a="http://schemas.openxmlformats.org/drawingml/2006/main">
            <a:r>
              <a:t>      "조업 단계",</a:t>
            </a:r>
          </a:p>
          <a:p xmlns:a="http://schemas.openxmlformats.org/drawingml/2006/main">
            <a:r>
              <a:t>      "협업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"계류장 카메라",</a:t>
            </a:r>
          </a:p>
          <a:p xmlns:a="http://schemas.openxmlformats.org/drawingml/2006/main">
            <a:r>
              <a:t>        "detail": "항공편·주기장·관측시각 매핑",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분석 / 조업 단계 / 협업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"조업 이벤트 인식",</a:t>
            </a:r>
          </a:p>
          <a:p xmlns:a="http://schemas.openxmlformats.org/drawingml/2006/main">
            <a:r>
              <a:t>        "detail": "영상에서 조업 이벤트와 상태 추출",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"공항·조업 담당",</a:t>
            </a:r>
          </a:p>
          <a:p xmlns:a="http://schemas.openxmlformats.org/drawingml/2006/main">
            <a:r>
              <a:t>        "detail": "지연 예상과 확인 필요 상태를 조업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"시간별 조업 상태",</a:t>
            </a:r>
          </a:p>
          <a:p xmlns:a="http://schemas.openxmlformats.org/drawingml/2006/main">
            <a:r>
              <a:t>        "detail": "카메라 프레임·항공편 일정·상태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"누락 이벤트와 실제 이륙 준비상태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"카메라 영상",</a:t>
            </a:r>
          </a:p>
          <a:p xmlns:a="http://schemas.openxmlformats.org/drawingml/2006/main">
            <a:r>
              <a:t>        "input": "항공편·주기장·관측시각 매핑",</a:t>
            </a:r>
          </a:p>
          <a:p xmlns:a="http://schemas.openxmlformats.org/drawingml/2006/main">
            <a:r>
              <a:t>        "process": "카메라 프레임·항공편 일정·상태 이력 연결",</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"title": "조업 상태 인식",</a:t>
            </a:r>
          </a:p>
          <a:p xmlns:a="http://schemas.openxmlformats.org/drawingml/2006/main">
            <a:r>
              <a:t>        "input": "영상 프레임",</a:t>
            </a:r>
          </a:p>
          <a:p xmlns:a="http://schemas.openxmlformats.org/drawingml/2006/main">
            <a:r>
              <a:t>        "process": "영상에서 조업 이벤트와 상태 추출",</a:t>
            </a:r>
          </a:p>
          <a:p xmlns:a="http://schemas.openxmlformats.org/drawingml/2006/main">
            <a:r>
              <a:t>        "output": "이벤트·시각"</a:t>
            </a:r>
          </a:p>
          <a:p xmlns:a="http://schemas.openxmlformats.org/drawingml/2006/main">
            <a:r>
              <a:t>      },</a:t>
            </a:r>
          </a:p>
          <a:p xmlns:a="http://schemas.openxmlformats.org/drawingml/2006/main">
            <a:r>
              <a:t>      {</a:t>
            </a:r>
          </a:p>
          <a:p xmlns:a="http://schemas.openxmlformats.org/drawingml/2006/main">
            <a:r>
              <a:t>        "title": "대시보드·API",</a:t>
            </a:r>
          </a:p>
          <a:p xmlns:a="http://schemas.openxmlformats.org/drawingml/2006/main">
            <a:r>
              <a:t>        "input": "이벤트·시각",</a:t>
            </a:r>
          </a:p>
          <a:p xmlns:a="http://schemas.openxmlformats.org/drawingml/2006/main">
            <a:r>
              <a:t>        "process": "현장 기준 이벤트와 탐지 시각 대조",</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"title": "담당자 조정",</a:t>
            </a:r>
          </a:p>
          <a:p xmlns:a="http://schemas.openxmlformats.org/drawingml/2006/main">
            <a:r>
              <a:t>        "input": "대시보드·API 상태",</a:t>
            </a:r>
          </a:p>
          <a:p xmlns:a="http://schemas.openxmlformats.org/drawingml/2006/main">
            <a:r>
              <a:t>        "process":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"항공편별 지상조업 단계와 지연 후보를 공동 확인",</a:t>
            </a:r>
          </a:p>
          <a:p xmlns:a="http://schemas.openxmlformats.org/drawingml/2006/main">
            <a:r>
              <a:t>      "exception": "카메라 가림·항공편 변경·이벤트 순서 역전",</a:t>
            </a:r>
          </a:p>
          <a:p xmlns:a="http://schemas.openxmlformats.org/drawingml/2006/main">
            <a:r>
              <a:t>      "evidence": "영상 시각 대비 상태 전이표와 담당자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"공항·항공사·조업 담당자",</a:t>
            </a:r>
          </a:p>
          <a:p xmlns:a="http://schemas.openxmlformats.org/drawingml/2006/main">
            <a:r>
              <a:t>          "processing": "항공편·주기장·관측시각 매핑",</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"시간별 조업 상태",</a:t>
            </a:r>
          </a:p>
          <a:p xmlns:a="http://schemas.openxmlformats.org/drawingml/2006/main">
            <a:r>
              <a:t>          "processing": "카메라 프레임·항공편 일정·상태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 프레임",</a:t>
            </a:r>
          </a:p>
          <a:p xmlns:a="http://schemas.openxmlformats.org/drawingml/2006/main">
            <a:r>
              <a:t>          "processing": "영상에서 조업 이벤트와 상태 추출",</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"대시보드·API 상태",</a:t>
            </a:r>
          </a:p>
          <a:p xmlns:a="http://schemas.openxmlformats.org/drawingml/2006/main">
            <a:r>
              <a:t>          "processing":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"누락 이벤트와 실제 이륙 준비상태 대조",</a:t>
            </a:r>
          </a:p>
          <a:p xmlns:a="http://schemas.openxmlformats.org/drawingml/2006/main">
            <a:r>
              <a:t>          "output": "영상 시각 대비 상태 전이표와 담당자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"누락 이벤트와 실제 이륙 준비상태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"S-AX10",</a:t>
            </a:r>
          </a:p>
          <a:p xmlns:a="http://schemas.openxmlformats.org/drawingml/2006/main">
            <a:r>
              <a:t>        "title": "스키폴 Deep Turnaround · 운영기관 사례 / 게시일 미표시",</a:t>
            </a:r>
          </a:p>
          <a:p xmlns:a="http://schemas.openxmlformats.org/drawingml/2006/main">
            <a:r>
              <a:t>        "url": "https://www.schiphol.nl/en/aviation-solutions/case-study-amsterdam-airport-schiphol-deep-turnaround/",</a:t>
            </a:r>
          </a:p>
          <a:p xmlns:a="http://schemas.openxmlformats.org/drawingml/2006/main">
            <a:r>
              <a:t>        "published": "운영 사례",</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이벤트의 공동 상황판 연결",</a:t>
            </a:r>
          </a:p>
          <a:p xmlns:a="http://schemas.openxmlformats.org/drawingml/2006/main">
            <a:r>
              <a:t>    "local": "교통안전 점검 사건·담당자·보고 시점을 연결",</a:t>
            </a:r>
          </a:p>
          <a:p xmlns:a="http://schemas.openxmlformats.org/drawingml/2006/main">
            <a:r>
              <a:t>    "sourceDetail": null,</a:t>
            </a:r>
          </a:p>
          <a:p xmlns:a="http://schemas.openxmlformats.org/drawingml/2006/main">
            <a:r>
              <a:t>    "narrative": [</a:t>
            </a:r>
          </a:p>
          <a:p xmlns:a="http://schemas.openxmlformats.org/drawingml/2006/main">
            <a:r>
              <a:t>      "공항 지상조업의 진행 상태를 영상으로 파악하고 항공사·조업사·공항이 공유하는 사례. 서로 다른 담당자가 같은 항공편의 준비 상태를 확인하도록 하는 협업 변화.",</a:t>
            </a:r>
          </a:p>
          <a:p xmlns:a="http://schemas.openxmlformats.org/drawingml/2006/main">
            <a:r>
              <a:t>      "카메라 관측을 항공편·주기장·시각과 연결하고 조업 이벤트와 상태를 대시보드·API로 전달하는 구조의 재구성. 관측된 상태, 지연 추정, 실제 조업 조치를 별도 기록으로 관리.",</a:t>
            </a:r>
          </a:p>
          <a:p xmlns:a="http://schemas.openxmlformats.org/drawingml/2006/main">
            <a:r>
              <a:t>      "TS 현장 모니터링에 적용할 경우 야간·가림·날씨·카메라 위치별 편차를 평가할 필요. 탐지 정확도뿐 아니라 담당자가 확인한 시점, 조정 조치, 누락 이벤트의 복구까지 비교할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"조업 관측 접점",</a:t>
            </a:r>
          </a:p>
          <a:p xmlns:a="http://schemas.openxmlformats.org/drawingml/2006/main">
            <a:r>
              <a:t>          "layer": "이용 접점",</a:t>
            </a:r>
          </a:p>
          <a:p xmlns:a="http://schemas.openxmlformats.org/drawingml/2006/main">
            <a:r>
              <a:t>          "detail": "공항·항공사·조업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"항공편·주기장",</a:t>
            </a:r>
          </a:p>
          <a:p xmlns:a="http://schemas.openxmlformats.org/drawingml/2006/main">
            <a:r>
              <a:t>          "layer": "업무 문맥",</a:t>
            </a:r>
          </a:p>
          <a:p xmlns:a="http://schemas.openxmlformats.org/drawingml/2006/main">
            <a:r>
              <a:t>          "detail": "항공편·주기장·관측시각 매핑",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"프레임·일정 조회",</a:t>
            </a:r>
          </a:p>
          <a:p xmlns:a="http://schemas.openxmlformats.org/drawingml/2006/main">
            <a:r>
              <a:t>          "layer": "자료 조회",</a:t>
            </a:r>
          </a:p>
          <a:p xmlns:a="http://schemas.openxmlformats.org/drawingml/2006/main">
            <a:r>
              <a:t>          "detail": "영상 프레임",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"조업 이벤트 인식",</a:t>
            </a:r>
          </a:p>
          <a:p xmlns:a="http://schemas.openxmlformats.org/drawingml/2006/main">
            <a:r>
              <a:t>          "layer": "핵심 처리",</a:t>
            </a:r>
          </a:p>
          <a:p xmlns:a="http://schemas.openxmlformats.org/drawingml/2006/main">
            <a:r>
              <a:t>          "detail": "영상에서 조업 이벤트와 상태 추출",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"시각·누락 대조",</a:t>
            </a:r>
          </a:p>
          <a:p xmlns:a="http://schemas.openxmlformats.org/drawingml/2006/main">
            <a:r>
              <a:t>          "layer": "결과 검증",</a:t>
            </a:r>
          </a:p>
          <a:p xmlns:a="http://schemas.openxmlformats.org/drawingml/2006/main">
            <a:r>
              <a:t>          "detail": "현장 기준 이벤트와 탐지 시각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"조업 담당 확인",</a:t>
            </a:r>
          </a:p>
          <a:p xmlns:a="http://schemas.openxmlformats.org/drawingml/2006/main">
            <a:r>
              <a:t>          "layer": "사람 확인",</a:t>
            </a:r>
          </a:p>
          <a:p xmlns:a="http://schemas.openxmlformats.org/drawingml/2006/main">
            <a:r>
              <a:t>          "detail": "항공편별 지상조업 단계와 지연 후보를 공동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"상황판·API 공유",</a:t>
            </a:r>
          </a:p>
          <a:p xmlns:a="http://schemas.openxmlformats.org/drawingml/2006/main">
            <a:r>
              <a:t>          "layer": "업무 연결",</a:t>
            </a:r>
          </a:p>
          <a:p xmlns:a="http://schemas.openxmlformats.org/drawingml/2006/main">
            <a:r>
              <a:t>          "detail": "지연 예상과 확인 필요 상태를 조업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"지연·현장 결과",</a:t>
            </a:r>
          </a:p>
          <a:p xmlns:a="http://schemas.openxmlformats.org/drawingml/2006/main">
            <a:r>
              <a:t>          "layer": "운영 관측",</a:t>
            </a:r>
          </a:p>
          <a:p xmlns:a="http://schemas.openxmlformats.org/drawingml/2006/main">
            <a:r>
              <a:t>          "detail": "누락 이벤트와 실제 이륙 준비상태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"계류장 영상",</a:t>
            </a:r>
          </a:p>
          <a:p xmlns:a="http://schemas.openxmlformats.org/drawingml/2006/main">
            <a:r>
              <a:t>          "layer": "데이터 원천",</a:t>
            </a:r>
          </a:p>
          <a:p xmlns:a="http://schemas.openxmlformats.org/drawingml/2006/main">
            <a:r>
              <a:t>          "detail": "시간별 조업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"영상·항공편 매핑",</a:t>
            </a:r>
          </a:p>
          <a:p xmlns:a="http://schemas.openxmlformats.org/drawingml/2006/main">
            <a:r>
              <a:t>          "layer": "준비·갱신",</a:t>
            </a:r>
          </a:p>
          <a:p xmlns:a="http://schemas.openxmlformats.org/drawingml/2006/main">
            <a:r>
              <a:t>          "detail": "카메라 프레임·항공편 일정·상태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"이벤트 타임라인",</a:t>
            </a:r>
          </a:p>
          <a:p xmlns:a="http://schemas.openxmlformats.org/drawingml/2006/main">
            <a:r>
              <a:t>          "layer": "상태·지식 저장",</a:t>
            </a:r>
          </a:p>
          <a:p xmlns:a="http://schemas.openxmlformats.org/drawingml/2006/main">
            <a:r>
              <a:t>          "detail": "영상 시각 대비 상태 전이표와 담당자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"영상·협업 권한",</a:t>
            </a:r>
          </a:p>
          <a:p xmlns:a="http://schemas.openxmlformats.org/drawingml/2006/main">
            <a:r>
              <a:t>          "layer": "권한·정책",</a:t>
            </a:r>
          </a:p>
          <a:p xmlns:a="http://schemas.openxmlformats.org/drawingml/2006/main">
            <a:r>
              <a:t>          "detail": "카메라 가림·항공편 변경·이벤트 순서 역전",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"카메라 영상 → 조업 상태 인식 → 대시보드·API → 담당자 조정"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"시간별 조업 상태",</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"대시보드·API 상태",</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"영상·협업 권한",</a:t>
            </a:r>
          </a:p>
          <a:p xmlns:a="http://schemas.openxmlformats.org/drawingml/2006/main">
            <a:r>
              <a:t>          "check": "현장 기준 이벤트와 탐지 시각 대조"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"조업 조정",</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"누락 이벤트와 실제 이륙 준비상태 대조",</a:t>
            </a:r>
          </a:p>
          <a:p xmlns:a="http://schemas.openxmlformats.org/drawingml/2006/main">
            <a:r>
              <a:t>          "check": "누락 이벤트와 실제 이륙 준비상태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"항공기 지상조업 진행상태의 공동 파악 / 영상 분석·조업 단계·협업 알림",</a:t>
            </a:r>
          </a:p>
          <a:p xmlns:a="http://schemas.openxmlformats.org/drawingml/2006/main">
            <a:r>
              <a:t>        "extension": "교통안전 점검 사건·담당자·보고 시점을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"카메라 가림·항공편 변경·이벤트 순서 역전",</a:t>
            </a:r>
          </a:p>
          <a:p xmlns:a="http://schemas.openxmlformats.org/drawingml/2006/main">
            <a:r>
              <a:t>        "hold": "현장 기준 이벤트와 탐지 시각 대조",</a:t>
            </a:r>
          </a:p>
          <a:p xmlns:a="http://schemas.openxmlformats.org/drawingml/2006/main">
            <a:r>
              <a:t>        "recovery": "누락 이벤트와 실제 이륙 준비상태 대조",</a:t>
            </a:r>
          </a:p>
          <a:p xmlns:a="http://schemas.openxmlformats.org/drawingml/2006/main">
            <a:r>
              <a:t>        "evidence": "영상 시각 대비 상태 전이표와 담당자 확인 기록"</a:t>
            </a:r>
          </a:p>
          <a:p xmlns:a="http://schemas.openxmlformats.org/drawingml/2006/main">
            <a:r>
              <a:t>      },</a:t>
            </a:r>
          </a:p>
          <a:p xmlns:a="http://schemas.openxmlformats.org/drawingml/2006/main">
            <a:r>
              <a:t>      "data": {</a:t>
            </a:r>
          </a:p>
          <a:p xmlns:a="http://schemas.openxmlformats.org/drawingml/2006/main">
            <a:r>
              <a:t>        "source": "시간별 조업 상태",</a:t>
            </a:r>
          </a:p>
          <a:p xmlns:a="http://schemas.openxmlformats.org/drawingml/2006/main">
            <a:r>
              <a:t>        "prepare": "카메라 프레임·항공편 일정·상태 이력 연결",</a:t>
            </a:r>
          </a:p>
          <a:p xmlns:a="http://schemas.openxmlformats.org/drawingml/2006/main">
            <a:r>
              <a:t>        "output": "영상 프레임",</a:t>
            </a:r>
          </a:p>
          <a:p xmlns:a="http://schemas.openxmlformats.org/drawingml/2006/main">
            <a:r>
              <a:t>        "refresh": "누락 이벤트와 실제 이륙 준비상태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"AX10",</a:t>
            </a:r>
          </a:p>
          <a:p xmlns:a="http://schemas.openxmlformats.org/drawingml/2006/main">
            <a:r>
              <a:t>    "success": [</a:t>
            </a:r>
          </a:p>
          <a:p xmlns:a="http://schemas.openxmlformats.org/drawingml/2006/main">
            <a:r>
              <a:t>      "공통 조업 상태의 공유",</a:t>
            </a:r>
          </a:p>
          <a:p xmlns:a="http://schemas.openxmlformats.org/drawingml/2006/main">
            <a:r>
              <a:t>      "영상 관측과 실제 현장 조정 연결"</a:t>
            </a:r>
          </a:p>
          <a:p xmlns:a="http://schemas.openxmlformats.org/drawingml/2006/main">
            <a:r>
              <a:t>    ],</a:t>
            </a:r>
          </a:p>
          <a:p xmlns:a="http://schemas.openxmlformats.org/drawingml/2006/main">
            <a:r>
              <a:t>    "risks": [</a:t>
            </a:r>
          </a:p>
          <a:p xmlns:a="http://schemas.openxmlformats.org/drawingml/2006/main">
            <a:r>
              <a:t>      "가림·야간·날씨에 따른 인식 편차",</a:t>
            </a:r>
          </a:p>
          <a:p xmlns:a="http://schemas.openxmlformats.org/drawingml/2006/main">
            <a:r>
              <a:t>      "상태 추정과 안전 판단의 혼동"</a:t>
            </a:r>
          </a:p>
          <a:p xmlns:a="http://schemas.openxmlformats.org/drawingml/2006/main">
            <a:r>
              <a:t>    ],</a:t>
            </a:r>
          </a:p>
          <a:p xmlns:a="http://schemas.openxmlformats.org/drawingml/2006/main">
            <a:r>
              <a:t>    "architecture": [</a:t>
            </a:r>
          </a:p>
          <a:p xmlns:a="http://schemas.openxmlformats.org/drawingml/2006/main">
            <a:r>
              <a:t>      "계류장 카메라",</a:t>
            </a:r>
          </a:p>
          <a:p xmlns:a="http://schemas.openxmlformats.org/drawingml/2006/main">
            <a:r>
              <a:t>      "조업 이벤트 인식",</a:t>
            </a:r>
          </a:p>
          <a:p xmlns:a="http://schemas.openxmlformats.org/drawingml/2006/main">
            <a:r>
              <a:t>      "시간별 조업 상태",</a:t>
            </a:r>
          </a:p>
          <a:p xmlns:a="http://schemas.openxmlformats.org/drawingml/2006/main">
            <a:r>
              <a:t>      "공항·조업 담당"</a:t>
            </a:r>
          </a:p>
          <a:p xmlns:a="http://schemas.openxmlformats.org/drawingml/2006/main">
            <a:r>
              <a:t>    ],</a:t>
            </a:r>
          </a:p>
          <a:p xmlns:a="http://schemas.openxmlformats.org/drawingml/2006/main">
            <a:r>
              <a:t>    "transfers": [</a:t>
            </a:r>
          </a:p>
          <a:p xmlns:a="http://schemas.openxmlformats.org/drawingml/2006/main">
            <a:r>
              <a:t>      "영상 프레임",</a:t>
            </a:r>
          </a:p>
          <a:p xmlns:a="http://schemas.openxmlformats.org/drawingml/2006/main">
            <a:r>
              <a:t>      "이벤트·시각",</a:t>
            </a:r>
          </a:p>
          <a:p xmlns:a="http://schemas.openxmlformats.org/drawingml/2006/main">
            <a:r>
              <a:t>      "대시보드·API 상태",</a:t>
            </a:r>
          </a:p>
          <a:p xmlns:a="http://schemas.openxmlformats.org/drawingml/2006/main">
            <a:r>
              <a:t>      "조업 조정"</a:t>
            </a:r>
          </a:p>
          <a:p xmlns:a="http://schemas.openxmlformats.org/drawingml/2006/main">
            <a:r>
              <a:t>    ],</a:t>
            </a:r>
          </a:p>
          <a:p xmlns:a="http://schemas.openxmlformats.org/drawingml/2006/main">
            <a:r>
              <a:t>    "control": "현장 기준 이벤트와 탐지 시각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스키폴 Deep Turnaround · 운영기관 사례 / 게시일 미표시 https://www.schiphol.nl/en/aviation-solutions/case-study-amsterdam-airport-schiphol-deep-turnaround/</a:t>
            </a:r>
          </a:p>
          <a:p xmlns:a="http://schemas.openxmlformats.org/drawingml/2006/main">
            <a:r>
              <a:t>홈페이지 https://heen1987-ops.github.io/TS-business-Plan-001/index.html?view=casebook&amp;case=AX10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"AX10",</a:t>
            </a:r>
          </a:p>
          <a:p xmlns:a="http://schemas.openxmlformats.org/drawingml/2006/main">
            <a:r>
              <a:t>    "title": "스키폴 Deep Turnaround",</a:t>
            </a:r>
          </a:p>
          <a:p xmlns:a="http://schemas.openxmlformats.org/drawingml/2006/main">
            <a:r>
              <a:t>    "region": "해외",</a:t>
            </a:r>
          </a:p>
          <a:p xmlns:a="http://schemas.openxmlformats.org/drawingml/2006/main">
            <a:r>
              <a:t>    "country": "네덜란드",</a:t>
            </a:r>
          </a:p>
          <a:p xmlns:a="http://schemas.openxmlformats.org/drawingml/2006/main">
            <a:r>
              <a:t>    "result": "성공",</a:t>
            </a:r>
          </a:p>
          <a:p xmlns:a="http://schemas.openxmlformats.org/drawingml/2006/main">
            <a:r>
              <a:t>    "kind": "공항 지상조업 영상 분석",</a:t>
            </a:r>
          </a:p>
          <a:p xmlns:a="http://schemas.openxmlformats.org/drawingml/2006/main">
            <a:r>
              <a:t>    "period": "운영 사례",</a:t>
            </a:r>
          </a:p>
          <a:p xmlns:a="http://schemas.openxmlformats.org/drawingml/2006/main">
            <a:r>
              <a:t>    "sources": [</a:t>
            </a:r>
          </a:p>
          <a:p xmlns:a="http://schemas.openxmlformats.org/drawingml/2006/main">
            <a:r>
              <a:t>      "S-AX10"</a:t>
            </a:r>
          </a:p>
          <a:p xmlns:a="http://schemas.openxmlformats.org/drawingml/2006/main">
            <a:r>
              <a:t>    ],</a:t>
            </a:r>
          </a:p>
          <a:p xmlns:a="http://schemas.openxmlformats.org/drawingml/2006/main">
            <a:r>
              <a:t>    "keywords": [</a:t>
            </a:r>
          </a:p>
          <a:p xmlns:a="http://schemas.openxmlformats.org/drawingml/2006/main">
            <a:r>
              <a:t>      "공항 지상조업 영상 분석"</a:t>
            </a:r>
          </a:p>
          <a:p xmlns:a="http://schemas.openxmlformats.org/drawingml/2006/main">
            <a:r>
              <a:t>    ],</a:t>
            </a:r>
          </a:p>
          <a:p xmlns:a="http://schemas.openxmlformats.org/drawingml/2006/main">
            <a:r>
              <a:t>    "fact": "카메라 영상에서 지상조업 진행 상태를 추출하여 공항·조업 담당자의 협업에 활용",</a:t>
            </a:r>
          </a:p>
          <a:p xmlns:a="http://schemas.openxmlformats.org/drawingml/2006/main">
            <a:r>
              <a:t>    "limit": "운영기관 발표 · TS 감독 업무와 공항 조업 운영의 역할 차이",</a:t>
            </a:r>
          </a:p>
          <a:p xmlns:a="http://schemas.openxmlformats.org/drawingml/2006/main">
            <a:r>
              <a:t>    "flow": [</a:t>
            </a:r>
          </a:p>
          <a:p xmlns:a="http://schemas.openxmlformats.org/drawingml/2006/main">
            <a:r>
              <a:t>      "카메라 영상",</a:t>
            </a:r>
          </a:p>
          <a:p xmlns:a="http://schemas.openxmlformats.org/drawingml/2006/main">
            <a:r>
              <a:t>      "조업 상태 인식",</a:t>
            </a:r>
          </a:p>
          <a:p xmlns:a="http://schemas.openxmlformats.org/drawingml/2006/main">
            <a:r>
              <a:t>      "대시보드·API",</a:t>
            </a:r>
          </a:p>
          <a:p xmlns:a="http://schemas.openxmlformats.org/drawingml/2006/main">
            <a:r>
              <a:t>      "담당자 조정"</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"현장 이벤트의 공동 상황판 연결",</a:t>
            </a:r>
          </a:p>
          <a:p xmlns:a="http://schemas.openxmlformats.org/drawingml/2006/main">
            <a:r>
              <a:t>    "local": "교통안전 점검 사건·담당자·보고 시점을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"사건 분류·증거 시각·협업 인계",</a:t>
            </a:r>
          </a:p>
          <a:p xmlns:a="http://schemas.openxmlformats.org/drawingml/2006/main">
            <a:r>
              <a:t>    "test": "지연·중복 이벤트와 원영상 대조",</a:t>
            </a:r>
          </a:p>
          <a:p xmlns:a="http://schemas.openxmlformats.org/drawingml/2006/main">
            <a:r>
              <a:t>    "metric": "상황 확인시간 / 인계 누락률",</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"AX10",</a:t>
            </a:r>
          </a:p>
          <a:p xmlns:a="http://schemas.openxmlformats.org/drawingml/2006/main">
            <a:r>
              <a:t>    "canonicalId": "AX10",</a:t>
            </a:r>
          </a:p>
          <a:p xmlns:a="http://schemas.openxmlformats.org/drawingml/2006/main">
            <a:r>
              <a:t>    "purpose": "항공기 지상조업 진행상태의 공동 파악",</a:t>
            </a:r>
          </a:p>
          <a:p xmlns:a="http://schemas.openxmlformats.org/drawingml/2006/main">
            <a:r>
              <a:t>    "users": "공항·항공사·조업 담당자",</a:t>
            </a:r>
          </a:p>
          <a:p xmlns:a="http://schemas.openxmlformats.org/drawingml/2006/main">
            <a:r>
              <a:t>    "scope": [</a:t>
            </a:r>
          </a:p>
          <a:p xmlns:a="http://schemas.openxmlformats.org/drawingml/2006/main">
            <a:r>
              <a:t>      "영상 분석",</a:t>
            </a:r>
          </a:p>
          <a:p xmlns:a="http://schemas.openxmlformats.org/drawingml/2006/main">
            <a:r>
              <a:t>      "조업 단계",</a:t>
            </a:r>
          </a:p>
          <a:p xmlns:a="http://schemas.openxmlformats.org/drawingml/2006/main">
            <a:r>
              <a:t>      "협업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"계류장 카메라",</a:t>
            </a:r>
          </a:p>
          <a:p xmlns:a="http://schemas.openxmlformats.org/drawingml/2006/main">
            <a:r>
              <a:t>        "detail": "항공편·주기장·관측시각 매핑",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분석 / 조업 단계 / 협업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"조업 이벤트 인식",</a:t>
            </a:r>
          </a:p>
          <a:p xmlns:a="http://schemas.openxmlformats.org/drawingml/2006/main">
            <a:r>
              <a:t>        "detail": "영상에서 조업 이벤트와 상태 추출",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"공항·조업 담당",</a:t>
            </a:r>
          </a:p>
          <a:p xmlns:a="http://schemas.openxmlformats.org/drawingml/2006/main">
            <a:r>
              <a:t>        "detail": "지연 예상과 확인 필요 상태를 조업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"시간별 조업 상태",</a:t>
            </a:r>
          </a:p>
          <a:p xmlns:a="http://schemas.openxmlformats.org/drawingml/2006/main">
            <a:r>
              <a:t>        "detail": "카메라 프레임·항공편 일정·상태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"누락 이벤트와 실제 이륙 준비상태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"카메라 영상",</a:t>
            </a:r>
          </a:p>
          <a:p xmlns:a="http://schemas.openxmlformats.org/drawingml/2006/main">
            <a:r>
              <a:t>        "input": "항공편·주기장·관측시각 매핑",</a:t>
            </a:r>
          </a:p>
          <a:p xmlns:a="http://schemas.openxmlformats.org/drawingml/2006/main">
            <a:r>
              <a:t>        "process": "카메라 프레임·항공편 일정·상태 이력 연결",</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"title": "조업 상태 인식",</a:t>
            </a:r>
          </a:p>
          <a:p xmlns:a="http://schemas.openxmlformats.org/drawingml/2006/main">
            <a:r>
              <a:t>        "input": "영상 프레임",</a:t>
            </a:r>
          </a:p>
          <a:p xmlns:a="http://schemas.openxmlformats.org/drawingml/2006/main">
            <a:r>
              <a:t>        "process": "영상에서 조업 이벤트와 상태 추출",</a:t>
            </a:r>
          </a:p>
          <a:p xmlns:a="http://schemas.openxmlformats.org/drawingml/2006/main">
            <a:r>
              <a:t>        "output": "이벤트·시각"</a:t>
            </a:r>
          </a:p>
          <a:p xmlns:a="http://schemas.openxmlformats.org/drawingml/2006/main">
            <a:r>
              <a:t>      },</a:t>
            </a:r>
          </a:p>
          <a:p xmlns:a="http://schemas.openxmlformats.org/drawingml/2006/main">
            <a:r>
              <a:t>      {</a:t>
            </a:r>
          </a:p>
          <a:p xmlns:a="http://schemas.openxmlformats.org/drawingml/2006/main">
            <a:r>
              <a:t>        "title": "대시보드·API",</a:t>
            </a:r>
          </a:p>
          <a:p xmlns:a="http://schemas.openxmlformats.org/drawingml/2006/main">
            <a:r>
              <a:t>        "input": "이벤트·시각",</a:t>
            </a:r>
          </a:p>
          <a:p xmlns:a="http://schemas.openxmlformats.org/drawingml/2006/main">
            <a:r>
              <a:t>        "process": "현장 기준 이벤트와 탐지 시각 대조",</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"title": "담당자 조정",</a:t>
            </a:r>
          </a:p>
          <a:p xmlns:a="http://schemas.openxmlformats.org/drawingml/2006/main">
            <a:r>
              <a:t>        "input": "대시보드·API 상태",</a:t>
            </a:r>
          </a:p>
          <a:p xmlns:a="http://schemas.openxmlformats.org/drawingml/2006/main">
            <a:r>
              <a:t>        "process":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"항공편별 지상조업 단계와 지연 후보를 공동 확인",</a:t>
            </a:r>
          </a:p>
          <a:p xmlns:a="http://schemas.openxmlformats.org/drawingml/2006/main">
            <a:r>
              <a:t>      "exception": "카메라 가림·항공편 변경·이벤트 순서 역전",</a:t>
            </a:r>
          </a:p>
          <a:p xmlns:a="http://schemas.openxmlformats.org/drawingml/2006/main">
            <a:r>
              <a:t>      "evidence": "영상 시각 대비 상태 전이표와 담당자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"공항·항공사·조업 담당자",</a:t>
            </a:r>
          </a:p>
          <a:p xmlns:a="http://schemas.openxmlformats.org/drawingml/2006/main">
            <a:r>
              <a:t>          "processing": "항공편·주기장·관측시각 매핑",</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"시간별 조업 상태",</a:t>
            </a:r>
          </a:p>
          <a:p xmlns:a="http://schemas.openxmlformats.org/drawingml/2006/main">
            <a:r>
              <a:t>          "processing": "카메라 프레임·항공편 일정·상태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 프레임",</a:t>
            </a:r>
          </a:p>
          <a:p xmlns:a="http://schemas.openxmlformats.org/drawingml/2006/main">
            <a:r>
              <a:t>          "processing": "영상에서 조업 이벤트와 상태 추출",</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"대시보드·API 상태",</a:t>
            </a:r>
          </a:p>
          <a:p xmlns:a="http://schemas.openxmlformats.org/drawingml/2006/main">
            <a:r>
              <a:t>          "processing":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"누락 이벤트와 실제 이륙 준비상태 대조",</a:t>
            </a:r>
          </a:p>
          <a:p xmlns:a="http://schemas.openxmlformats.org/drawingml/2006/main">
            <a:r>
              <a:t>          "output": "영상 시각 대비 상태 전이표와 담당자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"누락 이벤트와 실제 이륙 준비상태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"S-AX10",</a:t>
            </a:r>
          </a:p>
          <a:p xmlns:a="http://schemas.openxmlformats.org/drawingml/2006/main">
            <a:r>
              <a:t>        "title": "스키폴 Deep Turnaround · 운영기관 사례 / 게시일 미표시",</a:t>
            </a:r>
          </a:p>
          <a:p xmlns:a="http://schemas.openxmlformats.org/drawingml/2006/main">
            <a:r>
              <a:t>        "url": "https://www.schiphol.nl/en/aviation-solutions/case-study-amsterdam-airport-schiphol-deep-turnaround/",</a:t>
            </a:r>
          </a:p>
          <a:p xmlns:a="http://schemas.openxmlformats.org/drawingml/2006/main">
            <a:r>
              <a:t>        "published": "운영 사례",</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이벤트의 공동 상황판 연결",</a:t>
            </a:r>
          </a:p>
          <a:p xmlns:a="http://schemas.openxmlformats.org/drawingml/2006/main">
            <a:r>
              <a:t>    "local": "교통안전 점검 사건·담당자·보고 시점을 연결",</a:t>
            </a:r>
          </a:p>
          <a:p xmlns:a="http://schemas.openxmlformats.org/drawingml/2006/main">
            <a:r>
              <a:t>    "sourceDetail": null,</a:t>
            </a:r>
          </a:p>
          <a:p xmlns:a="http://schemas.openxmlformats.org/drawingml/2006/main">
            <a:r>
              <a:t>    "narrative": [</a:t>
            </a:r>
          </a:p>
          <a:p xmlns:a="http://schemas.openxmlformats.org/drawingml/2006/main">
            <a:r>
              <a:t>      "공항 지상조업의 진행 상태를 영상으로 파악하고 항공사·조업사·공항이 공유하는 사례. 서로 다른 담당자가 같은 항공편의 준비 상태를 확인하도록 하는 협업 변화.",</a:t>
            </a:r>
          </a:p>
          <a:p xmlns:a="http://schemas.openxmlformats.org/drawingml/2006/main">
            <a:r>
              <a:t>      "카메라 관측을 항공편·주기장·시각과 연결하고 조업 이벤트와 상태를 대시보드·API로 전달하는 구조의 재구성. 관측된 상태, 지연 추정, 실제 조업 조치를 별도 기록으로 관리.",</a:t>
            </a:r>
          </a:p>
          <a:p xmlns:a="http://schemas.openxmlformats.org/drawingml/2006/main">
            <a:r>
              <a:t>      "TS 현장 모니터링에 적용할 경우 야간·가림·날씨·카메라 위치별 편차를 평가할 필요. 탐지 정확도뿐 아니라 담당자가 확인한 시점, 조정 조치, 누락 이벤트의 복구까지 비교할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"조업 관측 접점",</a:t>
            </a:r>
          </a:p>
          <a:p xmlns:a="http://schemas.openxmlformats.org/drawingml/2006/main">
            <a:r>
              <a:t>          "layer": "이용 접점",</a:t>
            </a:r>
          </a:p>
          <a:p xmlns:a="http://schemas.openxmlformats.org/drawingml/2006/main">
            <a:r>
              <a:t>          "detail": "공항·항공사·조업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"항공편·주기장",</a:t>
            </a:r>
          </a:p>
          <a:p xmlns:a="http://schemas.openxmlformats.org/drawingml/2006/main">
            <a:r>
              <a:t>          "layer": "업무 문맥",</a:t>
            </a:r>
          </a:p>
          <a:p xmlns:a="http://schemas.openxmlformats.org/drawingml/2006/main">
            <a:r>
              <a:t>          "detail": "항공편·주기장·관측시각 매핑",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"프레임·일정 조회",</a:t>
            </a:r>
          </a:p>
          <a:p xmlns:a="http://schemas.openxmlformats.org/drawingml/2006/main">
            <a:r>
              <a:t>          "layer": "자료 조회",</a:t>
            </a:r>
          </a:p>
          <a:p xmlns:a="http://schemas.openxmlformats.org/drawingml/2006/main">
            <a:r>
              <a:t>          "detail": "영상 프레임",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"조업 이벤트 인식",</a:t>
            </a:r>
          </a:p>
          <a:p xmlns:a="http://schemas.openxmlformats.org/drawingml/2006/main">
            <a:r>
              <a:t>          "layer": "핵심 처리",</a:t>
            </a:r>
          </a:p>
          <a:p xmlns:a="http://schemas.openxmlformats.org/drawingml/2006/main">
            <a:r>
              <a:t>          "detail": "영상에서 조업 이벤트와 상태 추출",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"시각·누락 대조",</a:t>
            </a:r>
          </a:p>
          <a:p xmlns:a="http://schemas.openxmlformats.org/drawingml/2006/main">
            <a:r>
              <a:t>          "layer": "결과 검증",</a:t>
            </a:r>
          </a:p>
          <a:p xmlns:a="http://schemas.openxmlformats.org/drawingml/2006/main">
            <a:r>
              <a:t>          "detail": "현장 기준 이벤트와 탐지 시각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"조업 담당 확인",</a:t>
            </a:r>
          </a:p>
          <a:p xmlns:a="http://schemas.openxmlformats.org/drawingml/2006/main">
            <a:r>
              <a:t>          "layer": "사람 확인",</a:t>
            </a:r>
          </a:p>
          <a:p xmlns:a="http://schemas.openxmlformats.org/drawingml/2006/main">
            <a:r>
              <a:t>          "detail": "항공편별 지상조업 단계와 지연 후보를 공동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"상황판·API 공유",</a:t>
            </a:r>
          </a:p>
          <a:p xmlns:a="http://schemas.openxmlformats.org/drawingml/2006/main">
            <a:r>
              <a:t>          "layer": "업무 연결",</a:t>
            </a:r>
          </a:p>
          <a:p xmlns:a="http://schemas.openxmlformats.org/drawingml/2006/main">
            <a:r>
              <a:t>          "detail": "지연 예상과 확인 필요 상태를 조업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"지연·현장 결과",</a:t>
            </a:r>
          </a:p>
          <a:p xmlns:a="http://schemas.openxmlformats.org/drawingml/2006/main">
            <a:r>
              <a:t>          "layer": "운영 관측",</a:t>
            </a:r>
          </a:p>
          <a:p xmlns:a="http://schemas.openxmlformats.org/drawingml/2006/main">
            <a:r>
              <a:t>          "detail": "누락 이벤트와 실제 이륙 준비상태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"계류장 영상",</a:t>
            </a:r>
          </a:p>
          <a:p xmlns:a="http://schemas.openxmlformats.org/drawingml/2006/main">
            <a:r>
              <a:t>          "layer": "데이터 원천",</a:t>
            </a:r>
          </a:p>
          <a:p xmlns:a="http://schemas.openxmlformats.org/drawingml/2006/main">
            <a:r>
              <a:t>          "detail": "시간별 조업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"영상·항공편 매핑",</a:t>
            </a:r>
          </a:p>
          <a:p xmlns:a="http://schemas.openxmlformats.org/drawingml/2006/main">
            <a:r>
              <a:t>          "layer": "준비·갱신",</a:t>
            </a:r>
          </a:p>
          <a:p xmlns:a="http://schemas.openxmlformats.org/drawingml/2006/main">
            <a:r>
              <a:t>          "detail": "카메라 프레임·항공편 일정·상태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"이벤트 타임라인",</a:t>
            </a:r>
          </a:p>
          <a:p xmlns:a="http://schemas.openxmlformats.org/drawingml/2006/main">
            <a:r>
              <a:t>          "layer": "상태·지식 저장",</a:t>
            </a:r>
          </a:p>
          <a:p xmlns:a="http://schemas.openxmlformats.org/drawingml/2006/main">
            <a:r>
              <a:t>          "detail": "영상 시각 대비 상태 전이표와 담당자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"영상·협업 권한",</a:t>
            </a:r>
          </a:p>
          <a:p xmlns:a="http://schemas.openxmlformats.org/drawingml/2006/main">
            <a:r>
              <a:t>          "layer": "권한·정책",</a:t>
            </a:r>
          </a:p>
          <a:p xmlns:a="http://schemas.openxmlformats.org/drawingml/2006/main">
            <a:r>
              <a:t>          "detail": "카메라 가림·항공편 변경·이벤트 순서 역전",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"카메라 영상 → 조업 상태 인식 → 대시보드·API → 담당자 조정"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"시간별 조업 상태",</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"대시보드·API 상태",</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"영상·협업 권한",</a:t>
            </a:r>
          </a:p>
          <a:p xmlns:a="http://schemas.openxmlformats.org/drawingml/2006/main">
            <a:r>
              <a:t>          "check": "현장 기준 이벤트와 탐지 시각 대조"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"조업 조정",</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"누락 이벤트와 실제 이륙 준비상태 대조",</a:t>
            </a:r>
          </a:p>
          <a:p xmlns:a="http://schemas.openxmlformats.org/drawingml/2006/main">
            <a:r>
              <a:t>          "check": "누락 이벤트와 실제 이륙 준비상태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"항공기 지상조업 진행상태의 공동 파악 / 영상 분석·조업 단계·협업 알림",</a:t>
            </a:r>
          </a:p>
          <a:p xmlns:a="http://schemas.openxmlformats.org/drawingml/2006/main">
            <a:r>
              <a:t>        "extension": "교통안전 점검 사건·담당자·보고 시점을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"카메라 가림·항공편 변경·이벤트 순서 역전",</a:t>
            </a:r>
          </a:p>
          <a:p xmlns:a="http://schemas.openxmlformats.org/drawingml/2006/main">
            <a:r>
              <a:t>        "hold": "현장 기준 이벤트와 탐지 시각 대조",</a:t>
            </a:r>
          </a:p>
          <a:p xmlns:a="http://schemas.openxmlformats.org/drawingml/2006/main">
            <a:r>
              <a:t>        "recovery": "누락 이벤트와 실제 이륙 준비상태 대조",</a:t>
            </a:r>
          </a:p>
          <a:p xmlns:a="http://schemas.openxmlformats.org/drawingml/2006/main">
            <a:r>
              <a:t>        "evidence": "영상 시각 대비 상태 전이표와 담당자 확인 기록"</a:t>
            </a:r>
          </a:p>
          <a:p xmlns:a="http://schemas.openxmlformats.org/drawingml/2006/main">
            <a:r>
              <a:t>      },</a:t>
            </a:r>
          </a:p>
          <a:p xmlns:a="http://schemas.openxmlformats.org/drawingml/2006/main">
            <a:r>
              <a:t>      "data": {</a:t>
            </a:r>
          </a:p>
          <a:p xmlns:a="http://schemas.openxmlformats.org/drawingml/2006/main">
            <a:r>
              <a:t>        "source": "시간별 조업 상태",</a:t>
            </a:r>
          </a:p>
          <a:p xmlns:a="http://schemas.openxmlformats.org/drawingml/2006/main">
            <a:r>
              <a:t>        "prepare": "카메라 프레임·항공편 일정·상태 이력 연결",</a:t>
            </a:r>
          </a:p>
          <a:p xmlns:a="http://schemas.openxmlformats.org/drawingml/2006/main">
            <a:r>
              <a:t>        "output": "영상 프레임",</a:t>
            </a:r>
          </a:p>
          <a:p xmlns:a="http://schemas.openxmlformats.org/drawingml/2006/main">
            <a:r>
              <a:t>        "refresh": "누락 이벤트와 실제 이륙 준비상태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"AX10",</a:t>
            </a:r>
          </a:p>
          <a:p xmlns:a="http://schemas.openxmlformats.org/drawingml/2006/main">
            <a:r>
              <a:t>    "success": [</a:t>
            </a:r>
          </a:p>
          <a:p xmlns:a="http://schemas.openxmlformats.org/drawingml/2006/main">
            <a:r>
              <a:t>      "공통 조업 상태의 공유",</a:t>
            </a:r>
          </a:p>
          <a:p xmlns:a="http://schemas.openxmlformats.org/drawingml/2006/main">
            <a:r>
              <a:t>      "영상 관측과 실제 현장 조정 연결"</a:t>
            </a:r>
          </a:p>
          <a:p xmlns:a="http://schemas.openxmlformats.org/drawingml/2006/main">
            <a:r>
              <a:t>    ],</a:t>
            </a:r>
          </a:p>
          <a:p xmlns:a="http://schemas.openxmlformats.org/drawingml/2006/main">
            <a:r>
              <a:t>    "risks": [</a:t>
            </a:r>
          </a:p>
          <a:p xmlns:a="http://schemas.openxmlformats.org/drawingml/2006/main">
            <a:r>
              <a:t>      "가림·야간·날씨에 따른 인식 편차",</a:t>
            </a:r>
          </a:p>
          <a:p xmlns:a="http://schemas.openxmlformats.org/drawingml/2006/main">
            <a:r>
              <a:t>      "상태 추정과 안전 판단의 혼동"</a:t>
            </a:r>
          </a:p>
          <a:p xmlns:a="http://schemas.openxmlformats.org/drawingml/2006/main">
            <a:r>
              <a:t>    ],</a:t>
            </a:r>
          </a:p>
          <a:p xmlns:a="http://schemas.openxmlformats.org/drawingml/2006/main">
            <a:r>
              <a:t>    "architecture": [</a:t>
            </a:r>
          </a:p>
          <a:p xmlns:a="http://schemas.openxmlformats.org/drawingml/2006/main">
            <a:r>
              <a:t>      "계류장 카메라",</a:t>
            </a:r>
          </a:p>
          <a:p xmlns:a="http://schemas.openxmlformats.org/drawingml/2006/main">
            <a:r>
              <a:t>      "조업 이벤트 인식",</a:t>
            </a:r>
          </a:p>
          <a:p xmlns:a="http://schemas.openxmlformats.org/drawingml/2006/main">
            <a:r>
              <a:t>      "시간별 조업 상태",</a:t>
            </a:r>
          </a:p>
          <a:p xmlns:a="http://schemas.openxmlformats.org/drawingml/2006/main">
            <a:r>
              <a:t>      "공항·조업 담당"</a:t>
            </a:r>
          </a:p>
          <a:p xmlns:a="http://schemas.openxmlformats.org/drawingml/2006/main">
            <a:r>
              <a:t>    ],</a:t>
            </a:r>
          </a:p>
          <a:p xmlns:a="http://schemas.openxmlformats.org/drawingml/2006/main">
            <a:r>
              <a:t>    "transfers": [</a:t>
            </a:r>
          </a:p>
          <a:p xmlns:a="http://schemas.openxmlformats.org/drawingml/2006/main">
            <a:r>
              <a:t>      "영상 프레임",</a:t>
            </a:r>
          </a:p>
          <a:p xmlns:a="http://schemas.openxmlformats.org/drawingml/2006/main">
            <a:r>
              <a:t>      "이벤트·시각",</a:t>
            </a:r>
          </a:p>
          <a:p xmlns:a="http://schemas.openxmlformats.org/drawingml/2006/main">
            <a:r>
              <a:t>      "대시보드·API 상태",</a:t>
            </a:r>
          </a:p>
          <a:p xmlns:a="http://schemas.openxmlformats.org/drawingml/2006/main">
            <a:r>
              <a:t>      "조업 조정"</a:t>
            </a:r>
          </a:p>
          <a:p xmlns:a="http://schemas.openxmlformats.org/drawingml/2006/main">
            <a:r>
              <a:t>    ],</a:t>
            </a:r>
          </a:p>
          <a:p xmlns:a="http://schemas.openxmlformats.org/drawingml/2006/main">
            <a:r>
              <a:t>    "control": "현장 기준 이벤트와 탐지 시각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스키폴 Deep Turnaround · 운영기관 사례 / 게시일 미표시 https://www.schiphol.nl/en/aviation-solutions/case-study-amsterdam-airport-schiphol-deep-turnaround/</a:t>
            </a:r>
          </a:p>
          <a:p xmlns:a="http://schemas.openxmlformats.org/drawingml/2006/main">
            <a:r>
              <a:t>홈페이지 https://heen1987-ops.github.io/TS-business-Plan-001/index.html?view=casebook&amp;case=AX10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"AX11",</a:t>
            </a:r>
          </a:p>
          <a:p xmlns:a="http://schemas.openxmlformats.org/drawingml/2006/main">
            <a:r>
              <a:t>    "title": "Google Green Light",</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"신호 운영 최적화 지원",</a:t>
            </a:r>
          </a:p>
          <a:p xmlns:a="http://schemas.openxmlformats.org/drawingml/2006/main">
            <a:r>
              <a:t>    "period": "운영 적용",</a:t>
            </a:r>
          </a:p>
          <a:p xmlns:a="http://schemas.openxmlformats.org/drawingml/2006/main">
            <a:r>
              <a:t>    "sources": [</a:t>
            </a:r>
          </a:p>
          <a:p xmlns:a="http://schemas.openxmlformats.org/drawingml/2006/main">
            <a:r>
              <a:t>      "S-AX11"</a:t>
            </a:r>
          </a:p>
          <a:p xmlns:a="http://schemas.openxmlformats.org/drawingml/2006/main">
            <a:r>
              <a:t>    ],</a:t>
            </a:r>
          </a:p>
          <a:p xmlns:a="http://schemas.openxmlformats.org/drawingml/2006/main">
            <a:r>
              <a:t>    "keywords": [</a:t>
            </a:r>
          </a:p>
          <a:p xmlns:a="http://schemas.openxmlformats.org/drawingml/2006/main">
            <a:r>
              <a:t>      "신호 운영 최적화 지원"</a:t>
            </a:r>
          </a:p>
          <a:p xmlns:a="http://schemas.openxmlformats.org/drawingml/2006/main">
            <a:r>
              <a:t>    ],</a:t>
            </a:r>
          </a:p>
          <a:p xmlns:a="http://schemas.openxmlformats.org/drawingml/2006/main">
            <a:r>
              <a:t>    "fact": "교통 흐름 분석과 AI 권고를 도시 교통기술자의 신호 운영 검토에 제공",</a:t>
            </a:r>
          </a:p>
          <a:p xmlns:a="http://schemas.openxmlformats.org/drawingml/2006/main">
            <a:r>
              <a:t>    "limit": "도시별 효과 차이 · 신호 변경 권한은 운영기관 소관",</a:t>
            </a:r>
          </a:p>
          <a:p xmlns:a="http://schemas.openxmlformats.org/drawingml/2006/main">
            <a:r>
              <a:t>    "flow": [</a:t>
            </a:r>
          </a:p>
          <a:p xmlns:a="http://schemas.openxmlformats.org/drawingml/2006/main">
            <a:r>
              <a:t>      "교통 흐름 데이터",</a:t>
            </a:r>
          </a:p>
          <a:p xmlns:a="http://schemas.openxmlformats.org/drawingml/2006/main">
            <a:r>
              <a:t>      "AI 개선 권고",</a:t>
            </a:r>
          </a:p>
          <a:p xmlns:a="http://schemas.openxmlformats.org/drawingml/2006/main">
            <a:r>
              <a:t>      "기술자 검토",</a:t>
            </a:r>
          </a:p>
          <a:p xmlns:a="http://schemas.openxmlformats.org/drawingml/2006/main">
            <a:r>
              <a:t>      "신호 운영 반영"</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"권고와 현장 실행 권한의 분리",</a:t>
            </a:r>
          </a:p>
          <a:p xmlns:a="http://schemas.openxmlformats.org/drawingml/2006/main">
            <a:r>
              <a:t>    "local": "TS 분석·점검 의견을 지자체 소관 업무로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"지역·교차로·관할·개선 전후 지표 연결",</a:t>
            </a:r>
          </a:p>
          <a:p xmlns:a="http://schemas.openxmlformats.org/drawingml/2006/main">
            <a:r>
              <a:t>    "test": "동일 시간대·교통량 비교와 담당자 승인 확인",</a:t>
            </a:r>
          </a:p>
          <a:p xmlns:a="http://schemas.openxmlformats.org/drawingml/2006/main">
            <a:r>
              <a:t>    "metric": "정체·대기 지표 / 권고 채택률",</a:t>
            </a:r>
          </a:p>
          <a:p xmlns:a="http://schemas.openxmlformats.org/drawingml/2006/main">
            <a:r>
              <a:t>    "strategies": [</a:t>
            </a:r>
          </a:p>
          <a:p xmlns:a="http://schemas.openxmlformats.org/drawingml/2006/main">
            <a:r>
              <a:t>      "ST-06",</a:t>
            </a:r>
          </a:p>
          <a:p xmlns:a="http://schemas.openxmlformats.org/drawingml/2006/main">
            <a:r>
              <a:t>      "ST-07",</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"AX11",</a:t>
            </a:r>
          </a:p>
          <a:p xmlns:a="http://schemas.openxmlformats.org/drawingml/2006/main">
            <a:r>
              <a:t>    "canonicalId": "AX11",</a:t>
            </a:r>
          </a:p>
          <a:p xmlns:a="http://schemas.openxmlformats.org/drawingml/2006/main">
            <a:r>
              <a:t>    "purpose": "신호 운영 검토를 위한 교통 흐름 분석",</a:t>
            </a:r>
          </a:p>
          <a:p xmlns:a="http://schemas.openxmlformats.org/drawingml/2006/main">
            <a:r>
              <a:t>    "users": "도시 교통기술자·운영 담당",</a:t>
            </a:r>
          </a:p>
          <a:p xmlns:a="http://schemas.openxmlformats.org/drawingml/2006/main">
            <a:r>
              <a:t>    "scope": [</a:t>
            </a:r>
          </a:p>
          <a:p xmlns:a="http://schemas.openxmlformats.org/drawingml/2006/main">
            <a:r>
              <a:t>      "교차로 흐름",</a:t>
            </a:r>
          </a:p>
          <a:p xmlns:a="http://schemas.openxmlformats.org/drawingml/2006/main">
            <a:r>
              <a:t>      "신호 권고",</a:t>
            </a:r>
          </a:p>
          <a:p xmlns:a="http://schemas.openxmlformats.org/drawingml/2006/main">
            <a:r>
              <a:t>      "효과 점검"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"교통 흐름 자료",</a:t>
            </a:r>
          </a:p>
          <a:p xmlns:a="http://schemas.openxmlformats.org/drawingml/2006/main">
            <a:r>
              <a:t>        "detail": "교차로·시간대·운영 조건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"교차로 흐름 / 신호 권고 / 효과 점검",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"신호 개선 권고",</a:t>
            </a:r>
          </a:p>
          <a:p xmlns:a="http://schemas.openxmlformats.org/drawingml/2006/main">
            <a:r>
              <a:t>        "detail": "정체·정지 패턴에 따른 신호 조정 후보",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"도시 교통기술자",</a:t>
            </a:r>
          </a:p>
          <a:p xmlns:a="http://schemas.openxmlformats.org/drawingml/2006/main">
            <a:r>
              <a:t>        "detail": "교통기술자의 검토 후 신호 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"교차로·교통 패턴",</a:t>
            </a:r>
          </a:p>
          <a:p xmlns:a="http://schemas.openxmlformats.org/drawingml/2006/main">
            <a:r>
              <a:t>        "detail": "교통 흐름·교차로·신호 운영자료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"변경 전후 교통지표와 안전 제약의 병행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"교통 흐름 데이터",</a:t>
            </a:r>
          </a:p>
          <a:p xmlns:a="http://schemas.openxmlformats.org/drawingml/2006/main">
            <a:r>
              <a:t>        "input": "교차로·시간대·운영 조건 지정",</a:t>
            </a:r>
          </a:p>
          <a:p xmlns:a="http://schemas.openxmlformats.org/drawingml/2006/main">
            <a:r>
              <a:t>        "process": "교통 흐름·교차로·신호 운영자료 정합화",</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"title": "AI 개선 권고",</a:t>
            </a:r>
          </a:p>
          <a:p xmlns:a="http://schemas.openxmlformats.org/drawingml/2006/main">
            <a:r>
              <a:t>        "input": "교차로 흐름",</a:t>
            </a:r>
          </a:p>
          <a:p xmlns:a="http://schemas.openxmlformats.org/drawingml/2006/main">
            <a:r>
              <a:t>        "process": "정체·정지 패턴에 따른 신호 조정 후보",</a:t>
            </a:r>
          </a:p>
          <a:p xmlns:a="http://schemas.openxmlformats.org/drawingml/2006/main">
            <a:r>
              <a:t>        "output": "정체 패턴"</a:t>
            </a:r>
          </a:p>
          <a:p xmlns:a="http://schemas.openxmlformats.org/drawingml/2006/main">
            <a:r>
              <a:t>      },</a:t>
            </a:r>
          </a:p>
          <a:p xmlns:a="http://schemas.openxmlformats.org/drawingml/2006/main">
            <a:r>
              <a:t>      {</a:t>
            </a:r>
          </a:p>
          <a:p xmlns:a="http://schemas.openxmlformats.org/drawingml/2006/main">
            <a:r>
              <a:t>        "title": "기술자 검토",</a:t>
            </a:r>
          </a:p>
          <a:p xmlns:a="http://schemas.openxmlformats.org/drawingml/2006/main">
            <a:r>
              <a:t>        "input": "정체 패턴",</a:t>
            </a:r>
          </a:p>
          <a:p xmlns:a="http://schemas.openxmlformats.org/drawingml/2006/main">
            <a:r>
              <a:t>        "process": "지역 제약·안전 조건 검토",</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"title": "신호 운영 반영",</a:t>
            </a:r>
          </a:p>
          <a:p xmlns:a="http://schemas.openxmlformats.org/drawingml/2006/main">
            <a:r>
              <a:t>        "input": "신호 조정안",</a:t>
            </a:r>
          </a:p>
          <a:p xmlns:a="http://schemas.openxmlformats.org/drawingml/2006/main">
            <a:r>
              <a:t>        "process":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"교차로의 신호 조정 후보를 기술자가 현장 조건과 대조",</a:t>
            </a:r>
          </a:p>
          <a:p xmlns:a="http://schemas.openxmlformats.org/drawingml/2006/main">
            <a:r>
              <a:t>      "exception": "보행시간 부족·인접 교차로 정체·특수 행사일",</a:t>
            </a:r>
          </a:p>
          <a:p xmlns:a="http://schemas.openxmlformats.org/drawingml/2006/main">
            <a:r>
              <a:t>      "evidence": "변경 전후 지표와 보행·안전 제약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"도시 교통기술자·운영 담당",</a:t>
            </a:r>
          </a:p>
          <a:p xmlns:a="http://schemas.openxmlformats.org/drawingml/2006/main">
            <a:r>
              <a:t>          "processing": "교차로·시간대·운영 조건 지정",</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"교차로·교통 패턴",</a:t>
            </a:r>
          </a:p>
          <a:p xmlns:a="http://schemas.openxmlformats.org/drawingml/2006/main">
            <a:r>
              <a:t>          "processing": "교통 흐름·교차로·신호 운영자료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"교차로 흐름",</a:t>
            </a:r>
          </a:p>
          <a:p xmlns:a="http://schemas.openxmlformats.org/drawingml/2006/main">
            <a:r>
              <a:t>          "processing": "정체·정지 패턴에 따른 신호 조정 후보",</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"신호 조정안",</a:t>
            </a:r>
          </a:p>
          <a:p xmlns:a="http://schemas.openxmlformats.org/drawingml/2006/main">
            <a:r>
              <a:t>          "processing":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"변경 전후 교통지표와 안전 제약의 병행 평가",</a:t>
            </a:r>
          </a:p>
          <a:p xmlns:a="http://schemas.openxmlformats.org/drawingml/2006/main">
            <a:r>
              <a:t>          "output": "변경 전후 지표와 보행·안전 제약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"변경 전후 교통지표와 안전 제약의 병행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"S-AX11",</a:t>
            </a:r>
          </a:p>
          <a:p xmlns:a="http://schemas.openxmlformats.org/drawingml/2006/main">
            <a:r>
              <a:t>        "title": "Google Green Light · 개발기관 사업 소개 / 게시일 미표시",</a:t>
            </a:r>
          </a:p>
          <a:p xmlns:a="http://schemas.openxmlformats.org/drawingml/2006/main">
            <a:r>
              <a:t>        "url": "https://sites.research.google/greenlight/",</a:t>
            </a:r>
          </a:p>
          <a:p xmlns:a="http://schemas.openxmlformats.org/drawingml/2006/main">
            <a:r>
              <a:t>        "published": "운영 적용",</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"권고와 현장 실행 권한의 분리",</a:t>
            </a:r>
          </a:p>
          <a:p xmlns:a="http://schemas.openxmlformats.org/drawingml/2006/main">
            <a:r>
              <a:t>    "local": "TS 분석·점검 의견을 지자체 소관 업무로 인계",</a:t>
            </a:r>
          </a:p>
          <a:p xmlns:a="http://schemas.openxmlformats.org/drawingml/2006/main">
            <a:r>
              <a:t>    "sourceDetail": null,</a:t>
            </a:r>
          </a:p>
          <a:p xmlns:a="http://schemas.openxmlformats.org/drawingml/2006/main">
            <a:r>
              <a:t>    "narrative": [</a:t>
            </a:r>
          </a:p>
          <a:p xmlns:a="http://schemas.openxmlformats.org/drawingml/2006/main">
            <a:r>
              <a:t>      "도시 교통 흐름을 분석해 신호 운영 개선안을 기술자에게 제공하는 사례. AI가 모든 교차로 신호를 직접 제어하는 방식으로 일반화하기보다 권고와 현장 적용의 연결에 주목.",</a:t>
            </a:r>
          </a:p>
          <a:p xmlns:a="http://schemas.openxmlformats.org/drawingml/2006/main">
            <a:r>
              <a:t>      "교차로·시간대별 흐름에서 정체·정지 패턴을 찾고 신호 조정 후보를 만드는 흐름. 지역 교통기술자가 보행자·긴급차량·현장 제약을 확인한 뒤 운영계획에 반영하는 CCK 적용 구조.",</a:t>
            </a:r>
          </a:p>
          <a:p xmlns:a="http://schemas.openxmlformats.org/drawingml/2006/main">
            <a:r>
              <a:t>      "관측 교차로의 결과를 다른 지역 성과로 그대로 환산하지 않는 비교. 변경 전후 교통지표, 안전 제약 위반, 권고 채택 여부와 실제 운영 반영시간을 함께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"신호 검토 요청",</a:t>
            </a:r>
          </a:p>
          <a:p xmlns:a="http://schemas.openxmlformats.org/drawingml/2006/main">
            <a:r>
              <a:t>          "layer": "이용 접점",</a:t>
            </a:r>
          </a:p>
          <a:p xmlns:a="http://schemas.openxmlformats.org/drawingml/2006/main">
            <a:r>
              <a:t>          "detail": "도시 교통기술자·운영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"교차로·시간대",</a:t>
            </a:r>
          </a:p>
          <a:p xmlns:a="http://schemas.openxmlformats.org/drawingml/2006/main">
            <a:r>
              <a:t>          "layer": "업무 문맥",</a:t>
            </a:r>
          </a:p>
          <a:p xmlns:a="http://schemas.openxmlformats.org/drawingml/2006/main">
            <a:r>
              <a:t>          "detail": "교차로·시간대·운영 조건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흐름 조회",</a:t>
            </a:r>
          </a:p>
          <a:p xmlns:a="http://schemas.openxmlformats.org/drawingml/2006/main">
            <a:r>
              <a:t>          "layer": "자료 조회",</a:t>
            </a:r>
          </a:p>
          <a:p xmlns:a="http://schemas.openxmlformats.org/drawingml/2006/main">
            <a:r>
              <a:t>          "detail": "교차로 흐름",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"신호 조정 후보",</a:t>
            </a:r>
          </a:p>
          <a:p xmlns:a="http://schemas.openxmlformats.org/drawingml/2006/main">
            <a:r>
              <a:t>          "layer": "핵심 처리",</a:t>
            </a:r>
          </a:p>
          <a:p xmlns:a="http://schemas.openxmlformats.org/drawingml/2006/main">
            <a:r>
              <a:t>          "detail": "정체·정지 패턴에 따른 신호 조정 후보",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"지역·안전 제약",</a:t>
            </a:r>
          </a:p>
          <a:p xmlns:a="http://schemas.openxmlformats.org/drawingml/2006/main">
            <a:r>
              <a:t>          "layer": "결과 검증",</a:t>
            </a:r>
          </a:p>
          <a:p xmlns:a="http://schemas.openxmlformats.org/drawingml/2006/main">
            <a:r>
              <a:t>          "detail": "지역 제약·안전 조건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"교통기술자 검토",</a:t>
            </a:r>
          </a:p>
          <a:p xmlns:a="http://schemas.openxmlformats.org/drawingml/2006/main">
            <a:r>
              <a:t>          "layer": "사람 확인",</a:t>
            </a:r>
          </a:p>
          <a:p xmlns:a="http://schemas.openxmlformats.org/drawingml/2006/main">
            <a:r>
              <a:t>          "detail": "교차로의 신호 조정 후보를 기술자가 현장 조건과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"신호계획 반영",</a:t>
            </a:r>
          </a:p>
          <a:p xmlns:a="http://schemas.openxmlformats.org/drawingml/2006/main">
            <a:r>
              <a:t>          "layer": "업무 연결",</a:t>
            </a:r>
          </a:p>
          <a:p xmlns:a="http://schemas.openxmlformats.org/drawingml/2006/main">
            <a:r>
              <a:t>          "detail": "교통기술자의 검토 후 신호 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전후 평가",</a:t>
            </a:r>
          </a:p>
          <a:p xmlns:a="http://schemas.openxmlformats.org/drawingml/2006/main">
            <a:r>
              <a:t>          "layer": "운영 관측",</a:t>
            </a:r>
          </a:p>
          <a:p xmlns:a="http://schemas.openxmlformats.org/drawingml/2006/main">
            <a:r>
              <a:t>          "detail": "변경 전후 교통지표와 안전 제약의 병행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"교통·신호 자료",</a:t>
            </a:r>
          </a:p>
          <a:p xmlns:a="http://schemas.openxmlformats.org/drawingml/2006/main">
            <a:r>
              <a:t>          "layer": "데이터 원천",</a:t>
            </a:r>
          </a:p>
          <a:p xmlns:a="http://schemas.openxmlformats.org/drawingml/2006/main">
            <a:r>
              <a:t>          "detail": "교차로·교통 패턴",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"교차로 코드 정리",</a:t>
            </a:r>
          </a:p>
          <a:p xmlns:a="http://schemas.openxmlformats.org/drawingml/2006/main">
            <a:r>
              <a:t>          "layer": "준비·갱신",</a:t>
            </a:r>
          </a:p>
          <a:p xmlns:a="http://schemas.openxmlformats.org/drawingml/2006/main">
            <a:r>
              <a:t>          "detail": "교통 흐름·교차로·신호 운영자료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"흐름·계획 이력",</a:t>
            </a:r>
          </a:p>
          <a:p xmlns:a="http://schemas.openxmlformats.org/drawingml/2006/main">
            <a:r>
              <a:t>          "layer": "상태·지식 저장",</a:t>
            </a:r>
          </a:p>
          <a:p xmlns:a="http://schemas.openxmlformats.org/drawingml/2006/main">
            <a:r>
              <a:t>          "detail": "변경 전후 지표와 보행·안전 제약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"보행·긴급 제약",</a:t>
            </a:r>
          </a:p>
          <a:p xmlns:a="http://schemas.openxmlformats.org/drawingml/2006/main">
            <a:r>
              <a:t>          "layer": "권한·정책",</a:t>
            </a:r>
          </a:p>
          <a:p xmlns:a="http://schemas.openxmlformats.org/drawingml/2006/main">
            <a:r>
              <a:t>          "detail": "보행시간 부족·인접 교차로 정체·특수 행사일",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"교통 흐름 데이터 → AI 개선 권고 → 기술자 검토 → 신호 운영 반영"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"교차로·교통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"정체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"신호 조정안",</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"신호 조정안",</a:t>
            </a:r>
          </a:p>
          <a:p xmlns:a="http://schemas.openxmlformats.org/drawingml/2006/main">
            <a:r>
              <a:t>          "check": "지역 제약·안전 조건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"기술자 적용 결과",</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"신호 운영 검토를 위한 교통 흐름 분석 / 교차로 흐름·신호 권고·효과 점검",</a:t>
            </a:r>
          </a:p>
          <a:p xmlns:a="http://schemas.openxmlformats.org/drawingml/2006/main">
            <a:r>
              <a:t>        "extension": "TS 분석·점검 의견을 지자체 소관 업무로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"보행시간 부족·인접 교차로 정체·특수 행사일",</a:t>
            </a:r>
          </a:p>
          <a:p xmlns:a="http://schemas.openxmlformats.org/drawingml/2006/main">
            <a:r>
              <a:t>        "hold": "지역 제약·안전 조건 검토",</a:t>
            </a:r>
          </a:p>
          <a:p xmlns:a="http://schemas.openxmlformats.org/drawingml/2006/main">
            <a:r>
              <a:t>        "recovery": "변경 전후 교통지표와 안전 제약의 병행 평가",</a:t>
            </a:r>
          </a:p>
          <a:p xmlns:a="http://schemas.openxmlformats.org/drawingml/2006/main">
            <a:r>
              <a:t>        "evidence": "변경 전후 지표와 보행·안전 제약 확인 기록"</a:t>
            </a:r>
          </a:p>
          <a:p xmlns:a="http://schemas.openxmlformats.org/drawingml/2006/main">
            <a:r>
              <a:t>      },</a:t>
            </a:r>
          </a:p>
          <a:p xmlns:a="http://schemas.openxmlformats.org/drawingml/2006/main">
            <a:r>
              <a:t>      "data": {</a:t>
            </a:r>
          </a:p>
          <a:p xmlns:a="http://schemas.openxmlformats.org/drawingml/2006/main">
            <a:r>
              <a:t>        "source": "교차로·교통 패턴",</a:t>
            </a:r>
          </a:p>
          <a:p xmlns:a="http://schemas.openxmlformats.org/drawingml/2006/main">
            <a:r>
              <a:t>        "prepare": "교통 흐름·교차로·신호 운영자료 정합화",</a:t>
            </a:r>
          </a:p>
          <a:p xmlns:a="http://schemas.openxmlformats.org/drawingml/2006/main">
            <a:r>
              <a:t>        "output": "교차로 흐름",</a:t>
            </a:r>
          </a:p>
          <a:p xmlns:a="http://schemas.openxmlformats.org/drawingml/2006/main">
            <a:r>
              <a:t>        "refresh": "변경 전후 교통지표와 안전 제약의 병행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"AX11",</a:t>
            </a:r>
          </a:p>
          <a:p xmlns:a="http://schemas.openxmlformats.org/drawingml/2006/main">
            <a:r>
              <a:t>    "success": [</a:t>
            </a:r>
          </a:p>
          <a:p xmlns:a="http://schemas.openxmlformats.org/drawingml/2006/main">
            <a:r>
              <a:t>      "기존 신호 운영에 개선 권고 제공",</a:t>
            </a:r>
          </a:p>
          <a:p xmlns:a="http://schemas.openxmlformats.org/drawingml/2006/main">
            <a:r>
              <a:t>      "도시 기술자의 검토 후 반영"</a:t>
            </a:r>
          </a:p>
          <a:p xmlns:a="http://schemas.openxmlformats.org/drawingml/2006/main">
            <a:r>
              <a:t>    ],</a:t>
            </a:r>
          </a:p>
          <a:p xmlns:a="http://schemas.openxmlformats.org/drawingml/2006/main">
            <a:r>
              <a:t>    "risks": [</a:t>
            </a:r>
          </a:p>
          <a:p xmlns:a="http://schemas.openxmlformats.org/drawingml/2006/main">
            <a:r>
              <a:t>      "관측 교차로 외 일반화 위험",</a:t>
            </a:r>
          </a:p>
          <a:p xmlns:a="http://schemas.openxmlformats.org/drawingml/2006/main">
            <a:r>
              <a:t>      "보행자·긴급차량 조건 누락 가능성"</a:t>
            </a:r>
          </a:p>
          <a:p xmlns:a="http://schemas.openxmlformats.org/drawingml/2006/main">
            <a:r>
              <a:t>    ],</a:t>
            </a:r>
          </a:p>
          <a:p xmlns:a="http://schemas.openxmlformats.org/drawingml/2006/main">
            <a:r>
              <a:t>    "architecture": [</a:t>
            </a:r>
          </a:p>
          <a:p xmlns:a="http://schemas.openxmlformats.org/drawingml/2006/main">
            <a:r>
              <a:t>      "교통 흐름 자료",</a:t>
            </a:r>
          </a:p>
          <a:p xmlns:a="http://schemas.openxmlformats.org/drawingml/2006/main">
            <a:r>
              <a:t>      "신호 개선 권고",</a:t>
            </a:r>
          </a:p>
          <a:p xmlns:a="http://schemas.openxmlformats.org/drawingml/2006/main">
            <a:r>
              <a:t>      "교차로·교통 패턴",</a:t>
            </a:r>
          </a:p>
          <a:p xmlns:a="http://schemas.openxmlformats.org/drawingml/2006/main">
            <a:r>
              <a:t>      "도시 교통기술자"</a:t>
            </a:r>
          </a:p>
          <a:p xmlns:a="http://schemas.openxmlformats.org/drawingml/2006/main">
            <a:r>
              <a:t>    ],</a:t>
            </a:r>
          </a:p>
          <a:p xmlns:a="http://schemas.openxmlformats.org/drawingml/2006/main">
            <a:r>
              <a:t>    "transfers": [</a:t>
            </a:r>
          </a:p>
          <a:p xmlns:a="http://schemas.openxmlformats.org/drawingml/2006/main">
            <a:r>
              <a:t>      "교차로 흐름",</a:t>
            </a:r>
          </a:p>
          <a:p xmlns:a="http://schemas.openxmlformats.org/drawingml/2006/main">
            <a:r>
              <a:t>      "정체 패턴",</a:t>
            </a:r>
          </a:p>
          <a:p xmlns:a="http://schemas.openxmlformats.org/drawingml/2006/main">
            <a:r>
              <a:t>      "신호 조정안",</a:t>
            </a:r>
          </a:p>
          <a:p xmlns:a="http://schemas.openxmlformats.org/drawingml/2006/main">
            <a:r>
              <a:t>      "기술자 적용 결과"</a:t>
            </a:r>
          </a:p>
          <a:p xmlns:a="http://schemas.openxmlformats.org/drawingml/2006/main">
            <a:r>
              <a:t>    ],</a:t>
            </a:r>
          </a:p>
          <a:p xmlns:a="http://schemas.openxmlformats.org/drawingml/2006/main">
            <a:r>
              <a:t>    "control": "지역 제약·안전 조건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Green Light · 개발기관 사업 소개 / 게시일 미표시 https://sites.research.google/greenlight/</a:t>
            </a:r>
          </a:p>
          <a:p xmlns:a="http://schemas.openxmlformats.org/drawingml/2006/main">
            <a:r>
              <a:t>홈페이지 https://heen1987-ops.github.io/TS-business-Plan-001/index.html?view=casebook&amp;case=AX11</a:t>
            </a:r>
          </a:p>
          <a:p xmlns:a="http://schemas.openxmlformats.org/drawingml/2006/main">
            <a:r>
              <a:t>한계: 도시별 효과 차이 · 신호 변경 권한은 운영기관 소관</a:t>
            </a:r>
          </a:p>
          <a:p xmlns:a="http://schemas.openxmlformats.org/drawingml/2006/main">
            <a:r>
              <a:t>실패 위험: 관측 교차로 외 일반화 위험 / 보행자·긴급차량 조건 누락 가능성</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"AX11",</a:t>
            </a:r>
          </a:p>
          <a:p xmlns:a="http://schemas.openxmlformats.org/drawingml/2006/main">
            <a:r>
              <a:t>    "title": "Google Green Light",</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"신호 운영 최적화 지원",</a:t>
            </a:r>
          </a:p>
          <a:p xmlns:a="http://schemas.openxmlformats.org/drawingml/2006/main">
            <a:r>
              <a:t>    "period": "운영 적용",</a:t>
            </a:r>
          </a:p>
          <a:p xmlns:a="http://schemas.openxmlformats.org/drawingml/2006/main">
            <a:r>
              <a:t>    "sources": [</a:t>
            </a:r>
          </a:p>
          <a:p xmlns:a="http://schemas.openxmlformats.org/drawingml/2006/main">
            <a:r>
              <a:t>      "S-AX11"</a:t>
            </a:r>
          </a:p>
          <a:p xmlns:a="http://schemas.openxmlformats.org/drawingml/2006/main">
            <a:r>
              <a:t>    ],</a:t>
            </a:r>
          </a:p>
          <a:p xmlns:a="http://schemas.openxmlformats.org/drawingml/2006/main">
            <a:r>
              <a:t>    "keywords": [</a:t>
            </a:r>
          </a:p>
          <a:p xmlns:a="http://schemas.openxmlformats.org/drawingml/2006/main">
            <a:r>
              <a:t>      "신호 운영 최적화 지원"</a:t>
            </a:r>
          </a:p>
          <a:p xmlns:a="http://schemas.openxmlformats.org/drawingml/2006/main">
            <a:r>
              <a:t>    ],</a:t>
            </a:r>
          </a:p>
          <a:p xmlns:a="http://schemas.openxmlformats.org/drawingml/2006/main">
            <a:r>
              <a:t>    "fact": "교통 흐름 분석과 AI 권고를 도시 교통기술자의 신호 운영 검토에 제공",</a:t>
            </a:r>
          </a:p>
          <a:p xmlns:a="http://schemas.openxmlformats.org/drawingml/2006/main">
            <a:r>
              <a:t>    "limit": "도시별 효과 차이 · 신호 변경 권한은 운영기관 소관",</a:t>
            </a:r>
          </a:p>
          <a:p xmlns:a="http://schemas.openxmlformats.org/drawingml/2006/main">
            <a:r>
              <a:t>    "flow": [</a:t>
            </a:r>
          </a:p>
          <a:p xmlns:a="http://schemas.openxmlformats.org/drawingml/2006/main">
            <a:r>
              <a:t>      "교통 흐름 데이터",</a:t>
            </a:r>
          </a:p>
          <a:p xmlns:a="http://schemas.openxmlformats.org/drawingml/2006/main">
            <a:r>
              <a:t>      "AI 개선 권고",</a:t>
            </a:r>
          </a:p>
          <a:p xmlns:a="http://schemas.openxmlformats.org/drawingml/2006/main">
            <a:r>
              <a:t>      "기술자 검토",</a:t>
            </a:r>
          </a:p>
          <a:p xmlns:a="http://schemas.openxmlformats.org/drawingml/2006/main">
            <a:r>
              <a:t>      "신호 운영 반영"</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"권고와 현장 실행 권한의 분리",</a:t>
            </a:r>
          </a:p>
          <a:p xmlns:a="http://schemas.openxmlformats.org/drawingml/2006/main">
            <a:r>
              <a:t>    "local": "TS 분석·점검 의견을 지자체 소관 업무로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"지역·교차로·관할·개선 전후 지표 연결",</a:t>
            </a:r>
          </a:p>
          <a:p xmlns:a="http://schemas.openxmlformats.org/drawingml/2006/main">
            <a:r>
              <a:t>    "test": "동일 시간대·교통량 비교와 담당자 승인 확인",</a:t>
            </a:r>
          </a:p>
          <a:p xmlns:a="http://schemas.openxmlformats.org/drawingml/2006/main">
            <a:r>
              <a:t>    "metric": "정체·대기 지표 / 권고 채택률",</a:t>
            </a:r>
          </a:p>
          <a:p xmlns:a="http://schemas.openxmlformats.org/drawingml/2006/main">
            <a:r>
              <a:t>    "strategies": [</a:t>
            </a:r>
          </a:p>
          <a:p xmlns:a="http://schemas.openxmlformats.org/drawingml/2006/main">
            <a:r>
              <a:t>      "ST-06",</a:t>
            </a:r>
          </a:p>
          <a:p xmlns:a="http://schemas.openxmlformats.org/drawingml/2006/main">
            <a:r>
              <a:t>      "ST-07",</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"AX11",</a:t>
            </a:r>
          </a:p>
          <a:p xmlns:a="http://schemas.openxmlformats.org/drawingml/2006/main">
            <a:r>
              <a:t>    "canonicalId": "AX11",</a:t>
            </a:r>
          </a:p>
          <a:p xmlns:a="http://schemas.openxmlformats.org/drawingml/2006/main">
            <a:r>
              <a:t>    "purpose": "신호 운영 검토를 위한 교통 흐름 분석",</a:t>
            </a:r>
          </a:p>
          <a:p xmlns:a="http://schemas.openxmlformats.org/drawingml/2006/main">
            <a:r>
              <a:t>    "users": "도시 교통기술자·운영 담당",</a:t>
            </a:r>
          </a:p>
          <a:p xmlns:a="http://schemas.openxmlformats.org/drawingml/2006/main">
            <a:r>
              <a:t>    "scope": [</a:t>
            </a:r>
          </a:p>
          <a:p xmlns:a="http://schemas.openxmlformats.org/drawingml/2006/main">
            <a:r>
              <a:t>      "교차로 흐름",</a:t>
            </a:r>
          </a:p>
          <a:p xmlns:a="http://schemas.openxmlformats.org/drawingml/2006/main">
            <a:r>
              <a:t>      "신호 권고",</a:t>
            </a:r>
          </a:p>
          <a:p xmlns:a="http://schemas.openxmlformats.org/drawingml/2006/main">
            <a:r>
              <a:t>      "효과 점검"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"교통 흐름 자료",</a:t>
            </a:r>
          </a:p>
          <a:p xmlns:a="http://schemas.openxmlformats.org/drawingml/2006/main">
            <a:r>
              <a:t>        "detail": "교차로·시간대·운영 조건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"교차로 흐름 / 신호 권고 / 효과 점검",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"신호 개선 권고",</a:t>
            </a:r>
          </a:p>
          <a:p xmlns:a="http://schemas.openxmlformats.org/drawingml/2006/main">
            <a:r>
              <a:t>        "detail": "정체·정지 패턴에 따른 신호 조정 후보",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"도시 교통기술자",</a:t>
            </a:r>
          </a:p>
          <a:p xmlns:a="http://schemas.openxmlformats.org/drawingml/2006/main">
            <a:r>
              <a:t>        "detail": "교통기술자의 검토 후 신호 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"교차로·교통 패턴",</a:t>
            </a:r>
          </a:p>
          <a:p xmlns:a="http://schemas.openxmlformats.org/drawingml/2006/main">
            <a:r>
              <a:t>        "detail": "교통 흐름·교차로·신호 운영자료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"변경 전후 교통지표와 안전 제약의 병행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"교통 흐름 데이터",</a:t>
            </a:r>
          </a:p>
          <a:p xmlns:a="http://schemas.openxmlformats.org/drawingml/2006/main">
            <a:r>
              <a:t>        "input": "교차로·시간대·운영 조건 지정",</a:t>
            </a:r>
          </a:p>
          <a:p xmlns:a="http://schemas.openxmlformats.org/drawingml/2006/main">
            <a:r>
              <a:t>        "process": "교통 흐름·교차로·신호 운영자료 정합화",</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"title": "AI 개선 권고",</a:t>
            </a:r>
          </a:p>
          <a:p xmlns:a="http://schemas.openxmlformats.org/drawingml/2006/main">
            <a:r>
              <a:t>        "input": "교차로 흐름",</a:t>
            </a:r>
          </a:p>
          <a:p xmlns:a="http://schemas.openxmlformats.org/drawingml/2006/main">
            <a:r>
              <a:t>        "process": "정체·정지 패턴에 따른 신호 조정 후보",</a:t>
            </a:r>
          </a:p>
          <a:p xmlns:a="http://schemas.openxmlformats.org/drawingml/2006/main">
            <a:r>
              <a:t>        "output": "정체 패턴"</a:t>
            </a:r>
          </a:p>
          <a:p xmlns:a="http://schemas.openxmlformats.org/drawingml/2006/main">
            <a:r>
              <a:t>      },</a:t>
            </a:r>
          </a:p>
          <a:p xmlns:a="http://schemas.openxmlformats.org/drawingml/2006/main">
            <a:r>
              <a:t>      {</a:t>
            </a:r>
          </a:p>
          <a:p xmlns:a="http://schemas.openxmlformats.org/drawingml/2006/main">
            <a:r>
              <a:t>        "title": "기술자 검토",</a:t>
            </a:r>
          </a:p>
          <a:p xmlns:a="http://schemas.openxmlformats.org/drawingml/2006/main">
            <a:r>
              <a:t>        "input": "정체 패턴",</a:t>
            </a:r>
          </a:p>
          <a:p xmlns:a="http://schemas.openxmlformats.org/drawingml/2006/main">
            <a:r>
              <a:t>        "process": "지역 제약·안전 조건 검토",</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"title": "신호 운영 반영",</a:t>
            </a:r>
          </a:p>
          <a:p xmlns:a="http://schemas.openxmlformats.org/drawingml/2006/main">
            <a:r>
              <a:t>        "input": "신호 조정안",</a:t>
            </a:r>
          </a:p>
          <a:p xmlns:a="http://schemas.openxmlformats.org/drawingml/2006/main">
            <a:r>
              <a:t>        "process":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"교차로의 신호 조정 후보를 기술자가 현장 조건과 대조",</a:t>
            </a:r>
          </a:p>
          <a:p xmlns:a="http://schemas.openxmlformats.org/drawingml/2006/main">
            <a:r>
              <a:t>      "exception": "보행시간 부족·인접 교차로 정체·특수 행사일",</a:t>
            </a:r>
          </a:p>
          <a:p xmlns:a="http://schemas.openxmlformats.org/drawingml/2006/main">
            <a:r>
              <a:t>      "evidence": "변경 전후 지표와 보행·안전 제약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"도시 교통기술자·운영 담당",</a:t>
            </a:r>
          </a:p>
          <a:p xmlns:a="http://schemas.openxmlformats.org/drawingml/2006/main">
            <a:r>
              <a:t>          "processing": "교차로·시간대·운영 조건 지정",</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"교차로·교통 패턴",</a:t>
            </a:r>
          </a:p>
          <a:p xmlns:a="http://schemas.openxmlformats.org/drawingml/2006/main">
            <a:r>
              <a:t>          "processing": "교통 흐름·교차로·신호 운영자료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"교차로 흐름",</a:t>
            </a:r>
          </a:p>
          <a:p xmlns:a="http://schemas.openxmlformats.org/drawingml/2006/main">
            <a:r>
              <a:t>          "processing": "정체·정지 패턴에 따른 신호 조정 후보",</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"신호 조정안",</a:t>
            </a:r>
          </a:p>
          <a:p xmlns:a="http://schemas.openxmlformats.org/drawingml/2006/main">
            <a:r>
              <a:t>          "processing":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"변경 전후 교통지표와 안전 제약의 병행 평가",</a:t>
            </a:r>
          </a:p>
          <a:p xmlns:a="http://schemas.openxmlformats.org/drawingml/2006/main">
            <a:r>
              <a:t>          "output": "변경 전후 지표와 보행·안전 제약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"변경 전후 교통지표와 안전 제약의 병행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"S-AX11",</a:t>
            </a:r>
          </a:p>
          <a:p xmlns:a="http://schemas.openxmlformats.org/drawingml/2006/main">
            <a:r>
              <a:t>        "title": "Google Green Light · 개발기관 사업 소개 / 게시일 미표시",</a:t>
            </a:r>
          </a:p>
          <a:p xmlns:a="http://schemas.openxmlformats.org/drawingml/2006/main">
            <a:r>
              <a:t>        "url": "https://sites.research.google/greenlight/",</a:t>
            </a:r>
          </a:p>
          <a:p xmlns:a="http://schemas.openxmlformats.org/drawingml/2006/main">
            <a:r>
              <a:t>        "published": "운영 적용",</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"권고와 현장 실행 권한의 분리",</a:t>
            </a:r>
          </a:p>
          <a:p xmlns:a="http://schemas.openxmlformats.org/drawingml/2006/main">
            <a:r>
              <a:t>    "local": "TS 분석·점검 의견을 지자체 소관 업무로 인계",</a:t>
            </a:r>
          </a:p>
          <a:p xmlns:a="http://schemas.openxmlformats.org/drawingml/2006/main">
            <a:r>
              <a:t>    "sourceDetail": null,</a:t>
            </a:r>
          </a:p>
          <a:p xmlns:a="http://schemas.openxmlformats.org/drawingml/2006/main">
            <a:r>
              <a:t>    "narrative": [</a:t>
            </a:r>
          </a:p>
          <a:p xmlns:a="http://schemas.openxmlformats.org/drawingml/2006/main">
            <a:r>
              <a:t>      "도시 교통 흐름을 분석해 신호 운영 개선안을 기술자에게 제공하는 사례. AI가 모든 교차로 신호를 직접 제어하는 방식으로 일반화하기보다 권고와 현장 적용의 연결에 주목.",</a:t>
            </a:r>
          </a:p>
          <a:p xmlns:a="http://schemas.openxmlformats.org/drawingml/2006/main">
            <a:r>
              <a:t>      "교차로·시간대별 흐름에서 정체·정지 패턴을 찾고 신호 조정 후보를 만드는 흐름. 지역 교통기술자가 보행자·긴급차량·현장 제약을 확인한 뒤 운영계획에 반영하는 CCK 적용 구조.",</a:t>
            </a:r>
          </a:p>
          <a:p xmlns:a="http://schemas.openxmlformats.org/drawingml/2006/main">
            <a:r>
              <a:t>      "관측 교차로의 결과를 다른 지역 성과로 그대로 환산하지 않는 비교. 변경 전후 교통지표, 안전 제약 위반, 권고 채택 여부와 실제 운영 반영시간을 함께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"신호 검토 요청",</a:t>
            </a:r>
          </a:p>
          <a:p xmlns:a="http://schemas.openxmlformats.org/drawingml/2006/main">
            <a:r>
              <a:t>          "layer": "이용 접점",</a:t>
            </a:r>
          </a:p>
          <a:p xmlns:a="http://schemas.openxmlformats.org/drawingml/2006/main">
            <a:r>
              <a:t>          "detail": "도시 교통기술자·운영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"교차로·시간대",</a:t>
            </a:r>
          </a:p>
          <a:p xmlns:a="http://schemas.openxmlformats.org/drawingml/2006/main">
            <a:r>
              <a:t>          "layer": "업무 문맥",</a:t>
            </a:r>
          </a:p>
          <a:p xmlns:a="http://schemas.openxmlformats.org/drawingml/2006/main">
            <a:r>
              <a:t>          "detail": "교차로·시간대·운영 조건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흐름 조회",</a:t>
            </a:r>
          </a:p>
          <a:p xmlns:a="http://schemas.openxmlformats.org/drawingml/2006/main">
            <a:r>
              <a:t>          "layer": "자료 조회",</a:t>
            </a:r>
          </a:p>
          <a:p xmlns:a="http://schemas.openxmlformats.org/drawingml/2006/main">
            <a:r>
              <a:t>          "detail": "교차로 흐름",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"신호 조정 후보",</a:t>
            </a:r>
          </a:p>
          <a:p xmlns:a="http://schemas.openxmlformats.org/drawingml/2006/main">
            <a:r>
              <a:t>          "layer": "핵심 처리",</a:t>
            </a:r>
          </a:p>
          <a:p xmlns:a="http://schemas.openxmlformats.org/drawingml/2006/main">
            <a:r>
              <a:t>          "detail": "정체·정지 패턴에 따른 신호 조정 후보",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"지역·안전 제약",</a:t>
            </a:r>
          </a:p>
          <a:p xmlns:a="http://schemas.openxmlformats.org/drawingml/2006/main">
            <a:r>
              <a:t>          "layer": "결과 검증",</a:t>
            </a:r>
          </a:p>
          <a:p xmlns:a="http://schemas.openxmlformats.org/drawingml/2006/main">
            <a:r>
              <a:t>          "detail": "지역 제약·안전 조건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"교통기술자 검토",</a:t>
            </a:r>
          </a:p>
          <a:p xmlns:a="http://schemas.openxmlformats.org/drawingml/2006/main">
            <a:r>
              <a:t>          "layer": "사람 확인",</a:t>
            </a:r>
          </a:p>
          <a:p xmlns:a="http://schemas.openxmlformats.org/drawingml/2006/main">
            <a:r>
              <a:t>          "detail": "교차로의 신호 조정 후보를 기술자가 현장 조건과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"신호계획 반영",</a:t>
            </a:r>
          </a:p>
          <a:p xmlns:a="http://schemas.openxmlformats.org/drawingml/2006/main">
            <a:r>
              <a:t>          "layer": "업무 연결",</a:t>
            </a:r>
          </a:p>
          <a:p xmlns:a="http://schemas.openxmlformats.org/drawingml/2006/main">
            <a:r>
              <a:t>          "detail": "교통기술자의 검토 후 신호 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전후 평가",</a:t>
            </a:r>
          </a:p>
          <a:p xmlns:a="http://schemas.openxmlformats.org/drawingml/2006/main">
            <a:r>
              <a:t>          "layer": "운영 관측",</a:t>
            </a:r>
          </a:p>
          <a:p xmlns:a="http://schemas.openxmlformats.org/drawingml/2006/main">
            <a:r>
              <a:t>          "detail": "변경 전후 교통지표와 안전 제약의 병행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"교통·신호 자료",</a:t>
            </a:r>
          </a:p>
          <a:p xmlns:a="http://schemas.openxmlformats.org/drawingml/2006/main">
            <a:r>
              <a:t>          "layer": "데이터 원천",</a:t>
            </a:r>
          </a:p>
          <a:p xmlns:a="http://schemas.openxmlformats.org/drawingml/2006/main">
            <a:r>
              <a:t>          "detail": "교차로·교통 패턴",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"교차로 코드 정리",</a:t>
            </a:r>
          </a:p>
          <a:p xmlns:a="http://schemas.openxmlformats.org/drawingml/2006/main">
            <a:r>
              <a:t>          "layer": "준비·갱신",</a:t>
            </a:r>
          </a:p>
          <a:p xmlns:a="http://schemas.openxmlformats.org/drawingml/2006/main">
            <a:r>
              <a:t>          "detail": "교통 흐름·교차로·신호 운영자료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"흐름·계획 이력",</a:t>
            </a:r>
          </a:p>
          <a:p xmlns:a="http://schemas.openxmlformats.org/drawingml/2006/main">
            <a:r>
              <a:t>          "layer": "상태·지식 저장",</a:t>
            </a:r>
          </a:p>
          <a:p xmlns:a="http://schemas.openxmlformats.org/drawingml/2006/main">
            <a:r>
              <a:t>          "detail": "변경 전후 지표와 보행·안전 제약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"보행·긴급 제약",</a:t>
            </a:r>
          </a:p>
          <a:p xmlns:a="http://schemas.openxmlformats.org/drawingml/2006/main">
            <a:r>
              <a:t>          "layer": "권한·정책",</a:t>
            </a:r>
          </a:p>
          <a:p xmlns:a="http://schemas.openxmlformats.org/drawingml/2006/main">
            <a:r>
              <a:t>          "detail": "보행시간 부족·인접 교차로 정체·특수 행사일",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"교통 흐름 데이터 → AI 개선 권고 → 기술자 검토 → 신호 운영 반영"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"교차로·교통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"정체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"신호 조정안",</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"신호 조정안",</a:t>
            </a:r>
          </a:p>
          <a:p xmlns:a="http://schemas.openxmlformats.org/drawingml/2006/main">
            <a:r>
              <a:t>          "check": "지역 제약·안전 조건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"기술자 적용 결과",</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"신호 운영 검토를 위한 교통 흐름 분석 / 교차로 흐름·신호 권고·효과 점검",</a:t>
            </a:r>
          </a:p>
          <a:p xmlns:a="http://schemas.openxmlformats.org/drawingml/2006/main">
            <a:r>
              <a:t>        "extension": "TS 분석·점검 의견을 지자체 소관 업무로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"보행시간 부족·인접 교차로 정체·특수 행사일",</a:t>
            </a:r>
          </a:p>
          <a:p xmlns:a="http://schemas.openxmlformats.org/drawingml/2006/main">
            <a:r>
              <a:t>        "hold": "지역 제약·안전 조건 검토",</a:t>
            </a:r>
          </a:p>
          <a:p xmlns:a="http://schemas.openxmlformats.org/drawingml/2006/main">
            <a:r>
              <a:t>        "recovery": "변경 전후 교통지표와 안전 제약의 병행 평가",</a:t>
            </a:r>
          </a:p>
          <a:p xmlns:a="http://schemas.openxmlformats.org/drawingml/2006/main">
            <a:r>
              <a:t>        "evidence": "변경 전후 지표와 보행·안전 제약 확인 기록"</a:t>
            </a:r>
          </a:p>
          <a:p xmlns:a="http://schemas.openxmlformats.org/drawingml/2006/main">
            <a:r>
              <a:t>      },</a:t>
            </a:r>
          </a:p>
          <a:p xmlns:a="http://schemas.openxmlformats.org/drawingml/2006/main">
            <a:r>
              <a:t>      "data": {</a:t>
            </a:r>
          </a:p>
          <a:p xmlns:a="http://schemas.openxmlformats.org/drawingml/2006/main">
            <a:r>
              <a:t>        "source": "교차로·교통 패턴",</a:t>
            </a:r>
          </a:p>
          <a:p xmlns:a="http://schemas.openxmlformats.org/drawingml/2006/main">
            <a:r>
              <a:t>        "prepare": "교통 흐름·교차로·신호 운영자료 정합화",</a:t>
            </a:r>
          </a:p>
          <a:p xmlns:a="http://schemas.openxmlformats.org/drawingml/2006/main">
            <a:r>
              <a:t>        "output": "교차로 흐름",</a:t>
            </a:r>
          </a:p>
          <a:p xmlns:a="http://schemas.openxmlformats.org/drawingml/2006/main">
            <a:r>
              <a:t>        "refresh": "변경 전후 교통지표와 안전 제약의 병행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"AX11",</a:t>
            </a:r>
          </a:p>
          <a:p xmlns:a="http://schemas.openxmlformats.org/drawingml/2006/main">
            <a:r>
              <a:t>    "success": [</a:t>
            </a:r>
          </a:p>
          <a:p xmlns:a="http://schemas.openxmlformats.org/drawingml/2006/main">
            <a:r>
              <a:t>      "기존 신호 운영에 개선 권고 제공",</a:t>
            </a:r>
          </a:p>
          <a:p xmlns:a="http://schemas.openxmlformats.org/drawingml/2006/main">
            <a:r>
              <a:t>      "도시 기술자의 검토 후 반영"</a:t>
            </a:r>
          </a:p>
          <a:p xmlns:a="http://schemas.openxmlformats.org/drawingml/2006/main">
            <a:r>
              <a:t>    ],</a:t>
            </a:r>
          </a:p>
          <a:p xmlns:a="http://schemas.openxmlformats.org/drawingml/2006/main">
            <a:r>
              <a:t>    "risks": [</a:t>
            </a:r>
          </a:p>
          <a:p xmlns:a="http://schemas.openxmlformats.org/drawingml/2006/main">
            <a:r>
              <a:t>      "관측 교차로 외 일반화 위험",</a:t>
            </a:r>
          </a:p>
          <a:p xmlns:a="http://schemas.openxmlformats.org/drawingml/2006/main">
            <a:r>
              <a:t>      "보행자·긴급차량 조건 누락 가능성"</a:t>
            </a:r>
          </a:p>
          <a:p xmlns:a="http://schemas.openxmlformats.org/drawingml/2006/main">
            <a:r>
              <a:t>    ],</a:t>
            </a:r>
          </a:p>
          <a:p xmlns:a="http://schemas.openxmlformats.org/drawingml/2006/main">
            <a:r>
              <a:t>    "architecture": [</a:t>
            </a:r>
          </a:p>
          <a:p xmlns:a="http://schemas.openxmlformats.org/drawingml/2006/main">
            <a:r>
              <a:t>      "교통 흐름 자료",</a:t>
            </a:r>
          </a:p>
          <a:p xmlns:a="http://schemas.openxmlformats.org/drawingml/2006/main">
            <a:r>
              <a:t>      "신호 개선 권고",</a:t>
            </a:r>
          </a:p>
          <a:p xmlns:a="http://schemas.openxmlformats.org/drawingml/2006/main">
            <a:r>
              <a:t>      "교차로·교통 패턴",</a:t>
            </a:r>
          </a:p>
          <a:p xmlns:a="http://schemas.openxmlformats.org/drawingml/2006/main">
            <a:r>
              <a:t>      "도시 교통기술자"</a:t>
            </a:r>
          </a:p>
          <a:p xmlns:a="http://schemas.openxmlformats.org/drawingml/2006/main">
            <a:r>
              <a:t>    ],</a:t>
            </a:r>
          </a:p>
          <a:p xmlns:a="http://schemas.openxmlformats.org/drawingml/2006/main">
            <a:r>
              <a:t>    "transfers": [</a:t>
            </a:r>
          </a:p>
          <a:p xmlns:a="http://schemas.openxmlformats.org/drawingml/2006/main">
            <a:r>
              <a:t>      "교차로 흐름",</a:t>
            </a:r>
          </a:p>
          <a:p xmlns:a="http://schemas.openxmlformats.org/drawingml/2006/main">
            <a:r>
              <a:t>      "정체 패턴",</a:t>
            </a:r>
          </a:p>
          <a:p xmlns:a="http://schemas.openxmlformats.org/drawingml/2006/main">
            <a:r>
              <a:t>      "신호 조정안",</a:t>
            </a:r>
          </a:p>
          <a:p xmlns:a="http://schemas.openxmlformats.org/drawingml/2006/main">
            <a:r>
              <a:t>      "기술자 적용 결과"</a:t>
            </a:r>
          </a:p>
          <a:p xmlns:a="http://schemas.openxmlformats.org/drawingml/2006/main">
            <a:r>
              <a:t>    ],</a:t>
            </a:r>
          </a:p>
          <a:p xmlns:a="http://schemas.openxmlformats.org/drawingml/2006/main">
            <a:r>
              <a:t>    "control": "지역 제약·안전 조건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Green Light · 개발기관 사업 소개 / 게시일 미표시 https://sites.research.google/greenlight/</a:t>
            </a:r>
          </a:p>
          <a:p xmlns:a="http://schemas.openxmlformats.org/drawingml/2006/main">
            <a:r>
              <a:t>홈페이지 https://heen1987-ops.github.io/TS-business-Plan-001/index.html?view=casebook&amp;case=AX11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"AX11",</a:t>
            </a:r>
          </a:p>
          <a:p xmlns:a="http://schemas.openxmlformats.org/drawingml/2006/main">
            <a:r>
              <a:t>    "title": "Google Green Light",</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"신호 운영 최적화 지원",</a:t>
            </a:r>
          </a:p>
          <a:p xmlns:a="http://schemas.openxmlformats.org/drawingml/2006/main">
            <a:r>
              <a:t>    "period": "운영 적용",</a:t>
            </a:r>
          </a:p>
          <a:p xmlns:a="http://schemas.openxmlformats.org/drawingml/2006/main">
            <a:r>
              <a:t>    "sources": [</a:t>
            </a:r>
          </a:p>
          <a:p xmlns:a="http://schemas.openxmlformats.org/drawingml/2006/main">
            <a:r>
              <a:t>      "S-AX11"</a:t>
            </a:r>
          </a:p>
          <a:p xmlns:a="http://schemas.openxmlformats.org/drawingml/2006/main">
            <a:r>
              <a:t>    ],</a:t>
            </a:r>
          </a:p>
          <a:p xmlns:a="http://schemas.openxmlformats.org/drawingml/2006/main">
            <a:r>
              <a:t>    "keywords": [</a:t>
            </a:r>
          </a:p>
          <a:p xmlns:a="http://schemas.openxmlformats.org/drawingml/2006/main">
            <a:r>
              <a:t>      "신호 운영 최적화 지원"</a:t>
            </a:r>
          </a:p>
          <a:p xmlns:a="http://schemas.openxmlformats.org/drawingml/2006/main">
            <a:r>
              <a:t>    ],</a:t>
            </a:r>
          </a:p>
          <a:p xmlns:a="http://schemas.openxmlformats.org/drawingml/2006/main">
            <a:r>
              <a:t>    "fact": "교통 흐름 분석과 AI 권고를 도시 교통기술자의 신호 운영 검토에 제공",</a:t>
            </a:r>
          </a:p>
          <a:p xmlns:a="http://schemas.openxmlformats.org/drawingml/2006/main">
            <a:r>
              <a:t>    "limit": "도시별 효과 차이 · 신호 변경 권한은 운영기관 소관",</a:t>
            </a:r>
          </a:p>
          <a:p xmlns:a="http://schemas.openxmlformats.org/drawingml/2006/main">
            <a:r>
              <a:t>    "flow": [</a:t>
            </a:r>
          </a:p>
          <a:p xmlns:a="http://schemas.openxmlformats.org/drawingml/2006/main">
            <a:r>
              <a:t>      "교통 흐름 데이터",</a:t>
            </a:r>
          </a:p>
          <a:p xmlns:a="http://schemas.openxmlformats.org/drawingml/2006/main">
            <a:r>
              <a:t>      "AI 개선 권고",</a:t>
            </a:r>
          </a:p>
          <a:p xmlns:a="http://schemas.openxmlformats.org/drawingml/2006/main">
            <a:r>
              <a:t>      "기술자 검토",</a:t>
            </a:r>
          </a:p>
          <a:p xmlns:a="http://schemas.openxmlformats.org/drawingml/2006/main">
            <a:r>
              <a:t>      "신호 운영 반영"</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"권고와 현장 실행 권한의 분리",</a:t>
            </a:r>
          </a:p>
          <a:p xmlns:a="http://schemas.openxmlformats.org/drawingml/2006/main">
            <a:r>
              <a:t>    "local": "TS 분석·점검 의견을 지자체 소관 업무로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"지역·교차로·관할·개선 전후 지표 연결",</a:t>
            </a:r>
          </a:p>
          <a:p xmlns:a="http://schemas.openxmlformats.org/drawingml/2006/main">
            <a:r>
              <a:t>    "test": "동일 시간대·교통량 비교와 담당자 승인 확인",</a:t>
            </a:r>
          </a:p>
          <a:p xmlns:a="http://schemas.openxmlformats.org/drawingml/2006/main">
            <a:r>
              <a:t>    "metric": "정체·대기 지표 / 권고 채택률",</a:t>
            </a:r>
          </a:p>
          <a:p xmlns:a="http://schemas.openxmlformats.org/drawingml/2006/main">
            <a:r>
              <a:t>    "strategies": [</a:t>
            </a:r>
          </a:p>
          <a:p xmlns:a="http://schemas.openxmlformats.org/drawingml/2006/main">
            <a:r>
              <a:t>      "ST-06",</a:t>
            </a:r>
          </a:p>
          <a:p xmlns:a="http://schemas.openxmlformats.org/drawingml/2006/main">
            <a:r>
              <a:t>      "ST-07",</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"AX11",</a:t>
            </a:r>
          </a:p>
          <a:p xmlns:a="http://schemas.openxmlformats.org/drawingml/2006/main">
            <a:r>
              <a:t>    "canonicalId": "AX11",</a:t>
            </a:r>
          </a:p>
          <a:p xmlns:a="http://schemas.openxmlformats.org/drawingml/2006/main">
            <a:r>
              <a:t>    "purpose": "신호 운영 검토를 위한 교통 흐름 분석",</a:t>
            </a:r>
          </a:p>
          <a:p xmlns:a="http://schemas.openxmlformats.org/drawingml/2006/main">
            <a:r>
              <a:t>    "users": "도시 교통기술자·운영 담당",</a:t>
            </a:r>
          </a:p>
          <a:p xmlns:a="http://schemas.openxmlformats.org/drawingml/2006/main">
            <a:r>
              <a:t>    "scope": [</a:t>
            </a:r>
          </a:p>
          <a:p xmlns:a="http://schemas.openxmlformats.org/drawingml/2006/main">
            <a:r>
              <a:t>      "교차로 흐름",</a:t>
            </a:r>
          </a:p>
          <a:p xmlns:a="http://schemas.openxmlformats.org/drawingml/2006/main">
            <a:r>
              <a:t>      "신호 권고",</a:t>
            </a:r>
          </a:p>
          <a:p xmlns:a="http://schemas.openxmlformats.org/drawingml/2006/main">
            <a:r>
              <a:t>      "효과 점검"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"교통 흐름 자료",</a:t>
            </a:r>
          </a:p>
          <a:p xmlns:a="http://schemas.openxmlformats.org/drawingml/2006/main">
            <a:r>
              <a:t>        "detail": "교차로·시간대·운영 조건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"교차로 흐름 / 신호 권고 / 효과 점검",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"신호 개선 권고",</a:t>
            </a:r>
          </a:p>
          <a:p xmlns:a="http://schemas.openxmlformats.org/drawingml/2006/main">
            <a:r>
              <a:t>        "detail": "정체·정지 패턴에 따른 신호 조정 후보",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"도시 교통기술자",</a:t>
            </a:r>
          </a:p>
          <a:p xmlns:a="http://schemas.openxmlformats.org/drawingml/2006/main">
            <a:r>
              <a:t>        "detail": "교통기술자의 검토 후 신호 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"교차로·교통 패턴",</a:t>
            </a:r>
          </a:p>
          <a:p xmlns:a="http://schemas.openxmlformats.org/drawingml/2006/main">
            <a:r>
              <a:t>        "detail": "교통 흐름·교차로·신호 운영자료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"변경 전후 교통지표와 안전 제약의 병행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"교통 흐름 데이터",</a:t>
            </a:r>
          </a:p>
          <a:p xmlns:a="http://schemas.openxmlformats.org/drawingml/2006/main">
            <a:r>
              <a:t>        "input": "교차로·시간대·운영 조건 지정",</a:t>
            </a:r>
          </a:p>
          <a:p xmlns:a="http://schemas.openxmlformats.org/drawingml/2006/main">
            <a:r>
              <a:t>        "process": "교통 흐름·교차로·신호 운영자료 정합화",</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"title": "AI 개선 권고",</a:t>
            </a:r>
          </a:p>
          <a:p xmlns:a="http://schemas.openxmlformats.org/drawingml/2006/main">
            <a:r>
              <a:t>        "input": "교차로 흐름",</a:t>
            </a:r>
          </a:p>
          <a:p xmlns:a="http://schemas.openxmlformats.org/drawingml/2006/main">
            <a:r>
              <a:t>        "process": "정체·정지 패턴에 따른 신호 조정 후보",</a:t>
            </a:r>
          </a:p>
          <a:p xmlns:a="http://schemas.openxmlformats.org/drawingml/2006/main">
            <a:r>
              <a:t>        "output": "정체 패턴"</a:t>
            </a:r>
          </a:p>
          <a:p xmlns:a="http://schemas.openxmlformats.org/drawingml/2006/main">
            <a:r>
              <a:t>      },</a:t>
            </a:r>
          </a:p>
          <a:p xmlns:a="http://schemas.openxmlformats.org/drawingml/2006/main">
            <a:r>
              <a:t>      {</a:t>
            </a:r>
          </a:p>
          <a:p xmlns:a="http://schemas.openxmlformats.org/drawingml/2006/main">
            <a:r>
              <a:t>        "title": "기술자 검토",</a:t>
            </a:r>
          </a:p>
          <a:p xmlns:a="http://schemas.openxmlformats.org/drawingml/2006/main">
            <a:r>
              <a:t>        "input": "정체 패턴",</a:t>
            </a:r>
          </a:p>
          <a:p xmlns:a="http://schemas.openxmlformats.org/drawingml/2006/main">
            <a:r>
              <a:t>        "process": "지역 제약·안전 조건 검토",</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"title": "신호 운영 반영",</a:t>
            </a:r>
          </a:p>
          <a:p xmlns:a="http://schemas.openxmlformats.org/drawingml/2006/main">
            <a:r>
              <a:t>        "input": "신호 조정안",</a:t>
            </a:r>
          </a:p>
          <a:p xmlns:a="http://schemas.openxmlformats.org/drawingml/2006/main">
            <a:r>
              <a:t>        "process":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"교차로의 신호 조정 후보를 기술자가 현장 조건과 대조",</a:t>
            </a:r>
          </a:p>
          <a:p xmlns:a="http://schemas.openxmlformats.org/drawingml/2006/main">
            <a:r>
              <a:t>      "exception": "보행시간 부족·인접 교차로 정체·특수 행사일",</a:t>
            </a:r>
          </a:p>
          <a:p xmlns:a="http://schemas.openxmlformats.org/drawingml/2006/main">
            <a:r>
              <a:t>      "evidence": "변경 전후 지표와 보행·안전 제약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"도시 교통기술자·운영 담당",</a:t>
            </a:r>
          </a:p>
          <a:p xmlns:a="http://schemas.openxmlformats.org/drawingml/2006/main">
            <a:r>
              <a:t>          "processing": "교차로·시간대·운영 조건 지정",</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"교차로·교통 패턴",</a:t>
            </a:r>
          </a:p>
          <a:p xmlns:a="http://schemas.openxmlformats.org/drawingml/2006/main">
            <a:r>
              <a:t>          "processing": "교통 흐름·교차로·신호 운영자료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"교차로 흐름",</a:t>
            </a:r>
          </a:p>
          <a:p xmlns:a="http://schemas.openxmlformats.org/drawingml/2006/main">
            <a:r>
              <a:t>          "processing": "정체·정지 패턴에 따른 신호 조정 후보",</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"신호 조정안",</a:t>
            </a:r>
          </a:p>
          <a:p xmlns:a="http://schemas.openxmlformats.org/drawingml/2006/main">
            <a:r>
              <a:t>          "processing":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"변경 전후 교통지표와 안전 제약의 병행 평가",</a:t>
            </a:r>
          </a:p>
          <a:p xmlns:a="http://schemas.openxmlformats.org/drawingml/2006/main">
            <a:r>
              <a:t>          "output": "변경 전후 지표와 보행·안전 제약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"변경 전후 교통지표와 안전 제약의 병행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"S-AX11",</a:t>
            </a:r>
          </a:p>
          <a:p xmlns:a="http://schemas.openxmlformats.org/drawingml/2006/main">
            <a:r>
              <a:t>        "title": "Google Green Light · 개발기관 사업 소개 / 게시일 미표시",</a:t>
            </a:r>
          </a:p>
          <a:p xmlns:a="http://schemas.openxmlformats.org/drawingml/2006/main">
            <a:r>
              <a:t>        "url": "https://sites.research.google/greenlight/",</a:t>
            </a:r>
          </a:p>
          <a:p xmlns:a="http://schemas.openxmlformats.org/drawingml/2006/main">
            <a:r>
              <a:t>        "published": "운영 적용",</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"권고와 현장 실행 권한의 분리",</a:t>
            </a:r>
          </a:p>
          <a:p xmlns:a="http://schemas.openxmlformats.org/drawingml/2006/main">
            <a:r>
              <a:t>    "local": "TS 분석·점검 의견을 지자체 소관 업무로 인계",</a:t>
            </a:r>
          </a:p>
          <a:p xmlns:a="http://schemas.openxmlformats.org/drawingml/2006/main">
            <a:r>
              <a:t>    "sourceDetail": null,</a:t>
            </a:r>
          </a:p>
          <a:p xmlns:a="http://schemas.openxmlformats.org/drawingml/2006/main">
            <a:r>
              <a:t>    "narrative": [</a:t>
            </a:r>
          </a:p>
          <a:p xmlns:a="http://schemas.openxmlformats.org/drawingml/2006/main">
            <a:r>
              <a:t>      "도시 교통 흐름을 분석해 신호 운영 개선안을 기술자에게 제공하는 사례. AI가 모든 교차로 신호를 직접 제어하는 방식으로 일반화하기보다 권고와 현장 적용의 연결에 주목.",</a:t>
            </a:r>
          </a:p>
          <a:p xmlns:a="http://schemas.openxmlformats.org/drawingml/2006/main">
            <a:r>
              <a:t>      "교차로·시간대별 흐름에서 정체·정지 패턴을 찾고 신호 조정 후보를 만드는 흐름. 지역 교통기술자가 보행자·긴급차량·현장 제약을 확인한 뒤 운영계획에 반영하는 CCK 적용 구조.",</a:t>
            </a:r>
          </a:p>
          <a:p xmlns:a="http://schemas.openxmlformats.org/drawingml/2006/main">
            <a:r>
              <a:t>      "관측 교차로의 결과를 다른 지역 성과로 그대로 환산하지 않는 비교. 변경 전후 교통지표, 안전 제약 위반, 권고 채택 여부와 실제 운영 반영시간을 함께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"신호 검토 요청",</a:t>
            </a:r>
          </a:p>
          <a:p xmlns:a="http://schemas.openxmlformats.org/drawingml/2006/main">
            <a:r>
              <a:t>          "layer": "이용 접점",</a:t>
            </a:r>
          </a:p>
          <a:p xmlns:a="http://schemas.openxmlformats.org/drawingml/2006/main">
            <a:r>
              <a:t>          "detail": "도시 교통기술자·운영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"교차로·시간대",</a:t>
            </a:r>
          </a:p>
          <a:p xmlns:a="http://schemas.openxmlformats.org/drawingml/2006/main">
            <a:r>
              <a:t>          "layer": "업무 문맥",</a:t>
            </a:r>
          </a:p>
          <a:p xmlns:a="http://schemas.openxmlformats.org/drawingml/2006/main">
            <a:r>
              <a:t>          "detail": "교차로·시간대·운영 조건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흐름 조회",</a:t>
            </a:r>
          </a:p>
          <a:p xmlns:a="http://schemas.openxmlformats.org/drawingml/2006/main">
            <a:r>
              <a:t>          "layer": "자료 조회",</a:t>
            </a:r>
          </a:p>
          <a:p xmlns:a="http://schemas.openxmlformats.org/drawingml/2006/main">
            <a:r>
              <a:t>          "detail": "교차로 흐름",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"신호 조정 후보",</a:t>
            </a:r>
          </a:p>
          <a:p xmlns:a="http://schemas.openxmlformats.org/drawingml/2006/main">
            <a:r>
              <a:t>          "layer": "핵심 처리",</a:t>
            </a:r>
          </a:p>
          <a:p xmlns:a="http://schemas.openxmlformats.org/drawingml/2006/main">
            <a:r>
              <a:t>          "detail": "정체·정지 패턴에 따른 신호 조정 후보",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"지역·안전 제약",</a:t>
            </a:r>
          </a:p>
          <a:p xmlns:a="http://schemas.openxmlformats.org/drawingml/2006/main">
            <a:r>
              <a:t>          "layer": "결과 검증",</a:t>
            </a:r>
          </a:p>
          <a:p xmlns:a="http://schemas.openxmlformats.org/drawingml/2006/main">
            <a:r>
              <a:t>          "detail": "지역 제약·안전 조건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"교통기술자 검토",</a:t>
            </a:r>
          </a:p>
          <a:p xmlns:a="http://schemas.openxmlformats.org/drawingml/2006/main">
            <a:r>
              <a:t>          "layer": "사람 확인",</a:t>
            </a:r>
          </a:p>
          <a:p xmlns:a="http://schemas.openxmlformats.org/drawingml/2006/main">
            <a:r>
              <a:t>          "detail": "교차로의 신호 조정 후보를 기술자가 현장 조건과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"신호계획 반영",</a:t>
            </a:r>
          </a:p>
          <a:p xmlns:a="http://schemas.openxmlformats.org/drawingml/2006/main">
            <a:r>
              <a:t>          "layer": "업무 연결",</a:t>
            </a:r>
          </a:p>
          <a:p xmlns:a="http://schemas.openxmlformats.org/drawingml/2006/main">
            <a:r>
              <a:t>          "detail": "교통기술자의 검토 후 신호 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전후 평가",</a:t>
            </a:r>
          </a:p>
          <a:p xmlns:a="http://schemas.openxmlformats.org/drawingml/2006/main">
            <a:r>
              <a:t>          "layer": "운영 관측",</a:t>
            </a:r>
          </a:p>
          <a:p xmlns:a="http://schemas.openxmlformats.org/drawingml/2006/main">
            <a:r>
              <a:t>          "detail": "변경 전후 교통지표와 안전 제약의 병행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"교통·신호 자료",</a:t>
            </a:r>
          </a:p>
          <a:p xmlns:a="http://schemas.openxmlformats.org/drawingml/2006/main">
            <a:r>
              <a:t>          "layer": "데이터 원천",</a:t>
            </a:r>
          </a:p>
          <a:p xmlns:a="http://schemas.openxmlformats.org/drawingml/2006/main">
            <a:r>
              <a:t>          "detail": "교차로·교통 패턴",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"교차로 코드 정리",</a:t>
            </a:r>
          </a:p>
          <a:p xmlns:a="http://schemas.openxmlformats.org/drawingml/2006/main">
            <a:r>
              <a:t>          "layer": "준비·갱신",</a:t>
            </a:r>
          </a:p>
          <a:p xmlns:a="http://schemas.openxmlformats.org/drawingml/2006/main">
            <a:r>
              <a:t>          "detail": "교통 흐름·교차로·신호 운영자료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"흐름·계획 이력",</a:t>
            </a:r>
          </a:p>
          <a:p xmlns:a="http://schemas.openxmlformats.org/drawingml/2006/main">
            <a:r>
              <a:t>          "layer": "상태·지식 저장",</a:t>
            </a:r>
          </a:p>
          <a:p xmlns:a="http://schemas.openxmlformats.org/drawingml/2006/main">
            <a:r>
              <a:t>          "detail": "변경 전후 지표와 보행·안전 제약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"보행·긴급 제약",</a:t>
            </a:r>
          </a:p>
          <a:p xmlns:a="http://schemas.openxmlformats.org/drawingml/2006/main">
            <a:r>
              <a:t>          "layer": "권한·정책",</a:t>
            </a:r>
          </a:p>
          <a:p xmlns:a="http://schemas.openxmlformats.org/drawingml/2006/main">
            <a:r>
              <a:t>          "detail": "보행시간 부족·인접 교차로 정체·특수 행사일",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"교통 흐름 데이터 → AI 개선 권고 → 기술자 검토 → 신호 운영 반영"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"교차로·교통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"정체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"신호 조정안",</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"신호 조정안",</a:t>
            </a:r>
          </a:p>
          <a:p xmlns:a="http://schemas.openxmlformats.org/drawingml/2006/main">
            <a:r>
              <a:t>          "check": "지역 제약·안전 조건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"기술자 적용 결과",</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"신호 운영 검토를 위한 교통 흐름 분석 / 교차로 흐름·신호 권고·효과 점검",</a:t>
            </a:r>
          </a:p>
          <a:p xmlns:a="http://schemas.openxmlformats.org/drawingml/2006/main">
            <a:r>
              <a:t>        "extension": "TS 분석·점검 의견을 지자체 소관 업무로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"보행시간 부족·인접 교차로 정체·특수 행사일",</a:t>
            </a:r>
          </a:p>
          <a:p xmlns:a="http://schemas.openxmlformats.org/drawingml/2006/main">
            <a:r>
              <a:t>        "hold": "지역 제약·안전 조건 검토",</a:t>
            </a:r>
          </a:p>
          <a:p xmlns:a="http://schemas.openxmlformats.org/drawingml/2006/main">
            <a:r>
              <a:t>        "recovery": "변경 전후 교통지표와 안전 제약의 병행 평가",</a:t>
            </a:r>
          </a:p>
          <a:p xmlns:a="http://schemas.openxmlformats.org/drawingml/2006/main">
            <a:r>
              <a:t>        "evidence": "변경 전후 지표와 보행·안전 제약 확인 기록"</a:t>
            </a:r>
          </a:p>
          <a:p xmlns:a="http://schemas.openxmlformats.org/drawingml/2006/main">
            <a:r>
              <a:t>      },</a:t>
            </a:r>
          </a:p>
          <a:p xmlns:a="http://schemas.openxmlformats.org/drawingml/2006/main">
            <a:r>
              <a:t>      "data": {</a:t>
            </a:r>
          </a:p>
          <a:p xmlns:a="http://schemas.openxmlformats.org/drawingml/2006/main">
            <a:r>
              <a:t>        "source": "교차로·교통 패턴",</a:t>
            </a:r>
          </a:p>
          <a:p xmlns:a="http://schemas.openxmlformats.org/drawingml/2006/main">
            <a:r>
              <a:t>        "prepare": "교통 흐름·교차로·신호 운영자료 정합화",</a:t>
            </a:r>
          </a:p>
          <a:p xmlns:a="http://schemas.openxmlformats.org/drawingml/2006/main">
            <a:r>
              <a:t>        "output": "교차로 흐름",</a:t>
            </a:r>
          </a:p>
          <a:p xmlns:a="http://schemas.openxmlformats.org/drawingml/2006/main">
            <a:r>
              <a:t>        "refresh": "변경 전후 교통지표와 안전 제약의 병행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"AX11",</a:t>
            </a:r>
          </a:p>
          <a:p xmlns:a="http://schemas.openxmlformats.org/drawingml/2006/main">
            <a:r>
              <a:t>    "success": [</a:t>
            </a:r>
          </a:p>
          <a:p xmlns:a="http://schemas.openxmlformats.org/drawingml/2006/main">
            <a:r>
              <a:t>      "기존 신호 운영에 개선 권고 제공",</a:t>
            </a:r>
          </a:p>
          <a:p xmlns:a="http://schemas.openxmlformats.org/drawingml/2006/main">
            <a:r>
              <a:t>      "도시 기술자의 검토 후 반영"</a:t>
            </a:r>
          </a:p>
          <a:p xmlns:a="http://schemas.openxmlformats.org/drawingml/2006/main">
            <a:r>
              <a:t>    ],</a:t>
            </a:r>
          </a:p>
          <a:p xmlns:a="http://schemas.openxmlformats.org/drawingml/2006/main">
            <a:r>
              <a:t>    "risks": [</a:t>
            </a:r>
          </a:p>
          <a:p xmlns:a="http://schemas.openxmlformats.org/drawingml/2006/main">
            <a:r>
              <a:t>      "관측 교차로 외 일반화 위험",</a:t>
            </a:r>
          </a:p>
          <a:p xmlns:a="http://schemas.openxmlformats.org/drawingml/2006/main">
            <a:r>
              <a:t>      "보행자·긴급차량 조건 누락 가능성"</a:t>
            </a:r>
          </a:p>
          <a:p xmlns:a="http://schemas.openxmlformats.org/drawingml/2006/main">
            <a:r>
              <a:t>    ],</a:t>
            </a:r>
          </a:p>
          <a:p xmlns:a="http://schemas.openxmlformats.org/drawingml/2006/main">
            <a:r>
              <a:t>    "architecture": [</a:t>
            </a:r>
          </a:p>
          <a:p xmlns:a="http://schemas.openxmlformats.org/drawingml/2006/main">
            <a:r>
              <a:t>      "교통 흐름 자료",</a:t>
            </a:r>
          </a:p>
          <a:p xmlns:a="http://schemas.openxmlformats.org/drawingml/2006/main">
            <a:r>
              <a:t>      "신호 개선 권고",</a:t>
            </a:r>
          </a:p>
          <a:p xmlns:a="http://schemas.openxmlformats.org/drawingml/2006/main">
            <a:r>
              <a:t>      "교차로·교통 패턴",</a:t>
            </a:r>
          </a:p>
          <a:p xmlns:a="http://schemas.openxmlformats.org/drawingml/2006/main">
            <a:r>
              <a:t>      "도시 교통기술자"</a:t>
            </a:r>
          </a:p>
          <a:p xmlns:a="http://schemas.openxmlformats.org/drawingml/2006/main">
            <a:r>
              <a:t>    ],</a:t>
            </a:r>
          </a:p>
          <a:p xmlns:a="http://schemas.openxmlformats.org/drawingml/2006/main">
            <a:r>
              <a:t>    "transfers": [</a:t>
            </a:r>
          </a:p>
          <a:p xmlns:a="http://schemas.openxmlformats.org/drawingml/2006/main">
            <a:r>
              <a:t>      "교차로 흐름",</a:t>
            </a:r>
          </a:p>
          <a:p xmlns:a="http://schemas.openxmlformats.org/drawingml/2006/main">
            <a:r>
              <a:t>      "정체 패턴",</a:t>
            </a:r>
          </a:p>
          <a:p xmlns:a="http://schemas.openxmlformats.org/drawingml/2006/main">
            <a:r>
              <a:t>      "신호 조정안",</a:t>
            </a:r>
          </a:p>
          <a:p xmlns:a="http://schemas.openxmlformats.org/drawingml/2006/main">
            <a:r>
              <a:t>      "기술자 적용 결과"</a:t>
            </a:r>
          </a:p>
          <a:p xmlns:a="http://schemas.openxmlformats.org/drawingml/2006/main">
            <a:r>
              <a:t>    ],</a:t>
            </a:r>
          </a:p>
          <a:p xmlns:a="http://schemas.openxmlformats.org/drawingml/2006/main">
            <a:r>
              <a:t>    "control": "지역 제약·안전 조건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Green Light · 개발기관 사업 소개 / 게시일 미표시 https://sites.research.google/greenlight/</a:t>
            </a:r>
          </a:p>
          <a:p xmlns:a="http://schemas.openxmlformats.org/drawingml/2006/main">
            <a:r>
              <a:t>홈페이지 https://heen1987-ops.github.io/TS-business-Plan-001/index.html?view=casebook&amp;case=AX11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"AX11",</a:t>
            </a:r>
          </a:p>
          <a:p xmlns:a="http://schemas.openxmlformats.org/drawingml/2006/main">
            <a:r>
              <a:t>    "title": "Google Green Light",</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"신호 운영 최적화 지원",</a:t>
            </a:r>
          </a:p>
          <a:p xmlns:a="http://schemas.openxmlformats.org/drawingml/2006/main">
            <a:r>
              <a:t>    "period": "운영 적용",</a:t>
            </a:r>
          </a:p>
          <a:p xmlns:a="http://schemas.openxmlformats.org/drawingml/2006/main">
            <a:r>
              <a:t>    "sources": [</a:t>
            </a:r>
          </a:p>
          <a:p xmlns:a="http://schemas.openxmlformats.org/drawingml/2006/main">
            <a:r>
              <a:t>      "S-AX11"</a:t>
            </a:r>
          </a:p>
          <a:p xmlns:a="http://schemas.openxmlformats.org/drawingml/2006/main">
            <a:r>
              <a:t>    ],</a:t>
            </a:r>
          </a:p>
          <a:p xmlns:a="http://schemas.openxmlformats.org/drawingml/2006/main">
            <a:r>
              <a:t>    "keywords": [</a:t>
            </a:r>
          </a:p>
          <a:p xmlns:a="http://schemas.openxmlformats.org/drawingml/2006/main">
            <a:r>
              <a:t>      "신호 운영 최적화 지원"</a:t>
            </a:r>
          </a:p>
          <a:p xmlns:a="http://schemas.openxmlformats.org/drawingml/2006/main">
            <a:r>
              <a:t>    ],</a:t>
            </a:r>
          </a:p>
          <a:p xmlns:a="http://schemas.openxmlformats.org/drawingml/2006/main">
            <a:r>
              <a:t>    "fact": "교통 흐름 분석과 AI 권고를 도시 교통기술자의 신호 운영 검토에 제공",</a:t>
            </a:r>
          </a:p>
          <a:p xmlns:a="http://schemas.openxmlformats.org/drawingml/2006/main">
            <a:r>
              <a:t>    "limit": "도시별 효과 차이 · 신호 변경 권한은 운영기관 소관",</a:t>
            </a:r>
          </a:p>
          <a:p xmlns:a="http://schemas.openxmlformats.org/drawingml/2006/main">
            <a:r>
              <a:t>    "flow": [</a:t>
            </a:r>
          </a:p>
          <a:p xmlns:a="http://schemas.openxmlformats.org/drawingml/2006/main">
            <a:r>
              <a:t>      "교통 흐름 데이터",</a:t>
            </a:r>
          </a:p>
          <a:p xmlns:a="http://schemas.openxmlformats.org/drawingml/2006/main">
            <a:r>
              <a:t>      "AI 개선 권고",</a:t>
            </a:r>
          </a:p>
          <a:p xmlns:a="http://schemas.openxmlformats.org/drawingml/2006/main">
            <a:r>
              <a:t>      "기술자 검토",</a:t>
            </a:r>
          </a:p>
          <a:p xmlns:a="http://schemas.openxmlformats.org/drawingml/2006/main">
            <a:r>
              <a:t>      "신호 운영 반영"</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"권고와 현장 실행 권한의 분리",</a:t>
            </a:r>
          </a:p>
          <a:p xmlns:a="http://schemas.openxmlformats.org/drawingml/2006/main">
            <a:r>
              <a:t>    "local": "TS 분석·점검 의견을 지자체 소관 업무로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"지역·교차로·관할·개선 전후 지표 연결",</a:t>
            </a:r>
          </a:p>
          <a:p xmlns:a="http://schemas.openxmlformats.org/drawingml/2006/main">
            <a:r>
              <a:t>    "test": "동일 시간대·교통량 비교와 담당자 승인 확인",</a:t>
            </a:r>
          </a:p>
          <a:p xmlns:a="http://schemas.openxmlformats.org/drawingml/2006/main">
            <a:r>
              <a:t>    "metric": "정체·대기 지표 / 권고 채택률",</a:t>
            </a:r>
          </a:p>
          <a:p xmlns:a="http://schemas.openxmlformats.org/drawingml/2006/main">
            <a:r>
              <a:t>    "strategies": [</a:t>
            </a:r>
          </a:p>
          <a:p xmlns:a="http://schemas.openxmlformats.org/drawingml/2006/main">
            <a:r>
              <a:t>      "ST-06",</a:t>
            </a:r>
          </a:p>
          <a:p xmlns:a="http://schemas.openxmlformats.org/drawingml/2006/main">
            <a:r>
              <a:t>      "ST-07",</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"AX11",</a:t>
            </a:r>
          </a:p>
          <a:p xmlns:a="http://schemas.openxmlformats.org/drawingml/2006/main">
            <a:r>
              <a:t>    "canonicalId": "AX11",</a:t>
            </a:r>
          </a:p>
          <a:p xmlns:a="http://schemas.openxmlformats.org/drawingml/2006/main">
            <a:r>
              <a:t>    "purpose": "신호 운영 검토를 위한 교통 흐름 분석",</a:t>
            </a:r>
          </a:p>
          <a:p xmlns:a="http://schemas.openxmlformats.org/drawingml/2006/main">
            <a:r>
              <a:t>    "users": "도시 교통기술자·운영 담당",</a:t>
            </a:r>
          </a:p>
          <a:p xmlns:a="http://schemas.openxmlformats.org/drawingml/2006/main">
            <a:r>
              <a:t>    "scope": [</a:t>
            </a:r>
          </a:p>
          <a:p xmlns:a="http://schemas.openxmlformats.org/drawingml/2006/main">
            <a:r>
              <a:t>      "교차로 흐름",</a:t>
            </a:r>
          </a:p>
          <a:p xmlns:a="http://schemas.openxmlformats.org/drawingml/2006/main">
            <a:r>
              <a:t>      "신호 권고",</a:t>
            </a:r>
          </a:p>
          <a:p xmlns:a="http://schemas.openxmlformats.org/drawingml/2006/main">
            <a:r>
              <a:t>      "효과 점검"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"교통 흐름 자료",</a:t>
            </a:r>
          </a:p>
          <a:p xmlns:a="http://schemas.openxmlformats.org/drawingml/2006/main">
            <a:r>
              <a:t>        "detail": "교차로·시간대·운영 조건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"교차로 흐름 / 신호 권고 / 효과 점검",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"신호 개선 권고",</a:t>
            </a:r>
          </a:p>
          <a:p xmlns:a="http://schemas.openxmlformats.org/drawingml/2006/main">
            <a:r>
              <a:t>        "detail": "정체·정지 패턴에 따른 신호 조정 후보",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"도시 교통기술자",</a:t>
            </a:r>
          </a:p>
          <a:p xmlns:a="http://schemas.openxmlformats.org/drawingml/2006/main">
            <a:r>
              <a:t>        "detail": "교통기술자의 검토 후 신호 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"교차로·교통 패턴",</a:t>
            </a:r>
          </a:p>
          <a:p xmlns:a="http://schemas.openxmlformats.org/drawingml/2006/main">
            <a:r>
              <a:t>        "detail": "교통 흐름·교차로·신호 운영자료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"변경 전후 교통지표와 안전 제약의 병행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"교통 흐름 데이터",</a:t>
            </a:r>
          </a:p>
          <a:p xmlns:a="http://schemas.openxmlformats.org/drawingml/2006/main">
            <a:r>
              <a:t>        "input": "교차로·시간대·운영 조건 지정",</a:t>
            </a:r>
          </a:p>
          <a:p xmlns:a="http://schemas.openxmlformats.org/drawingml/2006/main">
            <a:r>
              <a:t>        "process": "교통 흐름·교차로·신호 운영자료 정합화",</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"title": "AI 개선 권고",</a:t>
            </a:r>
          </a:p>
          <a:p xmlns:a="http://schemas.openxmlformats.org/drawingml/2006/main">
            <a:r>
              <a:t>        "input": "교차로 흐름",</a:t>
            </a:r>
          </a:p>
          <a:p xmlns:a="http://schemas.openxmlformats.org/drawingml/2006/main">
            <a:r>
              <a:t>        "process": "정체·정지 패턴에 따른 신호 조정 후보",</a:t>
            </a:r>
          </a:p>
          <a:p xmlns:a="http://schemas.openxmlformats.org/drawingml/2006/main">
            <a:r>
              <a:t>        "output": "정체 패턴"</a:t>
            </a:r>
          </a:p>
          <a:p xmlns:a="http://schemas.openxmlformats.org/drawingml/2006/main">
            <a:r>
              <a:t>      },</a:t>
            </a:r>
          </a:p>
          <a:p xmlns:a="http://schemas.openxmlformats.org/drawingml/2006/main">
            <a:r>
              <a:t>      {</a:t>
            </a:r>
          </a:p>
          <a:p xmlns:a="http://schemas.openxmlformats.org/drawingml/2006/main">
            <a:r>
              <a:t>        "title": "기술자 검토",</a:t>
            </a:r>
          </a:p>
          <a:p xmlns:a="http://schemas.openxmlformats.org/drawingml/2006/main">
            <a:r>
              <a:t>        "input": "정체 패턴",</a:t>
            </a:r>
          </a:p>
          <a:p xmlns:a="http://schemas.openxmlformats.org/drawingml/2006/main">
            <a:r>
              <a:t>        "process": "지역 제약·안전 조건 검토",</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"title": "신호 운영 반영",</a:t>
            </a:r>
          </a:p>
          <a:p xmlns:a="http://schemas.openxmlformats.org/drawingml/2006/main">
            <a:r>
              <a:t>        "input": "신호 조정안",</a:t>
            </a:r>
          </a:p>
          <a:p xmlns:a="http://schemas.openxmlformats.org/drawingml/2006/main">
            <a:r>
              <a:t>        "process":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"교차로의 신호 조정 후보를 기술자가 현장 조건과 대조",</a:t>
            </a:r>
          </a:p>
          <a:p xmlns:a="http://schemas.openxmlformats.org/drawingml/2006/main">
            <a:r>
              <a:t>      "exception": "보행시간 부족·인접 교차로 정체·특수 행사일",</a:t>
            </a:r>
          </a:p>
          <a:p xmlns:a="http://schemas.openxmlformats.org/drawingml/2006/main">
            <a:r>
              <a:t>      "evidence": "변경 전후 지표와 보행·안전 제약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"도시 교통기술자·운영 담당",</a:t>
            </a:r>
          </a:p>
          <a:p xmlns:a="http://schemas.openxmlformats.org/drawingml/2006/main">
            <a:r>
              <a:t>          "processing": "교차로·시간대·운영 조건 지정",</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"교차로·교통 패턴",</a:t>
            </a:r>
          </a:p>
          <a:p xmlns:a="http://schemas.openxmlformats.org/drawingml/2006/main">
            <a:r>
              <a:t>          "processing": "교통 흐름·교차로·신호 운영자료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"교차로 흐름",</a:t>
            </a:r>
          </a:p>
          <a:p xmlns:a="http://schemas.openxmlformats.org/drawingml/2006/main">
            <a:r>
              <a:t>          "processing": "정체·정지 패턴에 따른 신호 조정 후보",</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"신호 조정안",</a:t>
            </a:r>
          </a:p>
          <a:p xmlns:a="http://schemas.openxmlformats.org/drawingml/2006/main">
            <a:r>
              <a:t>          "processing":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"변경 전후 교통지표와 안전 제약의 병행 평가",</a:t>
            </a:r>
          </a:p>
          <a:p xmlns:a="http://schemas.openxmlformats.org/drawingml/2006/main">
            <a:r>
              <a:t>          "output": "변경 전후 지표와 보행·안전 제약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"변경 전후 교통지표와 안전 제약의 병행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"S-AX11",</a:t>
            </a:r>
          </a:p>
          <a:p xmlns:a="http://schemas.openxmlformats.org/drawingml/2006/main">
            <a:r>
              <a:t>        "title": "Google Green Light · 개발기관 사업 소개 / 게시일 미표시",</a:t>
            </a:r>
          </a:p>
          <a:p xmlns:a="http://schemas.openxmlformats.org/drawingml/2006/main">
            <a:r>
              <a:t>        "url": "https://sites.research.google/greenlight/",</a:t>
            </a:r>
          </a:p>
          <a:p xmlns:a="http://schemas.openxmlformats.org/drawingml/2006/main">
            <a:r>
              <a:t>        "published": "운영 적용",</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"권고와 현장 실행 권한의 분리",</a:t>
            </a:r>
          </a:p>
          <a:p xmlns:a="http://schemas.openxmlformats.org/drawingml/2006/main">
            <a:r>
              <a:t>    "local": "TS 분석·점검 의견을 지자체 소관 업무로 인계",</a:t>
            </a:r>
          </a:p>
          <a:p xmlns:a="http://schemas.openxmlformats.org/drawingml/2006/main">
            <a:r>
              <a:t>    "sourceDetail": null,</a:t>
            </a:r>
          </a:p>
          <a:p xmlns:a="http://schemas.openxmlformats.org/drawingml/2006/main">
            <a:r>
              <a:t>    "narrative": [</a:t>
            </a:r>
          </a:p>
          <a:p xmlns:a="http://schemas.openxmlformats.org/drawingml/2006/main">
            <a:r>
              <a:t>      "도시 교통 흐름을 분석해 신호 운영 개선안을 기술자에게 제공하는 사례. AI가 모든 교차로 신호를 직접 제어하는 방식으로 일반화하기보다 권고와 현장 적용의 연결에 주목.",</a:t>
            </a:r>
          </a:p>
          <a:p xmlns:a="http://schemas.openxmlformats.org/drawingml/2006/main">
            <a:r>
              <a:t>      "교차로·시간대별 흐름에서 정체·정지 패턴을 찾고 신호 조정 후보를 만드는 흐름. 지역 교통기술자가 보행자·긴급차량·현장 제약을 확인한 뒤 운영계획에 반영하는 CCK 적용 구조.",</a:t>
            </a:r>
          </a:p>
          <a:p xmlns:a="http://schemas.openxmlformats.org/drawingml/2006/main">
            <a:r>
              <a:t>      "관측 교차로의 결과를 다른 지역 성과로 그대로 환산하지 않는 비교. 변경 전후 교통지표, 안전 제약 위반, 권고 채택 여부와 실제 운영 반영시간을 함께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"신호 검토 요청",</a:t>
            </a:r>
          </a:p>
          <a:p xmlns:a="http://schemas.openxmlformats.org/drawingml/2006/main">
            <a:r>
              <a:t>          "layer": "이용 접점",</a:t>
            </a:r>
          </a:p>
          <a:p xmlns:a="http://schemas.openxmlformats.org/drawingml/2006/main">
            <a:r>
              <a:t>          "detail": "도시 교통기술자·운영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"교차로·시간대",</a:t>
            </a:r>
          </a:p>
          <a:p xmlns:a="http://schemas.openxmlformats.org/drawingml/2006/main">
            <a:r>
              <a:t>          "layer": "업무 문맥",</a:t>
            </a:r>
          </a:p>
          <a:p xmlns:a="http://schemas.openxmlformats.org/drawingml/2006/main">
            <a:r>
              <a:t>          "detail": "교차로·시간대·운영 조건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흐름 조회",</a:t>
            </a:r>
          </a:p>
          <a:p xmlns:a="http://schemas.openxmlformats.org/drawingml/2006/main">
            <a:r>
              <a:t>          "layer": "자료 조회",</a:t>
            </a:r>
          </a:p>
          <a:p xmlns:a="http://schemas.openxmlformats.org/drawingml/2006/main">
            <a:r>
              <a:t>          "detail": "교차로 흐름",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"신호 조정 후보",</a:t>
            </a:r>
          </a:p>
          <a:p xmlns:a="http://schemas.openxmlformats.org/drawingml/2006/main">
            <a:r>
              <a:t>          "layer": "핵심 처리",</a:t>
            </a:r>
          </a:p>
          <a:p xmlns:a="http://schemas.openxmlformats.org/drawingml/2006/main">
            <a:r>
              <a:t>          "detail": "정체·정지 패턴에 따른 신호 조정 후보",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"지역·안전 제약",</a:t>
            </a:r>
          </a:p>
          <a:p xmlns:a="http://schemas.openxmlformats.org/drawingml/2006/main">
            <a:r>
              <a:t>          "layer": "결과 검증",</a:t>
            </a:r>
          </a:p>
          <a:p xmlns:a="http://schemas.openxmlformats.org/drawingml/2006/main">
            <a:r>
              <a:t>          "detail": "지역 제약·안전 조건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"교통기술자 검토",</a:t>
            </a:r>
          </a:p>
          <a:p xmlns:a="http://schemas.openxmlformats.org/drawingml/2006/main">
            <a:r>
              <a:t>          "layer": "사람 확인",</a:t>
            </a:r>
          </a:p>
          <a:p xmlns:a="http://schemas.openxmlformats.org/drawingml/2006/main">
            <a:r>
              <a:t>          "detail": "교차로의 신호 조정 후보를 기술자가 현장 조건과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"신호계획 반영",</a:t>
            </a:r>
          </a:p>
          <a:p xmlns:a="http://schemas.openxmlformats.org/drawingml/2006/main">
            <a:r>
              <a:t>          "layer": "업무 연결",</a:t>
            </a:r>
          </a:p>
          <a:p xmlns:a="http://schemas.openxmlformats.org/drawingml/2006/main">
            <a:r>
              <a:t>          "detail": "교통기술자의 검토 후 신호 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전후 평가",</a:t>
            </a:r>
          </a:p>
          <a:p xmlns:a="http://schemas.openxmlformats.org/drawingml/2006/main">
            <a:r>
              <a:t>          "layer": "운영 관측",</a:t>
            </a:r>
          </a:p>
          <a:p xmlns:a="http://schemas.openxmlformats.org/drawingml/2006/main">
            <a:r>
              <a:t>          "detail": "변경 전후 교통지표와 안전 제약의 병행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"교통·신호 자료",</a:t>
            </a:r>
          </a:p>
          <a:p xmlns:a="http://schemas.openxmlformats.org/drawingml/2006/main">
            <a:r>
              <a:t>          "layer": "데이터 원천",</a:t>
            </a:r>
          </a:p>
          <a:p xmlns:a="http://schemas.openxmlformats.org/drawingml/2006/main">
            <a:r>
              <a:t>          "detail": "교차로·교통 패턴",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"교차로 코드 정리",</a:t>
            </a:r>
          </a:p>
          <a:p xmlns:a="http://schemas.openxmlformats.org/drawingml/2006/main">
            <a:r>
              <a:t>          "layer": "준비·갱신",</a:t>
            </a:r>
          </a:p>
          <a:p xmlns:a="http://schemas.openxmlformats.org/drawingml/2006/main">
            <a:r>
              <a:t>          "detail": "교통 흐름·교차로·신호 운영자료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"흐름·계획 이력",</a:t>
            </a:r>
          </a:p>
          <a:p xmlns:a="http://schemas.openxmlformats.org/drawingml/2006/main">
            <a:r>
              <a:t>          "layer": "상태·지식 저장",</a:t>
            </a:r>
          </a:p>
          <a:p xmlns:a="http://schemas.openxmlformats.org/drawingml/2006/main">
            <a:r>
              <a:t>          "detail": "변경 전후 지표와 보행·안전 제약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"보행·긴급 제약",</a:t>
            </a:r>
          </a:p>
          <a:p xmlns:a="http://schemas.openxmlformats.org/drawingml/2006/main">
            <a:r>
              <a:t>          "layer": "권한·정책",</a:t>
            </a:r>
          </a:p>
          <a:p xmlns:a="http://schemas.openxmlformats.org/drawingml/2006/main">
            <a:r>
              <a:t>          "detail": "보행시간 부족·인접 교차로 정체·특수 행사일",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"교통 흐름 데이터 → AI 개선 권고 → 기술자 검토 → 신호 운영 반영"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"교차로·교통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"정체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"신호 조정안",</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"신호 조정안",</a:t>
            </a:r>
          </a:p>
          <a:p xmlns:a="http://schemas.openxmlformats.org/drawingml/2006/main">
            <a:r>
              <a:t>          "check": "지역 제약·안전 조건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"기술자 적용 결과",</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"신호 운영 검토를 위한 교통 흐름 분석 / 교차로 흐름·신호 권고·효과 점검",</a:t>
            </a:r>
          </a:p>
          <a:p xmlns:a="http://schemas.openxmlformats.org/drawingml/2006/main">
            <a:r>
              <a:t>        "extension": "TS 분석·점검 의견을 지자체 소관 업무로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"보행시간 부족·인접 교차로 정체·특수 행사일",</a:t>
            </a:r>
          </a:p>
          <a:p xmlns:a="http://schemas.openxmlformats.org/drawingml/2006/main">
            <a:r>
              <a:t>        "hold": "지역 제약·안전 조건 검토",</a:t>
            </a:r>
          </a:p>
          <a:p xmlns:a="http://schemas.openxmlformats.org/drawingml/2006/main">
            <a:r>
              <a:t>        "recovery": "변경 전후 교통지표와 안전 제약의 병행 평가",</a:t>
            </a:r>
          </a:p>
          <a:p xmlns:a="http://schemas.openxmlformats.org/drawingml/2006/main">
            <a:r>
              <a:t>        "evidence": "변경 전후 지표와 보행·안전 제약 확인 기록"</a:t>
            </a:r>
          </a:p>
          <a:p xmlns:a="http://schemas.openxmlformats.org/drawingml/2006/main">
            <a:r>
              <a:t>      },</a:t>
            </a:r>
          </a:p>
          <a:p xmlns:a="http://schemas.openxmlformats.org/drawingml/2006/main">
            <a:r>
              <a:t>      "data": {</a:t>
            </a:r>
          </a:p>
          <a:p xmlns:a="http://schemas.openxmlformats.org/drawingml/2006/main">
            <a:r>
              <a:t>        "source": "교차로·교통 패턴",</a:t>
            </a:r>
          </a:p>
          <a:p xmlns:a="http://schemas.openxmlformats.org/drawingml/2006/main">
            <a:r>
              <a:t>        "prepare": "교통 흐름·교차로·신호 운영자료 정합화",</a:t>
            </a:r>
          </a:p>
          <a:p xmlns:a="http://schemas.openxmlformats.org/drawingml/2006/main">
            <a:r>
              <a:t>        "output": "교차로 흐름",</a:t>
            </a:r>
          </a:p>
          <a:p xmlns:a="http://schemas.openxmlformats.org/drawingml/2006/main">
            <a:r>
              <a:t>        "refresh": "변경 전후 교통지표와 안전 제약의 병행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"AX11",</a:t>
            </a:r>
          </a:p>
          <a:p xmlns:a="http://schemas.openxmlformats.org/drawingml/2006/main">
            <a:r>
              <a:t>    "success": [</a:t>
            </a:r>
          </a:p>
          <a:p xmlns:a="http://schemas.openxmlformats.org/drawingml/2006/main">
            <a:r>
              <a:t>      "기존 신호 운영에 개선 권고 제공",</a:t>
            </a:r>
          </a:p>
          <a:p xmlns:a="http://schemas.openxmlformats.org/drawingml/2006/main">
            <a:r>
              <a:t>      "도시 기술자의 검토 후 반영"</a:t>
            </a:r>
          </a:p>
          <a:p xmlns:a="http://schemas.openxmlformats.org/drawingml/2006/main">
            <a:r>
              <a:t>    ],</a:t>
            </a:r>
          </a:p>
          <a:p xmlns:a="http://schemas.openxmlformats.org/drawingml/2006/main">
            <a:r>
              <a:t>    "risks": [</a:t>
            </a:r>
          </a:p>
          <a:p xmlns:a="http://schemas.openxmlformats.org/drawingml/2006/main">
            <a:r>
              <a:t>      "관측 교차로 외 일반화 위험",</a:t>
            </a:r>
          </a:p>
          <a:p xmlns:a="http://schemas.openxmlformats.org/drawingml/2006/main">
            <a:r>
              <a:t>      "보행자·긴급차량 조건 누락 가능성"</a:t>
            </a:r>
          </a:p>
          <a:p xmlns:a="http://schemas.openxmlformats.org/drawingml/2006/main">
            <a:r>
              <a:t>    ],</a:t>
            </a:r>
          </a:p>
          <a:p xmlns:a="http://schemas.openxmlformats.org/drawingml/2006/main">
            <a:r>
              <a:t>    "architecture": [</a:t>
            </a:r>
          </a:p>
          <a:p xmlns:a="http://schemas.openxmlformats.org/drawingml/2006/main">
            <a:r>
              <a:t>      "교통 흐름 자료",</a:t>
            </a:r>
          </a:p>
          <a:p xmlns:a="http://schemas.openxmlformats.org/drawingml/2006/main">
            <a:r>
              <a:t>      "신호 개선 권고",</a:t>
            </a:r>
          </a:p>
          <a:p xmlns:a="http://schemas.openxmlformats.org/drawingml/2006/main">
            <a:r>
              <a:t>      "교차로·교통 패턴",</a:t>
            </a:r>
          </a:p>
          <a:p xmlns:a="http://schemas.openxmlformats.org/drawingml/2006/main">
            <a:r>
              <a:t>      "도시 교통기술자"</a:t>
            </a:r>
          </a:p>
          <a:p xmlns:a="http://schemas.openxmlformats.org/drawingml/2006/main">
            <a:r>
              <a:t>    ],</a:t>
            </a:r>
          </a:p>
          <a:p xmlns:a="http://schemas.openxmlformats.org/drawingml/2006/main">
            <a:r>
              <a:t>    "transfers": [</a:t>
            </a:r>
          </a:p>
          <a:p xmlns:a="http://schemas.openxmlformats.org/drawingml/2006/main">
            <a:r>
              <a:t>      "교차로 흐름",</a:t>
            </a:r>
          </a:p>
          <a:p xmlns:a="http://schemas.openxmlformats.org/drawingml/2006/main">
            <a:r>
              <a:t>      "정체 패턴",</a:t>
            </a:r>
          </a:p>
          <a:p xmlns:a="http://schemas.openxmlformats.org/drawingml/2006/main">
            <a:r>
              <a:t>      "신호 조정안",</a:t>
            </a:r>
          </a:p>
          <a:p xmlns:a="http://schemas.openxmlformats.org/drawingml/2006/main">
            <a:r>
              <a:t>      "기술자 적용 결과"</a:t>
            </a:r>
          </a:p>
          <a:p xmlns:a="http://schemas.openxmlformats.org/drawingml/2006/main">
            <a:r>
              <a:t>    ],</a:t>
            </a:r>
          </a:p>
          <a:p xmlns:a="http://schemas.openxmlformats.org/drawingml/2006/main">
            <a:r>
              <a:t>    "control": "지역 제약·안전 조건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Green Light · 개발기관 사업 소개 / 게시일 미표시 https://sites.research.google/greenlight/</a:t>
            </a:r>
          </a:p>
          <a:p xmlns:a="http://schemas.openxmlformats.org/drawingml/2006/main">
            <a:r>
              <a:t>홈페이지 https://heen1987-ops.github.io/TS-business-Plan-001/index.html?view=casebook&amp;case=AX11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"AX12",</a:t>
            </a:r>
          </a:p>
          <a:p xmlns:a="http://schemas.openxmlformats.org/drawingml/2006/main">
            <a:r>
              <a:t>    "title": "Google 홍수 예측",</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"수문 위험 예측",</a:t>
            </a:r>
          </a:p>
          <a:p xmlns:a="http://schemas.openxmlformats.org/drawingml/2006/main">
            <a:r>
              <a:t>    "period": "2024 연구·운영",</a:t>
            </a:r>
          </a:p>
          <a:p xmlns:a="http://schemas.openxmlformats.org/drawingml/2006/main">
            <a:r>
              <a:t>    "sources": [</a:t>
            </a:r>
          </a:p>
          <a:p xmlns:a="http://schemas.openxmlformats.org/drawingml/2006/main">
            <a:r>
              <a:t>      "S-AX12"</a:t>
            </a:r>
          </a:p>
          <a:p xmlns:a="http://schemas.openxmlformats.org/drawingml/2006/main">
            <a:r>
              <a:t>    ],</a:t>
            </a:r>
          </a:p>
          <a:p xmlns:a="http://schemas.openxmlformats.org/drawingml/2006/main">
            <a:r>
              <a:t>    "keywords": [</a:t>
            </a:r>
          </a:p>
          <a:p xmlns:a="http://schemas.openxmlformats.org/drawingml/2006/main">
            <a:r>
              <a:t>      "수문 위험 예측"</a:t>
            </a:r>
          </a:p>
          <a:p xmlns:a="http://schemas.openxmlformats.org/drawingml/2006/main">
            <a:r>
              <a:t>    ],</a:t>
            </a:r>
          </a:p>
          <a:p xmlns:a="http://schemas.openxmlformats.org/drawingml/2006/main">
            <a:r>
              <a:t>    "fact": "관측이 부족한 하천까지 확장한 AI 홍수 예측의 비교 평가와 서비스 적용",</a:t>
            </a:r>
          </a:p>
          <a:p xmlns:a="http://schemas.openxmlformats.org/drawingml/2006/main">
            <a:r>
              <a:t>    "limit": "논문의 하천 홍수 평가 범위 · 모든 재난 예측 성능으로 확대 불가",</a:t>
            </a:r>
          </a:p>
          <a:p xmlns:a="http://schemas.openxmlformats.org/drawingml/2006/main">
            <a:r>
              <a:t>    "flow": [</a:t>
            </a:r>
          </a:p>
          <a:p xmlns:a="http://schemas.openxmlformats.org/drawingml/2006/main">
            <a:r>
              <a:t>      "수문·기상 입력",</a:t>
            </a:r>
          </a:p>
          <a:p xmlns:a="http://schemas.openxmlformats.org/drawingml/2006/main">
            <a:r>
              <a:t>      "예측 모델",</a:t>
            </a:r>
          </a:p>
          <a:p xmlns:a="http://schemas.openxmlformats.org/drawingml/2006/main">
            <a:r>
              <a:t>      "위험·시점 안내",</a:t>
            </a:r>
          </a:p>
          <a:p xmlns:a="http://schemas.openxmlformats.org/drawingml/2006/main">
            <a:r>
              <a:t>      "현장 대응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"예측 불확실성과 대응 책임의 동시 관리",</a:t>
            </a:r>
          </a:p>
          <a:p xmlns:a="http://schemas.openxmlformats.org/drawingml/2006/main">
            <a:r>
              <a:t>    "local": "교통시설 위험 알림과 관할 점검 조치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"시설·위험 등급·대응 절차·조치기한 매핑",</a:t>
            </a:r>
          </a:p>
          <a:p xmlns:a="http://schemas.openxmlformats.org/drawingml/2006/main">
            <a:r>
              <a:t>    "test": "지역·계절 분리 평가와 오경보·미탐 점검",</a:t>
            </a:r>
          </a:p>
          <a:p xmlns:a="http://schemas.openxmlformats.org/drawingml/2006/main">
            <a:r>
              <a:t>    "metric": "경보 선행시간 / 미조치 건수",</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"AX12",</a:t>
            </a:r>
          </a:p>
          <a:p xmlns:a="http://schemas.openxmlformats.org/drawingml/2006/main">
            <a:r>
              <a:t>    "canonicalId": "AX12",</a:t>
            </a:r>
          </a:p>
          <a:p xmlns:a="http://schemas.openxmlformats.org/drawingml/2006/main">
            <a:r>
              <a:t>    "purpose": "관측이 부족한 하천의 홍수 위험 예측",</a:t>
            </a:r>
          </a:p>
          <a:p xmlns:a="http://schemas.openxmlformats.org/drawingml/2006/main">
            <a:r>
              <a:t>    "users": "예보 운영자·방재 담당·주민",</a:t>
            </a:r>
          </a:p>
          <a:p xmlns:a="http://schemas.openxmlformats.org/drawingml/2006/main">
            <a:r>
              <a:t>    "scope": [</a:t>
            </a:r>
          </a:p>
          <a:p xmlns:a="http://schemas.openxmlformats.org/drawingml/2006/main">
            <a:r>
              <a:t>      "수문 예측",</a:t>
            </a:r>
          </a:p>
          <a:p xmlns:a="http://schemas.openxmlformats.org/drawingml/2006/main">
            <a:r>
              <a:t>      "위험 정보",</a:t>
            </a:r>
          </a:p>
          <a:p xmlns:a="http://schemas.openxmlformats.org/drawingml/2006/main">
            <a:r>
              <a:t>      "알림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"수문·기상 자료",</a:t>
            </a:r>
          </a:p>
          <a:p xmlns:a="http://schemas.openxmlformats.org/drawingml/2006/main">
            <a:r>
              <a:t>        "detail": "유역·예측시점·대상 지역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"수문 예측 / 위험 정보 / 알림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"홍수 예측 모델",</a:t>
            </a:r>
          </a:p>
          <a:p xmlns:a="http://schemas.openxmlformats.org/drawingml/2006/main">
            <a:r>
              <a:t>        "detail": "수문 입력을 활용한 범위별 위험 예측",</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"지역 대응 담당",</a:t>
            </a:r>
          </a:p>
          <a:p xmlns:a="http://schemas.openxmlformats.org/drawingml/2006/main">
            <a:r>
              <a:t>        "detail": "위험 지역·시점 정보를 공식 대응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"하천·예측 이력",</a:t>
            </a:r>
          </a:p>
          <a:p xmlns:a="http://schemas.openxmlformats.org/drawingml/2006/main">
            <a:r>
              <a:t>        "detail": "유역 특성·관측·기상자료의 시간·공간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"미탐·과경보와 지역별 오차의 사후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"수문·기상 입력",</a:t>
            </a:r>
          </a:p>
          <a:p xmlns:a="http://schemas.openxmlformats.org/drawingml/2006/main">
            <a:r>
              <a:t>        "input": "유역·예측시점·대상 지역 지정",</a:t>
            </a:r>
          </a:p>
          <a:p xmlns:a="http://schemas.openxmlformats.org/drawingml/2006/main">
            <a:r>
              <a:t>        "process": "유역 특성·관측·기상자료의 시간·공간 정합화",</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"title": "예측 모델",</a:t>
            </a:r>
          </a:p>
          <a:p xmlns:a="http://schemas.openxmlformats.org/drawingml/2006/main">
            <a:r>
              <a:t>        "input": "강수·유량",</a:t>
            </a:r>
          </a:p>
          <a:p xmlns:a="http://schemas.openxmlformats.org/drawingml/2006/main">
            <a:r>
              <a:t>        "process": "수문 입력을 활용한 범위별 위험 예측",</a:t>
            </a:r>
          </a:p>
          <a:p xmlns:a="http://schemas.openxmlformats.org/drawingml/2006/main">
            <a:r>
              <a:t>        "output": "시간별 예측"</a:t>
            </a:r>
          </a:p>
          <a:p xmlns:a="http://schemas.openxmlformats.org/drawingml/2006/main">
            <a:r>
              <a:t>      },</a:t>
            </a:r>
          </a:p>
          <a:p xmlns:a="http://schemas.openxmlformats.org/drawingml/2006/main">
            <a:r>
              <a:t>      {</a:t>
            </a:r>
          </a:p>
          <a:p xmlns:a="http://schemas.openxmlformats.org/drawingml/2006/main">
            <a:r>
              <a:t>        "title": "위험·시점 안내",</a:t>
            </a:r>
          </a:p>
          <a:p xmlns:a="http://schemas.openxmlformats.org/drawingml/2006/main">
            <a:r>
              <a:t>        "input": "시간별 예측",</a:t>
            </a:r>
          </a:p>
          <a:p xmlns:a="http://schemas.openxmlformats.org/drawingml/2006/main">
            <a:r>
              <a:t>        "process": "지역별 오탐·미탐과 선행시간 평가",</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"title": "현장 대응 검토",</a:t>
            </a:r>
          </a:p>
          <a:p xmlns:a="http://schemas.openxmlformats.org/drawingml/2006/main">
            <a:r>
              <a:t>        "input": "위험·예상 시점",</a:t>
            </a:r>
          </a:p>
          <a:p xmlns:a="http://schemas.openxmlformats.org/drawingml/2006/main">
            <a:r>
              <a:t>        "process":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"유역별 예측 위험을 지역별 대응 검토에 제공",</a:t>
            </a:r>
          </a:p>
          <a:p xmlns:a="http://schemas.openxmlformats.org/drawingml/2006/main">
            <a:r>
              <a:t>      "exception": "관측 결측·분포가 다른 유역·예측시점 이후 자료 혼입",</a:t>
            </a:r>
          </a:p>
          <a:p xmlns:a="http://schemas.openxmlformats.org/drawingml/2006/main">
            <a:r>
              <a:t>      "evidence": "시점 분리 평가와 유역별 미탐·과경보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"예보 운영자·방재 담당·주민",</a:t>
            </a:r>
          </a:p>
          <a:p xmlns:a="http://schemas.openxmlformats.org/drawingml/2006/main">
            <a:r>
              <a:t>          "processing": "유역·예측시점·대상 지역 지정",</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"하천·예측 이력",</a:t>
            </a:r>
          </a:p>
          <a:p xmlns:a="http://schemas.openxmlformats.org/drawingml/2006/main">
            <a:r>
              <a:t>          "processing": "유역 특성·관측·기상자료의 시간·공간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"강수·유량",</a:t>
            </a:r>
          </a:p>
          <a:p xmlns:a="http://schemas.openxmlformats.org/drawingml/2006/main">
            <a:r>
              <a:t>          "processing": "수문 입력을 활용한 범위별 위험 예측",</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"위험·예상 시점",</a:t>
            </a:r>
          </a:p>
          <a:p xmlns:a="http://schemas.openxmlformats.org/drawingml/2006/main">
            <a:r>
              <a:t>          "processing":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"미탐·과경보와 지역별 오차의 사후 분석",</a:t>
            </a:r>
          </a:p>
          <a:p xmlns:a="http://schemas.openxmlformats.org/drawingml/2006/main">
            <a:r>
              <a:t>          "output": "시점 분리 평가와 유역별 미탐·과경보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"미탐·과경보와 지역별 오차의 사후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"S-AX12",</a:t>
            </a:r>
          </a:p>
          <a:p xmlns:a="http://schemas.openxmlformats.org/drawingml/2006/main">
            <a:r>
              <a:t>        "title": "Google 홍수 예측 · Nature 연구 / 2024",</a:t>
            </a:r>
          </a:p>
          <a:p xmlns:a="http://schemas.openxmlformats.org/drawingml/2006/main">
            <a:r>
              <a:t>        "url": "https://research.google/pubs/ai-increases-global-access-to-reliable-flood-forecasts-2/",</a:t>
            </a:r>
          </a:p>
          <a:p xmlns:a="http://schemas.openxmlformats.org/drawingml/2006/main">
            <a:r>
              <a:t>        "published": "2024 연구·운영",</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"예측 불확실성과 대응 책임의 동시 관리",</a:t>
            </a:r>
          </a:p>
          <a:p xmlns:a="http://schemas.openxmlformats.org/drawingml/2006/main">
            <a:r>
              <a:t>    "local": "교통시설 위험 알림과 관할 점검 조치 연결",</a:t>
            </a:r>
          </a:p>
          <a:p xmlns:a="http://schemas.openxmlformats.org/drawingml/2006/main">
            <a:r>
              <a:t>    "sourceDetail": null,</a:t>
            </a:r>
          </a:p>
          <a:p xmlns:a="http://schemas.openxmlformats.org/drawingml/2006/main">
            <a:r>
              <a:t>    "narrative": [</a:t>
            </a:r>
          </a:p>
          <a:p xmlns:a="http://schemas.openxmlformats.org/drawingml/2006/main">
            <a:r>
              <a:t>      "관측 자료가 부족한 지역까지 홍수 예측 정보를 제공하려는 사례. 예측 모델의 지역 일반화와 주민·대응기관의 실제 행동을 연결하는 단계가 별도 과제.",</a:t>
            </a:r>
          </a:p>
          <a:p xmlns:a="http://schemas.openxmlformats.org/drawingml/2006/main">
            <a:r>
              <a:t>      "유역 특성·강수·유량을 시간·공간 단위로 정합화하고 위험 지역·예상 시점을 산출하는 구조. TS 적용 설계에서는 기상·재난 위험을 교통시설·운행 업무와 연결해 담당자의 대응 검토를 지원.",</a:t>
            </a:r>
          </a:p>
          <a:p xmlns:a="http://schemas.openxmlformats.org/drawingml/2006/main">
            <a:r>
              <a:t>      "예측 정확도와 사고 예방 효과의 분리. 지역별 미탐·과경보·선행시간, 경보 수신과 조치 완료를 함께 평가하며 관측 부족 구간의 불확실성을 보존할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"예측 대상 지정",</a:t>
            </a:r>
          </a:p>
          <a:p xmlns:a="http://schemas.openxmlformats.org/drawingml/2006/main">
            <a:r>
              <a:t>          "layer": "이용 접점",</a:t>
            </a:r>
          </a:p>
          <a:p xmlns:a="http://schemas.openxmlformats.org/drawingml/2006/main">
            <a:r>
              <a:t>          "detail": "예보 운영자·방재 담당·주민",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"유역·예측시점",</a:t>
            </a:r>
          </a:p>
          <a:p xmlns:a="http://schemas.openxmlformats.org/drawingml/2006/main">
            <a:r>
              <a:t>          "layer": "업무 문맥",</a:t>
            </a:r>
          </a:p>
          <a:p xmlns:a="http://schemas.openxmlformats.org/drawingml/2006/main">
            <a:r>
              <a:t>          "detail": "유역·예측시점·대상 지역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"기상·수문 조회",</a:t>
            </a:r>
          </a:p>
          <a:p xmlns:a="http://schemas.openxmlformats.org/drawingml/2006/main">
            <a:r>
              <a:t>          "layer": "자료 조회",</a:t>
            </a:r>
          </a:p>
          <a:p xmlns:a="http://schemas.openxmlformats.org/drawingml/2006/main">
            <a:r>
              <a:t>          "detail": "강수·유량",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"홍수 위험 예측",</a:t>
            </a:r>
          </a:p>
          <a:p xmlns:a="http://schemas.openxmlformats.org/drawingml/2006/main">
            <a:r>
              <a:t>          "layer": "핵심 처리",</a:t>
            </a:r>
          </a:p>
          <a:p xmlns:a="http://schemas.openxmlformats.org/drawingml/2006/main">
            <a:r>
              <a:t>          "detail": "수문 입력을 활용한 범위별 위험 예측",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"지역별 오차 검사",</a:t>
            </a:r>
          </a:p>
          <a:p xmlns:a="http://schemas.openxmlformats.org/drawingml/2006/main">
            <a:r>
              <a:t>          "layer": "결과 검증",</a:t>
            </a:r>
          </a:p>
          <a:p xmlns:a="http://schemas.openxmlformats.org/drawingml/2006/main">
            <a:r>
              <a:t>          "detail": "지역별 오탐·미탐과 선행시간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"예보 담당 판단",</a:t>
            </a:r>
          </a:p>
          <a:p xmlns:a="http://schemas.openxmlformats.org/drawingml/2006/main">
            <a:r>
              <a:t>          "layer": "사람 확인",</a:t>
            </a:r>
          </a:p>
          <a:p xmlns:a="http://schemas.openxmlformats.org/drawingml/2006/main">
            <a:r>
              <a:t>          "detail": "유역별 예측 위험을 지역별 대응 검토에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"경보·대응 연결",</a:t>
            </a:r>
          </a:p>
          <a:p xmlns:a="http://schemas.openxmlformats.org/drawingml/2006/main">
            <a:r>
              <a:t>          "layer": "업무 연결",</a:t>
            </a:r>
          </a:p>
          <a:p xmlns:a="http://schemas.openxmlformats.org/drawingml/2006/main">
            <a:r>
              <a:t>          "detail": "위험 지역·시점 정보를 공식 대응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"미탐·과경보 분석",</a:t>
            </a:r>
          </a:p>
          <a:p xmlns:a="http://schemas.openxmlformats.org/drawingml/2006/main">
            <a:r>
              <a:t>          "layer": "운영 관측",</a:t>
            </a:r>
          </a:p>
          <a:p xmlns:a="http://schemas.openxmlformats.org/drawingml/2006/main">
            <a:r>
              <a:t>          "detail": "미탐·과경보와 지역별 오차의 사후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"유역·관측 자료",</a:t>
            </a:r>
          </a:p>
          <a:p xmlns:a="http://schemas.openxmlformats.org/drawingml/2006/main">
            <a:r>
              <a:t>          "layer": "데이터 원천",</a:t>
            </a:r>
          </a:p>
          <a:p xmlns:a="http://schemas.openxmlformats.org/drawingml/2006/main">
            <a:r>
              <a:t>          "detail": "하천·예측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"시간·공간 정합화",</a:t>
            </a:r>
          </a:p>
          <a:p xmlns:a="http://schemas.openxmlformats.org/drawingml/2006/main">
            <a:r>
              <a:t>          "layer": "준비·갱신",</a:t>
            </a:r>
          </a:p>
          <a:p xmlns:a="http://schemas.openxmlformats.org/drawingml/2006/main">
            <a:r>
              <a:t>          "detail": "유역 특성·관측·기상자료의 시간·공간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"예측·관측 이력",</a:t>
            </a:r>
          </a:p>
          <a:p xmlns:a="http://schemas.openxmlformats.org/drawingml/2006/main">
            <a:r>
              <a:t>          "layer": "상태·지식 저장",</a:t>
            </a:r>
          </a:p>
          <a:p xmlns:a="http://schemas.openxmlformats.org/drawingml/2006/main">
            <a:r>
              <a:t>          "detail": "시점 분리 평가와 유역별 미탐·과경보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"경보·대응 기준",</a:t>
            </a:r>
          </a:p>
          <a:p xmlns:a="http://schemas.openxmlformats.org/drawingml/2006/main">
            <a:r>
              <a:t>          "layer": "권한·정책",</a:t>
            </a:r>
          </a:p>
          <a:p xmlns:a="http://schemas.openxmlformats.org/drawingml/2006/main">
            <a:r>
              <a:t>          "detail": "관측 결측·분포가 다른 유역·예측시점 이후 자료 혼입",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"수문·기상 입력 → 예측 모델 → 위험·시점 안내 → 현장 대응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"하천·예측 이력",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"시간별 예측",</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"위험·예상 시점",</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"위험·예상 시점",</a:t>
            </a:r>
          </a:p>
          <a:p xmlns:a="http://schemas.openxmlformats.org/drawingml/2006/main">
            <a:r>
              <a:t>          "check": "지역별 오탐·미탐과 선행시간 평가"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대응 판단",</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"관측이 부족한 하천의 홍수 위험 예측 / 수문 예측·위험 정보·알림 연결",</a:t>
            </a:r>
          </a:p>
          <a:p xmlns:a="http://schemas.openxmlformats.org/drawingml/2006/main">
            <a:r>
              <a:t>        "extension": "교통시설 위험 알림과 관할 점검 조치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"관측 결측·분포가 다른 유역·예측시점 이후 자료 혼입",</a:t>
            </a:r>
          </a:p>
          <a:p xmlns:a="http://schemas.openxmlformats.org/drawingml/2006/main">
            <a:r>
              <a:t>        "hold": "지역별 오탐·미탐과 선행시간 평가",</a:t>
            </a:r>
          </a:p>
          <a:p xmlns:a="http://schemas.openxmlformats.org/drawingml/2006/main">
            <a:r>
              <a:t>        "recovery": "미탐·과경보와 지역별 오차의 사후 분석",</a:t>
            </a:r>
          </a:p>
          <a:p xmlns:a="http://schemas.openxmlformats.org/drawingml/2006/main">
            <a:r>
              <a:t>        "evidence": "시점 분리 평가와 유역별 미탐·과경보 결과"</a:t>
            </a:r>
          </a:p>
          <a:p xmlns:a="http://schemas.openxmlformats.org/drawingml/2006/main">
            <a:r>
              <a:t>      },</a:t>
            </a:r>
          </a:p>
          <a:p xmlns:a="http://schemas.openxmlformats.org/drawingml/2006/main">
            <a:r>
              <a:t>      "data": {</a:t>
            </a:r>
          </a:p>
          <a:p xmlns:a="http://schemas.openxmlformats.org/drawingml/2006/main">
            <a:r>
              <a:t>        "source": "하천·예측 이력",</a:t>
            </a:r>
          </a:p>
          <a:p xmlns:a="http://schemas.openxmlformats.org/drawingml/2006/main">
            <a:r>
              <a:t>        "prepare": "유역 특성·관측·기상자료의 시간·공간 정합화",</a:t>
            </a:r>
          </a:p>
          <a:p xmlns:a="http://schemas.openxmlformats.org/drawingml/2006/main">
            <a:r>
              <a:t>        "output": "강수·유량",</a:t>
            </a:r>
          </a:p>
          <a:p xmlns:a="http://schemas.openxmlformats.org/drawingml/2006/main">
            <a:r>
              <a:t>        "refresh": "미탐·과경보와 지역별 오차의 사후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"AX12",</a:t>
            </a:r>
          </a:p>
          <a:p xmlns:a="http://schemas.openxmlformats.org/drawingml/2006/main">
            <a:r>
              <a:t>    "success": [</a:t>
            </a:r>
          </a:p>
          <a:p xmlns:a="http://schemas.openxmlformats.org/drawingml/2006/main">
            <a:r>
              <a:t>      "관측 부족 지역의 예측 범위 확대",</a:t>
            </a:r>
          </a:p>
          <a:p xmlns:a="http://schemas.openxmlformats.org/drawingml/2006/main">
            <a:r>
              <a:t>      "비교 평가를 통한 예측 검토"</a:t>
            </a:r>
          </a:p>
          <a:p xmlns:a="http://schemas.openxmlformats.org/drawingml/2006/main">
            <a:r>
              <a:t>    ],</a:t>
            </a:r>
          </a:p>
          <a:p xmlns:a="http://schemas.openxmlformats.org/drawingml/2006/main">
            <a:r>
              <a:t>    "risks": [</a:t>
            </a:r>
          </a:p>
          <a:p xmlns:a="http://schemas.openxmlformats.org/drawingml/2006/main">
            <a:r>
              <a:t>      "관측 분포·지역별 불확실성",</a:t>
            </a:r>
          </a:p>
          <a:p xmlns:a="http://schemas.openxmlformats.org/drawingml/2006/main">
            <a:r>
              <a:t>      "경보 정확도와 실제 대응 효과의 차이"</a:t>
            </a:r>
          </a:p>
          <a:p xmlns:a="http://schemas.openxmlformats.org/drawingml/2006/main">
            <a:r>
              <a:t>    ],</a:t>
            </a:r>
          </a:p>
          <a:p xmlns:a="http://schemas.openxmlformats.org/drawingml/2006/main">
            <a:r>
              <a:t>    "architecture": [</a:t>
            </a:r>
          </a:p>
          <a:p xmlns:a="http://schemas.openxmlformats.org/drawingml/2006/main">
            <a:r>
              <a:t>      "수문·기상 자료",</a:t>
            </a:r>
          </a:p>
          <a:p xmlns:a="http://schemas.openxmlformats.org/drawingml/2006/main">
            <a:r>
              <a:t>      "홍수 예측 모델",</a:t>
            </a:r>
          </a:p>
          <a:p xmlns:a="http://schemas.openxmlformats.org/drawingml/2006/main">
            <a:r>
              <a:t>      "하천·예측 이력",</a:t>
            </a:r>
          </a:p>
          <a:p xmlns:a="http://schemas.openxmlformats.org/drawingml/2006/main">
            <a:r>
              <a:t>      "지역 대응 담당"</a:t>
            </a:r>
          </a:p>
          <a:p xmlns:a="http://schemas.openxmlformats.org/drawingml/2006/main">
            <a:r>
              <a:t>    ],</a:t>
            </a:r>
          </a:p>
          <a:p xmlns:a="http://schemas.openxmlformats.org/drawingml/2006/main">
            <a:r>
              <a:t>    "transfers": [</a:t>
            </a:r>
          </a:p>
          <a:p xmlns:a="http://schemas.openxmlformats.org/drawingml/2006/main">
            <a:r>
              <a:t>      "강수·유량",</a:t>
            </a:r>
          </a:p>
          <a:p xmlns:a="http://schemas.openxmlformats.org/drawingml/2006/main">
            <a:r>
              <a:t>      "시간별 예측",</a:t>
            </a:r>
          </a:p>
          <a:p xmlns:a="http://schemas.openxmlformats.org/drawingml/2006/main">
            <a:r>
              <a:t>      "위험·예상 시점",</a:t>
            </a:r>
          </a:p>
          <a:p xmlns:a="http://schemas.openxmlformats.org/drawingml/2006/main">
            <a:r>
              <a:t>      "현장 대응 판단"</a:t>
            </a:r>
          </a:p>
          <a:p xmlns:a="http://schemas.openxmlformats.org/drawingml/2006/main">
            <a:r>
              <a:t>    ],</a:t>
            </a:r>
          </a:p>
          <a:p xmlns:a="http://schemas.openxmlformats.org/drawingml/2006/main">
            <a:r>
              <a:t>    "control": "지역별 오탐·미탐과 선행시간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홍수 예측 · Nature 연구 / 2024 https://research.google/pubs/ai-increases-global-access-to-reliable-flood-forecasts-2/</a:t>
            </a:r>
          </a:p>
          <a:p xmlns:a="http://schemas.openxmlformats.org/drawingml/2006/main">
            <a:r>
              <a:t>홈페이지 https://heen1987-ops.github.io/TS-business-Plan-001/index.html?view=casebook&amp;case=AX12</a:t>
            </a:r>
          </a:p>
          <a:p xmlns:a="http://schemas.openxmlformats.org/drawingml/2006/main">
            <a:r>
              <a:t>한계: 논문의 하천 홍수 평가 범위 · 모든 재난 예측 성능으로 확대 불가</a:t>
            </a:r>
          </a:p>
          <a:p xmlns:a="http://schemas.openxmlformats.org/drawingml/2006/main">
            <a:r>
              <a:t>실패 위험: 관측 분포·지역별 불확실성 / 경보 정확도와 실제 대응 효과의 차이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"AX12",</a:t>
            </a:r>
          </a:p>
          <a:p xmlns:a="http://schemas.openxmlformats.org/drawingml/2006/main">
            <a:r>
              <a:t>    "title": "Google 홍수 예측",</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"수문 위험 예측",</a:t>
            </a:r>
          </a:p>
          <a:p xmlns:a="http://schemas.openxmlformats.org/drawingml/2006/main">
            <a:r>
              <a:t>    "period": "2024 연구·운영",</a:t>
            </a:r>
          </a:p>
          <a:p xmlns:a="http://schemas.openxmlformats.org/drawingml/2006/main">
            <a:r>
              <a:t>    "sources": [</a:t>
            </a:r>
          </a:p>
          <a:p xmlns:a="http://schemas.openxmlformats.org/drawingml/2006/main">
            <a:r>
              <a:t>      "S-AX12"</a:t>
            </a:r>
          </a:p>
          <a:p xmlns:a="http://schemas.openxmlformats.org/drawingml/2006/main">
            <a:r>
              <a:t>    ],</a:t>
            </a:r>
          </a:p>
          <a:p xmlns:a="http://schemas.openxmlformats.org/drawingml/2006/main">
            <a:r>
              <a:t>    "keywords": [</a:t>
            </a:r>
          </a:p>
          <a:p xmlns:a="http://schemas.openxmlformats.org/drawingml/2006/main">
            <a:r>
              <a:t>      "수문 위험 예측"</a:t>
            </a:r>
          </a:p>
          <a:p xmlns:a="http://schemas.openxmlformats.org/drawingml/2006/main">
            <a:r>
              <a:t>    ],</a:t>
            </a:r>
          </a:p>
          <a:p xmlns:a="http://schemas.openxmlformats.org/drawingml/2006/main">
            <a:r>
              <a:t>    "fact": "관측이 부족한 하천까지 확장한 AI 홍수 예측의 비교 평가와 서비스 적용",</a:t>
            </a:r>
          </a:p>
          <a:p xmlns:a="http://schemas.openxmlformats.org/drawingml/2006/main">
            <a:r>
              <a:t>    "limit": "논문의 하천 홍수 평가 범위 · 모든 재난 예측 성능으로 확대 불가",</a:t>
            </a:r>
          </a:p>
          <a:p xmlns:a="http://schemas.openxmlformats.org/drawingml/2006/main">
            <a:r>
              <a:t>    "flow": [</a:t>
            </a:r>
          </a:p>
          <a:p xmlns:a="http://schemas.openxmlformats.org/drawingml/2006/main">
            <a:r>
              <a:t>      "수문·기상 입력",</a:t>
            </a:r>
          </a:p>
          <a:p xmlns:a="http://schemas.openxmlformats.org/drawingml/2006/main">
            <a:r>
              <a:t>      "예측 모델",</a:t>
            </a:r>
          </a:p>
          <a:p xmlns:a="http://schemas.openxmlformats.org/drawingml/2006/main">
            <a:r>
              <a:t>      "위험·시점 안내",</a:t>
            </a:r>
          </a:p>
          <a:p xmlns:a="http://schemas.openxmlformats.org/drawingml/2006/main">
            <a:r>
              <a:t>      "현장 대응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"예측 불확실성과 대응 책임의 동시 관리",</a:t>
            </a:r>
          </a:p>
          <a:p xmlns:a="http://schemas.openxmlformats.org/drawingml/2006/main">
            <a:r>
              <a:t>    "local": "교통시설 위험 알림과 관할 점검 조치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"시설·위험 등급·대응 절차·조치기한 매핑",</a:t>
            </a:r>
          </a:p>
          <a:p xmlns:a="http://schemas.openxmlformats.org/drawingml/2006/main">
            <a:r>
              <a:t>    "test": "지역·계절 분리 평가와 오경보·미탐 점검",</a:t>
            </a:r>
          </a:p>
          <a:p xmlns:a="http://schemas.openxmlformats.org/drawingml/2006/main">
            <a:r>
              <a:t>    "metric": "경보 선행시간 / 미조치 건수",</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"AX12",</a:t>
            </a:r>
          </a:p>
          <a:p xmlns:a="http://schemas.openxmlformats.org/drawingml/2006/main">
            <a:r>
              <a:t>    "canonicalId": "AX12",</a:t>
            </a:r>
          </a:p>
          <a:p xmlns:a="http://schemas.openxmlformats.org/drawingml/2006/main">
            <a:r>
              <a:t>    "purpose": "관측이 부족한 하천의 홍수 위험 예측",</a:t>
            </a:r>
          </a:p>
          <a:p xmlns:a="http://schemas.openxmlformats.org/drawingml/2006/main">
            <a:r>
              <a:t>    "users": "예보 운영자·방재 담당·주민",</a:t>
            </a:r>
          </a:p>
          <a:p xmlns:a="http://schemas.openxmlformats.org/drawingml/2006/main">
            <a:r>
              <a:t>    "scope": [</a:t>
            </a:r>
          </a:p>
          <a:p xmlns:a="http://schemas.openxmlformats.org/drawingml/2006/main">
            <a:r>
              <a:t>      "수문 예측",</a:t>
            </a:r>
          </a:p>
          <a:p xmlns:a="http://schemas.openxmlformats.org/drawingml/2006/main">
            <a:r>
              <a:t>      "위험 정보",</a:t>
            </a:r>
          </a:p>
          <a:p xmlns:a="http://schemas.openxmlformats.org/drawingml/2006/main">
            <a:r>
              <a:t>      "알림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"수문·기상 자료",</a:t>
            </a:r>
          </a:p>
          <a:p xmlns:a="http://schemas.openxmlformats.org/drawingml/2006/main">
            <a:r>
              <a:t>        "detail": "유역·예측시점·대상 지역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"수문 예측 / 위험 정보 / 알림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"홍수 예측 모델",</a:t>
            </a:r>
          </a:p>
          <a:p xmlns:a="http://schemas.openxmlformats.org/drawingml/2006/main">
            <a:r>
              <a:t>        "detail": "수문 입력을 활용한 범위별 위험 예측",</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"지역 대응 담당",</a:t>
            </a:r>
          </a:p>
          <a:p xmlns:a="http://schemas.openxmlformats.org/drawingml/2006/main">
            <a:r>
              <a:t>        "detail": "위험 지역·시점 정보를 공식 대응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"하천·예측 이력",</a:t>
            </a:r>
          </a:p>
          <a:p xmlns:a="http://schemas.openxmlformats.org/drawingml/2006/main">
            <a:r>
              <a:t>        "detail": "유역 특성·관측·기상자료의 시간·공간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"미탐·과경보와 지역별 오차의 사후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"수문·기상 입력",</a:t>
            </a:r>
          </a:p>
          <a:p xmlns:a="http://schemas.openxmlformats.org/drawingml/2006/main">
            <a:r>
              <a:t>        "input": "유역·예측시점·대상 지역 지정",</a:t>
            </a:r>
          </a:p>
          <a:p xmlns:a="http://schemas.openxmlformats.org/drawingml/2006/main">
            <a:r>
              <a:t>        "process": "유역 특성·관측·기상자료의 시간·공간 정합화",</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"title": "예측 모델",</a:t>
            </a:r>
          </a:p>
          <a:p xmlns:a="http://schemas.openxmlformats.org/drawingml/2006/main">
            <a:r>
              <a:t>        "input": "강수·유량",</a:t>
            </a:r>
          </a:p>
          <a:p xmlns:a="http://schemas.openxmlformats.org/drawingml/2006/main">
            <a:r>
              <a:t>        "process": "수문 입력을 활용한 범위별 위험 예측",</a:t>
            </a:r>
          </a:p>
          <a:p xmlns:a="http://schemas.openxmlformats.org/drawingml/2006/main">
            <a:r>
              <a:t>        "output": "시간별 예측"</a:t>
            </a:r>
          </a:p>
          <a:p xmlns:a="http://schemas.openxmlformats.org/drawingml/2006/main">
            <a:r>
              <a:t>      },</a:t>
            </a:r>
          </a:p>
          <a:p xmlns:a="http://schemas.openxmlformats.org/drawingml/2006/main">
            <a:r>
              <a:t>      {</a:t>
            </a:r>
          </a:p>
          <a:p xmlns:a="http://schemas.openxmlformats.org/drawingml/2006/main">
            <a:r>
              <a:t>        "title": "위험·시점 안내",</a:t>
            </a:r>
          </a:p>
          <a:p xmlns:a="http://schemas.openxmlformats.org/drawingml/2006/main">
            <a:r>
              <a:t>        "input": "시간별 예측",</a:t>
            </a:r>
          </a:p>
          <a:p xmlns:a="http://schemas.openxmlformats.org/drawingml/2006/main">
            <a:r>
              <a:t>        "process": "지역별 오탐·미탐과 선행시간 평가",</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"title": "현장 대응 검토",</a:t>
            </a:r>
          </a:p>
          <a:p xmlns:a="http://schemas.openxmlformats.org/drawingml/2006/main">
            <a:r>
              <a:t>        "input": "위험·예상 시점",</a:t>
            </a:r>
          </a:p>
          <a:p xmlns:a="http://schemas.openxmlformats.org/drawingml/2006/main">
            <a:r>
              <a:t>        "process":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"유역별 예측 위험을 지역별 대응 검토에 제공",</a:t>
            </a:r>
          </a:p>
          <a:p xmlns:a="http://schemas.openxmlformats.org/drawingml/2006/main">
            <a:r>
              <a:t>      "exception": "관측 결측·분포가 다른 유역·예측시점 이후 자료 혼입",</a:t>
            </a:r>
          </a:p>
          <a:p xmlns:a="http://schemas.openxmlformats.org/drawingml/2006/main">
            <a:r>
              <a:t>      "evidence": "시점 분리 평가와 유역별 미탐·과경보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"예보 운영자·방재 담당·주민",</a:t>
            </a:r>
          </a:p>
          <a:p xmlns:a="http://schemas.openxmlformats.org/drawingml/2006/main">
            <a:r>
              <a:t>          "processing": "유역·예측시점·대상 지역 지정",</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"하천·예측 이력",</a:t>
            </a:r>
          </a:p>
          <a:p xmlns:a="http://schemas.openxmlformats.org/drawingml/2006/main">
            <a:r>
              <a:t>          "processing": "유역 특성·관측·기상자료의 시간·공간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"강수·유량",</a:t>
            </a:r>
          </a:p>
          <a:p xmlns:a="http://schemas.openxmlformats.org/drawingml/2006/main">
            <a:r>
              <a:t>          "processing": "수문 입력을 활용한 범위별 위험 예측",</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"위험·예상 시점",</a:t>
            </a:r>
          </a:p>
          <a:p xmlns:a="http://schemas.openxmlformats.org/drawingml/2006/main">
            <a:r>
              <a:t>          "processing":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"미탐·과경보와 지역별 오차의 사후 분석",</a:t>
            </a:r>
          </a:p>
          <a:p xmlns:a="http://schemas.openxmlformats.org/drawingml/2006/main">
            <a:r>
              <a:t>          "output": "시점 분리 평가와 유역별 미탐·과경보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"미탐·과경보와 지역별 오차의 사후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"S-AX12",</a:t>
            </a:r>
          </a:p>
          <a:p xmlns:a="http://schemas.openxmlformats.org/drawingml/2006/main">
            <a:r>
              <a:t>        "title": "Google 홍수 예측 · Nature 연구 / 2024",</a:t>
            </a:r>
          </a:p>
          <a:p xmlns:a="http://schemas.openxmlformats.org/drawingml/2006/main">
            <a:r>
              <a:t>        "url": "https://research.google/pubs/ai-increases-global-access-to-reliable-flood-forecasts-2/",</a:t>
            </a:r>
          </a:p>
          <a:p xmlns:a="http://schemas.openxmlformats.org/drawingml/2006/main">
            <a:r>
              <a:t>        "published": "2024 연구·운영",</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"예측 불확실성과 대응 책임의 동시 관리",</a:t>
            </a:r>
          </a:p>
          <a:p xmlns:a="http://schemas.openxmlformats.org/drawingml/2006/main">
            <a:r>
              <a:t>    "local": "교통시설 위험 알림과 관할 점검 조치 연결",</a:t>
            </a:r>
          </a:p>
          <a:p xmlns:a="http://schemas.openxmlformats.org/drawingml/2006/main">
            <a:r>
              <a:t>    "sourceDetail": null,</a:t>
            </a:r>
          </a:p>
          <a:p xmlns:a="http://schemas.openxmlformats.org/drawingml/2006/main">
            <a:r>
              <a:t>    "narrative": [</a:t>
            </a:r>
          </a:p>
          <a:p xmlns:a="http://schemas.openxmlformats.org/drawingml/2006/main">
            <a:r>
              <a:t>      "관측 자료가 부족한 지역까지 홍수 예측 정보를 제공하려는 사례. 예측 모델의 지역 일반화와 주민·대응기관의 실제 행동을 연결하는 단계가 별도 과제.",</a:t>
            </a:r>
          </a:p>
          <a:p xmlns:a="http://schemas.openxmlformats.org/drawingml/2006/main">
            <a:r>
              <a:t>      "유역 특성·강수·유량을 시간·공간 단위로 정합화하고 위험 지역·예상 시점을 산출하는 구조. TS 적용 설계에서는 기상·재난 위험을 교통시설·운행 업무와 연결해 담당자의 대응 검토를 지원.",</a:t>
            </a:r>
          </a:p>
          <a:p xmlns:a="http://schemas.openxmlformats.org/drawingml/2006/main">
            <a:r>
              <a:t>      "예측 정확도와 사고 예방 효과의 분리. 지역별 미탐·과경보·선행시간, 경보 수신과 조치 완료를 함께 평가하며 관측 부족 구간의 불확실성을 보존할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"예측 대상 지정",</a:t>
            </a:r>
          </a:p>
          <a:p xmlns:a="http://schemas.openxmlformats.org/drawingml/2006/main">
            <a:r>
              <a:t>          "layer": "이용 접점",</a:t>
            </a:r>
          </a:p>
          <a:p xmlns:a="http://schemas.openxmlformats.org/drawingml/2006/main">
            <a:r>
              <a:t>          "detail": "예보 운영자·방재 담당·주민",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"유역·예측시점",</a:t>
            </a:r>
          </a:p>
          <a:p xmlns:a="http://schemas.openxmlformats.org/drawingml/2006/main">
            <a:r>
              <a:t>          "layer": "업무 문맥",</a:t>
            </a:r>
          </a:p>
          <a:p xmlns:a="http://schemas.openxmlformats.org/drawingml/2006/main">
            <a:r>
              <a:t>          "detail": "유역·예측시점·대상 지역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"기상·수문 조회",</a:t>
            </a:r>
          </a:p>
          <a:p xmlns:a="http://schemas.openxmlformats.org/drawingml/2006/main">
            <a:r>
              <a:t>          "layer": "자료 조회",</a:t>
            </a:r>
          </a:p>
          <a:p xmlns:a="http://schemas.openxmlformats.org/drawingml/2006/main">
            <a:r>
              <a:t>          "detail": "강수·유량",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"홍수 위험 예측",</a:t>
            </a:r>
          </a:p>
          <a:p xmlns:a="http://schemas.openxmlformats.org/drawingml/2006/main">
            <a:r>
              <a:t>          "layer": "핵심 처리",</a:t>
            </a:r>
          </a:p>
          <a:p xmlns:a="http://schemas.openxmlformats.org/drawingml/2006/main">
            <a:r>
              <a:t>          "detail": "수문 입력을 활용한 범위별 위험 예측",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"지역별 오차 검사",</a:t>
            </a:r>
          </a:p>
          <a:p xmlns:a="http://schemas.openxmlformats.org/drawingml/2006/main">
            <a:r>
              <a:t>          "layer": "결과 검증",</a:t>
            </a:r>
          </a:p>
          <a:p xmlns:a="http://schemas.openxmlformats.org/drawingml/2006/main">
            <a:r>
              <a:t>          "detail": "지역별 오탐·미탐과 선행시간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"예보 담당 판단",</a:t>
            </a:r>
          </a:p>
          <a:p xmlns:a="http://schemas.openxmlformats.org/drawingml/2006/main">
            <a:r>
              <a:t>          "layer": "사람 확인",</a:t>
            </a:r>
          </a:p>
          <a:p xmlns:a="http://schemas.openxmlformats.org/drawingml/2006/main">
            <a:r>
              <a:t>          "detail": "유역별 예측 위험을 지역별 대응 검토에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"경보·대응 연결",</a:t>
            </a:r>
          </a:p>
          <a:p xmlns:a="http://schemas.openxmlformats.org/drawingml/2006/main">
            <a:r>
              <a:t>          "layer": "업무 연결",</a:t>
            </a:r>
          </a:p>
          <a:p xmlns:a="http://schemas.openxmlformats.org/drawingml/2006/main">
            <a:r>
              <a:t>          "detail": "위험 지역·시점 정보를 공식 대응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"미탐·과경보 분석",</a:t>
            </a:r>
          </a:p>
          <a:p xmlns:a="http://schemas.openxmlformats.org/drawingml/2006/main">
            <a:r>
              <a:t>          "layer": "운영 관측",</a:t>
            </a:r>
          </a:p>
          <a:p xmlns:a="http://schemas.openxmlformats.org/drawingml/2006/main">
            <a:r>
              <a:t>          "detail": "미탐·과경보와 지역별 오차의 사후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"유역·관측 자료",</a:t>
            </a:r>
          </a:p>
          <a:p xmlns:a="http://schemas.openxmlformats.org/drawingml/2006/main">
            <a:r>
              <a:t>          "layer": "데이터 원천",</a:t>
            </a:r>
          </a:p>
          <a:p xmlns:a="http://schemas.openxmlformats.org/drawingml/2006/main">
            <a:r>
              <a:t>          "detail": "하천·예측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"시간·공간 정합화",</a:t>
            </a:r>
          </a:p>
          <a:p xmlns:a="http://schemas.openxmlformats.org/drawingml/2006/main">
            <a:r>
              <a:t>          "layer": "준비·갱신",</a:t>
            </a:r>
          </a:p>
          <a:p xmlns:a="http://schemas.openxmlformats.org/drawingml/2006/main">
            <a:r>
              <a:t>          "detail": "유역 특성·관측·기상자료의 시간·공간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"예측·관측 이력",</a:t>
            </a:r>
          </a:p>
          <a:p xmlns:a="http://schemas.openxmlformats.org/drawingml/2006/main">
            <a:r>
              <a:t>          "layer": "상태·지식 저장",</a:t>
            </a:r>
          </a:p>
          <a:p xmlns:a="http://schemas.openxmlformats.org/drawingml/2006/main">
            <a:r>
              <a:t>          "detail": "시점 분리 평가와 유역별 미탐·과경보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"경보·대응 기준",</a:t>
            </a:r>
          </a:p>
          <a:p xmlns:a="http://schemas.openxmlformats.org/drawingml/2006/main">
            <a:r>
              <a:t>          "layer": "권한·정책",</a:t>
            </a:r>
          </a:p>
          <a:p xmlns:a="http://schemas.openxmlformats.org/drawingml/2006/main">
            <a:r>
              <a:t>          "detail": "관측 결측·분포가 다른 유역·예측시점 이후 자료 혼입",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"수문·기상 입력 → 예측 모델 → 위험·시점 안내 → 현장 대응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"하천·예측 이력",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"시간별 예측",</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"위험·예상 시점",</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"위험·예상 시점",</a:t>
            </a:r>
          </a:p>
          <a:p xmlns:a="http://schemas.openxmlformats.org/drawingml/2006/main">
            <a:r>
              <a:t>          "check": "지역별 오탐·미탐과 선행시간 평가"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대응 판단",</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"관측이 부족한 하천의 홍수 위험 예측 / 수문 예측·위험 정보·알림 연결",</a:t>
            </a:r>
          </a:p>
          <a:p xmlns:a="http://schemas.openxmlformats.org/drawingml/2006/main">
            <a:r>
              <a:t>        "extension": "교통시설 위험 알림과 관할 점검 조치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"관측 결측·분포가 다른 유역·예측시점 이후 자료 혼입",</a:t>
            </a:r>
          </a:p>
          <a:p xmlns:a="http://schemas.openxmlformats.org/drawingml/2006/main">
            <a:r>
              <a:t>        "hold": "지역별 오탐·미탐과 선행시간 평가",</a:t>
            </a:r>
          </a:p>
          <a:p xmlns:a="http://schemas.openxmlformats.org/drawingml/2006/main">
            <a:r>
              <a:t>        "recovery": "미탐·과경보와 지역별 오차의 사후 분석",</a:t>
            </a:r>
          </a:p>
          <a:p xmlns:a="http://schemas.openxmlformats.org/drawingml/2006/main">
            <a:r>
              <a:t>        "evidence": "시점 분리 평가와 유역별 미탐·과경보 결과"</a:t>
            </a:r>
          </a:p>
          <a:p xmlns:a="http://schemas.openxmlformats.org/drawingml/2006/main">
            <a:r>
              <a:t>      },</a:t>
            </a:r>
          </a:p>
          <a:p xmlns:a="http://schemas.openxmlformats.org/drawingml/2006/main">
            <a:r>
              <a:t>      "data": {</a:t>
            </a:r>
          </a:p>
          <a:p xmlns:a="http://schemas.openxmlformats.org/drawingml/2006/main">
            <a:r>
              <a:t>        "source": "하천·예측 이력",</a:t>
            </a:r>
          </a:p>
          <a:p xmlns:a="http://schemas.openxmlformats.org/drawingml/2006/main">
            <a:r>
              <a:t>        "prepare": "유역 특성·관측·기상자료의 시간·공간 정합화",</a:t>
            </a:r>
          </a:p>
          <a:p xmlns:a="http://schemas.openxmlformats.org/drawingml/2006/main">
            <a:r>
              <a:t>        "output": "강수·유량",</a:t>
            </a:r>
          </a:p>
          <a:p xmlns:a="http://schemas.openxmlformats.org/drawingml/2006/main">
            <a:r>
              <a:t>        "refresh": "미탐·과경보와 지역별 오차의 사후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"AX12",</a:t>
            </a:r>
          </a:p>
          <a:p xmlns:a="http://schemas.openxmlformats.org/drawingml/2006/main">
            <a:r>
              <a:t>    "success": [</a:t>
            </a:r>
          </a:p>
          <a:p xmlns:a="http://schemas.openxmlformats.org/drawingml/2006/main">
            <a:r>
              <a:t>      "관측 부족 지역의 예측 범위 확대",</a:t>
            </a:r>
          </a:p>
          <a:p xmlns:a="http://schemas.openxmlformats.org/drawingml/2006/main">
            <a:r>
              <a:t>      "비교 평가를 통한 예측 검토"</a:t>
            </a:r>
          </a:p>
          <a:p xmlns:a="http://schemas.openxmlformats.org/drawingml/2006/main">
            <a:r>
              <a:t>    ],</a:t>
            </a:r>
          </a:p>
          <a:p xmlns:a="http://schemas.openxmlformats.org/drawingml/2006/main">
            <a:r>
              <a:t>    "risks": [</a:t>
            </a:r>
          </a:p>
          <a:p xmlns:a="http://schemas.openxmlformats.org/drawingml/2006/main">
            <a:r>
              <a:t>      "관측 분포·지역별 불확실성",</a:t>
            </a:r>
          </a:p>
          <a:p xmlns:a="http://schemas.openxmlformats.org/drawingml/2006/main">
            <a:r>
              <a:t>      "경보 정확도와 실제 대응 효과의 차이"</a:t>
            </a:r>
          </a:p>
          <a:p xmlns:a="http://schemas.openxmlformats.org/drawingml/2006/main">
            <a:r>
              <a:t>    ],</a:t>
            </a:r>
          </a:p>
          <a:p xmlns:a="http://schemas.openxmlformats.org/drawingml/2006/main">
            <a:r>
              <a:t>    "architecture": [</a:t>
            </a:r>
          </a:p>
          <a:p xmlns:a="http://schemas.openxmlformats.org/drawingml/2006/main">
            <a:r>
              <a:t>      "수문·기상 자료",</a:t>
            </a:r>
          </a:p>
          <a:p xmlns:a="http://schemas.openxmlformats.org/drawingml/2006/main">
            <a:r>
              <a:t>      "홍수 예측 모델",</a:t>
            </a:r>
          </a:p>
          <a:p xmlns:a="http://schemas.openxmlformats.org/drawingml/2006/main">
            <a:r>
              <a:t>      "하천·예측 이력",</a:t>
            </a:r>
          </a:p>
          <a:p xmlns:a="http://schemas.openxmlformats.org/drawingml/2006/main">
            <a:r>
              <a:t>      "지역 대응 담당"</a:t>
            </a:r>
          </a:p>
          <a:p xmlns:a="http://schemas.openxmlformats.org/drawingml/2006/main">
            <a:r>
              <a:t>    ],</a:t>
            </a:r>
          </a:p>
          <a:p xmlns:a="http://schemas.openxmlformats.org/drawingml/2006/main">
            <a:r>
              <a:t>    "transfers": [</a:t>
            </a:r>
          </a:p>
          <a:p xmlns:a="http://schemas.openxmlformats.org/drawingml/2006/main">
            <a:r>
              <a:t>      "강수·유량",</a:t>
            </a:r>
          </a:p>
          <a:p xmlns:a="http://schemas.openxmlformats.org/drawingml/2006/main">
            <a:r>
              <a:t>      "시간별 예측",</a:t>
            </a:r>
          </a:p>
          <a:p xmlns:a="http://schemas.openxmlformats.org/drawingml/2006/main">
            <a:r>
              <a:t>      "위험·예상 시점",</a:t>
            </a:r>
          </a:p>
          <a:p xmlns:a="http://schemas.openxmlformats.org/drawingml/2006/main">
            <a:r>
              <a:t>      "현장 대응 판단"</a:t>
            </a:r>
          </a:p>
          <a:p xmlns:a="http://schemas.openxmlformats.org/drawingml/2006/main">
            <a:r>
              <a:t>    ],</a:t>
            </a:r>
          </a:p>
          <a:p xmlns:a="http://schemas.openxmlformats.org/drawingml/2006/main">
            <a:r>
              <a:t>    "control": "지역별 오탐·미탐과 선행시간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홍수 예측 · Nature 연구 / 2024 https://research.google/pubs/ai-increases-global-access-to-reliable-flood-forecasts-2/</a:t>
            </a:r>
          </a:p>
          <a:p xmlns:a="http://schemas.openxmlformats.org/drawingml/2006/main">
            <a:r>
              <a:t>홈페이지 https://heen1987-ops.github.io/TS-business-Plan-001/index.html?view=casebook&amp;case=AX12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"AX12",</a:t>
            </a:r>
          </a:p>
          <a:p xmlns:a="http://schemas.openxmlformats.org/drawingml/2006/main">
            <a:r>
              <a:t>    "title": "Google 홍수 예측",</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"수문 위험 예측",</a:t>
            </a:r>
          </a:p>
          <a:p xmlns:a="http://schemas.openxmlformats.org/drawingml/2006/main">
            <a:r>
              <a:t>    "period": "2024 연구·운영",</a:t>
            </a:r>
          </a:p>
          <a:p xmlns:a="http://schemas.openxmlformats.org/drawingml/2006/main">
            <a:r>
              <a:t>    "sources": [</a:t>
            </a:r>
          </a:p>
          <a:p xmlns:a="http://schemas.openxmlformats.org/drawingml/2006/main">
            <a:r>
              <a:t>      "S-AX12"</a:t>
            </a:r>
          </a:p>
          <a:p xmlns:a="http://schemas.openxmlformats.org/drawingml/2006/main">
            <a:r>
              <a:t>    ],</a:t>
            </a:r>
          </a:p>
          <a:p xmlns:a="http://schemas.openxmlformats.org/drawingml/2006/main">
            <a:r>
              <a:t>    "keywords": [</a:t>
            </a:r>
          </a:p>
          <a:p xmlns:a="http://schemas.openxmlformats.org/drawingml/2006/main">
            <a:r>
              <a:t>      "수문 위험 예측"</a:t>
            </a:r>
          </a:p>
          <a:p xmlns:a="http://schemas.openxmlformats.org/drawingml/2006/main">
            <a:r>
              <a:t>    ],</a:t>
            </a:r>
          </a:p>
          <a:p xmlns:a="http://schemas.openxmlformats.org/drawingml/2006/main">
            <a:r>
              <a:t>    "fact": "관측이 부족한 하천까지 확장한 AI 홍수 예측의 비교 평가와 서비스 적용",</a:t>
            </a:r>
          </a:p>
          <a:p xmlns:a="http://schemas.openxmlformats.org/drawingml/2006/main">
            <a:r>
              <a:t>    "limit": "논문의 하천 홍수 평가 범위 · 모든 재난 예측 성능으로 확대 불가",</a:t>
            </a:r>
          </a:p>
          <a:p xmlns:a="http://schemas.openxmlformats.org/drawingml/2006/main">
            <a:r>
              <a:t>    "flow": [</a:t>
            </a:r>
          </a:p>
          <a:p xmlns:a="http://schemas.openxmlformats.org/drawingml/2006/main">
            <a:r>
              <a:t>      "수문·기상 입력",</a:t>
            </a:r>
          </a:p>
          <a:p xmlns:a="http://schemas.openxmlformats.org/drawingml/2006/main">
            <a:r>
              <a:t>      "예측 모델",</a:t>
            </a:r>
          </a:p>
          <a:p xmlns:a="http://schemas.openxmlformats.org/drawingml/2006/main">
            <a:r>
              <a:t>      "위험·시점 안내",</a:t>
            </a:r>
          </a:p>
          <a:p xmlns:a="http://schemas.openxmlformats.org/drawingml/2006/main">
            <a:r>
              <a:t>      "현장 대응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"예측 불확실성과 대응 책임의 동시 관리",</a:t>
            </a:r>
          </a:p>
          <a:p xmlns:a="http://schemas.openxmlformats.org/drawingml/2006/main">
            <a:r>
              <a:t>    "local": "교통시설 위험 알림과 관할 점검 조치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"시설·위험 등급·대응 절차·조치기한 매핑",</a:t>
            </a:r>
          </a:p>
          <a:p xmlns:a="http://schemas.openxmlformats.org/drawingml/2006/main">
            <a:r>
              <a:t>    "test": "지역·계절 분리 평가와 오경보·미탐 점검",</a:t>
            </a:r>
          </a:p>
          <a:p xmlns:a="http://schemas.openxmlformats.org/drawingml/2006/main">
            <a:r>
              <a:t>    "metric": "경보 선행시간 / 미조치 건수",</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"AX12",</a:t>
            </a:r>
          </a:p>
          <a:p xmlns:a="http://schemas.openxmlformats.org/drawingml/2006/main">
            <a:r>
              <a:t>    "canonicalId": "AX12",</a:t>
            </a:r>
          </a:p>
          <a:p xmlns:a="http://schemas.openxmlformats.org/drawingml/2006/main">
            <a:r>
              <a:t>    "purpose": "관측이 부족한 하천의 홍수 위험 예측",</a:t>
            </a:r>
          </a:p>
          <a:p xmlns:a="http://schemas.openxmlformats.org/drawingml/2006/main">
            <a:r>
              <a:t>    "users": "예보 운영자·방재 담당·주민",</a:t>
            </a:r>
          </a:p>
          <a:p xmlns:a="http://schemas.openxmlformats.org/drawingml/2006/main">
            <a:r>
              <a:t>    "scope": [</a:t>
            </a:r>
          </a:p>
          <a:p xmlns:a="http://schemas.openxmlformats.org/drawingml/2006/main">
            <a:r>
              <a:t>      "수문 예측",</a:t>
            </a:r>
          </a:p>
          <a:p xmlns:a="http://schemas.openxmlformats.org/drawingml/2006/main">
            <a:r>
              <a:t>      "위험 정보",</a:t>
            </a:r>
          </a:p>
          <a:p xmlns:a="http://schemas.openxmlformats.org/drawingml/2006/main">
            <a:r>
              <a:t>      "알림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"수문·기상 자료",</a:t>
            </a:r>
          </a:p>
          <a:p xmlns:a="http://schemas.openxmlformats.org/drawingml/2006/main">
            <a:r>
              <a:t>        "detail": "유역·예측시점·대상 지역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"수문 예측 / 위험 정보 / 알림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"홍수 예측 모델",</a:t>
            </a:r>
          </a:p>
          <a:p xmlns:a="http://schemas.openxmlformats.org/drawingml/2006/main">
            <a:r>
              <a:t>        "detail": "수문 입력을 활용한 범위별 위험 예측",</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"지역 대응 담당",</a:t>
            </a:r>
          </a:p>
          <a:p xmlns:a="http://schemas.openxmlformats.org/drawingml/2006/main">
            <a:r>
              <a:t>        "detail": "위험 지역·시점 정보를 공식 대응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"하천·예측 이력",</a:t>
            </a:r>
          </a:p>
          <a:p xmlns:a="http://schemas.openxmlformats.org/drawingml/2006/main">
            <a:r>
              <a:t>        "detail": "유역 특성·관측·기상자료의 시간·공간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"미탐·과경보와 지역별 오차의 사후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"수문·기상 입력",</a:t>
            </a:r>
          </a:p>
          <a:p xmlns:a="http://schemas.openxmlformats.org/drawingml/2006/main">
            <a:r>
              <a:t>        "input": "유역·예측시점·대상 지역 지정",</a:t>
            </a:r>
          </a:p>
          <a:p xmlns:a="http://schemas.openxmlformats.org/drawingml/2006/main">
            <a:r>
              <a:t>        "process": "유역 특성·관측·기상자료의 시간·공간 정합화",</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"title": "예측 모델",</a:t>
            </a:r>
          </a:p>
          <a:p xmlns:a="http://schemas.openxmlformats.org/drawingml/2006/main">
            <a:r>
              <a:t>        "input": "강수·유량",</a:t>
            </a:r>
          </a:p>
          <a:p xmlns:a="http://schemas.openxmlformats.org/drawingml/2006/main">
            <a:r>
              <a:t>        "process": "수문 입력을 활용한 범위별 위험 예측",</a:t>
            </a:r>
          </a:p>
          <a:p xmlns:a="http://schemas.openxmlformats.org/drawingml/2006/main">
            <a:r>
              <a:t>        "output": "시간별 예측"</a:t>
            </a:r>
          </a:p>
          <a:p xmlns:a="http://schemas.openxmlformats.org/drawingml/2006/main">
            <a:r>
              <a:t>      },</a:t>
            </a:r>
          </a:p>
          <a:p xmlns:a="http://schemas.openxmlformats.org/drawingml/2006/main">
            <a:r>
              <a:t>      {</a:t>
            </a:r>
          </a:p>
          <a:p xmlns:a="http://schemas.openxmlformats.org/drawingml/2006/main">
            <a:r>
              <a:t>        "title": "위험·시점 안내",</a:t>
            </a:r>
          </a:p>
          <a:p xmlns:a="http://schemas.openxmlformats.org/drawingml/2006/main">
            <a:r>
              <a:t>        "input": "시간별 예측",</a:t>
            </a:r>
          </a:p>
          <a:p xmlns:a="http://schemas.openxmlformats.org/drawingml/2006/main">
            <a:r>
              <a:t>        "process": "지역별 오탐·미탐과 선행시간 평가",</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"title": "현장 대응 검토",</a:t>
            </a:r>
          </a:p>
          <a:p xmlns:a="http://schemas.openxmlformats.org/drawingml/2006/main">
            <a:r>
              <a:t>        "input": "위험·예상 시점",</a:t>
            </a:r>
          </a:p>
          <a:p xmlns:a="http://schemas.openxmlformats.org/drawingml/2006/main">
            <a:r>
              <a:t>        "process":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"유역별 예측 위험을 지역별 대응 검토에 제공",</a:t>
            </a:r>
          </a:p>
          <a:p xmlns:a="http://schemas.openxmlformats.org/drawingml/2006/main">
            <a:r>
              <a:t>      "exception": "관측 결측·분포가 다른 유역·예측시점 이후 자료 혼입",</a:t>
            </a:r>
          </a:p>
          <a:p xmlns:a="http://schemas.openxmlformats.org/drawingml/2006/main">
            <a:r>
              <a:t>      "evidence": "시점 분리 평가와 유역별 미탐·과경보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"예보 운영자·방재 담당·주민",</a:t>
            </a:r>
          </a:p>
          <a:p xmlns:a="http://schemas.openxmlformats.org/drawingml/2006/main">
            <a:r>
              <a:t>          "processing": "유역·예측시점·대상 지역 지정",</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"하천·예측 이력",</a:t>
            </a:r>
          </a:p>
          <a:p xmlns:a="http://schemas.openxmlformats.org/drawingml/2006/main">
            <a:r>
              <a:t>          "processing": "유역 특성·관측·기상자료의 시간·공간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"강수·유량",</a:t>
            </a:r>
          </a:p>
          <a:p xmlns:a="http://schemas.openxmlformats.org/drawingml/2006/main">
            <a:r>
              <a:t>          "processing": "수문 입력을 활용한 범위별 위험 예측",</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"위험·예상 시점",</a:t>
            </a:r>
          </a:p>
          <a:p xmlns:a="http://schemas.openxmlformats.org/drawingml/2006/main">
            <a:r>
              <a:t>          "processing":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"미탐·과경보와 지역별 오차의 사후 분석",</a:t>
            </a:r>
          </a:p>
          <a:p xmlns:a="http://schemas.openxmlformats.org/drawingml/2006/main">
            <a:r>
              <a:t>          "output": "시점 분리 평가와 유역별 미탐·과경보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"미탐·과경보와 지역별 오차의 사후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"S-AX12",</a:t>
            </a:r>
          </a:p>
          <a:p xmlns:a="http://schemas.openxmlformats.org/drawingml/2006/main">
            <a:r>
              <a:t>        "title": "Google 홍수 예측 · Nature 연구 / 2024",</a:t>
            </a:r>
          </a:p>
          <a:p xmlns:a="http://schemas.openxmlformats.org/drawingml/2006/main">
            <a:r>
              <a:t>        "url": "https://research.google/pubs/ai-increases-global-access-to-reliable-flood-forecasts-2/",</a:t>
            </a:r>
          </a:p>
          <a:p xmlns:a="http://schemas.openxmlformats.org/drawingml/2006/main">
            <a:r>
              <a:t>        "published": "2024 연구·운영",</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"예측 불확실성과 대응 책임의 동시 관리",</a:t>
            </a:r>
          </a:p>
          <a:p xmlns:a="http://schemas.openxmlformats.org/drawingml/2006/main">
            <a:r>
              <a:t>    "local": "교통시설 위험 알림과 관할 점검 조치 연결",</a:t>
            </a:r>
          </a:p>
          <a:p xmlns:a="http://schemas.openxmlformats.org/drawingml/2006/main">
            <a:r>
              <a:t>    "sourceDetail": null,</a:t>
            </a:r>
          </a:p>
          <a:p xmlns:a="http://schemas.openxmlformats.org/drawingml/2006/main">
            <a:r>
              <a:t>    "narrative": [</a:t>
            </a:r>
          </a:p>
          <a:p xmlns:a="http://schemas.openxmlformats.org/drawingml/2006/main">
            <a:r>
              <a:t>      "관측 자료가 부족한 지역까지 홍수 예측 정보를 제공하려는 사례. 예측 모델의 지역 일반화와 주민·대응기관의 실제 행동을 연결하는 단계가 별도 과제.",</a:t>
            </a:r>
          </a:p>
          <a:p xmlns:a="http://schemas.openxmlformats.org/drawingml/2006/main">
            <a:r>
              <a:t>      "유역 특성·강수·유량을 시간·공간 단위로 정합화하고 위험 지역·예상 시점을 산출하는 구조. TS 적용 설계에서는 기상·재난 위험을 교통시설·운행 업무와 연결해 담당자의 대응 검토를 지원.",</a:t>
            </a:r>
          </a:p>
          <a:p xmlns:a="http://schemas.openxmlformats.org/drawingml/2006/main">
            <a:r>
              <a:t>      "예측 정확도와 사고 예방 효과의 분리. 지역별 미탐·과경보·선행시간, 경보 수신과 조치 완료를 함께 평가하며 관측 부족 구간의 불확실성을 보존할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"예측 대상 지정",</a:t>
            </a:r>
          </a:p>
          <a:p xmlns:a="http://schemas.openxmlformats.org/drawingml/2006/main">
            <a:r>
              <a:t>          "layer": "이용 접점",</a:t>
            </a:r>
          </a:p>
          <a:p xmlns:a="http://schemas.openxmlformats.org/drawingml/2006/main">
            <a:r>
              <a:t>          "detail": "예보 운영자·방재 담당·주민",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"유역·예측시점",</a:t>
            </a:r>
          </a:p>
          <a:p xmlns:a="http://schemas.openxmlformats.org/drawingml/2006/main">
            <a:r>
              <a:t>          "layer": "업무 문맥",</a:t>
            </a:r>
          </a:p>
          <a:p xmlns:a="http://schemas.openxmlformats.org/drawingml/2006/main">
            <a:r>
              <a:t>          "detail": "유역·예측시점·대상 지역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"기상·수문 조회",</a:t>
            </a:r>
          </a:p>
          <a:p xmlns:a="http://schemas.openxmlformats.org/drawingml/2006/main">
            <a:r>
              <a:t>          "layer": "자료 조회",</a:t>
            </a:r>
          </a:p>
          <a:p xmlns:a="http://schemas.openxmlformats.org/drawingml/2006/main">
            <a:r>
              <a:t>          "detail": "강수·유량",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"홍수 위험 예측",</a:t>
            </a:r>
          </a:p>
          <a:p xmlns:a="http://schemas.openxmlformats.org/drawingml/2006/main">
            <a:r>
              <a:t>          "layer": "핵심 처리",</a:t>
            </a:r>
          </a:p>
          <a:p xmlns:a="http://schemas.openxmlformats.org/drawingml/2006/main">
            <a:r>
              <a:t>          "detail": "수문 입력을 활용한 범위별 위험 예측",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"지역별 오차 검사",</a:t>
            </a:r>
          </a:p>
          <a:p xmlns:a="http://schemas.openxmlformats.org/drawingml/2006/main">
            <a:r>
              <a:t>          "layer": "결과 검증",</a:t>
            </a:r>
          </a:p>
          <a:p xmlns:a="http://schemas.openxmlformats.org/drawingml/2006/main">
            <a:r>
              <a:t>          "detail": "지역별 오탐·미탐과 선행시간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"예보 담당 판단",</a:t>
            </a:r>
          </a:p>
          <a:p xmlns:a="http://schemas.openxmlformats.org/drawingml/2006/main">
            <a:r>
              <a:t>          "layer": "사람 확인",</a:t>
            </a:r>
          </a:p>
          <a:p xmlns:a="http://schemas.openxmlformats.org/drawingml/2006/main">
            <a:r>
              <a:t>          "detail": "유역별 예측 위험을 지역별 대응 검토에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"경보·대응 연결",</a:t>
            </a:r>
          </a:p>
          <a:p xmlns:a="http://schemas.openxmlformats.org/drawingml/2006/main">
            <a:r>
              <a:t>          "layer": "업무 연결",</a:t>
            </a:r>
          </a:p>
          <a:p xmlns:a="http://schemas.openxmlformats.org/drawingml/2006/main">
            <a:r>
              <a:t>          "detail": "위험 지역·시점 정보를 공식 대응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"미탐·과경보 분석",</a:t>
            </a:r>
          </a:p>
          <a:p xmlns:a="http://schemas.openxmlformats.org/drawingml/2006/main">
            <a:r>
              <a:t>          "layer": "운영 관측",</a:t>
            </a:r>
          </a:p>
          <a:p xmlns:a="http://schemas.openxmlformats.org/drawingml/2006/main">
            <a:r>
              <a:t>          "detail": "미탐·과경보와 지역별 오차의 사후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"유역·관측 자료",</a:t>
            </a:r>
          </a:p>
          <a:p xmlns:a="http://schemas.openxmlformats.org/drawingml/2006/main">
            <a:r>
              <a:t>          "layer": "데이터 원천",</a:t>
            </a:r>
          </a:p>
          <a:p xmlns:a="http://schemas.openxmlformats.org/drawingml/2006/main">
            <a:r>
              <a:t>          "detail": "하천·예측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"시간·공간 정합화",</a:t>
            </a:r>
          </a:p>
          <a:p xmlns:a="http://schemas.openxmlformats.org/drawingml/2006/main">
            <a:r>
              <a:t>          "layer": "준비·갱신",</a:t>
            </a:r>
          </a:p>
          <a:p xmlns:a="http://schemas.openxmlformats.org/drawingml/2006/main">
            <a:r>
              <a:t>          "detail": "유역 특성·관측·기상자료의 시간·공간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"예측·관측 이력",</a:t>
            </a:r>
          </a:p>
          <a:p xmlns:a="http://schemas.openxmlformats.org/drawingml/2006/main">
            <a:r>
              <a:t>          "layer": "상태·지식 저장",</a:t>
            </a:r>
          </a:p>
          <a:p xmlns:a="http://schemas.openxmlformats.org/drawingml/2006/main">
            <a:r>
              <a:t>          "detail": "시점 분리 평가와 유역별 미탐·과경보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"경보·대응 기준",</a:t>
            </a:r>
          </a:p>
          <a:p xmlns:a="http://schemas.openxmlformats.org/drawingml/2006/main">
            <a:r>
              <a:t>          "layer": "권한·정책",</a:t>
            </a:r>
          </a:p>
          <a:p xmlns:a="http://schemas.openxmlformats.org/drawingml/2006/main">
            <a:r>
              <a:t>          "detail": "관측 결측·분포가 다른 유역·예측시점 이후 자료 혼입",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"수문·기상 입력 → 예측 모델 → 위험·시점 안내 → 현장 대응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"하천·예측 이력",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"시간별 예측",</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"위험·예상 시점",</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"위험·예상 시점",</a:t>
            </a:r>
          </a:p>
          <a:p xmlns:a="http://schemas.openxmlformats.org/drawingml/2006/main">
            <a:r>
              <a:t>          "check": "지역별 오탐·미탐과 선행시간 평가"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대응 판단",</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"관측이 부족한 하천의 홍수 위험 예측 / 수문 예측·위험 정보·알림 연결",</a:t>
            </a:r>
          </a:p>
          <a:p xmlns:a="http://schemas.openxmlformats.org/drawingml/2006/main">
            <a:r>
              <a:t>        "extension": "교통시설 위험 알림과 관할 점검 조치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"관측 결측·분포가 다른 유역·예측시점 이후 자료 혼입",</a:t>
            </a:r>
          </a:p>
          <a:p xmlns:a="http://schemas.openxmlformats.org/drawingml/2006/main">
            <a:r>
              <a:t>        "hold": "지역별 오탐·미탐과 선행시간 평가",</a:t>
            </a:r>
          </a:p>
          <a:p xmlns:a="http://schemas.openxmlformats.org/drawingml/2006/main">
            <a:r>
              <a:t>        "recovery": "미탐·과경보와 지역별 오차의 사후 분석",</a:t>
            </a:r>
          </a:p>
          <a:p xmlns:a="http://schemas.openxmlformats.org/drawingml/2006/main">
            <a:r>
              <a:t>        "evidence": "시점 분리 평가와 유역별 미탐·과경보 결과"</a:t>
            </a:r>
          </a:p>
          <a:p xmlns:a="http://schemas.openxmlformats.org/drawingml/2006/main">
            <a:r>
              <a:t>      },</a:t>
            </a:r>
          </a:p>
          <a:p xmlns:a="http://schemas.openxmlformats.org/drawingml/2006/main">
            <a:r>
              <a:t>      "data": {</a:t>
            </a:r>
          </a:p>
          <a:p xmlns:a="http://schemas.openxmlformats.org/drawingml/2006/main">
            <a:r>
              <a:t>        "source": "하천·예측 이력",</a:t>
            </a:r>
          </a:p>
          <a:p xmlns:a="http://schemas.openxmlformats.org/drawingml/2006/main">
            <a:r>
              <a:t>        "prepare": "유역 특성·관측·기상자료의 시간·공간 정합화",</a:t>
            </a:r>
          </a:p>
          <a:p xmlns:a="http://schemas.openxmlformats.org/drawingml/2006/main">
            <a:r>
              <a:t>        "output": "강수·유량",</a:t>
            </a:r>
          </a:p>
          <a:p xmlns:a="http://schemas.openxmlformats.org/drawingml/2006/main">
            <a:r>
              <a:t>        "refresh": "미탐·과경보와 지역별 오차의 사후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"AX12",</a:t>
            </a:r>
          </a:p>
          <a:p xmlns:a="http://schemas.openxmlformats.org/drawingml/2006/main">
            <a:r>
              <a:t>    "success": [</a:t>
            </a:r>
          </a:p>
          <a:p xmlns:a="http://schemas.openxmlformats.org/drawingml/2006/main">
            <a:r>
              <a:t>      "관측 부족 지역의 예측 범위 확대",</a:t>
            </a:r>
          </a:p>
          <a:p xmlns:a="http://schemas.openxmlformats.org/drawingml/2006/main">
            <a:r>
              <a:t>      "비교 평가를 통한 예측 검토"</a:t>
            </a:r>
          </a:p>
          <a:p xmlns:a="http://schemas.openxmlformats.org/drawingml/2006/main">
            <a:r>
              <a:t>    ],</a:t>
            </a:r>
          </a:p>
          <a:p xmlns:a="http://schemas.openxmlformats.org/drawingml/2006/main">
            <a:r>
              <a:t>    "risks": [</a:t>
            </a:r>
          </a:p>
          <a:p xmlns:a="http://schemas.openxmlformats.org/drawingml/2006/main">
            <a:r>
              <a:t>      "관측 분포·지역별 불확실성",</a:t>
            </a:r>
          </a:p>
          <a:p xmlns:a="http://schemas.openxmlformats.org/drawingml/2006/main">
            <a:r>
              <a:t>      "경보 정확도와 실제 대응 효과의 차이"</a:t>
            </a:r>
          </a:p>
          <a:p xmlns:a="http://schemas.openxmlformats.org/drawingml/2006/main">
            <a:r>
              <a:t>    ],</a:t>
            </a:r>
          </a:p>
          <a:p xmlns:a="http://schemas.openxmlformats.org/drawingml/2006/main">
            <a:r>
              <a:t>    "architecture": [</a:t>
            </a:r>
          </a:p>
          <a:p xmlns:a="http://schemas.openxmlformats.org/drawingml/2006/main">
            <a:r>
              <a:t>      "수문·기상 자료",</a:t>
            </a:r>
          </a:p>
          <a:p xmlns:a="http://schemas.openxmlformats.org/drawingml/2006/main">
            <a:r>
              <a:t>      "홍수 예측 모델",</a:t>
            </a:r>
          </a:p>
          <a:p xmlns:a="http://schemas.openxmlformats.org/drawingml/2006/main">
            <a:r>
              <a:t>      "하천·예측 이력",</a:t>
            </a:r>
          </a:p>
          <a:p xmlns:a="http://schemas.openxmlformats.org/drawingml/2006/main">
            <a:r>
              <a:t>      "지역 대응 담당"</a:t>
            </a:r>
          </a:p>
          <a:p xmlns:a="http://schemas.openxmlformats.org/drawingml/2006/main">
            <a:r>
              <a:t>    ],</a:t>
            </a:r>
          </a:p>
          <a:p xmlns:a="http://schemas.openxmlformats.org/drawingml/2006/main">
            <a:r>
              <a:t>    "transfers": [</a:t>
            </a:r>
          </a:p>
          <a:p xmlns:a="http://schemas.openxmlformats.org/drawingml/2006/main">
            <a:r>
              <a:t>      "강수·유량",</a:t>
            </a:r>
          </a:p>
          <a:p xmlns:a="http://schemas.openxmlformats.org/drawingml/2006/main">
            <a:r>
              <a:t>      "시간별 예측",</a:t>
            </a:r>
          </a:p>
          <a:p xmlns:a="http://schemas.openxmlformats.org/drawingml/2006/main">
            <a:r>
              <a:t>      "위험·예상 시점",</a:t>
            </a:r>
          </a:p>
          <a:p xmlns:a="http://schemas.openxmlformats.org/drawingml/2006/main">
            <a:r>
              <a:t>      "현장 대응 판단"</a:t>
            </a:r>
          </a:p>
          <a:p xmlns:a="http://schemas.openxmlformats.org/drawingml/2006/main">
            <a:r>
              <a:t>    ],</a:t>
            </a:r>
          </a:p>
          <a:p xmlns:a="http://schemas.openxmlformats.org/drawingml/2006/main">
            <a:r>
              <a:t>    "control": "지역별 오탐·미탐과 선행시간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홍수 예측 · Nature 연구 / 2024 https://research.google/pubs/ai-increases-global-access-to-reliable-flood-forecasts-2/</a:t>
            </a:r>
          </a:p>
          <a:p xmlns:a="http://schemas.openxmlformats.org/drawingml/2006/main">
            <a:r>
              <a:t>홈페이지 https://heen1987-ops.github.io/TS-business-Plan-001/index.html?view=casebook&amp;case=AX12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"AX12",</a:t>
            </a:r>
          </a:p>
          <a:p xmlns:a="http://schemas.openxmlformats.org/drawingml/2006/main">
            <a:r>
              <a:t>    "title": "Google 홍수 예측",</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"수문 위험 예측",</a:t>
            </a:r>
          </a:p>
          <a:p xmlns:a="http://schemas.openxmlformats.org/drawingml/2006/main">
            <a:r>
              <a:t>    "period": "2024 연구·운영",</a:t>
            </a:r>
          </a:p>
          <a:p xmlns:a="http://schemas.openxmlformats.org/drawingml/2006/main">
            <a:r>
              <a:t>    "sources": [</a:t>
            </a:r>
          </a:p>
          <a:p xmlns:a="http://schemas.openxmlformats.org/drawingml/2006/main">
            <a:r>
              <a:t>      "S-AX12"</a:t>
            </a:r>
          </a:p>
          <a:p xmlns:a="http://schemas.openxmlformats.org/drawingml/2006/main">
            <a:r>
              <a:t>    ],</a:t>
            </a:r>
          </a:p>
          <a:p xmlns:a="http://schemas.openxmlformats.org/drawingml/2006/main">
            <a:r>
              <a:t>    "keywords": [</a:t>
            </a:r>
          </a:p>
          <a:p xmlns:a="http://schemas.openxmlformats.org/drawingml/2006/main">
            <a:r>
              <a:t>      "수문 위험 예측"</a:t>
            </a:r>
          </a:p>
          <a:p xmlns:a="http://schemas.openxmlformats.org/drawingml/2006/main">
            <a:r>
              <a:t>    ],</a:t>
            </a:r>
          </a:p>
          <a:p xmlns:a="http://schemas.openxmlformats.org/drawingml/2006/main">
            <a:r>
              <a:t>    "fact": "관측이 부족한 하천까지 확장한 AI 홍수 예측의 비교 평가와 서비스 적용",</a:t>
            </a:r>
          </a:p>
          <a:p xmlns:a="http://schemas.openxmlformats.org/drawingml/2006/main">
            <a:r>
              <a:t>    "limit": "논문의 하천 홍수 평가 범위 · 모든 재난 예측 성능으로 확대 불가",</a:t>
            </a:r>
          </a:p>
          <a:p xmlns:a="http://schemas.openxmlformats.org/drawingml/2006/main">
            <a:r>
              <a:t>    "flow": [</a:t>
            </a:r>
          </a:p>
          <a:p xmlns:a="http://schemas.openxmlformats.org/drawingml/2006/main">
            <a:r>
              <a:t>      "수문·기상 입력",</a:t>
            </a:r>
          </a:p>
          <a:p xmlns:a="http://schemas.openxmlformats.org/drawingml/2006/main">
            <a:r>
              <a:t>      "예측 모델",</a:t>
            </a:r>
          </a:p>
          <a:p xmlns:a="http://schemas.openxmlformats.org/drawingml/2006/main">
            <a:r>
              <a:t>      "위험·시점 안내",</a:t>
            </a:r>
          </a:p>
          <a:p xmlns:a="http://schemas.openxmlformats.org/drawingml/2006/main">
            <a:r>
              <a:t>      "현장 대응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"예측 불확실성과 대응 책임의 동시 관리",</a:t>
            </a:r>
          </a:p>
          <a:p xmlns:a="http://schemas.openxmlformats.org/drawingml/2006/main">
            <a:r>
              <a:t>    "local": "교통시설 위험 알림과 관할 점검 조치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"시설·위험 등급·대응 절차·조치기한 매핑",</a:t>
            </a:r>
          </a:p>
          <a:p xmlns:a="http://schemas.openxmlformats.org/drawingml/2006/main">
            <a:r>
              <a:t>    "test": "지역·계절 분리 평가와 오경보·미탐 점검",</a:t>
            </a:r>
          </a:p>
          <a:p xmlns:a="http://schemas.openxmlformats.org/drawingml/2006/main">
            <a:r>
              <a:t>    "metric": "경보 선행시간 / 미조치 건수",</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"AX12",</a:t>
            </a:r>
          </a:p>
          <a:p xmlns:a="http://schemas.openxmlformats.org/drawingml/2006/main">
            <a:r>
              <a:t>    "canonicalId": "AX12",</a:t>
            </a:r>
          </a:p>
          <a:p xmlns:a="http://schemas.openxmlformats.org/drawingml/2006/main">
            <a:r>
              <a:t>    "purpose": "관측이 부족한 하천의 홍수 위험 예측",</a:t>
            </a:r>
          </a:p>
          <a:p xmlns:a="http://schemas.openxmlformats.org/drawingml/2006/main">
            <a:r>
              <a:t>    "users": "예보 운영자·방재 담당·주민",</a:t>
            </a:r>
          </a:p>
          <a:p xmlns:a="http://schemas.openxmlformats.org/drawingml/2006/main">
            <a:r>
              <a:t>    "scope": [</a:t>
            </a:r>
          </a:p>
          <a:p xmlns:a="http://schemas.openxmlformats.org/drawingml/2006/main">
            <a:r>
              <a:t>      "수문 예측",</a:t>
            </a:r>
          </a:p>
          <a:p xmlns:a="http://schemas.openxmlformats.org/drawingml/2006/main">
            <a:r>
              <a:t>      "위험 정보",</a:t>
            </a:r>
          </a:p>
          <a:p xmlns:a="http://schemas.openxmlformats.org/drawingml/2006/main">
            <a:r>
              <a:t>      "알림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"수문·기상 자료",</a:t>
            </a:r>
          </a:p>
          <a:p xmlns:a="http://schemas.openxmlformats.org/drawingml/2006/main">
            <a:r>
              <a:t>        "detail": "유역·예측시점·대상 지역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"수문 예측 / 위험 정보 / 알림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"홍수 예측 모델",</a:t>
            </a:r>
          </a:p>
          <a:p xmlns:a="http://schemas.openxmlformats.org/drawingml/2006/main">
            <a:r>
              <a:t>        "detail": "수문 입력을 활용한 범위별 위험 예측",</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"지역 대응 담당",</a:t>
            </a:r>
          </a:p>
          <a:p xmlns:a="http://schemas.openxmlformats.org/drawingml/2006/main">
            <a:r>
              <a:t>        "detail": "위험 지역·시점 정보를 공식 대응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"하천·예측 이력",</a:t>
            </a:r>
          </a:p>
          <a:p xmlns:a="http://schemas.openxmlformats.org/drawingml/2006/main">
            <a:r>
              <a:t>        "detail": "유역 특성·관측·기상자료의 시간·공간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"미탐·과경보와 지역별 오차의 사후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"수문·기상 입력",</a:t>
            </a:r>
          </a:p>
          <a:p xmlns:a="http://schemas.openxmlformats.org/drawingml/2006/main">
            <a:r>
              <a:t>        "input": "유역·예측시점·대상 지역 지정",</a:t>
            </a:r>
          </a:p>
          <a:p xmlns:a="http://schemas.openxmlformats.org/drawingml/2006/main">
            <a:r>
              <a:t>        "process": "유역 특성·관측·기상자료의 시간·공간 정합화",</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"title": "예측 모델",</a:t>
            </a:r>
          </a:p>
          <a:p xmlns:a="http://schemas.openxmlformats.org/drawingml/2006/main">
            <a:r>
              <a:t>        "input": "강수·유량",</a:t>
            </a:r>
          </a:p>
          <a:p xmlns:a="http://schemas.openxmlformats.org/drawingml/2006/main">
            <a:r>
              <a:t>        "process": "수문 입력을 활용한 범위별 위험 예측",</a:t>
            </a:r>
          </a:p>
          <a:p xmlns:a="http://schemas.openxmlformats.org/drawingml/2006/main">
            <a:r>
              <a:t>        "output": "시간별 예측"</a:t>
            </a:r>
          </a:p>
          <a:p xmlns:a="http://schemas.openxmlformats.org/drawingml/2006/main">
            <a:r>
              <a:t>      },</a:t>
            </a:r>
          </a:p>
          <a:p xmlns:a="http://schemas.openxmlformats.org/drawingml/2006/main">
            <a:r>
              <a:t>      {</a:t>
            </a:r>
          </a:p>
          <a:p xmlns:a="http://schemas.openxmlformats.org/drawingml/2006/main">
            <a:r>
              <a:t>        "title": "위험·시점 안내",</a:t>
            </a:r>
          </a:p>
          <a:p xmlns:a="http://schemas.openxmlformats.org/drawingml/2006/main">
            <a:r>
              <a:t>        "input": "시간별 예측",</a:t>
            </a:r>
          </a:p>
          <a:p xmlns:a="http://schemas.openxmlformats.org/drawingml/2006/main">
            <a:r>
              <a:t>        "process": "지역별 오탐·미탐과 선행시간 평가",</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"title": "현장 대응 검토",</a:t>
            </a:r>
          </a:p>
          <a:p xmlns:a="http://schemas.openxmlformats.org/drawingml/2006/main">
            <a:r>
              <a:t>        "input": "위험·예상 시점",</a:t>
            </a:r>
          </a:p>
          <a:p xmlns:a="http://schemas.openxmlformats.org/drawingml/2006/main">
            <a:r>
              <a:t>        "process":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"유역별 예측 위험을 지역별 대응 검토에 제공",</a:t>
            </a:r>
          </a:p>
          <a:p xmlns:a="http://schemas.openxmlformats.org/drawingml/2006/main">
            <a:r>
              <a:t>      "exception": "관측 결측·분포가 다른 유역·예측시점 이후 자료 혼입",</a:t>
            </a:r>
          </a:p>
          <a:p xmlns:a="http://schemas.openxmlformats.org/drawingml/2006/main">
            <a:r>
              <a:t>      "evidence": "시점 분리 평가와 유역별 미탐·과경보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"예보 운영자·방재 담당·주민",</a:t>
            </a:r>
          </a:p>
          <a:p xmlns:a="http://schemas.openxmlformats.org/drawingml/2006/main">
            <a:r>
              <a:t>          "processing": "유역·예측시점·대상 지역 지정",</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"하천·예측 이력",</a:t>
            </a:r>
          </a:p>
          <a:p xmlns:a="http://schemas.openxmlformats.org/drawingml/2006/main">
            <a:r>
              <a:t>          "processing": "유역 특성·관측·기상자료의 시간·공간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"강수·유량",</a:t>
            </a:r>
          </a:p>
          <a:p xmlns:a="http://schemas.openxmlformats.org/drawingml/2006/main">
            <a:r>
              <a:t>          "processing": "수문 입력을 활용한 범위별 위험 예측",</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"위험·예상 시점",</a:t>
            </a:r>
          </a:p>
          <a:p xmlns:a="http://schemas.openxmlformats.org/drawingml/2006/main">
            <a:r>
              <a:t>          "processing":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"미탐·과경보와 지역별 오차의 사후 분석",</a:t>
            </a:r>
          </a:p>
          <a:p xmlns:a="http://schemas.openxmlformats.org/drawingml/2006/main">
            <a:r>
              <a:t>          "output": "시점 분리 평가와 유역별 미탐·과경보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"미탐·과경보와 지역별 오차의 사후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"S-AX12",</a:t>
            </a:r>
          </a:p>
          <a:p xmlns:a="http://schemas.openxmlformats.org/drawingml/2006/main">
            <a:r>
              <a:t>        "title": "Google 홍수 예측 · Nature 연구 / 2024",</a:t>
            </a:r>
          </a:p>
          <a:p xmlns:a="http://schemas.openxmlformats.org/drawingml/2006/main">
            <a:r>
              <a:t>        "url": "https://research.google/pubs/ai-increases-global-access-to-reliable-flood-forecasts-2/",</a:t>
            </a:r>
          </a:p>
          <a:p xmlns:a="http://schemas.openxmlformats.org/drawingml/2006/main">
            <a:r>
              <a:t>        "published": "2024 연구·운영",</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"예측 불확실성과 대응 책임의 동시 관리",</a:t>
            </a:r>
          </a:p>
          <a:p xmlns:a="http://schemas.openxmlformats.org/drawingml/2006/main">
            <a:r>
              <a:t>    "local": "교통시설 위험 알림과 관할 점검 조치 연결",</a:t>
            </a:r>
          </a:p>
          <a:p xmlns:a="http://schemas.openxmlformats.org/drawingml/2006/main">
            <a:r>
              <a:t>    "sourceDetail": null,</a:t>
            </a:r>
          </a:p>
          <a:p xmlns:a="http://schemas.openxmlformats.org/drawingml/2006/main">
            <a:r>
              <a:t>    "narrative": [</a:t>
            </a:r>
          </a:p>
          <a:p xmlns:a="http://schemas.openxmlformats.org/drawingml/2006/main">
            <a:r>
              <a:t>      "관측 자료가 부족한 지역까지 홍수 예측 정보를 제공하려는 사례. 예측 모델의 지역 일반화와 주민·대응기관의 실제 행동을 연결하는 단계가 별도 과제.",</a:t>
            </a:r>
          </a:p>
          <a:p xmlns:a="http://schemas.openxmlformats.org/drawingml/2006/main">
            <a:r>
              <a:t>      "유역 특성·강수·유량을 시간·공간 단위로 정합화하고 위험 지역·예상 시점을 산출하는 구조. TS 적용 설계에서는 기상·재난 위험을 교통시설·운행 업무와 연결해 담당자의 대응 검토를 지원.",</a:t>
            </a:r>
          </a:p>
          <a:p xmlns:a="http://schemas.openxmlformats.org/drawingml/2006/main">
            <a:r>
              <a:t>      "예측 정확도와 사고 예방 효과의 분리. 지역별 미탐·과경보·선행시간, 경보 수신과 조치 완료를 함께 평가하며 관측 부족 구간의 불확실성을 보존할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"예측 대상 지정",</a:t>
            </a:r>
          </a:p>
          <a:p xmlns:a="http://schemas.openxmlformats.org/drawingml/2006/main">
            <a:r>
              <a:t>          "layer": "이용 접점",</a:t>
            </a:r>
          </a:p>
          <a:p xmlns:a="http://schemas.openxmlformats.org/drawingml/2006/main">
            <a:r>
              <a:t>          "detail": "예보 운영자·방재 담당·주민",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"유역·예측시점",</a:t>
            </a:r>
          </a:p>
          <a:p xmlns:a="http://schemas.openxmlformats.org/drawingml/2006/main">
            <a:r>
              <a:t>          "layer": "업무 문맥",</a:t>
            </a:r>
          </a:p>
          <a:p xmlns:a="http://schemas.openxmlformats.org/drawingml/2006/main">
            <a:r>
              <a:t>          "detail": "유역·예측시점·대상 지역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"기상·수문 조회",</a:t>
            </a:r>
          </a:p>
          <a:p xmlns:a="http://schemas.openxmlformats.org/drawingml/2006/main">
            <a:r>
              <a:t>          "layer": "자료 조회",</a:t>
            </a:r>
          </a:p>
          <a:p xmlns:a="http://schemas.openxmlformats.org/drawingml/2006/main">
            <a:r>
              <a:t>          "detail": "강수·유량",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"홍수 위험 예측",</a:t>
            </a:r>
          </a:p>
          <a:p xmlns:a="http://schemas.openxmlformats.org/drawingml/2006/main">
            <a:r>
              <a:t>          "layer": "핵심 처리",</a:t>
            </a:r>
          </a:p>
          <a:p xmlns:a="http://schemas.openxmlformats.org/drawingml/2006/main">
            <a:r>
              <a:t>          "detail": "수문 입력을 활용한 범위별 위험 예측",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"지역별 오차 검사",</a:t>
            </a:r>
          </a:p>
          <a:p xmlns:a="http://schemas.openxmlformats.org/drawingml/2006/main">
            <a:r>
              <a:t>          "layer": "결과 검증",</a:t>
            </a:r>
          </a:p>
          <a:p xmlns:a="http://schemas.openxmlformats.org/drawingml/2006/main">
            <a:r>
              <a:t>          "detail": "지역별 오탐·미탐과 선행시간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"예보 담당 판단",</a:t>
            </a:r>
          </a:p>
          <a:p xmlns:a="http://schemas.openxmlformats.org/drawingml/2006/main">
            <a:r>
              <a:t>          "layer": "사람 확인",</a:t>
            </a:r>
          </a:p>
          <a:p xmlns:a="http://schemas.openxmlformats.org/drawingml/2006/main">
            <a:r>
              <a:t>          "detail": "유역별 예측 위험을 지역별 대응 검토에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"경보·대응 연결",</a:t>
            </a:r>
          </a:p>
          <a:p xmlns:a="http://schemas.openxmlformats.org/drawingml/2006/main">
            <a:r>
              <a:t>          "layer": "업무 연결",</a:t>
            </a:r>
          </a:p>
          <a:p xmlns:a="http://schemas.openxmlformats.org/drawingml/2006/main">
            <a:r>
              <a:t>          "detail": "위험 지역·시점 정보를 공식 대응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"미탐·과경보 분석",</a:t>
            </a:r>
          </a:p>
          <a:p xmlns:a="http://schemas.openxmlformats.org/drawingml/2006/main">
            <a:r>
              <a:t>          "layer": "운영 관측",</a:t>
            </a:r>
          </a:p>
          <a:p xmlns:a="http://schemas.openxmlformats.org/drawingml/2006/main">
            <a:r>
              <a:t>          "detail": "미탐·과경보와 지역별 오차의 사후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"유역·관측 자료",</a:t>
            </a:r>
          </a:p>
          <a:p xmlns:a="http://schemas.openxmlformats.org/drawingml/2006/main">
            <a:r>
              <a:t>          "layer": "데이터 원천",</a:t>
            </a:r>
          </a:p>
          <a:p xmlns:a="http://schemas.openxmlformats.org/drawingml/2006/main">
            <a:r>
              <a:t>          "detail": "하천·예측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"시간·공간 정합화",</a:t>
            </a:r>
          </a:p>
          <a:p xmlns:a="http://schemas.openxmlformats.org/drawingml/2006/main">
            <a:r>
              <a:t>          "layer": "준비·갱신",</a:t>
            </a:r>
          </a:p>
          <a:p xmlns:a="http://schemas.openxmlformats.org/drawingml/2006/main">
            <a:r>
              <a:t>          "detail": "유역 특성·관측·기상자료의 시간·공간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"예측·관측 이력",</a:t>
            </a:r>
          </a:p>
          <a:p xmlns:a="http://schemas.openxmlformats.org/drawingml/2006/main">
            <a:r>
              <a:t>          "layer": "상태·지식 저장",</a:t>
            </a:r>
          </a:p>
          <a:p xmlns:a="http://schemas.openxmlformats.org/drawingml/2006/main">
            <a:r>
              <a:t>          "detail": "시점 분리 평가와 유역별 미탐·과경보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"경보·대응 기준",</a:t>
            </a:r>
          </a:p>
          <a:p xmlns:a="http://schemas.openxmlformats.org/drawingml/2006/main">
            <a:r>
              <a:t>          "layer": "권한·정책",</a:t>
            </a:r>
          </a:p>
          <a:p xmlns:a="http://schemas.openxmlformats.org/drawingml/2006/main">
            <a:r>
              <a:t>          "detail": "관측 결측·분포가 다른 유역·예측시점 이후 자료 혼입",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"수문·기상 입력 → 예측 모델 → 위험·시점 안내 → 현장 대응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"하천·예측 이력",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"시간별 예측",</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"위험·예상 시점",</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"위험·예상 시점",</a:t>
            </a:r>
          </a:p>
          <a:p xmlns:a="http://schemas.openxmlformats.org/drawingml/2006/main">
            <a:r>
              <a:t>          "check": "지역별 오탐·미탐과 선행시간 평가"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대응 판단",</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"관측이 부족한 하천의 홍수 위험 예측 / 수문 예측·위험 정보·알림 연결",</a:t>
            </a:r>
          </a:p>
          <a:p xmlns:a="http://schemas.openxmlformats.org/drawingml/2006/main">
            <a:r>
              <a:t>        "extension": "교통시설 위험 알림과 관할 점검 조치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"관측 결측·분포가 다른 유역·예측시점 이후 자료 혼입",</a:t>
            </a:r>
          </a:p>
          <a:p xmlns:a="http://schemas.openxmlformats.org/drawingml/2006/main">
            <a:r>
              <a:t>        "hold": "지역별 오탐·미탐과 선행시간 평가",</a:t>
            </a:r>
          </a:p>
          <a:p xmlns:a="http://schemas.openxmlformats.org/drawingml/2006/main">
            <a:r>
              <a:t>        "recovery": "미탐·과경보와 지역별 오차의 사후 분석",</a:t>
            </a:r>
          </a:p>
          <a:p xmlns:a="http://schemas.openxmlformats.org/drawingml/2006/main">
            <a:r>
              <a:t>        "evidence": "시점 분리 평가와 유역별 미탐·과경보 결과"</a:t>
            </a:r>
          </a:p>
          <a:p xmlns:a="http://schemas.openxmlformats.org/drawingml/2006/main">
            <a:r>
              <a:t>      },</a:t>
            </a:r>
          </a:p>
          <a:p xmlns:a="http://schemas.openxmlformats.org/drawingml/2006/main">
            <a:r>
              <a:t>      "data": {</a:t>
            </a:r>
          </a:p>
          <a:p xmlns:a="http://schemas.openxmlformats.org/drawingml/2006/main">
            <a:r>
              <a:t>        "source": "하천·예측 이력",</a:t>
            </a:r>
          </a:p>
          <a:p xmlns:a="http://schemas.openxmlformats.org/drawingml/2006/main">
            <a:r>
              <a:t>        "prepare": "유역 특성·관측·기상자료의 시간·공간 정합화",</a:t>
            </a:r>
          </a:p>
          <a:p xmlns:a="http://schemas.openxmlformats.org/drawingml/2006/main">
            <a:r>
              <a:t>        "output": "강수·유량",</a:t>
            </a:r>
          </a:p>
          <a:p xmlns:a="http://schemas.openxmlformats.org/drawingml/2006/main">
            <a:r>
              <a:t>        "refresh": "미탐·과경보와 지역별 오차의 사후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"AX12",</a:t>
            </a:r>
          </a:p>
          <a:p xmlns:a="http://schemas.openxmlformats.org/drawingml/2006/main">
            <a:r>
              <a:t>    "success": [</a:t>
            </a:r>
          </a:p>
          <a:p xmlns:a="http://schemas.openxmlformats.org/drawingml/2006/main">
            <a:r>
              <a:t>      "관측 부족 지역의 예측 범위 확대",</a:t>
            </a:r>
          </a:p>
          <a:p xmlns:a="http://schemas.openxmlformats.org/drawingml/2006/main">
            <a:r>
              <a:t>      "비교 평가를 통한 예측 검토"</a:t>
            </a:r>
          </a:p>
          <a:p xmlns:a="http://schemas.openxmlformats.org/drawingml/2006/main">
            <a:r>
              <a:t>    ],</a:t>
            </a:r>
          </a:p>
          <a:p xmlns:a="http://schemas.openxmlformats.org/drawingml/2006/main">
            <a:r>
              <a:t>    "risks": [</a:t>
            </a:r>
          </a:p>
          <a:p xmlns:a="http://schemas.openxmlformats.org/drawingml/2006/main">
            <a:r>
              <a:t>      "관측 분포·지역별 불확실성",</a:t>
            </a:r>
          </a:p>
          <a:p xmlns:a="http://schemas.openxmlformats.org/drawingml/2006/main">
            <a:r>
              <a:t>      "경보 정확도와 실제 대응 효과의 차이"</a:t>
            </a:r>
          </a:p>
          <a:p xmlns:a="http://schemas.openxmlformats.org/drawingml/2006/main">
            <a:r>
              <a:t>    ],</a:t>
            </a:r>
          </a:p>
          <a:p xmlns:a="http://schemas.openxmlformats.org/drawingml/2006/main">
            <a:r>
              <a:t>    "architecture": [</a:t>
            </a:r>
          </a:p>
          <a:p xmlns:a="http://schemas.openxmlformats.org/drawingml/2006/main">
            <a:r>
              <a:t>      "수문·기상 자료",</a:t>
            </a:r>
          </a:p>
          <a:p xmlns:a="http://schemas.openxmlformats.org/drawingml/2006/main">
            <a:r>
              <a:t>      "홍수 예측 모델",</a:t>
            </a:r>
          </a:p>
          <a:p xmlns:a="http://schemas.openxmlformats.org/drawingml/2006/main">
            <a:r>
              <a:t>      "하천·예측 이력",</a:t>
            </a:r>
          </a:p>
          <a:p xmlns:a="http://schemas.openxmlformats.org/drawingml/2006/main">
            <a:r>
              <a:t>      "지역 대응 담당"</a:t>
            </a:r>
          </a:p>
          <a:p xmlns:a="http://schemas.openxmlformats.org/drawingml/2006/main">
            <a:r>
              <a:t>    ],</a:t>
            </a:r>
          </a:p>
          <a:p xmlns:a="http://schemas.openxmlformats.org/drawingml/2006/main">
            <a:r>
              <a:t>    "transfers": [</a:t>
            </a:r>
          </a:p>
          <a:p xmlns:a="http://schemas.openxmlformats.org/drawingml/2006/main">
            <a:r>
              <a:t>      "강수·유량",</a:t>
            </a:r>
          </a:p>
          <a:p xmlns:a="http://schemas.openxmlformats.org/drawingml/2006/main">
            <a:r>
              <a:t>      "시간별 예측",</a:t>
            </a:r>
          </a:p>
          <a:p xmlns:a="http://schemas.openxmlformats.org/drawingml/2006/main">
            <a:r>
              <a:t>      "위험·예상 시점",</a:t>
            </a:r>
          </a:p>
          <a:p xmlns:a="http://schemas.openxmlformats.org/drawingml/2006/main">
            <a:r>
              <a:t>      "현장 대응 판단"</a:t>
            </a:r>
          </a:p>
          <a:p xmlns:a="http://schemas.openxmlformats.org/drawingml/2006/main">
            <a:r>
              <a:t>    ],</a:t>
            </a:r>
          </a:p>
          <a:p xmlns:a="http://schemas.openxmlformats.org/drawingml/2006/main">
            <a:r>
              <a:t>    "control": "지역별 오탐·미탐과 선행시간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홍수 예측 · Nature 연구 / 2024 https://research.google/pubs/ai-increases-global-access-to-reliable-flood-forecasts-2/</a:t>
            </a:r>
          </a:p>
          <a:p xmlns:a="http://schemas.openxmlformats.org/drawingml/2006/main">
            <a:r>
              <a:t>홈페이지 https://heen1987-ops.github.io/TS-business-Plan-001/index.html?view=casebook&amp;case=AX12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"AX13",</a:t>
            </a:r>
          </a:p>
          <a:p xmlns:a="http://schemas.openxmlformats.org/drawingml/2006/main">
            <a:r>
              <a:t>    "title": "뉴욕 MyCity 챗봇 감사",</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"공공 서비스 AI 품질·사업관리",</a:t>
            </a:r>
          </a:p>
          <a:p xmlns:a="http://schemas.openxmlformats.org/drawingml/2006/main">
            <a:r>
              <a:t>    "period": "2025 감사 / 2026 갱신",</a:t>
            </a:r>
          </a:p>
          <a:p xmlns:a="http://schemas.openxmlformats.org/drawingml/2006/main">
            <a:r>
              <a:t>    "sources": [</a:t>
            </a:r>
          </a:p>
          <a:p xmlns:a="http://schemas.openxmlformats.org/drawingml/2006/main">
            <a:r>
              <a:t>      "S-AX13"</a:t>
            </a:r>
          </a:p>
          <a:p xmlns:a="http://schemas.openxmlformats.org/drawingml/2006/main">
            <a:r>
              <a:t>    ],</a:t>
            </a:r>
          </a:p>
          <a:p xmlns:a="http://schemas.openxmlformats.org/drawingml/2006/main">
            <a:r>
              <a:t>    "keywords": [</a:t>
            </a:r>
          </a:p>
          <a:p xmlns:a="http://schemas.openxmlformats.org/drawingml/2006/main">
            <a:r>
              <a:t>      "공공 서비스 AI 품질",</a:t>
            </a:r>
          </a:p>
          <a:p xmlns:a="http://schemas.openxmlformats.org/drawingml/2006/main">
            <a:r>
              <a:t>      "사업관리"</a:t>
            </a:r>
          </a:p>
          <a:p xmlns:a="http://schemas.openxmlformats.org/drawingml/2006/main">
            <a:r>
              <a:t>    ],</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"flow":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"출시 여부와 실제 민원 과업 완료의 분리 평가",</a:t>
            </a:r>
          </a:p>
          <a:p xmlns:a="http://schemas.openxmlformats.org/drawingml/2006/main">
            <a:r>
              <a:t>    "local": "TS 대민 안내의 근거·소관·신청 완료까지 검수",</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"metric": "오안내율 / 신청 완료율 / 재접촉률",</a:t>
            </a:r>
          </a:p>
          <a:p xmlns:a="http://schemas.openxmlformats.org/drawingml/2006/main">
            <a:r>
              <a:t>    "strategies": [</a:t>
            </a:r>
          </a:p>
          <a:p xmlns:a="http://schemas.openxmlformats.org/drawingml/2006/main">
            <a:r>
              <a:t>      "ST-04",</a:t>
            </a:r>
          </a:p>
          <a:p xmlns:a="http://schemas.openxmlformats.org/drawingml/2006/main">
            <a:r>
              <a:t>      "ST-08",</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"AX13",</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안내",</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"사업자·서비스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"공공 안내·응답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"이용자 질문",</a:t>
            </a:r>
          </a:p>
          <a:p xmlns:a="http://schemas.openxmlformats.org/drawingml/2006/main">
            <a:r>
              <a:t>        "process": "공식 정보 검색과 근거별 답변 대조 설계",</a:t>
            </a:r>
          </a:p>
          <a:p xmlns:a="http://schemas.openxmlformats.org/drawingml/2006/main">
            <a:r>
              <a:t>        "output": "안내 자료"</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자료",</a:t>
            </a:r>
          </a:p>
          <a:p xmlns:a="http://schemas.openxmlformats.org/drawingml/2006/main">
            <a:r>
              <a:t>        "process": "OTI 반론을 함께 보존한 근거별 평가",</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답변·연결",</a:t>
            </a:r>
          </a:p>
          <a:p xmlns:a="http://schemas.openxmlformats.org/drawingml/2006/main">
            <a:r>
              <a:t>        "process":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"공공 안내·응답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"이용자 질문",</a:t>
            </a:r>
          </a:p>
          <a:p xmlns:a="http://schemas.openxmlformats.org/drawingml/2006/main">
            <a:r>
              <a:t>          "processing": "공식 정보 검색과 근거별 답변 대조 설계",</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답변·연결",</a:t>
            </a:r>
          </a:p>
          <a:p xmlns:a="http://schemas.openxmlformats.org/drawingml/2006/main">
            <a:r>
              <a:t>          "processing":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"S-AX13",</a:t>
            </a:r>
          </a:p>
          <a:p xmlns:a="http://schemas.openxmlformats.org/drawingml/2006/main">
            <a:r>
              <a:t>        "title": "뉴욕 MyCity 챗봇 감사 · 뉴욕시 감사기관 / 2025-12-30",</a:t>
            </a:r>
          </a:p>
          <a:p xmlns:a="http://schemas.openxmlformats.org/drawingml/2006/main">
            <a:r>
              <a:t>        "url": "https://comptroller.nyc.gov/reports/audit-report-on-the-new-york-city-office-of-technology-and-innovations-mycity-system/",</a:t>
            </a:r>
          </a:p>
          <a:p xmlns:a="http://schemas.openxmlformats.org/drawingml/2006/main">
            <a:r>
              <a:t>        "published": "2025 감사 / 2026 갱신",</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"TS 대민 안내의 근거·소관·신청 완료까지 검수",</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"이용자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"OTI 반론을 함께 보존한 근거별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"공공 안내·응답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"공공 안내·응답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자료",</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답변·연결",</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"TS 대민 안내의 근거·소관·신청 완료까지 검수"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"OTI 반론을 함께 보존한 근거별 평가",</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"공공 안내·응답 기록",</a:t>
            </a:r>
          </a:p>
          <a:p xmlns:a="http://schemas.openxmlformats.org/drawingml/2006/main">
            <a:r>
              <a:t>        "prepare": "정책 원문·서비스 목록·시험 질문의 버전 관리",</a:t>
            </a:r>
          </a:p>
          <a:p xmlns:a="http://schemas.openxmlformats.org/drawingml/2006/main">
            <a:r>
              <a:t>        "output": "이용자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"AX13",</a:t>
            </a:r>
          </a:p>
          <a:p xmlns:a="http://schemas.openxmlformats.org/drawingml/2006/main">
            <a:r>
              <a:t>    "success": [</a:t>
            </a:r>
          </a:p>
          <a:p xmlns:a="http://schemas.openxmlformats.org/drawingml/2006/main">
            <a:r>
              <a:t>      "업무 완결 조건과 책임 범위 정의",</a:t>
            </a:r>
          </a:p>
          <a:p xmlns:a="http://schemas.openxmlformats.org/drawingml/2006/main">
            <a:r>
              <a:t>      "독립 평가셋·계약 산출물 추적"</a:t>
            </a:r>
          </a:p>
          <a:p xmlns:a="http://schemas.openxmlformats.org/drawingml/2006/main">
            <a:r>
              <a:t>    ],</a:t>
            </a:r>
          </a:p>
          <a:p xmlns:a="http://schemas.openxmlformats.org/drawingml/2006/main">
            <a:r>
              <a:t>    "risks": [</a:t>
            </a:r>
          </a:p>
          <a:p xmlns:a="http://schemas.openxmlformats.org/drawingml/2006/main">
            <a:r>
              <a:t>      "감사에서 지적된 부정확·비일관 답변",</a:t>
            </a:r>
          </a:p>
          <a:p xmlns:a="http://schemas.openxmlformats.org/drawingml/2006/main">
            <a:r>
              <a:t>      "통합서비스 계획·계약 감독의 미비"</a:t>
            </a:r>
          </a:p>
          <a:p xmlns:a="http://schemas.openxmlformats.org/drawingml/2006/main">
            <a:r>
              <a:t>    ],</a:t>
            </a:r>
          </a:p>
          <a:p xmlns:a="http://schemas.openxmlformats.org/drawingml/2006/main">
            <a:r>
              <a:t>    "architecture": [</a:t>
            </a:r>
          </a:p>
          <a:p xmlns:a="http://schemas.openxmlformats.org/drawingml/2006/main">
            <a:r>
              <a:t>      "MyCity 안내",</a:t>
            </a:r>
          </a:p>
          <a:p xmlns:a="http://schemas.openxmlformats.org/drawingml/2006/main">
            <a:r>
              <a:t>      "AI 챗봇·포털",</a:t>
            </a:r>
          </a:p>
          <a:p xmlns:a="http://schemas.openxmlformats.org/drawingml/2006/main">
            <a:r>
              <a:t>      "공공 안내·응답 기록",</a:t>
            </a:r>
          </a:p>
          <a:p xmlns:a="http://schemas.openxmlformats.org/drawingml/2006/main">
            <a:r>
              <a:t>      "사업자·서비스 담당"</a:t>
            </a:r>
          </a:p>
          <a:p xmlns:a="http://schemas.openxmlformats.org/drawingml/2006/main">
            <a:r>
              <a:t>    ],</a:t>
            </a:r>
          </a:p>
          <a:p xmlns:a="http://schemas.openxmlformats.org/drawingml/2006/main">
            <a:r>
              <a:t>    "transfers": [</a:t>
            </a:r>
          </a:p>
          <a:p xmlns:a="http://schemas.openxmlformats.org/drawingml/2006/main">
            <a:r>
              <a:t>      "이용자 질문",</a:t>
            </a:r>
          </a:p>
          <a:p xmlns:a="http://schemas.openxmlformats.org/drawingml/2006/main">
            <a:r>
              <a:t>      "안내 자료",</a:t>
            </a:r>
          </a:p>
          <a:p xmlns:a="http://schemas.openxmlformats.org/drawingml/2006/main">
            <a:r>
              <a:t>      "챗봇 답변·연결",</a:t>
            </a:r>
          </a:p>
          <a:p xmlns:a="http://schemas.openxmlformats.org/drawingml/2006/main">
            <a:r>
              <a:t>      "피드백·감사 기록"</a:t>
            </a:r>
          </a:p>
          <a:p xmlns:a="http://schemas.openxmlformats.org/drawingml/2006/main">
            <a:r>
              <a:t>    ],</a:t>
            </a:r>
          </a:p>
          <a:p xmlns:a="http://schemas.openxmlformats.org/drawingml/2006/main">
            <a:r>
              <a:t>    "control": "OTI 반론을 함께 보존한 근거별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 MyCity 챗봇 감사 · 뉴욕시 감사기관 / 2025-12-30 https://comptroller.nyc.gov/reports/audit-report-on-the-new-york-city-office-of-technology-and-innovations-mycity-system/</a:t>
            </a:r>
          </a:p>
          <a:p xmlns:a="http://schemas.openxmlformats.org/drawingml/2006/main">
            <a:r>
              <a:t>홈페이지 https://heen1987-ops.github.io/TS-business-Plan-001/index.html?view=casebook&amp;case=AX13</a:t>
            </a:r>
          </a:p>
          <a:p xmlns:a="http://schemas.openxmlformats.org/drawingml/2006/main">
            <a:r>
              <a:t>한계: 운영기관의 정확도 주장과 감사 판단의 차이 존재 · 개별 질의·평가 방식 대조 필요</a:t>
            </a:r>
          </a:p>
          <a:p xmlns:a="http://schemas.openxmlformats.org/drawingml/2006/main">
            <a:r>
              <a:t>재발 방지 조건: 업무 완결 조건과 책임 범위 정의 / 독립 평가셋·계약 산출물 추적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"AX13",</a:t>
            </a:r>
          </a:p>
          <a:p xmlns:a="http://schemas.openxmlformats.org/drawingml/2006/main">
            <a:r>
              <a:t>    "title": "뉴욕 MyCity 챗봇 감사",</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"공공 서비스 AI 품질·사업관리",</a:t>
            </a:r>
          </a:p>
          <a:p xmlns:a="http://schemas.openxmlformats.org/drawingml/2006/main">
            <a:r>
              <a:t>    "period": "2025 감사 / 2026 갱신",</a:t>
            </a:r>
          </a:p>
          <a:p xmlns:a="http://schemas.openxmlformats.org/drawingml/2006/main">
            <a:r>
              <a:t>    "sources": [</a:t>
            </a:r>
          </a:p>
          <a:p xmlns:a="http://schemas.openxmlformats.org/drawingml/2006/main">
            <a:r>
              <a:t>      "S-AX13"</a:t>
            </a:r>
          </a:p>
          <a:p xmlns:a="http://schemas.openxmlformats.org/drawingml/2006/main">
            <a:r>
              <a:t>    ],</a:t>
            </a:r>
          </a:p>
          <a:p xmlns:a="http://schemas.openxmlformats.org/drawingml/2006/main">
            <a:r>
              <a:t>    "keywords": [</a:t>
            </a:r>
          </a:p>
          <a:p xmlns:a="http://schemas.openxmlformats.org/drawingml/2006/main">
            <a:r>
              <a:t>      "공공 서비스 AI 품질",</a:t>
            </a:r>
          </a:p>
          <a:p xmlns:a="http://schemas.openxmlformats.org/drawingml/2006/main">
            <a:r>
              <a:t>      "사업관리"</a:t>
            </a:r>
          </a:p>
          <a:p xmlns:a="http://schemas.openxmlformats.org/drawingml/2006/main">
            <a:r>
              <a:t>    ],</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"flow":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"출시 여부와 실제 민원 과업 완료의 분리 평가",</a:t>
            </a:r>
          </a:p>
          <a:p xmlns:a="http://schemas.openxmlformats.org/drawingml/2006/main">
            <a:r>
              <a:t>    "local": "TS 대민 안내의 근거·소관·신청 완료까지 검수",</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"metric": "오안내율 / 신청 완료율 / 재접촉률",</a:t>
            </a:r>
          </a:p>
          <a:p xmlns:a="http://schemas.openxmlformats.org/drawingml/2006/main">
            <a:r>
              <a:t>    "strategies": [</a:t>
            </a:r>
          </a:p>
          <a:p xmlns:a="http://schemas.openxmlformats.org/drawingml/2006/main">
            <a:r>
              <a:t>      "ST-04",</a:t>
            </a:r>
          </a:p>
          <a:p xmlns:a="http://schemas.openxmlformats.org/drawingml/2006/main">
            <a:r>
              <a:t>      "ST-08",</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"AX13",</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안내",</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"사업자·서비스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"공공 안내·응답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"이용자 질문",</a:t>
            </a:r>
          </a:p>
          <a:p xmlns:a="http://schemas.openxmlformats.org/drawingml/2006/main">
            <a:r>
              <a:t>        "process": "공식 정보 검색과 근거별 답변 대조 설계",</a:t>
            </a:r>
          </a:p>
          <a:p xmlns:a="http://schemas.openxmlformats.org/drawingml/2006/main">
            <a:r>
              <a:t>        "output": "안내 자료"</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자료",</a:t>
            </a:r>
          </a:p>
          <a:p xmlns:a="http://schemas.openxmlformats.org/drawingml/2006/main">
            <a:r>
              <a:t>        "process": "OTI 반론을 함께 보존한 근거별 평가",</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답변·연결",</a:t>
            </a:r>
          </a:p>
          <a:p xmlns:a="http://schemas.openxmlformats.org/drawingml/2006/main">
            <a:r>
              <a:t>        "process":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"공공 안내·응답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"이용자 질문",</a:t>
            </a:r>
          </a:p>
          <a:p xmlns:a="http://schemas.openxmlformats.org/drawingml/2006/main">
            <a:r>
              <a:t>          "processing": "공식 정보 검색과 근거별 답변 대조 설계",</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답변·연결",</a:t>
            </a:r>
          </a:p>
          <a:p xmlns:a="http://schemas.openxmlformats.org/drawingml/2006/main">
            <a:r>
              <a:t>          "processing":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"S-AX13",</a:t>
            </a:r>
          </a:p>
          <a:p xmlns:a="http://schemas.openxmlformats.org/drawingml/2006/main">
            <a:r>
              <a:t>        "title": "뉴욕 MyCity 챗봇 감사 · 뉴욕시 감사기관 / 2025-12-30",</a:t>
            </a:r>
          </a:p>
          <a:p xmlns:a="http://schemas.openxmlformats.org/drawingml/2006/main">
            <a:r>
              <a:t>        "url": "https://comptroller.nyc.gov/reports/audit-report-on-the-new-york-city-office-of-technology-and-innovations-mycity-system/",</a:t>
            </a:r>
          </a:p>
          <a:p xmlns:a="http://schemas.openxmlformats.org/drawingml/2006/main">
            <a:r>
              <a:t>        "published": "2025 감사 / 2026 갱신",</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"TS 대민 안내의 근거·소관·신청 완료까지 검수",</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"이용자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"OTI 반론을 함께 보존한 근거별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"공공 안내·응답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"공공 안내·응답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자료",</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답변·연결",</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"TS 대민 안내의 근거·소관·신청 완료까지 검수"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"OTI 반론을 함께 보존한 근거별 평가",</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"공공 안내·응답 기록",</a:t>
            </a:r>
          </a:p>
          <a:p xmlns:a="http://schemas.openxmlformats.org/drawingml/2006/main">
            <a:r>
              <a:t>        "prepare": "정책 원문·서비스 목록·시험 질문의 버전 관리",</a:t>
            </a:r>
          </a:p>
          <a:p xmlns:a="http://schemas.openxmlformats.org/drawingml/2006/main">
            <a:r>
              <a:t>        "output": "이용자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"AX13",</a:t>
            </a:r>
          </a:p>
          <a:p xmlns:a="http://schemas.openxmlformats.org/drawingml/2006/main">
            <a:r>
              <a:t>    "success": [</a:t>
            </a:r>
          </a:p>
          <a:p xmlns:a="http://schemas.openxmlformats.org/drawingml/2006/main">
            <a:r>
              <a:t>      "업무 완결 조건과 책임 범위 정의",</a:t>
            </a:r>
          </a:p>
          <a:p xmlns:a="http://schemas.openxmlformats.org/drawingml/2006/main">
            <a:r>
              <a:t>      "독립 평가셋·계약 산출물 추적"</a:t>
            </a:r>
          </a:p>
          <a:p xmlns:a="http://schemas.openxmlformats.org/drawingml/2006/main">
            <a:r>
              <a:t>    ],</a:t>
            </a:r>
          </a:p>
          <a:p xmlns:a="http://schemas.openxmlformats.org/drawingml/2006/main">
            <a:r>
              <a:t>    "risks": [</a:t>
            </a:r>
          </a:p>
          <a:p xmlns:a="http://schemas.openxmlformats.org/drawingml/2006/main">
            <a:r>
              <a:t>      "감사에서 지적된 부정확·비일관 답변",</a:t>
            </a:r>
          </a:p>
          <a:p xmlns:a="http://schemas.openxmlformats.org/drawingml/2006/main">
            <a:r>
              <a:t>      "통합서비스 계획·계약 감독의 미비"</a:t>
            </a:r>
          </a:p>
          <a:p xmlns:a="http://schemas.openxmlformats.org/drawingml/2006/main">
            <a:r>
              <a:t>    ],</a:t>
            </a:r>
          </a:p>
          <a:p xmlns:a="http://schemas.openxmlformats.org/drawingml/2006/main">
            <a:r>
              <a:t>    "architecture": [</a:t>
            </a:r>
          </a:p>
          <a:p xmlns:a="http://schemas.openxmlformats.org/drawingml/2006/main">
            <a:r>
              <a:t>      "MyCity 안내",</a:t>
            </a:r>
          </a:p>
          <a:p xmlns:a="http://schemas.openxmlformats.org/drawingml/2006/main">
            <a:r>
              <a:t>      "AI 챗봇·포털",</a:t>
            </a:r>
          </a:p>
          <a:p xmlns:a="http://schemas.openxmlformats.org/drawingml/2006/main">
            <a:r>
              <a:t>      "공공 안내·응답 기록",</a:t>
            </a:r>
          </a:p>
          <a:p xmlns:a="http://schemas.openxmlformats.org/drawingml/2006/main">
            <a:r>
              <a:t>      "사업자·서비스 담당"</a:t>
            </a:r>
          </a:p>
          <a:p xmlns:a="http://schemas.openxmlformats.org/drawingml/2006/main">
            <a:r>
              <a:t>    ],</a:t>
            </a:r>
          </a:p>
          <a:p xmlns:a="http://schemas.openxmlformats.org/drawingml/2006/main">
            <a:r>
              <a:t>    "transfers": [</a:t>
            </a:r>
          </a:p>
          <a:p xmlns:a="http://schemas.openxmlformats.org/drawingml/2006/main">
            <a:r>
              <a:t>      "이용자 질문",</a:t>
            </a:r>
          </a:p>
          <a:p xmlns:a="http://schemas.openxmlformats.org/drawingml/2006/main">
            <a:r>
              <a:t>      "안내 자료",</a:t>
            </a:r>
          </a:p>
          <a:p xmlns:a="http://schemas.openxmlformats.org/drawingml/2006/main">
            <a:r>
              <a:t>      "챗봇 답변·연결",</a:t>
            </a:r>
          </a:p>
          <a:p xmlns:a="http://schemas.openxmlformats.org/drawingml/2006/main">
            <a:r>
              <a:t>      "피드백·감사 기록"</a:t>
            </a:r>
          </a:p>
          <a:p xmlns:a="http://schemas.openxmlformats.org/drawingml/2006/main">
            <a:r>
              <a:t>    ],</a:t>
            </a:r>
          </a:p>
          <a:p xmlns:a="http://schemas.openxmlformats.org/drawingml/2006/main">
            <a:r>
              <a:t>    "control": "OTI 반론을 함께 보존한 근거별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 MyCity 챗봇 감사 · 뉴욕시 감사기관 / 2025-12-30 https://comptroller.nyc.gov/reports/audit-report-on-the-new-york-city-office-of-technology-and-innovations-mycity-system/</a:t>
            </a:r>
          </a:p>
          <a:p xmlns:a="http://schemas.openxmlformats.org/drawingml/2006/main">
            <a:r>
              <a:t>홈페이지 https://heen1987-ops.github.io/TS-business-Plan-001/index.html?view=casebook&amp;case=AX13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"AX13",</a:t>
            </a:r>
          </a:p>
          <a:p xmlns:a="http://schemas.openxmlformats.org/drawingml/2006/main">
            <a:r>
              <a:t>    "title": "뉴욕 MyCity 챗봇 감사",</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"공공 서비스 AI 품질·사업관리",</a:t>
            </a:r>
          </a:p>
          <a:p xmlns:a="http://schemas.openxmlformats.org/drawingml/2006/main">
            <a:r>
              <a:t>    "period": "2025 감사 / 2026 갱신",</a:t>
            </a:r>
          </a:p>
          <a:p xmlns:a="http://schemas.openxmlformats.org/drawingml/2006/main">
            <a:r>
              <a:t>    "sources": [</a:t>
            </a:r>
          </a:p>
          <a:p xmlns:a="http://schemas.openxmlformats.org/drawingml/2006/main">
            <a:r>
              <a:t>      "S-AX13"</a:t>
            </a:r>
          </a:p>
          <a:p xmlns:a="http://schemas.openxmlformats.org/drawingml/2006/main">
            <a:r>
              <a:t>    ],</a:t>
            </a:r>
          </a:p>
          <a:p xmlns:a="http://schemas.openxmlformats.org/drawingml/2006/main">
            <a:r>
              <a:t>    "keywords": [</a:t>
            </a:r>
          </a:p>
          <a:p xmlns:a="http://schemas.openxmlformats.org/drawingml/2006/main">
            <a:r>
              <a:t>      "공공 서비스 AI 품질",</a:t>
            </a:r>
          </a:p>
          <a:p xmlns:a="http://schemas.openxmlformats.org/drawingml/2006/main">
            <a:r>
              <a:t>      "사업관리"</a:t>
            </a:r>
          </a:p>
          <a:p xmlns:a="http://schemas.openxmlformats.org/drawingml/2006/main">
            <a:r>
              <a:t>    ],</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"flow":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"출시 여부와 실제 민원 과업 완료의 분리 평가",</a:t>
            </a:r>
          </a:p>
          <a:p xmlns:a="http://schemas.openxmlformats.org/drawingml/2006/main">
            <a:r>
              <a:t>    "local": "TS 대민 안내의 근거·소관·신청 완료까지 검수",</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"metric": "오안내율 / 신청 완료율 / 재접촉률",</a:t>
            </a:r>
          </a:p>
          <a:p xmlns:a="http://schemas.openxmlformats.org/drawingml/2006/main">
            <a:r>
              <a:t>    "strategies": [</a:t>
            </a:r>
          </a:p>
          <a:p xmlns:a="http://schemas.openxmlformats.org/drawingml/2006/main">
            <a:r>
              <a:t>      "ST-04",</a:t>
            </a:r>
          </a:p>
          <a:p xmlns:a="http://schemas.openxmlformats.org/drawingml/2006/main">
            <a:r>
              <a:t>      "ST-08",</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"AX13",</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안내",</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"사업자·서비스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"공공 안내·응답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"이용자 질문",</a:t>
            </a:r>
          </a:p>
          <a:p xmlns:a="http://schemas.openxmlformats.org/drawingml/2006/main">
            <a:r>
              <a:t>        "process": "공식 정보 검색과 근거별 답변 대조 설계",</a:t>
            </a:r>
          </a:p>
          <a:p xmlns:a="http://schemas.openxmlformats.org/drawingml/2006/main">
            <a:r>
              <a:t>        "output": "안내 자료"</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자료",</a:t>
            </a:r>
          </a:p>
          <a:p xmlns:a="http://schemas.openxmlformats.org/drawingml/2006/main">
            <a:r>
              <a:t>        "process": "OTI 반론을 함께 보존한 근거별 평가",</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답변·연결",</a:t>
            </a:r>
          </a:p>
          <a:p xmlns:a="http://schemas.openxmlformats.org/drawingml/2006/main">
            <a:r>
              <a:t>        "process":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"공공 안내·응답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"이용자 질문",</a:t>
            </a:r>
          </a:p>
          <a:p xmlns:a="http://schemas.openxmlformats.org/drawingml/2006/main">
            <a:r>
              <a:t>          "processing": "공식 정보 검색과 근거별 답변 대조 설계",</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답변·연결",</a:t>
            </a:r>
          </a:p>
          <a:p xmlns:a="http://schemas.openxmlformats.org/drawingml/2006/main">
            <a:r>
              <a:t>          "processing":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"S-AX13",</a:t>
            </a:r>
          </a:p>
          <a:p xmlns:a="http://schemas.openxmlformats.org/drawingml/2006/main">
            <a:r>
              <a:t>        "title": "뉴욕 MyCity 챗봇 감사 · 뉴욕시 감사기관 / 2025-12-30",</a:t>
            </a:r>
          </a:p>
          <a:p xmlns:a="http://schemas.openxmlformats.org/drawingml/2006/main">
            <a:r>
              <a:t>        "url": "https://comptroller.nyc.gov/reports/audit-report-on-the-new-york-city-office-of-technology-and-innovations-mycity-system/",</a:t>
            </a:r>
          </a:p>
          <a:p xmlns:a="http://schemas.openxmlformats.org/drawingml/2006/main">
            <a:r>
              <a:t>        "published": "2025 감사 / 2026 갱신",</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"TS 대민 안내의 근거·소관·신청 완료까지 검수",</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"이용자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"OTI 반론을 함께 보존한 근거별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"공공 안내·응답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"공공 안내·응답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자료",</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답변·연결",</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"TS 대민 안내의 근거·소관·신청 완료까지 검수"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"OTI 반론을 함께 보존한 근거별 평가",</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"공공 안내·응답 기록",</a:t>
            </a:r>
          </a:p>
          <a:p xmlns:a="http://schemas.openxmlformats.org/drawingml/2006/main">
            <a:r>
              <a:t>        "prepare": "정책 원문·서비스 목록·시험 질문의 버전 관리",</a:t>
            </a:r>
          </a:p>
          <a:p xmlns:a="http://schemas.openxmlformats.org/drawingml/2006/main">
            <a:r>
              <a:t>        "output": "이용자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"AX13",</a:t>
            </a:r>
          </a:p>
          <a:p xmlns:a="http://schemas.openxmlformats.org/drawingml/2006/main">
            <a:r>
              <a:t>    "success": [</a:t>
            </a:r>
          </a:p>
          <a:p xmlns:a="http://schemas.openxmlformats.org/drawingml/2006/main">
            <a:r>
              <a:t>      "업무 완결 조건과 책임 범위 정의",</a:t>
            </a:r>
          </a:p>
          <a:p xmlns:a="http://schemas.openxmlformats.org/drawingml/2006/main">
            <a:r>
              <a:t>      "독립 평가셋·계약 산출물 추적"</a:t>
            </a:r>
          </a:p>
          <a:p xmlns:a="http://schemas.openxmlformats.org/drawingml/2006/main">
            <a:r>
              <a:t>    ],</a:t>
            </a:r>
          </a:p>
          <a:p xmlns:a="http://schemas.openxmlformats.org/drawingml/2006/main">
            <a:r>
              <a:t>    "risks": [</a:t>
            </a:r>
          </a:p>
          <a:p xmlns:a="http://schemas.openxmlformats.org/drawingml/2006/main">
            <a:r>
              <a:t>      "감사에서 지적된 부정확·비일관 답변",</a:t>
            </a:r>
          </a:p>
          <a:p xmlns:a="http://schemas.openxmlformats.org/drawingml/2006/main">
            <a:r>
              <a:t>      "통합서비스 계획·계약 감독의 미비"</a:t>
            </a:r>
          </a:p>
          <a:p xmlns:a="http://schemas.openxmlformats.org/drawingml/2006/main">
            <a:r>
              <a:t>    ],</a:t>
            </a:r>
          </a:p>
          <a:p xmlns:a="http://schemas.openxmlformats.org/drawingml/2006/main">
            <a:r>
              <a:t>    "architecture": [</a:t>
            </a:r>
          </a:p>
          <a:p xmlns:a="http://schemas.openxmlformats.org/drawingml/2006/main">
            <a:r>
              <a:t>      "MyCity 안내",</a:t>
            </a:r>
          </a:p>
          <a:p xmlns:a="http://schemas.openxmlformats.org/drawingml/2006/main">
            <a:r>
              <a:t>      "AI 챗봇·포털",</a:t>
            </a:r>
          </a:p>
          <a:p xmlns:a="http://schemas.openxmlformats.org/drawingml/2006/main">
            <a:r>
              <a:t>      "공공 안내·응답 기록",</a:t>
            </a:r>
          </a:p>
          <a:p xmlns:a="http://schemas.openxmlformats.org/drawingml/2006/main">
            <a:r>
              <a:t>      "사업자·서비스 담당"</a:t>
            </a:r>
          </a:p>
          <a:p xmlns:a="http://schemas.openxmlformats.org/drawingml/2006/main">
            <a:r>
              <a:t>    ],</a:t>
            </a:r>
          </a:p>
          <a:p xmlns:a="http://schemas.openxmlformats.org/drawingml/2006/main">
            <a:r>
              <a:t>    "transfers": [</a:t>
            </a:r>
          </a:p>
          <a:p xmlns:a="http://schemas.openxmlformats.org/drawingml/2006/main">
            <a:r>
              <a:t>      "이용자 질문",</a:t>
            </a:r>
          </a:p>
          <a:p xmlns:a="http://schemas.openxmlformats.org/drawingml/2006/main">
            <a:r>
              <a:t>      "안내 자료",</a:t>
            </a:r>
          </a:p>
          <a:p xmlns:a="http://schemas.openxmlformats.org/drawingml/2006/main">
            <a:r>
              <a:t>      "챗봇 답변·연결",</a:t>
            </a:r>
          </a:p>
          <a:p xmlns:a="http://schemas.openxmlformats.org/drawingml/2006/main">
            <a:r>
              <a:t>      "피드백·감사 기록"</a:t>
            </a:r>
          </a:p>
          <a:p xmlns:a="http://schemas.openxmlformats.org/drawingml/2006/main">
            <a:r>
              <a:t>    ],</a:t>
            </a:r>
          </a:p>
          <a:p xmlns:a="http://schemas.openxmlformats.org/drawingml/2006/main">
            <a:r>
              <a:t>    "control": "OTI 반론을 함께 보존한 근거별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 MyCity 챗봇 감사 · 뉴욕시 감사기관 / 2025-12-30 https://comptroller.nyc.gov/reports/audit-report-on-the-new-york-city-office-of-technology-and-innovations-mycity-system/</a:t>
            </a:r>
          </a:p>
          <a:p xmlns:a="http://schemas.openxmlformats.org/drawingml/2006/main">
            <a:r>
              <a:t>홈페이지 https://heen1987-ops.github.io/TS-business-Plan-001/index.html?view=casebook&amp;case=AX13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"AX13",</a:t>
            </a:r>
          </a:p>
          <a:p xmlns:a="http://schemas.openxmlformats.org/drawingml/2006/main">
            <a:r>
              <a:t>    "title": "뉴욕 MyCity 챗봇 감사",</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"공공 서비스 AI 품질·사업관리",</a:t>
            </a:r>
          </a:p>
          <a:p xmlns:a="http://schemas.openxmlformats.org/drawingml/2006/main">
            <a:r>
              <a:t>    "period": "2025 감사 / 2026 갱신",</a:t>
            </a:r>
          </a:p>
          <a:p xmlns:a="http://schemas.openxmlformats.org/drawingml/2006/main">
            <a:r>
              <a:t>    "sources": [</a:t>
            </a:r>
          </a:p>
          <a:p xmlns:a="http://schemas.openxmlformats.org/drawingml/2006/main">
            <a:r>
              <a:t>      "S-AX13"</a:t>
            </a:r>
          </a:p>
          <a:p xmlns:a="http://schemas.openxmlformats.org/drawingml/2006/main">
            <a:r>
              <a:t>    ],</a:t>
            </a:r>
          </a:p>
          <a:p xmlns:a="http://schemas.openxmlformats.org/drawingml/2006/main">
            <a:r>
              <a:t>    "keywords": [</a:t>
            </a:r>
          </a:p>
          <a:p xmlns:a="http://schemas.openxmlformats.org/drawingml/2006/main">
            <a:r>
              <a:t>      "공공 서비스 AI 품질",</a:t>
            </a:r>
          </a:p>
          <a:p xmlns:a="http://schemas.openxmlformats.org/drawingml/2006/main">
            <a:r>
              <a:t>      "사업관리"</a:t>
            </a:r>
          </a:p>
          <a:p xmlns:a="http://schemas.openxmlformats.org/drawingml/2006/main">
            <a:r>
              <a:t>    ],</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"flow":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"출시 여부와 실제 민원 과업 완료의 분리 평가",</a:t>
            </a:r>
          </a:p>
          <a:p xmlns:a="http://schemas.openxmlformats.org/drawingml/2006/main">
            <a:r>
              <a:t>    "local": "TS 대민 안내의 근거·소관·신청 완료까지 검수",</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"metric": "오안내율 / 신청 완료율 / 재접촉률",</a:t>
            </a:r>
          </a:p>
          <a:p xmlns:a="http://schemas.openxmlformats.org/drawingml/2006/main">
            <a:r>
              <a:t>    "strategies": [</a:t>
            </a:r>
          </a:p>
          <a:p xmlns:a="http://schemas.openxmlformats.org/drawingml/2006/main">
            <a:r>
              <a:t>      "ST-04",</a:t>
            </a:r>
          </a:p>
          <a:p xmlns:a="http://schemas.openxmlformats.org/drawingml/2006/main">
            <a:r>
              <a:t>      "ST-08",</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"AX13",</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안내",</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"사업자·서비스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"공공 안내·응답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"이용자 질문",</a:t>
            </a:r>
          </a:p>
          <a:p xmlns:a="http://schemas.openxmlformats.org/drawingml/2006/main">
            <a:r>
              <a:t>        "process": "공식 정보 검색과 근거별 답변 대조 설계",</a:t>
            </a:r>
          </a:p>
          <a:p xmlns:a="http://schemas.openxmlformats.org/drawingml/2006/main">
            <a:r>
              <a:t>        "output": "안내 자료"</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자료",</a:t>
            </a:r>
          </a:p>
          <a:p xmlns:a="http://schemas.openxmlformats.org/drawingml/2006/main">
            <a:r>
              <a:t>        "process": "OTI 반론을 함께 보존한 근거별 평가",</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답변·연결",</a:t>
            </a:r>
          </a:p>
          <a:p xmlns:a="http://schemas.openxmlformats.org/drawingml/2006/main">
            <a:r>
              <a:t>        "process":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"공공 안내·응답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"이용자 질문",</a:t>
            </a:r>
          </a:p>
          <a:p xmlns:a="http://schemas.openxmlformats.org/drawingml/2006/main">
            <a:r>
              <a:t>          "processing": "공식 정보 검색과 근거별 답변 대조 설계",</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답변·연결",</a:t>
            </a:r>
          </a:p>
          <a:p xmlns:a="http://schemas.openxmlformats.org/drawingml/2006/main">
            <a:r>
              <a:t>          "processing":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"S-AX13",</a:t>
            </a:r>
          </a:p>
          <a:p xmlns:a="http://schemas.openxmlformats.org/drawingml/2006/main">
            <a:r>
              <a:t>        "title": "뉴욕 MyCity 챗봇 감사 · 뉴욕시 감사기관 / 2025-12-30",</a:t>
            </a:r>
          </a:p>
          <a:p xmlns:a="http://schemas.openxmlformats.org/drawingml/2006/main">
            <a:r>
              <a:t>        "url": "https://comptroller.nyc.gov/reports/audit-report-on-the-new-york-city-office-of-technology-and-innovations-mycity-system/",</a:t>
            </a:r>
          </a:p>
          <a:p xmlns:a="http://schemas.openxmlformats.org/drawingml/2006/main">
            <a:r>
              <a:t>        "published": "2025 감사 / 2026 갱신",</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"TS 대민 안내의 근거·소관·신청 완료까지 검수",</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"이용자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"OTI 반론을 함께 보존한 근거별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"공공 안내·응답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"공공 안내·응답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자료",</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답변·연결",</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"TS 대민 안내의 근거·소관·신청 완료까지 검수"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"OTI 반론을 함께 보존한 근거별 평가",</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"공공 안내·응답 기록",</a:t>
            </a:r>
          </a:p>
          <a:p xmlns:a="http://schemas.openxmlformats.org/drawingml/2006/main">
            <a:r>
              <a:t>        "prepare": "정책 원문·서비스 목록·시험 질문의 버전 관리",</a:t>
            </a:r>
          </a:p>
          <a:p xmlns:a="http://schemas.openxmlformats.org/drawingml/2006/main">
            <a:r>
              <a:t>        "output": "이용자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"AX13",</a:t>
            </a:r>
          </a:p>
          <a:p xmlns:a="http://schemas.openxmlformats.org/drawingml/2006/main">
            <a:r>
              <a:t>    "success": [</a:t>
            </a:r>
          </a:p>
          <a:p xmlns:a="http://schemas.openxmlformats.org/drawingml/2006/main">
            <a:r>
              <a:t>      "업무 완결 조건과 책임 범위 정의",</a:t>
            </a:r>
          </a:p>
          <a:p xmlns:a="http://schemas.openxmlformats.org/drawingml/2006/main">
            <a:r>
              <a:t>      "독립 평가셋·계약 산출물 추적"</a:t>
            </a:r>
          </a:p>
          <a:p xmlns:a="http://schemas.openxmlformats.org/drawingml/2006/main">
            <a:r>
              <a:t>    ],</a:t>
            </a:r>
          </a:p>
          <a:p xmlns:a="http://schemas.openxmlformats.org/drawingml/2006/main">
            <a:r>
              <a:t>    "risks": [</a:t>
            </a:r>
          </a:p>
          <a:p xmlns:a="http://schemas.openxmlformats.org/drawingml/2006/main">
            <a:r>
              <a:t>      "감사에서 지적된 부정확·비일관 답변",</a:t>
            </a:r>
          </a:p>
          <a:p xmlns:a="http://schemas.openxmlformats.org/drawingml/2006/main">
            <a:r>
              <a:t>      "통합서비스 계획·계약 감독의 미비"</a:t>
            </a:r>
          </a:p>
          <a:p xmlns:a="http://schemas.openxmlformats.org/drawingml/2006/main">
            <a:r>
              <a:t>    ],</a:t>
            </a:r>
          </a:p>
          <a:p xmlns:a="http://schemas.openxmlformats.org/drawingml/2006/main">
            <a:r>
              <a:t>    "architecture": [</a:t>
            </a:r>
          </a:p>
          <a:p xmlns:a="http://schemas.openxmlformats.org/drawingml/2006/main">
            <a:r>
              <a:t>      "MyCity 안내",</a:t>
            </a:r>
          </a:p>
          <a:p xmlns:a="http://schemas.openxmlformats.org/drawingml/2006/main">
            <a:r>
              <a:t>      "AI 챗봇·포털",</a:t>
            </a:r>
          </a:p>
          <a:p xmlns:a="http://schemas.openxmlformats.org/drawingml/2006/main">
            <a:r>
              <a:t>      "공공 안내·응답 기록",</a:t>
            </a:r>
          </a:p>
          <a:p xmlns:a="http://schemas.openxmlformats.org/drawingml/2006/main">
            <a:r>
              <a:t>      "사업자·서비스 담당"</a:t>
            </a:r>
          </a:p>
          <a:p xmlns:a="http://schemas.openxmlformats.org/drawingml/2006/main">
            <a:r>
              <a:t>    ],</a:t>
            </a:r>
          </a:p>
          <a:p xmlns:a="http://schemas.openxmlformats.org/drawingml/2006/main">
            <a:r>
              <a:t>    "transfers": [</a:t>
            </a:r>
          </a:p>
          <a:p xmlns:a="http://schemas.openxmlformats.org/drawingml/2006/main">
            <a:r>
              <a:t>      "이용자 질문",</a:t>
            </a:r>
          </a:p>
          <a:p xmlns:a="http://schemas.openxmlformats.org/drawingml/2006/main">
            <a:r>
              <a:t>      "안내 자료",</a:t>
            </a:r>
          </a:p>
          <a:p xmlns:a="http://schemas.openxmlformats.org/drawingml/2006/main">
            <a:r>
              <a:t>      "챗봇 답변·연결",</a:t>
            </a:r>
          </a:p>
          <a:p xmlns:a="http://schemas.openxmlformats.org/drawingml/2006/main">
            <a:r>
              <a:t>      "피드백·감사 기록"</a:t>
            </a:r>
          </a:p>
          <a:p xmlns:a="http://schemas.openxmlformats.org/drawingml/2006/main">
            <a:r>
              <a:t>    ],</a:t>
            </a:r>
          </a:p>
          <a:p xmlns:a="http://schemas.openxmlformats.org/drawingml/2006/main">
            <a:r>
              <a:t>    "control": "OTI 반론을 함께 보존한 근거별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 MyCity 챗봇 감사 · 뉴욕시 감사기관 / 2025-12-30 https://comptroller.nyc.gov/reports/audit-report-on-the-new-york-city-office-of-technology-and-innovations-mycity-system/</a:t>
            </a:r>
          </a:p>
          <a:p xmlns:a="http://schemas.openxmlformats.org/drawingml/2006/main">
            <a:r>
              <a:t>홈페이지 https://heen1987-ops.github.io/TS-business-Plan-001/index.html?view=casebook&amp;case=AX13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"AX14",</a:t>
            </a:r>
          </a:p>
          <a:p xmlns:a="http://schemas.openxmlformats.org/drawingml/2006/main">
            <a:r>
              <a:t>    "title": "DHL Protex AI 안전 실증",</a:t>
            </a:r>
          </a:p>
          <a:p xmlns:a="http://schemas.openxmlformats.org/drawingml/2006/main">
            <a:r>
              <a:t>    "region": "해외",</a:t>
            </a:r>
          </a:p>
          <a:p xmlns:a="http://schemas.openxmlformats.org/drawingml/2006/main">
            <a:r>
              <a:t>    "country": "다국가",</a:t>
            </a:r>
          </a:p>
          <a:p xmlns:a="http://schemas.openxmlformats.org/drawingml/2006/main">
            <a:r>
              <a:t>    "result": "시범",</a:t>
            </a:r>
          </a:p>
          <a:p xmlns:a="http://schemas.openxmlformats.org/drawingml/2006/main">
            <a:r>
              <a:t>    "kind": "영상 기반 작업장 안전",</a:t>
            </a:r>
          </a:p>
          <a:p xmlns:a="http://schemas.openxmlformats.org/drawingml/2006/main">
            <a:r>
              <a:t>    "period": "PoC 소개",</a:t>
            </a:r>
          </a:p>
          <a:p xmlns:a="http://schemas.openxmlformats.org/drawingml/2006/main">
            <a:r>
              <a:t>    "sources": [</a:t>
            </a:r>
          </a:p>
          <a:p xmlns:a="http://schemas.openxmlformats.org/drawingml/2006/main">
            <a:r>
              <a:t>      "S-AX14"</a:t>
            </a:r>
          </a:p>
          <a:p xmlns:a="http://schemas.openxmlformats.org/drawingml/2006/main">
            <a:r>
              <a:t>    ],</a:t>
            </a:r>
          </a:p>
          <a:p xmlns:a="http://schemas.openxmlformats.org/drawingml/2006/main">
            <a:r>
              <a:t>    "keywords": [</a:t>
            </a:r>
          </a:p>
          <a:p xmlns:a="http://schemas.openxmlformats.org/drawingml/2006/main">
            <a:r>
              <a:t>      "영상 기반 작업장 안전"</a:t>
            </a:r>
          </a:p>
          <a:p xmlns:a="http://schemas.openxmlformats.org/drawingml/2006/main">
            <a:r>
              <a:t>    ],</a:t>
            </a:r>
          </a:p>
          <a:p xmlns:a="http://schemas.openxmlformats.org/drawingml/2006/main">
            <a:r>
              <a:t>    "fact": "영상의 위험 행동·상황 식별을 안전 담당자의 사전 조치에 활용하는 실증",</a:t>
            </a:r>
          </a:p>
          <a:p xmlns:a="http://schemas.openxmlformats.org/drawingml/2006/main">
            <a:r>
              <a:t>    "limit": "PoC 범위 · 전 사업장 확산·재해 감소 실측과 구분",</a:t>
            </a:r>
          </a:p>
          <a:p xmlns:a="http://schemas.openxmlformats.org/drawingml/2006/main">
            <a:r>
              <a:t>    "flow": [</a:t>
            </a:r>
          </a:p>
          <a:p xmlns:a="http://schemas.openxmlformats.org/drawingml/2006/main">
            <a:r>
              <a:t>      "현장 영상",</a:t>
            </a:r>
          </a:p>
          <a:p xmlns:a="http://schemas.openxmlformats.org/drawingml/2006/main">
            <a:r>
              <a:t>      "위험 이벤트 탐지",</a:t>
            </a:r>
          </a:p>
          <a:p xmlns:a="http://schemas.openxmlformats.org/drawingml/2006/main">
            <a:r>
              <a:t>      "안전 담당 검토",</a:t>
            </a:r>
          </a:p>
          <a:p xmlns:a="http://schemas.openxmlformats.org/drawingml/2006/main">
            <a:r>
              <a:t>      "예방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"탐지 결과에서 조치 완료까지의 책임 연결",</a:t>
            </a:r>
          </a:p>
          <a:p xmlns:a="http://schemas.openxmlformats.org/drawingml/2006/main">
            <a:r>
              <a:t>    "local": "검사·시험·시설 현장 위험 증거와 안전 직무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"현장 사건 사전·검토 큐·조치 이력",</a:t>
            </a:r>
          </a:p>
          <a:p xmlns:a="http://schemas.openxmlformats.org/drawingml/2006/main">
            <a:r>
              <a:t>    "test": "오탐·미탐·사람 가림·조치 누락 시나리오",</a:t>
            </a:r>
          </a:p>
          <a:p xmlns:a="http://schemas.openxmlformats.org/drawingml/2006/main">
            <a:r>
              <a:t>    "metric": "위험 확인시간 / 조치 이행률",</a:t>
            </a:r>
          </a:p>
          <a:p xmlns:a="http://schemas.openxmlformats.org/drawingml/2006/main">
            <a:r>
              <a:t>    "strategies": [</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"AX14",</a:t>
            </a:r>
          </a:p>
          <a:p xmlns:a="http://schemas.openxmlformats.org/drawingml/2006/main">
            <a:r>
              <a:t>    "canonicalId": "AX14",</a:t>
            </a:r>
          </a:p>
          <a:p xmlns:a="http://schemas.openxmlformats.org/drawingml/2006/main">
            <a:r>
              <a:t>    "purpose": "작업장 위험 상황의 조기 발견 지원",</a:t>
            </a:r>
          </a:p>
          <a:p xmlns:a="http://schemas.openxmlformats.org/drawingml/2006/main">
            <a:r>
              <a:t>    "users": "물류 현장·안전 담당자",</a:t>
            </a:r>
          </a:p>
          <a:p xmlns:a="http://schemas.openxmlformats.org/drawingml/2006/main">
            <a:r>
              <a:t>    "scope": [</a:t>
            </a:r>
          </a:p>
          <a:p xmlns:a="http://schemas.openxmlformats.org/drawingml/2006/main">
            <a:r>
              <a:t>      "영상 이벤트",</a:t>
            </a:r>
          </a:p>
          <a:p xmlns:a="http://schemas.openxmlformats.org/drawingml/2006/main">
            <a:r>
              <a:t>      "위험 분류",</a:t>
            </a:r>
          </a:p>
          <a:p xmlns:a="http://schemas.openxmlformats.org/drawingml/2006/main">
            <a:r>
              <a:t>      "개선 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"물류 현장 영상",</a:t>
            </a:r>
          </a:p>
          <a:p xmlns:a="http://schemas.openxmlformats.org/drawingml/2006/main">
            <a:r>
              <a:t>        "detail": "구역·작업시간·관측 목적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이벤트 / 위험 분류 / 개선 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"위험 행동 탐지",</a:t>
            </a:r>
          </a:p>
          <a:p xmlns:a="http://schemas.openxmlformats.org/drawingml/2006/main">
            <a:r>
              <a:t>        "detail": "위험 행동·근접 상황의 영상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담당자",</a:t>
            </a:r>
          </a:p>
          <a:p xmlns:a="http://schemas.openxmlformats.org/drawingml/2006/main">
            <a:r>
              <a:t>        "detail": "안전 담당자 확인 후 현장 개선 조치",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"이벤트·조치 기록",</a:t>
            </a:r>
          </a:p>
          <a:p xmlns:a="http://schemas.openxmlformats.org/drawingml/2006/main">
            <a:r>
              <a:t>        "detail": "영상 접근범위·구역 지도·사건 이력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"오탐·누락·조치 완료와 재발 여부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"현장 영상",</a:t>
            </a:r>
          </a:p>
          <a:p xmlns:a="http://schemas.openxmlformats.org/drawingml/2006/main">
            <a:r>
              <a:t>        "input": "구역·작업시간·관측 목적 지정",</a:t>
            </a:r>
          </a:p>
          <a:p xmlns:a="http://schemas.openxmlformats.org/drawingml/2006/main">
            <a:r>
              <a:t>        "process": "영상 접근범위·구역 지도·사건 이력 정리",</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"title": "위험 이벤트 탐지",</a:t>
            </a:r>
          </a:p>
          <a:p xmlns:a="http://schemas.openxmlformats.org/drawingml/2006/main">
            <a:r>
              <a:t>        "input": "영상",</a:t>
            </a:r>
          </a:p>
          <a:p xmlns:a="http://schemas.openxmlformats.org/drawingml/2006/main">
            <a:r>
              <a:t>        "process": "위험 행동·근접 상황의 영상 분석",</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"위험 후보",</a:t>
            </a:r>
          </a:p>
          <a:p xmlns:a="http://schemas.openxmlformats.org/drawingml/2006/main">
            <a:r>
              <a:t>        "process": "오경보·중요 미탐과 조치 이행 측정",</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"title": "예방 조치",</a:t>
            </a:r>
          </a:p>
          <a:p xmlns:a="http://schemas.openxmlformats.org/drawingml/2006/main">
            <a:r>
              <a:t>        "input": "검토 이벤트",</a:t>
            </a:r>
          </a:p>
          <a:p xmlns:a="http://schemas.openxmlformats.org/drawingml/2006/main">
            <a:r>
              <a:t>        "process":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"영상에서 위험 상황을 발견하고 담당자가 조치 등록",</a:t>
            </a:r>
          </a:p>
          <a:p xmlns:a="http://schemas.openxmlformats.org/drawingml/2006/main">
            <a:r>
              <a:t>      "exception": "가림·조명 변화·작업 동선 변경·비위험 행동",</a:t>
            </a:r>
          </a:p>
          <a:p xmlns:a="http://schemas.openxmlformats.org/drawingml/2006/main">
            <a:r>
              <a:t>      "evidence": "사건 표본별 오탐·미탐과 확인·조치 완료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"물류 현장·안전 담당자",</a:t>
            </a:r>
          </a:p>
          <a:p xmlns:a="http://schemas.openxmlformats.org/drawingml/2006/main">
            <a:r>
              <a:t>          "processing": "구역·작업시간·관측 목적 지정",</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"이벤트·조치 기록",</a:t>
            </a:r>
          </a:p>
          <a:p xmlns:a="http://schemas.openxmlformats.org/drawingml/2006/main">
            <a:r>
              <a:t>          "processing": "영상 접근범위·구역 지도·사건 이력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a:t>
            </a:r>
          </a:p>
          <a:p xmlns:a="http://schemas.openxmlformats.org/drawingml/2006/main">
            <a:r>
              <a:t>          "processing": "위험 행동·근접 상황의 영상 분석",</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이벤트",</a:t>
            </a:r>
          </a:p>
          <a:p xmlns:a="http://schemas.openxmlformats.org/drawingml/2006/main">
            <a:r>
              <a:t>          "processing":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"오탐·누락·조치 완료와 재발 여부 추적",</a:t>
            </a:r>
          </a:p>
          <a:p xmlns:a="http://schemas.openxmlformats.org/drawingml/2006/main">
            <a:r>
              <a:t>          "output": "사건 표본별 오탐·미탐과 확인·조치 완료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"오탐·누락·조치 완료와 재발 여부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"S-AX14",</a:t>
            </a:r>
          </a:p>
          <a:p xmlns:a="http://schemas.openxmlformats.org/drawingml/2006/main">
            <a:r>
              <a:t>        "title": "DHL Protex AI 안전 실증 · 사업자 기술 실증 소개 / 게시일 미표시",</a:t>
            </a:r>
          </a:p>
          <a:p xmlns:a="http://schemas.openxmlformats.org/drawingml/2006/main">
            <a:r>
              <a:t>        "url": "https://www.dhlfreight.com/nl-en/microsites/csi/computer-vision/logistics-use-cases/people-health-and-safety.html",</a:t>
            </a:r>
          </a:p>
          <a:p xmlns:a="http://schemas.openxmlformats.org/drawingml/2006/main">
            <a:r>
              <a:t>        "published": "PoC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"탐지 결과에서 조치 완료까지의 책임 연결",</a:t>
            </a:r>
          </a:p>
          <a:p xmlns:a="http://schemas.openxmlformats.org/drawingml/2006/main">
            <a:r>
              <a:t>    "local": "검사·시험·시설 현장 위험 증거와 안전 직무 연결",</a:t>
            </a:r>
          </a:p>
          <a:p xmlns:a="http://schemas.openxmlformats.org/drawingml/2006/main">
            <a:r>
              <a:t>    "sourceDetail": null,</a:t>
            </a:r>
          </a:p>
          <a:p xmlns:a="http://schemas.openxmlformats.org/drawingml/2006/main">
            <a:r>
              <a:t>    "narrative": [</a:t>
            </a:r>
          </a:p>
          <a:p xmlns:a="http://schemas.openxmlformats.org/drawingml/2006/main">
            <a:r>
              <a:t>      "물류 작업장의 영상에서 위험 행동·근접 상황을 선별해 안전 담당자의 예방 조치를 돕는 사례. 탐지 이후의 검토·조치 연결이 현장 적용의 핵심.",</a:t>
            </a:r>
          </a:p>
          <a:p xmlns:a="http://schemas.openxmlformats.org/drawingml/2006/main">
            <a:r>
              <a:t>      "구역·작업시간·영상 접근범위를 지정하고 위험 후보를 사건 단위로 저장하는 구조의 재구성. 담당자가 현장 상황을 확인해 개선 조치를 기록하고 재발 여부를 검토하는 흐름.",</a:t>
            </a:r>
          </a:p>
          <a:p xmlns:a="http://schemas.openxmlformats.org/drawingml/2006/main">
            <a:r>
              <a:t>      "TS 시설·사업장 적용에서 카메라 설치만으로 안전 효과를 주장하기 어려운 유형. 구역·작업별 오경보와 중요 미탐, 경보 확인·조치 시간, 조치 후 재발을 분리해 평가할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"현장 영상 접점",</a:t>
            </a:r>
          </a:p>
          <a:p xmlns:a="http://schemas.openxmlformats.org/drawingml/2006/main">
            <a:r>
              <a:t>          "layer": "이용 접점",</a:t>
            </a:r>
          </a:p>
          <a:p xmlns:a="http://schemas.openxmlformats.org/drawingml/2006/main">
            <a:r>
              <a:t>          "detail": "물류 현장·안전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"구역·작업 맥락",</a:t>
            </a:r>
          </a:p>
          <a:p xmlns:a="http://schemas.openxmlformats.org/drawingml/2006/main">
            <a:r>
              <a:t>          "layer": "업무 문맥",</a:t>
            </a:r>
          </a:p>
          <a:p xmlns:a="http://schemas.openxmlformats.org/drawingml/2006/main">
            <a:r>
              <a:t>          "detail": "구역·작업시간·관측 목적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"영상·이력 조회",</a:t>
            </a:r>
          </a:p>
          <a:p xmlns:a="http://schemas.openxmlformats.org/drawingml/2006/main">
            <a:r>
              <a:t>          "layer": "자료 조회",</a:t>
            </a:r>
          </a:p>
          <a:p xmlns:a="http://schemas.openxmlformats.org/drawingml/2006/main">
            <a:r>
              <a:t>          "detail": "영상",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행동 탐지",</a:t>
            </a:r>
          </a:p>
          <a:p xmlns:a="http://schemas.openxmlformats.org/drawingml/2006/main">
            <a:r>
              <a:t>          "layer": "핵심 처리",</a:t>
            </a:r>
          </a:p>
          <a:p xmlns:a="http://schemas.openxmlformats.org/drawingml/2006/main">
            <a:r>
              <a:t>          "detail": "위험 행동·근접 상황의 영상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"오경보·미탐 검사",</a:t>
            </a:r>
          </a:p>
          <a:p xmlns:a="http://schemas.openxmlformats.org/drawingml/2006/main">
            <a:r>
              <a:t>          "layer": "결과 검증",</a:t>
            </a:r>
          </a:p>
          <a:p xmlns:a="http://schemas.openxmlformats.org/drawingml/2006/main">
            <a:r>
              <a:t>          "detail": "오경보·중요 미탐과 조치 이행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확인",</a:t>
            </a:r>
          </a:p>
          <a:p xmlns:a="http://schemas.openxmlformats.org/drawingml/2006/main">
            <a:r>
              <a:t>          "layer": "사람 확인",</a:t>
            </a:r>
          </a:p>
          <a:p xmlns:a="http://schemas.openxmlformats.org/drawingml/2006/main">
            <a:r>
              <a:t>          "detail": "영상에서 위험 상황을 발견하고 담당자가 조치 등록",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"개선 조치 인계",</a:t>
            </a:r>
          </a:p>
          <a:p xmlns:a="http://schemas.openxmlformats.org/drawingml/2006/main">
            <a:r>
              <a:t>          "layer": "업무 연결",</a:t>
            </a:r>
          </a:p>
          <a:p xmlns:a="http://schemas.openxmlformats.org/drawingml/2006/main">
            <a:r>
              <a:t>          "detail": "안전 담당자 확인 후 현장 개선 조치",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"재발·조치 추적",</a:t>
            </a:r>
          </a:p>
          <a:p xmlns:a="http://schemas.openxmlformats.org/drawingml/2006/main">
            <a:r>
              <a:t>          "layer": "운영 관측",</a:t>
            </a:r>
          </a:p>
          <a:p xmlns:a="http://schemas.openxmlformats.org/drawingml/2006/main">
            <a:r>
              <a:t>          "detail": "오탐·누락·조치 완료와 재발 여부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"영상·구역 지도",</a:t>
            </a:r>
          </a:p>
          <a:p xmlns:a="http://schemas.openxmlformats.org/drawingml/2006/main">
            <a:r>
              <a:t>          "layer": "데이터 원천",</a:t>
            </a:r>
          </a:p>
          <a:p xmlns:a="http://schemas.openxmlformats.org/drawingml/2006/main">
            <a:r>
              <a:t>          "detail": "이벤트·조치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"사건·위치 정합화",</a:t>
            </a:r>
          </a:p>
          <a:p xmlns:a="http://schemas.openxmlformats.org/drawingml/2006/main">
            <a:r>
              <a:t>          "layer": "준비·갱신",</a:t>
            </a:r>
          </a:p>
          <a:p xmlns:a="http://schemas.openxmlformats.org/drawingml/2006/main">
            <a:r>
              <a:t>          "detail": "영상 접근범위·구역 지도·사건 이력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"위험·조치 이력",</a:t>
            </a:r>
          </a:p>
          <a:p xmlns:a="http://schemas.openxmlformats.org/drawingml/2006/main">
            <a:r>
              <a:t>          "layer": "상태·지식 저장",</a:t>
            </a:r>
          </a:p>
          <a:p xmlns:a="http://schemas.openxmlformats.org/drawingml/2006/main">
            <a:r>
              <a:t>          "detail": "사건 표본별 오탐·미탐과 확인·조치 완료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 열람정책",</a:t>
            </a:r>
          </a:p>
          <a:p xmlns:a="http://schemas.openxmlformats.org/drawingml/2006/main">
            <a:r>
              <a:t>          "layer": "권한·정책",</a:t>
            </a:r>
          </a:p>
          <a:p xmlns:a="http://schemas.openxmlformats.org/drawingml/2006/main">
            <a:r>
              <a:t>          "detail": "가림·조명 변화·작업 동선 변경·비위험 행동",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"현장 영상 → 위험 이벤트 탐지 → 안전 담당 검토 → 예방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"이벤트·조치 기록",</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"검토 이벤트",</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 열람정책",</a:t>
            </a:r>
          </a:p>
          <a:p xmlns:a="http://schemas.openxmlformats.org/drawingml/2006/main">
            <a:r>
              <a:t>          "check": "오경보·중요 미탐과 조치 이행 측정"</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"예방 조치",</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"오탐·누락·조치 완료와 재발 여부 추적",</a:t>
            </a:r>
          </a:p>
          <a:p xmlns:a="http://schemas.openxmlformats.org/drawingml/2006/main">
            <a:r>
              <a:t>          "check": "오탐·누락·조치 완료와 재발 여부 추적"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"작업장 위험 상황의 조기 발견 지원 / 영상 이벤트·위험 분류·개선 조치",</a:t>
            </a:r>
          </a:p>
          <a:p xmlns:a="http://schemas.openxmlformats.org/drawingml/2006/main">
            <a:r>
              <a:t>        "extension": "검사·시험·시설 현장 위험 증거와 안전 직무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"가림·조명 변화·작업 동선 변경·비위험 행동",</a:t>
            </a:r>
          </a:p>
          <a:p xmlns:a="http://schemas.openxmlformats.org/drawingml/2006/main">
            <a:r>
              <a:t>        "hold": "오경보·중요 미탐과 조치 이행 측정",</a:t>
            </a:r>
          </a:p>
          <a:p xmlns:a="http://schemas.openxmlformats.org/drawingml/2006/main">
            <a:r>
              <a:t>        "recovery": "오탐·누락·조치 완료와 재발 여부 추적",</a:t>
            </a:r>
          </a:p>
          <a:p xmlns:a="http://schemas.openxmlformats.org/drawingml/2006/main">
            <a:r>
              <a:t>        "evidence": "사건 표본별 오탐·미탐과 확인·조치 완료 이력"</a:t>
            </a:r>
          </a:p>
          <a:p xmlns:a="http://schemas.openxmlformats.org/drawingml/2006/main">
            <a:r>
              <a:t>      },</a:t>
            </a:r>
          </a:p>
          <a:p xmlns:a="http://schemas.openxmlformats.org/drawingml/2006/main">
            <a:r>
              <a:t>      "data": {</a:t>
            </a:r>
          </a:p>
          <a:p xmlns:a="http://schemas.openxmlformats.org/drawingml/2006/main">
            <a:r>
              <a:t>        "source": "이벤트·조치 기록",</a:t>
            </a:r>
          </a:p>
          <a:p xmlns:a="http://schemas.openxmlformats.org/drawingml/2006/main">
            <a:r>
              <a:t>        "prepare": "영상 접근범위·구역 지도·사건 이력 정리",</a:t>
            </a:r>
          </a:p>
          <a:p xmlns:a="http://schemas.openxmlformats.org/drawingml/2006/main">
            <a:r>
              <a:t>        "output": "영상",</a:t>
            </a:r>
          </a:p>
          <a:p xmlns:a="http://schemas.openxmlformats.org/drawingml/2006/main">
            <a:r>
              <a:t>        "refresh": "오탐·누락·조치 완료와 재발 여부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"AX14",</a:t>
            </a:r>
          </a:p>
          <a:p xmlns:a="http://schemas.openxmlformats.org/drawingml/2006/main">
            <a:r>
              <a:t>    "success": [</a:t>
            </a:r>
          </a:p>
          <a:p xmlns:a="http://schemas.openxmlformats.org/drawingml/2006/main">
            <a:r>
              <a:t>      "현장 영상에서 위험 이벤트 선별",</a:t>
            </a:r>
          </a:p>
          <a:p xmlns:a="http://schemas.openxmlformats.org/drawingml/2006/main">
            <a:r>
              <a:t>      "안전 담당자의 예방 조치 연결"</a:t>
            </a:r>
          </a:p>
          <a:p xmlns:a="http://schemas.openxmlformats.org/drawingml/2006/main">
            <a:r>
              <a:t>    ],</a:t>
            </a:r>
          </a:p>
          <a:p xmlns:a="http://schemas.openxmlformats.org/drawingml/2006/main">
            <a:r>
              <a:t>    "risks": [</a:t>
            </a:r>
          </a:p>
          <a:p xmlns:a="http://schemas.openxmlformats.org/drawingml/2006/main">
            <a:r>
              <a:t>      "카메라 위치·작업 유형별 편차",</a:t>
            </a:r>
          </a:p>
          <a:p xmlns:a="http://schemas.openxmlformats.org/drawingml/2006/main">
            <a:r>
              <a:t>      "실증 탐지와 실제 재해 감소의 차이"</a:t>
            </a:r>
          </a:p>
          <a:p xmlns:a="http://schemas.openxmlformats.org/drawingml/2006/main">
            <a:r>
              <a:t>    ],</a:t>
            </a:r>
          </a:p>
          <a:p xmlns:a="http://schemas.openxmlformats.org/drawingml/2006/main">
            <a:r>
              <a:t>    "architecture": [</a:t>
            </a:r>
          </a:p>
          <a:p xmlns:a="http://schemas.openxmlformats.org/drawingml/2006/main">
            <a:r>
              <a:t>      "물류 현장 영상",</a:t>
            </a:r>
          </a:p>
          <a:p xmlns:a="http://schemas.openxmlformats.org/drawingml/2006/main">
            <a:r>
              <a:t>      "위험 행동 탐지",</a:t>
            </a:r>
          </a:p>
          <a:p xmlns:a="http://schemas.openxmlformats.org/drawingml/2006/main">
            <a:r>
              <a:t>      "이벤트·조치 기록",</a:t>
            </a:r>
          </a:p>
          <a:p xmlns:a="http://schemas.openxmlformats.org/drawingml/2006/main">
            <a:r>
              <a:t>      "안전 담당자"</a:t>
            </a:r>
          </a:p>
          <a:p xmlns:a="http://schemas.openxmlformats.org/drawingml/2006/main">
            <a:r>
              <a:t>    ],</a:t>
            </a:r>
          </a:p>
          <a:p xmlns:a="http://schemas.openxmlformats.org/drawingml/2006/main">
            <a:r>
              <a:t>    "transfers": [</a:t>
            </a:r>
          </a:p>
          <a:p xmlns:a="http://schemas.openxmlformats.org/drawingml/2006/main">
            <a:r>
              <a:t>      "영상",</a:t>
            </a:r>
          </a:p>
          <a:p xmlns:a="http://schemas.openxmlformats.org/drawingml/2006/main">
            <a:r>
              <a:t>      "위험 후보",</a:t>
            </a:r>
          </a:p>
          <a:p xmlns:a="http://schemas.openxmlformats.org/drawingml/2006/main">
            <a:r>
              <a:t>      "검토 이벤트",</a:t>
            </a:r>
          </a:p>
          <a:p xmlns:a="http://schemas.openxmlformats.org/drawingml/2006/main">
            <a:r>
              <a:t>      "예방 조치"</a:t>
            </a:r>
          </a:p>
          <a:p xmlns:a="http://schemas.openxmlformats.org/drawingml/2006/main">
            <a:r>
              <a:t>    ],</a:t>
            </a:r>
          </a:p>
          <a:p xmlns:a="http://schemas.openxmlformats.org/drawingml/2006/main">
            <a:r>
              <a:t>    "control": "오경보·중요 미탐과 조치 이행 측정",</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DHL Protex AI 안전 실증 · 사업자 기술 실증 소개 / 게시일 미표시 https://www.dhlfreight.com/nl-en/microsites/csi/computer-vision/logistics-use-cases/people-health-and-safety.html</a:t>
            </a:r>
          </a:p>
          <a:p xmlns:a="http://schemas.openxmlformats.org/drawingml/2006/main">
            <a:r>
              <a:t>홈페이지 https://heen1987-ops.github.io/TS-business-Plan-001/index.html?view=casebook&amp;case=AX14</a:t>
            </a:r>
          </a:p>
          <a:p xmlns:a="http://schemas.openxmlformats.org/drawingml/2006/main">
            <a:r>
              <a:t>한계: PoC 범위 · 전 사업장 확산·재해 감소 실측과 구분</a:t>
            </a:r>
          </a:p>
          <a:p xmlns:a="http://schemas.openxmlformats.org/drawingml/2006/main">
            <a:r>
              <a:t>실패 위험: 카메라 위치·작업 유형별 편차 / 실증 탐지와 실제 재해 감소의 차이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"AX14",</a:t>
            </a:r>
          </a:p>
          <a:p xmlns:a="http://schemas.openxmlformats.org/drawingml/2006/main">
            <a:r>
              <a:t>    "title": "DHL Protex AI 안전 실증",</a:t>
            </a:r>
          </a:p>
          <a:p xmlns:a="http://schemas.openxmlformats.org/drawingml/2006/main">
            <a:r>
              <a:t>    "region": "해외",</a:t>
            </a:r>
          </a:p>
          <a:p xmlns:a="http://schemas.openxmlformats.org/drawingml/2006/main">
            <a:r>
              <a:t>    "country": "다국가",</a:t>
            </a:r>
          </a:p>
          <a:p xmlns:a="http://schemas.openxmlformats.org/drawingml/2006/main">
            <a:r>
              <a:t>    "result": "시범",</a:t>
            </a:r>
          </a:p>
          <a:p xmlns:a="http://schemas.openxmlformats.org/drawingml/2006/main">
            <a:r>
              <a:t>    "kind": "영상 기반 작업장 안전",</a:t>
            </a:r>
          </a:p>
          <a:p xmlns:a="http://schemas.openxmlformats.org/drawingml/2006/main">
            <a:r>
              <a:t>    "period": "PoC 소개",</a:t>
            </a:r>
          </a:p>
          <a:p xmlns:a="http://schemas.openxmlformats.org/drawingml/2006/main">
            <a:r>
              <a:t>    "sources": [</a:t>
            </a:r>
          </a:p>
          <a:p xmlns:a="http://schemas.openxmlformats.org/drawingml/2006/main">
            <a:r>
              <a:t>      "S-AX14"</a:t>
            </a:r>
          </a:p>
          <a:p xmlns:a="http://schemas.openxmlformats.org/drawingml/2006/main">
            <a:r>
              <a:t>    ],</a:t>
            </a:r>
          </a:p>
          <a:p xmlns:a="http://schemas.openxmlformats.org/drawingml/2006/main">
            <a:r>
              <a:t>    "keywords": [</a:t>
            </a:r>
          </a:p>
          <a:p xmlns:a="http://schemas.openxmlformats.org/drawingml/2006/main">
            <a:r>
              <a:t>      "영상 기반 작업장 안전"</a:t>
            </a:r>
          </a:p>
          <a:p xmlns:a="http://schemas.openxmlformats.org/drawingml/2006/main">
            <a:r>
              <a:t>    ],</a:t>
            </a:r>
          </a:p>
          <a:p xmlns:a="http://schemas.openxmlformats.org/drawingml/2006/main">
            <a:r>
              <a:t>    "fact": "영상의 위험 행동·상황 식별을 안전 담당자의 사전 조치에 활용하는 실증",</a:t>
            </a:r>
          </a:p>
          <a:p xmlns:a="http://schemas.openxmlformats.org/drawingml/2006/main">
            <a:r>
              <a:t>    "limit": "PoC 범위 · 전 사업장 확산·재해 감소 실측과 구분",</a:t>
            </a:r>
          </a:p>
          <a:p xmlns:a="http://schemas.openxmlformats.org/drawingml/2006/main">
            <a:r>
              <a:t>    "flow": [</a:t>
            </a:r>
          </a:p>
          <a:p xmlns:a="http://schemas.openxmlformats.org/drawingml/2006/main">
            <a:r>
              <a:t>      "현장 영상",</a:t>
            </a:r>
          </a:p>
          <a:p xmlns:a="http://schemas.openxmlformats.org/drawingml/2006/main">
            <a:r>
              <a:t>      "위험 이벤트 탐지",</a:t>
            </a:r>
          </a:p>
          <a:p xmlns:a="http://schemas.openxmlformats.org/drawingml/2006/main">
            <a:r>
              <a:t>      "안전 담당 검토",</a:t>
            </a:r>
          </a:p>
          <a:p xmlns:a="http://schemas.openxmlformats.org/drawingml/2006/main">
            <a:r>
              <a:t>      "예방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"탐지 결과에서 조치 완료까지의 책임 연결",</a:t>
            </a:r>
          </a:p>
          <a:p xmlns:a="http://schemas.openxmlformats.org/drawingml/2006/main">
            <a:r>
              <a:t>    "local": "검사·시험·시설 현장 위험 증거와 안전 직무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"현장 사건 사전·검토 큐·조치 이력",</a:t>
            </a:r>
          </a:p>
          <a:p xmlns:a="http://schemas.openxmlformats.org/drawingml/2006/main">
            <a:r>
              <a:t>    "test": "오탐·미탐·사람 가림·조치 누락 시나리오",</a:t>
            </a:r>
          </a:p>
          <a:p xmlns:a="http://schemas.openxmlformats.org/drawingml/2006/main">
            <a:r>
              <a:t>    "metric": "위험 확인시간 / 조치 이행률",</a:t>
            </a:r>
          </a:p>
          <a:p xmlns:a="http://schemas.openxmlformats.org/drawingml/2006/main">
            <a:r>
              <a:t>    "strategies": [</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"AX14",</a:t>
            </a:r>
          </a:p>
          <a:p xmlns:a="http://schemas.openxmlformats.org/drawingml/2006/main">
            <a:r>
              <a:t>    "canonicalId": "AX14",</a:t>
            </a:r>
          </a:p>
          <a:p xmlns:a="http://schemas.openxmlformats.org/drawingml/2006/main">
            <a:r>
              <a:t>    "purpose": "작업장 위험 상황의 조기 발견 지원",</a:t>
            </a:r>
          </a:p>
          <a:p xmlns:a="http://schemas.openxmlformats.org/drawingml/2006/main">
            <a:r>
              <a:t>    "users": "물류 현장·안전 담당자",</a:t>
            </a:r>
          </a:p>
          <a:p xmlns:a="http://schemas.openxmlformats.org/drawingml/2006/main">
            <a:r>
              <a:t>    "scope": [</a:t>
            </a:r>
          </a:p>
          <a:p xmlns:a="http://schemas.openxmlformats.org/drawingml/2006/main">
            <a:r>
              <a:t>      "영상 이벤트",</a:t>
            </a:r>
          </a:p>
          <a:p xmlns:a="http://schemas.openxmlformats.org/drawingml/2006/main">
            <a:r>
              <a:t>      "위험 분류",</a:t>
            </a:r>
          </a:p>
          <a:p xmlns:a="http://schemas.openxmlformats.org/drawingml/2006/main">
            <a:r>
              <a:t>      "개선 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"물류 현장 영상",</a:t>
            </a:r>
          </a:p>
          <a:p xmlns:a="http://schemas.openxmlformats.org/drawingml/2006/main">
            <a:r>
              <a:t>        "detail": "구역·작업시간·관측 목적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이벤트 / 위험 분류 / 개선 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"위험 행동 탐지",</a:t>
            </a:r>
          </a:p>
          <a:p xmlns:a="http://schemas.openxmlformats.org/drawingml/2006/main">
            <a:r>
              <a:t>        "detail": "위험 행동·근접 상황의 영상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담당자",</a:t>
            </a:r>
          </a:p>
          <a:p xmlns:a="http://schemas.openxmlformats.org/drawingml/2006/main">
            <a:r>
              <a:t>        "detail": "안전 담당자 확인 후 현장 개선 조치",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"이벤트·조치 기록",</a:t>
            </a:r>
          </a:p>
          <a:p xmlns:a="http://schemas.openxmlformats.org/drawingml/2006/main">
            <a:r>
              <a:t>        "detail": "영상 접근범위·구역 지도·사건 이력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"오탐·누락·조치 완료와 재발 여부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"현장 영상",</a:t>
            </a:r>
          </a:p>
          <a:p xmlns:a="http://schemas.openxmlformats.org/drawingml/2006/main">
            <a:r>
              <a:t>        "input": "구역·작업시간·관측 목적 지정",</a:t>
            </a:r>
          </a:p>
          <a:p xmlns:a="http://schemas.openxmlformats.org/drawingml/2006/main">
            <a:r>
              <a:t>        "process": "영상 접근범위·구역 지도·사건 이력 정리",</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"title": "위험 이벤트 탐지",</a:t>
            </a:r>
          </a:p>
          <a:p xmlns:a="http://schemas.openxmlformats.org/drawingml/2006/main">
            <a:r>
              <a:t>        "input": "영상",</a:t>
            </a:r>
          </a:p>
          <a:p xmlns:a="http://schemas.openxmlformats.org/drawingml/2006/main">
            <a:r>
              <a:t>        "process": "위험 행동·근접 상황의 영상 분석",</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"위험 후보",</a:t>
            </a:r>
          </a:p>
          <a:p xmlns:a="http://schemas.openxmlformats.org/drawingml/2006/main">
            <a:r>
              <a:t>        "process": "오경보·중요 미탐과 조치 이행 측정",</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"title": "예방 조치",</a:t>
            </a:r>
          </a:p>
          <a:p xmlns:a="http://schemas.openxmlformats.org/drawingml/2006/main">
            <a:r>
              <a:t>        "input": "검토 이벤트",</a:t>
            </a:r>
          </a:p>
          <a:p xmlns:a="http://schemas.openxmlformats.org/drawingml/2006/main">
            <a:r>
              <a:t>        "process":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"영상에서 위험 상황을 발견하고 담당자가 조치 등록",</a:t>
            </a:r>
          </a:p>
          <a:p xmlns:a="http://schemas.openxmlformats.org/drawingml/2006/main">
            <a:r>
              <a:t>      "exception": "가림·조명 변화·작업 동선 변경·비위험 행동",</a:t>
            </a:r>
          </a:p>
          <a:p xmlns:a="http://schemas.openxmlformats.org/drawingml/2006/main">
            <a:r>
              <a:t>      "evidence": "사건 표본별 오탐·미탐과 확인·조치 완료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"물류 현장·안전 담당자",</a:t>
            </a:r>
          </a:p>
          <a:p xmlns:a="http://schemas.openxmlformats.org/drawingml/2006/main">
            <a:r>
              <a:t>          "processing": "구역·작업시간·관측 목적 지정",</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"이벤트·조치 기록",</a:t>
            </a:r>
          </a:p>
          <a:p xmlns:a="http://schemas.openxmlformats.org/drawingml/2006/main">
            <a:r>
              <a:t>          "processing": "영상 접근범위·구역 지도·사건 이력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a:t>
            </a:r>
          </a:p>
          <a:p xmlns:a="http://schemas.openxmlformats.org/drawingml/2006/main">
            <a:r>
              <a:t>          "processing": "위험 행동·근접 상황의 영상 분석",</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이벤트",</a:t>
            </a:r>
          </a:p>
          <a:p xmlns:a="http://schemas.openxmlformats.org/drawingml/2006/main">
            <a:r>
              <a:t>          "processing":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"오탐·누락·조치 완료와 재발 여부 추적",</a:t>
            </a:r>
          </a:p>
          <a:p xmlns:a="http://schemas.openxmlformats.org/drawingml/2006/main">
            <a:r>
              <a:t>          "output": "사건 표본별 오탐·미탐과 확인·조치 완료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"오탐·누락·조치 완료와 재발 여부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"S-AX14",</a:t>
            </a:r>
          </a:p>
          <a:p xmlns:a="http://schemas.openxmlformats.org/drawingml/2006/main">
            <a:r>
              <a:t>        "title": "DHL Protex AI 안전 실증 · 사업자 기술 실증 소개 / 게시일 미표시",</a:t>
            </a:r>
          </a:p>
          <a:p xmlns:a="http://schemas.openxmlformats.org/drawingml/2006/main">
            <a:r>
              <a:t>        "url": "https://www.dhlfreight.com/nl-en/microsites/csi/computer-vision/logistics-use-cases/people-health-and-safety.html",</a:t>
            </a:r>
          </a:p>
          <a:p xmlns:a="http://schemas.openxmlformats.org/drawingml/2006/main">
            <a:r>
              <a:t>        "published": "PoC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"탐지 결과에서 조치 완료까지의 책임 연결",</a:t>
            </a:r>
          </a:p>
          <a:p xmlns:a="http://schemas.openxmlformats.org/drawingml/2006/main">
            <a:r>
              <a:t>    "local": "검사·시험·시설 현장 위험 증거와 안전 직무 연결",</a:t>
            </a:r>
          </a:p>
          <a:p xmlns:a="http://schemas.openxmlformats.org/drawingml/2006/main">
            <a:r>
              <a:t>    "sourceDetail": null,</a:t>
            </a:r>
          </a:p>
          <a:p xmlns:a="http://schemas.openxmlformats.org/drawingml/2006/main">
            <a:r>
              <a:t>    "narrative": [</a:t>
            </a:r>
          </a:p>
          <a:p xmlns:a="http://schemas.openxmlformats.org/drawingml/2006/main">
            <a:r>
              <a:t>      "물류 작업장의 영상에서 위험 행동·근접 상황을 선별해 안전 담당자의 예방 조치를 돕는 사례. 탐지 이후의 검토·조치 연결이 현장 적용의 핵심.",</a:t>
            </a:r>
          </a:p>
          <a:p xmlns:a="http://schemas.openxmlformats.org/drawingml/2006/main">
            <a:r>
              <a:t>      "구역·작업시간·영상 접근범위를 지정하고 위험 후보를 사건 단위로 저장하는 구조의 재구성. 담당자가 현장 상황을 확인해 개선 조치를 기록하고 재발 여부를 검토하는 흐름.",</a:t>
            </a:r>
          </a:p>
          <a:p xmlns:a="http://schemas.openxmlformats.org/drawingml/2006/main">
            <a:r>
              <a:t>      "TS 시설·사업장 적용에서 카메라 설치만으로 안전 효과를 주장하기 어려운 유형. 구역·작업별 오경보와 중요 미탐, 경보 확인·조치 시간, 조치 후 재발을 분리해 평가할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"현장 영상 접점",</a:t>
            </a:r>
          </a:p>
          <a:p xmlns:a="http://schemas.openxmlformats.org/drawingml/2006/main">
            <a:r>
              <a:t>          "layer": "이용 접점",</a:t>
            </a:r>
          </a:p>
          <a:p xmlns:a="http://schemas.openxmlformats.org/drawingml/2006/main">
            <a:r>
              <a:t>          "detail": "물류 현장·안전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"구역·작업 맥락",</a:t>
            </a:r>
          </a:p>
          <a:p xmlns:a="http://schemas.openxmlformats.org/drawingml/2006/main">
            <a:r>
              <a:t>          "layer": "업무 문맥",</a:t>
            </a:r>
          </a:p>
          <a:p xmlns:a="http://schemas.openxmlformats.org/drawingml/2006/main">
            <a:r>
              <a:t>          "detail": "구역·작업시간·관측 목적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"영상·이력 조회",</a:t>
            </a:r>
          </a:p>
          <a:p xmlns:a="http://schemas.openxmlformats.org/drawingml/2006/main">
            <a:r>
              <a:t>          "layer": "자료 조회",</a:t>
            </a:r>
          </a:p>
          <a:p xmlns:a="http://schemas.openxmlformats.org/drawingml/2006/main">
            <a:r>
              <a:t>          "detail": "영상",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행동 탐지",</a:t>
            </a:r>
          </a:p>
          <a:p xmlns:a="http://schemas.openxmlformats.org/drawingml/2006/main">
            <a:r>
              <a:t>          "layer": "핵심 처리",</a:t>
            </a:r>
          </a:p>
          <a:p xmlns:a="http://schemas.openxmlformats.org/drawingml/2006/main">
            <a:r>
              <a:t>          "detail": "위험 행동·근접 상황의 영상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"오경보·미탐 검사",</a:t>
            </a:r>
          </a:p>
          <a:p xmlns:a="http://schemas.openxmlformats.org/drawingml/2006/main">
            <a:r>
              <a:t>          "layer": "결과 검증",</a:t>
            </a:r>
          </a:p>
          <a:p xmlns:a="http://schemas.openxmlformats.org/drawingml/2006/main">
            <a:r>
              <a:t>          "detail": "오경보·중요 미탐과 조치 이행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확인",</a:t>
            </a:r>
          </a:p>
          <a:p xmlns:a="http://schemas.openxmlformats.org/drawingml/2006/main">
            <a:r>
              <a:t>          "layer": "사람 확인",</a:t>
            </a:r>
          </a:p>
          <a:p xmlns:a="http://schemas.openxmlformats.org/drawingml/2006/main">
            <a:r>
              <a:t>          "detail": "영상에서 위험 상황을 발견하고 담당자가 조치 등록",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"개선 조치 인계",</a:t>
            </a:r>
          </a:p>
          <a:p xmlns:a="http://schemas.openxmlformats.org/drawingml/2006/main">
            <a:r>
              <a:t>          "layer": "업무 연결",</a:t>
            </a:r>
          </a:p>
          <a:p xmlns:a="http://schemas.openxmlformats.org/drawingml/2006/main">
            <a:r>
              <a:t>          "detail": "안전 담당자 확인 후 현장 개선 조치",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"재발·조치 추적",</a:t>
            </a:r>
          </a:p>
          <a:p xmlns:a="http://schemas.openxmlformats.org/drawingml/2006/main">
            <a:r>
              <a:t>          "layer": "운영 관측",</a:t>
            </a:r>
          </a:p>
          <a:p xmlns:a="http://schemas.openxmlformats.org/drawingml/2006/main">
            <a:r>
              <a:t>          "detail": "오탐·누락·조치 완료와 재발 여부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"영상·구역 지도",</a:t>
            </a:r>
          </a:p>
          <a:p xmlns:a="http://schemas.openxmlformats.org/drawingml/2006/main">
            <a:r>
              <a:t>          "layer": "데이터 원천",</a:t>
            </a:r>
          </a:p>
          <a:p xmlns:a="http://schemas.openxmlformats.org/drawingml/2006/main">
            <a:r>
              <a:t>          "detail": "이벤트·조치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"사건·위치 정합화",</a:t>
            </a:r>
          </a:p>
          <a:p xmlns:a="http://schemas.openxmlformats.org/drawingml/2006/main">
            <a:r>
              <a:t>          "layer": "준비·갱신",</a:t>
            </a:r>
          </a:p>
          <a:p xmlns:a="http://schemas.openxmlformats.org/drawingml/2006/main">
            <a:r>
              <a:t>          "detail": "영상 접근범위·구역 지도·사건 이력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"위험·조치 이력",</a:t>
            </a:r>
          </a:p>
          <a:p xmlns:a="http://schemas.openxmlformats.org/drawingml/2006/main">
            <a:r>
              <a:t>          "layer": "상태·지식 저장",</a:t>
            </a:r>
          </a:p>
          <a:p xmlns:a="http://schemas.openxmlformats.org/drawingml/2006/main">
            <a:r>
              <a:t>          "detail": "사건 표본별 오탐·미탐과 확인·조치 완료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 열람정책",</a:t>
            </a:r>
          </a:p>
          <a:p xmlns:a="http://schemas.openxmlformats.org/drawingml/2006/main">
            <a:r>
              <a:t>          "layer": "권한·정책",</a:t>
            </a:r>
          </a:p>
          <a:p xmlns:a="http://schemas.openxmlformats.org/drawingml/2006/main">
            <a:r>
              <a:t>          "detail": "가림·조명 변화·작업 동선 변경·비위험 행동",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"현장 영상 → 위험 이벤트 탐지 → 안전 담당 검토 → 예방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"이벤트·조치 기록",</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"검토 이벤트",</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 열람정책",</a:t>
            </a:r>
          </a:p>
          <a:p xmlns:a="http://schemas.openxmlformats.org/drawingml/2006/main">
            <a:r>
              <a:t>          "check": "오경보·중요 미탐과 조치 이행 측정"</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"예방 조치",</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"오탐·누락·조치 완료와 재발 여부 추적",</a:t>
            </a:r>
          </a:p>
          <a:p xmlns:a="http://schemas.openxmlformats.org/drawingml/2006/main">
            <a:r>
              <a:t>          "check": "오탐·누락·조치 완료와 재발 여부 추적"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"작업장 위험 상황의 조기 발견 지원 / 영상 이벤트·위험 분류·개선 조치",</a:t>
            </a:r>
          </a:p>
          <a:p xmlns:a="http://schemas.openxmlformats.org/drawingml/2006/main">
            <a:r>
              <a:t>        "extension": "검사·시험·시설 현장 위험 증거와 안전 직무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"가림·조명 변화·작업 동선 변경·비위험 행동",</a:t>
            </a:r>
          </a:p>
          <a:p xmlns:a="http://schemas.openxmlformats.org/drawingml/2006/main">
            <a:r>
              <a:t>        "hold": "오경보·중요 미탐과 조치 이행 측정",</a:t>
            </a:r>
          </a:p>
          <a:p xmlns:a="http://schemas.openxmlformats.org/drawingml/2006/main">
            <a:r>
              <a:t>        "recovery": "오탐·누락·조치 완료와 재발 여부 추적",</a:t>
            </a:r>
          </a:p>
          <a:p xmlns:a="http://schemas.openxmlformats.org/drawingml/2006/main">
            <a:r>
              <a:t>        "evidence": "사건 표본별 오탐·미탐과 확인·조치 완료 이력"</a:t>
            </a:r>
          </a:p>
          <a:p xmlns:a="http://schemas.openxmlformats.org/drawingml/2006/main">
            <a:r>
              <a:t>      },</a:t>
            </a:r>
          </a:p>
          <a:p xmlns:a="http://schemas.openxmlformats.org/drawingml/2006/main">
            <a:r>
              <a:t>      "data": {</a:t>
            </a:r>
          </a:p>
          <a:p xmlns:a="http://schemas.openxmlformats.org/drawingml/2006/main">
            <a:r>
              <a:t>        "source": "이벤트·조치 기록",</a:t>
            </a:r>
          </a:p>
          <a:p xmlns:a="http://schemas.openxmlformats.org/drawingml/2006/main">
            <a:r>
              <a:t>        "prepare": "영상 접근범위·구역 지도·사건 이력 정리",</a:t>
            </a:r>
          </a:p>
          <a:p xmlns:a="http://schemas.openxmlformats.org/drawingml/2006/main">
            <a:r>
              <a:t>        "output": "영상",</a:t>
            </a:r>
          </a:p>
          <a:p xmlns:a="http://schemas.openxmlformats.org/drawingml/2006/main">
            <a:r>
              <a:t>        "refresh": "오탐·누락·조치 완료와 재발 여부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"AX14",</a:t>
            </a:r>
          </a:p>
          <a:p xmlns:a="http://schemas.openxmlformats.org/drawingml/2006/main">
            <a:r>
              <a:t>    "success": [</a:t>
            </a:r>
          </a:p>
          <a:p xmlns:a="http://schemas.openxmlformats.org/drawingml/2006/main">
            <a:r>
              <a:t>      "현장 영상에서 위험 이벤트 선별",</a:t>
            </a:r>
          </a:p>
          <a:p xmlns:a="http://schemas.openxmlformats.org/drawingml/2006/main">
            <a:r>
              <a:t>      "안전 담당자의 예방 조치 연결"</a:t>
            </a:r>
          </a:p>
          <a:p xmlns:a="http://schemas.openxmlformats.org/drawingml/2006/main">
            <a:r>
              <a:t>    ],</a:t>
            </a:r>
          </a:p>
          <a:p xmlns:a="http://schemas.openxmlformats.org/drawingml/2006/main">
            <a:r>
              <a:t>    "risks": [</a:t>
            </a:r>
          </a:p>
          <a:p xmlns:a="http://schemas.openxmlformats.org/drawingml/2006/main">
            <a:r>
              <a:t>      "카메라 위치·작업 유형별 편차",</a:t>
            </a:r>
          </a:p>
          <a:p xmlns:a="http://schemas.openxmlformats.org/drawingml/2006/main">
            <a:r>
              <a:t>      "실증 탐지와 실제 재해 감소의 차이"</a:t>
            </a:r>
          </a:p>
          <a:p xmlns:a="http://schemas.openxmlformats.org/drawingml/2006/main">
            <a:r>
              <a:t>    ],</a:t>
            </a:r>
          </a:p>
          <a:p xmlns:a="http://schemas.openxmlformats.org/drawingml/2006/main">
            <a:r>
              <a:t>    "architecture": [</a:t>
            </a:r>
          </a:p>
          <a:p xmlns:a="http://schemas.openxmlformats.org/drawingml/2006/main">
            <a:r>
              <a:t>      "물류 현장 영상",</a:t>
            </a:r>
          </a:p>
          <a:p xmlns:a="http://schemas.openxmlformats.org/drawingml/2006/main">
            <a:r>
              <a:t>      "위험 행동 탐지",</a:t>
            </a:r>
          </a:p>
          <a:p xmlns:a="http://schemas.openxmlformats.org/drawingml/2006/main">
            <a:r>
              <a:t>      "이벤트·조치 기록",</a:t>
            </a:r>
          </a:p>
          <a:p xmlns:a="http://schemas.openxmlformats.org/drawingml/2006/main">
            <a:r>
              <a:t>      "안전 담당자"</a:t>
            </a:r>
          </a:p>
          <a:p xmlns:a="http://schemas.openxmlformats.org/drawingml/2006/main">
            <a:r>
              <a:t>    ],</a:t>
            </a:r>
          </a:p>
          <a:p xmlns:a="http://schemas.openxmlformats.org/drawingml/2006/main">
            <a:r>
              <a:t>    "transfers": [</a:t>
            </a:r>
          </a:p>
          <a:p xmlns:a="http://schemas.openxmlformats.org/drawingml/2006/main">
            <a:r>
              <a:t>      "영상",</a:t>
            </a:r>
          </a:p>
          <a:p xmlns:a="http://schemas.openxmlformats.org/drawingml/2006/main">
            <a:r>
              <a:t>      "위험 후보",</a:t>
            </a:r>
          </a:p>
          <a:p xmlns:a="http://schemas.openxmlformats.org/drawingml/2006/main">
            <a:r>
              <a:t>      "검토 이벤트",</a:t>
            </a:r>
          </a:p>
          <a:p xmlns:a="http://schemas.openxmlformats.org/drawingml/2006/main">
            <a:r>
              <a:t>      "예방 조치"</a:t>
            </a:r>
          </a:p>
          <a:p xmlns:a="http://schemas.openxmlformats.org/drawingml/2006/main">
            <a:r>
              <a:t>    ],</a:t>
            </a:r>
          </a:p>
          <a:p xmlns:a="http://schemas.openxmlformats.org/drawingml/2006/main">
            <a:r>
              <a:t>    "control": "오경보·중요 미탐과 조치 이행 측정",</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DHL Protex AI 안전 실증 · 사업자 기술 실증 소개 / 게시일 미표시 https://www.dhlfreight.com/nl-en/microsites/csi/computer-vision/logistics-use-cases/people-health-and-safety.html</a:t>
            </a:r>
          </a:p>
          <a:p xmlns:a="http://schemas.openxmlformats.org/drawingml/2006/main">
            <a:r>
              <a:t>홈페이지 https://heen1987-ops.github.io/TS-business-Plan-001/index.html?view=casebook&amp;case=AX14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"AX14",</a:t>
            </a:r>
          </a:p>
          <a:p xmlns:a="http://schemas.openxmlformats.org/drawingml/2006/main">
            <a:r>
              <a:t>    "title": "DHL Protex AI 안전 실증",</a:t>
            </a:r>
          </a:p>
          <a:p xmlns:a="http://schemas.openxmlformats.org/drawingml/2006/main">
            <a:r>
              <a:t>    "region": "해외",</a:t>
            </a:r>
          </a:p>
          <a:p xmlns:a="http://schemas.openxmlformats.org/drawingml/2006/main">
            <a:r>
              <a:t>    "country": "다국가",</a:t>
            </a:r>
          </a:p>
          <a:p xmlns:a="http://schemas.openxmlformats.org/drawingml/2006/main">
            <a:r>
              <a:t>    "result": "시범",</a:t>
            </a:r>
          </a:p>
          <a:p xmlns:a="http://schemas.openxmlformats.org/drawingml/2006/main">
            <a:r>
              <a:t>    "kind": "영상 기반 작업장 안전",</a:t>
            </a:r>
          </a:p>
          <a:p xmlns:a="http://schemas.openxmlformats.org/drawingml/2006/main">
            <a:r>
              <a:t>    "period": "PoC 소개",</a:t>
            </a:r>
          </a:p>
          <a:p xmlns:a="http://schemas.openxmlformats.org/drawingml/2006/main">
            <a:r>
              <a:t>    "sources": [</a:t>
            </a:r>
          </a:p>
          <a:p xmlns:a="http://schemas.openxmlformats.org/drawingml/2006/main">
            <a:r>
              <a:t>      "S-AX14"</a:t>
            </a:r>
          </a:p>
          <a:p xmlns:a="http://schemas.openxmlformats.org/drawingml/2006/main">
            <a:r>
              <a:t>    ],</a:t>
            </a:r>
          </a:p>
          <a:p xmlns:a="http://schemas.openxmlformats.org/drawingml/2006/main">
            <a:r>
              <a:t>    "keywords": [</a:t>
            </a:r>
          </a:p>
          <a:p xmlns:a="http://schemas.openxmlformats.org/drawingml/2006/main">
            <a:r>
              <a:t>      "영상 기반 작업장 안전"</a:t>
            </a:r>
          </a:p>
          <a:p xmlns:a="http://schemas.openxmlformats.org/drawingml/2006/main">
            <a:r>
              <a:t>    ],</a:t>
            </a:r>
          </a:p>
          <a:p xmlns:a="http://schemas.openxmlformats.org/drawingml/2006/main">
            <a:r>
              <a:t>    "fact": "영상의 위험 행동·상황 식별을 안전 담당자의 사전 조치에 활용하는 실증",</a:t>
            </a:r>
          </a:p>
          <a:p xmlns:a="http://schemas.openxmlformats.org/drawingml/2006/main">
            <a:r>
              <a:t>    "limit": "PoC 범위 · 전 사업장 확산·재해 감소 실측과 구분",</a:t>
            </a:r>
          </a:p>
          <a:p xmlns:a="http://schemas.openxmlformats.org/drawingml/2006/main">
            <a:r>
              <a:t>    "flow": [</a:t>
            </a:r>
          </a:p>
          <a:p xmlns:a="http://schemas.openxmlformats.org/drawingml/2006/main">
            <a:r>
              <a:t>      "현장 영상",</a:t>
            </a:r>
          </a:p>
          <a:p xmlns:a="http://schemas.openxmlformats.org/drawingml/2006/main">
            <a:r>
              <a:t>      "위험 이벤트 탐지",</a:t>
            </a:r>
          </a:p>
          <a:p xmlns:a="http://schemas.openxmlformats.org/drawingml/2006/main">
            <a:r>
              <a:t>      "안전 담당 검토",</a:t>
            </a:r>
          </a:p>
          <a:p xmlns:a="http://schemas.openxmlformats.org/drawingml/2006/main">
            <a:r>
              <a:t>      "예방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"탐지 결과에서 조치 완료까지의 책임 연결",</a:t>
            </a:r>
          </a:p>
          <a:p xmlns:a="http://schemas.openxmlformats.org/drawingml/2006/main">
            <a:r>
              <a:t>    "local": "검사·시험·시설 현장 위험 증거와 안전 직무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"현장 사건 사전·검토 큐·조치 이력",</a:t>
            </a:r>
          </a:p>
          <a:p xmlns:a="http://schemas.openxmlformats.org/drawingml/2006/main">
            <a:r>
              <a:t>    "test": "오탐·미탐·사람 가림·조치 누락 시나리오",</a:t>
            </a:r>
          </a:p>
          <a:p xmlns:a="http://schemas.openxmlformats.org/drawingml/2006/main">
            <a:r>
              <a:t>    "metric": "위험 확인시간 / 조치 이행률",</a:t>
            </a:r>
          </a:p>
          <a:p xmlns:a="http://schemas.openxmlformats.org/drawingml/2006/main">
            <a:r>
              <a:t>    "strategies": [</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"AX14",</a:t>
            </a:r>
          </a:p>
          <a:p xmlns:a="http://schemas.openxmlformats.org/drawingml/2006/main">
            <a:r>
              <a:t>    "canonicalId": "AX14",</a:t>
            </a:r>
          </a:p>
          <a:p xmlns:a="http://schemas.openxmlformats.org/drawingml/2006/main">
            <a:r>
              <a:t>    "purpose": "작업장 위험 상황의 조기 발견 지원",</a:t>
            </a:r>
          </a:p>
          <a:p xmlns:a="http://schemas.openxmlformats.org/drawingml/2006/main">
            <a:r>
              <a:t>    "users": "물류 현장·안전 담당자",</a:t>
            </a:r>
          </a:p>
          <a:p xmlns:a="http://schemas.openxmlformats.org/drawingml/2006/main">
            <a:r>
              <a:t>    "scope": [</a:t>
            </a:r>
          </a:p>
          <a:p xmlns:a="http://schemas.openxmlformats.org/drawingml/2006/main">
            <a:r>
              <a:t>      "영상 이벤트",</a:t>
            </a:r>
          </a:p>
          <a:p xmlns:a="http://schemas.openxmlformats.org/drawingml/2006/main">
            <a:r>
              <a:t>      "위험 분류",</a:t>
            </a:r>
          </a:p>
          <a:p xmlns:a="http://schemas.openxmlformats.org/drawingml/2006/main">
            <a:r>
              <a:t>      "개선 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"물류 현장 영상",</a:t>
            </a:r>
          </a:p>
          <a:p xmlns:a="http://schemas.openxmlformats.org/drawingml/2006/main">
            <a:r>
              <a:t>        "detail": "구역·작업시간·관측 목적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이벤트 / 위험 분류 / 개선 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"위험 행동 탐지",</a:t>
            </a:r>
          </a:p>
          <a:p xmlns:a="http://schemas.openxmlformats.org/drawingml/2006/main">
            <a:r>
              <a:t>        "detail": "위험 행동·근접 상황의 영상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담당자",</a:t>
            </a:r>
          </a:p>
          <a:p xmlns:a="http://schemas.openxmlformats.org/drawingml/2006/main">
            <a:r>
              <a:t>        "detail": "안전 담당자 확인 후 현장 개선 조치",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"이벤트·조치 기록",</a:t>
            </a:r>
          </a:p>
          <a:p xmlns:a="http://schemas.openxmlformats.org/drawingml/2006/main">
            <a:r>
              <a:t>        "detail": "영상 접근범위·구역 지도·사건 이력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"오탐·누락·조치 완료와 재발 여부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"현장 영상",</a:t>
            </a:r>
          </a:p>
          <a:p xmlns:a="http://schemas.openxmlformats.org/drawingml/2006/main">
            <a:r>
              <a:t>        "input": "구역·작업시간·관측 목적 지정",</a:t>
            </a:r>
          </a:p>
          <a:p xmlns:a="http://schemas.openxmlformats.org/drawingml/2006/main">
            <a:r>
              <a:t>        "process": "영상 접근범위·구역 지도·사건 이력 정리",</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"title": "위험 이벤트 탐지",</a:t>
            </a:r>
          </a:p>
          <a:p xmlns:a="http://schemas.openxmlformats.org/drawingml/2006/main">
            <a:r>
              <a:t>        "input": "영상",</a:t>
            </a:r>
          </a:p>
          <a:p xmlns:a="http://schemas.openxmlformats.org/drawingml/2006/main">
            <a:r>
              <a:t>        "process": "위험 행동·근접 상황의 영상 분석",</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"위험 후보",</a:t>
            </a:r>
          </a:p>
          <a:p xmlns:a="http://schemas.openxmlformats.org/drawingml/2006/main">
            <a:r>
              <a:t>        "process": "오경보·중요 미탐과 조치 이행 측정",</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"title": "예방 조치",</a:t>
            </a:r>
          </a:p>
          <a:p xmlns:a="http://schemas.openxmlformats.org/drawingml/2006/main">
            <a:r>
              <a:t>        "input": "검토 이벤트",</a:t>
            </a:r>
          </a:p>
          <a:p xmlns:a="http://schemas.openxmlformats.org/drawingml/2006/main">
            <a:r>
              <a:t>        "process":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"영상에서 위험 상황을 발견하고 담당자가 조치 등록",</a:t>
            </a:r>
          </a:p>
          <a:p xmlns:a="http://schemas.openxmlformats.org/drawingml/2006/main">
            <a:r>
              <a:t>      "exception": "가림·조명 변화·작업 동선 변경·비위험 행동",</a:t>
            </a:r>
          </a:p>
          <a:p xmlns:a="http://schemas.openxmlformats.org/drawingml/2006/main">
            <a:r>
              <a:t>      "evidence": "사건 표본별 오탐·미탐과 확인·조치 완료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"물류 현장·안전 담당자",</a:t>
            </a:r>
          </a:p>
          <a:p xmlns:a="http://schemas.openxmlformats.org/drawingml/2006/main">
            <a:r>
              <a:t>          "processing": "구역·작업시간·관측 목적 지정",</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"이벤트·조치 기록",</a:t>
            </a:r>
          </a:p>
          <a:p xmlns:a="http://schemas.openxmlformats.org/drawingml/2006/main">
            <a:r>
              <a:t>          "processing": "영상 접근범위·구역 지도·사건 이력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a:t>
            </a:r>
          </a:p>
          <a:p xmlns:a="http://schemas.openxmlformats.org/drawingml/2006/main">
            <a:r>
              <a:t>          "processing": "위험 행동·근접 상황의 영상 분석",</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이벤트",</a:t>
            </a:r>
          </a:p>
          <a:p xmlns:a="http://schemas.openxmlformats.org/drawingml/2006/main">
            <a:r>
              <a:t>          "processing":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"오탐·누락·조치 완료와 재발 여부 추적",</a:t>
            </a:r>
          </a:p>
          <a:p xmlns:a="http://schemas.openxmlformats.org/drawingml/2006/main">
            <a:r>
              <a:t>          "output": "사건 표본별 오탐·미탐과 확인·조치 완료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"오탐·누락·조치 완료와 재발 여부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"S-AX14",</a:t>
            </a:r>
          </a:p>
          <a:p xmlns:a="http://schemas.openxmlformats.org/drawingml/2006/main">
            <a:r>
              <a:t>        "title": "DHL Protex AI 안전 실증 · 사업자 기술 실증 소개 / 게시일 미표시",</a:t>
            </a:r>
          </a:p>
          <a:p xmlns:a="http://schemas.openxmlformats.org/drawingml/2006/main">
            <a:r>
              <a:t>        "url": "https://www.dhlfreight.com/nl-en/microsites/csi/computer-vision/logistics-use-cases/people-health-and-safety.html",</a:t>
            </a:r>
          </a:p>
          <a:p xmlns:a="http://schemas.openxmlformats.org/drawingml/2006/main">
            <a:r>
              <a:t>        "published": "PoC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"탐지 결과에서 조치 완료까지의 책임 연결",</a:t>
            </a:r>
          </a:p>
          <a:p xmlns:a="http://schemas.openxmlformats.org/drawingml/2006/main">
            <a:r>
              <a:t>    "local": "검사·시험·시설 현장 위험 증거와 안전 직무 연결",</a:t>
            </a:r>
          </a:p>
          <a:p xmlns:a="http://schemas.openxmlformats.org/drawingml/2006/main">
            <a:r>
              <a:t>    "sourceDetail": null,</a:t>
            </a:r>
          </a:p>
          <a:p xmlns:a="http://schemas.openxmlformats.org/drawingml/2006/main">
            <a:r>
              <a:t>    "narrative": [</a:t>
            </a:r>
          </a:p>
          <a:p xmlns:a="http://schemas.openxmlformats.org/drawingml/2006/main">
            <a:r>
              <a:t>      "물류 작업장의 영상에서 위험 행동·근접 상황을 선별해 안전 담당자의 예방 조치를 돕는 사례. 탐지 이후의 검토·조치 연결이 현장 적용의 핵심.",</a:t>
            </a:r>
          </a:p>
          <a:p xmlns:a="http://schemas.openxmlformats.org/drawingml/2006/main">
            <a:r>
              <a:t>      "구역·작업시간·영상 접근범위를 지정하고 위험 후보를 사건 단위로 저장하는 구조의 재구성. 담당자가 현장 상황을 확인해 개선 조치를 기록하고 재발 여부를 검토하는 흐름.",</a:t>
            </a:r>
          </a:p>
          <a:p xmlns:a="http://schemas.openxmlformats.org/drawingml/2006/main">
            <a:r>
              <a:t>      "TS 시설·사업장 적용에서 카메라 설치만으로 안전 효과를 주장하기 어려운 유형. 구역·작업별 오경보와 중요 미탐, 경보 확인·조치 시간, 조치 후 재발을 분리해 평가할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"현장 영상 접점",</a:t>
            </a:r>
          </a:p>
          <a:p xmlns:a="http://schemas.openxmlformats.org/drawingml/2006/main">
            <a:r>
              <a:t>          "layer": "이용 접점",</a:t>
            </a:r>
          </a:p>
          <a:p xmlns:a="http://schemas.openxmlformats.org/drawingml/2006/main">
            <a:r>
              <a:t>          "detail": "물류 현장·안전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"구역·작업 맥락",</a:t>
            </a:r>
          </a:p>
          <a:p xmlns:a="http://schemas.openxmlformats.org/drawingml/2006/main">
            <a:r>
              <a:t>          "layer": "업무 문맥",</a:t>
            </a:r>
          </a:p>
          <a:p xmlns:a="http://schemas.openxmlformats.org/drawingml/2006/main">
            <a:r>
              <a:t>          "detail": "구역·작업시간·관측 목적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"영상·이력 조회",</a:t>
            </a:r>
          </a:p>
          <a:p xmlns:a="http://schemas.openxmlformats.org/drawingml/2006/main">
            <a:r>
              <a:t>          "layer": "자료 조회",</a:t>
            </a:r>
          </a:p>
          <a:p xmlns:a="http://schemas.openxmlformats.org/drawingml/2006/main">
            <a:r>
              <a:t>          "detail": "영상",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행동 탐지",</a:t>
            </a:r>
          </a:p>
          <a:p xmlns:a="http://schemas.openxmlformats.org/drawingml/2006/main">
            <a:r>
              <a:t>          "layer": "핵심 처리",</a:t>
            </a:r>
          </a:p>
          <a:p xmlns:a="http://schemas.openxmlformats.org/drawingml/2006/main">
            <a:r>
              <a:t>          "detail": "위험 행동·근접 상황의 영상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"오경보·미탐 검사",</a:t>
            </a:r>
          </a:p>
          <a:p xmlns:a="http://schemas.openxmlformats.org/drawingml/2006/main">
            <a:r>
              <a:t>          "layer": "결과 검증",</a:t>
            </a:r>
          </a:p>
          <a:p xmlns:a="http://schemas.openxmlformats.org/drawingml/2006/main">
            <a:r>
              <a:t>          "detail": "오경보·중요 미탐과 조치 이행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확인",</a:t>
            </a:r>
          </a:p>
          <a:p xmlns:a="http://schemas.openxmlformats.org/drawingml/2006/main">
            <a:r>
              <a:t>          "layer": "사람 확인",</a:t>
            </a:r>
          </a:p>
          <a:p xmlns:a="http://schemas.openxmlformats.org/drawingml/2006/main">
            <a:r>
              <a:t>          "detail": "영상에서 위험 상황을 발견하고 담당자가 조치 등록",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"개선 조치 인계",</a:t>
            </a:r>
          </a:p>
          <a:p xmlns:a="http://schemas.openxmlformats.org/drawingml/2006/main">
            <a:r>
              <a:t>          "layer": "업무 연결",</a:t>
            </a:r>
          </a:p>
          <a:p xmlns:a="http://schemas.openxmlformats.org/drawingml/2006/main">
            <a:r>
              <a:t>          "detail": "안전 담당자 확인 후 현장 개선 조치",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"재발·조치 추적",</a:t>
            </a:r>
          </a:p>
          <a:p xmlns:a="http://schemas.openxmlformats.org/drawingml/2006/main">
            <a:r>
              <a:t>          "layer": "운영 관측",</a:t>
            </a:r>
          </a:p>
          <a:p xmlns:a="http://schemas.openxmlformats.org/drawingml/2006/main">
            <a:r>
              <a:t>          "detail": "오탐·누락·조치 완료와 재발 여부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"영상·구역 지도",</a:t>
            </a:r>
          </a:p>
          <a:p xmlns:a="http://schemas.openxmlformats.org/drawingml/2006/main">
            <a:r>
              <a:t>          "layer": "데이터 원천",</a:t>
            </a:r>
          </a:p>
          <a:p xmlns:a="http://schemas.openxmlformats.org/drawingml/2006/main">
            <a:r>
              <a:t>          "detail": "이벤트·조치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"사건·위치 정합화",</a:t>
            </a:r>
          </a:p>
          <a:p xmlns:a="http://schemas.openxmlformats.org/drawingml/2006/main">
            <a:r>
              <a:t>          "layer": "준비·갱신",</a:t>
            </a:r>
          </a:p>
          <a:p xmlns:a="http://schemas.openxmlformats.org/drawingml/2006/main">
            <a:r>
              <a:t>          "detail": "영상 접근범위·구역 지도·사건 이력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"위험·조치 이력",</a:t>
            </a:r>
          </a:p>
          <a:p xmlns:a="http://schemas.openxmlformats.org/drawingml/2006/main">
            <a:r>
              <a:t>          "layer": "상태·지식 저장",</a:t>
            </a:r>
          </a:p>
          <a:p xmlns:a="http://schemas.openxmlformats.org/drawingml/2006/main">
            <a:r>
              <a:t>          "detail": "사건 표본별 오탐·미탐과 확인·조치 완료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 열람정책",</a:t>
            </a:r>
          </a:p>
          <a:p xmlns:a="http://schemas.openxmlformats.org/drawingml/2006/main">
            <a:r>
              <a:t>          "layer": "권한·정책",</a:t>
            </a:r>
          </a:p>
          <a:p xmlns:a="http://schemas.openxmlformats.org/drawingml/2006/main">
            <a:r>
              <a:t>          "detail": "가림·조명 변화·작업 동선 변경·비위험 행동",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"현장 영상 → 위험 이벤트 탐지 → 안전 담당 검토 → 예방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"이벤트·조치 기록",</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"검토 이벤트",</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 열람정책",</a:t>
            </a:r>
          </a:p>
          <a:p xmlns:a="http://schemas.openxmlformats.org/drawingml/2006/main">
            <a:r>
              <a:t>          "check": "오경보·중요 미탐과 조치 이행 측정"</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"예방 조치",</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"오탐·누락·조치 완료와 재발 여부 추적",</a:t>
            </a:r>
          </a:p>
          <a:p xmlns:a="http://schemas.openxmlformats.org/drawingml/2006/main">
            <a:r>
              <a:t>          "check": "오탐·누락·조치 완료와 재발 여부 추적"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"작업장 위험 상황의 조기 발견 지원 / 영상 이벤트·위험 분류·개선 조치",</a:t>
            </a:r>
          </a:p>
          <a:p xmlns:a="http://schemas.openxmlformats.org/drawingml/2006/main">
            <a:r>
              <a:t>        "extension": "검사·시험·시설 현장 위험 증거와 안전 직무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"가림·조명 변화·작업 동선 변경·비위험 행동",</a:t>
            </a:r>
          </a:p>
          <a:p xmlns:a="http://schemas.openxmlformats.org/drawingml/2006/main">
            <a:r>
              <a:t>        "hold": "오경보·중요 미탐과 조치 이행 측정",</a:t>
            </a:r>
          </a:p>
          <a:p xmlns:a="http://schemas.openxmlformats.org/drawingml/2006/main">
            <a:r>
              <a:t>        "recovery": "오탐·누락·조치 완료와 재발 여부 추적",</a:t>
            </a:r>
          </a:p>
          <a:p xmlns:a="http://schemas.openxmlformats.org/drawingml/2006/main">
            <a:r>
              <a:t>        "evidence": "사건 표본별 오탐·미탐과 확인·조치 완료 이력"</a:t>
            </a:r>
          </a:p>
          <a:p xmlns:a="http://schemas.openxmlformats.org/drawingml/2006/main">
            <a:r>
              <a:t>      },</a:t>
            </a:r>
          </a:p>
          <a:p xmlns:a="http://schemas.openxmlformats.org/drawingml/2006/main">
            <a:r>
              <a:t>      "data": {</a:t>
            </a:r>
          </a:p>
          <a:p xmlns:a="http://schemas.openxmlformats.org/drawingml/2006/main">
            <a:r>
              <a:t>        "source": "이벤트·조치 기록",</a:t>
            </a:r>
          </a:p>
          <a:p xmlns:a="http://schemas.openxmlformats.org/drawingml/2006/main">
            <a:r>
              <a:t>        "prepare": "영상 접근범위·구역 지도·사건 이력 정리",</a:t>
            </a:r>
          </a:p>
          <a:p xmlns:a="http://schemas.openxmlformats.org/drawingml/2006/main">
            <a:r>
              <a:t>        "output": "영상",</a:t>
            </a:r>
          </a:p>
          <a:p xmlns:a="http://schemas.openxmlformats.org/drawingml/2006/main">
            <a:r>
              <a:t>        "refresh": "오탐·누락·조치 완료와 재발 여부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"AX14",</a:t>
            </a:r>
          </a:p>
          <a:p xmlns:a="http://schemas.openxmlformats.org/drawingml/2006/main">
            <a:r>
              <a:t>    "success": [</a:t>
            </a:r>
          </a:p>
          <a:p xmlns:a="http://schemas.openxmlformats.org/drawingml/2006/main">
            <a:r>
              <a:t>      "현장 영상에서 위험 이벤트 선별",</a:t>
            </a:r>
          </a:p>
          <a:p xmlns:a="http://schemas.openxmlformats.org/drawingml/2006/main">
            <a:r>
              <a:t>      "안전 담당자의 예방 조치 연결"</a:t>
            </a:r>
          </a:p>
          <a:p xmlns:a="http://schemas.openxmlformats.org/drawingml/2006/main">
            <a:r>
              <a:t>    ],</a:t>
            </a:r>
          </a:p>
          <a:p xmlns:a="http://schemas.openxmlformats.org/drawingml/2006/main">
            <a:r>
              <a:t>    "risks": [</a:t>
            </a:r>
          </a:p>
          <a:p xmlns:a="http://schemas.openxmlformats.org/drawingml/2006/main">
            <a:r>
              <a:t>      "카메라 위치·작업 유형별 편차",</a:t>
            </a:r>
          </a:p>
          <a:p xmlns:a="http://schemas.openxmlformats.org/drawingml/2006/main">
            <a:r>
              <a:t>      "실증 탐지와 실제 재해 감소의 차이"</a:t>
            </a:r>
          </a:p>
          <a:p xmlns:a="http://schemas.openxmlformats.org/drawingml/2006/main">
            <a:r>
              <a:t>    ],</a:t>
            </a:r>
          </a:p>
          <a:p xmlns:a="http://schemas.openxmlformats.org/drawingml/2006/main">
            <a:r>
              <a:t>    "architecture": [</a:t>
            </a:r>
          </a:p>
          <a:p xmlns:a="http://schemas.openxmlformats.org/drawingml/2006/main">
            <a:r>
              <a:t>      "물류 현장 영상",</a:t>
            </a:r>
          </a:p>
          <a:p xmlns:a="http://schemas.openxmlformats.org/drawingml/2006/main">
            <a:r>
              <a:t>      "위험 행동 탐지",</a:t>
            </a:r>
          </a:p>
          <a:p xmlns:a="http://schemas.openxmlformats.org/drawingml/2006/main">
            <a:r>
              <a:t>      "이벤트·조치 기록",</a:t>
            </a:r>
          </a:p>
          <a:p xmlns:a="http://schemas.openxmlformats.org/drawingml/2006/main">
            <a:r>
              <a:t>      "안전 담당자"</a:t>
            </a:r>
          </a:p>
          <a:p xmlns:a="http://schemas.openxmlformats.org/drawingml/2006/main">
            <a:r>
              <a:t>    ],</a:t>
            </a:r>
          </a:p>
          <a:p xmlns:a="http://schemas.openxmlformats.org/drawingml/2006/main">
            <a:r>
              <a:t>    "transfers": [</a:t>
            </a:r>
          </a:p>
          <a:p xmlns:a="http://schemas.openxmlformats.org/drawingml/2006/main">
            <a:r>
              <a:t>      "영상",</a:t>
            </a:r>
          </a:p>
          <a:p xmlns:a="http://schemas.openxmlformats.org/drawingml/2006/main">
            <a:r>
              <a:t>      "위험 후보",</a:t>
            </a:r>
          </a:p>
          <a:p xmlns:a="http://schemas.openxmlformats.org/drawingml/2006/main">
            <a:r>
              <a:t>      "검토 이벤트",</a:t>
            </a:r>
          </a:p>
          <a:p xmlns:a="http://schemas.openxmlformats.org/drawingml/2006/main">
            <a:r>
              <a:t>      "예방 조치"</a:t>
            </a:r>
          </a:p>
          <a:p xmlns:a="http://schemas.openxmlformats.org/drawingml/2006/main">
            <a:r>
              <a:t>    ],</a:t>
            </a:r>
          </a:p>
          <a:p xmlns:a="http://schemas.openxmlformats.org/drawingml/2006/main">
            <a:r>
              <a:t>    "control": "오경보·중요 미탐과 조치 이행 측정",</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DHL Protex AI 안전 실증 · 사업자 기술 실증 소개 / 게시일 미표시 https://www.dhlfreight.com/nl-en/microsites/csi/computer-vision/logistics-use-cases/people-health-and-safety.html</a:t>
            </a:r>
          </a:p>
          <a:p xmlns:a="http://schemas.openxmlformats.org/drawingml/2006/main">
            <a:r>
              <a:t>홈페이지 https://heen1987-ops.github.io/TS-business-Plan-001/index.html?view=casebook&amp;case=AX14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"AX14",</a:t>
            </a:r>
          </a:p>
          <a:p xmlns:a="http://schemas.openxmlformats.org/drawingml/2006/main">
            <a:r>
              <a:t>    "title": "DHL Protex AI 안전 실증",</a:t>
            </a:r>
          </a:p>
          <a:p xmlns:a="http://schemas.openxmlformats.org/drawingml/2006/main">
            <a:r>
              <a:t>    "region": "해외",</a:t>
            </a:r>
          </a:p>
          <a:p xmlns:a="http://schemas.openxmlformats.org/drawingml/2006/main">
            <a:r>
              <a:t>    "country": "다국가",</a:t>
            </a:r>
          </a:p>
          <a:p xmlns:a="http://schemas.openxmlformats.org/drawingml/2006/main">
            <a:r>
              <a:t>    "result": "시범",</a:t>
            </a:r>
          </a:p>
          <a:p xmlns:a="http://schemas.openxmlformats.org/drawingml/2006/main">
            <a:r>
              <a:t>    "kind": "영상 기반 작업장 안전",</a:t>
            </a:r>
          </a:p>
          <a:p xmlns:a="http://schemas.openxmlformats.org/drawingml/2006/main">
            <a:r>
              <a:t>    "period": "PoC 소개",</a:t>
            </a:r>
          </a:p>
          <a:p xmlns:a="http://schemas.openxmlformats.org/drawingml/2006/main">
            <a:r>
              <a:t>    "sources": [</a:t>
            </a:r>
          </a:p>
          <a:p xmlns:a="http://schemas.openxmlformats.org/drawingml/2006/main">
            <a:r>
              <a:t>      "S-AX14"</a:t>
            </a:r>
          </a:p>
          <a:p xmlns:a="http://schemas.openxmlformats.org/drawingml/2006/main">
            <a:r>
              <a:t>    ],</a:t>
            </a:r>
          </a:p>
          <a:p xmlns:a="http://schemas.openxmlformats.org/drawingml/2006/main">
            <a:r>
              <a:t>    "keywords": [</a:t>
            </a:r>
          </a:p>
          <a:p xmlns:a="http://schemas.openxmlformats.org/drawingml/2006/main">
            <a:r>
              <a:t>      "영상 기반 작업장 안전"</a:t>
            </a:r>
          </a:p>
          <a:p xmlns:a="http://schemas.openxmlformats.org/drawingml/2006/main">
            <a:r>
              <a:t>    ],</a:t>
            </a:r>
          </a:p>
          <a:p xmlns:a="http://schemas.openxmlformats.org/drawingml/2006/main">
            <a:r>
              <a:t>    "fact": "영상의 위험 행동·상황 식별을 안전 담당자의 사전 조치에 활용하는 실증",</a:t>
            </a:r>
          </a:p>
          <a:p xmlns:a="http://schemas.openxmlformats.org/drawingml/2006/main">
            <a:r>
              <a:t>    "limit": "PoC 범위 · 전 사업장 확산·재해 감소 실측과 구분",</a:t>
            </a:r>
          </a:p>
          <a:p xmlns:a="http://schemas.openxmlformats.org/drawingml/2006/main">
            <a:r>
              <a:t>    "flow": [</a:t>
            </a:r>
          </a:p>
          <a:p xmlns:a="http://schemas.openxmlformats.org/drawingml/2006/main">
            <a:r>
              <a:t>      "현장 영상",</a:t>
            </a:r>
          </a:p>
          <a:p xmlns:a="http://schemas.openxmlformats.org/drawingml/2006/main">
            <a:r>
              <a:t>      "위험 이벤트 탐지",</a:t>
            </a:r>
          </a:p>
          <a:p xmlns:a="http://schemas.openxmlformats.org/drawingml/2006/main">
            <a:r>
              <a:t>      "안전 담당 검토",</a:t>
            </a:r>
          </a:p>
          <a:p xmlns:a="http://schemas.openxmlformats.org/drawingml/2006/main">
            <a:r>
              <a:t>      "예방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"탐지 결과에서 조치 완료까지의 책임 연결",</a:t>
            </a:r>
          </a:p>
          <a:p xmlns:a="http://schemas.openxmlformats.org/drawingml/2006/main">
            <a:r>
              <a:t>    "local": "검사·시험·시설 현장 위험 증거와 안전 직무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"현장 사건 사전·검토 큐·조치 이력",</a:t>
            </a:r>
          </a:p>
          <a:p xmlns:a="http://schemas.openxmlformats.org/drawingml/2006/main">
            <a:r>
              <a:t>    "test": "오탐·미탐·사람 가림·조치 누락 시나리오",</a:t>
            </a:r>
          </a:p>
          <a:p xmlns:a="http://schemas.openxmlformats.org/drawingml/2006/main">
            <a:r>
              <a:t>    "metric": "위험 확인시간 / 조치 이행률",</a:t>
            </a:r>
          </a:p>
          <a:p xmlns:a="http://schemas.openxmlformats.org/drawingml/2006/main">
            <a:r>
              <a:t>    "strategies": [</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"AX14",</a:t>
            </a:r>
          </a:p>
          <a:p xmlns:a="http://schemas.openxmlformats.org/drawingml/2006/main">
            <a:r>
              <a:t>    "canonicalId": "AX14",</a:t>
            </a:r>
          </a:p>
          <a:p xmlns:a="http://schemas.openxmlformats.org/drawingml/2006/main">
            <a:r>
              <a:t>    "purpose": "작업장 위험 상황의 조기 발견 지원",</a:t>
            </a:r>
          </a:p>
          <a:p xmlns:a="http://schemas.openxmlformats.org/drawingml/2006/main">
            <a:r>
              <a:t>    "users": "물류 현장·안전 담당자",</a:t>
            </a:r>
          </a:p>
          <a:p xmlns:a="http://schemas.openxmlformats.org/drawingml/2006/main">
            <a:r>
              <a:t>    "scope": [</a:t>
            </a:r>
          </a:p>
          <a:p xmlns:a="http://schemas.openxmlformats.org/drawingml/2006/main">
            <a:r>
              <a:t>      "영상 이벤트",</a:t>
            </a:r>
          </a:p>
          <a:p xmlns:a="http://schemas.openxmlformats.org/drawingml/2006/main">
            <a:r>
              <a:t>      "위험 분류",</a:t>
            </a:r>
          </a:p>
          <a:p xmlns:a="http://schemas.openxmlformats.org/drawingml/2006/main">
            <a:r>
              <a:t>      "개선 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"물류 현장 영상",</a:t>
            </a:r>
          </a:p>
          <a:p xmlns:a="http://schemas.openxmlformats.org/drawingml/2006/main">
            <a:r>
              <a:t>        "detail": "구역·작업시간·관측 목적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이벤트 / 위험 분류 / 개선 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"위험 행동 탐지",</a:t>
            </a:r>
          </a:p>
          <a:p xmlns:a="http://schemas.openxmlformats.org/drawingml/2006/main">
            <a:r>
              <a:t>        "detail": "위험 행동·근접 상황의 영상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담당자",</a:t>
            </a:r>
          </a:p>
          <a:p xmlns:a="http://schemas.openxmlformats.org/drawingml/2006/main">
            <a:r>
              <a:t>        "detail": "안전 담당자 확인 후 현장 개선 조치",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"이벤트·조치 기록",</a:t>
            </a:r>
          </a:p>
          <a:p xmlns:a="http://schemas.openxmlformats.org/drawingml/2006/main">
            <a:r>
              <a:t>        "detail": "영상 접근범위·구역 지도·사건 이력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"오탐·누락·조치 완료와 재발 여부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"현장 영상",</a:t>
            </a:r>
          </a:p>
          <a:p xmlns:a="http://schemas.openxmlformats.org/drawingml/2006/main">
            <a:r>
              <a:t>        "input": "구역·작업시간·관측 목적 지정",</a:t>
            </a:r>
          </a:p>
          <a:p xmlns:a="http://schemas.openxmlformats.org/drawingml/2006/main">
            <a:r>
              <a:t>        "process": "영상 접근범위·구역 지도·사건 이력 정리",</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"title": "위험 이벤트 탐지",</a:t>
            </a:r>
          </a:p>
          <a:p xmlns:a="http://schemas.openxmlformats.org/drawingml/2006/main">
            <a:r>
              <a:t>        "input": "영상",</a:t>
            </a:r>
          </a:p>
          <a:p xmlns:a="http://schemas.openxmlformats.org/drawingml/2006/main">
            <a:r>
              <a:t>        "process": "위험 행동·근접 상황의 영상 분석",</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"위험 후보",</a:t>
            </a:r>
          </a:p>
          <a:p xmlns:a="http://schemas.openxmlformats.org/drawingml/2006/main">
            <a:r>
              <a:t>        "process": "오경보·중요 미탐과 조치 이행 측정",</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"title": "예방 조치",</a:t>
            </a:r>
          </a:p>
          <a:p xmlns:a="http://schemas.openxmlformats.org/drawingml/2006/main">
            <a:r>
              <a:t>        "input": "검토 이벤트",</a:t>
            </a:r>
          </a:p>
          <a:p xmlns:a="http://schemas.openxmlformats.org/drawingml/2006/main">
            <a:r>
              <a:t>        "process":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"영상에서 위험 상황을 발견하고 담당자가 조치 등록",</a:t>
            </a:r>
          </a:p>
          <a:p xmlns:a="http://schemas.openxmlformats.org/drawingml/2006/main">
            <a:r>
              <a:t>      "exception": "가림·조명 변화·작업 동선 변경·비위험 행동",</a:t>
            </a:r>
          </a:p>
          <a:p xmlns:a="http://schemas.openxmlformats.org/drawingml/2006/main">
            <a:r>
              <a:t>      "evidence": "사건 표본별 오탐·미탐과 확인·조치 완료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"물류 현장·안전 담당자",</a:t>
            </a:r>
          </a:p>
          <a:p xmlns:a="http://schemas.openxmlformats.org/drawingml/2006/main">
            <a:r>
              <a:t>          "processing": "구역·작업시간·관측 목적 지정",</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"이벤트·조치 기록",</a:t>
            </a:r>
          </a:p>
          <a:p xmlns:a="http://schemas.openxmlformats.org/drawingml/2006/main">
            <a:r>
              <a:t>          "processing": "영상 접근범위·구역 지도·사건 이력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a:t>
            </a:r>
          </a:p>
          <a:p xmlns:a="http://schemas.openxmlformats.org/drawingml/2006/main">
            <a:r>
              <a:t>          "processing": "위험 행동·근접 상황의 영상 분석",</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이벤트",</a:t>
            </a:r>
          </a:p>
          <a:p xmlns:a="http://schemas.openxmlformats.org/drawingml/2006/main">
            <a:r>
              <a:t>          "processing":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"오탐·누락·조치 완료와 재발 여부 추적",</a:t>
            </a:r>
          </a:p>
          <a:p xmlns:a="http://schemas.openxmlformats.org/drawingml/2006/main">
            <a:r>
              <a:t>          "output": "사건 표본별 오탐·미탐과 확인·조치 완료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"오탐·누락·조치 완료와 재발 여부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"S-AX14",</a:t>
            </a:r>
          </a:p>
          <a:p xmlns:a="http://schemas.openxmlformats.org/drawingml/2006/main">
            <a:r>
              <a:t>        "title": "DHL Protex AI 안전 실증 · 사업자 기술 실증 소개 / 게시일 미표시",</a:t>
            </a:r>
          </a:p>
          <a:p xmlns:a="http://schemas.openxmlformats.org/drawingml/2006/main">
            <a:r>
              <a:t>        "url": "https://www.dhlfreight.com/nl-en/microsites/csi/computer-vision/logistics-use-cases/people-health-and-safety.html",</a:t>
            </a:r>
          </a:p>
          <a:p xmlns:a="http://schemas.openxmlformats.org/drawingml/2006/main">
            <a:r>
              <a:t>        "published": "PoC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"탐지 결과에서 조치 완료까지의 책임 연결",</a:t>
            </a:r>
          </a:p>
          <a:p xmlns:a="http://schemas.openxmlformats.org/drawingml/2006/main">
            <a:r>
              <a:t>    "local": "검사·시험·시설 현장 위험 증거와 안전 직무 연결",</a:t>
            </a:r>
          </a:p>
          <a:p xmlns:a="http://schemas.openxmlformats.org/drawingml/2006/main">
            <a:r>
              <a:t>    "sourceDetail": null,</a:t>
            </a:r>
          </a:p>
          <a:p xmlns:a="http://schemas.openxmlformats.org/drawingml/2006/main">
            <a:r>
              <a:t>    "narrative": [</a:t>
            </a:r>
          </a:p>
          <a:p xmlns:a="http://schemas.openxmlformats.org/drawingml/2006/main">
            <a:r>
              <a:t>      "물류 작업장의 영상에서 위험 행동·근접 상황을 선별해 안전 담당자의 예방 조치를 돕는 사례. 탐지 이후의 검토·조치 연결이 현장 적용의 핵심.",</a:t>
            </a:r>
          </a:p>
          <a:p xmlns:a="http://schemas.openxmlformats.org/drawingml/2006/main">
            <a:r>
              <a:t>      "구역·작업시간·영상 접근범위를 지정하고 위험 후보를 사건 단위로 저장하는 구조의 재구성. 담당자가 현장 상황을 확인해 개선 조치를 기록하고 재발 여부를 검토하는 흐름.",</a:t>
            </a:r>
          </a:p>
          <a:p xmlns:a="http://schemas.openxmlformats.org/drawingml/2006/main">
            <a:r>
              <a:t>      "TS 시설·사업장 적용에서 카메라 설치만으로 안전 효과를 주장하기 어려운 유형. 구역·작업별 오경보와 중요 미탐, 경보 확인·조치 시간, 조치 후 재발을 분리해 평가할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"현장 영상 접점",</a:t>
            </a:r>
          </a:p>
          <a:p xmlns:a="http://schemas.openxmlformats.org/drawingml/2006/main">
            <a:r>
              <a:t>          "layer": "이용 접점",</a:t>
            </a:r>
          </a:p>
          <a:p xmlns:a="http://schemas.openxmlformats.org/drawingml/2006/main">
            <a:r>
              <a:t>          "detail": "물류 현장·안전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"구역·작업 맥락",</a:t>
            </a:r>
          </a:p>
          <a:p xmlns:a="http://schemas.openxmlformats.org/drawingml/2006/main">
            <a:r>
              <a:t>          "layer": "업무 문맥",</a:t>
            </a:r>
          </a:p>
          <a:p xmlns:a="http://schemas.openxmlformats.org/drawingml/2006/main">
            <a:r>
              <a:t>          "detail": "구역·작업시간·관측 목적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"영상·이력 조회",</a:t>
            </a:r>
          </a:p>
          <a:p xmlns:a="http://schemas.openxmlformats.org/drawingml/2006/main">
            <a:r>
              <a:t>          "layer": "자료 조회",</a:t>
            </a:r>
          </a:p>
          <a:p xmlns:a="http://schemas.openxmlformats.org/drawingml/2006/main">
            <a:r>
              <a:t>          "detail": "영상",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행동 탐지",</a:t>
            </a:r>
          </a:p>
          <a:p xmlns:a="http://schemas.openxmlformats.org/drawingml/2006/main">
            <a:r>
              <a:t>          "layer": "핵심 처리",</a:t>
            </a:r>
          </a:p>
          <a:p xmlns:a="http://schemas.openxmlformats.org/drawingml/2006/main">
            <a:r>
              <a:t>          "detail": "위험 행동·근접 상황의 영상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"오경보·미탐 검사",</a:t>
            </a:r>
          </a:p>
          <a:p xmlns:a="http://schemas.openxmlformats.org/drawingml/2006/main">
            <a:r>
              <a:t>          "layer": "결과 검증",</a:t>
            </a:r>
          </a:p>
          <a:p xmlns:a="http://schemas.openxmlformats.org/drawingml/2006/main">
            <a:r>
              <a:t>          "detail": "오경보·중요 미탐과 조치 이행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확인",</a:t>
            </a:r>
          </a:p>
          <a:p xmlns:a="http://schemas.openxmlformats.org/drawingml/2006/main">
            <a:r>
              <a:t>          "layer": "사람 확인",</a:t>
            </a:r>
          </a:p>
          <a:p xmlns:a="http://schemas.openxmlformats.org/drawingml/2006/main">
            <a:r>
              <a:t>          "detail": "영상에서 위험 상황을 발견하고 담당자가 조치 등록",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"개선 조치 인계",</a:t>
            </a:r>
          </a:p>
          <a:p xmlns:a="http://schemas.openxmlformats.org/drawingml/2006/main">
            <a:r>
              <a:t>          "layer": "업무 연결",</a:t>
            </a:r>
          </a:p>
          <a:p xmlns:a="http://schemas.openxmlformats.org/drawingml/2006/main">
            <a:r>
              <a:t>          "detail": "안전 담당자 확인 후 현장 개선 조치",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"재발·조치 추적",</a:t>
            </a:r>
          </a:p>
          <a:p xmlns:a="http://schemas.openxmlformats.org/drawingml/2006/main">
            <a:r>
              <a:t>          "layer": "운영 관측",</a:t>
            </a:r>
          </a:p>
          <a:p xmlns:a="http://schemas.openxmlformats.org/drawingml/2006/main">
            <a:r>
              <a:t>          "detail": "오탐·누락·조치 완료와 재발 여부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"영상·구역 지도",</a:t>
            </a:r>
          </a:p>
          <a:p xmlns:a="http://schemas.openxmlformats.org/drawingml/2006/main">
            <a:r>
              <a:t>          "layer": "데이터 원천",</a:t>
            </a:r>
          </a:p>
          <a:p xmlns:a="http://schemas.openxmlformats.org/drawingml/2006/main">
            <a:r>
              <a:t>          "detail": "이벤트·조치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"사건·위치 정합화",</a:t>
            </a:r>
          </a:p>
          <a:p xmlns:a="http://schemas.openxmlformats.org/drawingml/2006/main">
            <a:r>
              <a:t>          "layer": "준비·갱신",</a:t>
            </a:r>
          </a:p>
          <a:p xmlns:a="http://schemas.openxmlformats.org/drawingml/2006/main">
            <a:r>
              <a:t>          "detail": "영상 접근범위·구역 지도·사건 이력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"위험·조치 이력",</a:t>
            </a:r>
          </a:p>
          <a:p xmlns:a="http://schemas.openxmlformats.org/drawingml/2006/main">
            <a:r>
              <a:t>          "layer": "상태·지식 저장",</a:t>
            </a:r>
          </a:p>
          <a:p xmlns:a="http://schemas.openxmlformats.org/drawingml/2006/main">
            <a:r>
              <a:t>          "detail": "사건 표본별 오탐·미탐과 확인·조치 완료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 열람정책",</a:t>
            </a:r>
          </a:p>
          <a:p xmlns:a="http://schemas.openxmlformats.org/drawingml/2006/main">
            <a:r>
              <a:t>          "layer": "권한·정책",</a:t>
            </a:r>
          </a:p>
          <a:p xmlns:a="http://schemas.openxmlformats.org/drawingml/2006/main">
            <a:r>
              <a:t>          "detail": "가림·조명 변화·작업 동선 변경·비위험 행동",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"현장 영상 → 위험 이벤트 탐지 → 안전 담당 검토 → 예방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"이벤트·조치 기록",</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"검토 이벤트",</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 열람정책",</a:t>
            </a:r>
          </a:p>
          <a:p xmlns:a="http://schemas.openxmlformats.org/drawingml/2006/main">
            <a:r>
              <a:t>          "check": "오경보·중요 미탐과 조치 이행 측정"</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"예방 조치",</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"오탐·누락·조치 완료와 재발 여부 추적",</a:t>
            </a:r>
          </a:p>
          <a:p xmlns:a="http://schemas.openxmlformats.org/drawingml/2006/main">
            <a:r>
              <a:t>          "check": "오탐·누락·조치 완료와 재발 여부 추적"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"작업장 위험 상황의 조기 발견 지원 / 영상 이벤트·위험 분류·개선 조치",</a:t>
            </a:r>
          </a:p>
          <a:p xmlns:a="http://schemas.openxmlformats.org/drawingml/2006/main">
            <a:r>
              <a:t>        "extension": "검사·시험·시설 현장 위험 증거와 안전 직무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"가림·조명 변화·작업 동선 변경·비위험 행동",</a:t>
            </a:r>
          </a:p>
          <a:p xmlns:a="http://schemas.openxmlformats.org/drawingml/2006/main">
            <a:r>
              <a:t>        "hold": "오경보·중요 미탐과 조치 이행 측정",</a:t>
            </a:r>
          </a:p>
          <a:p xmlns:a="http://schemas.openxmlformats.org/drawingml/2006/main">
            <a:r>
              <a:t>        "recovery": "오탐·누락·조치 완료와 재발 여부 추적",</a:t>
            </a:r>
          </a:p>
          <a:p xmlns:a="http://schemas.openxmlformats.org/drawingml/2006/main">
            <a:r>
              <a:t>        "evidence": "사건 표본별 오탐·미탐과 확인·조치 완료 이력"</a:t>
            </a:r>
          </a:p>
          <a:p xmlns:a="http://schemas.openxmlformats.org/drawingml/2006/main">
            <a:r>
              <a:t>      },</a:t>
            </a:r>
          </a:p>
          <a:p xmlns:a="http://schemas.openxmlformats.org/drawingml/2006/main">
            <a:r>
              <a:t>      "data": {</a:t>
            </a:r>
          </a:p>
          <a:p xmlns:a="http://schemas.openxmlformats.org/drawingml/2006/main">
            <a:r>
              <a:t>        "source": "이벤트·조치 기록",</a:t>
            </a:r>
          </a:p>
          <a:p xmlns:a="http://schemas.openxmlformats.org/drawingml/2006/main">
            <a:r>
              <a:t>        "prepare": "영상 접근범위·구역 지도·사건 이력 정리",</a:t>
            </a:r>
          </a:p>
          <a:p xmlns:a="http://schemas.openxmlformats.org/drawingml/2006/main">
            <a:r>
              <a:t>        "output": "영상",</a:t>
            </a:r>
          </a:p>
          <a:p xmlns:a="http://schemas.openxmlformats.org/drawingml/2006/main">
            <a:r>
              <a:t>        "refresh": "오탐·누락·조치 완료와 재발 여부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"AX14",</a:t>
            </a:r>
          </a:p>
          <a:p xmlns:a="http://schemas.openxmlformats.org/drawingml/2006/main">
            <a:r>
              <a:t>    "success": [</a:t>
            </a:r>
          </a:p>
          <a:p xmlns:a="http://schemas.openxmlformats.org/drawingml/2006/main">
            <a:r>
              <a:t>      "현장 영상에서 위험 이벤트 선별",</a:t>
            </a:r>
          </a:p>
          <a:p xmlns:a="http://schemas.openxmlformats.org/drawingml/2006/main">
            <a:r>
              <a:t>      "안전 담당자의 예방 조치 연결"</a:t>
            </a:r>
          </a:p>
          <a:p xmlns:a="http://schemas.openxmlformats.org/drawingml/2006/main">
            <a:r>
              <a:t>    ],</a:t>
            </a:r>
          </a:p>
          <a:p xmlns:a="http://schemas.openxmlformats.org/drawingml/2006/main">
            <a:r>
              <a:t>    "risks": [</a:t>
            </a:r>
          </a:p>
          <a:p xmlns:a="http://schemas.openxmlformats.org/drawingml/2006/main">
            <a:r>
              <a:t>      "카메라 위치·작업 유형별 편차",</a:t>
            </a:r>
          </a:p>
          <a:p xmlns:a="http://schemas.openxmlformats.org/drawingml/2006/main">
            <a:r>
              <a:t>      "실증 탐지와 실제 재해 감소의 차이"</a:t>
            </a:r>
          </a:p>
          <a:p xmlns:a="http://schemas.openxmlformats.org/drawingml/2006/main">
            <a:r>
              <a:t>    ],</a:t>
            </a:r>
          </a:p>
          <a:p xmlns:a="http://schemas.openxmlformats.org/drawingml/2006/main">
            <a:r>
              <a:t>    "architecture": [</a:t>
            </a:r>
          </a:p>
          <a:p xmlns:a="http://schemas.openxmlformats.org/drawingml/2006/main">
            <a:r>
              <a:t>      "물류 현장 영상",</a:t>
            </a:r>
          </a:p>
          <a:p xmlns:a="http://schemas.openxmlformats.org/drawingml/2006/main">
            <a:r>
              <a:t>      "위험 행동 탐지",</a:t>
            </a:r>
          </a:p>
          <a:p xmlns:a="http://schemas.openxmlformats.org/drawingml/2006/main">
            <a:r>
              <a:t>      "이벤트·조치 기록",</a:t>
            </a:r>
          </a:p>
          <a:p xmlns:a="http://schemas.openxmlformats.org/drawingml/2006/main">
            <a:r>
              <a:t>      "안전 담당자"</a:t>
            </a:r>
          </a:p>
          <a:p xmlns:a="http://schemas.openxmlformats.org/drawingml/2006/main">
            <a:r>
              <a:t>    ],</a:t>
            </a:r>
          </a:p>
          <a:p xmlns:a="http://schemas.openxmlformats.org/drawingml/2006/main">
            <a:r>
              <a:t>    "transfers": [</a:t>
            </a:r>
          </a:p>
          <a:p xmlns:a="http://schemas.openxmlformats.org/drawingml/2006/main">
            <a:r>
              <a:t>      "영상",</a:t>
            </a:r>
          </a:p>
          <a:p xmlns:a="http://schemas.openxmlformats.org/drawingml/2006/main">
            <a:r>
              <a:t>      "위험 후보",</a:t>
            </a:r>
          </a:p>
          <a:p xmlns:a="http://schemas.openxmlformats.org/drawingml/2006/main">
            <a:r>
              <a:t>      "검토 이벤트",</a:t>
            </a:r>
          </a:p>
          <a:p xmlns:a="http://schemas.openxmlformats.org/drawingml/2006/main">
            <a:r>
              <a:t>      "예방 조치"</a:t>
            </a:r>
          </a:p>
          <a:p xmlns:a="http://schemas.openxmlformats.org/drawingml/2006/main">
            <a:r>
              <a:t>    ],</a:t>
            </a:r>
          </a:p>
          <a:p xmlns:a="http://schemas.openxmlformats.org/drawingml/2006/main">
            <a:r>
              <a:t>    "control": "오경보·중요 미탐과 조치 이행 측정",</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DHL Protex AI 안전 실증 · 사업자 기술 실증 소개 / 게시일 미표시 https://www.dhlfreight.com/nl-en/microsites/csi/computer-vision/logistics-use-cases/people-health-and-safety.html</a:t>
            </a:r>
          </a:p>
          <a:p xmlns:a="http://schemas.openxmlformats.org/drawingml/2006/main">
            <a:r>
              <a:t>홈페이지 https://heen1987-ops.github.io/TS-business-Plan-001/index.html?view=casebook&amp;case=AX14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"AX15",</a:t>
            </a:r>
          </a:p>
          <a:p xmlns:a="http://schemas.openxmlformats.org/drawingml/2006/main">
            <a:r>
              <a:t>    "title": "국세청 AI 전화상담",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"음성 기반 민원 안내",</a:t>
            </a:r>
          </a:p>
          <a:p xmlns:a="http://schemas.openxmlformats.org/drawingml/2006/main">
            <a:r>
              <a:t>    "period": "2024 시범 / 2025 확대 계획 발표",</a:t>
            </a:r>
          </a:p>
          <a:p xmlns:a="http://schemas.openxmlformats.org/drawingml/2006/main">
            <a:r>
              <a:t>    "sources": [</a:t>
            </a:r>
          </a:p>
          <a:p xmlns:a="http://schemas.openxmlformats.org/drawingml/2006/main">
            <a:r>
              <a:t>      "S-AX15"</a:t>
            </a:r>
          </a:p>
          <a:p xmlns:a="http://schemas.openxmlformats.org/drawingml/2006/main">
            <a:r>
              <a:t>    ],</a:t>
            </a:r>
          </a:p>
          <a:p xmlns:a="http://schemas.openxmlformats.org/drawingml/2006/main">
            <a:r>
              <a:t>    "keywords": [</a:t>
            </a:r>
          </a:p>
          <a:p xmlns:a="http://schemas.openxmlformats.org/drawingml/2006/main">
            <a:r>
              <a:t>      "음성 기반 민원 안내"</a:t>
            </a:r>
          </a:p>
          <a:p xmlns:a="http://schemas.openxmlformats.org/drawingml/2006/main">
            <a:r>
              <a:t>    ],</a:t>
            </a:r>
          </a:p>
          <a:p xmlns:a="http://schemas.openxmlformats.org/drawingml/2006/main">
            <a:r>
              <a:t>    "fact": "일부 세무서 시범 전화상담과 전국 확대 계획 공개",</a:t>
            </a:r>
          </a:p>
          <a:p xmlns:a="http://schemas.openxmlformats.org/drawingml/2006/main">
            <a:r>
              <a:t>    "limit": "시범 운영과 이후 확대 계획 구분 · 개인별 과세 판단 자동화로 해석 금지",</a:t>
            </a:r>
          </a:p>
          <a:p xmlns:a="http://schemas.openxmlformats.org/drawingml/2006/main">
            <a:r>
              <a:t>    "flow": [</a:t>
            </a:r>
          </a:p>
          <a:p xmlns:a="http://schemas.openxmlformats.org/drawingml/2006/main">
            <a:r>
              <a:t>      "전화 발화",</a:t>
            </a:r>
          </a:p>
          <a:p xmlns:a="http://schemas.openxmlformats.org/drawingml/2006/main">
            <a:r>
              <a:t>      "질의 의도 분류",</a:t>
            </a:r>
          </a:p>
          <a:p xmlns:a="http://schemas.openxmlformats.org/drawingml/2006/main">
            <a:r>
              <a:t>      "세무 안내",</a:t>
            </a:r>
          </a:p>
          <a:p xmlns:a="http://schemas.openxmlformats.org/drawingml/2006/main">
            <a:r>
              <a:t>      "추가 상담 연결"</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"음성 접점과 상담 전환의 연속성",</a:t>
            </a:r>
          </a:p>
          <a:p xmlns:a="http://schemas.openxmlformats.org/drawingml/2006/main">
            <a:r>
              <a:t>    "local": "TS 기존 민원 메뉴에 음성·텍스트 진입점 추가",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"발화 정리·확인·소관 서비스·상담 인계",</a:t>
            </a:r>
          </a:p>
          <a:p xmlns:a="http://schemas.openxmlformats.org/drawingml/2006/main">
            <a:r>
              <a:t>    "test": "고령·소음·중도 정정·상담 전환 과업 시험",</a:t>
            </a:r>
          </a:p>
          <a:p xmlns:a="http://schemas.openxmlformats.org/drawingml/2006/main">
            <a:r>
              <a:t>    "metric": "안내 도달률 / 포기율 / 재문의율",</a:t>
            </a:r>
          </a:p>
          <a:p xmlns:a="http://schemas.openxmlformats.org/drawingml/2006/main">
            <a:r>
              <a:t>    "strategies": [</a:t>
            </a:r>
          </a:p>
          <a:p xmlns:a="http://schemas.openxmlformats.org/drawingml/2006/main">
            <a:r>
              <a:t>      "ST-08",</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"AX15",</a:t>
            </a:r>
          </a:p>
          <a:p xmlns:a="http://schemas.openxmlformats.org/drawingml/2006/main">
            <a:r>
              <a:t>    "canonicalId": "AX15",</a:t>
            </a:r>
          </a:p>
          <a:p xmlns:a="http://schemas.openxmlformats.org/drawingml/2006/main">
            <a:r>
              <a:t>    "purpose": "반복 세무 문의의 음성 상담 지원",</a:t>
            </a:r>
          </a:p>
          <a:p xmlns:a="http://schemas.openxmlformats.org/drawingml/2006/main">
            <a:r>
              <a:t>    "users": "납세자·상담원",</a:t>
            </a:r>
          </a:p>
          <a:p xmlns:a="http://schemas.openxmlformats.org/drawingml/2006/main">
            <a:r>
              <a:t>    "scope": [</a:t>
            </a:r>
          </a:p>
          <a:p xmlns:a="http://schemas.openxmlformats.org/drawingml/2006/main">
            <a:r>
              <a:t>      "전화 응대",</a:t>
            </a:r>
          </a:p>
          <a:p xmlns:a="http://schemas.openxmlformats.org/drawingml/2006/main">
            <a:r>
              <a:t>      "세무 안내",</a:t>
            </a:r>
          </a:p>
          <a:p xmlns:a="http://schemas.openxmlformats.org/drawingml/2006/main">
            <a:r>
              <a:t>      "상담 전환"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"전화 상담",</a:t>
            </a:r>
          </a:p>
          <a:p xmlns:a="http://schemas.openxmlformats.org/drawingml/2006/main">
            <a:r>
              <a:t>        "detail": "발화에서 세목·기간·문의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"전화 응대 / 세무 안내 / 상담 전환",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"음성·의도 처리",</a:t>
            </a:r>
          </a:p>
          <a:p xmlns:a="http://schemas.openxmlformats.org/drawingml/2006/main">
            <a:r>
              <a:t>        "detail": "질의에 맞춘 상담 지식 탐색·음성 안내",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"이용자·상담원",</a:t>
            </a:r>
          </a:p>
          <a:p xmlns:a="http://schemas.openxmlformats.org/drawingml/2006/main">
            <a:r>
              <a:t>        "detail": "해결 곤란 질문의 상담원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"세무 안내 지식",</a:t>
            </a:r>
          </a:p>
          <a:p xmlns:a="http://schemas.openxmlformats.org/drawingml/2006/main">
            <a:r>
              <a:t>        "detail": "승인 상담자료·세목·적용연도별 지식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"상담 이관·반복 문의·안내 오류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"전화 발화",</a:t>
            </a:r>
          </a:p>
          <a:p xmlns:a="http://schemas.openxmlformats.org/drawingml/2006/main">
            <a:r>
              <a:t>        "input": "발화에서 세목·기간·문의 목적 확인",</a:t>
            </a:r>
          </a:p>
          <a:p xmlns:a="http://schemas.openxmlformats.org/drawingml/2006/main">
            <a:r>
              <a:t>        "process": "승인 상담자료·세목·적용연도별 지식 관리",</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"title": "질의 의도 분류",</a:t>
            </a:r>
          </a:p>
          <a:p xmlns:a="http://schemas.openxmlformats.org/drawingml/2006/main">
            <a:r>
              <a:t>        "input": "전화 발화",</a:t>
            </a:r>
          </a:p>
          <a:p xmlns:a="http://schemas.openxmlformats.org/drawingml/2006/main">
            <a:r>
              <a:t>        "process": "질의에 맞춘 상담 지식 탐색·음성 안내",</a:t>
            </a:r>
          </a:p>
          <a:p xmlns:a="http://schemas.openxmlformats.org/drawingml/2006/main">
            <a:r>
              <a:t>        "output": "질의 의도"</a:t>
            </a:r>
          </a:p>
          <a:p xmlns:a="http://schemas.openxmlformats.org/drawingml/2006/main">
            <a:r>
              <a:t>      },</a:t>
            </a:r>
          </a:p>
          <a:p xmlns:a="http://schemas.openxmlformats.org/drawingml/2006/main">
            <a:r>
              <a:t>      {</a:t>
            </a:r>
          </a:p>
          <a:p xmlns:a="http://schemas.openxmlformats.org/drawingml/2006/main">
            <a:r>
              <a:t>        "title": "세무 안내",</a:t>
            </a:r>
          </a:p>
          <a:p xmlns:a="http://schemas.openxmlformats.org/drawingml/2006/main">
            <a:r>
              <a:t>        "input": "질의 의도",</a:t>
            </a:r>
          </a:p>
          <a:p xmlns:a="http://schemas.openxmlformats.org/drawingml/2006/main">
            <a:r>
              <a:t>        "process": "핵심 발화 확인·전문 상담 전환",</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"title": "추가 상담 연결",</a:t>
            </a:r>
          </a:p>
          <a:p xmlns:a="http://schemas.openxmlformats.org/drawingml/2006/main">
            <a:r>
              <a:t>        "input": "세무 안내",</a:t>
            </a:r>
          </a:p>
          <a:p xmlns:a="http://schemas.openxmlformats.org/drawingml/2006/main">
            <a:r>
              <a:t>        "process":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"납세자의 세목·귀속연도를 확인한 뒤 안내·상담 전환",</a:t>
            </a:r>
          </a:p>
          <a:p xmlns:a="http://schemas.openxmlformats.org/drawingml/2006/main">
            <a:r>
              <a:t>      "exception": "발화 인식 실패·다른 귀속연도·개인별 과세 판단 요청",</a:t>
            </a:r>
          </a:p>
          <a:p xmlns:a="http://schemas.openxmlformats.org/drawingml/2006/main">
            <a:r>
              <a:t>      "evidence": "필수 항목 인식표와 상담원 인계·해결 여부",</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"납세자·상담원",</a:t>
            </a:r>
          </a:p>
          <a:p xmlns:a="http://schemas.openxmlformats.org/drawingml/2006/main">
            <a:r>
              <a:t>          "processing": "발화에서 세목·기간·문의 목적 확인",</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"세무 안내 지식",</a:t>
            </a:r>
          </a:p>
          <a:p xmlns:a="http://schemas.openxmlformats.org/drawingml/2006/main">
            <a:r>
              <a:t>          "processing": "승인 상담자료·세목·적용연도별 지식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"전화 발화",</a:t>
            </a:r>
          </a:p>
          <a:p xmlns:a="http://schemas.openxmlformats.org/drawingml/2006/main">
            <a:r>
              <a:t>          "processing": "질의에 맞춘 상담 지식 탐색·음성 안내",</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"세무 안내",</a:t>
            </a:r>
          </a:p>
          <a:p xmlns:a="http://schemas.openxmlformats.org/drawingml/2006/main">
            <a:r>
              <a:t>          "processing":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"상담 이관·반복 문의·안내 오류 점검",</a:t>
            </a:r>
          </a:p>
          <a:p xmlns:a="http://schemas.openxmlformats.org/drawingml/2006/main">
            <a:r>
              <a:t>          "output": "필수 항목 인식표와 상담원 인계·해결 여부"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"상담 이관·반복 문의·안내 오류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"S-AX15",</a:t>
            </a:r>
          </a:p>
          <a:p xmlns:a="http://schemas.openxmlformats.org/drawingml/2006/main">
            <a:r>
              <a:t>        "title": "국세청 AI 전화상담 · 국세청 발표 / 2024-11-14",</a:t>
            </a:r>
          </a:p>
          <a:p xmlns:a="http://schemas.openxmlformats.org/drawingml/2006/main">
            <a:r>
              <a:t>        "url": "https://www.nts.go.kr/nts/na/ntt/selectNttInfo.do?bbsId=1011&amp;mi=2207&amp;nttSn=1339206",</a:t>
            </a:r>
          </a:p>
          <a:p xmlns:a="http://schemas.openxmlformats.org/drawingml/2006/main">
            <a:r>
              <a:t>        "published": "2024 시범 / 2025 확대 계획 발표",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"음성 접점과 상담 전환의 연속성",</a:t>
            </a:r>
          </a:p>
          <a:p xmlns:a="http://schemas.openxmlformats.org/drawingml/2006/main">
            <a:r>
              <a:t>    "local": "TS 기존 민원 메뉴에 음성·텍스트 진입점 추가",</a:t>
            </a:r>
          </a:p>
          <a:p xmlns:a="http://schemas.openxmlformats.org/drawingml/2006/main">
            <a:r>
              <a:t>    "sourceDetail": null,</a:t>
            </a:r>
          </a:p>
          <a:p xmlns:a="http://schemas.openxmlformats.org/drawingml/2006/main">
            <a:r>
              <a:t>    "narrative": [</a:t>
            </a:r>
          </a:p>
          <a:p xmlns:a="http://schemas.openxmlformats.org/drawingml/2006/main">
            <a:r>
              <a:t>      "반복 세무 문의를 전화 채널에서 안내하고 복잡한 질문을 상담원에게 연결하는 음성 상담 사례. 상담내용의 범위와 적용 연도를 정확히 식별하는 작업이 중요.",</a:t>
            </a:r>
          </a:p>
          <a:p xmlns:a="http://schemas.openxmlformats.org/drawingml/2006/main">
            <a:r>
              <a:t>      "발화의 세목·기간·질문 목적을 정리하고 승인 지식을 찾아 음성으로 안내하는 구조의 재구성. 응답이 불분명하거나 예외 판단이 필요한 경우 대화 맥락을 상담원에게 전달.",</a:t>
            </a:r>
          </a:p>
          <a:p xmlns:a="http://schemas.openxmlformats.org/drawingml/2006/main">
            <a:r>
              <a:t>      "TS 음성 민원 접점에서 인식률만으로 검수하지 않고 필수 항목 확인과 인계 성공을 포함할 근거. 시범 운영과 전국 확대 계획, 실제 해결률을 각각 구분한 비교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"전화 상담 접점",</a:t>
            </a:r>
          </a:p>
          <a:p xmlns:a="http://schemas.openxmlformats.org/drawingml/2006/main">
            <a:r>
              <a:t>          "layer": "이용 접점",</a:t>
            </a:r>
          </a:p>
          <a:p xmlns:a="http://schemas.openxmlformats.org/drawingml/2006/main">
            <a:r>
              <a:t>          "detail": "납세자·상담원",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"세목·기간 확인",</a:t>
            </a:r>
          </a:p>
          <a:p xmlns:a="http://schemas.openxmlformats.org/drawingml/2006/main">
            <a:r>
              <a:t>          "layer": "업무 문맥",</a:t>
            </a:r>
          </a:p>
          <a:p xmlns:a="http://schemas.openxmlformats.org/drawingml/2006/main">
            <a:r>
              <a:t>          "detail": "발화에서 세목·기간·문의 목적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검색",</a:t>
            </a:r>
          </a:p>
          <a:p xmlns:a="http://schemas.openxmlformats.org/drawingml/2006/main">
            <a:r>
              <a:t>          "layer": "자료 조회",</a:t>
            </a:r>
          </a:p>
          <a:p xmlns:a="http://schemas.openxmlformats.org/drawingml/2006/main">
            <a:r>
              <a:t>          "detail": "전화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"발화·의도 처리",</a:t>
            </a:r>
          </a:p>
          <a:p xmlns:a="http://schemas.openxmlformats.org/drawingml/2006/main">
            <a:r>
              <a:t>          "layer": "핵심 처리",</a:t>
            </a:r>
          </a:p>
          <a:p xmlns:a="http://schemas.openxmlformats.org/drawingml/2006/main">
            <a:r>
              <a:t>          "detail": "질의에 맞춘 상담 지식 탐색·음성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"핵심 조건 확인",</a:t>
            </a:r>
          </a:p>
          <a:p xmlns:a="http://schemas.openxmlformats.org/drawingml/2006/main">
            <a:r>
              <a:t>          "layer": "결과 검증",</a:t>
            </a:r>
          </a:p>
          <a:p xmlns:a="http://schemas.openxmlformats.org/drawingml/2006/main">
            <a:r>
              <a:t>          "detail": "핵심 발화 확인·전문 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"이용자·상담원",</a:t>
            </a:r>
          </a:p>
          <a:p xmlns:a="http://schemas.openxmlformats.org/drawingml/2006/main">
            <a:r>
              <a:t>          "layer": "사람 확인",</a:t>
            </a:r>
          </a:p>
          <a:p xmlns:a="http://schemas.openxmlformats.org/drawingml/2006/main">
            <a:r>
              <a:t>          "detail": "납세자의 세목·귀속연도를 확인한 뒤 안내·상담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"음성 안내·인계",</a:t>
            </a:r>
          </a:p>
          <a:p xmlns:a="http://schemas.openxmlformats.org/drawingml/2006/main">
            <a:r>
              <a:t>          "layer": "업무 연결",</a:t>
            </a:r>
          </a:p>
          <a:p xmlns:a="http://schemas.openxmlformats.org/drawingml/2006/main">
            <a:r>
              <a:t>          "detail": "해결 곤란 질문의 상담원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"반복 문의 분석",</a:t>
            </a:r>
          </a:p>
          <a:p xmlns:a="http://schemas.openxmlformats.org/drawingml/2006/main">
            <a:r>
              <a:t>          "layer": "운영 관측",</a:t>
            </a:r>
          </a:p>
          <a:p xmlns:a="http://schemas.openxmlformats.org/drawingml/2006/main">
            <a:r>
              <a:t>          "detail": "상담 이관·반복 문의·안내 오류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"세무 상담자료",</a:t>
            </a:r>
          </a:p>
          <a:p xmlns:a="http://schemas.openxmlformats.org/drawingml/2006/main">
            <a:r>
              <a:t>          "layer": "데이터 원천",</a:t>
            </a:r>
          </a:p>
          <a:p xmlns:a="http://schemas.openxmlformats.org/drawingml/2006/main">
            <a:r>
              <a:t>          "detail": "세무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"적용연도 정리",</a:t>
            </a:r>
          </a:p>
          <a:p xmlns:a="http://schemas.openxmlformats.org/drawingml/2006/main">
            <a:r>
              <a:t>          "layer": "준비·갱신",</a:t>
            </a:r>
          </a:p>
          <a:p xmlns:a="http://schemas.openxmlformats.org/drawingml/2006/main">
            <a:r>
              <a:t>          "detail": "승인 상담자료·세목·적용연도별 지식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"지식·상담 이력",</a:t>
            </a:r>
          </a:p>
          <a:p xmlns:a="http://schemas.openxmlformats.org/drawingml/2006/main">
            <a:r>
              <a:t>          "layer": "상태·지식 저장",</a:t>
            </a:r>
          </a:p>
          <a:p xmlns:a="http://schemas.openxmlformats.org/drawingml/2006/main">
            <a:r>
              <a:t>          "detail": "필수 항목 인식표와 상담원 인계·해결 여부",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 상담 기준",</a:t>
            </a:r>
          </a:p>
          <a:p xmlns:a="http://schemas.openxmlformats.org/drawingml/2006/main">
            <a:r>
              <a:t>          "layer": "권한·정책",</a:t>
            </a:r>
          </a:p>
          <a:p xmlns:a="http://schemas.openxmlformats.org/drawingml/2006/main">
            <a:r>
              <a:t>          "detail": "발화 인식 실패·다른 귀속연도·개인별 과세 판단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"전화 발화 → 질의 의도 분류 → 세무 안내 → 추가 상담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"발화에서 세목·기간·문의 목적 확인",</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"전화 발화",</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"세무 안내 지식",</a:t>
            </a:r>
          </a:p>
          <a:p xmlns:a="http://schemas.openxmlformats.org/drawingml/2006/main">
            <a:r>
              <a:t>          "check": "승인 상담자료·세목·적용연도별 지식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"세무 안내",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"반복 세무 문의의 음성 상담 지원 / 전화 응대·세무 안내·상담 전환",</a:t>
            </a:r>
          </a:p>
          <a:p xmlns:a="http://schemas.openxmlformats.org/drawingml/2006/main">
            <a:r>
              <a:t>        "extension": "TS 기존 민원 메뉴에 음성·텍스트 진입점 추가"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"발화 인식 실패·다른 귀속연도·개인별 과세 판단 요청",</a:t>
            </a:r>
          </a:p>
          <a:p xmlns:a="http://schemas.openxmlformats.org/drawingml/2006/main">
            <a:r>
              <a:t>        "hold": "핵심 발화 확인·전문 상담 전환",</a:t>
            </a:r>
          </a:p>
          <a:p xmlns:a="http://schemas.openxmlformats.org/drawingml/2006/main">
            <a:r>
              <a:t>        "recovery": "상담 이관·반복 문의·안내 오류 점검",</a:t>
            </a:r>
          </a:p>
          <a:p xmlns:a="http://schemas.openxmlformats.org/drawingml/2006/main">
            <a:r>
              <a:t>        "evidence": "필수 항목 인식표와 상담원 인계·해결 여부"</a:t>
            </a:r>
          </a:p>
          <a:p xmlns:a="http://schemas.openxmlformats.org/drawingml/2006/main">
            <a:r>
              <a:t>      },</a:t>
            </a:r>
          </a:p>
          <a:p xmlns:a="http://schemas.openxmlformats.org/drawingml/2006/main">
            <a:r>
              <a:t>      "data": {</a:t>
            </a:r>
          </a:p>
          <a:p xmlns:a="http://schemas.openxmlformats.org/drawingml/2006/main">
            <a:r>
              <a:t>        "source": "세무 안내 지식",</a:t>
            </a:r>
          </a:p>
          <a:p xmlns:a="http://schemas.openxmlformats.org/drawingml/2006/main">
            <a:r>
              <a:t>        "prepare": "승인 상담자료·세목·적용연도별 지식 관리",</a:t>
            </a:r>
          </a:p>
          <a:p xmlns:a="http://schemas.openxmlformats.org/drawingml/2006/main">
            <a:r>
              <a:t>        "output": "전화 발화",</a:t>
            </a:r>
          </a:p>
          <a:p xmlns:a="http://schemas.openxmlformats.org/drawingml/2006/main">
            <a:r>
              <a:t>        "refresh": "상담 이관·반복 문의·안내 오류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"AX15",</a:t>
            </a:r>
          </a:p>
          <a:p xmlns:a="http://schemas.openxmlformats.org/drawingml/2006/main">
            <a:r>
              <a:t>    "success": [</a:t>
            </a:r>
          </a:p>
          <a:p xmlns:a="http://schemas.openxmlformats.org/drawingml/2006/main">
            <a:r>
              <a:t>      "전화 채널과 세무 안내 결합",</a:t>
            </a:r>
          </a:p>
          <a:p xmlns:a="http://schemas.openxmlformats.org/drawingml/2006/main">
            <a:r>
              <a:t>      "시범 적용 후 확대 검토"</a:t>
            </a:r>
          </a:p>
          <a:p xmlns:a="http://schemas.openxmlformats.org/drawingml/2006/main">
            <a:r>
              <a:t>    ],</a:t>
            </a:r>
          </a:p>
          <a:p xmlns:a="http://schemas.openxmlformats.org/drawingml/2006/main">
            <a:r>
              <a:t>    "risks": [</a:t>
            </a:r>
          </a:p>
          <a:p xmlns:a="http://schemas.openxmlformats.org/drawingml/2006/main">
            <a:r>
              <a:t>      "예외 세무상담의 잘못된 안내",</a:t>
            </a:r>
          </a:p>
          <a:p xmlns:a="http://schemas.openxmlformats.org/drawingml/2006/main">
            <a:r>
              <a:t>      "시범 성과와 전국 운영의 혼동"</a:t>
            </a:r>
          </a:p>
          <a:p xmlns:a="http://schemas.openxmlformats.org/drawingml/2006/main">
            <a:r>
              <a:t>    ],</a:t>
            </a:r>
          </a:p>
          <a:p xmlns:a="http://schemas.openxmlformats.org/drawingml/2006/main">
            <a:r>
              <a:t>    "architecture": [</a:t>
            </a:r>
          </a:p>
          <a:p xmlns:a="http://schemas.openxmlformats.org/drawingml/2006/main">
            <a:r>
              <a:t>      "전화 상담",</a:t>
            </a:r>
          </a:p>
          <a:p xmlns:a="http://schemas.openxmlformats.org/drawingml/2006/main">
            <a:r>
              <a:t>      "음성·의도 처리",</a:t>
            </a:r>
          </a:p>
          <a:p xmlns:a="http://schemas.openxmlformats.org/drawingml/2006/main">
            <a:r>
              <a:t>      "세무 안내 지식",</a:t>
            </a:r>
          </a:p>
          <a:p xmlns:a="http://schemas.openxmlformats.org/drawingml/2006/main">
            <a:r>
              <a:t>      "이용자·상담원"</a:t>
            </a:r>
          </a:p>
          <a:p xmlns:a="http://schemas.openxmlformats.org/drawingml/2006/main">
            <a:r>
              <a:t>    ],</a:t>
            </a:r>
          </a:p>
          <a:p xmlns:a="http://schemas.openxmlformats.org/drawingml/2006/main">
            <a:r>
              <a:t>    "transfers": [</a:t>
            </a:r>
          </a:p>
          <a:p xmlns:a="http://schemas.openxmlformats.org/drawingml/2006/main">
            <a:r>
              <a:t>      "전화 발화",</a:t>
            </a:r>
          </a:p>
          <a:p xmlns:a="http://schemas.openxmlformats.org/drawingml/2006/main">
            <a:r>
              <a:t>      "질의 의도",</a:t>
            </a:r>
          </a:p>
          <a:p xmlns:a="http://schemas.openxmlformats.org/drawingml/2006/main">
            <a:r>
              <a:t>      "세무 안내",</a:t>
            </a:r>
          </a:p>
          <a:p xmlns:a="http://schemas.openxmlformats.org/drawingml/2006/main">
            <a:r>
              <a:t>      "후속 상담"</a:t>
            </a:r>
          </a:p>
          <a:p xmlns:a="http://schemas.openxmlformats.org/drawingml/2006/main">
            <a:r>
              <a:t>    ],</a:t>
            </a:r>
          </a:p>
          <a:p xmlns:a="http://schemas.openxmlformats.org/drawingml/2006/main">
            <a:r>
              <a:t>    "control": "핵심 발화 확인·전문 상담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국세청 AI 전화상담 · 국세청 발표 / 2024-11-14 https://www.nts.go.kr/nts/na/ntt/selectNttInfo.do?bbsId=1011&amp;mi=2207&amp;nttSn=1339206</a:t>
            </a:r>
          </a:p>
          <a:p xmlns:a="http://schemas.openxmlformats.org/drawingml/2006/main">
            <a:r>
              <a:t>홈페이지 https://heen1987-ops.github.io/TS-business-Plan-001/index.html?view=casebook&amp;case=AX15</a:t>
            </a:r>
          </a:p>
          <a:p xmlns:a="http://schemas.openxmlformats.org/drawingml/2006/main">
            <a:r>
              <a:t>한계: 시범 운영과 이후 확대 계획 구분 · 개인별 과세 판단 자동화로 해석 금지</a:t>
            </a:r>
          </a:p>
          <a:p xmlns:a="http://schemas.openxmlformats.org/drawingml/2006/main">
            <a:r>
              <a:t>실패 위험: 예외 세무상담의 잘못된 안내 / 시범 성과와 전국 운영의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"AX15",</a:t>
            </a:r>
          </a:p>
          <a:p xmlns:a="http://schemas.openxmlformats.org/drawingml/2006/main">
            <a:r>
              <a:t>    "title": "국세청 AI 전화상담",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"음성 기반 민원 안내",</a:t>
            </a:r>
          </a:p>
          <a:p xmlns:a="http://schemas.openxmlformats.org/drawingml/2006/main">
            <a:r>
              <a:t>    "period": "2024 시범 / 2025 확대 계획 발표",</a:t>
            </a:r>
          </a:p>
          <a:p xmlns:a="http://schemas.openxmlformats.org/drawingml/2006/main">
            <a:r>
              <a:t>    "sources": [</a:t>
            </a:r>
          </a:p>
          <a:p xmlns:a="http://schemas.openxmlformats.org/drawingml/2006/main">
            <a:r>
              <a:t>      "S-AX15"</a:t>
            </a:r>
          </a:p>
          <a:p xmlns:a="http://schemas.openxmlformats.org/drawingml/2006/main">
            <a:r>
              <a:t>    ],</a:t>
            </a:r>
          </a:p>
          <a:p xmlns:a="http://schemas.openxmlformats.org/drawingml/2006/main">
            <a:r>
              <a:t>    "keywords": [</a:t>
            </a:r>
          </a:p>
          <a:p xmlns:a="http://schemas.openxmlformats.org/drawingml/2006/main">
            <a:r>
              <a:t>      "음성 기반 민원 안내"</a:t>
            </a:r>
          </a:p>
          <a:p xmlns:a="http://schemas.openxmlformats.org/drawingml/2006/main">
            <a:r>
              <a:t>    ],</a:t>
            </a:r>
          </a:p>
          <a:p xmlns:a="http://schemas.openxmlformats.org/drawingml/2006/main">
            <a:r>
              <a:t>    "fact": "일부 세무서 시범 전화상담과 전국 확대 계획 공개",</a:t>
            </a:r>
          </a:p>
          <a:p xmlns:a="http://schemas.openxmlformats.org/drawingml/2006/main">
            <a:r>
              <a:t>    "limit": "시범 운영과 이후 확대 계획 구분 · 개인별 과세 판단 자동화로 해석 금지",</a:t>
            </a:r>
          </a:p>
          <a:p xmlns:a="http://schemas.openxmlformats.org/drawingml/2006/main">
            <a:r>
              <a:t>    "flow": [</a:t>
            </a:r>
          </a:p>
          <a:p xmlns:a="http://schemas.openxmlformats.org/drawingml/2006/main">
            <a:r>
              <a:t>      "전화 발화",</a:t>
            </a:r>
          </a:p>
          <a:p xmlns:a="http://schemas.openxmlformats.org/drawingml/2006/main">
            <a:r>
              <a:t>      "질의 의도 분류",</a:t>
            </a:r>
          </a:p>
          <a:p xmlns:a="http://schemas.openxmlformats.org/drawingml/2006/main">
            <a:r>
              <a:t>      "세무 안내",</a:t>
            </a:r>
          </a:p>
          <a:p xmlns:a="http://schemas.openxmlformats.org/drawingml/2006/main">
            <a:r>
              <a:t>      "추가 상담 연결"</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"음성 접점과 상담 전환의 연속성",</a:t>
            </a:r>
          </a:p>
          <a:p xmlns:a="http://schemas.openxmlformats.org/drawingml/2006/main">
            <a:r>
              <a:t>    "local": "TS 기존 민원 메뉴에 음성·텍스트 진입점 추가",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"발화 정리·확인·소관 서비스·상담 인계",</a:t>
            </a:r>
          </a:p>
          <a:p xmlns:a="http://schemas.openxmlformats.org/drawingml/2006/main">
            <a:r>
              <a:t>    "test": "고령·소음·중도 정정·상담 전환 과업 시험",</a:t>
            </a:r>
          </a:p>
          <a:p xmlns:a="http://schemas.openxmlformats.org/drawingml/2006/main">
            <a:r>
              <a:t>    "metric": "안내 도달률 / 포기율 / 재문의율",</a:t>
            </a:r>
          </a:p>
          <a:p xmlns:a="http://schemas.openxmlformats.org/drawingml/2006/main">
            <a:r>
              <a:t>    "strategies": [</a:t>
            </a:r>
          </a:p>
          <a:p xmlns:a="http://schemas.openxmlformats.org/drawingml/2006/main">
            <a:r>
              <a:t>      "ST-08",</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"AX15",</a:t>
            </a:r>
          </a:p>
          <a:p xmlns:a="http://schemas.openxmlformats.org/drawingml/2006/main">
            <a:r>
              <a:t>    "canonicalId": "AX15",</a:t>
            </a:r>
          </a:p>
          <a:p xmlns:a="http://schemas.openxmlformats.org/drawingml/2006/main">
            <a:r>
              <a:t>    "purpose": "반복 세무 문의의 음성 상담 지원",</a:t>
            </a:r>
          </a:p>
          <a:p xmlns:a="http://schemas.openxmlformats.org/drawingml/2006/main">
            <a:r>
              <a:t>    "users": "납세자·상담원",</a:t>
            </a:r>
          </a:p>
          <a:p xmlns:a="http://schemas.openxmlformats.org/drawingml/2006/main">
            <a:r>
              <a:t>    "scope": [</a:t>
            </a:r>
          </a:p>
          <a:p xmlns:a="http://schemas.openxmlformats.org/drawingml/2006/main">
            <a:r>
              <a:t>      "전화 응대",</a:t>
            </a:r>
          </a:p>
          <a:p xmlns:a="http://schemas.openxmlformats.org/drawingml/2006/main">
            <a:r>
              <a:t>      "세무 안내",</a:t>
            </a:r>
          </a:p>
          <a:p xmlns:a="http://schemas.openxmlformats.org/drawingml/2006/main">
            <a:r>
              <a:t>      "상담 전환"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"전화 상담",</a:t>
            </a:r>
          </a:p>
          <a:p xmlns:a="http://schemas.openxmlformats.org/drawingml/2006/main">
            <a:r>
              <a:t>        "detail": "발화에서 세목·기간·문의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"전화 응대 / 세무 안내 / 상담 전환",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"음성·의도 처리",</a:t>
            </a:r>
          </a:p>
          <a:p xmlns:a="http://schemas.openxmlformats.org/drawingml/2006/main">
            <a:r>
              <a:t>        "detail": "질의에 맞춘 상담 지식 탐색·음성 안내",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"이용자·상담원",</a:t>
            </a:r>
          </a:p>
          <a:p xmlns:a="http://schemas.openxmlformats.org/drawingml/2006/main">
            <a:r>
              <a:t>        "detail": "해결 곤란 질문의 상담원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"세무 안내 지식",</a:t>
            </a:r>
          </a:p>
          <a:p xmlns:a="http://schemas.openxmlformats.org/drawingml/2006/main">
            <a:r>
              <a:t>        "detail": "승인 상담자료·세목·적용연도별 지식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"상담 이관·반복 문의·안내 오류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"전화 발화",</a:t>
            </a:r>
          </a:p>
          <a:p xmlns:a="http://schemas.openxmlformats.org/drawingml/2006/main">
            <a:r>
              <a:t>        "input": "발화에서 세목·기간·문의 목적 확인",</a:t>
            </a:r>
          </a:p>
          <a:p xmlns:a="http://schemas.openxmlformats.org/drawingml/2006/main">
            <a:r>
              <a:t>        "process": "승인 상담자료·세목·적용연도별 지식 관리",</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"title": "질의 의도 분류",</a:t>
            </a:r>
          </a:p>
          <a:p xmlns:a="http://schemas.openxmlformats.org/drawingml/2006/main">
            <a:r>
              <a:t>        "input": "전화 발화",</a:t>
            </a:r>
          </a:p>
          <a:p xmlns:a="http://schemas.openxmlformats.org/drawingml/2006/main">
            <a:r>
              <a:t>        "process": "질의에 맞춘 상담 지식 탐색·음성 안내",</a:t>
            </a:r>
          </a:p>
          <a:p xmlns:a="http://schemas.openxmlformats.org/drawingml/2006/main">
            <a:r>
              <a:t>        "output": "질의 의도"</a:t>
            </a:r>
          </a:p>
          <a:p xmlns:a="http://schemas.openxmlformats.org/drawingml/2006/main">
            <a:r>
              <a:t>      },</a:t>
            </a:r>
          </a:p>
          <a:p xmlns:a="http://schemas.openxmlformats.org/drawingml/2006/main">
            <a:r>
              <a:t>      {</a:t>
            </a:r>
          </a:p>
          <a:p xmlns:a="http://schemas.openxmlformats.org/drawingml/2006/main">
            <a:r>
              <a:t>        "title": "세무 안내",</a:t>
            </a:r>
          </a:p>
          <a:p xmlns:a="http://schemas.openxmlformats.org/drawingml/2006/main">
            <a:r>
              <a:t>        "input": "질의 의도",</a:t>
            </a:r>
          </a:p>
          <a:p xmlns:a="http://schemas.openxmlformats.org/drawingml/2006/main">
            <a:r>
              <a:t>        "process": "핵심 발화 확인·전문 상담 전환",</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"title": "추가 상담 연결",</a:t>
            </a:r>
          </a:p>
          <a:p xmlns:a="http://schemas.openxmlformats.org/drawingml/2006/main">
            <a:r>
              <a:t>        "input": "세무 안내",</a:t>
            </a:r>
          </a:p>
          <a:p xmlns:a="http://schemas.openxmlformats.org/drawingml/2006/main">
            <a:r>
              <a:t>        "process":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"납세자의 세목·귀속연도를 확인한 뒤 안내·상담 전환",</a:t>
            </a:r>
          </a:p>
          <a:p xmlns:a="http://schemas.openxmlformats.org/drawingml/2006/main">
            <a:r>
              <a:t>      "exception": "발화 인식 실패·다른 귀속연도·개인별 과세 판단 요청",</a:t>
            </a:r>
          </a:p>
          <a:p xmlns:a="http://schemas.openxmlformats.org/drawingml/2006/main">
            <a:r>
              <a:t>      "evidence": "필수 항목 인식표와 상담원 인계·해결 여부",</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"납세자·상담원",</a:t>
            </a:r>
          </a:p>
          <a:p xmlns:a="http://schemas.openxmlformats.org/drawingml/2006/main">
            <a:r>
              <a:t>          "processing": "발화에서 세목·기간·문의 목적 확인",</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"세무 안내 지식",</a:t>
            </a:r>
          </a:p>
          <a:p xmlns:a="http://schemas.openxmlformats.org/drawingml/2006/main">
            <a:r>
              <a:t>          "processing": "승인 상담자료·세목·적용연도별 지식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"전화 발화",</a:t>
            </a:r>
          </a:p>
          <a:p xmlns:a="http://schemas.openxmlformats.org/drawingml/2006/main">
            <a:r>
              <a:t>          "processing": "질의에 맞춘 상담 지식 탐색·음성 안내",</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"세무 안내",</a:t>
            </a:r>
          </a:p>
          <a:p xmlns:a="http://schemas.openxmlformats.org/drawingml/2006/main">
            <a:r>
              <a:t>          "processing":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"상담 이관·반복 문의·안내 오류 점검",</a:t>
            </a:r>
          </a:p>
          <a:p xmlns:a="http://schemas.openxmlformats.org/drawingml/2006/main">
            <a:r>
              <a:t>          "output": "필수 항목 인식표와 상담원 인계·해결 여부"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"상담 이관·반복 문의·안내 오류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"S-AX15",</a:t>
            </a:r>
          </a:p>
          <a:p xmlns:a="http://schemas.openxmlformats.org/drawingml/2006/main">
            <a:r>
              <a:t>        "title": "국세청 AI 전화상담 · 국세청 발표 / 2024-11-14",</a:t>
            </a:r>
          </a:p>
          <a:p xmlns:a="http://schemas.openxmlformats.org/drawingml/2006/main">
            <a:r>
              <a:t>        "url": "https://www.nts.go.kr/nts/na/ntt/selectNttInfo.do?bbsId=1011&amp;mi=2207&amp;nttSn=1339206",</a:t>
            </a:r>
          </a:p>
          <a:p xmlns:a="http://schemas.openxmlformats.org/drawingml/2006/main">
            <a:r>
              <a:t>        "published": "2024 시범 / 2025 확대 계획 발표",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"음성 접점과 상담 전환의 연속성",</a:t>
            </a:r>
          </a:p>
          <a:p xmlns:a="http://schemas.openxmlformats.org/drawingml/2006/main">
            <a:r>
              <a:t>    "local": "TS 기존 민원 메뉴에 음성·텍스트 진입점 추가",</a:t>
            </a:r>
          </a:p>
          <a:p xmlns:a="http://schemas.openxmlformats.org/drawingml/2006/main">
            <a:r>
              <a:t>    "sourceDetail": null,</a:t>
            </a:r>
          </a:p>
          <a:p xmlns:a="http://schemas.openxmlformats.org/drawingml/2006/main">
            <a:r>
              <a:t>    "narrative": [</a:t>
            </a:r>
          </a:p>
          <a:p xmlns:a="http://schemas.openxmlformats.org/drawingml/2006/main">
            <a:r>
              <a:t>      "반복 세무 문의를 전화 채널에서 안내하고 복잡한 질문을 상담원에게 연결하는 음성 상담 사례. 상담내용의 범위와 적용 연도를 정확히 식별하는 작업이 중요.",</a:t>
            </a:r>
          </a:p>
          <a:p xmlns:a="http://schemas.openxmlformats.org/drawingml/2006/main">
            <a:r>
              <a:t>      "발화의 세목·기간·질문 목적을 정리하고 승인 지식을 찾아 음성으로 안내하는 구조의 재구성. 응답이 불분명하거나 예외 판단이 필요한 경우 대화 맥락을 상담원에게 전달.",</a:t>
            </a:r>
          </a:p>
          <a:p xmlns:a="http://schemas.openxmlformats.org/drawingml/2006/main">
            <a:r>
              <a:t>      "TS 음성 민원 접점에서 인식률만으로 검수하지 않고 필수 항목 확인과 인계 성공을 포함할 근거. 시범 운영과 전국 확대 계획, 실제 해결률을 각각 구분한 비교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"전화 상담 접점",</a:t>
            </a:r>
          </a:p>
          <a:p xmlns:a="http://schemas.openxmlformats.org/drawingml/2006/main">
            <a:r>
              <a:t>          "layer": "이용 접점",</a:t>
            </a:r>
          </a:p>
          <a:p xmlns:a="http://schemas.openxmlformats.org/drawingml/2006/main">
            <a:r>
              <a:t>          "detail": "납세자·상담원",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"세목·기간 확인",</a:t>
            </a:r>
          </a:p>
          <a:p xmlns:a="http://schemas.openxmlformats.org/drawingml/2006/main">
            <a:r>
              <a:t>          "layer": "업무 문맥",</a:t>
            </a:r>
          </a:p>
          <a:p xmlns:a="http://schemas.openxmlformats.org/drawingml/2006/main">
            <a:r>
              <a:t>          "detail": "발화에서 세목·기간·문의 목적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검색",</a:t>
            </a:r>
          </a:p>
          <a:p xmlns:a="http://schemas.openxmlformats.org/drawingml/2006/main">
            <a:r>
              <a:t>          "layer": "자료 조회",</a:t>
            </a:r>
          </a:p>
          <a:p xmlns:a="http://schemas.openxmlformats.org/drawingml/2006/main">
            <a:r>
              <a:t>          "detail": "전화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"발화·의도 처리",</a:t>
            </a:r>
          </a:p>
          <a:p xmlns:a="http://schemas.openxmlformats.org/drawingml/2006/main">
            <a:r>
              <a:t>          "layer": "핵심 처리",</a:t>
            </a:r>
          </a:p>
          <a:p xmlns:a="http://schemas.openxmlformats.org/drawingml/2006/main">
            <a:r>
              <a:t>          "detail": "질의에 맞춘 상담 지식 탐색·음성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"핵심 조건 확인",</a:t>
            </a:r>
          </a:p>
          <a:p xmlns:a="http://schemas.openxmlformats.org/drawingml/2006/main">
            <a:r>
              <a:t>          "layer": "결과 검증",</a:t>
            </a:r>
          </a:p>
          <a:p xmlns:a="http://schemas.openxmlformats.org/drawingml/2006/main">
            <a:r>
              <a:t>          "detail": "핵심 발화 확인·전문 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"이용자·상담원",</a:t>
            </a:r>
          </a:p>
          <a:p xmlns:a="http://schemas.openxmlformats.org/drawingml/2006/main">
            <a:r>
              <a:t>          "layer": "사람 확인",</a:t>
            </a:r>
          </a:p>
          <a:p xmlns:a="http://schemas.openxmlformats.org/drawingml/2006/main">
            <a:r>
              <a:t>          "detail": "납세자의 세목·귀속연도를 확인한 뒤 안내·상담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"음성 안내·인계",</a:t>
            </a:r>
          </a:p>
          <a:p xmlns:a="http://schemas.openxmlformats.org/drawingml/2006/main">
            <a:r>
              <a:t>          "layer": "업무 연결",</a:t>
            </a:r>
          </a:p>
          <a:p xmlns:a="http://schemas.openxmlformats.org/drawingml/2006/main">
            <a:r>
              <a:t>          "detail": "해결 곤란 질문의 상담원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"반복 문의 분석",</a:t>
            </a:r>
          </a:p>
          <a:p xmlns:a="http://schemas.openxmlformats.org/drawingml/2006/main">
            <a:r>
              <a:t>          "layer": "운영 관측",</a:t>
            </a:r>
          </a:p>
          <a:p xmlns:a="http://schemas.openxmlformats.org/drawingml/2006/main">
            <a:r>
              <a:t>          "detail": "상담 이관·반복 문의·안내 오류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"세무 상담자료",</a:t>
            </a:r>
          </a:p>
          <a:p xmlns:a="http://schemas.openxmlformats.org/drawingml/2006/main">
            <a:r>
              <a:t>          "layer": "데이터 원천",</a:t>
            </a:r>
          </a:p>
          <a:p xmlns:a="http://schemas.openxmlformats.org/drawingml/2006/main">
            <a:r>
              <a:t>          "detail": "세무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"적용연도 정리",</a:t>
            </a:r>
          </a:p>
          <a:p xmlns:a="http://schemas.openxmlformats.org/drawingml/2006/main">
            <a:r>
              <a:t>          "layer": "준비·갱신",</a:t>
            </a:r>
          </a:p>
          <a:p xmlns:a="http://schemas.openxmlformats.org/drawingml/2006/main">
            <a:r>
              <a:t>          "detail": "승인 상담자료·세목·적용연도별 지식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"지식·상담 이력",</a:t>
            </a:r>
          </a:p>
          <a:p xmlns:a="http://schemas.openxmlformats.org/drawingml/2006/main">
            <a:r>
              <a:t>          "layer": "상태·지식 저장",</a:t>
            </a:r>
          </a:p>
          <a:p xmlns:a="http://schemas.openxmlformats.org/drawingml/2006/main">
            <a:r>
              <a:t>          "detail": "필수 항목 인식표와 상담원 인계·해결 여부",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 상담 기준",</a:t>
            </a:r>
          </a:p>
          <a:p xmlns:a="http://schemas.openxmlformats.org/drawingml/2006/main">
            <a:r>
              <a:t>          "layer": "권한·정책",</a:t>
            </a:r>
          </a:p>
          <a:p xmlns:a="http://schemas.openxmlformats.org/drawingml/2006/main">
            <a:r>
              <a:t>          "detail": "발화 인식 실패·다른 귀속연도·개인별 과세 판단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"전화 발화 → 질의 의도 분류 → 세무 안내 → 추가 상담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"발화에서 세목·기간·문의 목적 확인",</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"전화 발화",</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"세무 안내 지식",</a:t>
            </a:r>
          </a:p>
          <a:p xmlns:a="http://schemas.openxmlformats.org/drawingml/2006/main">
            <a:r>
              <a:t>          "check": "승인 상담자료·세목·적용연도별 지식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"세무 안내",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"반복 세무 문의의 음성 상담 지원 / 전화 응대·세무 안내·상담 전환",</a:t>
            </a:r>
          </a:p>
          <a:p xmlns:a="http://schemas.openxmlformats.org/drawingml/2006/main">
            <a:r>
              <a:t>        "extension": "TS 기존 민원 메뉴에 음성·텍스트 진입점 추가"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"발화 인식 실패·다른 귀속연도·개인별 과세 판단 요청",</a:t>
            </a:r>
          </a:p>
          <a:p xmlns:a="http://schemas.openxmlformats.org/drawingml/2006/main">
            <a:r>
              <a:t>        "hold": "핵심 발화 확인·전문 상담 전환",</a:t>
            </a:r>
          </a:p>
          <a:p xmlns:a="http://schemas.openxmlformats.org/drawingml/2006/main">
            <a:r>
              <a:t>        "recovery": "상담 이관·반복 문의·안내 오류 점검",</a:t>
            </a:r>
          </a:p>
          <a:p xmlns:a="http://schemas.openxmlformats.org/drawingml/2006/main">
            <a:r>
              <a:t>        "evidence": "필수 항목 인식표와 상담원 인계·해결 여부"</a:t>
            </a:r>
          </a:p>
          <a:p xmlns:a="http://schemas.openxmlformats.org/drawingml/2006/main">
            <a:r>
              <a:t>      },</a:t>
            </a:r>
          </a:p>
          <a:p xmlns:a="http://schemas.openxmlformats.org/drawingml/2006/main">
            <a:r>
              <a:t>      "data": {</a:t>
            </a:r>
          </a:p>
          <a:p xmlns:a="http://schemas.openxmlformats.org/drawingml/2006/main">
            <a:r>
              <a:t>        "source": "세무 안내 지식",</a:t>
            </a:r>
          </a:p>
          <a:p xmlns:a="http://schemas.openxmlformats.org/drawingml/2006/main">
            <a:r>
              <a:t>        "prepare": "승인 상담자료·세목·적용연도별 지식 관리",</a:t>
            </a:r>
          </a:p>
          <a:p xmlns:a="http://schemas.openxmlformats.org/drawingml/2006/main">
            <a:r>
              <a:t>        "output": "전화 발화",</a:t>
            </a:r>
          </a:p>
          <a:p xmlns:a="http://schemas.openxmlformats.org/drawingml/2006/main">
            <a:r>
              <a:t>        "refresh": "상담 이관·반복 문의·안내 오류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"AX15",</a:t>
            </a:r>
          </a:p>
          <a:p xmlns:a="http://schemas.openxmlformats.org/drawingml/2006/main">
            <a:r>
              <a:t>    "success": [</a:t>
            </a:r>
          </a:p>
          <a:p xmlns:a="http://schemas.openxmlformats.org/drawingml/2006/main">
            <a:r>
              <a:t>      "전화 채널과 세무 안내 결합",</a:t>
            </a:r>
          </a:p>
          <a:p xmlns:a="http://schemas.openxmlformats.org/drawingml/2006/main">
            <a:r>
              <a:t>      "시범 적용 후 확대 검토"</a:t>
            </a:r>
          </a:p>
          <a:p xmlns:a="http://schemas.openxmlformats.org/drawingml/2006/main">
            <a:r>
              <a:t>    ],</a:t>
            </a:r>
          </a:p>
          <a:p xmlns:a="http://schemas.openxmlformats.org/drawingml/2006/main">
            <a:r>
              <a:t>    "risks": [</a:t>
            </a:r>
          </a:p>
          <a:p xmlns:a="http://schemas.openxmlformats.org/drawingml/2006/main">
            <a:r>
              <a:t>      "예외 세무상담의 잘못된 안내",</a:t>
            </a:r>
          </a:p>
          <a:p xmlns:a="http://schemas.openxmlformats.org/drawingml/2006/main">
            <a:r>
              <a:t>      "시범 성과와 전국 운영의 혼동"</a:t>
            </a:r>
          </a:p>
          <a:p xmlns:a="http://schemas.openxmlformats.org/drawingml/2006/main">
            <a:r>
              <a:t>    ],</a:t>
            </a:r>
          </a:p>
          <a:p xmlns:a="http://schemas.openxmlformats.org/drawingml/2006/main">
            <a:r>
              <a:t>    "architecture": [</a:t>
            </a:r>
          </a:p>
          <a:p xmlns:a="http://schemas.openxmlformats.org/drawingml/2006/main">
            <a:r>
              <a:t>      "전화 상담",</a:t>
            </a:r>
          </a:p>
          <a:p xmlns:a="http://schemas.openxmlformats.org/drawingml/2006/main">
            <a:r>
              <a:t>      "음성·의도 처리",</a:t>
            </a:r>
          </a:p>
          <a:p xmlns:a="http://schemas.openxmlformats.org/drawingml/2006/main">
            <a:r>
              <a:t>      "세무 안내 지식",</a:t>
            </a:r>
          </a:p>
          <a:p xmlns:a="http://schemas.openxmlformats.org/drawingml/2006/main">
            <a:r>
              <a:t>      "이용자·상담원"</a:t>
            </a:r>
          </a:p>
          <a:p xmlns:a="http://schemas.openxmlformats.org/drawingml/2006/main">
            <a:r>
              <a:t>    ],</a:t>
            </a:r>
          </a:p>
          <a:p xmlns:a="http://schemas.openxmlformats.org/drawingml/2006/main">
            <a:r>
              <a:t>    "transfers": [</a:t>
            </a:r>
          </a:p>
          <a:p xmlns:a="http://schemas.openxmlformats.org/drawingml/2006/main">
            <a:r>
              <a:t>      "전화 발화",</a:t>
            </a:r>
          </a:p>
          <a:p xmlns:a="http://schemas.openxmlformats.org/drawingml/2006/main">
            <a:r>
              <a:t>      "질의 의도",</a:t>
            </a:r>
          </a:p>
          <a:p xmlns:a="http://schemas.openxmlformats.org/drawingml/2006/main">
            <a:r>
              <a:t>      "세무 안내",</a:t>
            </a:r>
          </a:p>
          <a:p xmlns:a="http://schemas.openxmlformats.org/drawingml/2006/main">
            <a:r>
              <a:t>      "후속 상담"</a:t>
            </a:r>
          </a:p>
          <a:p xmlns:a="http://schemas.openxmlformats.org/drawingml/2006/main">
            <a:r>
              <a:t>    ],</a:t>
            </a:r>
          </a:p>
          <a:p xmlns:a="http://schemas.openxmlformats.org/drawingml/2006/main">
            <a:r>
              <a:t>    "control": "핵심 발화 확인·전문 상담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국세청 AI 전화상담 · 국세청 발표 / 2024-11-14 https://www.nts.go.kr/nts/na/ntt/selectNttInfo.do?bbsId=1011&amp;mi=2207&amp;nttSn=1339206</a:t>
            </a:r>
          </a:p>
          <a:p xmlns:a="http://schemas.openxmlformats.org/drawingml/2006/main">
            <a:r>
              <a:t>홈페이지 https://heen1987-ops.github.io/TS-business-Plan-001/index.html?view=casebook&amp;case=AX15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"AX15",</a:t>
            </a:r>
          </a:p>
          <a:p xmlns:a="http://schemas.openxmlformats.org/drawingml/2006/main">
            <a:r>
              <a:t>    "title": "국세청 AI 전화상담",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"음성 기반 민원 안내",</a:t>
            </a:r>
          </a:p>
          <a:p xmlns:a="http://schemas.openxmlformats.org/drawingml/2006/main">
            <a:r>
              <a:t>    "period": "2024 시범 / 2025 확대 계획 발표",</a:t>
            </a:r>
          </a:p>
          <a:p xmlns:a="http://schemas.openxmlformats.org/drawingml/2006/main">
            <a:r>
              <a:t>    "sources": [</a:t>
            </a:r>
          </a:p>
          <a:p xmlns:a="http://schemas.openxmlformats.org/drawingml/2006/main">
            <a:r>
              <a:t>      "S-AX15"</a:t>
            </a:r>
          </a:p>
          <a:p xmlns:a="http://schemas.openxmlformats.org/drawingml/2006/main">
            <a:r>
              <a:t>    ],</a:t>
            </a:r>
          </a:p>
          <a:p xmlns:a="http://schemas.openxmlformats.org/drawingml/2006/main">
            <a:r>
              <a:t>    "keywords": [</a:t>
            </a:r>
          </a:p>
          <a:p xmlns:a="http://schemas.openxmlformats.org/drawingml/2006/main">
            <a:r>
              <a:t>      "음성 기반 민원 안내"</a:t>
            </a:r>
          </a:p>
          <a:p xmlns:a="http://schemas.openxmlformats.org/drawingml/2006/main">
            <a:r>
              <a:t>    ],</a:t>
            </a:r>
          </a:p>
          <a:p xmlns:a="http://schemas.openxmlformats.org/drawingml/2006/main">
            <a:r>
              <a:t>    "fact": "일부 세무서 시범 전화상담과 전국 확대 계획 공개",</a:t>
            </a:r>
          </a:p>
          <a:p xmlns:a="http://schemas.openxmlformats.org/drawingml/2006/main">
            <a:r>
              <a:t>    "limit": "시범 운영과 이후 확대 계획 구분 · 개인별 과세 판단 자동화로 해석 금지",</a:t>
            </a:r>
          </a:p>
          <a:p xmlns:a="http://schemas.openxmlformats.org/drawingml/2006/main">
            <a:r>
              <a:t>    "flow": [</a:t>
            </a:r>
          </a:p>
          <a:p xmlns:a="http://schemas.openxmlformats.org/drawingml/2006/main">
            <a:r>
              <a:t>      "전화 발화",</a:t>
            </a:r>
          </a:p>
          <a:p xmlns:a="http://schemas.openxmlformats.org/drawingml/2006/main">
            <a:r>
              <a:t>      "질의 의도 분류",</a:t>
            </a:r>
          </a:p>
          <a:p xmlns:a="http://schemas.openxmlformats.org/drawingml/2006/main">
            <a:r>
              <a:t>      "세무 안내",</a:t>
            </a:r>
          </a:p>
          <a:p xmlns:a="http://schemas.openxmlformats.org/drawingml/2006/main">
            <a:r>
              <a:t>      "추가 상담 연결"</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"음성 접점과 상담 전환의 연속성",</a:t>
            </a:r>
          </a:p>
          <a:p xmlns:a="http://schemas.openxmlformats.org/drawingml/2006/main">
            <a:r>
              <a:t>    "local": "TS 기존 민원 메뉴에 음성·텍스트 진입점 추가",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"발화 정리·확인·소관 서비스·상담 인계",</a:t>
            </a:r>
          </a:p>
          <a:p xmlns:a="http://schemas.openxmlformats.org/drawingml/2006/main">
            <a:r>
              <a:t>    "test": "고령·소음·중도 정정·상담 전환 과업 시험",</a:t>
            </a:r>
          </a:p>
          <a:p xmlns:a="http://schemas.openxmlformats.org/drawingml/2006/main">
            <a:r>
              <a:t>    "metric": "안내 도달률 / 포기율 / 재문의율",</a:t>
            </a:r>
          </a:p>
          <a:p xmlns:a="http://schemas.openxmlformats.org/drawingml/2006/main">
            <a:r>
              <a:t>    "strategies": [</a:t>
            </a:r>
          </a:p>
          <a:p xmlns:a="http://schemas.openxmlformats.org/drawingml/2006/main">
            <a:r>
              <a:t>      "ST-08",</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"AX15",</a:t>
            </a:r>
          </a:p>
          <a:p xmlns:a="http://schemas.openxmlformats.org/drawingml/2006/main">
            <a:r>
              <a:t>    "canonicalId": "AX15",</a:t>
            </a:r>
          </a:p>
          <a:p xmlns:a="http://schemas.openxmlformats.org/drawingml/2006/main">
            <a:r>
              <a:t>    "purpose": "반복 세무 문의의 음성 상담 지원",</a:t>
            </a:r>
          </a:p>
          <a:p xmlns:a="http://schemas.openxmlformats.org/drawingml/2006/main">
            <a:r>
              <a:t>    "users": "납세자·상담원",</a:t>
            </a:r>
          </a:p>
          <a:p xmlns:a="http://schemas.openxmlformats.org/drawingml/2006/main">
            <a:r>
              <a:t>    "scope": [</a:t>
            </a:r>
          </a:p>
          <a:p xmlns:a="http://schemas.openxmlformats.org/drawingml/2006/main">
            <a:r>
              <a:t>      "전화 응대",</a:t>
            </a:r>
          </a:p>
          <a:p xmlns:a="http://schemas.openxmlformats.org/drawingml/2006/main">
            <a:r>
              <a:t>      "세무 안내",</a:t>
            </a:r>
          </a:p>
          <a:p xmlns:a="http://schemas.openxmlformats.org/drawingml/2006/main">
            <a:r>
              <a:t>      "상담 전환"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"전화 상담",</a:t>
            </a:r>
          </a:p>
          <a:p xmlns:a="http://schemas.openxmlformats.org/drawingml/2006/main">
            <a:r>
              <a:t>        "detail": "발화에서 세목·기간·문의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"전화 응대 / 세무 안내 / 상담 전환",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"음성·의도 처리",</a:t>
            </a:r>
          </a:p>
          <a:p xmlns:a="http://schemas.openxmlformats.org/drawingml/2006/main">
            <a:r>
              <a:t>        "detail": "질의에 맞춘 상담 지식 탐색·음성 안내",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"이용자·상담원",</a:t>
            </a:r>
          </a:p>
          <a:p xmlns:a="http://schemas.openxmlformats.org/drawingml/2006/main">
            <a:r>
              <a:t>        "detail": "해결 곤란 질문의 상담원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"세무 안내 지식",</a:t>
            </a:r>
          </a:p>
          <a:p xmlns:a="http://schemas.openxmlformats.org/drawingml/2006/main">
            <a:r>
              <a:t>        "detail": "승인 상담자료·세목·적용연도별 지식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"상담 이관·반복 문의·안내 오류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"전화 발화",</a:t>
            </a:r>
          </a:p>
          <a:p xmlns:a="http://schemas.openxmlformats.org/drawingml/2006/main">
            <a:r>
              <a:t>        "input": "발화에서 세목·기간·문의 목적 확인",</a:t>
            </a:r>
          </a:p>
          <a:p xmlns:a="http://schemas.openxmlformats.org/drawingml/2006/main">
            <a:r>
              <a:t>        "process": "승인 상담자료·세목·적용연도별 지식 관리",</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"title": "질의 의도 분류",</a:t>
            </a:r>
          </a:p>
          <a:p xmlns:a="http://schemas.openxmlformats.org/drawingml/2006/main">
            <a:r>
              <a:t>        "input": "전화 발화",</a:t>
            </a:r>
          </a:p>
          <a:p xmlns:a="http://schemas.openxmlformats.org/drawingml/2006/main">
            <a:r>
              <a:t>        "process": "질의에 맞춘 상담 지식 탐색·음성 안내",</a:t>
            </a:r>
          </a:p>
          <a:p xmlns:a="http://schemas.openxmlformats.org/drawingml/2006/main">
            <a:r>
              <a:t>        "output": "질의 의도"</a:t>
            </a:r>
          </a:p>
          <a:p xmlns:a="http://schemas.openxmlformats.org/drawingml/2006/main">
            <a:r>
              <a:t>      },</a:t>
            </a:r>
          </a:p>
          <a:p xmlns:a="http://schemas.openxmlformats.org/drawingml/2006/main">
            <a:r>
              <a:t>      {</a:t>
            </a:r>
          </a:p>
          <a:p xmlns:a="http://schemas.openxmlformats.org/drawingml/2006/main">
            <a:r>
              <a:t>        "title": "세무 안내",</a:t>
            </a:r>
          </a:p>
          <a:p xmlns:a="http://schemas.openxmlformats.org/drawingml/2006/main">
            <a:r>
              <a:t>        "input": "질의 의도",</a:t>
            </a:r>
          </a:p>
          <a:p xmlns:a="http://schemas.openxmlformats.org/drawingml/2006/main">
            <a:r>
              <a:t>        "process": "핵심 발화 확인·전문 상담 전환",</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"title": "추가 상담 연결",</a:t>
            </a:r>
          </a:p>
          <a:p xmlns:a="http://schemas.openxmlformats.org/drawingml/2006/main">
            <a:r>
              <a:t>        "input": "세무 안내",</a:t>
            </a:r>
          </a:p>
          <a:p xmlns:a="http://schemas.openxmlformats.org/drawingml/2006/main">
            <a:r>
              <a:t>        "process":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"납세자의 세목·귀속연도를 확인한 뒤 안내·상담 전환",</a:t>
            </a:r>
          </a:p>
          <a:p xmlns:a="http://schemas.openxmlformats.org/drawingml/2006/main">
            <a:r>
              <a:t>      "exception": "발화 인식 실패·다른 귀속연도·개인별 과세 판단 요청",</a:t>
            </a:r>
          </a:p>
          <a:p xmlns:a="http://schemas.openxmlformats.org/drawingml/2006/main">
            <a:r>
              <a:t>      "evidence": "필수 항목 인식표와 상담원 인계·해결 여부",</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"납세자·상담원",</a:t>
            </a:r>
          </a:p>
          <a:p xmlns:a="http://schemas.openxmlformats.org/drawingml/2006/main">
            <a:r>
              <a:t>          "processing": "발화에서 세목·기간·문의 목적 확인",</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"세무 안내 지식",</a:t>
            </a:r>
          </a:p>
          <a:p xmlns:a="http://schemas.openxmlformats.org/drawingml/2006/main">
            <a:r>
              <a:t>          "processing": "승인 상담자료·세목·적용연도별 지식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"전화 발화",</a:t>
            </a:r>
          </a:p>
          <a:p xmlns:a="http://schemas.openxmlformats.org/drawingml/2006/main">
            <a:r>
              <a:t>          "processing": "질의에 맞춘 상담 지식 탐색·음성 안내",</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"세무 안내",</a:t>
            </a:r>
          </a:p>
          <a:p xmlns:a="http://schemas.openxmlformats.org/drawingml/2006/main">
            <a:r>
              <a:t>          "processing":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"상담 이관·반복 문의·안내 오류 점검",</a:t>
            </a:r>
          </a:p>
          <a:p xmlns:a="http://schemas.openxmlformats.org/drawingml/2006/main">
            <a:r>
              <a:t>          "output": "필수 항목 인식표와 상담원 인계·해결 여부"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"상담 이관·반복 문의·안내 오류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"S-AX15",</a:t>
            </a:r>
          </a:p>
          <a:p xmlns:a="http://schemas.openxmlformats.org/drawingml/2006/main">
            <a:r>
              <a:t>        "title": "국세청 AI 전화상담 · 국세청 발표 / 2024-11-14",</a:t>
            </a:r>
          </a:p>
          <a:p xmlns:a="http://schemas.openxmlformats.org/drawingml/2006/main">
            <a:r>
              <a:t>        "url": "https://www.nts.go.kr/nts/na/ntt/selectNttInfo.do?bbsId=1011&amp;mi=2207&amp;nttSn=1339206",</a:t>
            </a:r>
          </a:p>
          <a:p xmlns:a="http://schemas.openxmlformats.org/drawingml/2006/main">
            <a:r>
              <a:t>        "published": "2024 시범 / 2025 확대 계획 발표",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"음성 접점과 상담 전환의 연속성",</a:t>
            </a:r>
          </a:p>
          <a:p xmlns:a="http://schemas.openxmlformats.org/drawingml/2006/main">
            <a:r>
              <a:t>    "local": "TS 기존 민원 메뉴에 음성·텍스트 진입점 추가",</a:t>
            </a:r>
          </a:p>
          <a:p xmlns:a="http://schemas.openxmlformats.org/drawingml/2006/main">
            <a:r>
              <a:t>    "sourceDetail": null,</a:t>
            </a:r>
          </a:p>
          <a:p xmlns:a="http://schemas.openxmlformats.org/drawingml/2006/main">
            <a:r>
              <a:t>    "narrative": [</a:t>
            </a:r>
          </a:p>
          <a:p xmlns:a="http://schemas.openxmlformats.org/drawingml/2006/main">
            <a:r>
              <a:t>      "반복 세무 문의를 전화 채널에서 안내하고 복잡한 질문을 상담원에게 연결하는 음성 상담 사례. 상담내용의 범위와 적용 연도를 정확히 식별하는 작업이 중요.",</a:t>
            </a:r>
          </a:p>
          <a:p xmlns:a="http://schemas.openxmlformats.org/drawingml/2006/main">
            <a:r>
              <a:t>      "발화의 세목·기간·질문 목적을 정리하고 승인 지식을 찾아 음성으로 안내하는 구조의 재구성. 응답이 불분명하거나 예외 판단이 필요한 경우 대화 맥락을 상담원에게 전달.",</a:t>
            </a:r>
          </a:p>
          <a:p xmlns:a="http://schemas.openxmlformats.org/drawingml/2006/main">
            <a:r>
              <a:t>      "TS 음성 민원 접점에서 인식률만으로 검수하지 않고 필수 항목 확인과 인계 성공을 포함할 근거. 시범 운영과 전국 확대 계획, 실제 해결률을 각각 구분한 비교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"전화 상담 접점",</a:t>
            </a:r>
          </a:p>
          <a:p xmlns:a="http://schemas.openxmlformats.org/drawingml/2006/main">
            <a:r>
              <a:t>          "layer": "이용 접점",</a:t>
            </a:r>
          </a:p>
          <a:p xmlns:a="http://schemas.openxmlformats.org/drawingml/2006/main">
            <a:r>
              <a:t>          "detail": "납세자·상담원",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"세목·기간 확인",</a:t>
            </a:r>
          </a:p>
          <a:p xmlns:a="http://schemas.openxmlformats.org/drawingml/2006/main">
            <a:r>
              <a:t>          "layer": "업무 문맥",</a:t>
            </a:r>
          </a:p>
          <a:p xmlns:a="http://schemas.openxmlformats.org/drawingml/2006/main">
            <a:r>
              <a:t>          "detail": "발화에서 세목·기간·문의 목적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검색",</a:t>
            </a:r>
          </a:p>
          <a:p xmlns:a="http://schemas.openxmlformats.org/drawingml/2006/main">
            <a:r>
              <a:t>          "layer": "자료 조회",</a:t>
            </a:r>
          </a:p>
          <a:p xmlns:a="http://schemas.openxmlformats.org/drawingml/2006/main">
            <a:r>
              <a:t>          "detail": "전화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"발화·의도 처리",</a:t>
            </a:r>
          </a:p>
          <a:p xmlns:a="http://schemas.openxmlformats.org/drawingml/2006/main">
            <a:r>
              <a:t>          "layer": "핵심 처리",</a:t>
            </a:r>
          </a:p>
          <a:p xmlns:a="http://schemas.openxmlformats.org/drawingml/2006/main">
            <a:r>
              <a:t>          "detail": "질의에 맞춘 상담 지식 탐색·음성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"핵심 조건 확인",</a:t>
            </a:r>
          </a:p>
          <a:p xmlns:a="http://schemas.openxmlformats.org/drawingml/2006/main">
            <a:r>
              <a:t>          "layer": "결과 검증",</a:t>
            </a:r>
          </a:p>
          <a:p xmlns:a="http://schemas.openxmlformats.org/drawingml/2006/main">
            <a:r>
              <a:t>          "detail": "핵심 발화 확인·전문 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"이용자·상담원",</a:t>
            </a:r>
          </a:p>
          <a:p xmlns:a="http://schemas.openxmlformats.org/drawingml/2006/main">
            <a:r>
              <a:t>          "layer": "사람 확인",</a:t>
            </a:r>
          </a:p>
          <a:p xmlns:a="http://schemas.openxmlformats.org/drawingml/2006/main">
            <a:r>
              <a:t>          "detail": "납세자의 세목·귀속연도를 확인한 뒤 안내·상담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"음성 안내·인계",</a:t>
            </a:r>
          </a:p>
          <a:p xmlns:a="http://schemas.openxmlformats.org/drawingml/2006/main">
            <a:r>
              <a:t>          "layer": "업무 연결",</a:t>
            </a:r>
          </a:p>
          <a:p xmlns:a="http://schemas.openxmlformats.org/drawingml/2006/main">
            <a:r>
              <a:t>          "detail": "해결 곤란 질문의 상담원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"반복 문의 분석",</a:t>
            </a:r>
          </a:p>
          <a:p xmlns:a="http://schemas.openxmlformats.org/drawingml/2006/main">
            <a:r>
              <a:t>          "layer": "운영 관측",</a:t>
            </a:r>
          </a:p>
          <a:p xmlns:a="http://schemas.openxmlformats.org/drawingml/2006/main">
            <a:r>
              <a:t>          "detail": "상담 이관·반복 문의·안내 오류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"세무 상담자료",</a:t>
            </a:r>
          </a:p>
          <a:p xmlns:a="http://schemas.openxmlformats.org/drawingml/2006/main">
            <a:r>
              <a:t>          "layer": "데이터 원천",</a:t>
            </a:r>
          </a:p>
          <a:p xmlns:a="http://schemas.openxmlformats.org/drawingml/2006/main">
            <a:r>
              <a:t>          "detail": "세무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"적용연도 정리",</a:t>
            </a:r>
          </a:p>
          <a:p xmlns:a="http://schemas.openxmlformats.org/drawingml/2006/main">
            <a:r>
              <a:t>          "layer": "준비·갱신",</a:t>
            </a:r>
          </a:p>
          <a:p xmlns:a="http://schemas.openxmlformats.org/drawingml/2006/main">
            <a:r>
              <a:t>          "detail": "승인 상담자료·세목·적용연도별 지식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"지식·상담 이력",</a:t>
            </a:r>
          </a:p>
          <a:p xmlns:a="http://schemas.openxmlformats.org/drawingml/2006/main">
            <a:r>
              <a:t>          "layer": "상태·지식 저장",</a:t>
            </a:r>
          </a:p>
          <a:p xmlns:a="http://schemas.openxmlformats.org/drawingml/2006/main">
            <a:r>
              <a:t>          "detail": "필수 항목 인식표와 상담원 인계·해결 여부",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 상담 기준",</a:t>
            </a:r>
          </a:p>
          <a:p xmlns:a="http://schemas.openxmlformats.org/drawingml/2006/main">
            <a:r>
              <a:t>          "layer": "권한·정책",</a:t>
            </a:r>
          </a:p>
          <a:p xmlns:a="http://schemas.openxmlformats.org/drawingml/2006/main">
            <a:r>
              <a:t>          "detail": "발화 인식 실패·다른 귀속연도·개인별 과세 판단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"전화 발화 → 질의 의도 분류 → 세무 안내 → 추가 상담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"발화에서 세목·기간·문의 목적 확인",</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"전화 발화",</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"세무 안내 지식",</a:t>
            </a:r>
          </a:p>
          <a:p xmlns:a="http://schemas.openxmlformats.org/drawingml/2006/main">
            <a:r>
              <a:t>          "check": "승인 상담자료·세목·적용연도별 지식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"세무 안내",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"반복 세무 문의의 음성 상담 지원 / 전화 응대·세무 안내·상담 전환",</a:t>
            </a:r>
          </a:p>
          <a:p xmlns:a="http://schemas.openxmlformats.org/drawingml/2006/main">
            <a:r>
              <a:t>        "extension": "TS 기존 민원 메뉴에 음성·텍스트 진입점 추가"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"발화 인식 실패·다른 귀속연도·개인별 과세 판단 요청",</a:t>
            </a:r>
          </a:p>
          <a:p xmlns:a="http://schemas.openxmlformats.org/drawingml/2006/main">
            <a:r>
              <a:t>        "hold": "핵심 발화 확인·전문 상담 전환",</a:t>
            </a:r>
          </a:p>
          <a:p xmlns:a="http://schemas.openxmlformats.org/drawingml/2006/main">
            <a:r>
              <a:t>        "recovery": "상담 이관·반복 문의·안내 오류 점검",</a:t>
            </a:r>
          </a:p>
          <a:p xmlns:a="http://schemas.openxmlformats.org/drawingml/2006/main">
            <a:r>
              <a:t>        "evidence": "필수 항목 인식표와 상담원 인계·해결 여부"</a:t>
            </a:r>
          </a:p>
          <a:p xmlns:a="http://schemas.openxmlformats.org/drawingml/2006/main">
            <a:r>
              <a:t>      },</a:t>
            </a:r>
          </a:p>
          <a:p xmlns:a="http://schemas.openxmlformats.org/drawingml/2006/main">
            <a:r>
              <a:t>      "data": {</a:t>
            </a:r>
          </a:p>
          <a:p xmlns:a="http://schemas.openxmlformats.org/drawingml/2006/main">
            <a:r>
              <a:t>        "source": "세무 안내 지식",</a:t>
            </a:r>
          </a:p>
          <a:p xmlns:a="http://schemas.openxmlformats.org/drawingml/2006/main">
            <a:r>
              <a:t>        "prepare": "승인 상담자료·세목·적용연도별 지식 관리",</a:t>
            </a:r>
          </a:p>
          <a:p xmlns:a="http://schemas.openxmlformats.org/drawingml/2006/main">
            <a:r>
              <a:t>        "output": "전화 발화",</a:t>
            </a:r>
          </a:p>
          <a:p xmlns:a="http://schemas.openxmlformats.org/drawingml/2006/main">
            <a:r>
              <a:t>        "refresh": "상담 이관·반복 문의·안내 오류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"AX15",</a:t>
            </a:r>
          </a:p>
          <a:p xmlns:a="http://schemas.openxmlformats.org/drawingml/2006/main">
            <a:r>
              <a:t>    "success": [</a:t>
            </a:r>
          </a:p>
          <a:p xmlns:a="http://schemas.openxmlformats.org/drawingml/2006/main">
            <a:r>
              <a:t>      "전화 채널과 세무 안내 결합",</a:t>
            </a:r>
          </a:p>
          <a:p xmlns:a="http://schemas.openxmlformats.org/drawingml/2006/main">
            <a:r>
              <a:t>      "시범 적용 후 확대 검토"</a:t>
            </a:r>
          </a:p>
          <a:p xmlns:a="http://schemas.openxmlformats.org/drawingml/2006/main">
            <a:r>
              <a:t>    ],</a:t>
            </a:r>
          </a:p>
          <a:p xmlns:a="http://schemas.openxmlformats.org/drawingml/2006/main">
            <a:r>
              <a:t>    "risks": [</a:t>
            </a:r>
          </a:p>
          <a:p xmlns:a="http://schemas.openxmlformats.org/drawingml/2006/main">
            <a:r>
              <a:t>      "예외 세무상담의 잘못된 안내",</a:t>
            </a:r>
          </a:p>
          <a:p xmlns:a="http://schemas.openxmlformats.org/drawingml/2006/main">
            <a:r>
              <a:t>      "시범 성과와 전국 운영의 혼동"</a:t>
            </a:r>
          </a:p>
          <a:p xmlns:a="http://schemas.openxmlformats.org/drawingml/2006/main">
            <a:r>
              <a:t>    ],</a:t>
            </a:r>
          </a:p>
          <a:p xmlns:a="http://schemas.openxmlformats.org/drawingml/2006/main">
            <a:r>
              <a:t>    "architecture": [</a:t>
            </a:r>
          </a:p>
          <a:p xmlns:a="http://schemas.openxmlformats.org/drawingml/2006/main">
            <a:r>
              <a:t>      "전화 상담",</a:t>
            </a:r>
          </a:p>
          <a:p xmlns:a="http://schemas.openxmlformats.org/drawingml/2006/main">
            <a:r>
              <a:t>      "음성·의도 처리",</a:t>
            </a:r>
          </a:p>
          <a:p xmlns:a="http://schemas.openxmlformats.org/drawingml/2006/main">
            <a:r>
              <a:t>      "세무 안내 지식",</a:t>
            </a:r>
          </a:p>
          <a:p xmlns:a="http://schemas.openxmlformats.org/drawingml/2006/main">
            <a:r>
              <a:t>      "이용자·상담원"</a:t>
            </a:r>
          </a:p>
          <a:p xmlns:a="http://schemas.openxmlformats.org/drawingml/2006/main">
            <a:r>
              <a:t>    ],</a:t>
            </a:r>
          </a:p>
          <a:p xmlns:a="http://schemas.openxmlformats.org/drawingml/2006/main">
            <a:r>
              <a:t>    "transfers": [</a:t>
            </a:r>
          </a:p>
          <a:p xmlns:a="http://schemas.openxmlformats.org/drawingml/2006/main">
            <a:r>
              <a:t>      "전화 발화",</a:t>
            </a:r>
          </a:p>
          <a:p xmlns:a="http://schemas.openxmlformats.org/drawingml/2006/main">
            <a:r>
              <a:t>      "질의 의도",</a:t>
            </a:r>
          </a:p>
          <a:p xmlns:a="http://schemas.openxmlformats.org/drawingml/2006/main">
            <a:r>
              <a:t>      "세무 안내",</a:t>
            </a:r>
          </a:p>
          <a:p xmlns:a="http://schemas.openxmlformats.org/drawingml/2006/main">
            <a:r>
              <a:t>      "후속 상담"</a:t>
            </a:r>
          </a:p>
          <a:p xmlns:a="http://schemas.openxmlformats.org/drawingml/2006/main">
            <a:r>
              <a:t>    ],</a:t>
            </a:r>
          </a:p>
          <a:p xmlns:a="http://schemas.openxmlformats.org/drawingml/2006/main">
            <a:r>
              <a:t>    "control": "핵심 발화 확인·전문 상담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국세청 AI 전화상담 · 국세청 발표 / 2024-11-14 https://www.nts.go.kr/nts/na/ntt/selectNttInfo.do?bbsId=1011&amp;mi=2207&amp;nttSn=1339206</a:t>
            </a:r>
          </a:p>
          <a:p xmlns:a="http://schemas.openxmlformats.org/drawingml/2006/main">
            <a:r>
              <a:t>홈페이지 https://heen1987-ops.github.io/TS-business-Plan-001/index.html?view=casebook&amp;case=AX15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"AX15",</a:t>
            </a:r>
          </a:p>
          <a:p xmlns:a="http://schemas.openxmlformats.org/drawingml/2006/main">
            <a:r>
              <a:t>    "title": "국세청 AI 전화상담",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"음성 기반 민원 안내",</a:t>
            </a:r>
          </a:p>
          <a:p xmlns:a="http://schemas.openxmlformats.org/drawingml/2006/main">
            <a:r>
              <a:t>    "period": "2024 시범 / 2025 확대 계획 발표",</a:t>
            </a:r>
          </a:p>
          <a:p xmlns:a="http://schemas.openxmlformats.org/drawingml/2006/main">
            <a:r>
              <a:t>    "sources": [</a:t>
            </a:r>
          </a:p>
          <a:p xmlns:a="http://schemas.openxmlformats.org/drawingml/2006/main">
            <a:r>
              <a:t>      "S-AX15"</a:t>
            </a:r>
          </a:p>
          <a:p xmlns:a="http://schemas.openxmlformats.org/drawingml/2006/main">
            <a:r>
              <a:t>    ],</a:t>
            </a:r>
          </a:p>
          <a:p xmlns:a="http://schemas.openxmlformats.org/drawingml/2006/main">
            <a:r>
              <a:t>    "keywords": [</a:t>
            </a:r>
          </a:p>
          <a:p xmlns:a="http://schemas.openxmlformats.org/drawingml/2006/main">
            <a:r>
              <a:t>      "음성 기반 민원 안내"</a:t>
            </a:r>
          </a:p>
          <a:p xmlns:a="http://schemas.openxmlformats.org/drawingml/2006/main">
            <a:r>
              <a:t>    ],</a:t>
            </a:r>
          </a:p>
          <a:p xmlns:a="http://schemas.openxmlformats.org/drawingml/2006/main">
            <a:r>
              <a:t>    "fact": "일부 세무서 시범 전화상담과 전국 확대 계획 공개",</a:t>
            </a:r>
          </a:p>
          <a:p xmlns:a="http://schemas.openxmlformats.org/drawingml/2006/main">
            <a:r>
              <a:t>    "limit": "시범 운영과 이후 확대 계획 구분 · 개인별 과세 판단 자동화로 해석 금지",</a:t>
            </a:r>
          </a:p>
          <a:p xmlns:a="http://schemas.openxmlformats.org/drawingml/2006/main">
            <a:r>
              <a:t>    "flow": [</a:t>
            </a:r>
          </a:p>
          <a:p xmlns:a="http://schemas.openxmlformats.org/drawingml/2006/main">
            <a:r>
              <a:t>      "전화 발화",</a:t>
            </a:r>
          </a:p>
          <a:p xmlns:a="http://schemas.openxmlformats.org/drawingml/2006/main">
            <a:r>
              <a:t>      "질의 의도 분류",</a:t>
            </a:r>
          </a:p>
          <a:p xmlns:a="http://schemas.openxmlformats.org/drawingml/2006/main">
            <a:r>
              <a:t>      "세무 안내",</a:t>
            </a:r>
          </a:p>
          <a:p xmlns:a="http://schemas.openxmlformats.org/drawingml/2006/main">
            <a:r>
              <a:t>      "추가 상담 연결"</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"음성 접점과 상담 전환의 연속성",</a:t>
            </a:r>
          </a:p>
          <a:p xmlns:a="http://schemas.openxmlformats.org/drawingml/2006/main">
            <a:r>
              <a:t>    "local": "TS 기존 민원 메뉴에 음성·텍스트 진입점 추가",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"발화 정리·확인·소관 서비스·상담 인계",</a:t>
            </a:r>
          </a:p>
          <a:p xmlns:a="http://schemas.openxmlformats.org/drawingml/2006/main">
            <a:r>
              <a:t>    "test": "고령·소음·중도 정정·상담 전환 과업 시험",</a:t>
            </a:r>
          </a:p>
          <a:p xmlns:a="http://schemas.openxmlformats.org/drawingml/2006/main">
            <a:r>
              <a:t>    "metric": "안내 도달률 / 포기율 / 재문의율",</a:t>
            </a:r>
          </a:p>
          <a:p xmlns:a="http://schemas.openxmlformats.org/drawingml/2006/main">
            <a:r>
              <a:t>    "strategies": [</a:t>
            </a:r>
          </a:p>
          <a:p xmlns:a="http://schemas.openxmlformats.org/drawingml/2006/main">
            <a:r>
              <a:t>      "ST-08",</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"AX15",</a:t>
            </a:r>
          </a:p>
          <a:p xmlns:a="http://schemas.openxmlformats.org/drawingml/2006/main">
            <a:r>
              <a:t>    "canonicalId": "AX15",</a:t>
            </a:r>
          </a:p>
          <a:p xmlns:a="http://schemas.openxmlformats.org/drawingml/2006/main">
            <a:r>
              <a:t>    "purpose": "반복 세무 문의의 음성 상담 지원",</a:t>
            </a:r>
          </a:p>
          <a:p xmlns:a="http://schemas.openxmlformats.org/drawingml/2006/main">
            <a:r>
              <a:t>    "users": "납세자·상담원",</a:t>
            </a:r>
          </a:p>
          <a:p xmlns:a="http://schemas.openxmlformats.org/drawingml/2006/main">
            <a:r>
              <a:t>    "scope": [</a:t>
            </a:r>
          </a:p>
          <a:p xmlns:a="http://schemas.openxmlformats.org/drawingml/2006/main">
            <a:r>
              <a:t>      "전화 응대",</a:t>
            </a:r>
          </a:p>
          <a:p xmlns:a="http://schemas.openxmlformats.org/drawingml/2006/main">
            <a:r>
              <a:t>      "세무 안내",</a:t>
            </a:r>
          </a:p>
          <a:p xmlns:a="http://schemas.openxmlformats.org/drawingml/2006/main">
            <a:r>
              <a:t>      "상담 전환"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"전화 상담",</a:t>
            </a:r>
          </a:p>
          <a:p xmlns:a="http://schemas.openxmlformats.org/drawingml/2006/main">
            <a:r>
              <a:t>        "detail": "발화에서 세목·기간·문의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"전화 응대 / 세무 안내 / 상담 전환",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"음성·의도 처리",</a:t>
            </a:r>
          </a:p>
          <a:p xmlns:a="http://schemas.openxmlformats.org/drawingml/2006/main">
            <a:r>
              <a:t>        "detail": "질의에 맞춘 상담 지식 탐색·음성 안내",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"이용자·상담원",</a:t>
            </a:r>
          </a:p>
          <a:p xmlns:a="http://schemas.openxmlformats.org/drawingml/2006/main">
            <a:r>
              <a:t>        "detail": "해결 곤란 질문의 상담원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"세무 안내 지식",</a:t>
            </a:r>
          </a:p>
          <a:p xmlns:a="http://schemas.openxmlformats.org/drawingml/2006/main">
            <a:r>
              <a:t>        "detail": "승인 상담자료·세목·적용연도별 지식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"상담 이관·반복 문의·안내 오류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"전화 발화",</a:t>
            </a:r>
          </a:p>
          <a:p xmlns:a="http://schemas.openxmlformats.org/drawingml/2006/main">
            <a:r>
              <a:t>        "input": "발화에서 세목·기간·문의 목적 확인",</a:t>
            </a:r>
          </a:p>
          <a:p xmlns:a="http://schemas.openxmlformats.org/drawingml/2006/main">
            <a:r>
              <a:t>        "process": "승인 상담자료·세목·적용연도별 지식 관리",</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"title": "질의 의도 분류",</a:t>
            </a:r>
          </a:p>
          <a:p xmlns:a="http://schemas.openxmlformats.org/drawingml/2006/main">
            <a:r>
              <a:t>        "input": "전화 발화",</a:t>
            </a:r>
          </a:p>
          <a:p xmlns:a="http://schemas.openxmlformats.org/drawingml/2006/main">
            <a:r>
              <a:t>        "process": "질의에 맞춘 상담 지식 탐색·음성 안내",</a:t>
            </a:r>
          </a:p>
          <a:p xmlns:a="http://schemas.openxmlformats.org/drawingml/2006/main">
            <a:r>
              <a:t>        "output": "질의 의도"</a:t>
            </a:r>
          </a:p>
          <a:p xmlns:a="http://schemas.openxmlformats.org/drawingml/2006/main">
            <a:r>
              <a:t>      },</a:t>
            </a:r>
          </a:p>
          <a:p xmlns:a="http://schemas.openxmlformats.org/drawingml/2006/main">
            <a:r>
              <a:t>      {</a:t>
            </a:r>
          </a:p>
          <a:p xmlns:a="http://schemas.openxmlformats.org/drawingml/2006/main">
            <a:r>
              <a:t>        "title": "세무 안내",</a:t>
            </a:r>
          </a:p>
          <a:p xmlns:a="http://schemas.openxmlformats.org/drawingml/2006/main">
            <a:r>
              <a:t>        "input": "질의 의도",</a:t>
            </a:r>
          </a:p>
          <a:p xmlns:a="http://schemas.openxmlformats.org/drawingml/2006/main">
            <a:r>
              <a:t>        "process": "핵심 발화 확인·전문 상담 전환",</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"title": "추가 상담 연결",</a:t>
            </a:r>
          </a:p>
          <a:p xmlns:a="http://schemas.openxmlformats.org/drawingml/2006/main">
            <a:r>
              <a:t>        "input": "세무 안내",</a:t>
            </a:r>
          </a:p>
          <a:p xmlns:a="http://schemas.openxmlformats.org/drawingml/2006/main">
            <a:r>
              <a:t>        "process":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"납세자의 세목·귀속연도를 확인한 뒤 안내·상담 전환",</a:t>
            </a:r>
          </a:p>
          <a:p xmlns:a="http://schemas.openxmlformats.org/drawingml/2006/main">
            <a:r>
              <a:t>      "exception": "발화 인식 실패·다른 귀속연도·개인별 과세 판단 요청",</a:t>
            </a:r>
          </a:p>
          <a:p xmlns:a="http://schemas.openxmlformats.org/drawingml/2006/main">
            <a:r>
              <a:t>      "evidence": "필수 항목 인식표와 상담원 인계·해결 여부",</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"납세자·상담원",</a:t>
            </a:r>
          </a:p>
          <a:p xmlns:a="http://schemas.openxmlformats.org/drawingml/2006/main">
            <a:r>
              <a:t>          "processing": "발화에서 세목·기간·문의 목적 확인",</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"세무 안내 지식",</a:t>
            </a:r>
          </a:p>
          <a:p xmlns:a="http://schemas.openxmlformats.org/drawingml/2006/main">
            <a:r>
              <a:t>          "processing": "승인 상담자료·세목·적용연도별 지식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"전화 발화",</a:t>
            </a:r>
          </a:p>
          <a:p xmlns:a="http://schemas.openxmlformats.org/drawingml/2006/main">
            <a:r>
              <a:t>          "processing": "질의에 맞춘 상담 지식 탐색·음성 안내",</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"세무 안내",</a:t>
            </a:r>
          </a:p>
          <a:p xmlns:a="http://schemas.openxmlformats.org/drawingml/2006/main">
            <a:r>
              <a:t>          "processing":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"상담 이관·반복 문의·안내 오류 점검",</a:t>
            </a:r>
          </a:p>
          <a:p xmlns:a="http://schemas.openxmlformats.org/drawingml/2006/main">
            <a:r>
              <a:t>          "output": "필수 항목 인식표와 상담원 인계·해결 여부"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"상담 이관·반복 문의·안내 오류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"S-AX15",</a:t>
            </a:r>
          </a:p>
          <a:p xmlns:a="http://schemas.openxmlformats.org/drawingml/2006/main">
            <a:r>
              <a:t>        "title": "국세청 AI 전화상담 · 국세청 발표 / 2024-11-14",</a:t>
            </a:r>
          </a:p>
          <a:p xmlns:a="http://schemas.openxmlformats.org/drawingml/2006/main">
            <a:r>
              <a:t>        "url": "https://www.nts.go.kr/nts/na/ntt/selectNttInfo.do?bbsId=1011&amp;mi=2207&amp;nttSn=1339206",</a:t>
            </a:r>
          </a:p>
          <a:p xmlns:a="http://schemas.openxmlformats.org/drawingml/2006/main">
            <a:r>
              <a:t>        "published": "2024 시범 / 2025 확대 계획 발표",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"음성 접점과 상담 전환의 연속성",</a:t>
            </a:r>
          </a:p>
          <a:p xmlns:a="http://schemas.openxmlformats.org/drawingml/2006/main">
            <a:r>
              <a:t>    "local": "TS 기존 민원 메뉴에 음성·텍스트 진입점 추가",</a:t>
            </a:r>
          </a:p>
          <a:p xmlns:a="http://schemas.openxmlformats.org/drawingml/2006/main">
            <a:r>
              <a:t>    "sourceDetail": null,</a:t>
            </a:r>
          </a:p>
          <a:p xmlns:a="http://schemas.openxmlformats.org/drawingml/2006/main">
            <a:r>
              <a:t>    "narrative": [</a:t>
            </a:r>
          </a:p>
          <a:p xmlns:a="http://schemas.openxmlformats.org/drawingml/2006/main">
            <a:r>
              <a:t>      "반복 세무 문의를 전화 채널에서 안내하고 복잡한 질문을 상담원에게 연결하는 음성 상담 사례. 상담내용의 범위와 적용 연도를 정확히 식별하는 작업이 중요.",</a:t>
            </a:r>
          </a:p>
          <a:p xmlns:a="http://schemas.openxmlformats.org/drawingml/2006/main">
            <a:r>
              <a:t>      "발화의 세목·기간·질문 목적을 정리하고 승인 지식을 찾아 음성으로 안내하는 구조의 재구성. 응답이 불분명하거나 예외 판단이 필요한 경우 대화 맥락을 상담원에게 전달.",</a:t>
            </a:r>
          </a:p>
          <a:p xmlns:a="http://schemas.openxmlformats.org/drawingml/2006/main">
            <a:r>
              <a:t>      "TS 음성 민원 접점에서 인식률만으로 검수하지 않고 필수 항목 확인과 인계 성공을 포함할 근거. 시범 운영과 전국 확대 계획, 실제 해결률을 각각 구분한 비교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"전화 상담 접점",</a:t>
            </a:r>
          </a:p>
          <a:p xmlns:a="http://schemas.openxmlformats.org/drawingml/2006/main">
            <a:r>
              <a:t>          "layer": "이용 접점",</a:t>
            </a:r>
          </a:p>
          <a:p xmlns:a="http://schemas.openxmlformats.org/drawingml/2006/main">
            <a:r>
              <a:t>          "detail": "납세자·상담원",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"세목·기간 확인",</a:t>
            </a:r>
          </a:p>
          <a:p xmlns:a="http://schemas.openxmlformats.org/drawingml/2006/main">
            <a:r>
              <a:t>          "layer": "업무 문맥",</a:t>
            </a:r>
          </a:p>
          <a:p xmlns:a="http://schemas.openxmlformats.org/drawingml/2006/main">
            <a:r>
              <a:t>          "detail": "발화에서 세목·기간·문의 목적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검색",</a:t>
            </a:r>
          </a:p>
          <a:p xmlns:a="http://schemas.openxmlformats.org/drawingml/2006/main">
            <a:r>
              <a:t>          "layer": "자료 조회",</a:t>
            </a:r>
          </a:p>
          <a:p xmlns:a="http://schemas.openxmlformats.org/drawingml/2006/main">
            <a:r>
              <a:t>          "detail": "전화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"발화·의도 처리",</a:t>
            </a:r>
          </a:p>
          <a:p xmlns:a="http://schemas.openxmlformats.org/drawingml/2006/main">
            <a:r>
              <a:t>          "layer": "핵심 처리",</a:t>
            </a:r>
          </a:p>
          <a:p xmlns:a="http://schemas.openxmlformats.org/drawingml/2006/main">
            <a:r>
              <a:t>          "detail": "질의에 맞춘 상담 지식 탐색·음성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"핵심 조건 확인",</a:t>
            </a:r>
          </a:p>
          <a:p xmlns:a="http://schemas.openxmlformats.org/drawingml/2006/main">
            <a:r>
              <a:t>          "layer": "결과 검증",</a:t>
            </a:r>
          </a:p>
          <a:p xmlns:a="http://schemas.openxmlformats.org/drawingml/2006/main">
            <a:r>
              <a:t>          "detail": "핵심 발화 확인·전문 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"이용자·상담원",</a:t>
            </a:r>
          </a:p>
          <a:p xmlns:a="http://schemas.openxmlformats.org/drawingml/2006/main">
            <a:r>
              <a:t>          "layer": "사람 확인",</a:t>
            </a:r>
          </a:p>
          <a:p xmlns:a="http://schemas.openxmlformats.org/drawingml/2006/main">
            <a:r>
              <a:t>          "detail": "납세자의 세목·귀속연도를 확인한 뒤 안내·상담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"음성 안내·인계",</a:t>
            </a:r>
          </a:p>
          <a:p xmlns:a="http://schemas.openxmlformats.org/drawingml/2006/main">
            <a:r>
              <a:t>          "layer": "업무 연결",</a:t>
            </a:r>
          </a:p>
          <a:p xmlns:a="http://schemas.openxmlformats.org/drawingml/2006/main">
            <a:r>
              <a:t>          "detail": "해결 곤란 질문의 상담원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"반복 문의 분석",</a:t>
            </a:r>
          </a:p>
          <a:p xmlns:a="http://schemas.openxmlformats.org/drawingml/2006/main">
            <a:r>
              <a:t>          "layer": "운영 관측",</a:t>
            </a:r>
          </a:p>
          <a:p xmlns:a="http://schemas.openxmlformats.org/drawingml/2006/main">
            <a:r>
              <a:t>          "detail": "상담 이관·반복 문의·안내 오류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"세무 상담자료",</a:t>
            </a:r>
          </a:p>
          <a:p xmlns:a="http://schemas.openxmlformats.org/drawingml/2006/main">
            <a:r>
              <a:t>          "layer": "데이터 원천",</a:t>
            </a:r>
          </a:p>
          <a:p xmlns:a="http://schemas.openxmlformats.org/drawingml/2006/main">
            <a:r>
              <a:t>          "detail": "세무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"적용연도 정리",</a:t>
            </a:r>
          </a:p>
          <a:p xmlns:a="http://schemas.openxmlformats.org/drawingml/2006/main">
            <a:r>
              <a:t>          "layer": "준비·갱신",</a:t>
            </a:r>
          </a:p>
          <a:p xmlns:a="http://schemas.openxmlformats.org/drawingml/2006/main">
            <a:r>
              <a:t>          "detail": "승인 상담자료·세목·적용연도별 지식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"지식·상담 이력",</a:t>
            </a:r>
          </a:p>
          <a:p xmlns:a="http://schemas.openxmlformats.org/drawingml/2006/main">
            <a:r>
              <a:t>          "layer": "상태·지식 저장",</a:t>
            </a:r>
          </a:p>
          <a:p xmlns:a="http://schemas.openxmlformats.org/drawingml/2006/main">
            <a:r>
              <a:t>          "detail": "필수 항목 인식표와 상담원 인계·해결 여부",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 상담 기준",</a:t>
            </a:r>
          </a:p>
          <a:p xmlns:a="http://schemas.openxmlformats.org/drawingml/2006/main">
            <a:r>
              <a:t>          "layer": "권한·정책",</a:t>
            </a:r>
          </a:p>
          <a:p xmlns:a="http://schemas.openxmlformats.org/drawingml/2006/main">
            <a:r>
              <a:t>          "detail": "발화 인식 실패·다른 귀속연도·개인별 과세 판단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"전화 발화 → 질의 의도 분류 → 세무 안내 → 추가 상담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"발화에서 세목·기간·문의 목적 확인",</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"전화 발화",</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"세무 안내 지식",</a:t>
            </a:r>
          </a:p>
          <a:p xmlns:a="http://schemas.openxmlformats.org/drawingml/2006/main">
            <a:r>
              <a:t>          "check": "승인 상담자료·세목·적용연도별 지식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"세무 안내",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"반복 세무 문의의 음성 상담 지원 / 전화 응대·세무 안내·상담 전환",</a:t>
            </a:r>
          </a:p>
          <a:p xmlns:a="http://schemas.openxmlformats.org/drawingml/2006/main">
            <a:r>
              <a:t>        "extension": "TS 기존 민원 메뉴에 음성·텍스트 진입점 추가"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"발화 인식 실패·다른 귀속연도·개인별 과세 판단 요청",</a:t>
            </a:r>
          </a:p>
          <a:p xmlns:a="http://schemas.openxmlformats.org/drawingml/2006/main">
            <a:r>
              <a:t>        "hold": "핵심 발화 확인·전문 상담 전환",</a:t>
            </a:r>
          </a:p>
          <a:p xmlns:a="http://schemas.openxmlformats.org/drawingml/2006/main">
            <a:r>
              <a:t>        "recovery": "상담 이관·반복 문의·안내 오류 점검",</a:t>
            </a:r>
          </a:p>
          <a:p xmlns:a="http://schemas.openxmlformats.org/drawingml/2006/main">
            <a:r>
              <a:t>        "evidence": "필수 항목 인식표와 상담원 인계·해결 여부"</a:t>
            </a:r>
          </a:p>
          <a:p xmlns:a="http://schemas.openxmlformats.org/drawingml/2006/main">
            <a:r>
              <a:t>      },</a:t>
            </a:r>
          </a:p>
          <a:p xmlns:a="http://schemas.openxmlformats.org/drawingml/2006/main">
            <a:r>
              <a:t>      "data": {</a:t>
            </a:r>
          </a:p>
          <a:p xmlns:a="http://schemas.openxmlformats.org/drawingml/2006/main">
            <a:r>
              <a:t>        "source": "세무 안내 지식",</a:t>
            </a:r>
          </a:p>
          <a:p xmlns:a="http://schemas.openxmlformats.org/drawingml/2006/main">
            <a:r>
              <a:t>        "prepare": "승인 상담자료·세목·적용연도별 지식 관리",</a:t>
            </a:r>
          </a:p>
          <a:p xmlns:a="http://schemas.openxmlformats.org/drawingml/2006/main">
            <a:r>
              <a:t>        "output": "전화 발화",</a:t>
            </a:r>
          </a:p>
          <a:p xmlns:a="http://schemas.openxmlformats.org/drawingml/2006/main">
            <a:r>
              <a:t>        "refresh": "상담 이관·반복 문의·안내 오류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"AX15",</a:t>
            </a:r>
          </a:p>
          <a:p xmlns:a="http://schemas.openxmlformats.org/drawingml/2006/main">
            <a:r>
              <a:t>    "success": [</a:t>
            </a:r>
          </a:p>
          <a:p xmlns:a="http://schemas.openxmlformats.org/drawingml/2006/main">
            <a:r>
              <a:t>      "전화 채널과 세무 안내 결합",</a:t>
            </a:r>
          </a:p>
          <a:p xmlns:a="http://schemas.openxmlformats.org/drawingml/2006/main">
            <a:r>
              <a:t>      "시범 적용 후 확대 검토"</a:t>
            </a:r>
          </a:p>
          <a:p xmlns:a="http://schemas.openxmlformats.org/drawingml/2006/main">
            <a:r>
              <a:t>    ],</a:t>
            </a:r>
          </a:p>
          <a:p xmlns:a="http://schemas.openxmlformats.org/drawingml/2006/main">
            <a:r>
              <a:t>    "risks": [</a:t>
            </a:r>
          </a:p>
          <a:p xmlns:a="http://schemas.openxmlformats.org/drawingml/2006/main">
            <a:r>
              <a:t>      "예외 세무상담의 잘못된 안내",</a:t>
            </a:r>
          </a:p>
          <a:p xmlns:a="http://schemas.openxmlformats.org/drawingml/2006/main">
            <a:r>
              <a:t>      "시범 성과와 전국 운영의 혼동"</a:t>
            </a:r>
          </a:p>
          <a:p xmlns:a="http://schemas.openxmlformats.org/drawingml/2006/main">
            <a:r>
              <a:t>    ],</a:t>
            </a:r>
          </a:p>
          <a:p xmlns:a="http://schemas.openxmlformats.org/drawingml/2006/main">
            <a:r>
              <a:t>    "architecture": [</a:t>
            </a:r>
          </a:p>
          <a:p xmlns:a="http://schemas.openxmlformats.org/drawingml/2006/main">
            <a:r>
              <a:t>      "전화 상담",</a:t>
            </a:r>
          </a:p>
          <a:p xmlns:a="http://schemas.openxmlformats.org/drawingml/2006/main">
            <a:r>
              <a:t>      "음성·의도 처리",</a:t>
            </a:r>
          </a:p>
          <a:p xmlns:a="http://schemas.openxmlformats.org/drawingml/2006/main">
            <a:r>
              <a:t>      "세무 안내 지식",</a:t>
            </a:r>
          </a:p>
          <a:p xmlns:a="http://schemas.openxmlformats.org/drawingml/2006/main">
            <a:r>
              <a:t>      "이용자·상담원"</a:t>
            </a:r>
          </a:p>
          <a:p xmlns:a="http://schemas.openxmlformats.org/drawingml/2006/main">
            <a:r>
              <a:t>    ],</a:t>
            </a:r>
          </a:p>
          <a:p xmlns:a="http://schemas.openxmlformats.org/drawingml/2006/main">
            <a:r>
              <a:t>    "transfers": [</a:t>
            </a:r>
          </a:p>
          <a:p xmlns:a="http://schemas.openxmlformats.org/drawingml/2006/main">
            <a:r>
              <a:t>      "전화 발화",</a:t>
            </a:r>
          </a:p>
          <a:p xmlns:a="http://schemas.openxmlformats.org/drawingml/2006/main">
            <a:r>
              <a:t>      "질의 의도",</a:t>
            </a:r>
          </a:p>
          <a:p xmlns:a="http://schemas.openxmlformats.org/drawingml/2006/main">
            <a:r>
              <a:t>      "세무 안내",</a:t>
            </a:r>
          </a:p>
          <a:p xmlns:a="http://schemas.openxmlformats.org/drawingml/2006/main">
            <a:r>
              <a:t>      "후속 상담"</a:t>
            </a:r>
          </a:p>
          <a:p xmlns:a="http://schemas.openxmlformats.org/drawingml/2006/main">
            <a:r>
              <a:t>    ],</a:t>
            </a:r>
          </a:p>
          <a:p xmlns:a="http://schemas.openxmlformats.org/drawingml/2006/main">
            <a:r>
              <a:t>    "control": "핵심 발화 확인·전문 상담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국세청 AI 전화상담 · 국세청 발표 / 2024-11-14 https://www.nts.go.kr/nts/na/ntt/selectNttInfo.do?bbsId=1011&amp;mi=2207&amp;nttSn=1339206</a:t>
            </a:r>
          </a:p>
          <a:p xmlns:a="http://schemas.openxmlformats.org/drawingml/2006/main">
            <a:r>
              <a:t>홈페이지 https://heen1987-ops.github.io/TS-business-Plan-001/index.html?view=casebook&amp;case=AX15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"AX16",</a:t>
            </a:r>
          </a:p>
          <a:p xmlns:a="http://schemas.openxmlformats.org/drawingml/2006/main">
            <a:r>
              <a:t>    "title": "싱가포르 버스 충돌경고 확대",</a:t>
            </a:r>
          </a:p>
          <a:p xmlns:a="http://schemas.openxmlformats.org/drawingml/2006/main">
            <a:r>
              <a:t>    "region": "해외",</a:t>
            </a:r>
          </a:p>
          <a:p xmlns:a="http://schemas.openxmlformats.org/drawingml/2006/main">
            <a:r>
              <a:t>    "country": "싱가포르",</a:t>
            </a:r>
          </a:p>
          <a:p xmlns:a="http://schemas.openxmlformats.org/drawingml/2006/main">
            <a:r>
              <a:t>    "result": "계획",</a:t>
            </a:r>
          </a:p>
          <a:p xmlns:a="http://schemas.openxmlformats.org/drawingml/2006/main">
            <a:r>
              <a:t>    "kind": "버스 안전 AI 도입",</a:t>
            </a:r>
          </a:p>
          <a:p xmlns:a="http://schemas.openxmlformats.org/drawingml/2006/main">
            <a:r>
              <a:t>    "period": "2025 도입·확대 계획",</a:t>
            </a:r>
          </a:p>
          <a:p xmlns:a="http://schemas.openxmlformats.org/drawingml/2006/main">
            <a:r>
              <a:t>    "sources": [</a:t>
            </a:r>
          </a:p>
          <a:p xmlns:a="http://schemas.openxmlformats.org/drawingml/2006/main">
            <a:r>
              <a:t>      "S-AX16"</a:t>
            </a:r>
          </a:p>
          <a:p xmlns:a="http://schemas.openxmlformats.org/drawingml/2006/main">
            <a:r>
              <a:t>    ],</a:t>
            </a:r>
          </a:p>
          <a:p xmlns:a="http://schemas.openxmlformats.org/drawingml/2006/main">
            <a:r>
              <a:t>    "keywords": [</a:t>
            </a:r>
          </a:p>
          <a:p xmlns:a="http://schemas.openxmlformats.org/drawingml/2006/main">
            <a:r>
              <a:t>      "버스 안전 AI 도입"</a:t>
            </a:r>
          </a:p>
          <a:p xmlns:a="http://schemas.openxmlformats.org/drawingml/2006/main">
            <a:r>
              <a:t>    ],</a:t>
            </a:r>
          </a:p>
          <a:p xmlns:a="http://schemas.openxmlformats.org/drawingml/2006/main">
            <a:r>
              <a:t>    "fact": "충돌경고 등 AI 안전 기능의 버스 도입·확대 방향 공개",</a:t>
            </a:r>
          </a:p>
          <a:p xmlns:a="http://schemas.openxmlformats.org/drawingml/2006/main">
            <a:r>
              <a:t>    "limit": "계획·조달 단계와 전 차량 운영 성과 구분",</a:t>
            </a:r>
          </a:p>
          <a:p xmlns:a="http://schemas.openxmlformats.org/drawingml/2006/main">
            <a:r>
              <a:t>    "flow": [</a:t>
            </a:r>
          </a:p>
          <a:p xmlns:a="http://schemas.openxmlformats.org/drawingml/2006/main">
            <a:r>
              <a:t>      "차량 센서·영상",</a:t>
            </a:r>
          </a:p>
          <a:p xmlns:a="http://schemas.openxmlformats.org/drawingml/2006/main">
            <a:r>
              <a:t>      "위험 판단",</a:t>
            </a:r>
          </a:p>
          <a:p xmlns:a="http://schemas.openxmlformats.org/drawingml/2006/main">
            <a:r>
              <a:t>      "운전자 경고",</a:t>
            </a:r>
          </a:p>
          <a:p xmlns:a="http://schemas.openxmlformats.org/drawingml/2006/main">
            <a:r>
              <a:t>      "운행 안전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"안전 기능의 도입 조건과 운전자 대응 검증",</a:t>
            </a:r>
          </a:p>
          <a:p xmlns:a="http://schemas.openxmlformats.org/drawingml/2006/main">
            <a:r>
              <a:t>    "local": "TS 운수회사 안전 점검의 장치·운행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"장치 상태·경고 이력·점검 항목 매핑",</a:t>
            </a:r>
          </a:p>
          <a:p xmlns:a="http://schemas.openxmlformats.org/drawingml/2006/main">
            <a:r>
              <a:t>    "test": "결측·장치 고장·과경보 및 점검 증빙 대조",</a:t>
            </a:r>
          </a:p>
          <a:p xmlns:a="http://schemas.openxmlformats.org/drawingml/2006/main">
            <a:r>
              <a:t>    "metric": "경고 신뢰도 / 증빙 누락률",</a:t>
            </a:r>
          </a:p>
          <a:p xmlns:a="http://schemas.openxmlformats.org/drawingml/2006/main">
            <a:r>
              <a:t>    "strategies": [</a:t>
            </a:r>
          </a:p>
          <a:p xmlns:a="http://schemas.openxmlformats.org/drawingml/2006/main">
            <a:r>
              <a:t>      "ST-01",</a:t>
            </a:r>
          </a:p>
          <a:p xmlns:a="http://schemas.openxmlformats.org/drawingml/2006/main">
            <a:r>
              <a:t>      "ST-02",</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"AX16",</a:t>
            </a:r>
          </a:p>
          <a:p xmlns:a="http://schemas.openxmlformats.org/drawingml/2006/main">
            <a:r>
              <a:t>    "canonicalId": "AX16",</a:t>
            </a:r>
          </a:p>
          <a:p xmlns:a="http://schemas.openxmlformats.org/drawingml/2006/main">
            <a:r>
              <a:t>    "purpose": "버스 운행 중 위험 인지와 충돌 경고",</a:t>
            </a:r>
          </a:p>
          <a:p xmlns:a="http://schemas.openxmlformats.org/drawingml/2006/main">
            <a:r>
              <a:t>    "users": "운전자·운수사 안전 담당",</a:t>
            </a:r>
          </a:p>
          <a:p xmlns:a="http://schemas.openxmlformats.org/drawingml/2006/main">
            <a:r>
              <a:t>    "scope": [</a:t>
            </a:r>
          </a:p>
          <a:p xmlns:a="http://schemas.openxmlformats.org/drawingml/2006/main">
            <a:r>
              <a:t>      "주변 감지",</a:t>
            </a:r>
          </a:p>
          <a:p xmlns:a="http://schemas.openxmlformats.org/drawingml/2006/main">
            <a:r>
              <a:t>      "위험 경고",</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"버스 센서·영상",</a:t>
            </a:r>
          </a:p>
          <a:p xmlns:a="http://schemas.openxmlformats.org/drawingml/2006/main">
            <a:r>
              <a:t>        "detail": "차량·시간·주변 상황 인지",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"주변 감지 / 위험 경고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"충돌 위험 탐지",</a:t>
            </a:r>
          </a:p>
          <a:p xmlns:a="http://schemas.openxmlformats.org/drawingml/2006/main">
            <a:r>
              <a:t>        "detail": "장애물·차량 간 위험 상황 판단",</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"운전자·안전 관리자",</a:t>
            </a:r>
          </a:p>
          <a:p xmlns:a="http://schemas.openxmlformats.org/drawingml/2006/main">
            <a:r>
              <a:t>        "detail": "운전자에게 경고 전달 및 운행 후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"위험 이벤트 기록",</a:t>
            </a:r>
          </a:p>
          <a:p xmlns:a="http://schemas.openxmlformats.org/drawingml/2006/main">
            <a:r>
              <a:t>        "detail": "차량 센서·영상·경고 이벤트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"오경보·미탐과 운전자 반응의 표본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"차량 센서·영상",</a:t>
            </a:r>
          </a:p>
          <a:p xmlns:a="http://schemas.openxmlformats.org/drawingml/2006/main">
            <a:r>
              <a:t>        "input": "차량·시간·주변 상황 인지",</a:t>
            </a:r>
          </a:p>
          <a:p xmlns:a="http://schemas.openxmlformats.org/drawingml/2006/main">
            <a:r>
              <a:t>        "process": "차량 센서·영상·경고 이벤트 정합화",</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"title": "위험 판단",</a:t>
            </a:r>
          </a:p>
          <a:p xmlns:a="http://schemas.openxmlformats.org/drawingml/2006/main">
            <a:r>
              <a:t>        "input": "센서 관측",</a:t>
            </a:r>
          </a:p>
          <a:p xmlns:a="http://schemas.openxmlformats.org/drawingml/2006/main">
            <a:r>
              <a:t>        "process": "장애물·차량 간 위험 상황 판단",</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"운전자 경고",</a:t>
            </a:r>
          </a:p>
          <a:p xmlns:a="http://schemas.openxmlformats.org/drawingml/2006/main">
            <a:r>
              <a:t>        "input": "위험 후보",</a:t>
            </a:r>
          </a:p>
          <a:p xmlns:a="http://schemas.openxmlformats.org/drawingml/2006/main">
            <a:r>
              <a:t>        "process": "경보 지연·오탐·운전자 수용성 평가",</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"title": "운행 안전 검토",</a:t>
            </a:r>
          </a:p>
          <a:p xmlns:a="http://schemas.openxmlformats.org/drawingml/2006/main">
            <a:r>
              <a:t>        "input": "경고",</a:t>
            </a:r>
          </a:p>
          <a:p xmlns:a="http://schemas.openxmlformats.org/drawingml/2006/main">
            <a:r>
              <a:t>        "process":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"운행 중 접근 위험을 감지하고 운전자에게 경고",</a:t>
            </a:r>
          </a:p>
          <a:p xmlns:a="http://schemas.openxmlformats.org/drawingml/2006/main">
            <a:r>
              <a:t>      "exception": "우천·야간·가림·정차 상태의 비위험 객체",</a:t>
            </a:r>
          </a:p>
          <a:p xmlns:a="http://schemas.openxmlformats.org/drawingml/2006/main">
            <a:r>
              <a:t>      "evidence": "환경별 경고 적정성과 운전자 반응의 표본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"운전자·운수사 안전 담당",</a:t>
            </a:r>
          </a:p>
          <a:p xmlns:a="http://schemas.openxmlformats.org/drawingml/2006/main">
            <a:r>
              <a:t>          "processing": "차량·시간·주변 상황 인지",</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"위험 이벤트 기록",</a:t>
            </a:r>
          </a:p>
          <a:p xmlns:a="http://schemas.openxmlformats.org/drawingml/2006/main">
            <a:r>
              <a:t>          "processing": "차량 센서·영상·경고 이벤트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관측",</a:t>
            </a:r>
          </a:p>
          <a:p xmlns:a="http://schemas.openxmlformats.org/drawingml/2006/main">
            <a:r>
              <a:t>          "processing": "장애물·차량 간 위험 상황 판단",</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"경고",</a:t>
            </a:r>
          </a:p>
          <a:p xmlns:a="http://schemas.openxmlformats.org/drawingml/2006/main">
            <a:r>
              <a:t>          "processing":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"오경보·미탐과 운전자 반응의 표본 확인",</a:t>
            </a:r>
          </a:p>
          <a:p xmlns:a="http://schemas.openxmlformats.org/drawingml/2006/main">
            <a:r>
              <a:t>          "output": "환경별 경고 적정성과 운전자 반응의 표본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"오경보·미탐과 운전자 반응의 표본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"S-AX16",</a:t>
            </a:r>
          </a:p>
          <a:p xmlns:a="http://schemas.openxmlformats.org/drawingml/2006/main">
            <a:r>
              <a:t>        "title": "싱가포르 버스 충돌경고 확대 · LTA / 2025-08-23",</a:t>
            </a:r>
          </a:p>
          <a:p xmlns:a="http://schemas.openxmlformats.org/drawingml/2006/main">
            <a:r>
              <a:t>        "url": "https://www.lta.gov.sg/content/ltagov/en/newsroom/2025/8/news-releases/making_bus_journeys_safer.html",</a:t>
            </a:r>
          </a:p>
          <a:p xmlns:a="http://schemas.openxmlformats.org/drawingml/2006/main">
            <a:r>
              <a:t>        "published": "2025 도입·확대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"안전 기능의 도입 조건과 운전자 대응 검증",</a:t>
            </a:r>
          </a:p>
          <a:p xmlns:a="http://schemas.openxmlformats.org/drawingml/2006/main">
            <a:r>
              <a:t>    "local": "TS 운수회사 안전 점검의 장치·운행 증거 연결",</a:t>
            </a:r>
          </a:p>
          <a:p xmlns:a="http://schemas.openxmlformats.org/drawingml/2006/main">
            <a:r>
              <a:t>    "sourceDetail": null,</a:t>
            </a:r>
          </a:p>
          <a:p xmlns:a="http://schemas.openxmlformats.org/drawingml/2006/main">
            <a:r>
              <a:t>    "narrative": [</a:t>
            </a:r>
          </a:p>
          <a:p xmlns:a="http://schemas.openxmlformats.org/drawingml/2006/main">
            <a:r>
              <a:t>      "버스 주변 위험을 감지해 운전자에게 즉시 경고하는 안전 지원 사례. 운전자의 판단과 대응을 전제로 한 경고 시스템이며 운행 후 위험 이벤트 검토와도 연결.",</a:t>
            </a:r>
          </a:p>
          <a:p xmlns:a="http://schemas.openxmlformats.org/drawingml/2006/main">
            <a:r>
              <a:t>      "차량·시간·주변 상황을 센서·영상과 맞추고 위험 후보에서 경고로 이어지는 지연을 관리하는 구조. 경고 발생, 운전자 반응, 실제 위험 여부를 서로 다른 기록으로 보존하는 CCK 분석.",</a:t>
            </a:r>
          </a:p>
          <a:p xmlns:a="http://schemas.openxmlformats.org/drawingml/2006/main">
            <a:r>
              <a:t>      "TS 적용에서는 경보 과다로 인한 무시와 중요한 위험의 미탐을 동시에 확인할 필요. 차량·도로·시간대별 경보 지연·정확도·수용성을 비교하고 보급 규모를 사고 감소 실적으로 환산하지 않는 평가."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"차량 센서 접점",</a:t>
            </a:r>
          </a:p>
          <a:p xmlns:a="http://schemas.openxmlformats.org/drawingml/2006/main">
            <a:r>
              <a:t>          "layer": "이용 접점",</a:t>
            </a:r>
          </a:p>
          <a:p xmlns:a="http://schemas.openxmlformats.org/drawingml/2006/main">
            <a:r>
              <a:t>          "detail": "운전자·운수사 안전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"차량·주변 맥락",</a:t>
            </a:r>
          </a:p>
          <a:p xmlns:a="http://schemas.openxmlformats.org/drawingml/2006/main">
            <a:r>
              <a:t>          "layer": "업무 문맥",</a:t>
            </a:r>
          </a:p>
          <a:p xmlns:a="http://schemas.openxmlformats.org/drawingml/2006/main">
            <a:r>
              <a:t>          "detail": "차량·시간·주변 상황 인지",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"영상·센서 조회",</a:t>
            </a:r>
          </a:p>
          <a:p xmlns:a="http://schemas.openxmlformats.org/drawingml/2006/main">
            <a:r>
              <a:t>          "layer": "자료 조회",</a:t>
            </a:r>
          </a:p>
          <a:p xmlns:a="http://schemas.openxmlformats.org/drawingml/2006/main">
            <a:r>
              <a:t>          "detail": "센서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"충돌 위험 탐지",</a:t>
            </a:r>
          </a:p>
          <a:p xmlns:a="http://schemas.openxmlformats.org/drawingml/2006/main">
            <a:r>
              <a:t>          "layer": "핵심 처리",</a:t>
            </a:r>
          </a:p>
          <a:p xmlns:a="http://schemas.openxmlformats.org/drawingml/2006/main">
            <a:r>
              <a:t>          "detail": "장애물·차량 간 위험 상황 판단",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"경보 지연 검사",</a:t>
            </a:r>
          </a:p>
          <a:p xmlns:a="http://schemas.openxmlformats.org/drawingml/2006/main">
            <a:r>
              <a:t>          "layer": "결과 검증",</a:t>
            </a:r>
          </a:p>
          <a:p xmlns:a="http://schemas.openxmlformats.org/drawingml/2006/main">
            <a:r>
              <a:t>          "detail": "경보 지연·오탐·운전자 수용성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"운전자 상황 판단",</a:t>
            </a:r>
          </a:p>
          <a:p xmlns:a="http://schemas.openxmlformats.org/drawingml/2006/main">
            <a:r>
              <a:t>          "layer": "사람 확인",</a:t>
            </a:r>
          </a:p>
          <a:p xmlns:a="http://schemas.openxmlformats.org/drawingml/2006/main">
            <a:r>
              <a:t>          "detail": "운행 중 접근 위험을 감지하고 운전자에게 경고",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"위험 경고 전달",</a:t>
            </a:r>
          </a:p>
          <a:p xmlns:a="http://schemas.openxmlformats.org/drawingml/2006/main">
            <a:r>
              <a:t>          "layer": "업무 연결",</a:t>
            </a:r>
          </a:p>
          <a:p xmlns:a="http://schemas.openxmlformats.org/drawingml/2006/main">
            <a:r>
              <a:t>          "detail": "운전자에게 경고 전달 및 운행 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후 검토",</a:t>
            </a:r>
          </a:p>
          <a:p xmlns:a="http://schemas.openxmlformats.org/drawingml/2006/main">
            <a:r>
              <a:t>          "layer": "운영 관측",</a:t>
            </a:r>
          </a:p>
          <a:p xmlns:a="http://schemas.openxmlformats.org/drawingml/2006/main">
            <a:r>
              <a:t>          "detail": "오경보·미탐과 운전자 반응의 표본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"영상·센서 자료",</a:t>
            </a:r>
          </a:p>
          <a:p xmlns:a="http://schemas.openxmlformats.org/drawingml/2006/main">
            <a:r>
              <a:t>          "layer": "데이터 원천",</a:t>
            </a:r>
          </a:p>
          <a:p xmlns:a="http://schemas.openxmlformats.org/drawingml/2006/main">
            <a:r>
              <a:t>          "detail": "위험 이벤트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 동기화",</a:t>
            </a:r>
          </a:p>
          <a:p xmlns:a="http://schemas.openxmlformats.org/drawingml/2006/main">
            <a:r>
              <a:t>          "layer": "준비·갱신",</a:t>
            </a:r>
          </a:p>
          <a:p xmlns:a="http://schemas.openxmlformats.org/drawingml/2006/main">
            <a:r>
              <a:t>          "detail": "차량 센서·영상·경고 이벤트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"경고·반응 이력",</a:t>
            </a:r>
          </a:p>
          <a:p xmlns:a="http://schemas.openxmlformats.org/drawingml/2006/main">
            <a:r>
              <a:t>          "layer": "상태·지식 저장",</a:t>
            </a:r>
          </a:p>
          <a:p xmlns:a="http://schemas.openxmlformats.org/drawingml/2006/main">
            <a:r>
              <a:t>          "detail": "환경별 경고 적정성과 운전자 반응의 표본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"차량 안전 경계",</a:t>
            </a:r>
          </a:p>
          <a:p xmlns:a="http://schemas.openxmlformats.org/drawingml/2006/main">
            <a:r>
              <a:t>          "layer": "권한·정책",</a:t>
            </a:r>
          </a:p>
          <a:p xmlns:a="http://schemas.openxmlformats.org/drawingml/2006/main">
            <a:r>
              <a:t>          "detail": "우천·야간·가림·정차 상태의 비위험 객체",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"차량 센서·영상 → 위험 판단 → 운전자 경고 → 운행 안전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"위험 이벤트 기록",</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"경고",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"차량 안전 경계",</a:t>
            </a:r>
          </a:p>
          <a:p xmlns:a="http://schemas.openxmlformats.org/drawingml/2006/main">
            <a:r>
              <a:t>          "check": "경보 지연·오탐·운전자 수용성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"운행 후 검토",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"오경보·미탐과 운전자 반응의 표본 확인",</a:t>
            </a:r>
          </a:p>
          <a:p xmlns:a="http://schemas.openxmlformats.org/drawingml/2006/main">
            <a:r>
              <a:t>          "check": "오경보·미탐과 운전자 반응의 표본 확인"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"버스 운행 중 위험 인지와 충돌 경고 / 주변 감지·위험 경고·운행 검토",</a:t>
            </a:r>
          </a:p>
          <a:p xmlns:a="http://schemas.openxmlformats.org/drawingml/2006/main">
            <a:r>
              <a:t>        "extension": "TS 운수회사 안전 점검의 장치·운행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"우천·야간·가림·정차 상태의 비위험 객체",</a:t>
            </a:r>
          </a:p>
          <a:p xmlns:a="http://schemas.openxmlformats.org/drawingml/2006/main">
            <a:r>
              <a:t>        "hold": "경보 지연·오탐·운전자 수용성 평가",</a:t>
            </a:r>
          </a:p>
          <a:p xmlns:a="http://schemas.openxmlformats.org/drawingml/2006/main">
            <a:r>
              <a:t>        "recovery": "오경보·미탐과 운전자 반응의 표본 확인",</a:t>
            </a:r>
          </a:p>
          <a:p xmlns:a="http://schemas.openxmlformats.org/drawingml/2006/main">
            <a:r>
              <a:t>        "evidence": "환경별 경고 적정성과 운전자 반응의 표본 기록"</a:t>
            </a:r>
          </a:p>
          <a:p xmlns:a="http://schemas.openxmlformats.org/drawingml/2006/main">
            <a:r>
              <a:t>      },</a:t>
            </a:r>
          </a:p>
          <a:p xmlns:a="http://schemas.openxmlformats.org/drawingml/2006/main">
            <a:r>
              <a:t>      "data": {</a:t>
            </a:r>
          </a:p>
          <a:p xmlns:a="http://schemas.openxmlformats.org/drawingml/2006/main">
            <a:r>
              <a:t>        "source": "위험 이벤트 기록",</a:t>
            </a:r>
          </a:p>
          <a:p xmlns:a="http://schemas.openxmlformats.org/drawingml/2006/main">
            <a:r>
              <a:t>        "prepare": "차량 센서·영상·경고 이벤트 정합화",</a:t>
            </a:r>
          </a:p>
          <a:p xmlns:a="http://schemas.openxmlformats.org/drawingml/2006/main">
            <a:r>
              <a:t>        "output": "센서 관측",</a:t>
            </a:r>
          </a:p>
          <a:p xmlns:a="http://schemas.openxmlformats.org/drawingml/2006/main">
            <a:r>
              <a:t>        "refresh": "오경보·미탐과 운전자 반응의 표본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"AX16",</a:t>
            </a:r>
          </a:p>
          <a:p xmlns:a="http://schemas.openxmlformats.org/drawingml/2006/main">
            <a:r>
              <a:t>    "success": [</a:t>
            </a:r>
          </a:p>
          <a:p xmlns:a="http://schemas.openxmlformats.org/drawingml/2006/main">
            <a:r>
              <a:t>      "차량의 위험 인지와 즉시 경고",</a:t>
            </a:r>
          </a:p>
          <a:p xmlns:a="http://schemas.openxmlformats.org/drawingml/2006/main">
            <a:r>
              <a:t>      "운전자 대응을 전제로 한 안전 지원"</a:t>
            </a:r>
          </a:p>
          <a:p xmlns:a="http://schemas.openxmlformats.org/drawingml/2006/main">
            <a:r>
              <a:t>    ],</a:t>
            </a:r>
          </a:p>
          <a:p xmlns:a="http://schemas.openxmlformats.org/drawingml/2006/main">
            <a:r>
              <a:t>    "risks": [</a:t>
            </a:r>
          </a:p>
          <a:p xmlns:a="http://schemas.openxmlformats.org/drawingml/2006/main">
            <a:r>
              <a:t>      "경보 과다에 따른 무시 위험",</a:t>
            </a:r>
          </a:p>
          <a:p xmlns:a="http://schemas.openxmlformats.org/drawingml/2006/main">
            <a:r>
              <a:t>      "확대 계획을 사고 감소 실적으로 해석"</a:t>
            </a:r>
          </a:p>
          <a:p xmlns:a="http://schemas.openxmlformats.org/drawingml/2006/main">
            <a:r>
              <a:t>    ],</a:t>
            </a:r>
          </a:p>
          <a:p xmlns:a="http://schemas.openxmlformats.org/drawingml/2006/main">
            <a:r>
              <a:t>    "architecture": [</a:t>
            </a:r>
          </a:p>
          <a:p xmlns:a="http://schemas.openxmlformats.org/drawingml/2006/main">
            <a:r>
              <a:t>      "버스 센서·영상",</a:t>
            </a:r>
          </a:p>
          <a:p xmlns:a="http://schemas.openxmlformats.org/drawingml/2006/main">
            <a:r>
              <a:t>      "충돌 위험 탐지",</a:t>
            </a:r>
          </a:p>
          <a:p xmlns:a="http://schemas.openxmlformats.org/drawingml/2006/main">
            <a:r>
              <a:t>      "위험 이벤트 기록",</a:t>
            </a:r>
          </a:p>
          <a:p xmlns:a="http://schemas.openxmlformats.org/drawingml/2006/main">
            <a:r>
              <a:t>      "운전자·안전 관리자"</a:t>
            </a:r>
          </a:p>
          <a:p xmlns:a="http://schemas.openxmlformats.org/drawingml/2006/main">
            <a:r>
              <a:t>    ],</a:t>
            </a:r>
          </a:p>
          <a:p xmlns:a="http://schemas.openxmlformats.org/drawingml/2006/main">
            <a:r>
              <a:t>    "transfers": [</a:t>
            </a:r>
          </a:p>
          <a:p xmlns:a="http://schemas.openxmlformats.org/drawingml/2006/main">
            <a:r>
              <a:t>      "센서 관측",</a:t>
            </a:r>
          </a:p>
          <a:p xmlns:a="http://schemas.openxmlformats.org/drawingml/2006/main">
            <a:r>
              <a:t>      "위험 후보",</a:t>
            </a:r>
          </a:p>
          <a:p xmlns:a="http://schemas.openxmlformats.org/drawingml/2006/main">
            <a:r>
              <a:t>      "경고",</a:t>
            </a:r>
          </a:p>
          <a:p xmlns:a="http://schemas.openxmlformats.org/drawingml/2006/main">
            <a:r>
              <a:t>      "운행 후 검토"</a:t>
            </a:r>
          </a:p>
          <a:p xmlns:a="http://schemas.openxmlformats.org/drawingml/2006/main">
            <a:r>
              <a:t>    ],</a:t>
            </a:r>
          </a:p>
          <a:p xmlns:a="http://schemas.openxmlformats.org/drawingml/2006/main">
            <a:r>
              <a:t>    "control": "경보 지연·오탐·운전자 수용성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싱가포르 버스 충돌경고 확대 · LTA / 2025-08-23 https://www.lta.gov.sg/content/ltagov/en/newsroom/2025/8/news-releases/making_bus_journeys_safer.html</a:t>
            </a:r>
          </a:p>
          <a:p xmlns:a="http://schemas.openxmlformats.org/drawingml/2006/main">
            <a:r>
              <a:t>홈페이지 https://heen1987-ops.github.io/TS-business-Plan-001/index.html?view=casebook&amp;case=AX16</a:t>
            </a:r>
          </a:p>
          <a:p xmlns:a="http://schemas.openxmlformats.org/drawingml/2006/main">
            <a:r>
              <a:t>한계: 계획·조달 단계와 전 차량 운영 성과 구분</a:t>
            </a:r>
          </a:p>
          <a:p xmlns:a="http://schemas.openxmlformats.org/drawingml/2006/main">
            <a:r>
              <a:t>실패 위험: 경보 과다에 따른 무시 위험 / 확대 계획을 사고 감소 실적으로 해석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"AX16",</a:t>
            </a:r>
          </a:p>
          <a:p xmlns:a="http://schemas.openxmlformats.org/drawingml/2006/main">
            <a:r>
              <a:t>    "title": "싱가포르 버스 충돌경고 확대",</a:t>
            </a:r>
          </a:p>
          <a:p xmlns:a="http://schemas.openxmlformats.org/drawingml/2006/main">
            <a:r>
              <a:t>    "region": "해외",</a:t>
            </a:r>
          </a:p>
          <a:p xmlns:a="http://schemas.openxmlformats.org/drawingml/2006/main">
            <a:r>
              <a:t>    "country": "싱가포르",</a:t>
            </a:r>
          </a:p>
          <a:p xmlns:a="http://schemas.openxmlformats.org/drawingml/2006/main">
            <a:r>
              <a:t>    "result": "계획",</a:t>
            </a:r>
          </a:p>
          <a:p xmlns:a="http://schemas.openxmlformats.org/drawingml/2006/main">
            <a:r>
              <a:t>    "kind": "버스 안전 AI 도입",</a:t>
            </a:r>
          </a:p>
          <a:p xmlns:a="http://schemas.openxmlformats.org/drawingml/2006/main">
            <a:r>
              <a:t>    "period": "2025 도입·확대 계획",</a:t>
            </a:r>
          </a:p>
          <a:p xmlns:a="http://schemas.openxmlformats.org/drawingml/2006/main">
            <a:r>
              <a:t>    "sources": [</a:t>
            </a:r>
          </a:p>
          <a:p xmlns:a="http://schemas.openxmlformats.org/drawingml/2006/main">
            <a:r>
              <a:t>      "S-AX16"</a:t>
            </a:r>
          </a:p>
          <a:p xmlns:a="http://schemas.openxmlformats.org/drawingml/2006/main">
            <a:r>
              <a:t>    ],</a:t>
            </a:r>
          </a:p>
          <a:p xmlns:a="http://schemas.openxmlformats.org/drawingml/2006/main">
            <a:r>
              <a:t>    "keywords": [</a:t>
            </a:r>
          </a:p>
          <a:p xmlns:a="http://schemas.openxmlformats.org/drawingml/2006/main">
            <a:r>
              <a:t>      "버스 안전 AI 도입"</a:t>
            </a:r>
          </a:p>
          <a:p xmlns:a="http://schemas.openxmlformats.org/drawingml/2006/main">
            <a:r>
              <a:t>    ],</a:t>
            </a:r>
          </a:p>
          <a:p xmlns:a="http://schemas.openxmlformats.org/drawingml/2006/main">
            <a:r>
              <a:t>    "fact": "충돌경고 등 AI 안전 기능의 버스 도입·확대 방향 공개",</a:t>
            </a:r>
          </a:p>
          <a:p xmlns:a="http://schemas.openxmlformats.org/drawingml/2006/main">
            <a:r>
              <a:t>    "limit": "계획·조달 단계와 전 차량 운영 성과 구분",</a:t>
            </a:r>
          </a:p>
          <a:p xmlns:a="http://schemas.openxmlformats.org/drawingml/2006/main">
            <a:r>
              <a:t>    "flow": [</a:t>
            </a:r>
          </a:p>
          <a:p xmlns:a="http://schemas.openxmlformats.org/drawingml/2006/main">
            <a:r>
              <a:t>      "차량 센서·영상",</a:t>
            </a:r>
          </a:p>
          <a:p xmlns:a="http://schemas.openxmlformats.org/drawingml/2006/main">
            <a:r>
              <a:t>      "위험 판단",</a:t>
            </a:r>
          </a:p>
          <a:p xmlns:a="http://schemas.openxmlformats.org/drawingml/2006/main">
            <a:r>
              <a:t>      "운전자 경고",</a:t>
            </a:r>
          </a:p>
          <a:p xmlns:a="http://schemas.openxmlformats.org/drawingml/2006/main">
            <a:r>
              <a:t>      "운행 안전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"안전 기능의 도입 조건과 운전자 대응 검증",</a:t>
            </a:r>
          </a:p>
          <a:p xmlns:a="http://schemas.openxmlformats.org/drawingml/2006/main">
            <a:r>
              <a:t>    "local": "TS 운수회사 안전 점검의 장치·운행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"장치 상태·경고 이력·점검 항목 매핑",</a:t>
            </a:r>
          </a:p>
          <a:p xmlns:a="http://schemas.openxmlformats.org/drawingml/2006/main">
            <a:r>
              <a:t>    "test": "결측·장치 고장·과경보 및 점검 증빙 대조",</a:t>
            </a:r>
          </a:p>
          <a:p xmlns:a="http://schemas.openxmlformats.org/drawingml/2006/main">
            <a:r>
              <a:t>    "metric": "경고 신뢰도 / 증빙 누락률",</a:t>
            </a:r>
          </a:p>
          <a:p xmlns:a="http://schemas.openxmlformats.org/drawingml/2006/main">
            <a:r>
              <a:t>    "strategies": [</a:t>
            </a:r>
          </a:p>
          <a:p xmlns:a="http://schemas.openxmlformats.org/drawingml/2006/main">
            <a:r>
              <a:t>      "ST-01",</a:t>
            </a:r>
          </a:p>
          <a:p xmlns:a="http://schemas.openxmlformats.org/drawingml/2006/main">
            <a:r>
              <a:t>      "ST-02",</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"AX16",</a:t>
            </a:r>
          </a:p>
          <a:p xmlns:a="http://schemas.openxmlformats.org/drawingml/2006/main">
            <a:r>
              <a:t>    "canonicalId": "AX16",</a:t>
            </a:r>
          </a:p>
          <a:p xmlns:a="http://schemas.openxmlformats.org/drawingml/2006/main">
            <a:r>
              <a:t>    "purpose": "버스 운행 중 위험 인지와 충돌 경고",</a:t>
            </a:r>
          </a:p>
          <a:p xmlns:a="http://schemas.openxmlformats.org/drawingml/2006/main">
            <a:r>
              <a:t>    "users": "운전자·운수사 안전 담당",</a:t>
            </a:r>
          </a:p>
          <a:p xmlns:a="http://schemas.openxmlformats.org/drawingml/2006/main">
            <a:r>
              <a:t>    "scope": [</a:t>
            </a:r>
          </a:p>
          <a:p xmlns:a="http://schemas.openxmlformats.org/drawingml/2006/main">
            <a:r>
              <a:t>      "주변 감지",</a:t>
            </a:r>
          </a:p>
          <a:p xmlns:a="http://schemas.openxmlformats.org/drawingml/2006/main">
            <a:r>
              <a:t>      "위험 경고",</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"버스 센서·영상",</a:t>
            </a:r>
          </a:p>
          <a:p xmlns:a="http://schemas.openxmlformats.org/drawingml/2006/main">
            <a:r>
              <a:t>        "detail": "차량·시간·주변 상황 인지",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"주변 감지 / 위험 경고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"충돌 위험 탐지",</a:t>
            </a:r>
          </a:p>
          <a:p xmlns:a="http://schemas.openxmlformats.org/drawingml/2006/main">
            <a:r>
              <a:t>        "detail": "장애물·차량 간 위험 상황 판단",</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"운전자·안전 관리자",</a:t>
            </a:r>
          </a:p>
          <a:p xmlns:a="http://schemas.openxmlformats.org/drawingml/2006/main">
            <a:r>
              <a:t>        "detail": "운전자에게 경고 전달 및 운행 후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"위험 이벤트 기록",</a:t>
            </a:r>
          </a:p>
          <a:p xmlns:a="http://schemas.openxmlformats.org/drawingml/2006/main">
            <a:r>
              <a:t>        "detail": "차량 센서·영상·경고 이벤트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"오경보·미탐과 운전자 반응의 표본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"차량 센서·영상",</a:t>
            </a:r>
          </a:p>
          <a:p xmlns:a="http://schemas.openxmlformats.org/drawingml/2006/main">
            <a:r>
              <a:t>        "input": "차량·시간·주변 상황 인지",</a:t>
            </a:r>
          </a:p>
          <a:p xmlns:a="http://schemas.openxmlformats.org/drawingml/2006/main">
            <a:r>
              <a:t>        "process": "차량 센서·영상·경고 이벤트 정합화",</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"title": "위험 판단",</a:t>
            </a:r>
          </a:p>
          <a:p xmlns:a="http://schemas.openxmlformats.org/drawingml/2006/main">
            <a:r>
              <a:t>        "input": "센서 관측",</a:t>
            </a:r>
          </a:p>
          <a:p xmlns:a="http://schemas.openxmlformats.org/drawingml/2006/main">
            <a:r>
              <a:t>        "process": "장애물·차량 간 위험 상황 판단",</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"운전자 경고",</a:t>
            </a:r>
          </a:p>
          <a:p xmlns:a="http://schemas.openxmlformats.org/drawingml/2006/main">
            <a:r>
              <a:t>        "input": "위험 후보",</a:t>
            </a:r>
          </a:p>
          <a:p xmlns:a="http://schemas.openxmlformats.org/drawingml/2006/main">
            <a:r>
              <a:t>        "process": "경보 지연·오탐·운전자 수용성 평가",</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"title": "운행 안전 검토",</a:t>
            </a:r>
          </a:p>
          <a:p xmlns:a="http://schemas.openxmlformats.org/drawingml/2006/main">
            <a:r>
              <a:t>        "input": "경고",</a:t>
            </a:r>
          </a:p>
          <a:p xmlns:a="http://schemas.openxmlformats.org/drawingml/2006/main">
            <a:r>
              <a:t>        "process":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"운행 중 접근 위험을 감지하고 운전자에게 경고",</a:t>
            </a:r>
          </a:p>
          <a:p xmlns:a="http://schemas.openxmlformats.org/drawingml/2006/main">
            <a:r>
              <a:t>      "exception": "우천·야간·가림·정차 상태의 비위험 객체",</a:t>
            </a:r>
          </a:p>
          <a:p xmlns:a="http://schemas.openxmlformats.org/drawingml/2006/main">
            <a:r>
              <a:t>      "evidence": "환경별 경고 적정성과 운전자 반응의 표본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"운전자·운수사 안전 담당",</a:t>
            </a:r>
          </a:p>
          <a:p xmlns:a="http://schemas.openxmlformats.org/drawingml/2006/main">
            <a:r>
              <a:t>          "processing": "차량·시간·주변 상황 인지",</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"위험 이벤트 기록",</a:t>
            </a:r>
          </a:p>
          <a:p xmlns:a="http://schemas.openxmlformats.org/drawingml/2006/main">
            <a:r>
              <a:t>          "processing": "차량 센서·영상·경고 이벤트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관측",</a:t>
            </a:r>
          </a:p>
          <a:p xmlns:a="http://schemas.openxmlformats.org/drawingml/2006/main">
            <a:r>
              <a:t>          "processing": "장애물·차량 간 위험 상황 판단",</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"경고",</a:t>
            </a:r>
          </a:p>
          <a:p xmlns:a="http://schemas.openxmlformats.org/drawingml/2006/main">
            <a:r>
              <a:t>          "processing":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"오경보·미탐과 운전자 반응의 표본 확인",</a:t>
            </a:r>
          </a:p>
          <a:p xmlns:a="http://schemas.openxmlformats.org/drawingml/2006/main">
            <a:r>
              <a:t>          "output": "환경별 경고 적정성과 운전자 반응의 표본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"오경보·미탐과 운전자 반응의 표본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"S-AX16",</a:t>
            </a:r>
          </a:p>
          <a:p xmlns:a="http://schemas.openxmlformats.org/drawingml/2006/main">
            <a:r>
              <a:t>        "title": "싱가포르 버스 충돌경고 확대 · LTA / 2025-08-23",</a:t>
            </a:r>
          </a:p>
          <a:p xmlns:a="http://schemas.openxmlformats.org/drawingml/2006/main">
            <a:r>
              <a:t>        "url": "https://www.lta.gov.sg/content/ltagov/en/newsroom/2025/8/news-releases/making_bus_journeys_safer.html",</a:t>
            </a:r>
          </a:p>
          <a:p xmlns:a="http://schemas.openxmlformats.org/drawingml/2006/main">
            <a:r>
              <a:t>        "published": "2025 도입·확대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"안전 기능의 도입 조건과 운전자 대응 검증",</a:t>
            </a:r>
          </a:p>
          <a:p xmlns:a="http://schemas.openxmlformats.org/drawingml/2006/main">
            <a:r>
              <a:t>    "local": "TS 운수회사 안전 점검의 장치·운행 증거 연결",</a:t>
            </a:r>
          </a:p>
          <a:p xmlns:a="http://schemas.openxmlformats.org/drawingml/2006/main">
            <a:r>
              <a:t>    "sourceDetail": null,</a:t>
            </a:r>
          </a:p>
          <a:p xmlns:a="http://schemas.openxmlformats.org/drawingml/2006/main">
            <a:r>
              <a:t>    "narrative": [</a:t>
            </a:r>
          </a:p>
          <a:p xmlns:a="http://schemas.openxmlformats.org/drawingml/2006/main">
            <a:r>
              <a:t>      "버스 주변 위험을 감지해 운전자에게 즉시 경고하는 안전 지원 사례. 운전자의 판단과 대응을 전제로 한 경고 시스템이며 운행 후 위험 이벤트 검토와도 연결.",</a:t>
            </a:r>
          </a:p>
          <a:p xmlns:a="http://schemas.openxmlformats.org/drawingml/2006/main">
            <a:r>
              <a:t>      "차량·시간·주변 상황을 센서·영상과 맞추고 위험 후보에서 경고로 이어지는 지연을 관리하는 구조. 경고 발생, 운전자 반응, 실제 위험 여부를 서로 다른 기록으로 보존하는 CCK 분석.",</a:t>
            </a:r>
          </a:p>
          <a:p xmlns:a="http://schemas.openxmlformats.org/drawingml/2006/main">
            <a:r>
              <a:t>      "TS 적용에서는 경보 과다로 인한 무시와 중요한 위험의 미탐을 동시에 확인할 필요. 차량·도로·시간대별 경보 지연·정확도·수용성을 비교하고 보급 규모를 사고 감소 실적으로 환산하지 않는 평가."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"차량 센서 접점",</a:t>
            </a:r>
          </a:p>
          <a:p xmlns:a="http://schemas.openxmlformats.org/drawingml/2006/main">
            <a:r>
              <a:t>          "layer": "이용 접점",</a:t>
            </a:r>
          </a:p>
          <a:p xmlns:a="http://schemas.openxmlformats.org/drawingml/2006/main">
            <a:r>
              <a:t>          "detail": "운전자·운수사 안전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"차량·주변 맥락",</a:t>
            </a:r>
          </a:p>
          <a:p xmlns:a="http://schemas.openxmlformats.org/drawingml/2006/main">
            <a:r>
              <a:t>          "layer": "업무 문맥",</a:t>
            </a:r>
          </a:p>
          <a:p xmlns:a="http://schemas.openxmlformats.org/drawingml/2006/main">
            <a:r>
              <a:t>          "detail": "차량·시간·주변 상황 인지",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"영상·센서 조회",</a:t>
            </a:r>
          </a:p>
          <a:p xmlns:a="http://schemas.openxmlformats.org/drawingml/2006/main">
            <a:r>
              <a:t>          "layer": "자료 조회",</a:t>
            </a:r>
          </a:p>
          <a:p xmlns:a="http://schemas.openxmlformats.org/drawingml/2006/main">
            <a:r>
              <a:t>          "detail": "센서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"충돌 위험 탐지",</a:t>
            </a:r>
          </a:p>
          <a:p xmlns:a="http://schemas.openxmlformats.org/drawingml/2006/main">
            <a:r>
              <a:t>          "layer": "핵심 처리",</a:t>
            </a:r>
          </a:p>
          <a:p xmlns:a="http://schemas.openxmlformats.org/drawingml/2006/main">
            <a:r>
              <a:t>          "detail": "장애물·차량 간 위험 상황 판단",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"경보 지연 검사",</a:t>
            </a:r>
          </a:p>
          <a:p xmlns:a="http://schemas.openxmlformats.org/drawingml/2006/main">
            <a:r>
              <a:t>          "layer": "결과 검증",</a:t>
            </a:r>
          </a:p>
          <a:p xmlns:a="http://schemas.openxmlformats.org/drawingml/2006/main">
            <a:r>
              <a:t>          "detail": "경보 지연·오탐·운전자 수용성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"운전자 상황 판단",</a:t>
            </a:r>
          </a:p>
          <a:p xmlns:a="http://schemas.openxmlformats.org/drawingml/2006/main">
            <a:r>
              <a:t>          "layer": "사람 확인",</a:t>
            </a:r>
          </a:p>
          <a:p xmlns:a="http://schemas.openxmlformats.org/drawingml/2006/main">
            <a:r>
              <a:t>          "detail": "운행 중 접근 위험을 감지하고 운전자에게 경고",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"위험 경고 전달",</a:t>
            </a:r>
          </a:p>
          <a:p xmlns:a="http://schemas.openxmlformats.org/drawingml/2006/main">
            <a:r>
              <a:t>          "layer": "업무 연결",</a:t>
            </a:r>
          </a:p>
          <a:p xmlns:a="http://schemas.openxmlformats.org/drawingml/2006/main">
            <a:r>
              <a:t>          "detail": "운전자에게 경고 전달 및 운행 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후 검토",</a:t>
            </a:r>
          </a:p>
          <a:p xmlns:a="http://schemas.openxmlformats.org/drawingml/2006/main">
            <a:r>
              <a:t>          "layer": "운영 관측",</a:t>
            </a:r>
          </a:p>
          <a:p xmlns:a="http://schemas.openxmlformats.org/drawingml/2006/main">
            <a:r>
              <a:t>          "detail": "오경보·미탐과 운전자 반응의 표본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"영상·센서 자료",</a:t>
            </a:r>
          </a:p>
          <a:p xmlns:a="http://schemas.openxmlformats.org/drawingml/2006/main">
            <a:r>
              <a:t>          "layer": "데이터 원천",</a:t>
            </a:r>
          </a:p>
          <a:p xmlns:a="http://schemas.openxmlformats.org/drawingml/2006/main">
            <a:r>
              <a:t>          "detail": "위험 이벤트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 동기화",</a:t>
            </a:r>
          </a:p>
          <a:p xmlns:a="http://schemas.openxmlformats.org/drawingml/2006/main">
            <a:r>
              <a:t>          "layer": "준비·갱신",</a:t>
            </a:r>
          </a:p>
          <a:p xmlns:a="http://schemas.openxmlformats.org/drawingml/2006/main">
            <a:r>
              <a:t>          "detail": "차량 센서·영상·경고 이벤트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"경고·반응 이력",</a:t>
            </a:r>
          </a:p>
          <a:p xmlns:a="http://schemas.openxmlformats.org/drawingml/2006/main">
            <a:r>
              <a:t>          "layer": "상태·지식 저장",</a:t>
            </a:r>
          </a:p>
          <a:p xmlns:a="http://schemas.openxmlformats.org/drawingml/2006/main">
            <a:r>
              <a:t>          "detail": "환경별 경고 적정성과 운전자 반응의 표본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"차량 안전 경계",</a:t>
            </a:r>
          </a:p>
          <a:p xmlns:a="http://schemas.openxmlformats.org/drawingml/2006/main">
            <a:r>
              <a:t>          "layer": "권한·정책",</a:t>
            </a:r>
          </a:p>
          <a:p xmlns:a="http://schemas.openxmlformats.org/drawingml/2006/main">
            <a:r>
              <a:t>          "detail": "우천·야간·가림·정차 상태의 비위험 객체",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"차량 센서·영상 → 위험 판단 → 운전자 경고 → 운행 안전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"위험 이벤트 기록",</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"경고",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"차량 안전 경계",</a:t>
            </a:r>
          </a:p>
          <a:p xmlns:a="http://schemas.openxmlformats.org/drawingml/2006/main">
            <a:r>
              <a:t>          "check": "경보 지연·오탐·운전자 수용성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"운행 후 검토",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"오경보·미탐과 운전자 반응의 표본 확인",</a:t>
            </a:r>
          </a:p>
          <a:p xmlns:a="http://schemas.openxmlformats.org/drawingml/2006/main">
            <a:r>
              <a:t>          "check": "오경보·미탐과 운전자 반응의 표본 확인"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"버스 운행 중 위험 인지와 충돌 경고 / 주변 감지·위험 경고·운행 검토",</a:t>
            </a:r>
          </a:p>
          <a:p xmlns:a="http://schemas.openxmlformats.org/drawingml/2006/main">
            <a:r>
              <a:t>        "extension": "TS 운수회사 안전 점검의 장치·운행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"우천·야간·가림·정차 상태의 비위험 객체",</a:t>
            </a:r>
          </a:p>
          <a:p xmlns:a="http://schemas.openxmlformats.org/drawingml/2006/main">
            <a:r>
              <a:t>        "hold": "경보 지연·오탐·운전자 수용성 평가",</a:t>
            </a:r>
          </a:p>
          <a:p xmlns:a="http://schemas.openxmlformats.org/drawingml/2006/main">
            <a:r>
              <a:t>        "recovery": "오경보·미탐과 운전자 반응의 표본 확인",</a:t>
            </a:r>
          </a:p>
          <a:p xmlns:a="http://schemas.openxmlformats.org/drawingml/2006/main">
            <a:r>
              <a:t>        "evidence": "환경별 경고 적정성과 운전자 반응의 표본 기록"</a:t>
            </a:r>
          </a:p>
          <a:p xmlns:a="http://schemas.openxmlformats.org/drawingml/2006/main">
            <a:r>
              <a:t>      },</a:t>
            </a:r>
          </a:p>
          <a:p xmlns:a="http://schemas.openxmlformats.org/drawingml/2006/main">
            <a:r>
              <a:t>      "data": {</a:t>
            </a:r>
          </a:p>
          <a:p xmlns:a="http://schemas.openxmlformats.org/drawingml/2006/main">
            <a:r>
              <a:t>        "source": "위험 이벤트 기록",</a:t>
            </a:r>
          </a:p>
          <a:p xmlns:a="http://schemas.openxmlformats.org/drawingml/2006/main">
            <a:r>
              <a:t>        "prepare": "차량 센서·영상·경고 이벤트 정합화",</a:t>
            </a:r>
          </a:p>
          <a:p xmlns:a="http://schemas.openxmlformats.org/drawingml/2006/main">
            <a:r>
              <a:t>        "output": "센서 관측",</a:t>
            </a:r>
          </a:p>
          <a:p xmlns:a="http://schemas.openxmlformats.org/drawingml/2006/main">
            <a:r>
              <a:t>        "refresh": "오경보·미탐과 운전자 반응의 표본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"AX16",</a:t>
            </a:r>
          </a:p>
          <a:p xmlns:a="http://schemas.openxmlformats.org/drawingml/2006/main">
            <a:r>
              <a:t>    "success": [</a:t>
            </a:r>
          </a:p>
          <a:p xmlns:a="http://schemas.openxmlformats.org/drawingml/2006/main">
            <a:r>
              <a:t>      "차량의 위험 인지와 즉시 경고",</a:t>
            </a:r>
          </a:p>
          <a:p xmlns:a="http://schemas.openxmlformats.org/drawingml/2006/main">
            <a:r>
              <a:t>      "운전자 대응을 전제로 한 안전 지원"</a:t>
            </a:r>
          </a:p>
          <a:p xmlns:a="http://schemas.openxmlformats.org/drawingml/2006/main">
            <a:r>
              <a:t>    ],</a:t>
            </a:r>
          </a:p>
          <a:p xmlns:a="http://schemas.openxmlformats.org/drawingml/2006/main">
            <a:r>
              <a:t>    "risks": [</a:t>
            </a:r>
          </a:p>
          <a:p xmlns:a="http://schemas.openxmlformats.org/drawingml/2006/main">
            <a:r>
              <a:t>      "경보 과다에 따른 무시 위험",</a:t>
            </a:r>
          </a:p>
          <a:p xmlns:a="http://schemas.openxmlformats.org/drawingml/2006/main">
            <a:r>
              <a:t>      "확대 계획을 사고 감소 실적으로 해석"</a:t>
            </a:r>
          </a:p>
          <a:p xmlns:a="http://schemas.openxmlformats.org/drawingml/2006/main">
            <a:r>
              <a:t>    ],</a:t>
            </a:r>
          </a:p>
          <a:p xmlns:a="http://schemas.openxmlformats.org/drawingml/2006/main">
            <a:r>
              <a:t>    "architecture": [</a:t>
            </a:r>
          </a:p>
          <a:p xmlns:a="http://schemas.openxmlformats.org/drawingml/2006/main">
            <a:r>
              <a:t>      "버스 센서·영상",</a:t>
            </a:r>
          </a:p>
          <a:p xmlns:a="http://schemas.openxmlformats.org/drawingml/2006/main">
            <a:r>
              <a:t>      "충돌 위험 탐지",</a:t>
            </a:r>
          </a:p>
          <a:p xmlns:a="http://schemas.openxmlformats.org/drawingml/2006/main">
            <a:r>
              <a:t>      "위험 이벤트 기록",</a:t>
            </a:r>
          </a:p>
          <a:p xmlns:a="http://schemas.openxmlformats.org/drawingml/2006/main">
            <a:r>
              <a:t>      "운전자·안전 관리자"</a:t>
            </a:r>
          </a:p>
          <a:p xmlns:a="http://schemas.openxmlformats.org/drawingml/2006/main">
            <a:r>
              <a:t>    ],</a:t>
            </a:r>
          </a:p>
          <a:p xmlns:a="http://schemas.openxmlformats.org/drawingml/2006/main">
            <a:r>
              <a:t>    "transfers": [</a:t>
            </a:r>
          </a:p>
          <a:p xmlns:a="http://schemas.openxmlformats.org/drawingml/2006/main">
            <a:r>
              <a:t>      "센서 관측",</a:t>
            </a:r>
          </a:p>
          <a:p xmlns:a="http://schemas.openxmlformats.org/drawingml/2006/main">
            <a:r>
              <a:t>      "위험 후보",</a:t>
            </a:r>
          </a:p>
          <a:p xmlns:a="http://schemas.openxmlformats.org/drawingml/2006/main">
            <a:r>
              <a:t>      "경고",</a:t>
            </a:r>
          </a:p>
          <a:p xmlns:a="http://schemas.openxmlformats.org/drawingml/2006/main">
            <a:r>
              <a:t>      "운행 후 검토"</a:t>
            </a:r>
          </a:p>
          <a:p xmlns:a="http://schemas.openxmlformats.org/drawingml/2006/main">
            <a:r>
              <a:t>    ],</a:t>
            </a:r>
          </a:p>
          <a:p xmlns:a="http://schemas.openxmlformats.org/drawingml/2006/main">
            <a:r>
              <a:t>    "control": "경보 지연·오탐·운전자 수용성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싱가포르 버스 충돌경고 확대 · LTA / 2025-08-23 https://www.lta.gov.sg/content/ltagov/en/newsroom/2025/8/news-releases/making_bus_journeys_safer.html</a:t>
            </a:r>
          </a:p>
          <a:p xmlns:a="http://schemas.openxmlformats.org/drawingml/2006/main">
            <a:r>
              <a:t>홈페이지 https://heen1987-ops.github.io/TS-business-Plan-001/index.html?view=casebook&amp;case=AX16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"AX16",</a:t>
            </a:r>
          </a:p>
          <a:p xmlns:a="http://schemas.openxmlformats.org/drawingml/2006/main">
            <a:r>
              <a:t>    "title": "싱가포르 버스 충돌경고 확대",</a:t>
            </a:r>
          </a:p>
          <a:p xmlns:a="http://schemas.openxmlformats.org/drawingml/2006/main">
            <a:r>
              <a:t>    "region": "해외",</a:t>
            </a:r>
          </a:p>
          <a:p xmlns:a="http://schemas.openxmlformats.org/drawingml/2006/main">
            <a:r>
              <a:t>    "country": "싱가포르",</a:t>
            </a:r>
          </a:p>
          <a:p xmlns:a="http://schemas.openxmlformats.org/drawingml/2006/main">
            <a:r>
              <a:t>    "result": "계획",</a:t>
            </a:r>
          </a:p>
          <a:p xmlns:a="http://schemas.openxmlformats.org/drawingml/2006/main">
            <a:r>
              <a:t>    "kind": "버스 안전 AI 도입",</a:t>
            </a:r>
          </a:p>
          <a:p xmlns:a="http://schemas.openxmlformats.org/drawingml/2006/main">
            <a:r>
              <a:t>    "period": "2025 도입·확대 계획",</a:t>
            </a:r>
          </a:p>
          <a:p xmlns:a="http://schemas.openxmlformats.org/drawingml/2006/main">
            <a:r>
              <a:t>    "sources": [</a:t>
            </a:r>
          </a:p>
          <a:p xmlns:a="http://schemas.openxmlformats.org/drawingml/2006/main">
            <a:r>
              <a:t>      "S-AX16"</a:t>
            </a:r>
          </a:p>
          <a:p xmlns:a="http://schemas.openxmlformats.org/drawingml/2006/main">
            <a:r>
              <a:t>    ],</a:t>
            </a:r>
          </a:p>
          <a:p xmlns:a="http://schemas.openxmlformats.org/drawingml/2006/main">
            <a:r>
              <a:t>    "keywords": [</a:t>
            </a:r>
          </a:p>
          <a:p xmlns:a="http://schemas.openxmlformats.org/drawingml/2006/main">
            <a:r>
              <a:t>      "버스 안전 AI 도입"</a:t>
            </a:r>
          </a:p>
          <a:p xmlns:a="http://schemas.openxmlformats.org/drawingml/2006/main">
            <a:r>
              <a:t>    ],</a:t>
            </a:r>
          </a:p>
          <a:p xmlns:a="http://schemas.openxmlformats.org/drawingml/2006/main">
            <a:r>
              <a:t>    "fact": "충돌경고 등 AI 안전 기능의 버스 도입·확대 방향 공개",</a:t>
            </a:r>
          </a:p>
          <a:p xmlns:a="http://schemas.openxmlformats.org/drawingml/2006/main">
            <a:r>
              <a:t>    "limit": "계획·조달 단계와 전 차량 운영 성과 구분",</a:t>
            </a:r>
          </a:p>
          <a:p xmlns:a="http://schemas.openxmlformats.org/drawingml/2006/main">
            <a:r>
              <a:t>    "flow": [</a:t>
            </a:r>
          </a:p>
          <a:p xmlns:a="http://schemas.openxmlformats.org/drawingml/2006/main">
            <a:r>
              <a:t>      "차량 센서·영상",</a:t>
            </a:r>
          </a:p>
          <a:p xmlns:a="http://schemas.openxmlformats.org/drawingml/2006/main">
            <a:r>
              <a:t>      "위험 판단",</a:t>
            </a:r>
          </a:p>
          <a:p xmlns:a="http://schemas.openxmlformats.org/drawingml/2006/main">
            <a:r>
              <a:t>      "운전자 경고",</a:t>
            </a:r>
          </a:p>
          <a:p xmlns:a="http://schemas.openxmlformats.org/drawingml/2006/main">
            <a:r>
              <a:t>      "운행 안전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"안전 기능의 도입 조건과 운전자 대응 검증",</a:t>
            </a:r>
          </a:p>
          <a:p xmlns:a="http://schemas.openxmlformats.org/drawingml/2006/main">
            <a:r>
              <a:t>    "local": "TS 운수회사 안전 점검의 장치·운행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"장치 상태·경고 이력·점검 항목 매핑",</a:t>
            </a:r>
          </a:p>
          <a:p xmlns:a="http://schemas.openxmlformats.org/drawingml/2006/main">
            <a:r>
              <a:t>    "test": "결측·장치 고장·과경보 및 점검 증빙 대조",</a:t>
            </a:r>
          </a:p>
          <a:p xmlns:a="http://schemas.openxmlformats.org/drawingml/2006/main">
            <a:r>
              <a:t>    "metric": "경고 신뢰도 / 증빙 누락률",</a:t>
            </a:r>
          </a:p>
          <a:p xmlns:a="http://schemas.openxmlformats.org/drawingml/2006/main">
            <a:r>
              <a:t>    "strategies": [</a:t>
            </a:r>
          </a:p>
          <a:p xmlns:a="http://schemas.openxmlformats.org/drawingml/2006/main">
            <a:r>
              <a:t>      "ST-01",</a:t>
            </a:r>
          </a:p>
          <a:p xmlns:a="http://schemas.openxmlformats.org/drawingml/2006/main">
            <a:r>
              <a:t>      "ST-02",</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"AX16",</a:t>
            </a:r>
          </a:p>
          <a:p xmlns:a="http://schemas.openxmlformats.org/drawingml/2006/main">
            <a:r>
              <a:t>    "canonicalId": "AX16",</a:t>
            </a:r>
          </a:p>
          <a:p xmlns:a="http://schemas.openxmlformats.org/drawingml/2006/main">
            <a:r>
              <a:t>    "purpose": "버스 운행 중 위험 인지와 충돌 경고",</a:t>
            </a:r>
          </a:p>
          <a:p xmlns:a="http://schemas.openxmlformats.org/drawingml/2006/main">
            <a:r>
              <a:t>    "users": "운전자·운수사 안전 담당",</a:t>
            </a:r>
          </a:p>
          <a:p xmlns:a="http://schemas.openxmlformats.org/drawingml/2006/main">
            <a:r>
              <a:t>    "scope": [</a:t>
            </a:r>
          </a:p>
          <a:p xmlns:a="http://schemas.openxmlformats.org/drawingml/2006/main">
            <a:r>
              <a:t>      "주변 감지",</a:t>
            </a:r>
          </a:p>
          <a:p xmlns:a="http://schemas.openxmlformats.org/drawingml/2006/main">
            <a:r>
              <a:t>      "위험 경고",</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"버스 센서·영상",</a:t>
            </a:r>
          </a:p>
          <a:p xmlns:a="http://schemas.openxmlformats.org/drawingml/2006/main">
            <a:r>
              <a:t>        "detail": "차량·시간·주변 상황 인지",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"주변 감지 / 위험 경고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"충돌 위험 탐지",</a:t>
            </a:r>
          </a:p>
          <a:p xmlns:a="http://schemas.openxmlformats.org/drawingml/2006/main">
            <a:r>
              <a:t>        "detail": "장애물·차량 간 위험 상황 판단",</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"운전자·안전 관리자",</a:t>
            </a:r>
          </a:p>
          <a:p xmlns:a="http://schemas.openxmlformats.org/drawingml/2006/main">
            <a:r>
              <a:t>        "detail": "운전자에게 경고 전달 및 운행 후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"위험 이벤트 기록",</a:t>
            </a:r>
          </a:p>
          <a:p xmlns:a="http://schemas.openxmlformats.org/drawingml/2006/main">
            <a:r>
              <a:t>        "detail": "차량 센서·영상·경고 이벤트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"오경보·미탐과 운전자 반응의 표본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"차량 센서·영상",</a:t>
            </a:r>
          </a:p>
          <a:p xmlns:a="http://schemas.openxmlformats.org/drawingml/2006/main">
            <a:r>
              <a:t>        "input": "차량·시간·주변 상황 인지",</a:t>
            </a:r>
          </a:p>
          <a:p xmlns:a="http://schemas.openxmlformats.org/drawingml/2006/main">
            <a:r>
              <a:t>        "process": "차량 센서·영상·경고 이벤트 정합화",</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"title": "위험 판단",</a:t>
            </a:r>
          </a:p>
          <a:p xmlns:a="http://schemas.openxmlformats.org/drawingml/2006/main">
            <a:r>
              <a:t>        "input": "센서 관측",</a:t>
            </a:r>
          </a:p>
          <a:p xmlns:a="http://schemas.openxmlformats.org/drawingml/2006/main">
            <a:r>
              <a:t>        "process": "장애물·차량 간 위험 상황 판단",</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"운전자 경고",</a:t>
            </a:r>
          </a:p>
          <a:p xmlns:a="http://schemas.openxmlformats.org/drawingml/2006/main">
            <a:r>
              <a:t>        "input": "위험 후보",</a:t>
            </a:r>
          </a:p>
          <a:p xmlns:a="http://schemas.openxmlformats.org/drawingml/2006/main">
            <a:r>
              <a:t>        "process": "경보 지연·오탐·운전자 수용성 평가",</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"title": "운행 안전 검토",</a:t>
            </a:r>
          </a:p>
          <a:p xmlns:a="http://schemas.openxmlformats.org/drawingml/2006/main">
            <a:r>
              <a:t>        "input": "경고",</a:t>
            </a:r>
          </a:p>
          <a:p xmlns:a="http://schemas.openxmlformats.org/drawingml/2006/main">
            <a:r>
              <a:t>        "process":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"운행 중 접근 위험을 감지하고 운전자에게 경고",</a:t>
            </a:r>
          </a:p>
          <a:p xmlns:a="http://schemas.openxmlformats.org/drawingml/2006/main">
            <a:r>
              <a:t>      "exception": "우천·야간·가림·정차 상태의 비위험 객체",</a:t>
            </a:r>
          </a:p>
          <a:p xmlns:a="http://schemas.openxmlformats.org/drawingml/2006/main">
            <a:r>
              <a:t>      "evidence": "환경별 경고 적정성과 운전자 반응의 표본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"운전자·운수사 안전 담당",</a:t>
            </a:r>
          </a:p>
          <a:p xmlns:a="http://schemas.openxmlformats.org/drawingml/2006/main">
            <a:r>
              <a:t>          "processing": "차량·시간·주변 상황 인지",</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"위험 이벤트 기록",</a:t>
            </a:r>
          </a:p>
          <a:p xmlns:a="http://schemas.openxmlformats.org/drawingml/2006/main">
            <a:r>
              <a:t>          "processing": "차량 센서·영상·경고 이벤트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관측",</a:t>
            </a:r>
          </a:p>
          <a:p xmlns:a="http://schemas.openxmlformats.org/drawingml/2006/main">
            <a:r>
              <a:t>          "processing": "장애물·차량 간 위험 상황 판단",</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"경고",</a:t>
            </a:r>
          </a:p>
          <a:p xmlns:a="http://schemas.openxmlformats.org/drawingml/2006/main">
            <a:r>
              <a:t>          "processing":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"오경보·미탐과 운전자 반응의 표본 확인",</a:t>
            </a:r>
          </a:p>
          <a:p xmlns:a="http://schemas.openxmlformats.org/drawingml/2006/main">
            <a:r>
              <a:t>          "output": "환경별 경고 적정성과 운전자 반응의 표본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"오경보·미탐과 운전자 반응의 표본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"S-AX16",</a:t>
            </a:r>
          </a:p>
          <a:p xmlns:a="http://schemas.openxmlformats.org/drawingml/2006/main">
            <a:r>
              <a:t>        "title": "싱가포르 버스 충돌경고 확대 · LTA / 2025-08-23",</a:t>
            </a:r>
          </a:p>
          <a:p xmlns:a="http://schemas.openxmlformats.org/drawingml/2006/main">
            <a:r>
              <a:t>        "url": "https://www.lta.gov.sg/content/ltagov/en/newsroom/2025/8/news-releases/making_bus_journeys_safer.html",</a:t>
            </a:r>
          </a:p>
          <a:p xmlns:a="http://schemas.openxmlformats.org/drawingml/2006/main">
            <a:r>
              <a:t>        "published": "2025 도입·확대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"안전 기능의 도입 조건과 운전자 대응 검증",</a:t>
            </a:r>
          </a:p>
          <a:p xmlns:a="http://schemas.openxmlformats.org/drawingml/2006/main">
            <a:r>
              <a:t>    "local": "TS 운수회사 안전 점검의 장치·운행 증거 연결",</a:t>
            </a:r>
          </a:p>
          <a:p xmlns:a="http://schemas.openxmlformats.org/drawingml/2006/main">
            <a:r>
              <a:t>    "sourceDetail": null,</a:t>
            </a:r>
          </a:p>
          <a:p xmlns:a="http://schemas.openxmlformats.org/drawingml/2006/main">
            <a:r>
              <a:t>    "narrative": [</a:t>
            </a:r>
          </a:p>
          <a:p xmlns:a="http://schemas.openxmlformats.org/drawingml/2006/main">
            <a:r>
              <a:t>      "버스 주변 위험을 감지해 운전자에게 즉시 경고하는 안전 지원 사례. 운전자의 판단과 대응을 전제로 한 경고 시스템이며 운행 후 위험 이벤트 검토와도 연결.",</a:t>
            </a:r>
          </a:p>
          <a:p xmlns:a="http://schemas.openxmlformats.org/drawingml/2006/main">
            <a:r>
              <a:t>      "차량·시간·주변 상황을 센서·영상과 맞추고 위험 후보에서 경고로 이어지는 지연을 관리하는 구조. 경고 발생, 운전자 반응, 실제 위험 여부를 서로 다른 기록으로 보존하는 CCK 분석.",</a:t>
            </a:r>
          </a:p>
          <a:p xmlns:a="http://schemas.openxmlformats.org/drawingml/2006/main">
            <a:r>
              <a:t>      "TS 적용에서는 경보 과다로 인한 무시와 중요한 위험의 미탐을 동시에 확인할 필요. 차량·도로·시간대별 경보 지연·정확도·수용성을 비교하고 보급 규모를 사고 감소 실적으로 환산하지 않는 평가."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"차량 센서 접점",</a:t>
            </a:r>
          </a:p>
          <a:p xmlns:a="http://schemas.openxmlformats.org/drawingml/2006/main">
            <a:r>
              <a:t>          "layer": "이용 접점",</a:t>
            </a:r>
          </a:p>
          <a:p xmlns:a="http://schemas.openxmlformats.org/drawingml/2006/main">
            <a:r>
              <a:t>          "detail": "운전자·운수사 안전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"차량·주변 맥락",</a:t>
            </a:r>
          </a:p>
          <a:p xmlns:a="http://schemas.openxmlformats.org/drawingml/2006/main">
            <a:r>
              <a:t>          "layer": "업무 문맥",</a:t>
            </a:r>
          </a:p>
          <a:p xmlns:a="http://schemas.openxmlformats.org/drawingml/2006/main">
            <a:r>
              <a:t>          "detail": "차량·시간·주변 상황 인지",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"영상·센서 조회",</a:t>
            </a:r>
          </a:p>
          <a:p xmlns:a="http://schemas.openxmlformats.org/drawingml/2006/main">
            <a:r>
              <a:t>          "layer": "자료 조회",</a:t>
            </a:r>
          </a:p>
          <a:p xmlns:a="http://schemas.openxmlformats.org/drawingml/2006/main">
            <a:r>
              <a:t>          "detail": "센서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"충돌 위험 탐지",</a:t>
            </a:r>
          </a:p>
          <a:p xmlns:a="http://schemas.openxmlformats.org/drawingml/2006/main">
            <a:r>
              <a:t>          "layer": "핵심 처리",</a:t>
            </a:r>
          </a:p>
          <a:p xmlns:a="http://schemas.openxmlformats.org/drawingml/2006/main">
            <a:r>
              <a:t>          "detail": "장애물·차량 간 위험 상황 판단",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"경보 지연 검사",</a:t>
            </a:r>
          </a:p>
          <a:p xmlns:a="http://schemas.openxmlformats.org/drawingml/2006/main">
            <a:r>
              <a:t>          "layer": "결과 검증",</a:t>
            </a:r>
          </a:p>
          <a:p xmlns:a="http://schemas.openxmlformats.org/drawingml/2006/main">
            <a:r>
              <a:t>          "detail": "경보 지연·오탐·운전자 수용성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"운전자 상황 판단",</a:t>
            </a:r>
          </a:p>
          <a:p xmlns:a="http://schemas.openxmlformats.org/drawingml/2006/main">
            <a:r>
              <a:t>          "layer": "사람 확인",</a:t>
            </a:r>
          </a:p>
          <a:p xmlns:a="http://schemas.openxmlformats.org/drawingml/2006/main">
            <a:r>
              <a:t>          "detail": "운행 중 접근 위험을 감지하고 운전자에게 경고",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"위험 경고 전달",</a:t>
            </a:r>
          </a:p>
          <a:p xmlns:a="http://schemas.openxmlformats.org/drawingml/2006/main">
            <a:r>
              <a:t>          "layer": "업무 연결",</a:t>
            </a:r>
          </a:p>
          <a:p xmlns:a="http://schemas.openxmlformats.org/drawingml/2006/main">
            <a:r>
              <a:t>          "detail": "운전자에게 경고 전달 및 운행 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후 검토",</a:t>
            </a:r>
          </a:p>
          <a:p xmlns:a="http://schemas.openxmlformats.org/drawingml/2006/main">
            <a:r>
              <a:t>          "layer": "운영 관측",</a:t>
            </a:r>
          </a:p>
          <a:p xmlns:a="http://schemas.openxmlformats.org/drawingml/2006/main">
            <a:r>
              <a:t>          "detail": "오경보·미탐과 운전자 반응의 표본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"영상·센서 자료",</a:t>
            </a:r>
          </a:p>
          <a:p xmlns:a="http://schemas.openxmlformats.org/drawingml/2006/main">
            <a:r>
              <a:t>          "layer": "데이터 원천",</a:t>
            </a:r>
          </a:p>
          <a:p xmlns:a="http://schemas.openxmlformats.org/drawingml/2006/main">
            <a:r>
              <a:t>          "detail": "위험 이벤트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 동기화",</a:t>
            </a:r>
          </a:p>
          <a:p xmlns:a="http://schemas.openxmlformats.org/drawingml/2006/main">
            <a:r>
              <a:t>          "layer": "준비·갱신",</a:t>
            </a:r>
          </a:p>
          <a:p xmlns:a="http://schemas.openxmlformats.org/drawingml/2006/main">
            <a:r>
              <a:t>          "detail": "차량 센서·영상·경고 이벤트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"경고·반응 이력",</a:t>
            </a:r>
          </a:p>
          <a:p xmlns:a="http://schemas.openxmlformats.org/drawingml/2006/main">
            <a:r>
              <a:t>          "layer": "상태·지식 저장",</a:t>
            </a:r>
          </a:p>
          <a:p xmlns:a="http://schemas.openxmlformats.org/drawingml/2006/main">
            <a:r>
              <a:t>          "detail": "환경별 경고 적정성과 운전자 반응의 표본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"차량 안전 경계",</a:t>
            </a:r>
          </a:p>
          <a:p xmlns:a="http://schemas.openxmlformats.org/drawingml/2006/main">
            <a:r>
              <a:t>          "layer": "권한·정책",</a:t>
            </a:r>
          </a:p>
          <a:p xmlns:a="http://schemas.openxmlformats.org/drawingml/2006/main">
            <a:r>
              <a:t>          "detail": "우천·야간·가림·정차 상태의 비위험 객체",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"차량 센서·영상 → 위험 판단 → 운전자 경고 → 운행 안전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"위험 이벤트 기록",</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"경고",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"차량 안전 경계",</a:t>
            </a:r>
          </a:p>
          <a:p xmlns:a="http://schemas.openxmlformats.org/drawingml/2006/main">
            <a:r>
              <a:t>          "check": "경보 지연·오탐·운전자 수용성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"운행 후 검토",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"오경보·미탐과 운전자 반응의 표본 확인",</a:t>
            </a:r>
          </a:p>
          <a:p xmlns:a="http://schemas.openxmlformats.org/drawingml/2006/main">
            <a:r>
              <a:t>          "check": "오경보·미탐과 운전자 반응의 표본 확인"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"버스 운행 중 위험 인지와 충돌 경고 / 주변 감지·위험 경고·운행 검토",</a:t>
            </a:r>
          </a:p>
          <a:p xmlns:a="http://schemas.openxmlformats.org/drawingml/2006/main">
            <a:r>
              <a:t>        "extension": "TS 운수회사 안전 점검의 장치·운행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"우천·야간·가림·정차 상태의 비위험 객체",</a:t>
            </a:r>
          </a:p>
          <a:p xmlns:a="http://schemas.openxmlformats.org/drawingml/2006/main">
            <a:r>
              <a:t>        "hold": "경보 지연·오탐·운전자 수용성 평가",</a:t>
            </a:r>
          </a:p>
          <a:p xmlns:a="http://schemas.openxmlformats.org/drawingml/2006/main">
            <a:r>
              <a:t>        "recovery": "오경보·미탐과 운전자 반응의 표본 확인",</a:t>
            </a:r>
          </a:p>
          <a:p xmlns:a="http://schemas.openxmlformats.org/drawingml/2006/main">
            <a:r>
              <a:t>        "evidence": "환경별 경고 적정성과 운전자 반응의 표본 기록"</a:t>
            </a:r>
          </a:p>
          <a:p xmlns:a="http://schemas.openxmlformats.org/drawingml/2006/main">
            <a:r>
              <a:t>      },</a:t>
            </a:r>
          </a:p>
          <a:p xmlns:a="http://schemas.openxmlformats.org/drawingml/2006/main">
            <a:r>
              <a:t>      "data": {</a:t>
            </a:r>
          </a:p>
          <a:p xmlns:a="http://schemas.openxmlformats.org/drawingml/2006/main">
            <a:r>
              <a:t>        "source": "위험 이벤트 기록",</a:t>
            </a:r>
          </a:p>
          <a:p xmlns:a="http://schemas.openxmlformats.org/drawingml/2006/main">
            <a:r>
              <a:t>        "prepare": "차량 센서·영상·경고 이벤트 정합화",</a:t>
            </a:r>
          </a:p>
          <a:p xmlns:a="http://schemas.openxmlformats.org/drawingml/2006/main">
            <a:r>
              <a:t>        "output": "센서 관측",</a:t>
            </a:r>
          </a:p>
          <a:p xmlns:a="http://schemas.openxmlformats.org/drawingml/2006/main">
            <a:r>
              <a:t>        "refresh": "오경보·미탐과 운전자 반응의 표본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"AX16",</a:t>
            </a:r>
          </a:p>
          <a:p xmlns:a="http://schemas.openxmlformats.org/drawingml/2006/main">
            <a:r>
              <a:t>    "success": [</a:t>
            </a:r>
          </a:p>
          <a:p xmlns:a="http://schemas.openxmlformats.org/drawingml/2006/main">
            <a:r>
              <a:t>      "차량의 위험 인지와 즉시 경고",</a:t>
            </a:r>
          </a:p>
          <a:p xmlns:a="http://schemas.openxmlformats.org/drawingml/2006/main">
            <a:r>
              <a:t>      "운전자 대응을 전제로 한 안전 지원"</a:t>
            </a:r>
          </a:p>
          <a:p xmlns:a="http://schemas.openxmlformats.org/drawingml/2006/main">
            <a:r>
              <a:t>    ],</a:t>
            </a:r>
          </a:p>
          <a:p xmlns:a="http://schemas.openxmlformats.org/drawingml/2006/main">
            <a:r>
              <a:t>    "risks": [</a:t>
            </a:r>
          </a:p>
          <a:p xmlns:a="http://schemas.openxmlformats.org/drawingml/2006/main">
            <a:r>
              <a:t>      "경보 과다에 따른 무시 위험",</a:t>
            </a:r>
          </a:p>
          <a:p xmlns:a="http://schemas.openxmlformats.org/drawingml/2006/main">
            <a:r>
              <a:t>      "확대 계획을 사고 감소 실적으로 해석"</a:t>
            </a:r>
          </a:p>
          <a:p xmlns:a="http://schemas.openxmlformats.org/drawingml/2006/main">
            <a:r>
              <a:t>    ],</a:t>
            </a:r>
          </a:p>
          <a:p xmlns:a="http://schemas.openxmlformats.org/drawingml/2006/main">
            <a:r>
              <a:t>    "architecture": [</a:t>
            </a:r>
          </a:p>
          <a:p xmlns:a="http://schemas.openxmlformats.org/drawingml/2006/main">
            <a:r>
              <a:t>      "버스 센서·영상",</a:t>
            </a:r>
          </a:p>
          <a:p xmlns:a="http://schemas.openxmlformats.org/drawingml/2006/main">
            <a:r>
              <a:t>      "충돌 위험 탐지",</a:t>
            </a:r>
          </a:p>
          <a:p xmlns:a="http://schemas.openxmlformats.org/drawingml/2006/main">
            <a:r>
              <a:t>      "위험 이벤트 기록",</a:t>
            </a:r>
          </a:p>
          <a:p xmlns:a="http://schemas.openxmlformats.org/drawingml/2006/main">
            <a:r>
              <a:t>      "운전자·안전 관리자"</a:t>
            </a:r>
          </a:p>
          <a:p xmlns:a="http://schemas.openxmlformats.org/drawingml/2006/main">
            <a:r>
              <a:t>    ],</a:t>
            </a:r>
          </a:p>
          <a:p xmlns:a="http://schemas.openxmlformats.org/drawingml/2006/main">
            <a:r>
              <a:t>    "transfers": [</a:t>
            </a:r>
          </a:p>
          <a:p xmlns:a="http://schemas.openxmlformats.org/drawingml/2006/main">
            <a:r>
              <a:t>      "센서 관측",</a:t>
            </a:r>
          </a:p>
          <a:p xmlns:a="http://schemas.openxmlformats.org/drawingml/2006/main">
            <a:r>
              <a:t>      "위험 후보",</a:t>
            </a:r>
          </a:p>
          <a:p xmlns:a="http://schemas.openxmlformats.org/drawingml/2006/main">
            <a:r>
              <a:t>      "경고",</a:t>
            </a:r>
          </a:p>
          <a:p xmlns:a="http://schemas.openxmlformats.org/drawingml/2006/main">
            <a:r>
              <a:t>      "운행 후 검토"</a:t>
            </a:r>
          </a:p>
          <a:p xmlns:a="http://schemas.openxmlformats.org/drawingml/2006/main">
            <a:r>
              <a:t>    ],</a:t>
            </a:r>
          </a:p>
          <a:p xmlns:a="http://schemas.openxmlformats.org/drawingml/2006/main">
            <a:r>
              <a:t>    "control": "경보 지연·오탐·운전자 수용성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싱가포르 버스 충돌경고 확대 · LTA / 2025-08-23 https://www.lta.gov.sg/content/ltagov/en/newsroom/2025/8/news-releases/making_bus_journeys_safer.html</a:t>
            </a:r>
          </a:p>
          <a:p xmlns:a="http://schemas.openxmlformats.org/drawingml/2006/main">
            <a:r>
              <a:t>홈페이지 https://heen1987-ops.github.io/TS-business-Plan-001/index.html?view=casebook&amp;case=AX16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"AX16",</a:t>
            </a:r>
          </a:p>
          <a:p xmlns:a="http://schemas.openxmlformats.org/drawingml/2006/main">
            <a:r>
              <a:t>    "title": "싱가포르 버스 충돌경고 확대",</a:t>
            </a:r>
          </a:p>
          <a:p xmlns:a="http://schemas.openxmlformats.org/drawingml/2006/main">
            <a:r>
              <a:t>    "region": "해외",</a:t>
            </a:r>
          </a:p>
          <a:p xmlns:a="http://schemas.openxmlformats.org/drawingml/2006/main">
            <a:r>
              <a:t>    "country": "싱가포르",</a:t>
            </a:r>
          </a:p>
          <a:p xmlns:a="http://schemas.openxmlformats.org/drawingml/2006/main">
            <a:r>
              <a:t>    "result": "계획",</a:t>
            </a:r>
          </a:p>
          <a:p xmlns:a="http://schemas.openxmlformats.org/drawingml/2006/main">
            <a:r>
              <a:t>    "kind": "버스 안전 AI 도입",</a:t>
            </a:r>
          </a:p>
          <a:p xmlns:a="http://schemas.openxmlformats.org/drawingml/2006/main">
            <a:r>
              <a:t>    "period": "2025 도입·확대 계획",</a:t>
            </a:r>
          </a:p>
          <a:p xmlns:a="http://schemas.openxmlformats.org/drawingml/2006/main">
            <a:r>
              <a:t>    "sources": [</a:t>
            </a:r>
          </a:p>
          <a:p xmlns:a="http://schemas.openxmlformats.org/drawingml/2006/main">
            <a:r>
              <a:t>      "S-AX16"</a:t>
            </a:r>
          </a:p>
          <a:p xmlns:a="http://schemas.openxmlformats.org/drawingml/2006/main">
            <a:r>
              <a:t>    ],</a:t>
            </a:r>
          </a:p>
          <a:p xmlns:a="http://schemas.openxmlformats.org/drawingml/2006/main">
            <a:r>
              <a:t>    "keywords": [</a:t>
            </a:r>
          </a:p>
          <a:p xmlns:a="http://schemas.openxmlformats.org/drawingml/2006/main">
            <a:r>
              <a:t>      "버스 안전 AI 도입"</a:t>
            </a:r>
          </a:p>
          <a:p xmlns:a="http://schemas.openxmlformats.org/drawingml/2006/main">
            <a:r>
              <a:t>    ],</a:t>
            </a:r>
          </a:p>
          <a:p xmlns:a="http://schemas.openxmlformats.org/drawingml/2006/main">
            <a:r>
              <a:t>    "fact": "충돌경고 등 AI 안전 기능의 버스 도입·확대 방향 공개",</a:t>
            </a:r>
          </a:p>
          <a:p xmlns:a="http://schemas.openxmlformats.org/drawingml/2006/main">
            <a:r>
              <a:t>    "limit": "계획·조달 단계와 전 차량 운영 성과 구분",</a:t>
            </a:r>
          </a:p>
          <a:p xmlns:a="http://schemas.openxmlformats.org/drawingml/2006/main">
            <a:r>
              <a:t>    "flow": [</a:t>
            </a:r>
          </a:p>
          <a:p xmlns:a="http://schemas.openxmlformats.org/drawingml/2006/main">
            <a:r>
              <a:t>      "차량 센서·영상",</a:t>
            </a:r>
          </a:p>
          <a:p xmlns:a="http://schemas.openxmlformats.org/drawingml/2006/main">
            <a:r>
              <a:t>      "위험 판단",</a:t>
            </a:r>
          </a:p>
          <a:p xmlns:a="http://schemas.openxmlformats.org/drawingml/2006/main">
            <a:r>
              <a:t>      "운전자 경고",</a:t>
            </a:r>
          </a:p>
          <a:p xmlns:a="http://schemas.openxmlformats.org/drawingml/2006/main">
            <a:r>
              <a:t>      "운행 안전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"안전 기능의 도입 조건과 운전자 대응 검증",</a:t>
            </a:r>
          </a:p>
          <a:p xmlns:a="http://schemas.openxmlformats.org/drawingml/2006/main">
            <a:r>
              <a:t>    "local": "TS 운수회사 안전 점검의 장치·운행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"장치 상태·경고 이력·점검 항목 매핑",</a:t>
            </a:r>
          </a:p>
          <a:p xmlns:a="http://schemas.openxmlformats.org/drawingml/2006/main">
            <a:r>
              <a:t>    "test": "결측·장치 고장·과경보 및 점검 증빙 대조",</a:t>
            </a:r>
          </a:p>
          <a:p xmlns:a="http://schemas.openxmlformats.org/drawingml/2006/main">
            <a:r>
              <a:t>    "metric": "경고 신뢰도 / 증빙 누락률",</a:t>
            </a:r>
          </a:p>
          <a:p xmlns:a="http://schemas.openxmlformats.org/drawingml/2006/main">
            <a:r>
              <a:t>    "strategies": [</a:t>
            </a:r>
          </a:p>
          <a:p xmlns:a="http://schemas.openxmlformats.org/drawingml/2006/main">
            <a:r>
              <a:t>      "ST-01",</a:t>
            </a:r>
          </a:p>
          <a:p xmlns:a="http://schemas.openxmlformats.org/drawingml/2006/main">
            <a:r>
              <a:t>      "ST-02",</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"AX16",</a:t>
            </a:r>
          </a:p>
          <a:p xmlns:a="http://schemas.openxmlformats.org/drawingml/2006/main">
            <a:r>
              <a:t>    "canonicalId": "AX16",</a:t>
            </a:r>
          </a:p>
          <a:p xmlns:a="http://schemas.openxmlformats.org/drawingml/2006/main">
            <a:r>
              <a:t>    "purpose": "버스 운행 중 위험 인지와 충돌 경고",</a:t>
            </a:r>
          </a:p>
          <a:p xmlns:a="http://schemas.openxmlformats.org/drawingml/2006/main">
            <a:r>
              <a:t>    "users": "운전자·운수사 안전 담당",</a:t>
            </a:r>
          </a:p>
          <a:p xmlns:a="http://schemas.openxmlformats.org/drawingml/2006/main">
            <a:r>
              <a:t>    "scope": [</a:t>
            </a:r>
          </a:p>
          <a:p xmlns:a="http://schemas.openxmlformats.org/drawingml/2006/main">
            <a:r>
              <a:t>      "주변 감지",</a:t>
            </a:r>
          </a:p>
          <a:p xmlns:a="http://schemas.openxmlformats.org/drawingml/2006/main">
            <a:r>
              <a:t>      "위험 경고",</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"버스 센서·영상",</a:t>
            </a:r>
          </a:p>
          <a:p xmlns:a="http://schemas.openxmlformats.org/drawingml/2006/main">
            <a:r>
              <a:t>        "detail": "차량·시간·주변 상황 인지",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"주변 감지 / 위험 경고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"충돌 위험 탐지",</a:t>
            </a:r>
          </a:p>
          <a:p xmlns:a="http://schemas.openxmlformats.org/drawingml/2006/main">
            <a:r>
              <a:t>        "detail": "장애물·차량 간 위험 상황 판단",</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"운전자·안전 관리자",</a:t>
            </a:r>
          </a:p>
          <a:p xmlns:a="http://schemas.openxmlformats.org/drawingml/2006/main">
            <a:r>
              <a:t>        "detail": "운전자에게 경고 전달 및 운행 후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"위험 이벤트 기록",</a:t>
            </a:r>
          </a:p>
          <a:p xmlns:a="http://schemas.openxmlformats.org/drawingml/2006/main">
            <a:r>
              <a:t>        "detail": "차량 센서·영상·경고 이벤트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"오경보·미탐과 운전자 반응의 표본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"차량 센서·영상",</a:t>
            </a:r>
          </a:p>
          <a:p xmlns:a="http://schemas.openxmlformats.org/drawingml/2006/main">
            <a:r>
              <a:t>        "input": "차량·시간·주변 상황 인지",</a:t>
            </a:r>
          </a:p>
          <a:p xmlns:a="http://schemas.openxmlformats.org/drawingml/2006/main">
            <a:r>
              <a:t>        "process": "차량 센서·영상·경고 이벤트 정합화",</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"title": "위험 판단",</a:t>
            </a:r>
          </a:p>
          <a:p xmlns:a="http://schemas.openxmlformats.org/drawingml/2006/main">
            <a:r>
              <a:t>        "input": "센서 관측",</a:t>
            </a:r>
          </a:p>
          <a:p xmlns:a="http://schemas.openxmlformats.org/drawingml/2006/main">
            <a:r>
              <a:t>        "process": "장애물·차량 간 위험 상황 판단",</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"운전자 경고",</a:t>
            </a:r>
          </a:p>
          <a:p xmlns:a="http://schemas.openxmlformats.org/drawingml/2006/main">
            <a:r>
              <a:t>        "input": "위험 후보",</a:t>
            </a:r>
          </a:p>
          <a:p xmlns:a="http://schemas.openxmlformats.org/drawingml/2006/main">
            <a:r>
              <a:t>        "process": "경보 지연·오탐·운전자 수용성 평가",</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"title": "운행 안전 검토",</a:t>
            </a:r>
          </a:p>
          <a:p xmlns:a="http://schemas.openxmlformats.org/drawingml/2006/main">
            <a:r>
              <a:t>        "input": "경고",</a:t>
            </a:r>
          </a:p>
          <a:p xmlns:a="http://schemas.openxmlformats.org/drawingml/2006/main">
            <a:r>
              <a:t>        "process":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"운행 중 접근 위험을 감지하고 운전자에게 경고",</a:t>
            </a:r>
          </a:p>
          <a:p xmlns:a="http://schemas.openxmlformats.org/drawingml/2006/main">
            <a:r>
              <a:t>      "exception": "우천·야간·가림·정차 상태의 비위험 객체",</a:t>
            </a:r>
          </a:p>
          <a:p xmlns:a="http://schemas.openxmlformats.org/drawingml/2006/main">
            <a:r>
              <a:t>      "evidence": "환경별 경고 적정성과 운전자 반응의 표본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"운전자·운수사 안전 담당",</a:t>
            </a:r>
          </a:p>
          <a:p xmlns:a="http://schemas.openxmlformats.org/drawingml/2006/main">
            <a:r>
              <a:t>          "processing": "차량·시간·주변 상황 인지",</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"위험 이벤트 기록",</a:t>
            </a:r>
          </a:p>
          <a:p xmlns:a="http://schemas.openxmlformats.org/drawingml/2006/main">
            <a:r>
              <a:t>          "processing": "차량 센서·영상·경고 이벤트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관측",</a:t>
            </a:r>
          </a:p>
          <a:p xmlns:a="http://schemas.openxmlformats.org/drawingml/2006/main">
            <a:r>
              <a:t>          "processing": "장애물·차량 간 위험 상황 판단",</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"경고",</a:t>
            </a:r>
          </a:p>
          <a:p xmlns:a="http://schemas.openxmlformats.org/drawingml/2006/main">
            <a:r>
              <a:t>          "processing":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"오경보·미탐과 운전자 반응의 표본 확인",</a:t>
            </a:r>
          </a:p>
          <a:p xmlns:a="http://schemas.openxmlformats.org/drawingml/2006/main">
            <a:r>
              <a:t>          "output": "환경별 경고 적정성과 운전자 반응의 표본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"오경보·미탐과 운전자 반응의 표본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"S-AX16",</a:t>
            </a:r>
          </a:p>
          <a:p xmlns:a="http://schemas.openxmlformats.org/drawingml/2006/main">
            <a:r>
              <a:t>        "title": "싱가포르 버스 충돌경고 확대 · LTA / 2025-08-23",</a:t>
            </a:r>
          </a:p>
          <a:p xmlns:a="http://schemas.openxmlformats.org/drawingml/2006/main">
            <a:r>
              <a:t>        "url": "https://www.lta.gov.sg/content/ltagov/en/newsroom/2025/8/news-releases/making_bus_journeys_safer.html",</a:t>
            </a:r>
          </a:p>
          <a:p xmlns:a="http://schemas.openxmlformats.org/drawingml/2006/main">
            <a:r>
              <a:t>        "published": "2025 도입·확대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"안전 기능의 도입 조건과 운전자 대응 검증",</a:t>
            </a:r>
          </a:p>
          <a:p xmlns:a="http://schemas.openxmlformats.org/drawingml/2006/main">
            <a:r>
              <a:t>    "local": "TS 운수회사 안전 점검의 장치·운행 증거 연결",</a:t>
            </a:r>
          </a:p>
          <a:p xmlns:a="http://schemas.openxmlformats.org/drawingml/2006/main">
            <a:r>
              <a:t>    "sourceDetail": null,</a:t>
            </a:r>
          </a:p>
          <a:p xmlns:a="http://schemas.openxmlformats.org/drawingml/2006/main">
            <a:r>
              <a:t>    "narrative": [</a:t>
            </a:r>
          </a:p>
          <a:p xmlns:a="http://schemas.openxmlformats.org/drawingml/2006/main">
            <a:r>
              <a:t>      "버스 주변 위험을 감지해 운전자에게 즉시 경고하는 안전 지원 사례. 운전자의 판단과 대응을 전제로 한 경고 시스템이며 운행 후 위험 이벤트 검토와도 연결.",</a:t>
            </a:r>
          </a:p>
          <a:p xmlns:a="http://schemas.openxmlformats.org/drawingml/2006/main">
            <a:r>
              <a:t>      "차량·시간·주변 상황을 센서·영상과 맞추고 위험 후보에서 경고로 이어지는 지연을 관리하는 구조. 경고 발생, 운전자 반응, 실제 위험 여부를 서로 다른 기록으로 보존하는 CCK 분석.",</a:t>
            </a:r>
          </a:p>
          <a:p xmlns:a="http://schemas.openxmlformats.org/drawingml/2006/main">
            <a:r>
              <a:t>      "TS 적용에서는 경보 과다로 인한 무시와 중요한 위험의 미탐을 동시에 확인할 필요. 차량·도로·시간대별 경보 지연·정확도·수용성을 비교하고 보급 규모를 사고 감소 실적으로 환산하지 않는 평가."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"차량 센서 접점",</a:t>
            </a:r>
          </a:p>
          <a:p xmlns:a="http://schemas.openxmlformats.org/drawingml/2006/main">
            <a:r>
              <a:t>          "layer": "이용 접점",</a:t>
            </a:r>
          </a:p>
          <a:p xmlns:a="http://schemas.openxmlformats.org/drawingml/2006/main">
            <a:r>
              <a:t>          "detail": "운전자·운수사 안전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"차량·주변 맥락",</a:t>
            </a:r>
          </a:p>
          <a:p xmlns:a="http://schemas.openxmlformats.org/drawingml/2006/main">
            <a:r>
              <a:t>          "layer": "업무 문맥",</a:t>
            </a:r>
          </a:p>
          <a:p xmlns:a="http://schemas.openxmlformats.org/drawingml/2006/main">
            <a:r>
              <a:t>          "detail": "차량·시간·주변 상황 인지",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"영상·센서 조회",</a:t>
            </a:r>
          </a:p>
          <a:p xmlns:a="http://schemas.openxmlformats.org/drawingml/2006/main">
            <a:r>
              <a:t>          "layer": "자료 조회",</a:t>
            </a:r>
          </a:p>
          <a:p xmlns:a="http://schemas.openxmlformats.org/drawingml/2006/main">
            <a:r>
              <a:t>          "detail": "센서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"충돌 위험 탐지",</a:t>
            </a:r>
          </a:p>
          <a:p xmlns:a="http://schemas.openxmlformats.org/drawingml/2006/main">
            <a:r>
              <a:t>          "layer": "핵심 처리",</a:t>
            </a:r>
          </a:p>
          <a:p xmlns:a="http://schemas.openxmlformats.org/drawingml/2006/main">
            <a:r>
              <a:t>          "detail": "장애물·차량 간 위험 상황 판단",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"경보 지연 검사",</a:t>
            </a:r>
          </a:p>
          <a:p xmlns:a="http://schemas.openxmlformats.org/drawingml/2006/main">
            <a:r>
              <a:t>          "layer": "결과 검증",</a:t>
            </a:r>
          </a:p>
          <a:p xmlns:a="http://schemas.openxmlformats.org/drawingml/2006/main">
            <a:r>
              <a:t>          "detail": "경보 지연·오탐·운전자 수용성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"운전자 상황 판단",</a:t>
            </a:r>
          </a:p>
          <a:p xmlns:a="http://schemas.openxmlformats.org/drawingml/2006/main">
            <a:r>
              <a:t>          "layer": "사람 확인",</a:t>
            </a:r>
          </a:p>
          <a:p xmlns:a="http://schemas.openxmlformats.org/drawingml/2006/main">
            <a:r>
              <a:t>          "detail": "운행 중 접근 위험을 감지하고 운전자에게 경고",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"위험 경고 전달",</a:t>
            </a:r>
          </a:p>
          <a:p xmlns:a="http://schemas.openxmlformats.org/drawingml/2006/main">
            <a:r>
              <a:t>          "layer": "업무 연결",</a:t>
            </a:r>
          </a:p>
          <a:p xmlns:a="http://schemas.openxmlformats.org/drawingml/2006/main">
            <a:r>
              <a:t>          "detail": "운전자에게 경고 전달 및 운행 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후 검토",</a:t>
            </a:r>
          </a:p>
          <a:p xmlns:a="http://schemas.openxmlformats.org/drawingml/2006/main">
            <a:r>
              <a:t>          "layer": "운영 관측",</a:t>
            </a:r>
          </a:p>
          <a:p xmlns:a="http://schemas.openxmlformats.org/drawingml/2006/main">
            <a:r>
              <a:t>          "detail": "오경보·미탐과 운전자 반응의 표본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"영상·센서 자료",</a:t>
            </a:r>
          </a:p>
          <a:p xmlns:a="http://schemas.openxmlformats.org/drawingml/2006/main">
            <a:r>
              <a:t>          "layer": "데이터 원천",</a:t>
            </a:r>
          </a:p>
          <a:p xmlns:a="http://schemas.openxmlformats.org/drawingml/2006/main">
            <a:r>
              <a:t>          "detail": "위험 이벤트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 동기화",</a:t>
            </a:r>
          </a:p>
          <a:p xmlns:a="http://schemas.openxmlformats.org/drawingml/2006/main">
            <a:r>
              <a:t>          "layer": "준비·갱신",</a:t>
            </a:r>
          </a:p>
          <a:p xmlns:a="http://schemas.openxmlformats.org/drawingml/2006/main">
            <a:r>
              <a:t>          "detail": "차량 센서·영상·경고 이벤트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"경고·반응 이력",</a:t>
            </a:r>
          </a:p>
          <a:p xmlns:a="http://schemas.openxmlformats.org/drawingml/2006/main">
            <a:r>
              <a:t>          "layer": "상태·지식 저장",</a:t>
            </a:r>
          </a:p>
          <a:p xmlns:a="http://schemas.openxmlformats.org/drawingml/2006/main">
            <a:r>
              <a:t>          "detail": "환경별 경고 적정성과 운전자 반응의 표본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"차량 안전 경계",</a:t>
            </a:r>
          </a:p>
          <a:p xmlns:a="http://schemas.openxmlformats.org/drawingml/2006/main">
            <a:r>
              <a:t>          "layer": "권한·정책",</a:t>
            </a:r>
          </a:p>
          <a:p xmlns:a="http://schemas.openxmlformats.org/drawingml/2006/main">
            <a:r>
              <a:t>          "detail": "우천·야간·가림·정차 상태의 비위험 객체",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"차량 센서·영상 → 위험 판단 → 운전자 경고 → 운행 안전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"위험 이벤트 기록",</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"경고",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"차량 안전 경계",</a:t>
            </a:r>
          </a:p>
          <a:p xmlns:a="http://schemas.openxmlformats.org/drawingml/2006/main">
            <a:r>
              <a:t>          "check": "경보 지연·오탐·운전자 수용성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"운행 후 검토",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"오경보·미탐과 운전자 반응의 표본 확인",</a:t>
            </a:r>
          </a:p>
          <a:p xmlns:a="http://schemas.openxmlformats.org/drawingml/2006/main">
            <a:r>
              <a:t>          "check": "오경보·미탐과 운전자 반응의 표본 확인"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"버스 운행 중 위험 인지와 충돌 경고 / 주변 감지·위험 경고·운행 검토",</a:t>
            </a:r>
          </a:p>
          <a:p xmlns:a="http://schemas.openxmlformats.org/drawingml/2006/main">
            <a:r>
              <a:t>        "extension": "TS 운수회사 안전 점검의 장치·운행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"우천·야간·가림·정차 상태의 비위험 객체",</a:t>
            </a:r>
          </a:p>
          <a:p xmlns:a="http://schemas.openxmlformats.org/drawingml/2006/main">
            <a:r>
              <a:t>        "hold": "경보 지연·오탐·운전자 수용성 평가",</a:t>
            </a:r>
          </a:p>
          <a:p xmlns:a="http://schemas.openxmlformats.org/drawingml/2006/main">
            <a:r>
              <a:t>        "recovery": "오경보·미탐과 운전자 반응의 표본 확인",</a:t>
            </a:r>
          </a:p>
          <a:p xmlns:a="http://schemas.openxmlformats.org/drawingml/2006/main">
            <a:r>
              <a:t>        "evidence": "환경별 경고 적정성과 운전자 반응의 표본 기록"</a:t>
            </a:r>
          </a:p>
          <a:p xmlns:a="http://schemas.openxmlformats.org/drawingml/2006/main">
            <a:r>
              <a:t>      },</a:t>
            </a:r>
          </a:p>
          <a:p xmlns:a="http://schemas.openxmlformats.org/drawingml/2006/main">
            <a:r>
              <a:t>      "data": {</a:t>
            </a:r>
          </a:p>
          <a:p xmlns:a="http://schemas.openxmlformats.org/drawingml/2006/main">
            <a:r>
              <a:t>        "source": "위험 이벤트 기록",</a:t>
            </a:r>
          </a:p>
          <a:p xmlns:a="http://schemas.openxmlformats.org/drawingml/2006/main">
            <a:r>
              <a:t>        "prepare": "차량 센서·영상·경고 이벤트 정합화",</a:t>
            </a:r>
          </a:p>
          <a:p xmlns:a="http://schemas.openxmlformats.org/drawingml/2006/main">
            <a:r>
              <a:t>        "output": "센서 관측",</a:t>
            </a:r>
          </a:p>
          <a:p xmlns:a="http://schemas.openxmlformats.org/drawingml/2006/main">
            <a:r>
              <a:t>        "refresh": "오경보·미탐과 운전자 반응의 표본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"AX16",</a:t>
            </a:r>
          </a:p>
          <a:p xmlns:a="http://schemas.openxmlformats.org/drawingml/2006/main">
            <a:r>
              <a:t>    "success": [</a:t>
            </a:r>
          </a:p>
          <a:p xmlns:a="http://schemas.openxmlformats.org/drawingml/2006/main">
            <a:r>
              <a:t>      "차량의 위험 인지와 즉시 경고",</a:t>
            </a:r>
          </a:p>
          <a:p xmlns:a="http://schemas.openxmlformats.org/drawingml/2006/main">
            <a:r>
              <a:t>      "운전자 대응을 전제로 한 안전 지원"</a:t>
            </a:r>
          </a:p>
          <a:p xmlns:a="http://schemas.openxmlformats.org/drawingml/2006/main">
            <a:r>
              <a:t>    ],</a:t>
            </a:r>
          </a:p>
          <a:p xmlns:a="http://schemas.openxmlformats.org/drawingml/2006/main">
            <a:r>
              <a:t>    "risks": [</a:t>
            </a:r>
          </a:p>
          <a:p xmlns:a="http://schemas.openxmlformats.org/drawingml/2006/main">
            <a:r>
              <a:t>      "경보 과다에 따른 무시 위험",</a:t>
            </a:r>
          </a:p>
          <a:p xmlns:a="http://schemas.openxmlformats.org/drawingml/2006/main">
            <a:r>
              <a:t>      "확대 계획을 사고 감소 실적으로 해석"</a:t>
            </a:r>
          </a:p>
          <a:p xmlns:a="http://schemas.openxmlformats.org/drawingml/2006/main">
            <a:r>
              <a:t>    ],</a:t>
            </a:r>
          </a:p>
          <a:p xmlns:a="http://schemas.openxmlformats.org/drawingml/2006/main">
            <a:r>
              <a:t>    "architecture": [</a:t>
            </a:r>
          </a:p>
          <a:p xmlns:a="http://schemas.openxmlformats.org/drawingml/2006/main">
            <a:r>
              <a:t>      "버스 센서·영상",</a:t>
            </a:r>
          </a:p>
          <a:p xmlns:a="http://schemas.openxmlformats.org/drawingml/2006/main">
            <a:r>
              <a:t>      "충돌 위험 탐지",</a:t>
            </a:r>
          </a:p>
          <a:p xmlns:a="http://schemas.openxmlformats.org/drawingml/2006/main">
            <a:r>
              <a:t>      "위험 이벤트 기록",</a:t>
            </a:r>
          </a:p>
          <a:p xmlns:a="http://schemas.openxmlformats.org/drawingml/2006/main">
            <a:r>
              <a:t>      "운전자·안전 관리자"</a:t>
            </a:r>
          </a:p>
          <a:p xmlns:a="http://schemas.openxmlformats.org/drawingml/2006/main">
            <a:r>
              <a:t>    ],</a:t>
            </a:r>
          </a:p>
          <a:p xmlns:a="http://schemas.openxmlformats.org/drawingml/2006/main">
            <a:r>
              <a:t>    "transfers": [</a:t>
            </a:r>
          </a:p>
          <a:p xmlns:a="http://schemas.openxmlformats.org/drawingml/2006/main">
            <a:r>
              <a:t>      "센서 관측",</a:t>
            </a:r>
          </a:p>
          <a:p xmlns:a="http://schemas.openxmlformats.org/drawingml/2006/main">
            <a:r>
              <a:t>      "위험 후보",</a:t>
            </a:r>
          </a:p>
          <a:p xmlns:a="http://schemas.openxmlformats.org/drawingml/2006/main">
            <a:r>
              <a:t>      "경고",</a:t>
            </a:r>
          </a:p>
          <a:p xmlns:a="http://schemas.openxmlformats.org/drawingml/2006/main">
            <a:r>
              <a:t>      "운행 후 검토"</a:t>
            </a:r>
          </a:p>
          <a:p xmlns:a="http://schemas.openxmlformats.org/drawingml/2006/main">
            <a:r>
              <a:t>    ],</a:t>
            </a:r>
          </a:p>
          <a:p xmlns:a="http://schemas.openxmlformats.org/drawingml/2006/main">
            <a:r>
              <a:t>    "control": "경보 지연·오탐·운전자 수용성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싱가포르 버스 충돌경고 확대 · LTA / 2025-08-23 https://www.lta.gov.sg/content/ltagov/en/newsroom/2025/8/news-releases/making_bus_journeys_safer.html</a:t>
            </a:r>
          </a:p>
          <a:p xmlns:a="http://schemas.openxmlformats.org/drawingml/2006/main">
            <a:r>
              <a:t>홈페이지 https://heen1987-ops.github.io/TS-business-Plan-001/index.html?view=casebook&amp;case=AX16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"AX17",</a:t>
            </a:r>
          </a:p>
          <a:p xmlns:a="http://schemas.openxmlformats.org/drawingml/2006/main">
            <a:r>
              <a:t>    "title": "코레일 자동검측·AI 확대",</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"철도 설비 자동점검",</a:t>
            </a:r>
          </a:p>
          <a:p xmlns:a="http://schemas.openxmlformats.org/drawingml/2006/main">
            <a:r>
              <a:t>    "period": "2025 운영·고도화 계획",</a:t>
            </a:r>
          </a:p>
          <a:p xmlns:a="http://schemas.openxmlformats.org/drawingml/2006/main">
            <a:r>
              <a:t>    "sources": [</a:t>
            </a:r>
          </a:p>
          <a:p xmlns:a="http://schemas.openxmlformats.org/drawingml/2006/main">
            <a:r>
              <a:t>      "S-AX17"</a:t>
            </a:r>
          </a:p>
          <a:p xmlns:a="http://schemas.openxmlformats.org/drawingml/2006/main">
            <a:r>
              <a:t>    ],</a:t>
            </a:r>
          </a:p>
          <a:p xmlns:a="http://schemas.openxmlformats.org/drawingml/2006/main">
            <a:r>
              <a:t>    "keywords": [</a:t>
            </a:r>
          </a:p>
          <a:p xmlns:a="http://schemas.openxmlformats.org/drawingml/2006/main">
            <a:r>
              <a:t>      "철도 설비 자동점검"</a:t>
            </a:r>
          </a:p>
          <a:p xmlns:a="http://schemas.openxmlformats.org/drawingml/2006/main">
            <a:r>
              <a:t>    ],</a:t>
            </a:r>
          </a:p>
          <a:p xmlns:a="http://schemas.openxmlformats.org/drawingml/2006/main">
            <a:r>
              <a:t>    "fact": "자동검측 운영을 통한 설비 이상 탐지와 AI 분석 고도화 방향 공개",</a:t>
            </a:r>
          </a:p>
          <a:p xmlns:a="http://schemas.openxmlformats.org/drawingml/2006/main">
            <a:r>
              <a:t>    "limit": "현재 검측 기능과 향후 AI 확대 구분 · 안전 감소 효과의 인과 검증 별도",</a:t>
            </a:r>
          </a:p>
          <a:p xmlns:a="http://schemas.openxmlformats.org/drawingml/2006/main">
            <a:r>
              <a:t>    "flow": [</a:t>
            </a:r>
          </a:p>
          <a:p xmlns:a="http://schemas.openxmlformats.org/drawingml/2006/main">
            <a:r>
              <a:t>      "검측·영상 수집",</a:t>
            </a:r>
          </a:p>
          <a:p xmlns:a="http://schemas.openxmlformats.org/drawingml/2006/main">
            <a:r>
              <a:t>      "이상 후보 추출",</a:t>
            </a:r>
          </a:p>
          <a:p xmlns:a="http://schemas.openxmlformats.org/drawingml/2006/main">
            <a:r>
              <a:t>      "전문가 확인",</a:t>
            </a:r>
          </a:p>
          <a:p xmlns:a="http://schemas.openxmlformats.org/drawingml/2006/main">
            <a:r>
              <a:t>      "정비·검사 이력"</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"원천 검측과 판정 근거의 일관된 인계",</a:t>
            </a:r>
          </a:p>
          <a:p xmlns:a="http://schemas.openxmlformats.org/drawingml/2006/main">
            <a:r>
              <a:t>    "local": "TS 철도 안전 점검의 설비·검사·조치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 ID·판정 기준·검사 시점 대사",</a:t>
            </a:r>
          </a:p>
          <a:p xmlns:a="http://schemas.openxmlformats.org/drawingml/2006/main">
            <a:r>
              <a:t>    "test": "정상·이상·판정 변경 및 미조치 자료 재현",</a:t>
            </a:r>
          </a:p>
          <a:p xmlns:a="http://schemas.openxmlformats.org/drawingml/2006/main">
            <a:r>
              <a:t>    "metric": "검사 검토시간 / 증거 누락률",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"AX17",</a:t>
            </a:r>
          </a:p>
          <a:p xmlns:a="http://schemas.openxmlformats.org/drawingml/2006/main">
            <a:r>
              <a:t>    "canonicalId": "AX17",</a:t>
            </a:r>
          </a:p>
          <a:p xmlns:a="http://schemas.openxmlformats.org/drawingml/2006/main">
            <a:r>
              <a:t>    "purpose": "철도 설비 자동검측과 유지보수 우선순위 지원",</a:t>
            </a:r>
          </a:p>
          <a:p xmlns:a="http://schemas.openxmlformats.org/drawingml/2006/main">
            <a:r>
              <a:t>    "users": "검측·시설 유지보수 담당",</a:t>
            </a:r>
          </a:p>
          <a:p xmlns:a="http://schemas.openxmlformats.org/drawingml/2006/main">
            <a:r>
              <a:t>    "scope": [</a:t>
            </a:r>
          </a:p>
          <a:p xmlns:a="http://schemas.openxmlformats.org/drawingml/2006/main">
            <a:r>
              <a:t>      "설비 관측",</a:t>
            </a:r>
          </a:p>
          <a:p xmlns:a="http://schemas.openxmlformats.org/drawingml/2006/main">
            <a:r>
              <a:t>      "이상 탐지",</a:t>
            </a:r>
          </a:p>
          <a:p xmlns:a="http://schemas.openxmlformats.org/drawingml/2006/main">
            <a:r>
              <a:t>      "정비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"검측 장비",</a:t>
            </a:r>
          </a:p>
          <a:p xmlns:a="http://schemas.openxmlformats.org/drawingml/2006/main">
            <a:r>
              <a:t>        "detail": "노선·설비 ID·검측구간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"설비 관측 / 이상 탐지 / 정비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"이상 후보 분석",</a:t>
            </a:r>
          </a:p>
          <a:p xmlns:a="http://schemas.openxmlformats.org/drawingml/2006/main">
            <a:r>
              <a:t>        "detail": "검측 수치의 이상 후보와 추세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"철도 정비 담당",</a:t>
            </a:r>
          </a:p>
          <a:p xmlns:a="http://schemas.openxmlformats.org/drawingml/2006/main">
            <a:r>
              <a:t>        "detail": "점검 담당자의 확인 후 정비계획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"검측·정비 기록",</a:t>
            </a:r>
          </a:p>
          <a:p xmlns:a="http://schemas.openxmlformats.org/drawingml/2006/main">
            <a:r>
              <a:t>        "detail": "검측값·설비대장·과거 정비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확인값과 조치 후 재검측 결과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"검측·영상 수집",</a:t>
            </a:r>
          </a:p>
          <a:p xmlns:a="http://schemas.openxmlformats.org/drawingml/2006/main">
            <a:r>
              <a:t>        "input": "노선·설비 ID·검측구간 식별",</a:t>
            </a:r>
          </a:p>
          <a:p xmlns:a="http://schemas.openxmlformats.org/drawingml/2006/main">
            <a:r>
              <a:t>        "process": "검측값·설비대장·과거 정비 이력 연결",</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"title": "이상 후보 추출",</a:t>
            </a:r>
          </a:p>
          <a:p xmlns:a="http://schemas.openxmlformats.org/drawingml/2006/main">
            <a:r>
              <a:t>        "input": "검측값·영상",</a:t>
            </a:r>
          </a:p>
          <a:p xmlns:a="http://schemas.openxmlformats.org/drawingml/2006/main">
            <a:r>
              <a:t>        "process": "검측 수치의 이상 후보와 추세 분석",</a:t>
            </a:r>
          </a:p>
          <a:p xmlns:a="http://schemas.openxmlformats.org/drawingml/2006/main">
            <a:r>
              <a:t>        "output": "결함 후보"</a:t>
            </a:r>
          </a:p>
          <a:p xmlns:a="http://schemas.openxmlformats.org/drawingml/2006/main">
            <a:r>
              <a:t>      },</a:t>
            </a:r>
          </a:p>
          <a:p xmlns:a="http://schemas.openxmlformats.org/drawingml/2006/main">
            <a:r>
              <a:t>      {</a:t>
            </a:r>
          </a:p>
          <a:p xmlns:a="http://schemas.openxmlformats.org/drawingml/2006/main">
            <a:r>
              <a:t>        "title": "전문가 확인",</a:t>
            </a:r>
          </a:p>
          <a:p xmlns:a="http://schemas.openxmlformats.org/drawingml/2006/main">
            <a:r>
              <a:t>        "input": "결함 후보",</a:t>
            </a:r>
          </a:p>
          <a:p xmlns:a="http://schemas.openxmlformats.org/drawingml/2006/main">
            <a:r>
              <a:t>        "process": "실제 결함과 검측 후보 대사",</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"title": "정비·검사 이력",</a:t>
            </a:r>
          </a:p>
          <a:p xmlns:a="http://schemas.openxmlformats.org/drawingml/2006/main">
            <a:r>
              <a:t>        "input": "전문가 확인",</a:t>
            </a:r>
          </a:p>
          <a:p xmlns:a="http://schemas.openxmlformats.org/drawingml/2006/main">
            <a:r>
              <a:t>        "process":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"검측 이상을 설비대장에 연결하고 점검 대상 선정",</a:t>
            </a:r>
          </a:p>
          <a:p xmlns:a="http://schemas.openxmlformats.org/drawingml/2006/main">
            <a:r>
              <a:t>      "exception": "설비 ID 불일치·센서 튐·정비 후 상태 미갱신",</a:t>
            </a:r>
          </a:p>
          <a:p xmlns:a="http://schemas.openxmlformats.org/drawingml/2006/main">
            <a:r>
              <a:t>      "evidence": "검측 원천·설비·현장 판정·재검측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"검측·시설 유지보수 담당",</a:t>
            </a:r>
          </a:p>
          <a:p xmlns:a="http://schemas.openxmlformats.org/drawingml/2006/main">
            <a:r>
              <a:t>          "processing": "노선·설비 ID·검측구간 식별",</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"검측·정비 기록",</a:t>
            </a:r>
          </a:p>
          <a:p xmlns:a="http://schemas.openxmlformats.org/drawingml/2006/main">
            <a:r>
              <a:t>          "processing": "검측값·설비대장·과거 정비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"검측값·영상",</a:t>
            </a:r>
          </a:p>
          <a:p xmlns:a="http://schemas.openxmlformats.org/drawingml/2006/main">
            <a:r>
              <a:t>          "processing": "검측 수치의 이상 후보와 추세 분석",</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"전문가 확인",</a:t>
            </a:r>
          </a:p>
          <a:p xmlns:a="http://schemas.openxmlformats.org/drawingml/2006/main">
            <a:r>
              <a:t>          "processing":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확인값과 조치 후 재검측 결과 비교",</a:t>
            </a:r>
          </a:p>
          <a:p xmlns:a="http://schemas.openxmlformats.org/drawingml/2006/main">
            <a:r>
              <a:t>          "output": "검측 원천·설비·현장 판정·재검측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확인값과 조치 후 재검측 결과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"S-AX17",</a:t>
            </a:r>
          </a:p>
          <a:p xmlns:a="http://schemas.openxmlformats.org/drawingml/2006/main">
            <a:r>
              <a:t>        "title": "코레일 자동검측·AI 확대 · 코레일 / 2025-08-17",</a:t>
            </a:r>
          </a:p>
          <a:p xmlns:a="http://schemas.openxmlformats.org/drawingml/2006/main">
            <a:r>
              <a:t>        "url": "https://info.korail.com/info/selectBbsNttView.do?bbsNo=199&amp;key=911&amp;nttNo=25238",</a:t>
            </a:r>
          </a:p>
          <a:p xmlns:a="http://schemas.openxmlformats.org/drawingml/2006/main">
            <a:r>
              <a:t>        "published": "2025 운영·고도화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"원천 검측과 판정 근거의 일관된 인계",</a:t>
            </a:r>
          </a:p>
          <a:p xmlns:a="http://schemas.openxmlformats.org/drawingml/2006/main">
            <a:r>
              <a:t>    "local": "TS 철도 안전 점검의 설비·검사·조치 증거 연결",</a:t>
            </a:r>
          </a:p>
          <a:p xmlns:a="http://schemas.openxmlformats.org/drawingml/2006/main">
            <a:r>
              <a:t>    "sourceDetail": null,</a:t>
            </a:r>
          </a:p>
          <a:p xmlns:a="http://schemas.openxmlformats.org/drawingml/2006/main">
            <a:r>
              <a:t>    "narrative": [</a:t>
            </a:r>
          </a:p>
          <a:p xmlns:a="http://schemas.openxmlformats.org/drawingml/2006/main">
            <a:r>
              <a:t>      "철도 설비의 자동검측 자료를 유지보수 검토에 활용하는 사례. 검측 데이터 확보, AI 이상 분석, 현장 정비 판단은 서로 다른 기능·사업 범위.",</a:t>
            </a:r>
          </a:p>
          <a:p xmlns:a="http://schemas.openxmlformats.org/drawingml/2006/main">
            <a:r>
              <a:t>      "노선·설비 ID·검측구간을 기준으로 관측값과 과거 정비 이력을 결합하고 이상 후보를 점검자에게 제공하는 재구성. 현장 확인과 조치 후 재검측을 연결해 후보의 유효성을 확인.",</a:t>
            </a:r>
          </a:p>
          <a:p xmlns:a="http://schemas.openxmlformats.org/drawingml/2006/main">
            <a:r>
              <a:t>      "TS 철도 안전 업무에서는 기존 자동검측 장비와 추가 분석 모델을 분리해 재사용 범위를 산정할 필요. 실제 결함 정답, 설비별 탐지 편차, 정비 조치·재점검 증빙을 검수에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"자동검측 접점",</a:t>
            </a:r>
          </a:p>
          <a:p xmlns:a="http://schemas.openxmlformats.org/drawingml/2006/main">
            <a:r>
              <a:t>          "layer": "이용 접점",</a:t>
            </a:r>
          </a:p>
          <a:p xmlns:a="http://schemas.openxmlformats.org/drawingml/2006/main">
            <a:r>
              <a:t>          "detail": "검측·시설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"노선·설비 ID",</a:t>
            </a:r>
          </a:p>
          <a:p xmlns:a="http://schemas.openxmlformats.org/drawingml/2006/main">
            <a:r>
              <a:t>          "layer": "업무 문맥",</a:t>
            </a:r>
          </a:p>
          <a:p xmlns:a="http://schemas.openxmlformats.org/drawingml/2006/main">
            <a:r>
              <a:t>          "detail": "노선·설비 ID·검측구간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"검측·정비 조회",</a:t>
            </a:r>
          </a:p>
          <a:p xmlns:a="http://schemas.openxmlformats.org/drawingml/2006/main">
            <a:r>
              <a:t>          "layer": "자료 조회",</a:t>
            </a:r>
          </a:p>
          <a:p xmlns:a="http://schemas.openxmlformats.org/drawingml/2006/main">
            <a:r>
              <a:t>          "detail": "검측값·영상",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후보 분석",</a:t>
            </a:r>
          </a:p>
          <a:p xmlns:a="http://schemas.openxmlformats.org/drawingml/2006/main">
            <a:r>
              <a:t>          "layer": "핵심 처리",</a:t>
            </a:r>
          </a:p>
          <a:p xmlns:a="http://schemas.openxmlformats.org/drawingml/2006/main">
            <a:r>
              <a:t>          "detail": "검측 수치의 이상 후보와 추세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"결함 기준 대조",</a:t>
            </a:r>
          </a:p>
          <a:p xmlns:a="http://schemas.openxmlformats.org/drawingml/2006/main">
            <a:r>
              <a:t>          "layer": "결과 검증",</a:t>
            </a:r>
          </a:p>
          <a:p xmlns:a="http://schemas.openxmlformats.org/drawingml/2006/main">
            <a:r>
              <a:t>          "detail": "실제 결함과 검측 후보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"점검 담당 확인",</a:t>
            </a:r>
          </a:p>
          <a:p xmlns:a="http://schemas.openxmlformats.org/drawingml/2006/main">
            <a:r>
              <a:t>          "layer": "사람 확인",</a:t>
            </a:r>
          </a:p>
          <a:p xmlns:a="http://schemas.openxmlformats.org/drawingml/2006/main">
            <a:r>
              <a:t>          "detail": "검측 이상을 설비대장에 연결하고 점검 대상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"정비계획 반영",</a:t>
            </a:r>
          </a:p>
          <a:p xmlns:a="http://schemas.openxmlformats.org/drawingml/2006/main">
            <a:r>
              <a:t>          "layer": "업무 연결",</a:t>
            </a:r>
          </a:p>
          <a:p xmlns:a="http://schemas.openxmlformats.org/drawingml/2006/main">
            <a:r>
              <a:t>          "detail": "점검 담당자의 확인 후 정비계획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후 재검측",</a:t>
            </a:r>
          </a:p>
          <a:p xmlns:a="http://schemas.openxmlformats.org/drawingml/2006/main">
            <a:r>
              <a:t>          "layer": "운영 관측",</a:t>
            </a:r>
          </a:p>
          <a:p xmlns:a="http://schemas.openxmlformats.org/drawingml/2006/main">
            <a:r>
              <a:t>          "detail": "현장 확인값과 조치 후 재검측 결과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"설비·검측 자료",</a:t>
            </a:r>
          </a:p>
          <a:p xmlns:a="http://schemas.openxmlformats.org/drawingml/2006/main">
            <a:r>
              <a:t>          "layer": "데이터 원천",</a:t>
            </a:r>
          </a:p>
          <a:p xmlns:a="http://schemas.openxmlformats.org/drawingml/2006/main">
            <a:r>
              <a:t>          "detail": "검측·정비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"위치·단위 정합화",</a:t>
            </a:r>
          </a:p>
          <a:p xmlns:a="http://schemas.openxmlformats.org/drawingml/2006/main">
            <a:r>
              <a:t>          "layer": "준비·갱신",</a:t>
            </a:r>
          </a:p>
          <a:p xmlns:a="http://schemas.openxmlformats.org/drawingml/2006/main">
            <a:r>
              <a:t>          "detail": "검측값·설비대장·과거 정비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"결함·정비 이력",</a:t>
            </a:r>
          </a:p>
          <a:p xmlns:a="http://schemas.openxmlformats.org/drawingml/2006/main">
            <a:r>
              <a:t>          "layer": "상태·지식 저장",</a:t>
            </a:r>
          </a:p>
          <a:p xmlns:a="http://schemas.openxmlformats.org/drawingml/2006/main">
            <a:r>
              <a:t>          "detail": "검측 원천·설비·현장 판정·재검측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"점검·판정 기준",</a:t>
            </a:r>
          </a:p>
          <a:p xmlns:a="http://schemas.openxmlformats.org/drawingml/2006/main">
            <a:r>
              <a:t>          "layer": "권한·정책",</a:t>
            </a:r>
          </a:p>
          <a:p xmlns:a="http://schemas.openxmlformats.org/drawingml/2006/main">
            <a:r>
              <a:t>          "detail": "설비 ID 불일치·센서 튐·정비 후 상태 미갱신",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"검측·영상 수집 → 이상 후보 추출 → 전문가 확인 → 정비·검사 이력"</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"검측·정비 기록",</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"전문가 확인",</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"점검·판정 기준",</a:t>
            </a:r>
          </a:p>
          <a:p xmlns:a="http://schemas.openxmlformats.org/drawingml/2006/main">
            <a:r>
              <a:t>          "check": "실제 결함과 검측 후보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"정비 기록",</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확인값과 조치 후 재검측 결과 비교",</a:t>
            </a:r>
          </a:p>
          <a:p xmlns:a="http://schemas.openxmlformats.org/drawingml/2006/main">
            <a:r>
              <a:t>          "check": "현장 확인값과 조치 후 재검측 결과 비교"</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"철도 설비 자동검측과 유지보수 우선순위 지원 / 설비 관측·이상 탐지·정비 확인",</a:t>
            </a:r>
          </a:p>
          <a:p xmlns:a="http://schemas.openxmlformats.org/drawingml/2006/main">
            <a:r>
              <a:t>        "extension": "TS 철도 안전 점검의 설비·검사·조치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"설비 ID 불일치·센서 튐·정비 후 상태 미갱신",</a:t>
            </a:r>
          </a:p>
          <a:p xmlns:a="http://schemas.openxmlformats.org/drawingml/2006/main">
            <a:r>
              <a:t>        "hold": "실제 결함과 검측 후보 대사",</a:t>
            </a:r>
          </a:p>
          <a:p xmlns:a="http://schemas.openxmlformats.org/drawingml/2006/main">
            <a:r>
              <a:t>        "recovery": "현장 확인값과 조치 후 재검측 결과 비교",</a:t>
            </a:r>
          </a:p>
          <a:p xmlns:a="http://schemas.openxmlformats.org/drawingml/2006/main">
            <a:r>
              <a:t>        "evidence": "검측 원천·설비·현장 판정·재검측 연결표"</a:t>
            </a:r>
          </a:p>
          <a:p xmlns:a="http://schemas.openxmlformats.org/drawingml/2006/main">
            <a:r>
              <a:t>      },</a:t>
            </a:r>
          </a:p>
          <a:p xmlns:a="http://schemas.openxmlformats.org/drawingml/2006/main">
            <a:r>
              <a:t>      "data": {</a:t>
            </a:r>
          </a:p>
          <a:p xmlns:a="http://schemas.openxmlformats.org/drawingml/2006/main">
            <a:r>
              <a:t>        "source": "검측·정비 기록",</a:t>
            </a:r>
          </a:p>
          <a:p xmlns:a="http://schemas.openxmlformats.org/drawingml/2006/main">
            <a:r>
              <a:t>        "prepare": "검측값·설비대장·과거 정비 이력 연결",</a:t>
            </a:r>
          </a:p>
          <a:p xmlns:a="http://schemas.openxmlformats.org/drawingml/2006/main">
            <a:r>
              <a:t>        "output": "검측값·영상",</a:t>
            </a:r>
          </a:p>
          <a:p xmlns:a="http://schemas.openxmlformats.org/drawingml/2006/main">
            <a:r>
              <a:t>        "refresh": "현장 확인값과 조치 후 재검측 결과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"AX17",</a:t>
            </a:r>
          </a:p>
          <a:p xmlns:a="http://schemas.openxmlformats.org/drawingml/2006/main">
            <a:r>
              <a:t>    "success": [</a:t>
            </a:r>
          </a:p>
          <a:p xmlns:a="http://schemas.openxmlformats.org/drawingml/2006/main">
            <a:r>
              <a:t>      "자동검측 자료의 지속 확보",</a:t>
            </a:r>
          </a:p>
          <a:p xmlns:a="http://schemas.openxmlformats.org/drawingml/2006/main">
            <a:r>
              <a:t>      "이상 후보와 정비 이력 연결"</a:t>
            </a:r>
          </a:p>
          <a:p xmlns:a="http://schemas.openxmlformats.org/drawingml/2006/main">
            <a:r>
              <a:t>    ],</a:t>
            </a:r>
          </a:p>
          <a:p xmlns:a="http://schemas.openxmlformats.org/drawingml/2006/main">
            <a:r>
              <a:t>    "risks": [</a:t>
            </a:r>
          </a:p>
          <a:p xmlns:a="http://schemas.openxmlformats.org/drawingml/2006/main">
            <a:r>
              <a:t>      "자동검측과 AI 개발 범위 혼동",</a:t>
            </a:r>
          </a:p>
          <a:p xmlns:a="http://schemas.openxmlformats.org/drawingml/2006/main">
            <a:r>
              <a:t>      "설비·노선별 탐지 편차"</a:t>
            </a:r>
          </a:p>
          <a:p xmlns:a="http://schemas.openxmlformats.org/drawingml/2006/main">
            <a:r>
              <a:t>    ],</a:t>
            </a:r>
          </a:p>
          <a:p xmlns:a="http://schemas.openxmlformats.org/drawingml/2006/main">
            <a:r>
              <a:t>    "architecture": [</a:t>
            </a:r>
          </a:p>
          <a:p xmlns:a="http://schemas.openxmlformats.org/drawingml/2006/main">
            <a:r>
              <a:t>      "검측 장비",</a:t>
            </a:r>
          </a:p>
          <a:p xmlns:a="http://schemas.openxmlformats.org/drawingml/2006/main">
            <a:r>
              <a:t>      "이상 후보 분석",</a:t>
            </a:r>
          </a:p>
          <a:p xmlns:a="http://schemas.openxmlformats.org/drawingml/2006/main">
            <a:r>
              <a:t>      "검측·정비 기록",</a:t>
            </a:r>
          </a:p>
          <a:p xmlns:a="http://schemas.openxmlformats.org/drawingml/2006/main">
            <a:r>
              <a:t>      "철도 정비 담당"</a:t>
            </a:r>
          </a:p>
          <a:p xmlns:a="http://schemas.openxmlformats.org/drawingml/2006/main">
            <a:r>
              <a:t>    ],</a:t>
            </a:r>
          </a:p>
          <a:p xmlns:a="http://schemas.openxmlformats.org/drawingml/2006/main">
            <a:r>
              <a:t>    "transfers": [</a:t>
            </a:r>
          </a:p>
          <a:p xmlns:a="http://schemas.openxmlformats.org/drawingml/2006/main">
            <a:r>
              <a:t>      "검측값·영상",</a:t>
            </a:r>
          </a:p>
          <a:p xmlns:a="http://schemas.openxmlformats.org/drawingml/2006/main">
            <a:r>
              <a:t>      "결함 후보",</a:t>
            </a:r>
          </a:p>
          <a:p xmlns:a="http://schemas.openxmlformats.org/drawingml/2006/main">
            <a:r>
              <a:t>      "전문가 확인",</a:t>
            </a:r>
          </a:p>
          <a:p xmlns:a="http://schemas.openxmlformats.org/drawingml/2006/main">
            <a:r>
              <a:t>      "정비 기록"</a:t>
            </a:r>
          </a:p>
          <a:p xmlns:a="http://schemas.openxmlformats.org/drawingml/2006/main">
            <a:r>
              <a:t>    ],</a:t>
            </a:r>
          </a:p>
          <a:p xmlns:a="http://schemas.openxmlformats.org/drawingml/2006/main">
            <a:r>
              <a:t>    "control": "실제 결함과 검측 후보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코레일 자동검측·AI 확대 · 코레일 / 2025-08-17 https://info.korail.com/info/selectBbsNttView.do?bbsNo=199&amp;key=911&amp;nttNo=25238</a:t>
            </a:r>
          </a:p>
          <a:p xmlns:a="http://schemas.openxmlformats.org/drawingml/2006/main">
            <a:r>
              <a:t>홈페이지 https://heen1987-ops.github.io/TS-business-Plan-001/index.html?view=casebook&amp;case=AX17</a:t>
            </a:r>
          </a:p>
          <a:p xmlns:a="http://schemas.openxmlformats.org/drawingml/2006/main">
            <a:r>
              <a:t>한계: 현재 검측 기능과 향후 AI 확대 구분 · 안전 감소 효과의 인과 검증 별도</a:t>
            </a:r>
          </a:p>
          <a:p xmlns:a="http://schemas.openxmlformats.org/drawingml/2006/main">
            <a:r>
              <a:t>실패 위험: 자동검측과 AI 개발 범위 혼동 / 설비·노선별 탐지 편차</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"AX17",</a:t>
            </a:r>
          </a:p>
          <a:p xmlns:a="http://schemas.openxmlformats.org/drawingml/2006/main">
            <a:r>
              <a:t>    "title": "코레일 자동검측·AI 확대",</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"철도 설비 자동점검",</a:t>
            </a:r>
          </a:p>
          <a:p xmlns:a="http://schemas.openxmlformats.org/drawingml/2006/main">
            <a:r>
              <a:t>    "period": "2025 운영·고도화 계획",</a:t>
            </a:r>
          </a:p>
          <a:p xmlns:a="http://schemas.openxmlformats.org/drawingml/2006/main">
            <a:r>
              <a:t>    "sources": [</a:t>
            </a:r>
          </a:p>
          <a:p xmlns:a="http://schemas.openxmlformats.org/drawingml/2006/main">
            <a:r>
              <a:t>      "S-AX17"</a:t>
            </a:r>
          </a:p>
          <a:p xmlns:a="http://schemas.openxmlformats.org/drawingml/2006/main">
            <a:r>
              <a:t>    ],</a:t>
            </a:r>
          </a:p>
          <a:p xmlns:a="http://schemas.openxmlformats.org/drawingml/2006/main">
            <a:r>
              <a:t>    "keywords": [</a:t>
            </a:r>
          </a:p>
          <a:p xmlns:a="http://schemas.openxmlformats.org/drawingml/2006/main">
            <a:r>
              <a:t>      "철도 설비 자동점검"</a:t>
            </a:r>
          </a:p>
          <a:p xmlns:a="http://schemas.openxmlformats.org/drawingml/2006/main">
            <a:r>
              <a:t>    ],</a:t>
            </a:r>
          </a:p>
          <a:p xmlns:a="http://schemas.openxmlformats.org/drawingml/2006/main">
            <a:r>
              <a:t>    "fact": "자동검측 운영을 통한 설비 이상 탐지와 AI 분석 고도화 방향 공개",</a:t>
            </a:r>
          </a:p>
          <a:p xmlns:a="http://schemas.openxmlformats.org/drawingml/2006/main">
            <a:r>
              <a:t>    "limit": "현재 검측 기능과 향후 AI 확대 구분 · 안전 감소 효과의 인과 검증 별도",</a:t>
            </a:r>
          </a:p>
          <a:p xmlns:a="http://schemas.openxmlformats.org/drawingml/2006/main">
            <a:r>
              <a:t>    "flow": [</a:t>
            </a:r>
          </a:p>
          <a:p xmlns:a="http://schemas.openxmlformats.org/drawingml/2006/main">
            <a:r>
              <a:t>      "검측·영상 수집",</a:t>
            </a:r>
          </a:p>
          <a:p xmlns:a="http://schemas.openxmlformats.org/drawingml/2006/main">
            <a:r>
              <a:t>      "이상 후보 추출",</a:t>
            </a:r>
          </a:p>
          <a:p xmlns:a="http://schemas.openxmlformats.org/drawingml/2006/main">
            <a:r>
              <a:t>      "전문가 확인",</a:t>
            </a:r>
          </a:p>
          <a:p xmlns:a="http://schemas.openxmlformats.org/drawingml/2006/main">
            <a:r>
              <a:t>      "정비·검사 이력"</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"원천 검측과 판정 근거의 일관된 인계",</a:t>
            </a:r>
          </a:p>
          <a:p xmlns:a="http://schemas.openxmlformats.org/drawingml/2006/main">
            <a:r>
              <a:t>    "local": "TS 철도 안전 점검의 설비·검사·조치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 ID·판정 기준·검사 시점 대사",</a:t>
            </a:r>
          </a:p>
          <a:p xmlns:a="http://schemas.openxmlformats.org/drawingml/2006/main">
            <a:r>
              <a:t>    "test": "정상·이상·판정 변경 및 미조치 자료 재현",</a:t>
            </a:r>
          </a:p>
          <a:p xmlns:a="http://schemas.openxmlformats.org/drawingml/2006/main">
            <a:r>
              <a:t>    "metric": "검사 검토시간 / 증거 누락률",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"AX17",</a:t>
            </a:r>
          </a:p>
          <a:p xmlns:a="http://schemas.openxmlformats.org/drawingml/2006/main">
            <a:r>
              <a:t>    "canonicalId": "AX17",</a:t>
            </a:r>
          </a:p>
          <a:p xmlns:a="http://schemas.openxmlformats.org/drawingml/2006/main">
            <a:r>
              <a:t>    "purpose": "철도 설비 자동검측과 유지보수 우선순위 지원",</a:t>
            </a:r>
          </a:p>
          <a:p xmlns:a="http://schemas.openxmlformats.org/drawingml/2006/main">
            <a:r>
              <a:t>    "users": "검측·시설 유지보수 담당",</a:t>
            </a:r>
          </a:p>
          <a:p xmlns:a="http://schemas.openxmlformats.org/drawingml/2006/main">
            <a:r>
              <a:t>    "scope": [</a:t>
            </a:r>
          </a:p>
          <a:p xmlns:a="http://schemas.openxmlformats.org/drawingml/2006/main">
            <a:r>
              <a:t>      "설비 관측",</a:t>
            </a:r>
          </a:p>
          <a:p xmlns:a="http://schemas.openxmlformats.org/drawingml/2006/main">
            <a:r>
              <a:t>      "이상 탐지",</a:t>
            </a:r>
          </a:p>
          <a:p xmlns:a="http://schemas.openxmlformats.org/drawingml/2006/main">
            <a:r>
              <a:t>      "정비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"검측 장비",</a:t>
            </a:r>
          </a:p>
          <a:p xmlns:a="http://schemas.openxmlformats.org/drawingml/2006/main">
            <a:r>
              <a:t>        "detail": "노선·설비 ID·검측구간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"설비 관측 / 이상 탐지 / 정비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"이상 후보 분석",</a:t>
            </a:r>
          </a:p>
          <a:p xmlns:a="http://schemas.openxmlformats.org/drawingml/2006/main">
            <a:r>
              <a:t>        "detail": "검측 수치의 이상 후보와 추세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"철도 정비 담당",</a:t>
            </a:r>
          </a:p>
          <a:p xmlns:a="http://schemas.openxmlformats.org/drawingml/2006/main">
            <a:r>
              <a:t>        "detail": "점검 담당자의 확인 후 정비계획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"검측·정비 기록",</a:t>
            </a:r>
          </a:p>
          <a:p xmlns:a="http://schemas.openxmlformats.org/drawingml/2006/main">
            <a:r>
              <a:t>        "detail": "검측값·설비대장·과거 정비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확인값과 조치 후 재검측 결과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"검측·영상 수집",</a:t>
            </a:r>
          </a:p>
          <a:p xmlns:a="http://schemas.openxmlformats.org/drawingml/2006/main">
            <a:r>
              <a:t>        "input": "노선·설비 ID·검측구간 식별",</a:t>
            </a:r>
          </a:p>
          <a:p xmlns:a="http://schemas.openxmlformats.org/drawingml/2006/main">
            <a:r>
              <a:t>        "process": "검측값·설비대장·과거 정비 이력 연결",</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"title": "이상 후보 추출",</a:t>
            </a:r>
          </a:p>
          <a:p xmlns:a="http://schemas.openxmlformats.org/drawingml/2006/main">
            <a:r>
              <a:t>        "input": "검측값·영상",</a:t>
            </a:r>
          </a:p>
          <a:p xmlns:a="http://schemas.openxmlformats.org/drawingml/2006/main">
            <a:r>
              <a:t>        "process": "검측 수치의 이상 후보와 추세 분석",</a:t>
            </a:r>
          </a:p>
          <a:p xmlns:a="http://schemas.openxmlformats.org/drawingml/2006/main">
            <a:r>
              <a:t>        "output": "결함 후보"</a:t>
            </a:r>
          </a:p>
          <a:p xmlns:a="http://schemas.openxmlformats.org/drawingml/2006/main">
            <a:r>
              <a:t>      },</a:t>
            </a:r>
          </a:p>
          <a:p xmlns:a="http://schemas.openxmlformats.org/drawingml/2006/main">
            <a:r>
              <a:t>      {</a:t>
            </a:r>
          </a:p>
          <a:p xmlns:a="http://schemas.openxmlformats.org/drawingml/2006/main">
            <a:r>
              <a:t>        "title": "전문가 확인",</a:t>
            </a:r>
          </a:p>
          <a:p xmlns:a="http://schemas.openxmlformats.org/drawingml/2006/main">
            <a:r>
              <a:t>        "input": "결함 후보",</a:t>
            </a:r>
          </a:p>
          <a:p xmlns:a="http://schemas.openxmlformats.org/drawingml/2006/main">
            <a:r>
              <a:t>        "process": "실제 결함과 검측 후보 대사",</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"title": "정비·검사 이력",</a:t>
            </a:r>
          </a:p>
          <a:p xmlns:a="http://schemas.openxmlformats.org/drawingml/2006/main">
            <a:r>
              <a:t>        "input": "전문가 확인",</a:t>
            </a:r>
          </a:p>
          <a:p xmlns:a="http://schemas.openxmlformats.org/drawingml/2006/main">
            <a:r>
              <a:t>        "process":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"검측 이상을 설비대장에 연결하고 점검 대상 선정",</a:t>
            </a:r>
          </a:p>
          <a:p xmlns:a="http://schemas.openxmlformats.org/drawingml/2006/main">
            <a:r>
              <a:t>      "exception": "설비 ID 불일치·센서 튐·정비 후 상태 미갱신",</a:t>
            </a:r>
          </a:p>
          <a:p xmlns:a="http://schemas.openxmlformats.org/drawingml/2006/main">
            <a:r>
              <a:t>      "evidence": "검측 원천·설비·현장 판정·재검측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"검측·시설 유지보수 담당",</a:t>
            </a:r>
          </a:p>
          <a:p xmlns:a="http://schemas.openxmlformats.org/drawingml/2006/main">
            <a:r>
              <a:t>          "processing": "노선·설비 ID·검측구간 식별",</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"검측·정비 기록",</a:t>
            </a:r>
          </a:p>
          <a:p xmlns:a="http://schemas.openxmlformats.org/drawingml/2006/main">
            <a:r>
              <a:t>          "processing": "검측값·설비대장·과거 정비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"검측값·영상",</a:t>
            </a:r>
          </a:p>
          <a:p xmlns:a="http://schemas.openxmlformats.org/drawingml/2006/main">
            <a:r>
              <a:t>          "processing": "검측 수치의 이상 후보와 추세 분석",</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"전문가 확인",</a:t>
            </a:r>
          </a:p>
          <a:p xmlns:a="http://schemas.openxmlformats.org/drawingml/2006/main">
            <a:r>
              <a:t>          "processing":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확인값과 조치 후 재검측 결과 비교",</a:t>
            </a:r>
          </a:p>
          <a:p xmlns:a="http://schemas.openxmlformats.org/drawingml/2006/main">
            <a:r>
              <a:t>          "output": "검측 원천·설비·현장 판정·재검측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확인값과 조치 후 재검측 결과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"S-AX17",</a:t>
            </a:r>
          </a:p>
          <a:p xmlns:a="http://schemas.openxmlformats.org/drawingml/2006/main">
            <a:r>
              <a:t>        "title": "코레일 자동검측·AI 확대 · 코레일 / 2025-08-17",</a:t>
            </a:r>
          </a:p>
          <a:p xmlns:a="http://schemas.openxmlformats.org/drawingml/2006/main">
            <a:r>
              <a:t>        "url": "https://info.korail.com/info/selectBbsNttView.do?bbsNo=199&amp;key=911&amp;nttNo=25238",</a:t>
            </a:r>
          </a:p>
          <a:p xmlns:a="http://schemas.openxmlformats.org/drawingml/2006/main">
            <a:r>
              <a:t>        "published": "2025 운영·고도화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"원천 검측과 판정 근거의 일관된 인계",</a:t>
            </a:r>
          </a:p>
          <a:p xmlns:a="http://schemas.openxmlformats.org/drawingml/2006/main">
            <a:r>
              <a:t>    "local": "TS 철도 안전 점검의 설비·검사·조치 증거 연결",</a:t>
            </a:r>
          </a:p>
          <a:p xmlns:a="http://schemas.openxmlformats.org/drawingml/2006/main">
            <a:r>
              <a:t>    "sourceDetail": null,</a:t>
            </a:r>
          </a:p>
          <a:p xmlns:a="http://schemas.openxmlformats.org/drawingml/2006/main">
            <a:r>
              <a:t>    "narrative": [</a:t>
            </a:r>
          </a:p>
          <a:p xmlns:a="http://schemas.openxmlformats.org/drawingml/2006/main">
            <a:r>
              <a:t>      "철도 설비의 자동검측 자료를 유지보수 검토에 활용하는 사례. 검측 데이터 확보, AI 이상 분석, 현장 정비 판단은 서로 다른 기능·사업 범위.",</a:t>
            </a:r>
          </a:p>
          <a:p xmlns:a="http://schemas.openxmlformats.org/drawingml/2006/main">
            <a:r>
              <a:t>      "노선·설비 ID·검측구간을 기준으로 관측값과 과거 정비 이력을 결합하고 이상 후보를 점검자에게 제공하는 재구성. 현장 확인과 조치 후 재검측을 연결해 후보의 유효성을 확인.",</a:t>
            </a:r>
          </a:p>
          <a:p xmlns:a="http://schemas.openxmlformats.org/drawingml/2006/main">
            <a:r>
              <a:t>      "TS 철도 안전 업무에서는 기존 자동검측 장비와 추가 분석 모델을 분리해 재사용 범위를 산정할 필요. 실제 결함 정답, 설비별 탐지 편차, 정비 조치·재점검 증빙을 검수에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"자동검측 접점",</a:t>
            </a:r>
          </a:p>
          <a:p xmlns:a="http://schemas.openxmlformats.org/drawingml/2006/main">
            <a:r>
              <a:t>          "layer": "이용 접점",</a:t>
            </a:r>
          </a:p>
          <a:p xmlns:a="http://schemas.openxmlformats.org/drawingml/2006/main">
            <a:r>
              <a:t>          "detail": "검측·시설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"노선·설비 ID",</a:t>
            </a:r>
          </a:p>
          <a:p xmlns:a="http://schemas.openxmlformats.org/drawingml/2006/main">
            <a:r>
              <a:t>          "layer": "업무 문맥",</a:t>
            </a:r>
          </a:p>
          <a:p xmlns:a="http://schemas.openxmlformats.org/drawingml/2006/main">
            <a:r>
              <a:t>          "detail": "노선·설비 ID·검측구간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"검측·정비 조회",</a:t>
            </a:r>
          </a:p>
          <a:p xmlns:a="http://schemas.openxmlformats.org/drawingml/2006/main">
            <a:r>
              <a:t>          "layer": "자료 조회",</a:t>
            </a:r>
          </a:p>
          <a:p xmlns:a="http://schemas.openxmlformats.org/drawingml/2006/main">
            <a:r>
              <a:t>          "detail": "검측값·영상",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후보 분석",</a:t>
            </a:r>
          </a:p>
          <a:p xmlns:a="http://schemas.openxmlformats.org/drawingml/2006/main">
            <a:r>
              <a:t>          "layer": "핵심 처리",</a:t>
            </a:r>
          </a:p>
          <a:p xmlns:a="http://schemas.openxmlformats.org/drawingml/2006/main">
            <a:r>
              <a:t>          "detail": "검측 수치의 이상 후보와 추세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"결함 기준 대조",</a:t>
            </a:r>
          </a:p>
          <a:p xmlns:a="http://schemas.openxmlformats.org/drawingml/2006/main">
            <a:r>
              <a:t>          "layer": "결과 검증",</a:t>
            </a:r>
          </a:p>
          <a:p xmlns:a="http://schemas.openxmlformats.org/drawingml/2006/main">
            <a:r>
              <a:t>          "detail": "실제 결함과 검측 후보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"점검 담당 확인",</a:t>
            </a:r>
          </a:p>
          <a:p xmlns:a="http://schemas.openxmlformats.org/drawingml/2006/main">
            <a:r>
              <a:t>          "layer": "사람 확인",</a:t>
            </a:r>
          </a:p>
          <a:p xmlns:a="http://schemas.openxmlformats.org/drawingml/2006/main">
            <a:r>
              <a:t>          "detail": "검측 이상을 설비대장에 연결하고 점검 대상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"정비계획 반영",</a:t>
            </a:r>
          </a:p>
          <a:p xmlns:a="http://schemas.openxmlformats.org/drawingml/2006/main">
            <a:r>
              <a:t>          "layer": "업무 연결",</a:t>
            </a:r>
          </a:p>
          <a:p xmlns:a="http://schemas.openxmlformats.org/drawingml/2006/main">
            <a:r>
              <a:t>          "detail": "점검 담당자의 확인 후 정비계획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후 재검측",</a:t>
            </a:r>
          </a:p>
          <a:p xmlns:a="http://schemas.openxmlformats.org/drawingml/2006/main">
            <a:r>
              <a:t>          "layer": "운영 관측",</a:t>
            </a:r>
          </a:p>
          <a:p xmlns:a="http://schemas.openxmlformats.org/drawingml/2006/main">
            <a:r>
              <a:t>          "detail": "현장 확인값과 조치 후 재검측 결과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"설비·검측 자료",</a:t>
            </a:r>
          </a:p>
          <a:p xmlns:a="http://schemas.openxmlformats.org/drawingml/2006/main">
            <a:r>
              <a:t>          "layer": "데이터 원천",</a:t>
            </a:r>
          </a:p>
          <a:p xmlns:a="http://schemas.openxmlformats.org/drawingml/2006/main">
            <a:r>
              <a:t>          "detail": "검측·정비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"위치·단위 정합화",</a:t>
            </a:r>
          </a:p>
          <a:p xmlns:a="http://schemas.openxmlformats.org/drawingml/2006/main">
            <a:r>
              <a:t>          "layer": "준비·갱신",</a:t>
            </a:r>
          </a:p>
          <a:p xmlns:a="http://schemas.openxmlformats.org/drawingml/2006/main">
            <a:r>
              <a:t>          "detail": "검측값·설비대장·과거 정비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"결함·정비 이력",</a:t>
            </a:r>
          </a:p>
          <a:p xmlns:a="http://schemas.openxmlformats.org/drawingml/2006/main">
            <a:r>
              <a:t>          "layer": "상태·지식 저장",</a:t>
            </a:r>
          </a:p>
          <a:p xmlns:a="http://schemas.openxmlformats.org/drawingml/2006/main">
            <a:r>
              <a:t>          "detail": "검측 원천·설비·현장 판정·재검측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"점검·판정 기준",</a:t>
            </a:r>
          </a:p>
          <a:p xmlns:a="http://schemas.openxmlformats.org/drawingml/2006/main">
            <a:r>
              <a:t>          "layer": "권한·정책",</a:t>
            </a:r>
          </a:p>
          <a:p xmlns:a="http://schemas.openxmlformats.org/drawingml/2006/main">
            <a:r>
              <a:t>          "detail": "설비 ID 불일치·센서 튐·정비 후 상태 미갱신",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"검측·영상 수집 → 이상 후보 추출 → 전문가 확인 → 정비·검사 이력"</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"검측·정비 기록",</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"전문가 확인",</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"점검·판정 기준",</a:t>
            </a:r>
          </a:p>
          <a:p xmlns:a="http://schemas.openxmlformats.org/drawingml/2006/main">
            <a:r>
              <a:t>          "check": "실제 결함과 검측 후보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"정비 기록",</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확인값과 조치 후 재검측 결과 비교",</a:t>
            </a:r>
          </a:p>
          <a:p xmlns:a="http://schemas.openxmlformats.org/drawingml/2006/main">
            <a:r>
              <a:t>          "check": "현장 확인값과 조치 후 재검측 결과 비교"</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"철도 설비 자동검측과 유지보수 우선순위 지원 / 설비 관측·이상 탐지·정비 확인",</a:t>
            </a:r>
          </a:p>
          <a:p xmlns:a="http://schemas.openxmlformats.org/drawingml/2006/main">
            <a:r>
              <a:t>        "extension": "TS 철도 안전 점검의 설비·검사·조치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"설비 ID 불일치·센서 튐·정비 후 상태 미갱신",</a:t>
            </a:r>
          </a:p>
          <a:p xmlns:a="http://schemas.openxmlformats.org/drawingml/2006/main">
            <a:r>
              <a:t>        "hold": "실제 결함과 검측 후보 대사",</a:t>
            </a:r>
          </a:p>
          <a:p xmlns:a="http://schemas.openxmlformats.org/drawingml/2006/main">
            <a:r>
              <a:t>        "recovery": "현장 확인값과 조치 후 재검측 결과 비교",</a:t>
            </a:r>
          </a:p>
          <a:p xmlns:a="http://schemas.openxmlformats.org/drawingml/2006/main">
            <a:r>
              <a:t>        "evidence": "검측 원천·설비·현장 판정·재검측 연결표"</a:t>
            </a:r>
          </a:p>
          <a:p xmlns:a="http://schemas.openxmlformats.org/drawingml/2006/main">
            <a:r>
              <a:t>      },</a:t>
            </a:r>
          </a:p>
          <a:p xmlns:a="http://schemas.openxmlformats.org/drawingml/2006/main">
            <a:r>
              <a:t>      "data": {</a:t>
            </a:r>
          </a:p>
          <a:p xmlns:a="http://schemas.openxmlformats.org/drawingml/2006/main">
            <a:r>
              <a:t>        "source": "검측·정비 기록",</a:t>
            </a:r>
          </a:p>
          <a:p xmlns:a="http://schemas.openxmlformats.org/drawingml/2006/main">
            <a:r>
              <a:t>        "prepare": "검측값·설비대장·과거 정비 이력 연결",</a:t>
            </a:r>
          </a:p>
          <a:p xmlns:a="http://schemas.openxmlformats.org/drawingml/2006/main">
            <a:r>
              <a:t>        "output": "검측값·영상",</a:t>
            </a:r>
          </a:p>
          <a:p xmlns:a="http://schemas.openxmlformats.org/drawingml/2006/main">
            <a:r>
              <a:t>        "refresh": "현장 확인값과 조치 후 재검측 결과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"AX17",</a:t>
            </a:r>
          </a:p>
          <a:p xmlns:a="http://schemas.openxmlformats.org/drawingml/2006/main">
            <a:r>
              <a:t>    "success": [</a:t>
            </a:r>
          </a:p>
          <a:p xmlns:a="http://schemas.openxmlformats.org/drawingml/2006/main">
            <a:r>
              <a:t>      "자동검측 자료의 지속 확보",</a:t>
            </a:r>
          </a:p>
          <a:p xmlns:a="http://schemas.openxmlformats.org/drawingml/2006/main">
            <a:r>
              <a:t>      "이상 후보와 정비 이력 연결"</a:t>
            </a:r>
          </a:p>
          <a:p xmlns:a="http://schemas.openxmlformats.org/drawingml/2006/main">
            <a:r>
              <a:t>    ],</a:t>
            </a:r>
          </a:p>
          <a:p xmlns:a="http://schemas.openxmlformats.org/drawingml/2006/main">
            <a:r>
              <a:t>    "risks": [</a:t>
            </a:r>
          </a:p>
          <a:p xmlns:a="http://schemas.openxmlformats.org/drawingml/2006/main">
            <a:r>
              <a:t>      "자동검측과 AI 개발 범위 혼동",</a:t>
            </a:r>
          </a:p>
          <a:p xmlns:a="http://schemas.openxmlformats.org/drawingml/2006/main">
            <a:r>
              <a:t>      "설비·노선별 탐지 편차"</a:t>
            </a:r>
          </a:p>
          <a:p xmlns:a="http://schemas.openxmlformats.org/drawingml/2006/main">
            <a:r>
              <a:t>    ],</a:t>
            </a:r>
          </a:p>
          <a:p xmlns:a="http://schemas.openxmlformats.org/drawingml/2006/main">
            <a:r>
              <a:t>    "architecture": [</a:t>
            </a:r>
          </a:p>
          <a:p xmlns:a="http://schemas.openxmlformats.org/drawingml/2006/main">
            <a:r>
              <a:t>      "검측 장비",</a:t>
            </a:r>
          </a:p>
          <a:p xmlns:a="http://schemas.openxmlformats.org/drawingml/2006/main">
            <a:r>
              <a:t>      "이상 후보 분석",</a:t>
            </a:r>
          </a:p>
          <a:p xmlns:a="http://schemas.openxmlformats.org/drawingml/2006/main">
            <a:r>
              <a:t>      "검측·정비 기록",</a:t>
            </a:r>
          </a:p>
          <a:p xmlns:a="http://schemas.openxmlformats.org/drawingml/2006/main">
            <a:r>
              <a:t>      "철도 정비 담당"</a:t>
            </a:r>
          </a:p>
          <a:p xmlns:a="http://schemas.openxmlformats.org/drawingml/2006/main">
            <a:r>
              <a:t>    ],</a:t>
            </a:r>
          </a:p>
          <a:p xmlns:a="http://schemas.openxmlformats.org/drawingml/2006/main">
            <a:r>
              <a:t>    "transfers": [</a:t>
            </a:r>
          </a:p>
          <a:p xmlns:a="http://schemas.openxmlformats.org/drawingml/2006/main">
            <a:r>
              <a:t>      "검측값·영상",</a:t>
            </a:r>
          </a:p>
          <a:p xmlns:a="http://schemas.openxmlformats.org/drawingml/2006/main">
            <a:r>
              <a:t>      "결함 후보",</a:t>
            </a:r>
          </a:p>
          <a:p xmlns:a="http://schemas.openxmlformats.org/drawingml/2006/main">
            <a:r>
              <a:t>      "전문가 확인",</a:t>
            </a:r>
          </a:p>
          <a:p xmlns:a="http://schemas.openxmlformats.org/drawingml/2006/main">
            <a:r>
              <a:t>      "정비 기록"</a:t>
            </a:r>
          </a:p>
          <a:p xmlns:a="http://schemas.openxmlformats.org/drawingml/2006/main">
            <a:r>
              <a:t>    ],</a:t>
            </a:r>
          </a:p>
          <a:p xmlns:a="http://schemas.openxmlformats.org/drawingml/2006/main">
            <a:r>
              <a:t>    "control": "실제 결함과 검측 후보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코레일 자동검측·AI 확대 · 코레일 / 2025-08-17 https://info.korail.com/info/selectBbsNttView.do?bbsNo=199&amp;key=911&amp;nttNo=25238</a:t>
            </a:r>
          </a:p>
          <a:p xmlns:a="http://schemas.openxmlformats.org/drawingml/2006/main">
            <a:r>
              <a:t>홈페이지 https://heen1987-ops.github.io/TS-business-Plan-001/index.html?view=casebook&amp;case=AX17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"AX17",</a:t>
            </a:r>
          </a:p>
          <a:p xmlns:a="http://schemas.openxmlformats.org/drawingml/2006/main">
            <a:r>
              <a:t>    "title": "코레일 자동검측·AI 확대",</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"철도 설비 자동점검",</a:t>
            </a:r>
          </a:p>
          <a:p xmlns:a="http://schemas.openxmlformats.org/drawingml/2006/main">
            <a:r>
              <a:t>    "period": "2025 운영·고도화 계획",</a:t>
            </a:r>
          </a:p>
          <a:p xmlns:a="http://schemas.openxmlformats.org/drawingml/2006/main">
            <a:r>
              <a:t>    "sources": [</a:t>
            </a:r>
          </a:p>
          <a:p xmlns:a="http://schemas.openxmlformats.org/drawingml/2006/main">
            <a:r>
              <a:t>      "S-AX17"</a:t>
            </a:r>
          </a:p>
          <a:p xmlns:a="http://schemas.openxmlformats.org/drawingml/2006/main">
            <a:r>
              <a:t>    ],</a:t>
            </a:r>
          </a:p>
          <a:p xmlns:a="http://schemas.openxmlformats.org/drawingml/2006/main">
            <a:r>
              <a:t>    "keywords": [</a:t>
            </a:r>
          </a:p>
          <a:p xmlns:a="http://schemas.openxmlformats.org/drawingml/2006/main">
            <a:r>
              <a:t>      "철도 설비 자동점검"</a:t>
            </a:r>
          </a:p>
          <a:p xmlns:a="http://schemas.openxmlformats.org/drawingml/2006/main">
            <a:r>
              <a:t>    ],</a:t>
            </a:r>
          </a:p>
          <a:p xmlns:a="http://schemas.openxmlformats.org/drawingml/2006/main">
            <a:r>
              <a:t>    "fact": "자동검측 운영을 통한 설비 이상 탐지와 AI 분석 고도화 방향 공개",</a:t>
            </a:r>
          </a:p>
          <a:p xmlns:a="http://schemas.openxmlformats.org/drawingml/2006/main">
            <a:r>
              <a:t>    "limit": "현재 검측 기능과 향후 AI 확대 구분 · 안전 감소 효과의 인과 검증 별도",</a:t>
            </a:r>
          </a:p>
          <a:p xmlns:a="http://schemas.openxmlformats.org/drawingml/2006/main">
            <a:r>
              <a:t>    "flow": [</a:t>
            </a:r>
          </a:p>
          <a:p xmlns:a="http://schemas.openxmlformats.org/drawingml/2006/main">
            <a:r>
              <a:t>      "검측·영상 수집",</a:t>
            </a:r>
          </a:p>
          <a:p xmlns:a="http://schemas.openxmlformats.org/drawingml/2006/main">
            <a:r>
              <a:t>      "이상 후보 추출",</a:t>
            </a:r>
          </a:p>
          <a:p xmlns:a="http://schemas.openxmlformats.org/drawingml/2006/main">
            <a:r>
              <a:t>      "전문가 확인",</a:t>
            </a:r>
          </a:p>
          <a:p xmlns:a="http://schemas.openxmlformats.org/drawingml/2006/main">
            <a:r>
              <a:t>      "정비·검사 이력"</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"원천 검측과 판정 근거의 일관된 인계",</a:t>
            </a:r>
          </a:p>
          <a:p xmlns:a="http://schemas.openxmlformats.org/drawingml/2006/main">
            <a:r>
              <a:t>    "local": "TS 철도 안전 점검의 설비·검사·조치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 ID·판정 기준·검사 시점 대사",</a:t>
            </a:r>
          </a:p>
          <a:p xmlns:a="http://schemas.openxmlformats.org/drawingml/2006/main">
            <a:r>
              <a:t>    "test": "정상·이상·판정 변경 및 미조치 자료 재현",</a:t>
            </a:r>
          </a:p>
          <a:p xmlns:a="http://schemas.openxmlformats.org/drawingml/2006/main">
            <a:r>
              <a:t>    "metric": "검사 검토시간 / 증거 누락률",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"AX17",</a:t>
            </a:r>
          </a:p>
          <a:p xmlns:a="http://schemas.openxmlformats.org/drawingml/2006/main">
            <a:r>
              <a:t>    "canonicalId": "AX17",</a:t>
            </a:r>
          </a:p>
          <a:p xmlns:a="http://schemas.openxmlformats.org/drawingml/2006/main">
            <a:r>
              <a:t>    "purpose": "철도 설비 자동검측과 유지보수 우선순위 지원",</a:t>
            </a:r>
          </a:p>
          <a:p xmlns:a="http://schemas.openxmlformats.org/drawingml/2006/main">
            <a:r>
              <a:t>    "users": "검측·시설 유지보수 담당",</a:t>
            </a:r>
          </a:p>
          <a:p xmlns:a="http://schemas.openxmlformats.org/drawingml/2006/main">
            <a:r>
              <a:t>    "scope": [</a:t>
            </a:r>
          </a:p>
          <a:p xmlns:a="http://schemas.openxmlformats.org/drawingml/2006/main">
            <a:r>
              <a:t>      "설비 관측",</a:t>
            </a:r>
          </a:p>
          <a:p xmlns:a="http://schemas.openxmlformats.org/drawingml/2006/main">
            <a:r>
              <a:t>      "이상 탐지",</a:t>
            </a:r>
          </a:p>
          <a:p xmlns:a="http://schemas.openxmlformats.org/drawingml/2006/main">
            <a:r>
              <a:t>      "정비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"검측 장비",</a:t>
            </a:r>
          </a:p>
          <a:p xmlns:a="http://schemas.openxmlformats.org/drawingml/2006/main">
            <a:r>
              <a:t>        "detail": "노선·설비 ID·검측구간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"설비 관측 / 이상 탐지 / 정비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"이상 후보 분석",</a:t>
            </a:r>
          </a:p>
          <a:p xmlns:a="http://schemas.openxmlformats.org/drawingml/2006/main">
            <a:r>
              <a:t>        "detail": "검측 수치의 이상 후보와 추세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"철도 정비 담당",</a:t>
            </a:r>
          </a:p>
          <a:p xmlns:a="http://schemas.openxmlformats.org/drawingml/2006/main">
            <a:r>
              <a:t>        "detail": "점검 담당자의 확인 후 정비계획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"검측·정비 기록",</a:t>
            </a:r>
          </a:p>
          <a:p xmlns:a="http://schemas.openxmlformats.org/drawingml/2006/main">
            <a:r>
              <a:t>        "detail": "검측값·설비대장·과거 정비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확인값과 조치 후 재검측 결과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"검측·영상 수집",</a:t>
            </a:r>
          </a:p>
          <a:p xmlns:a="http://schemas.openxmlformats.org/drawingml/2006/main">
            <a:r>
              <a:t>        "input": "노선·설비 ID·검측구간 식별",</a:t>
            </a:r>
          </a:p>
          <a:p xmlns:a="http://schemas.openxmlformats.org/drawingml/2006/main">
            <a:r>
              <a:t>        "process": "검측값·설비대장·과거 정비 이력 연결",</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"title": "이상 후보 추출",</a:t>
            </a:r>
          </a:p>
          <a:p xmlns:a="http://schemas.openxmlformats.org/drawingml/2006/main">
            <a:r>
              <a:t>        "input": "검측값·영상",</a:t>
            </a:r>
          </a:p>
          <a:p xmlns:a="http://schemas.openxmlformats.org/drawingml/2006/main">
            <a:r>
              <a:t>        "process": "검측 수치의 이상 후보와 추세 분석",</a:t>
            </a:r>
          </a:p>
          <a:p xmlns:a="http://schemas.openxmlformats.org/drawingml/2006/main">
            <a:r>
              <a:t>        "output": "결함 후보"</a:t>
            </a:r>
          </a:p>
          <a:p xmlns:a="http://schemas.openxmlformats.org/drawingml/2006/main">
            <a:r>
              <a:t>      },</a:t>
            </a:r>
          </a:p>
          <a:p xmlns:a="http://schemas.openxmlformats.org/drawingml/2006/main">
            <a:r>
              <a:t>      {</a:t>
            </a:r>
          </a:p>
          <a:p xmlns:a="http://schemas.openxmlformats.org/drawingml/2006/main">
            <a:r>
              <a:t>        "title": "전문가 확인",</a:t>
            </a:r>
          </a:p>
          <a:p xmlns:a="http://schemas.openxmlformats.org/drawingml/2006/main">
            <a:r>
              <a:t>        "input": "결함 후보",</a:t>
            </a:r>
          </a:p>
          <a:p xmlns:a="http://schemas.openxmlformats.org/drawingml/2006/main">
            <a:r>
              <a:t>        "process": "실제 결함과 검측 후보 대사",</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"title": "정비·검사 이력",</a:t>
            </a:r>
          </a:p>
          <a:p xmlns:a="http://schemas.openxmlformats.org/drawingml/2006/main">
            <a:r>
              <a:t>        "input": "전문가 확인",</a:t>
            </a:r>
          </a:p>
          <a:p xmlns:a="http://schemas.openxmlformats.org/drawingml/2006/main">
            <a:r>
              <a:t>        "process":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"검측 이상을 설비대장에 연결하고 점검 대상 선정",</a:t>
            </a:r>
          </a:p>
          <a:p xmlns:a="http://schemas.openxmlformats.org/drawingml/2006/main">
            <a:r>
              <a:t>      "exception": "설비 ID 불일치·센서 튐·정비 후 상태 미갱신",</a:t>
            </a:r>
          </a:p>
          <a:p xmlns:a="http://schemas.openxmlformats.org/drawingml/2006/main">
            <a:r>
              <a:t>      "evidence": "검측 원천·설비·현장 판정·재검측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"검측·시설 유지보수 담당",</a:t>
            </a:r>
          </a:p>
          <a:p xmlns:a="http://schemas.openxmlformats.org/drawingml/2006/main">
            <a:r>
              <a:t>          "processing": "노선·설비 ID·검측구간 식별",</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"검측·정비 기록",</a:t>
            </a:r>
          </a:p>
          <a:p xmlns:a="http://schemas.openxmlformats.org/drawingml/2006/main">
            <a:r>
              <a:t>          "processing": "검측값·설비대장·과거 정비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"검측값·영상",</a:t>
            </a:r>
          </a:p>
          <a:p xmlns:a="http://schemas.openxmlformats.org/drawingml/2006/main">
            <a:r>
              <a:t>          "processing": "검측 수치의 이상 후보와 추세 분석",</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"전문가 확인",</a:t>
            </a:r>
          </a:p>
          <a:p xmlns:a="http://schemas.openxmlformats.org/drawingml/2006/main">
            <a:r>
              <a:t>          "processing":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확인값과 조치 후 재검측 결과 비교",</a:t>
            </a:r>
          </a:p>
          <a:p xmlns:a="http://schemas.openxmlformats.org/drawingml/2006/main">
            <a:r>
              <a:t>          "output": "검측 원천·설비·현장 판정·재검측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확인값과 조치 후 재검측 결과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"S-AX17",</a:t>
            </a:r>
          </a:p>
          <a:p xmlns:a="http://schemas.openxmlformats.org/drawingml/2006/main">
            <a:r>
              <a:t>        "title": "코레일 자동검측·AI 확대 · 코레일 / 2025-08-17",</a:t>
            </a:r>
          </a:p>
          <a:p xmlns:a="http://schemas.openxmlformats.org/drawingml/2006/main">
            <a:r>
              <a:t>        "url": "https://info.korail.com/info/selectBbsNttView.do?bbsNo=199&amp;key=911&amp;nttNo=25238",</a:t>
            </a:r>
          </a:p>
          <a:p xmlns:a="http://schemas.openxmlformats.org/drawingml/2006/main">
            <a:r>
              <a:t>        "published": "2025 운영·고도화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"원천 검측과 판정 근거의 일관된 인계",</a:t>
            </a:r>
          </a:p>
          <a:p xmlns:a="http://schemas.openxmlformats.org/drawingml/2006/main">
            <a:r>
              <a:t>    "local": "TS 철도 안전 점검의 설비·검사·조치 증거 연결",</a:t>
            </a:r>
          </a:p>
          <a:p xmlns:a="http://schemas.openxmlformats.org/drawingml/2006/main">
            <a:r>
              <a:t>    "sourceDetail": null,</a:t>
            </a:r>
          </a:p>
          <a:p xmlns:a="http://schemas.openxmlformats.org/drawingml/2006/main">
            <a:r>
              <a:t>    "narrative": [</a:t>
            </a:r>
          </a:p>
          <a:p xmlns:a="http://schemas.openxmlformats.org/drawingml/2006/main">
            <a:r>
              <a:t>      "철도 설비의 자동검측 자료를 유지보수 검토에 활용하는 사례. 검측 데이터 확보, AI 이상 분석, 현장 정비 판단은 서로 다른 기능·사업 범위.",</a:t>
            </a:r>
          </a:p>
          <a:p xmlns:a="http://schemas.openxmlformats.org/drawingml/2006/main">
            <a:r>
              <a:t>      "노선·설비 ID·검측구간을 기준으로 관측값과 과거 정비 이력을 결합하고 이상 후보를 점검자에게 제공하는 재구성. 현장 확인과 조치 후 재검측을 연결해 후보의 유효성을 확인.",</a:t>
            </a:r>
          </a:p>
          <a:p xmlns:a="http://schemas.openxmlformats.org/drawingml/2006/main">
            <a:r>
              <a:t>      "TS 철도 안전 업무에서는 기존 자동검측 장비와 추가 분석 모델을 분리해 재사용 범위를 산정할 필요. 실제 결함 정답, 설비별 탐지 편차, 정비 조치·재점검 증빙을 검수에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"자동검측 접점",</a:t>
            </a:r>
          </a:p>
          <a:p xmlns:a="http://schemas.openxmlformats.org/drawingml/2006/main">
            <a:r>
              <a:t>          "layer": "이용 접점",</a:t>
            </a:r>
          </a:p>
          <a:p xmlns:a="http://schemas.openxmlformats.org/drawingml/2006/main">
            <a:r>
              <a:t>          "detail": "검측·시설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"노선·설비 ID",</a:t>
            </a:r>
          </a:p>
          <a:p xmlns:a="http://schemas.openxmlformats.org/drawingml/2006/main">
            <a:r>
              <a:t>          "layer": "업무 문맥",</a:t>
            </a:r>
          </a:p>
          <a:p xmlns:a="http://schemas.openxmlformats.org/drawingml/2006/main">
            <a:r>
              <a:t>          "detail": "노선·설비 ID·검측구간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"검측·정비 조회",</a:t>
            </a:r>
          </a:p>
          <a:p xmlns:a="http://schemas.openxmlformats.org/drawingml/2006/main">
            <a:r>
              <a:t>          "layer": "자료 조회",</a:t>
            </a:r>
          </a:p>
          <a:p xmlns:a="http://schemas.openxmlformats.org/drawingml/2006/main">
            <a:r>
              <a:t>          "detail": "검측값·영상",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후보 분석",</a:t>
            </a:r>
          </a:p>
          <a:p xmlns:a="http://schemas.openxmlformats.org/drawingml/2006/main">
            <a:r>
              <a:t>          "layer": "핵심 처리",</a:t>
            </a:r>
          </a:p>
          <a:p xmlns:a="http://schemas.openxmlformats.org/drawingml/2006/main">
            <a:r>
              <a:t>          "detail": "검측 수치의 이상 후보와 추세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"결함 기준 대조",</a:t>
            </a:r>
          </a:p>
          <a:p xmlns:a="http://schemas.openxmlformats.org/drawingml/2006/main">
            <a:r>
              <a:t>          "layer": "결과 검증",</a:t>
            </a:r>
          </a:p>
          <a:p xmlns:a="http://schemas.openxmlformats.org/drawingml/2006/main">
            <a:r>
              <a:t>          "detail": "실제 결함과 검측 후보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"점검 담당 확인",</a:t>
            </a:r>
          </a:p>
          <a:p xmlns:a="http://schemas.openxmlformats.org/drawingml/2006/main">
            <a:r>
              <a:t>          "layer": "사람 확인",</a:t>
            </a:r>
          </a:p>
          <a:p xmlns:a="http://schemas.openxmlformats.org/drawingml/2006/main">
            <a:r>
              <a:t>          "detail": "검측 이상을 설비대장에 연결하고 점검 대상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"정비계획 반영",</a:t>
            </a:r>
          </a:p>
          <a:p xmlns:a="http://schemas.openxmlformats.org/drawingml/2006/main">
            <a:r>
              <a:t>          "layer": "업무 연결",</a:t>
            </a:r>
          </a:p>
          <a:p xmlns:a="http://schemas.openxmlformats.org/drawingml/2006/main">
            <a:r>
              <a:t>          "detail": "점검 담당자의 확인 후 정비계획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후 재검측",</a:t>
            </a:r>
          </a:p>
          <a:p xmlns:a="http://schemas.openxmlformats.org/drawingml/2006/main">
            <a:r>
              <a:t>          "layer": "운영 관측",</a:t>
            </a:r>
          </a:p>
          <a:p xmlns:a="http://schemas.openxmlformats.org/drawingml/2006/main">
            <a:r>
              <a:t>          "detail": "현장 확인값과 조치 후 재검측 결과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"설비·검측 자료",</a:t>
            </a:r>
          </a:p>
          <a:p xmlns:a="http://schemas.openxmlformats.org/drawingml/2006/main">
            <a:r>
              <a:t>          "layer": "데이터 원천",</a:t>
            </a:r>
          </a:p>
          <a:p xmlns:a="http://schemas.openxmlformats.org/drawingml/2006/main">
            <a:r>
              <a:t>          "detail": "검측·정비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"위치·단위 정합화",</a:t>
            </a:r>
          </a:p>
          <a:p xmlns:a="http://schemas.openxmlformats.org/drawingml/2006/main">
            <a:r>
              <a:t>          "layer": "준비·갱신",</a:t>
            </a:r>
          </a:p>
          <a:p xmlns:a="http://schemas.openxmlformats.org/drawingml/2006/main">
            <a:r>
              <a:t>          "detail": "검측값·설비대장·과거 정비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"결함·정비 이력",</a:t>
            </a:r>
          </a:p>
          <a:p xmlns:a="http://schemas.openxmlformats.org/drawingml/2006/main">
            <a:r>
              <a:t>          "layer": "상태·지식 저장",</a:t>
            </a:r>
          </a:p>
          <a:p xmlns:a="http://schemas.openxmlformats.org/drawingml/2006/main">
            <a:r>
              <a:t>          "detail": "검측 원천·설비·현장 판정·재검측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"점검·판정 기준",</a:t>
            </a:r>
          </a:p>
          <a:p xmlns:a="http://schemas.openxmlformats.org/drawingml/2006/main">
            <a:r>
              <a:t>          "layer": "권한·정책",</a:t>
            </a:r>
          </a:p>
          <a:p xmlns:a="http://schemas.openxmlformats.org/drawingml/2006/main">
            <a:r>
              <a:t>          "detail": "설비 ID 불일치·센서 튐·정비 후 상태 미갱신",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"검측·영상 수집 → 이상 후보 추출 → 전문가 확인 → 정비·검사 이력"</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"검측·정비 기록",</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"전문가 확인",</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"점검·판정 기준",</a:t>
            </a:r>
          </a:p>
          <a:p xmlns:a="http://schemas.openxmlformats.org/drawingml/2006/main">
            <a:r>
              <a:t>          "check": "실제 결함과 검측 후보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"정비 기록",</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확인값과 조치 후 재검측 결과 비교",</a:t>
            </a:r>
          </a:p>
          <a:p xmlns:a="http://schemas.openxmlformats.org/drawingml/2006/main">
            <a:r>
              <a:t>          "check": "현장 확인값과 조치 후 재검측 결과 비교"</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"철도 설비 자동검측과 유지보수 우선순위 지원 / 설비 관측·이상 탐지·정비 확인",</a:t>
            </a:r>
          </a:p>
          <a:p xmlns:a="http://schemas.openxmlformats.org/drawingml/2006/main">
            <a:r>
              <a:t>        "extension": "TS 철도 안전 점검의 설비·검사·조치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"설비 ID 불일치·센서 튐·정비 후 상태 미갱신",</a:t>
            </a:r>
          </a:p>
          <a:p xmlns:a="http://schemas.openxmlformats.org/drawingml/2006/main">
            <a:r>
              <a:t>        "hold": "실제 결함과 검측 후보 대사",</a:t>
            </a:r>
          </a:p>
          <a:p xmlns:a="http://schemas.openxmlformats.org/drawingml/2006/main">
            <a:r>
              <a:t>        "recovery": "현장 확인값과 조치 후 재검측 결과 비교",</a:t>
            </a:r>
          </a:p>
          <a:p xmlns:a="http://schemas.openxmlformats.org/drawingml/2006/main">
            <a:r>
              <a:t>        "evidence": "검측 원천·설비·현장 판정·재검측 연결표"</a:t>
            </a:r>
          </a:p>
          <a:p xmlns:a="http://schemas.openxmlformats.org/drawingml/2006/main">
            <a:r>
              <a:t>      },</a:t>
            </a:r>
          </a:p>
          <a:p xmlns:a="http://schemas.openxmlformats.org/drawingml/2006/main">
            <a:r>
              <a:t>      "data": {</a:t>
            </a:r>
          </a:p>
          <a:p xmlns:a="http://schemas.openxmlformats.org/drawingml/2006/main">
            <a:r>
              <a:t>        "source": "검측·정비 기록",</a:t>
            </a:r>
          </a:p>
          <a:p xmlns:a="http://schemas.openxmlformats.org/drawingml/2006/main">
            <a:r>
              <a:t>        "prepare": "검측값·설비대장·과거 정비 이력 연결",</a:t>
            </a:r>
          </a:p>
          <a:p xmlns:a="http://schemas.openxmlformats.org/drawingml/2006/main">
            <a:r>
              <a:t>        "output": "검측값·영상",</a:t>
            </a:r>
          </a:p>
          <a:p xmlns:a="http://schemas.openxmlformats.org/drawingml/2006/main">
            <a:r>
              <a:t>        "refresh": "현장 확인값과 조치 후 재검측 결과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"AX17",</a:t>
            </a:r>
          </a:p>
          <a:p xmlns:a="http://schemas.openxmlformats.org/drawingml/2006/main">
            <a:r>
              <a:t>    "success": [</a:t>
            </a:r>
          </a:p>
          <a:p xmlns:a="http://schemas.openxmlformats.org/drawingml/2006/main">
            <a:r>
              <a:t>      "자동검측 자료의 지속 확보",</a:t>
            </a:r>
          </a:p>
          <a:p xmlns:a="http://schemas.openxmlformats.org/drawingml/2006/main">
            <a:r>
              <a:t>      "이상 후보와 정비 이력 연결"</a:t>
            </a:r>
          </a:p>
          <a:p xmlns:a="http://schemas.openxmlformats.org/drawingml/2006/main">
            <a:r>
              <a:t>    ],</a:t>
            </a:r>
          </a:p>
          <a:p xmlns:a="http://schemas.openxmlformats.org/drawingml/2006/main">
            <a:r>
              <a:t>    "risks": [</a:t>
            </a:r>
          </a:p>
          <a:p xmlns:a="http://schemas.openxmlformats.org/drawingml/2006/main">
            <a:r>
              <a:t>      "자동검측과 AI 개발 범위 혼동",</a:t>
            </a:r>
          </a:p>
          <a:p xmlns:a="http://schemas.openxmlformats.org/drawingml/2006/main">
            <a:r>
              <a:t>      "설비·노선별 탐지 편차"</a:t>
            </a:r>
          </a:p>
          <a:p xmlns:a="http://schemas.openxmlformats.org/drawingml/2006/main">
            <a:r>
              <a:t>    ],</a:t>
            </a:r>
          </a:p>
          <a:p xmlns:a="http://schemas.openxmlformats.org/drawingml/2006/main">
            <a:r>
              <a:t>    "architecture": [</a:t>
            </a:r>
          </a:p>
          <a:p xmlns:a="http://schemas.openxmlformats.org/drawingml/2006/main">
            <a:r>
              <a:t>      "검측 장비",</a:t>
            </a:r>
          </a:p>
          <a:p xmlns:a="http://schemas.openxmlformats.org/drawingml/2006/main">
            <a:r>
              <a:t>      "이상 후보 분석",</a:t>
            </a:r>
          </a:p>
          <a:p xmlns:a="http://schemas.openxmlformats.org/drawingml/2006/main">
            <a:r>
              <a:t>      "검측·정비 기록",</a:t>
            </a:r>
          </a:p>
          <a:p xmlns:a="http://schemas.openxmlformats.org/drawingml/2006/main">
            <a:r>
              <a:t>      "철도 정비 담당"</a:t>
            </a:r>
          </a:p>
          <a:p xmlns:a="http://schemas.openxmlformats.org/drawingml/2006/main">
            <a:r>
              <a:t>    ],</a:t>
            </a:r>
          </a:p>
          <a:p xmlns:a="http://schemas.openxmlformats.org/drawingml/2006/main">
            <a:r>
              <a:t>    "transfers": [</a:t>
            </a:r>
          </a:p>
          <a:p xmlns:a="http://schemas.openxmlformats.org/drawingml/2006/main">
            <a:r>
              <a:t>      "검측값·영상",</a:t>
            </a:r>
          </a:p>
          <a:p xmlns:a="http://schemas.openxmlformats.org/drawingml/2006/main">
            <a:r>
              <a:t>      "결함 후보",</a:t>
            </a:r>
          </a:p>
          <a:p xmlns:a="http://schemas.openxmlformats.org/drawingml/2006/main">
            <a:r>
              <a:t>      "전문가 확인",</a:t>
            </a:r>
          </a:p>
          <a:p xmlns:a="http://schemas.openxmlformats.org/drawingml/2006/main">
            <a:r>
              <a:t>      "정비 기록"</a:t>
            </a:r>
          </a:p>
          <a:p xmlns:a="http://schemas.openxmlformats.org/drawingml/2006/main">
            <a:r>
              <a:t>    ],</a:t>
            </a:r>
          </a:p>
          <a:p xmlns:a="http://schemas.openxmlformats.org/drawingml/2006/main">
            <a:r>
              <a:t>    "control": "실제 결함과 검측 후보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코레일 자동검측·AI 확대 · 코레일 / 2025-08-17 https://info.korail.com/info/selectBbsNttView.do?bbsNo=199&amp;key=911&amp;nttNo=25238</a:t>
            </a:r>
          </a:p>
          <a:p xmlns:a="http://schemas.openxmlformats.org/drawingml/2006/main">
            <a:r>
              <a:t>홈페이지 https://heen1987-ops.github.io/TS-business-Plan-001/index.html?view=casebook&amp;case=AX17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"AX17",</a:t>
            </a:r>
          </a:p>
          <a:p xmlns:a="http://schemas.openxmlformats.org/drawingml/2006/main">
            <a:r>
              <a:t>    "title": "코레일 자동검측·AI 확대",</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"철도 설비 자동점검",</a:t>
            </a:r>
          </a:p>
          <a:p xmlns:a="http://schemas.openxmlformats.org/drawingml/2006/main">
            <a:r>
              <a:t>    "period": "2025 운영·고도화 계획",</a:t>
            </a:r>
          </a:p>
          <a:p xmlns:a="http://schemas.openxmlformats.org/drawingml/2006/main">
            <a:r>
              <a:t>    "sources": [</a:t>
            </a:r>
          </a:p>
          <a:p xmlns:a="http://schemas.openxmlformats.org/drawingml/2006/main">
            <a:r>
              <a:t>      "S-AX17"</a:t>
            </a:r>
          </a:p>
          <a:p xmlns:a="http://schemas.openxmlformats.org/drawingml/2006/main">
            <a:r>
              <a:t>    ],</a:t>
            </a:r>
          </a:p>
          <a:p xmlns:a="http://schemas.openxmlformats.org/drawingml/2006/main">
            <a:r>
              <a:t>    "keywords": [</a:t>
            </a:r>
          </a:p>
          <a:p xmlns:a="http://schemas.openxmlformats.org/drawingml/2006/main">
            <a:r>
              <a:t>      "철도 설비 자동점검"</a:t>
            </a:r>
          </a:p>
          <a:p xmlns:a="http://schemas.openxmlformats.org/drawingml/2006/main">
            <a:r>
              <a:t>    ],</a:t>
            </a:r>
          </a:p>
          <a:p xmlns:a="http://schemas.openxmlformats.org/drawingml/2006/main">
            <a:r>
              <a:t>    "fact": "자동검측 운영을 통한 설비 이상 탐지와 AI 분석 고도화 방향 공개",</a:t>
            </a:r>
          </a:p>
          <a:p xmlns:a="http://schemas.openxmlformats.org/drawingml/2006/main">
            <a:r>
              <a:t>    "limit": "현재 검측 기능과 향후 AI 확대 구분 · 안전 감소 효과의 인과 검증 별도",</a:t>
            </a:r>
          </a:p>
          <a:p xmlns:a="http://schemas.openxmlformats.org/drawingml/2006/main">
            <a:r>
              <a:t>    "flow": [</a:t>
            </a:r>
          </a:p>
          <a:p xmlns:a="http://schemas.openxmlformats.org/drawingml/2006/main">
            <a:r>
              <a:t>      "검측·영상 수집",</a:t>
            </a:r>
          </a:p>
          <a:p xmlns:a="http://schemas.openxmlformats.org/drawingml/2006/main">
            <a:r>
              <a:t>      "이상 후보 추출",</a:t>
            </a:r>
          </a:p>
          <a:p xmlns:a="http://schemas.openxmlformats.org/drawingml/2006/main">
            <a:r>
              <a:t>      "전문가 확인",</a:t>
            </a:r>
          </a:p>
          <a:p xmlns:a="http://schemas.openxmlformats.org/drawingml/2006/main">
            <a:r>
              <a:t>      "정비·검사 이력"</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"원천 검측과 판정 근거의 일관된 인계",</a:t>
            </a:r>
          </a:p>
          <a:p xmlns:a="http://schemas.openxmlformats.org/drawingml/2006/main">
            <a:r>
              <a:t>    "local": "TS 철도 안전 점검의 설비·검사·조치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 ID·판정 기준·검사 시점 대사",</a:t>
            </a:r>
          </a:p>
          <a:p xmlns:a="http://schemas.openxmlformats.org/drawingml/2006/main">
            <a:r>
              <a:t>    "test": "정상·이상·판정 변경 및 미조치 자료 재현",</a:t>
            </a:r>
          </a:p>
          <a:p xmlns:a="http://schemas.openxmlformats.org/drawingml/2006/main">
            <a:r>
              <a:t>    "metric": "검사 검토시간 / 증거 누락률",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"AX17",</a:t>
            </a:r>
          </a:p>
          <a:p xmlns:a="http://schemas.openxmlformats.org/drawingml/2006/main">
            <a:r>
              <a:t>    "canonicalId": "AX17",</a:t>
            </a:r>
          </a:p>
          <a:p xmlns:a="http://schemas.openxmlformats.org/drawingml/2006/main">
            <a:r>
              <a:t>    "purpose": "철도 설비 자동검측과 유지보수 우선순위 지원",</a:t>
            </a:r>
          </a:p>
          <a:p xmlns:a="http://schemas.openxmlformats.org/drawingml/2006/main">
            <a:r>
              <a:t>    "users": "검측·시설 유지보수 담당",</a:t>
            </a:r>
          </a:p>
          <a:p xmlns:a="http://schemas.openxmlformats.org/drawingml/2006/main">
            <a:r>
              <a:t>    "scope": [</a:t>
            </a:r>
          </a:p>
          <a:p xmlns:a="http://schemas.openxmlformats.org/drawingml/2006/main">
            <a:r>
              <a:t>      "설비 관측",</a:t>
            </a:r>
          </a:p>
          <a:p xmlns:a="http://schemas.openxmlformats.org/drawingml/2006/main">
            <a:r>
              <a:t>      "이상 탐지",</a:t>
            </a:r>
          </a:p>
          <a:p xmlns:a="http://schemas.openxmlformats.org/drawingml/2006/main">
            <a:r>
              <a:t>      "정비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"검측 장비",</a:t>
            </a:r>
          </a:p>
          <a:p xmlns:a="http://schemas.openxmlformats.org/drawingml/2006/main">
            <a:r>
              <a:t>        "detail": "노선·설비 ID·검측구간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"설비 관측 / 이상 탐지 / 정비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"이상 후보 분석",</a:t>
            </a:r>
          </a:p>
          <a:p xmlns:a="http://schemas.openxmlformats.org/drawingml/2006/main">
            <a:r>
              <a:t>        "detail": "검측 수치의 이상 후보와 추세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"철도 정비 담당",</a:t>
            </a:r>
          </a:p>
          <a:p xmlns:a="http://schemas.openxmlformats.org/drawingml/2006/main">
            <a:r>
              <a:t>        "detail": "점검 담당자의 확인 후 정비계획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"검측·정비 기록",</a:t>
            </a:r>
          </a:p>
          <a:p xmlns:a="http://schemas.openxmlformats.org/drawingml/2006/main">
            <a:r>
              <a:t>        "detail": "검측값·설비대장·과거 정비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확인값과 조치 후 재검측 결과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"검측·영상 수집",</a:t>
            </a:r>
          </a:p>
          <a:p xmlns:a="http://schemas.openxmlformats.org/drawingml/2006/main">
            <a:r>
              <a:t>        "input": "노선·설비 ID·검측구간 식별",</a:t>
            </a:r>
          </a:p>
          <a:p xmlns:a="http://schemas.openxmlformats.org/drawingml/2006/main">
            <a:r>
              <a:t>        "process": "검측값·설비대장·과거 정비 이력 연결",</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"title": "이상 후보 추출",</a:t>
            </a:r>
          </a:p>
          <a:p xmlns:a="http://schemas.openxmlformats.org/drawingml/2006/main">
            <a:r>
              <a:t>        "input": "검측값·영상",</a:t>
            </a:r>
          </a:p>
          <a:p xmlns:a="http://schemas.openxmlformats.org/drawingml/2006/main">
            <a:r>
              <a:t>        "process": "검측 수치의 이상 후보와 추세 분석",</a:t>
            </a:r>
          </a:p>
          <a:p xmlns:a="http://schemas.openxmlformats.org/drawingml/2006/main">
            <a:r>
              <a:t>        "output": "결함 후보"</a:t>
            </a:r>
          </a:p>
          <a:p xmlns:a="http://schemas.openxmlformats.org/drawingml/2006/main">
            <a:r>
              <a:t>      },</a:t>
            </a:r>
          </a:p>
          <a:p xmlns:a="http://schemas.openxmlformats.org/drawingml/2006/main">
            <a:r>
              <a:t>      {</a:t>
            </a:r>
          </a:p>
          <a:p xmlns:a="http://schemas.openxmlformats.org/drawingml/2006/main">
            <a:r>
              <a:t>        "title": "전문가 확인",</a:t>
            </a:r>
          </a:p>
          <a:p xmlns:a="http://schemas.openxmlformats.org/drawingml/2006/main">
            <a:r>
              <a:t>        "input": "결함 후보",</a:t>
            </a:r>
          </a:p>
          <a:p xmlns:a="http://schemas.openxmlformats.org/drawingml/2006/main">
            <a:r>
              <a:t>        "process": "실제 결함과 검측 후보 대사",</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"title": "정비·검사 이력",</a:t>
            </a:r>
          </a:p>
          <a:p xmlns:a="http://schemas.openxmlformats.org/drawingml/2006/main">
            <a:r>
              <a:t>        "input": "전문가 확인",</a:t>
            </a:r>
          </a:p>
          <a:p xmlns:a="http://schemas.openxmlformats.org/drawingml/2006/main">
            <a:r>
              <a:t>        "process":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"검측 이상을 설비대장에 연결하고 점검 대상 선정",</a:t>
            </a:r>
          </a:p>
          <a:p xmlns:a="http://schemas.openxmlformats.org/drawingml/2006/main">
            <a:r>
              <a:t>      "exception": "설비 ID 불일치·센서 튐·정비 후 상태 미갱신",</a:t>
            </a:r>
          </a:p>
          <a:p xmlns:a="http://schemas.openxmlformats.org/drawingml/2006/main">
            <a:r>
              <a:t>      "evidence": "검측 원천·설비·현장 판정·재검측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"검측·시설 유지보수 담당",</a:t>
            </a:r>
          </a:p>
          <a:p xmlns:a="http://schemas.openxmlformats.org/drawingml/2006/main">
            <a:r>
              <a:t>          "processing": "노선·설비 ID·검측구간 식별",</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"검측·정비 기록",</a:t>
            </a:r>
          </a:p>
          <a:p xmlns:a="http://schemas.openxmlformats.org/drawingml/2006/main">
            <a:r>
              <a:t>          "processing": "검측값·설비대장·과거 정비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"검측값·영상",</a:t>
            </a:r>
          </a:p>
          <a:p xmlns:a="http://schemas.openxmlformats.org/drawingml/2006/main">
            <a:r>
              <a:t>          "processing": "검측 수치의 이상 후보와 추세 분석",</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"전문가 확인",</a:t>
            </a:r>
          </a:p>
          <a:p xmlns:a="http://schemas.openxmlformats.org/drawingml/2006/main">
            <a:r>
              <a:t>          "processing":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확인값과 조치 후 재검측 결과 비교",</a:t>
            </a:r>
          </a:p>
          <a:p xmlns:a="http://schemas.openxmlformats.org/drawingml/2006/main">
            <a:r>
              <a:t>          "output": "검측 원천·설비·현장 판정·재검측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확인값과 조치 후 재검측 결과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"S-AX17",</a:t>
            </a:r>
          </a:p>
          <a:p xmlns:a="http://schemas.openxmlformats.org/drawingml/2006/main">
            <a:r>
              <a:t>        "title": "코레일 자동검측·AI 확대 · 코레일 / 2025-08-17",</a:t>
            </a:r>
          </a:p>
          <a:p xmlns:a="http://schemas.openxmlformats.org/drawingml/2006/main">
            <a:r>
              <a:t>        "url": "https://info.korail.com/info/selectBbsNttView.do?bbsNo=199&amp;key=911&amp;nttNo=25238",</a:t>
            </a:r>
          </a:p>
          <a:p xmlns:a="http://schemas.openxmlformats.org/drawingml/2006/main">
            <a:r>
              <a:t>        "published": "2025 운영·고도화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"원천 검측과 판정 근거의 일관된 인계",</a:t>
            </a:r>
          </a:p>
          <a:p xmlns:a="http://schemas.openxmlformats.org/drawingml/2006/main">
            <a:r>
              <a:t>    "local": "TS 철도 안전 점검의 설비·검사·조치 증거 연결",</a:t>
            </a:r>
          </a:p>
          <a:p xmlns:a="http://schemas.openxmlformats.org/drawingml/2006/main">
            <a:r>
              <a:t>    "sourceDetail": null,</a:t>
            </a:r>
          </a:p>
          <a:p xmlns:a="http://schemas.openxmlformats.org/drawingml/2006/main">
            <a:r>
              <a:t>    "narrative": [</a:t>
            </a:r>
          </a:p>
          <a:p xmlns:a="http://schemas.openxmlformats.org/drawingml/2006/main">
            <a:r>
              <a:t>      "철도 설비의 자동검측 자료를 유지보수 검토에 활용하는 사례. 검측 데이터 확보, AI 이상 분석, 현장 정비 판단은 서로 다른 기능·사업 범위.",</a:t>
            </a:r>
          </a:p>
          <a:p xmlns:a="http://schemas.openxmlformats.org/drawingml/2006/main">
            <a:r>
              <a:t>      "노선·설비 ID·검측구간을 기준으로 관측값과 과거 정비 이력을 결합하고 이상 후보를 점검자에게 제공하는 재구성. 현장 확인과 조치 후 재검측을 연결해 후보의 유효성을 확인.",</a:t>
            </a:r>
          </a:p>
          <a:p xmlns:a="http://schemas.openxmlformats.org/drawingml/2006/main">
            <a:r>
              <a:t>      "TS 철도 안전 업무에서는 기존 자동검측 장비와 추가 분석 모델을 분리해 재사용 범위를 산정할 필요. 실제 결함 정답, 설비별 탐지 편차, 정비 조치·재점검 증빙을 검수에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"자동검측 접점",</a:t>
            </a:r>
          </a:p>
          <a:p xmlns:a="http://schemas.openxmlformats.org/drawingml/2006/main">
            <a:r>
              <a:t>          "layer": "이용 접점",</a:t>
            </a:r>
          </a:p>
          <a:p xmlns:a="http://schemas.openxmlformats.org/drawingml/2006/main">
            <a:r>
              <a:t>          "detail": "검측·시설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"노선·설비 ID",</a:t>
            </a:r>
          </a:p>
          <a:p xmlns:a="http://schemas.openxmlformats.org/drawingml/2006/main">
            <a:r>
              <a:t>          "layer": "업무 문맥",</a:t>
            </a:r>
          </a:p>
          <a:p xmlns:a="http://schemas.openxmlformats.org/drawingml/2006/main">
            <a:r>
              <a:t>          "detail": "노선·설비 ID·검측구간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"검측·정비 조회",</a:t>
            </a:r>
          </a:p>
          <a:p xmlns:a="http://schemas.openxmlformats.org/drawingml/2006/main">
            <a:r>
              <a:t>          "layer": "자료 조회",</a:t>
            </a:r>
          </a:p>
          <a:p xmlns:a="http://schemas.openxmlformats.org/drawingml/2006/main">
            <a:r>
              <a:t>          "detail": "검측값·영상",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후보 분석",</a:t>
            </a:r>
          </a:p>
          <a:p xmlns:a="http://schemas.openxmlformats.org/drawingml/2006/main">
            <a:r>
              <a:t>          "layer": "핵심 처리",</a:t>
            </a:r>
          </a:p>
          <a:p xmlns:a="http://schemas.openxmlformats.org/drawingml/2006/main">
            <a:r>
              <a:t>          "detail": "검측 수치의 이상 후보와 추세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"결함 기준 대조",</a:t>
            </a:r>
          </a:p>
          <a:p xmlns:a="http://schemas.openxmlformats.org/drawingml/2006/main">
            <a:r>
              <a:t>          "layer": "결과 검증",</a:t>
            </a:r>
          </a:p>
          <a:p xmlns:a="http://schemas.openxmlformats.org/drawingml/2006/main">
            <a:r>
              <a:t>          "detail": "실제 결함과 검측 후보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"점검 담당 확인",</a:t>
            </a:r>
          </a:p>
          <a:p xmlns:a="http://schemas.openxmlformats.org/drawingml/2006/main">
            <a:r>
              <a:t>          "layer": "사람 확인",</a:t>
            </a:r>
          </a:p>
          <a:p xmlns:a="http://schemas.openxmlformats.org/drawingml/2006/main">
            <a:r>
              <a:t>          "detail": "검측 이상을 설비대장에 연결하고 점검 대상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"정비계획 반영",</a:t>
            </a:r>
          </a:p>
          <a:p xmlns:a="http://schemas.openxmlformats.org/drawingml/2006/main">
            <a:r>
              <a:t>          "layer": "업무 연결",</a:t>
            </a:r>
          </a:p>
          <a:p xmlns:a="http://schemas.openxmlformats.org/drawingml/2006/main">
            <a:r>
              <a:t>          "detail": "점검 담당자의 확인 후 정비계획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후 재검측",</a:t>
            </a:r>
          </a:p>
          <a:p xmlns:a="http://schemas.openxmlformats.org/drawingml/2006/main">
            <a:r>
              <a:t>          "layer": "운영 관측",</a:t>
            </a:r>
          </a:p>
          <a:p xmlns:a="http://schemas.openxmlformats.org/drawingml/2006/main">
            <a:r>
              <a:t>          "detail": "현장 확인값과 조치 후 재검측 결과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"설비·검측 자료",</a:t>
            </a:r>
          </a:p>
          <a:p xmlns:a="http://schemas.openxmlformats.org/drawingml/2006/main">
            <a:r>
              <a:t>          "layer": "데이터 원천",</a:t>
            </a:r>
          </a:p>
          <a:p xmlns:a="http://schemas.openxmlformats.org/drawingml/2006/main">
            <a:r>
              <a:t>          "detail": "검측·정비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"위치·단위 정합화",</a:t>
            </a:r>
          </a:p>
          <a:p xmlns:a="http://schemas.openxmlformats.org/drawingml/2006/main">
            <a:r>
              <a:t>          "layer": "준비·갱신",</a:t>
            </a:r>
          </a:p>
          <a:p xmlns:a="http://schemas.openxmlformats.org/drawingml/2006/main">
            <a:r>
              <a:t>          "detail": "검측값·설비대장·과거 정비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"결함·정비 이력",</a:t>
            </a:r>
          </a:p>
          <a:p xmlns:a="http://schemas.openxmlformats.org/drawingml/2006/main">
            <a:r>
              <a:t>          "layer": "상태·지식 저장",</a:t>
            </a:r>
          </a:p>
          <a:p xmlns:a="http://schemas.openxmlformats.org/drawingml/2006/main">
            <a:r>
              <a:t>          "detail": "검측 원천·설비·현장 판정·재검측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"점검·판정 기준",</a:t>
            </a:r>
          </a:p>
          <a:p xmlns:a="http://schemas.openxmlformats.org/drawingml/2006/main">
            <a:r>
              <a:t>          "layer": "권한·정책",</a:t>
            </a:r>
          </a:p>
          <a:p xmlns:a="http://schemas.openxmlformats.org/drawingml/2006/main">
            <a:r>
              <a:t>          "detail": "설비 ID 불일치·센서 튐·정비 후 상태 미갱신",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"검측·영상 수집 → 이상 후보 추출 → 전문가 확인 → 정비·검사 이력"</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"검측·정비 기록",</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"전문가 확인",</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"점검·판정 기준",</a:t>
            </a:r>
          </a:p>
          <a:p xmlns:a="http://schemas.openxmlformats.org/drawingml/2006/main">
            <a:r>
              <a:t>          "check": "실제 결함과 검측 후보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"정비 기록",</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확인값과 조치 후 재검측 결과 비교",</a:t>
            </a:r>
          </a:p>
          <a:p xmlns:a="http://schemas.openxmlformats.org/drawingml/2006/main">
            <a:r>
              <a:t>          "check": "현장 확인값과 조치 후 재검측 결과 비교"</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"철도 설비 자동검측과 유지보수 우선순위 지원 / 설비 관측·이상 탐지·정비 확인",</a:t>
            </a:r>
          </a:p>
          <a:p xmlns:a="http://schemas.openxmlformats.org/drawingml/2006/main">
            <a:r>
              <a:t>        "extension": "TS 철도 안전 점검의 설비·검사·조치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"설비 ID 불일치·센서 튐·정비 후 상태 미갱신",</a:t>
            </a:r>
          </a:p>
          <a:p xmlns:a="http://schemas.openxmlformats.org/drawingml/2006/main">
            <a:r>
              <a:t>        "hold": "실제 결함과 검측 후보 대사",</a:t>
            </a:r>
          </a:p>
          <a:p xmlns:a="http://schemas.openxmlformats.org/drawingml/2006/main">
            <a:r>
              <a:t>        "recovery": "현장 확인값과 조치 후 재검측 결과 비교",</a:t>
            </a:r>
          </a:p>
          <a:p xmlns:a="http://schemas.openxmlformats.org/drawingml/2006/main">
            <a:r>
              <a:t>        "evidence": "검측 원천·설비·현장 판정·재검측 연결표"</a:t>
            </a:r>
          </a:p>
          <a:p xmlns:a="http://schemas.openxmlformats.org/drawingml/2006/main">
            <a:r>
              <a:t>      },</a:t>
            </a:r>
          </a:p>
          <a:p xmlns:a="http://schemas.openxmlformats.org/drawingml/2006/main">
            <a:r>
              <a:t>      "data": {</a:t>
            </a:r>
          </a:p>
          <a:p xmlns:a="http://schemas.openxmlformats.org/drawingml/2006/main">
            <a:r>
              <a:t>        "source": "검측·정비 기록",</a:t>
            </a:r>
          </a:p>
          <a:p xmlns:a="http://schemas.openxmlformats.org/drawingml/2006/main">
            <a:r>
              <a:t>        "prepare": "검측값·설비대장·과거 정비 이력 연결",</a:t>
            </a:r>
          </a:p>
          <a:p xmlns:a="http://schemas.openxmlformats.org/drawingml/2006/main">
            <a:r>
              <a:t>        "output": "검측값·영상",</a:t>
            </a:r>
          </a:p>
          <a:p xmlns:a="http://schemas.openxmlformats.org/drawingml/2006/main">
            <a:r>
              <a:t>        "refresh": "현장 확인값과 조치 후 재검측 결과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"AX17",</a:t>
            </a:r>
          </a:p>
          <a:p xmlns:a="http://schemas.openxmlformats.org/drawingml/2006/main">
            <a:r>
              <a:t>    "success": [</a:t>
            </a:r>
          </a:p>
          <a:p xmlns:a="http://schemas.openxmlformats.org/drawingml/2006/main">
            <a:r>
              <a:t>      "자동검측 자료의 지속 확보",</a:t>
            </a:r>
          </a:p>
          <a:p xmlns:a="http://schemas.openxmlformats.org/drawingml/2006/main">
            <a:r>
              <a:t>      "이상 후보와 정비 이력 연결"</a:t>
            </a:r>
          </a:p>
          <a:p xmlns:a="http://schemas.openxmlformats.org/drawingml/2006/main">
            <a:r>
              <a:t>    ],</a:t>
            </a:r>
          </a:p>
          <a:p xmlns:a="http://schemas.openxmlformats.org/drawingml/2006/main">
            <a:r>
              <a:t>    "risks": [</a:t>
            </a:r>
          </a:p>
          <a:p xmlns:a="http://schemas.openxmlformats.org/drawingml/2006/main">
            <a:r>
              <a:t>      "자동검측과 AI 개발 범위 혼동",</a:t>
            </a:r>
          </a:p>
          <a:p xmlns:a="http://schemas.openxmlformats.org/drawingml/2006/main">
            <a:r>
              <a:t>      "설비·노선별 탐지 편차"</a:t>
            </a:r>
          </a:p>
          <a:p xmlns:a="http://schemas.openxmlformats.org/drawingml/2006/main">
            <a:r>
              <a:t>    ],</a:t>
            </a:r>
          </a:p>
          <a:p xmlns:a="http://schemas.openxmlformats.org/drawingml/2006/main">
            <a:r>
              <a:t>    "architecture": [</a:t>
            </a:r>
          </a:p>
          <a:p xmlns:a="http://schemas.openxmlformats.org/drawingml/2006/main">
            <a:r>
              <a:t>      "검측 장비",</a:t>
            </a:r>
          </a:p>
          <a:p xmlns:a="http://schemas.openxmlformats.org/drawingml/2006/main">
            <a:r>
              <a:t>      "이상 후보 분석",</a:t>
            </a:r>
          </a:p>
          <a:p xmlns:a="http://schemas.openxmlformats.org/drawingml/2006/main">
            <a:r>
              <a:t>      "검측·정비 기록",</a:t>
            </a:r>
          </a:p>
          <a:p xmlns:a="http://schemas.openxmlformats.org/drawingml/2006/main">
            <a:r>
              <a:t>      "철도 정비 담당"</a:t>
            </a:r>
          </a:p>
          <a:p xmlns:a="http://schemas.openxmlformats.org/drawingml/2006/main">
            <a:r>
              <a:t>    ],</a:t>
            </a:r>
          </a:p>
          <a:p xmlns:a="http://schemas.openxmlformats.org/drawingml/2006/main">
            <a:r>
              <a:t>    "transfers": [</a:t>
            </a:r>
          </a:p>
          <a:p xmlns:a="http://schemas.openxmlformats.org/drawingml/2006/main">
            <a:r>
              <a:t>      "검측값·영상",</a:t>
            </a:r>
          </a:p>
          <a:p xmlns:a="http://schemas.openxmlformats.org/drawingml/2006/main">
            <a:r>
              <a:t>      "결함 후보",</a:t>
            </a:r>
          </a:p>
          <a:p xmlns:a="http://schemas.openxmlformats.org/drawingml/2006/main">
            <a:r>
              <a:t>      "전문가 확인",</a:t>
            </a:r>
          </a:p>
          <a:p xmlns:a="http://schemas.openxmlformats.org/drawingml/2006/main">
            <a:r>
              <a:t>      "정비 기록"</a:t>
            </a:r>
          </a:p>
          <a:p xmlns:a="http://schemas.openxmlformats.org/drawingml/2006/main">
            <a:r>
              <a:t>    ],</a:t>
            </a:r>
          </a:p>
          <a:p xmlns:a="http://schemas.openxmlformats.org/drawingml/2006/main">
            <a:r>
              <a:t>    "control": "실제 결함과 검측 후보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코레일 자동검측·AI 확대 · 코레일 / 2025-08-17 https://info.korail.com/info/selectBbsNttView.do?bbsNo=199&amp;key=911&amp;nttNo=25238</a:t>
            </a:r>
          </a:p>
          <a:p xmlns:a="http://schemas.openxmlformats.org/drawingml/2006/main">
            <a:r>
              <a:t>홈페이지 https://heen1987-ops.github.io/TS-business-Plan-001/index.html?view=casebook&amp;case=AX17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"AX18",</a:t>
            </a:r>
          </a:p>
          <a:p xmlns:a="http://schemas.openxmlformats.org/drawingml/2006/main">
            <a:r>
              <a:t>    "title": "Network Rail Insight",</a:t>
            </a:r>
          </a:p>
          <a:p xmlns:a="http://schemas.openxmlformats.org/drawingml/2006/main">
            <a:r>
              <a:t>    "region": "해외",</a:t>
            </a:r>
          </a:p>
          <a:p xmlns:a="http://schemas.openxmlformats.org/drawingml/2006/main">
            <a:r>
              <a:t>    "country": "영국",</a:t>
            </a:r>
          </a:p>
          <a:p xmlns:a="http://schemas.openxmlformats.org/drawingml/2006/main">
            <a:r>
              <a:t>    "result": "성공",</a:t>
            </a:r>
          </a:p>
          <a:p xmlns:a="http://schemas.openxmlformats.org/drawingml/2006/main">
            <a:r>
              <a:t>    "kind": "철도 예지정비",</a:t>
            </a:r>
          </a:p>
          <a:p xmlns:a="http://schemas.openxmlformats.org/drawingml/2006/main">
            <a:r>
              <a:t>    "period": "2023 운영 소개",</a:t>
            </a:r>
          </a:p>
          <a:p xmlns:a="http://schemas.openxmlformats.org/drawingml/2006/main">
            <a:r>
              <a:t>    "sources": [</a:t>
            </a:r>
          </a:p>
          <a:p xmlns:a="http://schemas.openxmlformats.org/drawingml/2006/main">
            <a:r>
              <a:t>      "S-AX18"</a:t>
            </a:r>
          </a:p>
          <a:p xmlns:a="http://schemas.openxmlformats.org/drawingml/2006/main">
            <a:r>
              <a:t>    ],</a:t>
            </a:r>
          </a:p>
          <a:p xmlns:a="http://schemas.openxmlformats.org/drawingml/2006/main">
            <a:r>
              <a:t>    "keywords": [</a:t>
            </a:r>
          </a:p>
          <a:p xmlns:a="http://schemas.openxmlformats.org/drawingml/2006/main">
            <a:r>
              <a:t>      "철도 예지정비"</a:t>
            </a:r>
          </a:p>
          <a:p xmlns:a="http://schemas.openxmlformats.org/drawingml/2006/main">
            <a:r>
              <a:t>    ],</a:t>
            </a:r>
          </a:p>
          <a:p xmlns:a="http://schemas.openxmlformats.org/drawingml/2006/main">
            <a:r>
              <a:t>    "fact": "설비 데이터와 AI 분석을 결합하여 철도 유지관리의 이상 징후·우선순위 검토 지원",</a:t>
            </a:r>
          </a:p>
          <a:p xmlns:a="http://schemas.openxmlformats.org/drawingml/2006/main">
            <a:r>
              <a:t>    "limit": "철도 운영사 사례 · TS의 검사·감독 책임 범위에 맞춘 현지화 필요",</a:t>
            </a:r>
          </a:p>
          <a:p xmlns:a="http://schemas.openxmlformats.org/drawingml/2006/main">
            <a:r>
              <a:t>    "flow": [</a:t>
            </a:r>
          </a:p>
          <a:p xmlns:a="http://schemas.openxmlformats.org/drawingml/2006/main">
            <a:r>
              <a:t>      "설비·검측 자료",</a:t>
            </a:r>
          </a:p>
          <a:p xmlns:a="http://schemas.openxmlformats.org/drawingml/2006/main">
            <a:r>
              <a:t>      "AI 이상 분석",</a:t>
            </a:r>
          </a:p>
          <a:p xmlns:a="http://schemas.openxmlformats.org/drawingml/2006/main">
            <a:r>
              <a:t>      "정비 우선순위",</a:t>
            </a:r>
          </a:p>
          <a:p xmlns:a="http://schemas.openxmlformats.org/drawingml/2006/main">
            <a:r>
              <a:t>      "담당자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예측과 정비 의사결정의 연결",</a:t>
            </a:r>
          </a:p>
          <a:p xmlns:a="http://schemas.openxmlformats.org/drawingml/2006/main">
            <a:r>
              <a:t>    "local": "TS 점검 계획의 위험 근거·소관·이력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"설비별 위험 근거 묶음·담당 배정·기한 관리",</a:t>
            </a:r>
          </a:p>
          <a:p xmlns:a="http://schemas.openxmlformats.org/drawingml/2006/main">
            <a:r>
              <a:t>    "test": "결측·상충 신호·미조치 건 우선순위 검증",</a:t>
            </a:r>
          </a:p>
          <a:p xmlns:a="http://schemas.openxmlformats.org/drawingml/2006/main">
            <a:r>
              <a:t>    "metric": "점검 준비시간 / 미조치 추적률",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"AX18",</a:t>
            </a:r>
          </a:p>
          <a:p xmlns:a="http://schemas.openxmlformats.org/drawingml/2006/main">
            <a:r>
              <a:t>    "canonicalId": "AX18",</a:t>
            </a:r>
          </a:p>
          <a:p xmlns:a="http://schemas.openxmlformats.org/drawingml/2006/main">
            <a:r>
              <a:t>    "purpose": "설비 데이터 통합에 기반한 철도 예방정비",</a:t>
            </a:r>
          </a:p>
          <a:p xmlns:a="http://schemas.openxmlformats.org/drawingml/2006/main">
            <a:r>
              <a:t>    "users": "설비관리자·현장 유지보수 담당",</a:t>
            </a:r>
          </a:p>
          <a:p xmlns:a="http://schemas.openxmlformats.org/drawingml/2006/main">
            <a:r>
              <a:t>    "scope": [</a:t>
            </a:r>
          </a:p>
          <a:p xmlns:a="http://schemas.openxmlformats.org/drawingml/2006/main">
            <a:r>
              <a:t>      "이상 징후",</a:t>
            </a:r>
          </a:p>
          <a:p xmlns:a="http://schemas.openxmlformats.org/drawingml/2006/main">
            <a:r>
              <a:t>      "우선순위",</a:t>
            </a:r>
          </a:p>
          <a:p xmlns:a="http://schemas.openxmlformats.org/drawingml/2006/main">
            <a:r>
              <a:t>      "정비 계획"</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"설비·검측 수집",</a:t>
            </a:r>
          </a:p>
          <a:p xmlns:a="http://schemas.openxmlformats.org/drawingml/2006/main">
            <a:r>
              <a:t>        "detail": "설비·위치·고장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"이상 징후 / 우선순위 / 정비 계획",</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"Insight 분석",</a:t>
            </a:r>
          </a:p>
          <a:p xmlns:a="http://schemas.openxmlformats.org/drawingml/2006/main">
            <a:r>
              <a:t>        "detail": "서로 다른 관측자료의 이상 신호 결합",</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"유지관리 담당",</a:t>
            </a:r>
          </a:p>
          <a:p xmlns:a="http://schemas.openxmlformats.org/drawingml/2006/main">
            <a:r>
              <a:t>        "detail": "위험 후보를 현장 점검·정비계획으로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"설비·이상 이력",</a:t>
            </a:r>
          </a:p>
          <a:p xmlns:a="http://schemas.openxmlformats.org/drawingml/2006/main">
            <a:r>
              <a:t>        "detail": "설비 ID 기준 관측·상태·정비 이력 통합",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판정과 실제 결함을 다음 분석에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"설비·검측 자료",</a:t>
            </a:r>
          </a:p>
          <a:p xmlns:a="http://schemas.openxmlformats.org/drawingml/2006/main">
            <a:r>
              <a:t>        "input": "설비·위치·고장 맥락 지정",</a:t>
            </a:r>
          </a:p>
          <a:p xmlns:a="http://schemas.openxmlformats.org/drawingml/2006/main">
            <a:r>
              <a:t>        "process": "설비 ID 기준 관측·상태·정비 이력 통합",</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"title": "AI 이상 분석",</a:t>
            </a:r>
          </a:p>
          <a:p xmlns:a="http://schemas.openxmlformats.org/drawingml/2006/main">
            <a:r>
              <a:t>        "input": "설비 관측",</a:t>
            </a:r>
          </a:p>
          <a:p xmlns:a="http://schemas.openxmlformats.org/drawingml/2006/main">
            <a:r>
              <a:t>        "process": "서로 다른 관측자료의 이상 신호 결합",</a:t>
            </a:r>
          </a:p>
          <a:p xmlns:a="http://schemas.openxmlformats.org/drawingml/2006/main">
            <a:r>
              <a:t>        "output": "이상 징후"</a:t>
            </a:r>
          </a:p>
          <a:p xmlns:a="http://schemas.openxmlformats.org/drawingml/2006/main">
            <a:r>
              <a:t>      },</a:t>
            </a:r>
          </a:p>
          <a:p xmlns:a="http://schemas.openxmlformats.org/drawingml/2006/main">
            <a:r>
              <a:t>      {</a:t>
            </a:r>
          </a:p>
          <a:p xmlns:a="http://schemas.openxmlformats.org/drawingml/2006/main">
            <a:r>
              <a:t>        "title": "정비 우선순위",</a:t>
            </a:r>
          </a:p>
          <a:p xmlns:a="http://schemas.openxmlformats.org/drawingml/2006/main">
            <a:r>
              <a:t>        "input": "이상 징후",</a:t>
            </a:r>
          </a:p>
          <a:p xmlns:a="http://schemas.openxmlformats.org/drawingml/2006/main">
            <a:r>
              <a:t>        "process": "누락 설비·중요 결함 별도 평가",</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"title": "담당자 조치",</a:t>
            </a:r>
          </a:p>
          <a:p xmlns:a="http://schemas.openxmlformats.org/drawingml/2006/main">
            <a:r>
              <a:t>        "input": "정비 우선순위",</a:t>
            </a:r>
          </a:p>
          <a:p xmlns:a="http://schemas.openxmlformats.org/drawingml/2006/main">
            <a:r>
              <a:t>        "process":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"설비의 여러 관측 신호로 정비 우선순위를 검토",</a:t>
            </a:r>
          </a:p>
          <a:p xmlns:a="http://schemas.openxmlformats.org/drawingml/2006/main">
            <a:r>
              <a:t>      "exception": "데이터 지연·상충 신호·정비 완료 이력 누락",</a:t>
            </a:r>
          </a:p>
          <a:p xmlns:a="http://schemas.openxmlformats.org/drawingml/2006/main">
            <a:r>
              <a:t>      "evidence": "우선순위 근거와 현장 확인·정비 결과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"설비관리자·현장 유지보수 담당",</a:t>
            </a:r>
          </a:p>
          <a:p xmlns:a="http://schemas.openxmlformats.org/drawingml/2006/main">
            <a:r>
              <a:t>          "processing": "설비·위치·고장 맥락 지정",</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"설비·이상 이력",</a:t>
            </a:r>
          </a:p>
          <a:p xmlns:a="http://schemas.openxmlformats.org/drawingml/2006/main">
            <a:r>
              <a:t>          "processing": "설비 ID 기준 관측·상태·정비 이력 통합",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"설비 관측",</a:t>
            </a:r>
          </a:p>
          <a:p xmlns:a="http://schemas.openxmlformats.org/drawingml/2006/main">
            <a:r>
              <a:t>          "processing": "서로 다른 관측자료의 이상 신호 결합",</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"정비 우선순위",</a:t>
            </a:r>
          </a:p>
          <a:p xmlns:a="http://schemas.openxmlformats.org/drawingml/2006/main">
            <a:r>
              <a:t>          "processing":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판정과 실제 결함을 다음 분석에 반영",</a:t>
            </a:r>
          </a:p>
          <a:p xmlns:a="http://schemas.openxmlformats.org/drawingml/2006/main">
            <a:r>
              <a:t>          "output": "우선순위 근거와 현장 확인·정비 결과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판정과 실제 결함을 다음 분석에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"S-AX18",</a:t>
            </a:r>
          </a:p>
          <a:p xmlns:a="http://schemas.openxmlformats.org/drawingml/2006/main">
            <a:r>
              <a:t>        "title": "Network Rail Insight · 운영기관 / 2023-12-22",</a:t>
            </a:r>
          </a:p>
          <a:p xmlns:a="http://schemas.openxmlformats.org/drawingml/2006/main">
            <a:r>
              <a:t>        "url": "https://www.networkrail.co.uk/stories/using-artificial-intelligence-to-create-a-better-railway/",</a:t>
            </a:r>
          </a:p>
          <a:p xmlns:a="http://schemas.openxmlformats.org/drawingml/2006/main">
            <a:r>
              <a:t>        "published": "2023 운영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예측과 정비 의사결정의 연결",</a:t>
            </a:r>
          </a:p>
          <a:p xmlns:a="http://schemas.openxmlformats.org/drawingml/2006/main">
            <a:r>
              <a:t>    "local": "TS 점검 계획의 위험 근거·소관·이력 연결",</a:t>
            </a:r>
          </a:p>
          <a:p xmlns:a="http://schemas.openxmlformats.org/drawingml/2006/main">
            <a:r>
              <a:t>    "sourceDetail": null,</a:t>
            </a:r>
          </a:p>
          <a:p xmlns:a="http://schemas.openxmlformats.org/drawingml/2006/main">
            <a:r>
              <a:t>    "narrative": [</a:t>
            </a:r>
          </a:p>
          <a:p xmlns:a="http://schemas.openxmlformats.org/drawingml/2006/main">
            <a:r>
              <a:t>      "여러 철도 설비의 관측 자료를 통합해 예방정비 우선순위를 지원하는 사례. 서로 다른 설비 데이터의 품질과 식별자를 맞추는 기반 작업이 주요 전제.",</a:t>
            </a:r>
          </a:p>
          <a:p xmlns:a="http://schemas.openxmlformats.org/drawingml/2006/main">
            <a:r>
              <a:t>      "설비 ID에 관측·위치·고장·정비 이력을 연결하고 이상 신호를 합쳐 점검 후보를 만드는 구조. 위험 순위는 현장 담당자의 확인 후 정비계획으로 전환하고 실제 결함 여부를 환류.",</a:t>
            </a:r>
          </a:p>
          <a:p xmlns:a="http://schemas.openxmlformats.org/drawingml/2006/main">
            <a:r>
              <a:t>      "CCK에서는 이상 경보를 정비 완료로 처리하지 않는 상태 모델을 적용. 누락 설비, 관측 결측, 실제 결함과 오경보, 점검 후 조치 완료를 함께 추적하는 TS 후속 업무 설계."</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"설비 상태 접점",</a:t>
            </a:r>
          </a:p>
          <a:p xmlns:a="http://schemas.openxmlformats.org/drawingml/2006/main">
            <a:r>
              <a:t>          "layer": "이용 접점",</a:t>
            </a:r>
          </a:p>
          <a:p xmlns:a="http://schemas.openxmlformats.org/drawingml/2006/main">
            <a:r>
              <a:t>          "detail": "설비관리자·현장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"위치·고장 맥락",</a:t>
            </a:r>
          </a:p>
          <a:p xmlns:a="http://schemas.openxmlformats.org/drawingml/2006/main">
            <a:r>
              <a:t>          "layer": "업무 문맥",</a:t>
            </a:r>
          </a:p>
          <a:p xmlns:a="http://schemas.openxmlformats.org/drawingml/2006/main">
            <a:r>
              <a:t>          "detail": "설비·위치·고장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"다종 관측 조회",</a:t>
            </a:r>
          </a:p>
          <a:p xmlns:a="http://schemas.openxmlformats.org/drawingml/2006/main">
            <a:r>
              <a:t>          "layer": "자료 조회",</a:t>
            </a:r>
          </a:p>
          <a:p xmlns:a="http://schemas.openxmlformats.org/drawingml/2006/main">
            <a:r>
              <a:t>          "detail": "설비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신호 결합",</a:t>
            </a:r>
          </a:p>
          <a:p xmlns:a="http://schemas.openxmlformats.org/drawingml/2006/main">
            <a:r>
              <a:t>          "layer": "핵심 처리",</a:t>
            </a:r>
          </a:p>
          <a:p xmlns:a="http://schemas.openxmlformats.org/drawingml/2006/main">
            <a:r>
              <a:t>          "detail": "서로 다른 관측자료의 이상 신호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 설비 검사",</a:t>
            </a:r>
          </a:p>
          <a:p xmlns:a="http://schemas.openxmlformats.org/drawingml/2006/main">
            <a:r>
              <a:t>          "layer": "결과 검증",</a:t>
            </a:r>
          </a:p>
          <a:p xmlns:a="http://schemas.openxmlformats.org/drawingml/2006/main">
            <a:r>
              <a:t>          "detail": "누락 설비·중요 결함 별도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점검 확인",</a:t>
            </a:r>
          </a:p>
          <a:p xmlns:a="http://schemas.openxmlformats.org/drawingml/2006/main">
            <a:r>
              <a:t>          "layer": "사람 확인",</a:t>
            </a:r>
          </a:p>
          <a:p xmlns:a="http://schemas.openxmlformats.org/drawingml/2006/main">
            <a:r>
              <a:t>          "detail": "설비의 여러 관측 신호로 정비 우선순위를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 우선순위",</a:t>
            </a:r>
          </a:p>
          <a:p xmlns:a="http://schemas.openxmlformats.org/drawingml/2006/main">
            <a:r>
              <a:t>          "layer": "업무 연결",</a:t>
            </a:r>
          </a:p>
          <a:p xmlns:a="http://schemas.openxmlformats.org/drawingml/2006/main">
            <a:r>
              <a:t>          "detail": "위험 후보를 현장 점검·정비계획으로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"결함 결과 환류",</a:t>
            </a:r>
          </a:p>
          <a:p xmlns:a="http://schemas.openxmlformats.org/drawingml/2006/main">
            <a:r>
              <a:t>          "layer": "운영 관측",</a:t>
            </a:r>
          </a:p>
          <a:p xmlns:a="http://schemas.openxmlformats.org/drawingml/2006/main">
            <a:r>
              <a:t>          "detail": "현장 판정과 실제 결함을 다음 분석에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"관측·설비대장",</a:t>
            </a:r>
          </a:p>
          <a:p xmlns:a="http://schemas.openxmlformats.org/drawingml/2006/main">
            <a:r>
              <a:t>          "layer": "데이터 원천",</a:t>
            </a:r>
          </a:p>
          <a:p xmlns:a="http://schemas.openxmlformats.org/drawingml/2006/main">
            <a:r>
              <a:t>          "detail": "설비·이상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"설비 식별자 통합",</a:t>
            </a:r>
          </a:p>
          <a:p xmlns:a="http://schemas.openxmlformats.org/drawingml/2006/main">
            <a:r>
              <a:t>          "layer": "준비·갱신",</a:t>
            </a:r>
          </a:p>
          <a:p xmlns:a="http://schemas.openxmlformats.org/drawingml/2006/main">
            <a:r>
              <a:t>          "detail": "설비 ID 기준 관측·상태·정비 이력 통합",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"상태·정비 이력",</a:t>
            </a:r>
          </a:p>
          <a:p xmlns:a="http://schemas.openxmlformats.org/drawingml/2006/main">
            <a:r>
              <a:t>          "layer": "상태·지식 저장",</a:t>
            </a:r>
          </a:p>
          <a:p xmlns:a="http://schemas.openxmlformats.org/drawingml/2006/main">
            <a:r>
              <a:t>          "detail": "우선순위 근거와 현장 확인·정비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"설비 관리 책임",</a:t>
            </a:r>
          </a:p>
          <a:p xmlns:a="http://schemas.openxmlformats.org/drawingml/2006/main">
            <a:r>
              <a:t>          "layer": "권한·정책",</a:t>
            </a:r>
          </a:p>
          <a:p xmlns:a="http://schemas.openxmlformats.org/drawingml/2006/main">
            <a:r>
              <a:t>          "detail": "데이터 지연·상충 신호·정비 완료 이력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"설비·검측 자료 → AI 이상 분석 → 정비 우선순위 → 담당자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"설비·이상 이력",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"정비 우선순위",</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"설비 관리 책임",</a:t>
            </a:r>
          </a:p>
          <a:p xmlns:a="http://schemas.openxmlformats.org/drawingml/2006/main">
            <a:r>
              <a:t>          "check": "누락 설비·중요 결함 별도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"조치·재점검",</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판정과 실제 결함을 다음 분석에 반영",</a:t>
            </a:r>
          </a:p>
          <a:p xmlns:a="http://schemas.openxmlformats.org/drawingml/2006/main">
            <a:r>
              <a:t>          "check": "현장 판정과 실제 결함을 다음 분석에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"설비 데이터 통합에 기반한 철도 예방정비 / 이상 징후·우선순위·정비 계획",</a:t>
            </a:r>
          </a:p>
          <a:p xmlns:a="http://schemas.openxmlformats.org/drawingml/2006/main">
            <a:r>
              <a:t>        "extension": "TS 점검 계획의 위험 근거·소관·이력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"데이터 지연·상충 신호·정비 완료 이력 누락",</a:t>
            </a:r>
          </a:p>
          <a:p xmlns:a="http://schemas.openxmlformats.org/drawingml/2006/main">
            <a:r>
              <a:t>        "hold": "누락 설비·중요 결함 별도 평가",</a:t>
            </a:r>
          </a:p>
          <a:p xmlns:a="http://schemas.openxmlformats.org/drawingml/2006/main">
            <a:r>
              <a:t>        "recovery": "현장 판정과 실제 결함을 다음 분석에 반영",</a:t>
            </a:r>
          </a:p>
          <a:p xmlns:a="http://schemas.openxmlformats.org/drawingml/2006/main">
            <a:r>
              <a:t>        "evidence": "우선순위 근거와 현장 확인·정비 결과 대사"</a:t>
            </a:r>
          </a:p>
          <a:p xmlns:a="http://schemas.openxmlformats.org/drawingml/2006/main">
            <a:r>
              <a:t>      },</a:t>
            </a:r>
          </a:p>
          <a:p xmlns:a="http://schemas.openxmlformats.org/drawingml/2006/main">
            <a:r>
              <a:t>      "data": {</a:t>
            </a:r>
          </a:p>
          <a:p xmlns:a="http://schemas.openxmlformats.org/drawingml/2006/main">
            <a:r>
              <a:t>        "source": "설비·이상 이력",</a:t>
            </a:r>
          </a:p>
          <a:p xmlns:a="http://schemas.openxmlformats.org/drawingml/2006/main">
            <a:r>
              <a:t>        "prepare": "설비 ID 기준 관측·상태·정비 이력 통합",</a:t>
            </a:r>
          </a:p>
          <a:p xmlns:a="http://schemas.openxmlformats.org/drawingml/2006/main">
            <a:r>
              <a:t>        "output": "설비 관측",</a:t>
            </a:r>
          </a:p>
          <a:p xmlns:a="http://schemas.openxmlformats.org/drawingml/2006/main">
            <a:r>
              <a:t>        "refresh": "현장 판정과 실제 결함을 다음 분석에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"AX18",</a:t>
            </a:r>
          </a:p>
          <a:p xmlns:a="http://schemas.openxmlformats.org/drawingml/2006/main">
            <a:r>
              <a:t>    "success": [</a:t>
            </a:r>
          </a:p>
          <a:p xmlns:a="http://schemas.openxmlformats.org/drawingml/2006/main">
            <a:r>
              <a:t>      "여러 설비 자료의 통합 분석",</a:t>
            </a:r>
          </a:p>
          <a:p xmlns:a="http://schemas.openxmlformats.org/drawingml/2006/main">
            <a:r>
              <a:t>      "정비 우선순위와 현장 조치 연결"</a:t>
            </a:r>
          </a:p>
          <a:p xmlns:a="http://schemas.openxmlformats.org/drawingml/2006/main">
            <a:r>
              <a:t>    ],</a:t>
            </a:r>
          </a:p>
          <a:p xmlns:a="http://schemas.openxmlformats.org/drawingml/2006/main">
            <a:r>
              <a:t>    "risks": [</a:t>
            </a:r>
          </a:p>
          <a:p xmlns:a="http://schemas.openxmlformats.org/drawingml/2006/main">
            <a:r>
              <a:t>      "설비별 데이터 품질 차이",</a:t>
            </a:r>
          </a:p>
          <a:p xmlns:a="http://schemas.openxmlformats.org/drawingml/2006/main">
            <a:r>
              <a:t>      "권고를 정비 완료로 간주하는 위험"</a:t>
            </a:r>
          </a:p>
          <a:p xmlns:a="http://schemas.openxmlformats.org/drawingml/2006/main">
            <a:r>
              <a:t>    ],</a:t>
            </a:r>
          </a:p>
          <a:p xmlns:a="http://schemas.openxmlformats.org/drawingml/2006/main">
            <a:r>
              <a:t>    "architecture": [</a:t>
            </a:r>
          </a:p>
          <a:p xmlns:a="http://schemas.openxmlformats.org/drawingml/2006/main">
            <a:r>
              <a:t>      "설비·검측 수집",</a:t>
            </a:r>
          </a:p>
          <a:p xmlns:a="http://schemas.openxmlformats.org/drawingml/2006/main">
            <a:r>
              <a:t>      "Insight 분석",</a:t>
            </a:r>
          </a:p>
          <a:p xmlns:a="http://schemas.openxmlformats.org/drawingml/2006/main">
            <a:r>
              <a:t>      "설비·이상 이력",</a:t>
            </a:r>
          </a:p>
          <a:p xmlns:a="http://schemas.openxmlformats.org/drawingml/2006/main">
            <a:r>
              <a:t>      "유지관리 담당"</a:t>
            </a:r>
          </a:p>
          <a:p xmlns:a="http://schemas.openxmlformats.org/drawingml/2006/main">
            <a:r>
              <a:t>    ],</a:t>
            </a:r>
          </a:p>
          <a:p xmlns:a="http://schemas.openxmlformats.org/drawingml/2006/main">
            <a:r>
              <a:t>    "transfers": [</a:t>
            </a:r>
          </a:p>
          <a:p xmlns:a="http://schemas.openxmlformats.org/drawingml/2006/main">
            <a:r>
              <a:t>      "설비 관측",</a:t>
            </a:r>
          </a:p>
          <a:p xmlns:a="http://schemas.openxmlformats.org/drawingml/2006/main">
            <a:r>
              <a:t>      "이상 징후",</a:t>
            </a:r>
          </a:p>
          <a:p xmlns:a="http://schemas.openxmlformats.org/drawingml/2006/main">
            <a:r>
              <a:t>      "정비 우선순위",</a:t>
            </a:r>
          </a:p>
          <a:p xmlns:a="http://schemas.openxmlformats.org/drawingml/2006/main">
            <a:r>
              <a:t>      "조치·재점검"</a:t>
            </a:r>
          </a:p>
          <a:p xmlns:a="http://schemas.openxmlformats.org/drawingml/2006/main">
            <a:r>
              <a:t>    ],</a:t>
            </a:r>
          </a:p>
          <a:p xmlns:a="http://schemas.openxmlformats.org/drawingml/2006/main">
            <a:r>
              <a:t>    "control": "누락 설비·중요 결함 별도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Network Rail Insight · 운영기관 / 2023-12-22 https://www.networkrail.co.uk/stories/using-artificial-intelligence-to-create-a-better-railway/</a:t>
            </a:r>
          </a:p>
          <a:p xmlns:a="http://schemas.openxmlformats.org/drawingml/2006/main">
            <a:r>
              <a:t>홈페이지 https://heen1987-ops.github.io/TS-business-Plan-001/index.html?view=casebook&amp;case=AX18</a:t>
            </a:r>
          </a:p>
          <a:p xmlns:a="http://schemas.openxmlformats.org/drawingml/2006/main">
            <a:r>
              <a:t>한계: 철도 운영사 사례 · TS의 검사·감독 책임 범위에 맞춘 현지화 필요</a:t>
            </a:r>
          </a:p>
          <a:p xmlns:a="http://schemas.openxmlformats.org/drawingml/2006/main">
            <a:r>
              <a:t>실패 위험: 설비별 데이터 품질 차이 / 권고를 정비 완료로 간주하는 위험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"AX18",</a:t>
            </a:r>
          </a:p>
          <a:p xmlns:a="http://schemas.openxmlformats.org/drawingml/2006/main">
            <a:r>
              <a:t>    "title": "Network Rail Insight",</a:t>
            </a:r>
          </a:p>
          <a:p xmlns:a="http://schemas.openxmlformats.org/drawingml/2006/main">
            <a:r>
              <a:t>    "region": "해외",</a:t>
            </a:r>
          </a:p>
          <a:p xmlns:a="http://schemas.openxmlformats.org/drawingml/2006/main">
            <a:r>
              <a:t>    "country": "영국",</a:t>
            </a:r>
          </a:p>
          <a:p xmlns:a="http://schemas.openxmlformats.org/drawingml/2006/main">
            <a:r>
              <a:t>    "result": "성공",</a:t>
            </a:r>
          </a:p>
          <a:p xmlns:a="http://schemas.openxmlformats.org/drawingml/2006/main">
            <a:r>
              <a:t>    "kind": "철도 예지정비",</a:t>
            </a:r>
          </a:p>
          <a:p xmlns:a="http://schemas.openxmlformats.org/drawingml/2006/main">
            <a:r>
              <a:t>    "period": "2023 운영 소개",</a:t>
            </a:r>
          </a:p>
          <a:p xmlns:a="http://schemas.openxmlformats.org/drawingml/2006/main">
            <a:r>
              <a:t>    "sources": [</a:t>
            </a:r>
          </a:p>
          <a:p xmlns:a="http://schemas.openxmlformats.org/drawingml/2006/main">
            <a:r>
              <a:t>      "S-AX18"</a:t>
            </a:r>
          </a:p>
          <a:p xmlns:a="http://schemas.openxmlformats.org/drawingml/2006/main">
            <a:r>
              <a:t>    ],</a:t>
            </a:r>
          </a:p>
          <a:p xmlns:a="http://schemas.openxmlformats.org/drawingml/2006/main">
            <a:r>
              <a:t>    "keywords": [</a:t>
            </a:r>
          </a:p>
          <a:p xmlns:a="http://schemas.openxmlformats.org/drawingml/2006/main">
            <a:r>
              <a:t>      "철도 예지정비"</a:t>
            </a:r>
          </a:p>
          <a:p xmlns:a="http://schemas.openxmlformats.org/drawingml/2006/main">
            <a:r>
              <a:t>    ],</a:t>
            </a:r>
          </a:p>
          <a:p xmlns:a="http://schemas.openxmlformats.org/drawingml/2006/main">
            <a:r>
              <a:t>    "fact": "설비 데이터와 AI 분석을 결합하여 철도 유지관리의 이상 징후·우선순위 검토 지원",</a:t>
            </a:r>
          </a:p>
          <a:p xmlns:a="http://schemas.openxmlformats.org/drawingml/2006/main">
            <a:r>
              <a:t>    "limit": "철도 운영사 사례 · TS의 검사·감독 책임 범위에 맞춘 현지화 필요",</a:t>
            </a:r>
          </a:p>
          <a:p xmlns:a="http://schemas.openxmlformats.org/drawingml/2006/main">
            <a:r>
              <a:t>    "flow": [</a:t>
            </a:r>
          </a:p>
          <a:p xmlns:a="http://schemas.openxmlformats.org/drawingml/2006/main">
            <a:r>
              <a:t>      "설비·검측 자료",</a:t>
            </a:r>
          </a:p>
          <a:p xmlns:a="http://schemas.openxmlformats.org/drawingml/2006/main">
            <a:r>
              <a:t>      "AI 이상 분석",</a:t>
            </a:r>
          </a:p>
          <a:p xmlns:a="http://schemas.openxmlformats.org/drawingml/2006/main">
            <a:r>
              <a:t>      "정비 우선순위",</a:t>
            </a:r>
          </a:p>
          <a:p xmlns:a="http://schemas.openxmlformats.org/drawingml/2006/main">
            <a:r>
              <a:t>      "담당자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예측과 정비 의사결정의 연결",</a:t>
            </a:r>
          </a:p>
          <a:p xmlns:a="http://schemas.openxmlformats.org/drawingml/2006/main">
            <a:r>
              <a:t>    "local": "TS 점검 계획의 위험 근거·소관·이력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"설비별 위험 근거 묶음·담당 배정·기한 관리",</a:t>
            </a:r>
          </a:p>
          <a:p xmlns:a="http://schemas.openxmlformats.org/drawingml/2006/main">
            <a:r>
              <a:t>    "test": "결측·상충 신호·미조치 건 우선순위 검증",</a:t>
            </a:r>
          </a:p>
          <a:p xmlns:a="http://schemas.openxmlformats.org/drawingml/2006/main">
            <a:r>
              <a:t>    "metric": "점검 준비시간 / 미조치 추적률",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"AX18",</a:t>
            </a:r>
          </a:p>
          <a:p xmlns:a="http://schemas.openxmlformats.org/drawingml/2006/main">
            <a:r>
              <a:t>    "canonicalId": "AX18",</a:t>
            </a:r>
          </a:p>
          <a:p xmlns:a="http://schemas.openxmlformats.org/drawingml/2006/main">
            <a:r>
              <a:t>    "purpose": "설비 데이터 통합에 기반한 철도 예방정비",</a:t>
            </a:r>
          </a:p>
          <a:p xmlns:a="http://schemas.openxmlformats.org/drawingml/2006/main">
            <a:r>
              <a:t>    "users": "설비관리자·현장 유지보수 담당",</a:t>
            </a:r>
          </a:p>
          <a:p xmlns:a="http://schemas.openxmlformats.org/drawingml/2006/main">
            <a:r>
              <a:t>    "scope": [</a:t>
            </a:r>
          </a:p>
          <a:p xmlns:a="http://schemas.openxmlformats.org/drawingml/2006/main">
            <a:r>
              <a:t>      "이상 징후",</a:t>
            </a:r>
          </a:p>
          <a:p xmlns:a="http://schemas.openxmlformats.org/drawingml/2006/main">
            <a:r>
              <a:t>      "우선순위",</a:t>
            </a:r>
          </a:p>
          <a:p xmlns:a="http://schemas.openxmlformats.org/drawingml/2006/main">
            <a:r>
              <a:t>      "정비 계획"</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"설비·검측 수집",</a:t>
            </a:r>
          </a:p>
          <a:p xmlns:a="http://schemas.openxmlformats.org/drawingml/2006/main">
            <a:r>
              <a:t>        "detail": "설비·위치·고장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"이상 징후 / 우선순위 / 정비 계획",</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"Insight 분석",</a:t>
            </a:r>
          </a:p>
          <a:p xmlns:a="http://schemas.openxmlformats.org/drawingml/2006/main">
            <a:r>
              <a:t>        "detail": "서로 다른 관측자료의 이상 신호 결합",</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"유지관리 담당",</a:t>
            </a:r>
          </a:p>
          <a:p xmlns:a="http://schemas.openxmlformats.org/drawingml/2006/main">
            <a:r>
              <a:t>        "detail": "위험 후보를 현장 점검·정비계획으로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"설비·이상 이력",</a:t>
            </a:r>
          </a:p>
          <a:p xmlns:a="http://schemas.openxmlformats.org/drawingml/2006/main">
            <a:r>
              <a:t>        "detail": "설비 ID 기준 관측·상태·정비 이력 통합",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판정과 실제 결함을 다음 분석에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"설비·검측 자료",</a:t>
            </a:r>
          </a:p>
          <a:p xmlns:a="http://schemas.openxmlformats.org/drawingml/2006/main">
            <a:r>
              <a:t>        "input": "설비·위치·고장 맥락 지정",</a:t>
            </a:r>
          </a:p>
          <a:p xmlns:a="http://schemas.openxmlformats.org/drawingml/2006/main">
            <a:r>
              <a:t>        "process": "설비 ID 기준 관측·상태·정비 이력 통합",</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"title": "AI 이상 분석",</a:t>
            </a:r>
          </a:p>
          <a:p xmlns:a="http://schemas.openxmlformats.org/drawingml/2006/main">
            <a:r>
              <a:t>        "input": "설비 관측",</a:t>
            </a:r>
          </a:p>
          <a:p xmlns:a="http://schemas.openxmlformats.org/drawingml/2006/main">
            <a:r>
              <a:t>        "process": "서로 다른 관측자료의 이상 신호 결합",</a:t>
            </a:r>
          </a:p>
          <a:p xmlns:a="http://schemas.openxmlformats.org/drawingml/2006/main">
            <a:r>
              <a:t>        "output": "이상 징후"</a:t>
            </a:r>
          </a:p>
          <a:p xmlns:a="http://schemas.openxmlformats.org/drawingml/2006/main">
            <a:r>
              <a:t>      },</a:t>
            </a:r>
          </a:p>
          <a:p xmlns:a="http://schemas.openxmlformats.org/drawingml/2006/main">
            <a:r>
              <a:t>      {</a:t>
            </a:r>
          </a:p>
          <a:p xmlns:a="http://schemas.openxmlformats.org/drawingml/2006/main">
            <a:r>
              <a:t>        "title": "정비 우선순위",</a:t>
            </a:r>
          </a:p>
          <a:p xmlns:a="http://schemas.openxmlformats.org/drawingml/2006/main">
            <a:r>
              <a:t>        "input": "이상 징후",</a:t>
            </a:r>
          </a:p>
          <a:p xmlns:a="http://schemas.openxmlformats.org/drawingml/2006/main">
            <a:r>
              <a:t>        "process": "누락 설비·중요 결함 별도 평가",</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"title": "담당자 조치",</a:t>
            </a:r>
          </a:p>
          <a:p xmlns:a="http://schemas.openxmlformats.org/drawingml/2006/main">
            <a:r>
              <a:t>        "input": "정비 우선순위",</a:t>
            </a:r>
          </a:p>
          <a:p xmlns:a="http://schemas.openxmlformats.org/drawingml/2006/main">
            <a:r>
              <a:t>        "process":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"설비의 여러 관측 신호로 정비 우선순위를 검토",</a:t>
            </a:r>
          </a:p>
          <a:p xmlns:a="http://schemas.openxmlformats.org/drawingml/2006/main">
            <a:r>
              <a:t>      "exception": "데이터 지연·상충 신호·정비 완료 이력 누락",</a:t>
            </a:r>
          </a:p>
          <a:p xmlns:a="http://schemas.openxmlformats.org/drawingml/2006/main">
            <a:r>
              <a:t>      "evidence": "우선순위 근거와 현장 확인·정비 결과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"설비관리자·현장 유지보수 담당",</a:t>
            </a:r>
          </a:p>
          <a:p xmlns:a="http://schemas.openxmlformats.org/drawingml/2006/main">
            <a:r>
              <a:t>          "processing": "설비·위치·고장 맥락 지정",</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"설비·이상 이력",</a:t>
            </a:r>
          </a:p>
          <a:p xmlns:a="http://schemas.openxmlformats.org/drawingml/2006/main">
            <a:r>
              <a:t>          "processing": "설비 ID 기준 관측·상태·정비 이력 통합",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"설비 관측",</a:t>
            </a:r>
          </a:p>
          <a:p xmlns:a="http://schemas.openxmlformats.org/drawingml/2006/main">
            <a:r>
              <a:t>          "processing": "서로 다른 관측자료의 이상 신호 결합",</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"정비 우선순위",</a:t>
            </a:r>
          </a:p>
          <a:p xmlns:a="http://schemas.openxmlformats.org/drawingml/2006/main">
            <a:r>
              <a:t>          "processing":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판정과 실제 결함을 다음 분석에 반영",</a:t>
            </a:r>
          </a:p>
          <a:p xmlns:a="http://schemas.openxmlformats.org/drawingml/2006/main">
            <a:r>
              <a:t>          "output": "우선순위 근거와 현장 확인·정비 결과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판정과 실제 결함을 다음 분석에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"S-AX18",</a:t>
            </a:r>
          </a:p>
          <a:p xmlns:a="http://schemas.openxmlformats.org/drawingml/2006/main">
            <a:r>
              <a:t>        "title": "Network Rail Insight · 운영기관 / 2023-12-22",</a:t>
            </a:r>
          </a:p>
          <a:p xmlns:a="http://schemas.openxmlformats.org/drawingml/2006/main">
            <a:r>
              <a:t>        "url": "https://www.networkrail.co.uk/stories/using-artificial-intelligence-to-create-a-better-railway/",</a:t>
            </a:r>
          </a:p>
          <a:p xmlns:a="http://schemas.openxmlformats.org/drawingml/2006/main">
            <a:r>
              <a:t>        "published": "2023 운영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예측과 정비 의사결정의 연결",</a:t>
            </a:r>
          </a:p>
          <a:p xmlns:a="http://schemas.openxmlformats.org/drawingml/2006/main">
            <a:r>
              <a:t>    "local": "TS 점검 계획의 위험 근거·소관·이력 연결",</a:t>
            </a:r>
          </a:p>
          <a:p xmlns:a="http://schemas.openxmlformats.org/drawingml/2006/main">
            <a:r>
              <a:t>    "sourceDetail": null,</a:t>
            </a:r>
          </a:p>
          <a:p xmlns:a="http://schemas.openxmlformats.org/drawingml/2006/main">
            <a:r>
              <a:t>    "narrative": [</a:t>
            </a:r>
          </a:p>
          <a:p xmlns:a="http://schemas.openxmlformats.org/drawingml/2006/main">
            <a:r>
              <a:t>      "여러 철도 설비의 관측 자료를 통합해 예방정비 우선순위를 지원하는 사례. 서로 다른 설비 데이터의 품질과 식별자를 맞추는 기반 작업이 주요 전제.",</a:t>
            </a:r>
          </a:p>
          <a:p xmlns:a="http://schemas.openxmlformats.org/drawingml/2006/main">
            <a:r>
              <a:t>      "설비 ID에 관측·위치·고장·정비 이력을 연결하고 이상 신호를 합쳐 점검 후보를 만드는 구조. 위험 순위는 현장 담당자의 확인 후 정비계획으로 전환하고 실제 결함 여부를 환류.",</a:t>
            </a:r>
          </a:p>
          <a:p xmlns:a="http://schemas.openxmlformats.org/drawingml/2006/main">
            <a:r>
              <a:t>      "CCK에서는 이상 경보를 정비 완료로 처리하지 않는 상태 모델을 적용. 누락 설비, 관측 결측, 실제 결함과 오경보, 점검 후 조치 완료를 함께 추적하는 TS 후속 업무 설계."</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"설비 상태 접점",</a:t>
            </a:r>
          </a:p>
          <a:p xmlns:a="http://schemas.openxmlformats.org/drawingml/2006/main">
            <a:r>
              <a:t>          "layer": "이용 접점",</a:t>
            </a:r>
          </a:p>
          <a:p xmlns:a="http://schemas.openxmlformats.org/drawingml/2006/main">
            <a:r>
              <a:t>          "detail": "설비관리자·현장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"위치·고장 맥락",</a:t>
            </a:r>
          </a:p>
          <a:p xmlns:a="http://schemas.openxmlformats.org/drawingml/2006/main">
            <a:r>
              <a:t>          "layer": "업무 문맥",</a:t>
            </a:r>
          </a:p>
          <a:p xmlns:a="http://schemas.openxmlformats.org/drawingml/2006/main">
            <a:r>
              <a:t>          "detail": "설비·위치·고장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"다종 관측 조회",</a:t>
            </a:r>
          </a:p>
          <a:p xmlns:a="http://schemas.openxmlformats.org/drawingml/2006/main">
            <a:r>
              <a:t>          "layer": "자료 조회",</a:t>
            </a:r>
          </a:p>
          <a:p xmlns:a="http://schemas.openxmlformats.org/drawingml/2006/main">
            <a:r>
              <a:t>          "detail": "설비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신호 결합",</a:t>
            </a:r>
          </a:p>
          <a:p xmlns:a="http://schemas.openxmlformats.org/drawingml/2006/main">
            <a:r>
              <a:t>          "layer": "핵심 처리",</a:t>
            </a:r>
          </a:p>
          <a:p xmlns:a="http://schemas.openxmlformats.org/drawingml/2006/main">
            <a:r>
              <a:t>          "detail": "서로 다른 관측자료의 이상 신호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 설비 검사",</a:t>
            </a:r>
          </a:p>
          <a:p xmlns:a="http://schemas.openxmlformats.org/drawingml/2006/main">
            <a:r>
              <a:t>          "layer": "결과 검증",</a:t>
            </a:r>
          </a:p>
          <a:p xmlns:a="http://schemas.openxmlformats.org/drawingml/2006/main">
            <a:r>
              <a:t>          "detail": "누락 설비·중요 결함 별도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점검 확인",</a:t>
            </a:r>
          </a:p>
          <a:p xmlns:a="http://schemas.openxmlformats.org/drawingml/2006/main">
            <a:r>
              <a:t>          "layer": "사람 확인",</a:t>
            </a:r>
          </a:p>
          <a:p xmlns:a="http://schemas.openxmlformats.org/drawingml/2006/main">
            <a:r>
              <a:t>          "detail": "설비의 여러 관측 신호로 정비 우선순위를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 우선순위",</a:t>
            </a:r>
          </a:p>
          <a:p xmlns:a="http://schemas.openxmlformats.org/drawingml/2006/main">
            <a:r>
              <a:t>          "layer": "업무 연결",</a:t>
            </a:r>
          </a:p>
          <a:p xmlns:a="http://schemas.openxmlformats.org/drawingml/2006/main">
            <a:r>
              <a:t>          "detail": "위험 후보를 현장 점검·정비계획으로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"결함 결과 환류",</a:t>
            </a:r>
          </a:p>
          <a:p xmlns:a="http://schemas.openxmlformats.org/drawingml/2006/main">
            <a:r>
              <a:t>          "layer": "운영 관측",</a:t>
            </a:r>
          </a:p>
          <a:p xmlns:a="http://schemas.openxmlformats.org/drawingml/2006/main">
            <a:r>
              <a:t>          "detail": "현장 판정과 실제 결함을 다음 분석에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"관측·설비대장",</a:t>
            </a:r>
          </a:p>
          <a:p xmlns:a="http://schemas.openxmlformats.org/drawingml/2006/main">
            <a:r>
              <a:t>          "layer": "데이터 원천",</a:t>
            </a:r>
          </a:p>
          <a:p xmlns:a="http://schemas.openxmlformats.org/drawingml/2006/main">
            <a:r>
              <a:t>          "detail": "설비·이상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"설비 식별자 통합",</a:t>
            </a:r>
          </a:p>
          <a:p xmlns:a="http://schemas.openxmlformats.org/drawingml/2006/main">
            <a:r>
              <a:t>          "layer": "준비·갱신",</a:t>
            </a:r>
          </a:p>
          <a:p xmlns:a="http://schemas.openxmlformats.org/drawingml/2006/main">
            <a:r>
              <a:t>          "detail": "설비 ID 기준 관측·상태·정비 이력 통합",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"상태·정비 이력",</a:t>
            </a:r>
          </a:p>
          <a:p xmlns:a="http://schemas.openxmlformats.org/drawingml/2006/main">
            <a:r>
              <a:t>          "layer": "상태·지식 저장",</a:t>
            </a:r>
          </a:p>
          <a:p xmlns:a="http://schemas.openxmlformats.org/drawingml/2006/main">
            <a:r>
              <a:t>          "detail": "우선순위 근거와 현장 확인·정비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"설비 관리 책임",</a:t>
            </a:r>
          </a:p>
          <a:p xmlns:a="http://schemas.openxmlformats.org/drawingml/2006/main">
            <a:r>
              <a:t>          "layer": "권한·정책",</a:t>
            </a:r>
          </a:p>
          <a:p xmlns:a="http://schemas.openxmlformats.org/drawingml/2006/main">
            <a:r>
              <a:t>          "detail": "데이터 지연·상충 신호·정비 완료 이력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"설비·검측 자료 → AI 이상 분석 → 정비 우선순위 → 담당자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"설비·이상 이력",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"정비 우선순위",</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"설비 관리 책임",</a:t>
            </a:r>
          </a:p>
          <a:p xmlns:a="http://schemas.openxmlformats.org/drawingml/2006/main">
            <a:r>
              <a:t>          "check": "누락 설비·중요 결함 별도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"조치·재점검",</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판정과 실제 결함을 다음 분석에 반영",</a:t>
            </a:r>
          </a:p>
          <a:p xmlns:a="http://schemas.openxmlformats.org/drawingml/2006/main">
            <a:r>
              <a:t>          "check": "현장 판정과 실제 결함을 다음 분석에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"설비 데이터 통합에 기반한 철도 예방정비 / 이상 징후·우선순위·정비 계획",</a:t>
            </a:r>
          </a:p>
          <a:p xmlns:a="http://schemas.openxmlformats.org/drawingml/2006/main">
            <a:r>
              <a:t>        "extension": "TS 점검 계획의 위험 근거·소관·이력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"데이터 지연·상충 신호·정비 완료 이력 누락",</a:t>
            </a:r>
          </a:p>
          <a:p xmlns:a="http://schemas.openxmlformats.org/drawingml/2006/main">
            <a:r>
              <a:t>        "hold": "누락 설비·중요 결함 별도 평가",</a:t>
            </a:r>
          </a:p>
          <a:p xmlns:a="http://schemas.openxmlformats.org/drawingml/2006/main">
            <a:r>
              <a:t>        "recovery": "현장 판정과 실제 결함을 다음 분석에 반영",</a:t>
            </a:r>
          </a:p>
          <a:p xmlns:a="http://schemas.openxmlformats.org/drawingml/2006/main">
            <a:r>
              <a:t>        "evidence": "우선순위 근거와 현장 확인·정비 결과 대사"</a:t>
            </a:r>
          </a:p>
          <a:p xmlns:a="http://schemas.openxmlformats.org/drawingml/2006/main">
            <a:r>
              <a:t>      },</a:t>
            </a:r>
          </a:p>
          <a:p xmlns:a="http://schemas.openxmlformats.org/drawingml/2006/main">
            <a:r>
              <a:t>      "data": {</a:t>
            </a:r>
          </a:p>
          <a:p xmlns:a="http://schemas.openxmlformats.org/drawingml/2006/main">
            <a:r>
              <a:t>        "source": "설비·이상 이력",</a:t>
            </a:r>
          </a:p>
          <a:p xmlns:a="http://schemas.openxmlformats.org/drawingml/2006/main">
            <a:r>
              <a:t>        "prepare": "설비 ID 기준 관측·상태·정비 이력 통합",</a:t>
            </a:r>
          </a:p>
          <a:p xmlns:a="http://schemas.openxmlformats.org/drawingml/2006/main">
            <a:r>
              <a:t>        "output": "설비 관측",</a:t>
            </a:r>
          </a:p>
          <a:p xmlns:a="http://schemas.openxmlformats.org/drawingml/2006/main">
            <a:r>
              <a:t>        "refresh": "현장 판정과 실제 결함을 다음 분석에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"AX18",</a:t>
            </a:r>
          </a:p>
          <a:p xmlns:a="http://schemas.openxmlformats.org/drawingml/2006/main">
            <a:r>
              <a:t>    "success": [</a:t>
            </a:r>
          </a:p>
          <a:p xmlns:a="http://schemas.openxmlformats.org/drawingml/2006/main">
            <a:r>
              <a:t>      "여러 설비 자료의 통합 분석",</a:t>
            </a:r>
          </a:p>
          <a:p xmlns:a="http://schemas.openxmlformats.org/drawingml/2006/main">
            <a:r>
              <a:t>      "정비 우선순위와 현장 조치 연결"</a:t>
            </a:r>
          </a:p>
          <a:p xmlns:a="http://schemas.openxmlformats.org/drawingml/2006/main">
            <a:r>
              <a:t>    ],</a:t>
            </a:r>
          </a:p>
          <a:p xmlns:a="http://schemas.openxmlformats.org/drawingml/2006/main">
            <a:r>
              <a:t>    "risks": [</a:t>
            </a:r>
          </a:p>
          <a:p xmlns:a="http://schemas.openxmlformats.org/drawingml/2006/main">
            <a:r>
              <a:t>      "설비별 데이터 품질 차이",</a:t>
            </a:r>
          </a:p>
          <a:p xmlns:a="http://schemas.openxmlformats.org/drawingml/2006/main">
            <a:r>
              <a:t>      "권고를 정비 완료로 간주하는 위험"</a:t>
            </a:r>
          </a:p>
          <a:p xmlns:a="http://schemas.openxmlformats.org/drawingml/2006/main">
            <a:r>
              <a:t>    ],</a:t>
            </a:r>
          </a:p>
          <a:p xmlns:a="http://schemas.openxmlformats.org/drawingml/2006/main">
            <a:r>
              <a:t>    "architecture": [</a:t>
            </a:r>
          </a:p>
          <a:p xmlns:a="http://schemas.openxmlformats.org/drawingml/2006/main">
            <a:r>
              <a:t>      "설비·검측 수집",</a:t>
            </a:r>
          </a:p>
          <a:p xmlns:a="http://schemas.openxmlformats.org/drawingml/2006/main">
            <a:r>
              <a:t>      "Insight 분석",</a:t>
            </a:r>
          </a:p>
          <a:p xmlns:a="http://schemas.openxmlformats.org/drawingml/2006/main">
            <a:r>
              <a:t>      "설비·이상 이력",</a:t>
            </a:r>
          </a:p>
          <a:p xmlns:a="http://schemas.openxmlformats.org/drawingml/2006/main">
            <a:r>
              <a:t>      "유지관리 담당"</a:t>
            </a:r>
          </a:p>
          <a:p xmlns:a="http://schemas.openxmlformats.org/drawingml/2006/main">
            <a:r>
              <a:t>    ],</a:t>
            </a:r>
          </a:p>
          <a:p xmlns:a="http://schemas.openxmlformats.org/drawingml/2006/main">
            <a:r>
              <a:t>    "transfers": [</a:t>
            </a:r>
          </a:p>
          <a:p xmlns:a="http://schemas.openxmlformats.org/drawingml/2006/main">
            <a:r>
              <a:t>      "설비 관측",</a:t>
            </a:r>
          </a:p>
          <a:p xmlns:a="http://schemas.openxmlformats.org/drawingml/2006/main">
            <a:r>
              <a:t>      "이상 징후",</a:t>
            </a:r>
          </a:p>
          <a:p xmlns:a="http://schemas.openxmlformats.org/drawingml/2006/main">
            <a:r>
              <a:t>      "정비 우선순위",</a:t>
            </a:r>
          </a:p>
          <a:p xmlns:a="http://schemas.openxmlformats.org/drawingml/2006/main">
            <a:r>
              <a:t>      "조치·재점검"</a:t>
            </a:r>
          </a:p>
          <a:p xmlns:a="http://schemas.openxmlformats.org/drawingml/2006/main">
            <a:r>
              <a:t>    ],</a:t>
            </a:r>
          </a:p>
          <a:p xmlns:a="http://schemas.openxmlformats.org/drawingml/2006/main">
            <a:r>
              <a:t>    "control": "누락 설비·중요 결함 별도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Network Rail Insight · 운영기관 / 2023-12-22 https://www.networkrail.co.uk/stories/using-artificial-intelligence-to-create-a-better-railway/</a:t>
            </a:r>
          </a:p>
          <a:p xmlns:a="http://schemas.openxmlformats.org/drawingml/2006/main">
            <a:r>
              <a:t>홈페이지 https://heen1987-ops.github.io/TS-business-Plan-001/index.html?view=casebook&amp;case=AX18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"AX18",</a:t>
            </a:r>
          </a:p>
          <a:p xmlns:a="http://schemas.openxmlformats.org/drawingml/2006/main">
            <a:r>
              <a:t>    "title": "Network Rail Insight",</a:t>
            </a:r>
          </a:p>
          <a:p xmlns:a="http://schemas.openxmlformats.org/drawingml/2006/main">
            <a:r>
              <a:t>    "region": "해외",</a:t>
            </a:r>
          </a:p>
          <a:p xmlns:a="http://schemas.openxmlformats.org/drawingml/2006/main">
            <a:r>
              <a:t>    "country": "영국",</a:t>
            </a:r>
          </a:p>
          <a:p xmlns:a="http://schemas.openxmlformats.org/drawingml/2006/main">
            <a:r>
              <a:t>    "result": "성공",</a:t>
            </a:r>
          </a:p>
          <a:p xmlns:a="http://schemas.openxmlformats.org/drawingml/2006/main">
            <a:r>
              <a:t>    "kind": "철도 예지정비",</a:t>
            </a:r>
          </a:p>
          <a:p xmlns:a="http://schemas.openxmlformats.org/drawingml/2006/main">
            <a:r>
              <a:t>    "period": "2023 운영 소개",</a:t>
            </a:r>
          </a:p>
          <a:p xmlns:a="http://schemas.openxmlformats.org/drawingml/2006/main">
            <a:r>
              <a:t>    "sources": [</a:t>
            </a:r>
          </a:p>
          <a:p xmlns:a="http://schemas.openxmlformats.org/drawingml/2006/main">
            <a:r>
              <a:t>      "S-AX18"</a:t>
            </a:r>
          </a:p>
          <a:p xmlns:a="http://schemas.openxmlformats.org/drawingml/2006/main">
            <a:r>
              <a:t>    ],</a:t>
            </a:r>
          </a:p>
          <a:p xmlns:a="http://schemas.openxmlformats.org/drawingml/2006/main">
            <a:r>
              <a:t>    "keywords": [</a:t>
            </a:r>
          </a:p>
          <a:p xmlns:a="http://schemas.openxmlformats.org/drawingml/2006/main">
            <a:r>
              <a:t>      "철도 예지정비"</a:t>
            </a:r>
          </a:p>
          <a:p xmlns:a="http://schemas.openxmlformats.org/drawingml/2006/main">
            <a:r>
              <a:t>    ],</a:t>
            </a:r>
          </a:p>
          <a:p xmlns:a="http://schemas.openxmlformats.org/drawingml/2006/main">
            <a:r>
              <a:t>    "fact": "설비 데이터와 AI 분석을 결합하여 철도 유지관리의 이상 징후·우선순위 검토 지원",</a:t>
            </a:r>
          </a:p>
          <a:p xmlns:a="http://schemas.openxmlformats.org/drawingml/2006/main">
            <a:r>
              <a:t>    "limit": "철도 운영사 사례 · TS의 검사·감독 책임 범위에 맞춘 현지화 필요",</a:t>
            </a:r>
          </a:p>
          <a:p xmlns:a="http://schemas.openxmlformats.org/drawingml/2006/main">
            <a:r>
              <a:t>    "flow": [</a:t>
            </a:r>
          </a:p>
          <a:p xmlns:a="http://schemas.openxmlformats.org/drawingml/2006/main">
            <a:r>
              <a:t>      "설비·검측 자료",</a:t>
            </a:r>
          </a:p>
          <a:p xmlns:a="http://schemas.openxmlformats.org/drawingml/2006/main">
            <a:r>
              <a:t>      "AI 이상 분석",</a:t>
            </a:r>
          </a:p>
          <a:p xmlns:a="http://schemas.openxmlformats.org/drawingml/2006/main">
            <a:r>
              <a:t>      "정비 우선순위",</a:t>
            </a:r>
          </a:p>
          <a:p xmlns:a="http://schemas.openxmlformats.org/drawingml/2006/main">
            <a:r>
              <a:t>      "담당자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예측과 정비 의사결정의 연결",</a:t>
            </a:r>
          </a:p>
          <a:p xmlns:a="http://schemas.openxmlformats.org/drawingml/2006/main">
            <a:r>
              <a:t>    "local": "TS 점검 계획의 위험 근거·소관·이력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"설비별 위험 근거 묶음·담당 배정·기한 관리",</a:t>
            </a:r>
          </a:p>
          <a:p xmlns:a="http://schemas.openxmlformats.org/drawingml/2006/main">
            <a:r>
              <a:t>    "test": "결측·상충 신호·미조치 건 우선순위 검증",</a:t>
            </a:r>
          </a:p>
          <a:p xmlns:a="http://schemas.openxmlformats.org/drawingml/2006/main">
            <a:r>
              <a:t>    "metric": "점검 준비시간 / 미조치 추적률",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"AX18",</a:t>
            </a:r>
          </a:p>
          <a:p xmlns:a="http://schemas.openxmlformats.org/drawingml/2006/main">
            <a:r>
              <a:t>    "canonicalId": "AX18",</a:t>
            </a:r>
          </a:p>
          <a:p xmlns:a="http://schemas.openxmlformats.org/drawingml/2006/main">
            <a:r>
              <a:t>    "purpose": "설비 데이터 통합에 기반한 철도 예방정비",</a:t>
            </a:r>
          </a:p>
          <a:p xmlns:a="http://schemas.openxmlformats.org/drawingml/2006/main">
            <a:r>
              <a:t>    "users": "설비관리자·현장 유지보수 담당",</a:t>
            </a:r>
          </a:p>
          <a:p xmlns:a="http://schemas.openxmlformats.org/drawingml/2006/main">
            <a:r>
              <a:t>    "scope": [</a:t>
            </a:r>
          </a:p>
          <a:p xmlns:a="http://schemas.openxmlformats.org/drawingml/2006/main">
            <a:r>
              <a:t>      "이상 징후",</a:t>
            </a:r>
          </a:p>
          <a:p xmlns:a="http://schemas.openxmlformats.org/drawingml/2006/main">
            <a:r>
              <a:t>      "우선순위",</a:t>
            </a:r>
          </a:p>
          <a:p xmlns:a="http://schemas.openxmlformats.org/drawingml/2006/main">
            <a:r>
              <a:t>      "정비 계획"</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"설비·검측 수집",</a:t>
            </a:r>
          </a:p>
          <a:p xmlns:a="http://schemas.openxmlformats.org/drawingml/2006/main">
            <a:r>
              <a:t>        "detail": "설비·위치·고장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"이상 징후 / 우선순위 / 정비 계획",</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"Insight 분석",</a:t>
            </a:r>
          </a:p>
          <a:p xmlns:a="http://schemas.openxmlformats.org/drawingml/2006/main">
            <a:r>
              <a:t>        "detail": "서로 다른 관측자료의 이상 신호 결합",</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"유지관리 담당",</a:t>
            </a:r>
          </a:p>
          <a:p xmlns:a="http://schemas.openxmlformats.org/drawingml/2006/main">
            <a:r>
              <a:t>        "detail": "위험 후보를 현장 점검·정비계획으로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"설비·이상 이력",</a:t>
            </a:r>
          </a:p>
          <a:p xmlns:a="http://schemas.openxmlformats.org/drawingml/2006/main">
            <a:r>
              <a:t>        "detail": "설비 ID 기준 관측·상태·정비 이력 통합",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판정과 실제 결함을 다음 분석에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"설비·검측 자료",</a:t>
            </a:r>
          </a:p>
          <a:p xmlns:a="http://schemas.openxmlformats.org/drawingml/2006/main">
            <a:r>
              <a:t>        "input": "설비·위치·고장 맥락 지정",</a:t>
            </a:r>
          </a:p>
          <a:p xmlns:a="http://schemas.openxmlformats.org/drawingml/2006/main">
            <a:r>
              <a:t>        "process": "설비 ID 기준 관측·상태·정비 이력 통합",</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"title": "AI 이상 분석",</a:t>
            </a:r>
          </a:p>
          <a:p xmlns:a="http://schemas.openxmlformats.org/drawingml/2006/main">
            <a:r>
              <a:t>        "input": "설비 관측",</a:t>
            </a:r>
          </a:p>
          <a:p xmlns:a="http://schemas.openxmlformats.org/drawingml/2006/main">
            <a:r>
              <a:t>        "process": "서로 다른 관측자료의 이상 신호 결합",</a:t>
            </a:r>
          </a:p>
          <a:p xmlns:a="http://schemas.openxmlformats.org/drawingml/2006/main">
            <a:r>
              <a:t>        "output": "이상 징후"</a:t>
            </a:r>
          </a:p>
          <a:p xmlns:a="http://schemas.openxmlformats.org/drawingml/2006/main">
            <a:r>
              <a:t>      },</a:t>
            </a:r>
          </a:p>
          <a:p xmlns:a="http://schemas.openxmlformats.org/drawingml/2006/main">
            <a:r>
              <a:t>      {</a:t>
            </a:r>
          </a:p>
          <a:p xmlns:a="http://schemas.openxmlformats.org/drawingml/2006/main">
            <a:r>
              <a:t>        "title": "정비 우선순위",</a:t>
            </a:r>
          </a:p>
          <a:p xmlns:a="http://schemas.openxmlformats.org/drawingml/2006/main">
            <a:r>
              <a:t>        "input": "이상 징후",</a:t>
            </a:r>
          </a:p>
          <a:p xmlns:a="http://schemas.openxmlformats.org/drawingml/2006/main">
            <a:r>
              <a:t>        "process": "누락 설비·중요 결함 별도 평가",</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"title": "담당자 조치",</a:t>
            </a:r>
          </a:p>
          <a:p xmlns:a="http://schemas.openxmlformats.org/drawingml/2006/main">
            <a:r>
              <a:t>        "input": "정비 우선순위",</a:t>
            </a:r>
          </a:p>
          <a:p xmlns:a="http://schemas.openxmlformats.org/drawingml/2006/main">
            <a:r>
              <a:t>        "process":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"설비의 여러 관측 신호로 정비 우선순위를 검토",</a:t>
            </a:r>
          </a:p>
          <a:p xmlns:a="http://schemas.openxmlformats.org/drawingml/2006/main">
            <a:r>
              <a:t>      "exception": "데이터 지연·상충 신호·정비 완료 이력 누락",</a:t>
            </a:r>
          </a:p>
          <a:p xmlns:a="http://schemas.openxmlformats.org/drawingml/2006/main">
            <a:r>
              <a:t>      "evidence": "우선순위 근거와 현장 확인·정비 결과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"설비관리자·현장 유지보수 담당",</a:t>
            </a:r>
          </a:p>
          <a:p xmlns:a="http://schemas.openxmlformats.org/drawingml/2006/main">
            <a:r>
              <a:t>          "processing": "설비·위치·고장 맥락 지정",</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"설비·이상 이력",</a:t>
            </a:r>
          </a:p>
          <a:p xmlns:a="http://schemas.openxmlformats.org/drawingml/2006/main">
            <a:r>
              <a:t>          "processing": "설비 ID 기준 관측·상태·정비 이력 통합",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"설비 관측",</a:t>
            </a:r>
          </a:p>
          <a:p xmlns:a="http://schemas.openxmlformats.org/drawingml/2006/main">
            <a:r>
              <a:t>          "processing": "서로 다른 관측자료의 이상 신호 결합",</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"정비 우선순위",</a:t>
            </a:r>
          </a:p>
          <a:p xmlns:a="http://schemas.openxmlformats.org/drawingml/2006/main">
            <a:r>
              <a:t>          "processing":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판정과 실제 결함을 다음 분석에 반영",</a:t>
            </a:r>
          </a:p>
          <a:p xmlns:a="http://schemas.openxmlformats.org/drawingml/2006/main">
            <a:r>
              <a:t>          "output": "우선순위 근거와 현장 확인·정비 결과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판정과 실제 결함을 다음 분석에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"S-AX18",</a:t>
            </a:r>
          </a:p>
          <a:p xmlns:a="http://schemas.openxmlformats.org/drawingml/2006/main">
            <a:r>
              <a:t>        "title": "Network Rail Insight · 운영기관 / 2023-12-22",</a:t>
            </a:r>
          </a:p>
          <a:p xmlns:a="http://schemas.openxmlformats.org/drawingml/2006/main">
            <a:r>
              <a:t>        "url": "https://www.networkrail.co.uk/stories/using-artificial-intelligence-to-create-a-better-railway/",</a:t>
            </a:r>
          </a:p>
          <a:p xmlns:a="http://schemas.openxmlformats.org/drawingml/2006/main">
            <a:r>
              <a:t>        "published": "2023 운영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예측과 정비 의사결정의 연결",</a:t>
            </a:r>
          </a:p>
          <a:p xmlns:a="http://schemas.openxmlformats.org/drawingml/2006/main">
            <a:r>
              <a:t>    "local": "TS 점검 계획의 위험 근거·소관·이력 연결",</a:t>
            </a:r>
          </a:p>
          <a:p xmlns:a="http://schemas.openxmlformats.org/drawingml/2006/main">
            <a:r>
              <a:t>    "sourceDetail": null,</a:t>
            </a:r>
          </a:p>
          <a:p xmlns:a="http://schemas.openxmlformats.org/drawingml/2006/main">
            <a:r>
              <a:t>    "narrative": [</a:t>
            </a:r>
          </a:p>
          <a:p xmlns:a="http://schemas.openxmlformats.org/drawingml/2006/main">
            <a:r>
              <a:t>      "여러 철도 설비의 관측 자료를 통합해 예방정비 우선순위를 지원하는 사례. 서로 다른 설비 데이터의 품질과 식별자를 맞추는 기반 작업이 주요 전제.",</a:t>
            </a:r>
          </a:p>
          <a:p xmlns:a="http://schemas.openxmlformats.org/drawingml/2006/main">
            <a:r>
              <a:t>      "설비 ID에 관측·위치·고장·정비 이력을 연결하고 이상 신호를 합쳐 점검 후보를 만드는 구조. 위험 순위는 현장 담당자의 확인 후 정비계획으로 전환하고 실제 결함 여부를 환류.",</a:t>
            </a:r>
          </a:p>
          <a:p xmlns:a="http://schemas.openxmlformats.org/drawingml/2006/main">
            <a:r>
              <a:t>      "CCK에서는 이상 경보를 정비 완료로 처리하지 않는 상태 모델을 적용. 누락 설비, 관측 결측, 실제 결함과 오경보, 점검 후 조치 완료를 함께 추적하는 TS 후속 업무 설계."</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"설비 상태 접점",</a:t>
            </a:r>
          </a:p>
          <a:p xmlns:a="http://schemas.openxmlformats.org/drawingml/2006/main">
            <a:r>
              <a:t>          "layer": "이용 접점",</a:t>
            </a:r>
          </a:p>
          <a:p xmlns:a="http://schemas.openxmlformats.org/drawingml/2006/main">
            <a:r>
              <a:t>          "detail": "설비관리자·현장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"위치·고장 맥락",</a:t>
            </a:r>
          </a:p>
          <a:p xmlns:a="http://schemas.openxmlformats.org/drawingml/2006/main">
            <a:r>
              <a:t>          "layer": "업무 문맥",</a:t>
            </a:r>
          </a:p>
          <a:p xmlns:a="http://schemas.openxmlformats.org/drawingml/2006/main">
            <a:r>
              <a:t>          "detail": "설비·위치·고장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"다종 관측 조회",</a:t>
            </a:r>
          </a:p>
          <a:p xmlns:a="http://schemas.openxmlformats.org/drawingml/2006/main">
            <a:r>
              <a:t>          "layer": "자료 조회",</a:t>
            </a:r>
          </a:p>
          <a:p xmlns:a="http://schemas.openxmlformats.org/drawingml/2006/main">
            <a:r>
              <a:t>          "detail": "설비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신호 결합",</a:t>
            </a:r>
          </a:p>
          <a:p xmlns:a="http://schemas.openxmlformats.org/drawingml/2006/main">
            <a:r>
              <a:t>          "layer": "핵심 처리",</a:t>
            </a:r>
          </a:p>
          <a:p xmlns:a="http://schemas.openxmlformats.org/drawingml/2006/main">
            <a:r>
              <a:t>          "detail": "서로 다른 관측자료의 이상 신호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 설비 검사",</a:t>
            </a:r>
          </a:p>
          <a:p xmlns:a="http://schemas.openxmlformats.org/drawingml/2006/main">
            <a:r>
              <a:t>          "layer": "결과 검증",</a:t>
            </a:r>
          </a:p>
          <a:p xmlns:a="http://schemas.openxmlformats.org/drawingml/2006/main">
            <a:r>
              <a:t>          "detail": "누락 설비·중요 결함 별도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점검 확인",</a:t>
            </a:r>
          </a:p>
          <a:p xmlns:a="http://schemas.openxmlformats.org/drawingml/2006/main">
            <a:r>
              <a:t>          "layer": "사람 확인",</a:t>
            </a:r>
          </a:p>
          <a:p xmlns:a="http://schemas.openxmlformats.org/drawingml/2006/main">
            <a:r>
              <a:t>          "detail": "설비의 여러 관측 신호로 정비 우선순위를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 우선순위",</a:t>
            </a:r>
          </a:p>
          <a:p xmlns:a="http://schemas.openxmlformats.org/drawingml/2006/main">
            <a:r>
              <a:t>          "layer": "업무 연결",</a:t>
            </a:r>
          </a:p>
          <a:p xmlns:a="http://schemas.openxmlformats.org/drawingml/2006/main">
            <a:r>
              <a:t>          "detail": "위험 후보를 현장 점검·정비계획으로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"결함 결과 환류",</a:t>
            </a:r>
          </a:p>
          <a:p xmlns:a="http://schemas.openxmlformats.org/drawingml/2006/main">
            <a:r>
              <a:t>          "layer": "운영 관측",</a:t>
            </a:r>
          </a:p>
          <a:p xmlns:a="http://schemas.openxmlformats.org/drawingml/2006/main">
            <a:r>
              <a:t>          "detail": "현장 판정과 실제 결함을 다음 분석에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"관측·설비대장",</a:t>
            </a:r>
          </a:p>
          <a:p xmlns:a="http://schemas.openxmlformats.org/drawingml/2006/main">
            <a:r>
              <a:t>          "layer": "데이터 원천",</a:t>
            </a:r>
          </a:p>
          <a:p xmlns:a="http://schemas.openxmlformats.org/drawingml/2006/main">
            <a:r>
              <a:t>          "detail": "설비·이상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"설비 식별자 통합",</a:t>
            </a:r>
          </a:p>
          <a:p xmlns:a="http://schemas.openxmlformats.org/drawingml/2006/main">
            <a:r>
              <a:t>          "layer": "준비·갱신",</a:t>
            </a:r>
          </a:p>
          <a:p xmlns:a="http://schemas.openxmlformats.org/drawingml/2006/main">
            <a:r>
              <a:t>          "detail": "설비 ID 기준 관측·상태·정비 이력 통합",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"상태·정비 이력",</a:t>
            </a:r>
          </a:p>
          <a:p xmlns:a="http://schemas.openxmlformats.org/drawingml/2006/main">
            <a:r>
              <a:t>          "layer": "상태·지식 저장",</a:t>
            </a:r>
          </a:p>
          <a:p xmlns:a="http://schemas.openxmlformats.org/drawingml/2006/main">
            <a:r>
              <a:t>          "detail": "우선순위 근거와 현장 확인·정비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"설비 관리 책임",</a:t>
            </a:r>
          </a:p>
          <a:p xmlns:a="http://schemas.openxmlformats.org/drawingml/2006/main">
            <a:r>
              <a:t>          "layer": "권한·정책",</a:t>
            </a:r>
          </a:p>
          <a:p xmlns:a="http://schemas.openxmlformats.org/drawingml/2006/main">
            <a:r>
              <a:t>          "detail": "데이터 지연·상충 신호·정비 완료 이력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"설비·검측 자료 → AI 이상 분석 → 정비 우선순위 → 담당자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"설비·이상 이력",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"정비 우선순위",</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"설비 관리 책임",</a:t>
            </a:r>
          </a:p>
          <a:p xmlns:a="http://schemas.openxmlformats.org/drawingml/2006/main">
            <a:r>
              <a:t>          "check": "누락 설비·중요 결함 별도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"조치·재점검",</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판정과 실제 결함을 다음 분석에 반영",</a:t>
            </a:r>
          </a:p>
          <a:p xmlns:a="http://schemas.openxmlformats.org/drawingml/2006/main">
            <a:r>
              <a:t>          "check": "현장 판정과 실제 결함을 다음 분석에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"설비 데이터 통합에 기반한 철도 예방정비 / 이상 징후·우선순위·정비 계획",</a:t>
            </a:r>
          </a:p>
          <a:p xmlns:a="http://schemas.openxmlformats.org/drawingml/2006/main">
            <a:r>
              <a:t>        "extension": "TS 점검 계획의 위험 근거·소관·이력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"데이터 지연·상충 신호·정비 완료 이력 누락",</a:t>
            </a:r>
          </a:p>
          <a:p xmlns:a="http://schemas.openxmlformats.org/drawingml/2006/main">
            <a:r>
              <a:t>        "hold": "누락 설비·중요 결함 별도 평가",</a:t>
            </a:r>
          </a:p>
          <a:p xmlns:a="http://schemas.openxmlformats.org/drawingml/2006/main">
            <a:r>
              <a:t>        "recovery": "현장 판정과 실제 결함을 다음 분석에 반영",</a:t>
            </a:r>
          </a:p>
          <a:p xmlns:a="http://schemas.openxmlformats.org/drawingml/2006/main">
            <a:r>
              <a:t>        "evidence": "우선순위 근거와 현장 확인·정비 결과 대사"</a:t>
            </a:r>
          </a:p>
          <a:p xmlns:a="http://schemas.openxmlformats.org/drawingml/2006/main">
            <a:r>
              <a:t>      },</a:t>
            </a:r>
          </a:p>
          <a:p xmlns:a="http://schemas.openxmlformats.org/drawingml/2006/main">
            <a:r>
              <a:t>      "data": {</a:t>
            </a:r>
          </a:p>
          <a:p xmlns:a="http://schemas.openxmlformats.org/drawingml/2006/main">
            <a:r>
              <a:t>        "source": "설비·이상 이력",</a:t>
            </a:r>
          </a:p>
          <a:p xmlns:a="http://schemas.openxmlformats.org/drawingml/2006/main">
            <a:r>
              <a:t>        "prepare": "설비 ID 기준 관측·상태·정비 이력 통합",</a:t>
            </a:r>
          </a:p>
          <a:p xmlns:a="http://schemas.openxmlformats.org/drawingml/2006/main">
            <a:r>
              <a:t>        "output": "설비 관측",</a:t>
            </a:r>
          </a:p>
          <a:p xmlns:a="http://schemas.openxmlformats.org/drawingml/2006/main">
            <a:r>
              <a:t>        "refresh": "현장 판정과 실제 결함을 다음 분석에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"AX18",</a:t>
            </a:r>
          </a:p>
          <a:p xmlns:a="http://schemas.openxmlformats.org/drawingml/2006/main">
            <a:r>
              <a:t>    "success": [</a:t>
            </a:r>
          </a:p>
          <a:p xmlns:a="http://schemas.openxmlformats.org/drawingml/2006/main">
            <a:r>
              <a:t>      "여러 설비 자료의 통합 분석",</a:t>
            </a:r>
          </a:p>
          <a:p xmlns:a="http://schemas.openxmlformats.org/drawingml/2006/main">
            <a:r>
              <a:t>      "정비 우선순위와 현장 조치 연결"</a:t>
            </a:r>
          </a:p>
          <a:p xmlns:a="http://schemas.openxmlformats.org/drawingml/2006/main">
            <a:r>
              <a:t>    ],</a:t>
            </a:r>
          </a:p>
          <a:p xmlns:a="http://schemas.openxmlformats.org/drawingml/2006/main">
            <a:r>
              <a:t>    "risks": [</a:t>
            </a:r>
          </a:p>
          <a:p xmlns:a="http://schemas.openxmlformats.org/drawingml/2006/main">
            <a:r>
              <a:t>      "설비별 데이터 품질 차이",</a:t>
            </a:r>
          </a:p>
          <a:p xmlns:a="http://schemas.openxmlformats.org/drawingml/2006/main">
            <a:r>
              <a:t>      "권고를 정비 완료로 간주하는 위험"</a:t>
            </a:r>
          </a:p>
          <a:p xmlns:a="http://schemas.openxmlformats.org/drawingml/2006/main">
            <a:r>
              <a:t>    ],</a:t>
            </a:r>
          </a:p>
          <a:p xmlns:a="http://schemas.openxmlformats.org/drawingml/2006/main">
            <a:r>
              <a:t>    "architecture": [</a:t>
            </a:r>
          </a:p>
          <a:p xmlns:a="http://schemas.openxmlformats.org/drawingml/2006/main">
            <a:r>
              <a:t>      "설비·검측 수집",</a:t>
            </a:r>
          </a:p>
          <a:p xmlns:a="http://schemas.openxmlformats.org/drawingml/2006/main">
            <a:r>
              <a:t>      "Insight 분석",</a:t>
            </a:r>
          </a:p>
          <a:p xmlns:a="http://schemas.openxmlformats.org/drawingml/2006/main">
            <a:r>
              <a:t>      "설비·이상 이력",</a:t>
            </a:r>
          </a:p>
          <a:p xmlns:a="http://schemas.openxmlformats.org/drawingml/2006/main">
            <a:r>
              <a:t>      "유지관리 담당"</a:t>
            </a:r>
          </a:p>
          <a:p xmlns:a="http://schemas.openxmlformats.org/drawingml/2006/main">
            <a:r>
              <a:t>    ],</a:t>
            </a:r>
          </a:p>
          <a:p xmlns:a="http://schemas.openxmlformats.org/drawingml/2006/main">
            <a:r>
              <a:t>    "transfers": [</a:t>
            </a:r>
          </a:p>
          <a:p xmlns:a="http://schemas.openxmlformats.org/drawingml/2006/main">
            <a:r>
              <a:t>      "설비 관측",</a:t>
            </a:r>
          </a:p>
          <a:p xmlns:a="http://schemas.openxmlformats.org/drawingml/2006/main">
            <a:r>
              <a:t>      "이상 징후",</a:t>
            </a:r>
          </a:p>
          <a:p xmlns:a="http://schemas.openxmlformats.org/drawingml/2006/main">
            <a:r>
              <a:t>      "정비 우선순위",</a:t>
            </a:r>
          </a:p>
          <a:p xmlns:a="http://schemas.openxmlformats.org/drawingml/2006/main">
            <a:r>
              <a:t>      "조치·재점검"</a:t>
            </a:r>
          </a:p>
          <a:p xmlns:a="http://schemas.openxmlformats.org/drawingml/2006/main">
            <a:r>
              <a:t>    ],</a:t>
            </a:r>
          </a:p>
          <a:p xmlns:a="http://schemas.openxmlformats.org/drawingml/2006/main">
            <a:r>
              <a:t>    "control": "누락 설비·중요 결함 별도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Network Rail Insight · 운영기관 / 2023-12-22 https://www.networkrail.co.uk/stories/using-artificial-intelligence-to-create-a-better-railway/</a:t>
            </a:r>
          </a:p>
          <a:p xmlns:a="http://schemas.openxmlformats.org/drawingml/2006/main">
            <a:r>
              <a:t>홈페이지 https://heen1987-ops.github.io/TS-business-Plan-001/index.html?view=casebook&amp;case=AX18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"AX18",</a:t>
            </a:r>
          </a:p>
          <a:p xmlns:a="http://schemas.openxmlformats.org/drawingml/2006/main">
            <a:r>
              <a:t>    "title": "Network Rail Insight",</a:t>
            </a:r>
          </a:p>
          <a:p xmlns:a="http://schemas.openxmlformats.org/drawingml/2006/main">
            <a:r>
              <a:t>    "region": "해외",</a:t>
            </a:r>
          </a:p>
          <a:p xmlns:a="http://schemas.openxmlformats.org/drawingml/2006/main">
            <a:r>
              <a:t>    "country": "영국",</a:t>
            </a:r>
          </a:p>
          <a:p xmlns:a="http://schemas.openxmlformats.org/drawingml/2006/main">
            <a:r>
              <a:t>    "result": "성공",</a:t>
            </a:r>
          </a:p>
          <a:p xmlns:a="http://schemas.openxmlformats.org/drawingml/2006/main">
            <a:r>
              <a:t>    "kind": "철도 예지정비",</a:t>
            </a:r>
          </a:p>
          <a:p xmlns:a="http://schemas.openxmlformats.org/drawingml/2006/main">
            <a:r>
              <a:t>    "period": "2023 운영 소개",</a:t>
            </a:r>
          </a:p>
          <a:p xmlns:a="http://schemas.openxmlformats.org/drawingml/2006/main">
            <a:r>
              <a:t>    "sources": [</a:t>
            </a:r>
          </a:p>
          <a:p xmlns:a="http://schemas.openxmlformats.org/drawingml/2006/main">
            <a:r>
              <a:t>      "S-AX18"</a:t>
            </a:r>
          </a:p>
          <a:p xmlns:a="http://schemas.openxmlformats.org/drawingml/2006/main">
            <a:r>
              <a:t>    ],</a:t>
            </a:r>
          </a:p>
          <a:p xmlns:a="http://schemas.openxmlformats.org/drawingml/2006/main">
            <a:r>
              <a:t>    "keywords": [</a:t>
            </a:r>
          </a:p>
          <a:p xmlns:a="http://schemas.openxmlformats.org/drawingml/2006/main">
            <a:r>
              <a:t>      "철도 예지정비"</a:t>
            </a:r>
          </a:p>
          <a:p xmlns:a="http://schemas.openxmlformats.org/drawingml/2006/main">
            <a:r>
              <a:t>    ],</a:t>
            </a:r>
          </a:p>
          <a:p xmlns:a="http://schemas.openxmlformats.org/drawingml/2006/main">
            <a:r>
              <a:t>    "fact": "설비 데이터와 AI 분석을 결합하여 철도 유지관리의 이상 징후·우선순위 검토 지원",</a:t>
            </a:r>
          </a:p>
          <a:p xmlns:a="http://schemas.openxmlformats.org/drawingml/2006/main">
            <a:r>
              <a:t>    "limit": "철도 운영사 사례 · TS의 검사·감독 책임 범위에 맞춘 현지화 필요",</a:t>
            </a:r>
          </a:p>
          <a:p xmlns:a="http://schemas.openxmlformats.org/drawingml/2006/main">
            <a:r>
              <a:t>    "flow": [</a:t>
            </a:r>
          </a:p>
          <a:p xmlns:a="http://schemas.openxmlformats.org/drawingml/2006/main">
            <a:r>
              <a:t>      "설비·검측 자료",</a:t>
            </a:r>
          </a:p>
          <a:p xmlns:a="http://schemas.openxmlformats.org/drawingml/2006/main">
            <a:r>
              <a:t>      "AI 이상 분석",</a:t>
            </a:r>
          </a:p>
          <a:p xmlns:a="http://schemas.openxmlformats.org/drawingml/2006/main">
            <a:r>
              <a:t>      "정비 우선순위",</a:t>
            </a:r>
          </a:p>
          <a:p xmlns:a="http://schemas.openxmlformats.org/drawingml/2006/main">
            <a:r>
              <a:t>      "담당자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예측과 정비 의사결정의 연결",</a:t>
            </a:r>
          </a:p>
          <a:p xmlns:a="http://schemas.openxmlformats.org/drawingml/2006/main">
            <a:r>
              <a:t>    "local": "TS 점검 계획의 위험 근거·소관·이력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"설비별 위험 근거 묶음·담당 배정·기한 관리",</a:t>
            </a:r>
          </a:p>
          <a:p xmlns:a="http://schemas.openxmlformats.org/drawingml/2006/main">
            <a:r>
              <a:t>    "test": "결측·상충 신호·미조치 건 우선순위 검증",</a:t>
            </a:r>
          </a:p>
          <a:p xmlns:a="http://schemas.openxmlformats.org/drawingml/2006/main">
            <a:r>
              <a:t>    "metric": "점검 준비시간 / 미조치 추적률",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"AX18",</a:t>
            </a:r>
          </a:p>
          <a:p xmlns:a="http://schemas.openxmlformats.org/drawingml/2006/main">
            <a:r>
              <a:t>    "canonicalId": "AX18",</a:t>
            </a:r>
          </a:p>
          <a:p xmlns:a="http://schemas.openxmlformats.org/drawingml/2006/main">
            <a:r>
              <a:t>    "purpose": "설비 데이터 통합에 기반한 철도 예방정비",</a:t>
            </a:r>
          </a:p>
          <a:p xmlns:a="http://schemas.openxmlformats.org/drawingml/2006/main">
            <a:r>
              <a:t>    "users": "설비관리자·현장 유지보수 담당",</a:t>
            </a:r>
          </a:p>
          <a:p xmlns:a="http://schemas.openxmlformats.org/drawingml/2006/main">
            <a:r>
              <a:t>    "scope": [</a:t>
            </a:r>
          </a:p>
          <a:p xmlns:a="http://schemas.openxmlformats.org/drawingml/2006/main">
            <a:r>
              <a:t>      "이상 징후",</a:t>
            </a:r>
          </a:p>
          <a:p xmlns:a="http://schemas.openxmlformats.org/drawingml/2006/main">
            <a:r>
              <a:t>      "우선순위",</a:t>
            </a:r>
          </a:p>
          <a:p xmlns:a="http://schemas.openxmlformats.org/drawingml/2006/main">
            <a:r>
              <a:t>      "정비 계획"</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"설비·검측 수집",</a:t>
            </a:r>
          </a:p>
          <a:p xmlns:a="http://schemas.openxmlformats.org/drawingml/2006/main">
            <a:r>
              <a:t>        "detail": "설비·위치·고장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"이상 징후 / 우선순위 / 정비 계획",</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"Insight 분석",</a:t>
            </a:r>
          </a:p>
          <a:p xmlns:a="http://schemas.openxmlformats.org/drawingml/2006/main">
            <a:r>
              <a:t>        "detail": "서로 다른 관측자료의 이상 신호 결합",</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"유지관리 담당",</a:t>
            </a:r>
          </a:p>
          <a:p xmlns:a="http://schemas.openxmlformats.org/drawingml/2006/main">
            <a:r>
              <a:t>        "detail": "위험 후보를 현장 점검·정비계획으로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"설비·이상 이력",</a:t>
            </a:r>
          </a:p>
          <a:p xmlns:a="http://schemas.openxmlformats.org/drawingml/2006/main">
            <a:r>
              <a:t>        "detail": "설비 ID 기준 관측·상태·정비 이력 통합",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판정과 실제 결함을 다음 분석에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"설비·검측 자료",</a:t>
            </a:r>
          </a:p>
          <a:p xmlns:a="http://schemas.openxmlformats.org/drawingml/2006/main">
            <a:r>
              <a:t>        "input": "설비·위치·고장 맥락 지정",</a:t>
            </a:r>
          </a:p>
          <a:p xmlns:a="http://schemas.openxmlformats.org/drawingml/2006/main">
            <a:r>
              <a:t>        "process": "설비 ID 기준 관측·상태·정비 이력 통합",</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"title": "AI 이상 분석",</a:t>
            </a:r>
          </a:p>
          <a:p xmlns:a="http://schemas.openxmlformats.org/drawingml/2006/main">
            <a:r>
              <a:t>        "input": "설비 관측",</a:t>
            </a:r>
          </a:p>
          <a:p xmlns:a="http://schemas.openxmlformats.org/drawingml/2006/main">
            <a:r>
              <a:t>        "process": "서로 다른 관측자료의 이상 신호 결합",</a:t>
            </a:r>
          </a:p>
          <a:p xmlns:a="http://schemas.openxmlformats.org/drawingml/2006/main">
            <a:r>
              <a:t>        "output": "이상 징후"</a:t>
            </a:r>
          </a:p>
          <a:p xmlns:a="http://schemas.openxmlformats.org/drawingml/2006/main">
            <a:r>
              <a:t>      },</a:t>
            </a:r>
          </a:p>
          <a:p xmlns:a="http://schemas.openxmlformats.org/drawingml/2006/main">
            <a:r>
              <a:t>      {</a:t>
            </a:r>
          </a:p>
          <a:p xmlns:a="http://schemas.openxmlformats.org/drawingml/2006/main">
            <a:r>
              <a:t>        "title": "정비 우선순위",</a:t>
            </a:r>
          </a:p>
          <a:p xmlns:a="http://schemas.openxmlformats.org/drawingml/2006/main">
            <a:r>
              <a:t>        "input": "이상 징후",</a:t>
            </a:r>
          </a:p>
          <a:p xmlns:a="http://schemas.openxmlformats.org/drawingml/2006/main">
            <a:r>
              <a:t>        "process": "누락 설비·중요 결함 별도 평가",</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"title": "담당자 조치",</a:t>
            </a:r>
          </a:p>
          <a:p xmlns:a="http://schemas.openxmlformats.org/drawingml/2006/main">
            <a:r>
              <a:t>        "input": "정비 우선순위",</a:t>
            </a:r>
          </a:p>
          <a:p xmlns:a="http://schemas.openxmlformats.org/drawingml/2006/main">
            <a:r>
              <a:t>        "process":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"설비의 여러 관측 신호로 정비 우선순위를 검토",</a:t>
            </a:r>
          </a:p>
          <a:p xmlns:a="http://schemas.openxmlformats.org/drawingml/2006/main">
            <a:r>
              <a:t>      "exception": "데이터 지연·상충 신호·정비 완료 이력 누락",</a:t>
            </a:r>
          </a:p>
          <a:p xmlns:a="http://schemas.openxmlformats.org/drawingml/2006/main">
            <a:r>
              <a:t>      "evidence": "우선순위 근거와 현장 확인·정비 결과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"설비관리자·현장 유지보수 담당",</a:t>
            </a:r>
          </a:p>
          <a:p xmlns:a="http://schemas.openxmlformats.org/drawingml/2006/main">
            <a:r>
              <a:t>          "processing": "설비·위치·고장 맥락 지정",</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"설비·이상 이력",</a:t>
            </a:r>
          </a:p>
          <a:p xmlns:a="http://schemas.openxmlformats.org/drawingml/2006/main">
            <a:r>
              <a:t>          "processing": "설비 ID 기준 관측·상태·정비 이력 통합",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"설비 관측",</a:t>
            </a:r>
          </a:p>
          <a:p xmlns:a="http://schemas.openxmlformats.org/drawingml/2006/main">
            <a:r>
              <a:t>          "processing": "서로 다른 관측자료의 이상 신호 결합",</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"정비 우선순위",</a:t>
            </a:r>
          </a:p>
          <a:p xmlns:a="http://schemas.openxmlformats.org/drawingml/2006/main">
            <a:r>
              <a:t>          "processing":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판정과 실제 결함을 다음 분석에 반영",</a:t>
            </a:r>
          </a:p>
          <a:p xmlns:a="http://schemas.openxmlformats.org/drawingml/2006/main">
            <a:r>
              <a:t>          "output": "우선순위 근거와 현장 확인·정비 결과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판정과 실제 결함을 다음 분석에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"S-AX18",</a:t>
            </a:r>
          </a:p>
          <a:p xmlns:a="http://schemas.openxmlformats.org/drawingml/2006/main">
            <a:r>
              <a:t>        "title": "Network Rail Insight · 운영기관 / 2023-12-22",</a:t>
            </a:r>
          </a:p>
          <a:p xmlns:a="http://schemas.openxmlformats.org/drawingml/2006/main">
            <a:r>
              <a:t>        "url": "https://www.networkrail.co.uk/stories/using-artificial-intelligence-to-create-a-better-railway/",</a:t>
            </a:r>
          </a:p>
          <a:p xmlns:a="http://schemas.openxmlformats.org/drawingml/2006/main">
            <a:r>
              <a:t>        "published": "2023 운영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예측과 정비 의사결정의 연결",</a:t>
            </a:r>
          </a:p>
          <a:p xmlns:a="http://schemas.openxmlformats.org/drawingml/2006/main">
            <a:r>
              <a:t>    "local": "TS 점검 계획의 위험 근거·소관·이력 연결",</a:t>
            </a:r>
          </a:p>
          <a:p xmlns:a="http://schemas.openxmlformats.org/drawingml/2006/main">
            <a:r>
              <a:t>    "sourceDetail": null,</a:t>
            </a:r>
          </a:p>
          <a:p xmlns:a="http://schemas.openxmlformats.org/drawingml/2006/main">
            <a:r>
              <a:t>    "narrative": [</a:t>
            </a:r>
          </a:p>
          <a:p xmlns:a="http://schemas.openxmlformats.org/drawingml/2006/main">
            <a:r>
              <a:t>      "여러 철도 설비의 관측 자료를 통합해 예방정비 우선순위를 지원하는 사례. 서로 다른 설비 데이터의 품질과 식별자를 맞추는 기반 작업이 주요 전제.",</a:t>
            </a:r>
          </a:p>
          <a:p xmlns:a="http://schemas.openxmlformats.org/drawingml/2006/main">
            <a:r>
              <a:t>      "설비 ID에 관측·위치·고장·정비 이력을 연결하고 이상 신호를 합쳐 점검 후보를 만드는 구조. 위험 순위는 현장 담당자의 확인 후 정비계획으로 전환하고 실제 결함 여부를 환류.",</a:t>
            </a:r>
          </a:p>
          <a:p xmlns:a="http://schemas.openxmlformats.org/drawingml/2006/main">
            <a:r>
              <a:t>      "CCK에서는 이상 경보를 정비 완료로 처리하지 않는 상태 모델을 적용. 누락 설비, 관측 결측, 실제 결함과 오경보, 점검 후 조치 완료를 함께 추적하는 TS 후속 업무 설계."</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"설비 상태 접점",</a:t>
            </a:r>
          </a:p>
          <a:p xmlns:a="http://schemas.openxmlformats.org/drawingml/2006/main">
            <a:r>
              <a:t>          "layer": "이용 접점",</a:t>
            </a:r>
          </a:p>
          <a:p xmlns:a="http://schemas.openxmlformats.org/drawingml/2006/main">
            <a:r>
              <a:t>          "detail": "설비관리자·현장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"위치·고장 맥락",</a:t>
            </a:r>
          </a:p>
          <a:p xmlns:a="http://schemas.openxmlformats.org/drawingml/2006/main">
            <a:r>
              <a:t>          "layer": "업무 문맥",</a:t>
            </a:r>
          </a:p>
          <a:p xmlns:a="http://schemas.openxmlformats.org/drawingml/2006/main">
            <a:r>
              <a:t>          "detail": "설비·위치·고장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"다종 관측 조회",</a:t>
            </a:r>
          </a:p>
          <a:p xmlns:a="http://schemas.openxmlformats.org/drawingml/2006/main">
            <a:r>
              <a:t>          "layer": "자료 조회",</a:t>
            </a:r>
          </a:p>
          <a:p xmlns:a="http://schemas.openxmlformats.org/drawingml/2006/main">
            <a:r>
              <a:t>          "detail": "설비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신호 결합",</a:t>
            </a:r>
          </a:p>
          <a:p xmlns:a="http://schemas.openxmlformats.org/drawingml/2006/main">
            <a:r>
              <a:t>          "layer": "핵심 처리",</a:t>
            </a:r>
          </a:p>
          <a:p xmlns:a="http://schemas.openxmlformats.org/drawingml/2006/main">
            <a:r>
              <a:t>          "detail": "서로 다른 관측자료의 이상 신호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 설비 검사",</a:t>
            </a:r>
          </a:p>
          <a:p xmlns:a="http://schemas.openxmlformats.org/drawingml/2006/main">
            <a:r>
              <a:t>          "layer": "결과 검증",</a:t>
            </a:r>
          </a:p>
          <a:p xmlns:a="http://schemas.openxmlformats.org/drawingml/2006/main">
            <a:r>
              <a:t>          "detail": "누락 설비·중요 결함 별도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점검 확인",</a:t>
            </a:r>
          </a:p>
          <a:p xmlns:a="http://schemas.openxmlformats.org/drawingml/2006/main">
            <a:r>
              <a:t>          "layer": "사람 확인",</a:t>
            </a:r>
          </a:p>
          <a:p xmlns:a="http://schemas.openxmlformats.org/drawingml/2006/main">
            <a:r>
              <a:t>          "detail": "설비의 여러 관측 신호로 정비 우선순위를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 우선순위",</a:t>
            </a:r>
          </a:p>
          <a:p xmlns:a="http://schemas.openxmlformats.org/drawingml/2006/main">
            <a:r>
              <a:t>          "layer": "업무 연결",</a:t>
            </a:r>
          </a:p>
          <a:p xmlns:a="http://schemas.openxmlformats.org/drawingml/2006/main">
            <a:r>
              <a:t>          "detail": "위험 후보를 현장 점검·정비계획으로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"결함 결과 환류",</a:t>
            </a:r>
          </a:p>
          <a:p xmlns:a="http://schemas.openxmlformats.org/drawingml/2006/main">
            <a:r>
              <a:t>          "layer": "운영 관측",</a:t>
            </a:r>
          </a:p>
          <a:p xmlns:a="http://schemas.openxmlformats.org/drawingml/2006/main">
            <a:r>
              <a:t>          "detail": "현장 판정과 실제 결함을 다음 분석에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"관측·설비대장",</a:t>
            </a:r>
          </a:p>
          <a:p xmlns:a="http://schemas.openxmlformats.org/drawingml/2006/main">
            <a:r>
              <a:t>          "layer": "데이터 원천",</a:t>
            </a:r>
          </a:p>
          <a:p xmlns:a="http://schemas.openxmlformats.org/drawingml/2006/main">
            <a:r>
              <a:t>          "detail": "설비·이상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"설비 식별자 통합",</a:t>
            </a:r>
          </a:p>
          <a:p xmlns:a="http://schemas.openxmlformats.org/drawingml/2006/main">
            <a:r>
              <a:t>          "layer": "준비·갱신",</a:t>
            </a:r>
          </a:p>
          <a:p xmlns:a="http://schemas.openxmlformats.org/drawingml/2006/main">
            <a:r>
              <a:t>          "detail": "설비 ID 기준 관측·상태·정비 이력 통합",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"상태·정비 이력",</a:t>
            </a:r>
          </a:p>
          <a:p xmlns:a="http://schemas.openxmlformats.org/drawingml/2006/main">
            <a:r>
              <a:t>          "layer": "상태·지식 저장",</a:t>
            </a:r>
          </a:p>
          <a:p xmlns:a="http://schemas.openxmlformats.org/drawingml/2006/main">
            <a:r>
              <a:t>          "detail": "우선순위 근거와 현장 확인·정비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"설비 관리 책임",</a:t>
            </a:r>
          </a:p>
          <a:p xmlns:a="http://schemas.openxmlformats.org/drawingml/2006/main">
            <a:r>
              <a:t>          "layer": "권한·정책",</a:t>
            </a:r>
          </a:p>
          <a:p xmlns:a="http://schemas.openxmlformats.org/drawingml/2006/main">
            <a:r>
              <a:t>          "detail": "데이터 지연·상충 신호·정비 완료 이력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"설비·검측 자료 → AI 이상 분석 → 정비 우선순위 → 담당자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"설비·이상 이력",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"정비 우선순위",</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"설비 관리 책임",</a:t>
            </a:r>
          </a:p>
          <a:p xmlns:a="http://schemas.openxmlformats.org/drawingml/2006/main">
            <a:r>
              <a:t>          "check": "누락 설비·중요 결함 별도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"조치·재점검",</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판정과 실제 결함을 다음 분석에 반영",</a:t>
            </a:r>
          </a:p>
          <a:p xmlns:a="http://schemas.openxmlformats.org/drawingml/2006/main">
            <a:r>
              <a:t>          "check": "현장 판정과 실제 결함을 다음 분석에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"설비 데이터 통합에 기반한 철도 예방정비 / 이상 징후·우선순위·정비 계획",</a:t>
            </a:r>
          </a:p>
          <a:p xmlns:a="http://schemas.openxmlformats.org/drawingml/2006/main">
            <a:r>
              <a:t>        "extension": "TS 점검 계획의 위험 근거·소관·이력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"데이터 지연·상충 신호·정비 완료 이력 누락",</a:t>
            </a:r>
          </a:p>
          <a:p xmlns:a="http://schemas.openxmlformats.org/drawingml/2006/main">
            <a:r>
              <a:t>        "hold": "누락 설비·중요 결함 별도 평가",</a:t>
            </a:r>
          </a:p>
          <a:p xmlns:a="http://schemas.openxmlformats.org/drawingml/2006/main">
            <a:r>
              <a:t>        "recovery": "현장 판정과 실제 결함을 다음 분석에 반영",</a:t>
            </a:r>
          </a:p>
          <a:p xmlns:a="http://schemas.openxmlformats.org/drawingml/2006/main">
            <a:r>
              <a:t>        "evidence": "우선순위 근거와 현장 확인·정비 결과 대사"</a:t>
            </a:r>
          </a:p>
          <a:p xmlns:a="http://schemas.openxmlformats.org/drawingml/2006/main">
            <a:r>
              <a:t>      },</a:t>
            </a:r>
          </a:p>
          <a:p xmlns:a="http://schemas.openxmlformats.org/drawingml/2006/main">
            <a:r>
              <a:t>      "data": {</a:t>
            </a:r>
          </a:p>
          <a:p xmlns:a="http://schemas.openxmlformats.org/drawingml/2006/main">
            <a:r>
              <a:t>        "source": "설비·이상 이력",</a:t>
            </a:r>
          </a:p>
          <a:p xmlns:a="http://schemas.openxmlformats.org/drawingml/2006/main">
            <a:r>
              <a:t>        "prepare": "설비 ID 기준 관측·상태·정비 이력 통합",</a:t>
            </a:r>
          </a:p>
          <a:p xmlns:a="http://schemas.openxmlformats.org/drawingml/2006/main">
            <a:r>
              <a:t>        "output": "설비 관측",</a:t>
            </a:r>
          </a:p>
          <a:p xmlns:a="http://schemas.openxmlformats.org/drawingml/2006/main">
            <a:r>
              <a:t>        "refresh": "현장 판정과 실제 결함을 다음 분석에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"AX18",</a:t>
            </a:r>
          </a:p>
          <a:p xmlns:a="http://schemas.openxmlformats.org/drawingml/2006/main">
            <a:r>
              <a:t>    "success": [</a:t>
            </a:r>
          </a:p>
          <a:p xmlns:a="http://schemas.openxmlformats.org/drawingml/2006/main">
            <a:r>
              <a:t>      "여러 설비 자료의 통합 분석",</a:t>
            </a:r>
          </a:p>
          <a:p xmlns:a="http://schemas.openxmlformats.org/drawingml/2006/main">
            <a:r>
              <a:t>      "정비 우선순위와 현장 조치 연결"</a:t>
            </a:r>
          </a:p>
          <a:p xmlns:a="http://schemas.openxmlformats.org/drawingml/2006/main">
            <a:r>
              <a:t>    ],</a:t>
            </a:r>
          </a:p>
          <a:p xmlns:a="http://schemas.openxmlformats.org/drawingml/2006/main">
            <a:r>
              <a:t>    "risks": [</a:t>
            </a:r>
          </a:p>
          <a:p xmlns:a="http://schemas.openxmlformats.org/drawingml/2006/main">
            <a:r>
              <a:t>      "설비별 데이터 품질 차이",</a:t>
            </a:r>
          </a:p>
          <a:p xmlns:a="http://schemas.openxmlformats.org/drawingml/2006/main">
            <a:r>
              <a:t>      "권고를 정비 완료로 간주하는 위험"</a:t>
            </a:r>
          </a:p>
          <a:p xmlns:a="http://schemas.openxmlformats.org/drawingml/2006/main">
            <a:r>
              <a:t>    ],</a:t>
            </a:r>
          </a:p>
          <a:p xmlns:a="http://schemas.openxmlformats.org/drawingml/2006/main">
            <a:r>
              <a:t>    "architecture": [</a:t>
            </a:r>
          </a:p>
          <a:p xmlns:a="http://schemas.openxmlformats.org/drawingml/2006/main">
            <a:r>
              <a:t>      "설비·검측 수집",</a:t>
            </a:r>
          </a:p>
          <a:p xmlns:a="http://schemas.openxmlformats.org/drawingml/2006/main">
            <a:r>
              <a:t>      "Insight 분석",</a:t>
            </a:r>
          </a:p>
          <a:p xmlns:a="http://schemas.openxmlformats.org/drawingml/2006/main">
            <a:r>
              <a:t>      "설비·이상 이력",</a:t>
            </a:r>
          </a:p>
          <a:p xmlns:a="http://schemas.openxmlformats.org/drawingml/2006/main">
            <a:r>
              <a:t>      "유지관리 담당"</a:t>
            </a:r>
          </a:p>
          <a:p xmlns:a="http://schemas.openxmlformats.org/drawingml/2006/main">
            <a:r>
              <a:t>    ],</a:t>
            </a:r>
          </a:p>
          <a:p xmlns:a="http://schemas.openxmlformats.org/drawingml/2006/main">
            <a:r>
              <a:t>    "transfers": [</a:t>
            </a:r>
          </a:p>
          <a:p xmlns:a="http://schemas.openxmlformats.org/drawingml/2006/main">
            <a:r>
              <a:t>      "설비 관측",</a:t>
            </a:r>
          </a:p>
          <a:p xmlns:a="http://schemas.openxmlformats.org/drawingml/2006/main">
            <a:r>
              <a:t>      "이상 징후",</a:t>
            </a:r>
          </a:p>
          <a:p xmlns:a="http://schemas.openxmlformats.org/drawingml/2006/main">
            <a:r>
              <a:t>      "정비 우선순위",</a:t>
            </a:r>
          </a:p>
          <a:p xmlns:a="http://schemas.openxmlformats.org/drawingml/2006/main">
            <a:r>
              <a:t>      "조치·재점검"</a:t>
            </a:r>
          </a:p>
          <a:p xmlns:a="http://schemas.openxmlformats.org/drawingml/2006/main">
            <a:r>
              <a:t>    ],</a:t>
            </a:r>
          </a:p>
          <a:p xmlns:a="http://schemas.openxmlformats.org/drawingml/2006/main">
            <a:r>
              <a:t>    "control": "누락 설비·중요 결함 별도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Network Rail Insight · 운영기관 / 2023-12-22 https://www.networkrail.co.uk/stories/using-artificial-intelligence-to-create-a-better-railway/</a:t>
            </a:r>
          </a:p>
          <a:p xmlns:a="http://schemas.openxmlformats.org/drawingml/2006/main">
            <a:r>
              <a:t>홈페이지 https://heen1987-ops.github.io/TS-business-Plan-001/index.html?view=casebook&amp;case=AX18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"AX19",</a:t>
            </a:r>
          </a:p>
          <a:p xmlns:a="http://schemas.openxmlformats.org/drawingml/2006/main">
            <a:r>
              <a:t>    "title": "청년농업인 특화 AI 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"지역·산업 특화 지식 서비스",</a:t>
            </a:r>
          </a:p>
          <a:p xmlns:a="http://schemas.openxmlformats.org/drawingml/2006/main">
            <a:r>
              <a:t>    "period": "2024 구축 / 2025.02 개시",</a:t>
            </a:r>
          </a:p>
          <a:p xmlns:a="http://schemas.openxmlformats.org/drawingml/2006/main">
            <a:r>
              <a:t>    "sources": [</a:t>
            </a:r>
          </a:p>
          <a:p xmlns:a="http://schemas.openxmlformats.org/drawingml/2006/main">
            <a:r>
              <a:t>      "S-AX19"</a:t>
            </a:r>
          </a:p>
          <a:p xmlns:a="http://schemas.openxmlformats.org/drawingml/2006/main">
            <a:r>
              <a:t>    ],</a:t>
            </a:r>
          </a:p>
          <a:p xmlns:a="http://schemas.openxmlformats.org/drawingml/2006/main">
            <a:r>
              <a:t>    "keywords": [</a:t>
            </a:r>
          </a:p>
          <a:p xmlns:a="http://schemas.openxmlformats.org/drawingml/2006/main">
            <a:r>
              <a:t>      "지역",</a:t>
            </a:r>
          </a:p>
          <a:p xmlns:a="http://schemas.openxmlformats.org/drawingml/2006/main">
            <a:r>
              <a:t>      "산업 특화 지식 서비스"</a:t>
            </a:r>
          </a:p>
          <a:p xmlns:a="http://schemas.openxmlformats.org/drawingml/2006/main">
            <a:r>
              <a:t>    ],</a:t>
            </a:r>
          </a:p>
          <a:p xmlns:a="http://schemas.openxmlformats.org/drawingml/2006/main">
            <a:r>
              <a:t>    "fact": "농업기술 앱에 초거대 AI 상담을 결합하고 전문가·청년농업인 사전 평가 후 서비스 개시",</a:t>
            </a:r>
          </a:p>
          <a:p xmlns:a="http://schemas.openxmlformats.org/drawingml/2006/main">
            <a:r>
              <a:t>    "limit": "기관 실증 사례 수록 · 정착·소득 개선 인과효과 실측과 구분",</a:t>
            </a:r>
          </a:p>
          <a:p xmlns:a="http://schemas.openxmlformats.org/drawingml/2006/main">
            <a:r>
              <a:t>    "flow": [</a:t>
            </a:r>
          </a:p>
          <a:p xmlns:a="http://schemas.openxmlformats.org/drawingml/2006/main">
            <a:r>
              <a:t>      "영농 지식",</a:t>
            </a:r>
          </a:p>
          <a:p xmlns:a="http://schemas.openxmlformats.org/drawingml/2006/main">
            <a:r>
              <a:t>      "위치·작물 맥락",</a:t>
            </a:r>
          </a:p>
          <a:p xmlns:a="http://schemas.openxmlformats.org/drawingml/2006/main">
            <a:r>
              <a:t>      "전문 상담",</a:t>
            </a:r>
          </a:p>
          <a:p xmlns:a="http://schemas.openxmlformats.org/drawingml/2006/main">
            <a:r>
              <a:t>      "현업·이용자 평가"</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"지역·산업 맥락과 전문가 사전 평가",</a:t>
            </a:r>
          </a:p>
          <a:p xmlns:a="http://schemas.openxmlformats.org/drawingml/2006/main">
            <a:r>
              <a:t>    "local": "운수사업자·지역별 안전·지원 업무 지식 구분",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"업종·지역·자격 조건·지원 절차 사전",</a:t>
            </a:r>
          </a:p>
          <a:p xmlns:a="http://schemas.openxmlformats.org/drawingml/2006/main">
            <a:r>
              <a:t>    "test": "업종·지역별 답변 근거와 신청 조건 대조",</a:t>
            </a:r>
          </a:p>
          <a:p xmlns:a="http://schemas.openxmlformats.org/drawingml/2006/main">
            <a:r>
              <a:t>    "metric": "정보 탐색시간 / 조건 오안내율",</a:t>
            </a:r>
          </a:p>
          <a:p xmlns:a="http://schemas.openxmlformats.org/drawingml/2006/main">
            <a:r>
              <a:t>    "strategies": [</a:t>
            </a:r>
          </a:p>
          <a:p xmlns:a="http://schemas.openxmlformats.org/drawingml/2006/main">
            <a:r>
              <a:t>      "ST-09",</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"AX19",</a:t>
            </a:r>
          </a:p>
          <a:p xmlns:a="http://schemas.openxmlformats.org/drawingml/2006/main">
            <a:r>
              <a:t>    "canonicalId": "AX19",</a:t>
            </a:r>
          </a:p>
          <a:p xmlns:a="http://schemas.openxmlformats.org/drawingml/2006/main">
            <a:r>
              <a:t>    "purpose": "농업 전문지식의 현장 상담 연결",</a:t>
            </a:r>
          </a:p>
          <a:p xmlns:a="http://schemas.openxmlformats.org/drawingml/2006/main">
            <a:r>
              <a:t>    "users": "청년농업인·농업 전문가",</a:t>
            </a:r>
          </a:p>
          <a:p xmlns:a="http://schemas.openxmlformats.org/drawingml/2006/main">
            <a:r>
              <a:t>    "scope": [</a:t>
            </a:r>
          </a:p>
          <a:p xmlns:a="http://schemas.openxmlformats.org/drawingml/2006/main">
            <a:r>
              <a:t>      "재배 질의",</a:t>
            </a:r>
          </a:p>
          <a:p xmlns:a="http://schemas.openxmlformats.org/drawingml/2006/main">
            <a:r>
              <a:t>      "전문지식",</a:t>
            </a:r>
          </a:p>
          <a:p xmlns:a="http://schemas.openxmlformats.org/drawingml/2006/main">
            <a:r>
              <a:t>      "사전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"농업기술 앱",</a:t>
            </a:r>
          </a:p>
          <a:p xmlns:a="http://schemas.openxmlformats.org/drawingml/2006/main">
            <a:r>
              <a:t>        "detail": "작물·지역·생육단계·문제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"재배 질의 / 전문지식 / 사전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"맥락 기반 상담",</a:t>
            </a:r>
          </a:p>
          <a:p xmlns:a="http://schemas.openxmlformats.org/drawingml/2006/main">
            <a:r>
              <a:t>        "detail": "질의 관련 농업 지식의 검색·설명",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"농업인·전문가",</a:t>
            </a:r>
          </a:p>
          <a:p xmlns:a="http://schemas.openxmlformats.org/drawingml/2006/main">
            <a:r>
              <a:t>        "detail": "원문 근거 안내와 전문가 확인 경로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"영농 지식",</a:t>
            </a:r>
          </a:p>
          <a:p xmlns:a="http://schemas.openxmlformats.org/drawingml/2006/main">
            <a:r>
              <a:t>        "detail": "기술 문서·상담자료·전문가 평가셋 정비",</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"작물·상황별 오답과 현장 적용성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"영농 지식",</a:t>
            </a:r>
          </a:p>
          <a:p xmlns:a="http://schemas.openxmlformats.org/drawingml/2006/main">
            <a:r>
              <a:t>        "input": "작물·지역·생육단계·문제 상황 확인",</a:t>
            </a:r>
          </a:p>
          <a:p xmlns:a="http://schemas.openxmlformats.org/drawingml/2006/main">
            <a:r>
              <a:t>        "process": "기술 문서·상담자료·전문가 평가셋 정비",</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"title": "위치·작물 맥락",</a:t>
            </a:r>
          </a:p>
          <a:p xmlns:a="http://schemas.openxmlformats.org/drawingml/2006/main">
            <a:r>
              <a:t>        "input": "질문·작물·위치",</a:t>
            </a:r>
          </a:p>
          <a:p xmlns:a="http://schemas.openxmlformats.org/drawingml/2006/main">
            <a:r>
              <a:t>        "process": "질의 관련 농업 지식의 검색·설명",</a:t>
            </a:r>
          </a:p>
          <a:p xmlns:a="http://schemas.openxmlformats.org/drawingml/2006/main">
            <a:r>
              <a:t>        "output": "관련 영농 근거"</a:t>
            </a:r>
          </a:p>
          <a:p xmlns:a="http://schemas.openxmlformats.org/drawingml/2006/main">
            <a:r>
              <a:t>      },</a:t>
            </a:r>
          </a:p>
          <a:p xmlns:a="http://schemas.openxmlformats.org/drawingml/2006/main">
            <a:r>
              <a:t>      {</a:t>
            </a:r>
          </a:p>
          <a:p xmlns:a="http://schemas.openxmlformats.org/drawingml/2006/main">
            <a:r>
              <a:t>        "title": "전문 상담",</a:t>
            </a:r>
          </a:p>
          <a:p xmlns:a="http://schemas.openxmlformats.org/drawingml/2006/main">
            <a:r>
              <a:t>        "input": "관련 영농 근거",</a:t>
            </a:r>
          </a:p>
          <a:p xmlns:a="http://schemas.openxmlformats.org/drawingml/2006/main">
            <a:r>
              <a:t>        "process": "지역·작물별 정답 및 전문가 전환",</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"title": "현업·이용자 평가",</a:t>
            </a:r>
          </a:p>
          <a:p xmlns:a="http://schemas.openxmlformats.org/drawingml/2006/main">
            <a:r>
              <a:t>        "input": "상담 답변",</a:t>
            </a:r>
          </a:p>
          <a:p xmlns:a="http://schemas.openxmlformats.org/drawingml/2006/main">
            <a:r>
              <a:t>        "process":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"작물·지역·생육단계에 맞는 기술 지식 안내",</a:t>
            </a:r>
          </a:p>
          <a:p xmlns:a="http://schemas.openxmlformats.org/drawingml/2006/main">
            <a:r>
              <a:t>      "exception": "다른 작물 지침·증상 누락·전문가 판단이 필요한 요청",</a:t>
            </a:r>
          </a:p>
          <a:p xmlns:a="http://schemas.openxmlformats.org/drawingml/2006/main">
            <a:r>
              <a:t>      "evidence": "조건별 근거 일치와 전문가 전환 판정표",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"청년농업인·농업 전문가",</a:t>
            </a:r>
          </a:p>
          <a:p xmlns:a="http://schemas.openxmlformats.org/drawingml/2006/main">
            <a:r>
              <a:t>          "processing": "작물·지역·생육단계·문제 상황 확인",</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"영농 지식",</a:t>
            </a:r>
          </a:p>
          <a:p xmlns:a="http://schemas.openxmlformats.org/drawingml/2006/main">
            <a:r>
              <a:t>          "processing": "기술 문서·상담자료·전문가 평가셋 정비",</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"질문·작물·위치",</a:t>
            </a:r>
          </a:p>
          <a:p xmlns:a="http://schemas.openxmlformats.org/drawingml/2006/main">
            <a:r>
              <a:t>          "processing": "질의 관련 농업 지식의 검색·설명",</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"상담 답변",</a:t>
            </a:r>
          </a:p>
          <a:p xmlns:a="http://schemas.openxmlformats.org/drawingml/2006/main">
            <a:r>
              <a:t>          "processing":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"작물·상황별 오답과 현장 적용성 검토",</a:t>
            </a:r>
          </a:p>
          <a:p xmlns:a="http://schemas.openxmlformats.org/drawingml/2006/main">
            <a:r>
              <a:t>          "output": "조건별 근거 일치와 전문가 전환 판정표"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"작물·상황별 오답과 현장 적용성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"S-AX19",</a:t>
            </a:r>
          </a:p>
          <a:p xmlns:a="http://schemas.openxmlformats.org/drawingml/2006/main">
            <a:r>
              <a:t>        "title": "청년농업인 특화 AI 상담 · 공공AI 사례집 44–45쪽",</a:t>
            </a:r>
          </a:p>
          <a:p xmlns:a="http://schemas.openxmlformats.org/drawingml/2006/main">
            <a:r>
              <a:t>        "url": "https://bigdata.dongjak.go.kr/board/viewArticle?articleNo=954&amp;boardId=4",</a:t>
            </a:r>
          </a:p>
          <a:p xmlns:a="http://schemas.openxmlformats.org/drawingml/2006/main">
            <a:r>
              <a:t>        "published": "2024 구축 / 2025.02 개시",</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"지역·산업 맥락과 전문가 사전 평가",</a:t>
            </a:r>
          </a:p>
          <a:p xmlns:a="http://schemas.openxmlformats.org/drawingml/2006/main">
            <a:r>
              <a:t>    "local": "운수사업자·지역별 안전·지원 업무 지식 구분",</a:t>
            </a:r>
          </a:p>
          <a:p xmlns:a="http://schemas.openxmlformats.org/drawingml/2006/main">
            <a:r>
              <a:t>    "sourceDetail": null,</a:t>
            </a:r>
          </a:p>
          <a:p xmlns:a="http://schemas.openxmlformats.org/drawingml/2006/main">
            <a:r>
              <a:t>    "narrative": [</a:t>
            </a:r>
          </a:p>
          <a:p xmlns:a="http://schemas.openxmlformats.org/drawingml/2006/main">
            <a:r>
              <a:t>      "농업인이 작물·지역·생육 상황에 맞는 전문지식을 찾도록 지원하는 상담 사례. 범용 질문 답변에 현장 문맥과 전문가 확인을 결합하는 유형.",</a:t>
            </a:r>
          </a:p>
          <a:p xmlns:a="http://schemas.openxmlformats.org/drawingml/2006/main">
            <a:r>
              <a:t>      "입력에서 작물·생육단계·지역·문제 상황을 정리한 뒤 관련 기술자료를 검색하고 원문 근거를 안내하는 구조의 재구성. 정보가 부족하거나 지역 예외가 있는 질문은 추가 확인·전문가 상담으로 연결.",</a:t>
            </a:r>
          </a:p>
          <a:p xmlns:a="http://schemas.openxmlformats.org/drawingml/2006/main">
            <a:r>
              <a:t>      "TS 업무에는 차량·시설·지역·시행일 등 도메인 문맥을 먼저 확보하는 방식으로 현지화. 평균 정답률보다 상황별 오류와 전문가 전환율, 실제 업무에 맞는 안내인지의 검토가 중요."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"영농 질의 접점",</a:t>
            </a:r>
          </a:p>
          <a:p xmlns:a="http://schemas.openxmlformats.org/drawingml/2006/main">
            <a:r>
              <a:t>          "layer": "이용 접점",</a:t>
            </a:r>
          </a:p>
          <a:p xmlns:a="http://schemas.openxmlformats.org/drawingml/2006/main">
            <a:r>
              <a:t>          "detail": "청년농업인·농업 전문가",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"작물·생육단계",</a:t>
            </a:r>
          </a:p>
          <a:p xmlns:a="http://schemas.openxmlformats.org/drawingml/2006/main">
            <a:r>
              <a:t>          "layer": "업무 문맥",</a:t>
            </a:r>
          </a:p>
          <a:p xmlns:a="http://schemas.openxmlformats.org/drawingml/2006/main">
            <a:r>
              <a:t>          "detail": "작물·지역·생육단계·문제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"농업 지식 검색",</a:t>
            </a:r>
          </a:p>
          <a:p xmlns:a="http://schemas.openxmlformats.org/drawingml/2006/main">
            <a:r>
              <a:t>          "layer": "자료 조회",</a:t>
            </a:r>
          </a:p>
          <a:p xmlns:a="http://schemas.openxmlformats.org/drawingml/2006/main">
            <a:r>
              <a:t>          "detail": "질문·작물·위치",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"맥락형 상담 생성",</a:t>
            </a:r>
          </a:p>
          <a:p xmlns:a="http://schemas.openxmlformats.org/drawingml/2006/main">
            <a:r>
              <a:t>          "layer": "핵심 처리",</a:t>
            </a:r>
          </a:p>
          <a:p xmlns:a="http://schemas.openxmlformats.org/drawingml/2006/main">
            <a:r>
              <a:t>          "detail": "질의 관련 농업 지식의 검색·설명",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"지역·상황 대조",</a:t>
            </a:r>
          </a:p>
          <a:p xmlns:a="http://schemas.openxmlformats.org/drawingml/2006/main">
            <a:r>
              <a:t>          "layer": "결과 검증",</a:t>
            </a:r>
          </a:p>
          <a:p xmlns:a="http://schemas.openxmlformats.org/drawingml/2006/main">
            <a:r>
              <a:t>          "detail": "지역·작물별 정답 및 전문가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"전문가 확인",</a:t>
            </a:r>
          </a:p>
          <a:p xmlns:a="http://schemas.openxmlformats.org/drawingml/2006/main">
            <a:r>
              <a:t>          "layer": "사람 확인",</a:t>
            </a:r>
          </a:p>
          <a:p xmlns:a="http://schemas.openxmlformats.org/drawingml/2006/main">
            <a:r>
              <a:t>          "detail": "작물·지역·생육단계에 맞는 기술 지식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"원문·상담 연결",</a:t>
            </a:r>
          </a:p>
          <a:p xmlns:a="http://schemas.openxmlformats.org/drawingml/2006/main">
            <a:r>
              <a:t>          "layer": "업무 연결",</a:t>
            </a:r>
          </a:p>
          <a:p xmlns:a="http://schemas.openxmlformats.org/drawingml/2006/main">
            <a:r>
              <a:t>          "detail": "원문 근거 안내와 전문가 확인 경로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"현장 적합성 평가",</a:t>
            </a:r>
          </a:p>
          <a:p xmlns:a="http://schemas.openxmlformats.org/drawingml/2006/main">
            <a:r>
              <a:t>          "layer": "운영 관측",</a:t>
            </a:r>
          </a:p>
          <a:p xmlns:a="http://schemas.openxmlformats.org/drawingml/2006/main">
            <a:r>
              <a:t>          "detail": "작물·상황별 오답과 현장 적용성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"기술·상담 자료",</a:t>
            </a:r>
          </a:p>
          <a:p xmlns:a="http://schemas.openxmlformats.org/drawingml/2006/main">
            <a:r>
              <a:t>          "layer": "데이터 원천",</a:t>
            </a:r>
          </a:p>
          <a:p xmlns:a="http://schemas.openxmlformats.org/drawingml/2006/main">
            <a:r>
              <a:t>          "detail": "영농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"작물·지역 태깅",</a:t>
            </a:r>
          </a:p>
          <a:p xmlns:a="http://schemas.openxmlformats.org/drawingml/2006/main">
            <a:r>
              <a:t>          "layer": "준비·갱신",</a:t>
            </a:r>
          </a:p>
          <a:p xmlns:a="http://schemas.openxmlformats.org/drawingml/2006/main">
            <a:r>
              <a:t>          "detail": "기술 문서·상담자료·전문가 평가셋 정비",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"조건별 근거 일치와 전문가 전환 판정표",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"전문가 전환 기준",</a:t>
            </a:r>
          </a:p>
          <a:p xmlns:a="http://schemas.openxmlformats.org/drawingml/2006/main">
            <a:r>
              <a:t>          "layer": "권한·정책",</a:t>
            </a:r>
          </a:p>
          <a:p xmlns:a="http://schemas.openxmlformats.org/drawingml/2006/main">
            <a:r>
              <a:t>          "detail": "다른 작물 지침·증상 누락·전문가 판단이 필요한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"영농 지식 → 위치·작물 맥락 → 전문 상담 → 현업·이용자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"영농 지식",</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"작물·지역·생육단계·문제 상황 확인",</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"조건별 근거 일치와 전문가 전환 판정표",</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영농 근거",</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"상담 답변",</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"농업 전문지식의 현장 상담 연결 / 재배 질의·전문지식·사전 평가",</a:t>
            </a:r>
          </a:p>
          <a:p xmlns:a="http://schemas.openxmlformats.org/drawingml/2006/main">
            <a:r>
              <a:t>        "extension": "운수사업자·지역별 안전·지원 업무 지식 구분"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작물 지침·증상 누락·전문가 판단이 필요한 요청",</a:t>
            </a:r>
          </a:p>
          <a:p xmlns:a="http://schemas.openxmlformats.org/drawingml/2006/main">
            <a:r>
              <a:t>        "hold": "지역·작물별 정답 및 전문가 전환",</a:t>
            </a:r>
          </a:p>
          <a:p xmlns:a="http://schemas.openxmlformats.org/drawingml/2006/main">
            <a:r>
              <a:t>        "recovery": "작물·상황별 오답과 현장 적용성 검토",</a:t>
            </a:r>
          </a:p>
          <a:p xmlns:a="http://schemas.openxmlformats.org/drawingml/2006/main">
            <a:r>
              <a:t>        "evidence": "조건별 근거 일치와 전문가 전환 판정표"</a:t>
            </a:r>
          </a:p>
          <a:p xmlns:a="http://schemas.openxmlformats.org/drawingml/2006/main">
            <a:r>
              <a:t>      },</a:t>
            </a:r>
          </a:p>
          <a:p xmlns:a="http://schemas.openxmlformats.org/drawingml/2006/main">
            <a:r>
              <a:t>      "data": {</a:t>
            </a:r>
          </a:p>
          <a:p xmlns:a="http://schemas.openxmlformats.org/drawingml/2006/main">
            <a:r>
              <a:t>        "source": "영농 지식",</a:t>
            </a:r>
          </a:p>
          <a:p xmlns:a="http://schemas.openxmlformats.org/drawingml/2006/main">
            <a:r>
              <a:t>        "prepare": "기술 문서·상담자료·전문가 평가셋 정비",</a:t>
            </a:r>
          </a:p>
          <a:p xmlns:a="http://schemas.openxmlformats.org/drawingml/2006/main">
            <a:r>
              <a:t>        "output": "질문·작물·위치",</a:t>
            </a:r>
          </a:p>
          <a:p xmlns:a="http://schemas.openxmlformats.org/drawingml/2006/main">
            <a:r>
              <a:t>        "refresh": "작물·상황별 오답과 현장 적용성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"AX19",</a:t>
            </a:r>
          </a:p>
          <a:p xmlns:a="http://schemas.openxmlformats.org/drawingml/2006/main">
            <a:r>
              <a:t>    "success": [</a:t>
            </a:r>
          </a:p>
          <a:p xmlns:a="http://schemas.openxmlformats.org/drawingml/2006/main">
            <a:r>
              <a:t>      "작물·위치 맥락의 전문 지식 연결",</a:t>
            </a:r>
          </a:p>
          <a:p xmlns:a="http://schemas.openxmlformats.org/drawingml/2006/main">
            <a:r>
              <a:t>      "전문가·이용자 사전 평가"</a:t>
            </a:r>
          </a:p>
          <a:p xmlns:a="http://schemas.openxmlformats.org/drawingml/2006/main">
            <a:r>
              <a:t>    ],</a:t>
            </a:r>
          </a:p>
          <a:p xmlns:a="http://schemas.openxmlformats.org/drawingml/2006/main">
            <a:r>
              <a:t>    "risks": [</a:t>
            </a:r>
          </a:p>
          <a:p xmlns:a="http://schemas.openxmlformats.org/drawingml/2006/main">
            <a:r>
              <a:t>      "지역·생육환경 예외",</a:t>
            </a:r>
          </a:p>
          <a:p xmlns:a="http://schemas.openxmlformats.org/drawingml/2006/main">
            <a:r>
              <a:t>      "상담 답변과 현장 적합성의 간극"</a:t>
            </a:r>
          </a:p>
          <a:p xmlns:a="http://schemas.openxmlformats.org/drawingml/2006/main">
            <a:r>
              <a:t>    ],</a:t>
            </a:r>
          </a:p>
          <a:p xmlns:a="http://schemas.openxmlformats.org/drawingml/2006/main">
            <a:r>
              <a:t>    "architecture": [</a:t>
            </a:r>
          </a:p>
          <a:p xmlns:a="http://schemas.openxmlformats.org/drawingml/2006/main">
            <a:r>
              <a:t>      "농업기술 앱",</a:t>
            </a:r>
          </a:p>
          <a:p xmlns:a="http://schemas.openxmlformats.org/drawingml/2006/main">
            <a:r>
              <a:t>      "맥락 기반 상담",</a:t>
            </a:r>
          </a:p>
          <a:p xmlns:a="http://schemas.openxmlformats.org/drawingml/2006/main">
            <a:r>
              <a:t>      "영농 지식",</a:t>
            </a:r>
          </a:p>
          <a:p xmlns:a="http://schemas.openxmlformats.org/drawingml/2006/main">
            <a:r>
              <a:t>      "농업인·전문가"</a:t>
            </a:r>
          </a:p>
          <a:p xmlns:a="http://schemas.openxmlformats.org/drawingml/2006/main">
            <a:r>
              <a:t>    ],</a:t>
            </a:r>
          </a:p>
          <a:p xmlns:a="http://schemas.openxmlformats.org/drawingml/2006/main">
            <a:r>
              <a:t>    "transfers": [</a:t>
            </a:r>
          </a:p>
          <a:p xmlns:a="http://schemas.openxmlformats.org/drawingml/2006/main">
            <a:r>
              <a:t>      "질문·작물·위치",</a:t>
            </a:r>
          </a:p>
          <a:p xmlns:a="http://schemas.openxmlformats.org/drawingml/2006/main">
            <a:r>
              <a:t>      "관련 영농 근거",</a:t>
            </a:r>
          </a:p>
          <a:p xmlns:a="http://schemas.openxmlformats.org/drawingml/2006/main">
            <a:r>
              <a:t>      "상담 답변",</a:t>
            </a:r>
          </a:p>
          <a:p xmlns:a="http://schemas.openxmlformats.org/drawingml/2006/main">
            <a:r>
              <a:t>      "이용자 검증"</a:t>
            </a:r>
          </a:p>
          <a:p xmlns:a="http://schemas.openxmlformats.org/drawingml/2006/main">
            <a:r>
              <a:t>    ],</a:t>
            </a:r>
          </a:p>
          <a:p xmlns:a="http://schemas.openxmlformats.org/drawingml/2006/main">
            <a:r>
              <a:t>    "control": "지역·작물별 정답 및 전문가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청년농업인 특화 AI 상담 · 공공AI 사례집 44–45쪽 https://bigdata.dongjak.go.kr/board/viewArticle?articleNo=954&amp;boardId=4</a:t>
            </a:r>
          </a:p>
          <a:p xmlns:a="http://schemas.openxmlformats.org/drawingml/2006/main">
            <a:r>
              <a:t>홈페이지 https://heen1987-ops.github.io/TS-business-Plan-001/index.html?view=casebook&amp;case=AX19</a:t>
            </a:r>
          </a:p>
          <a:p xmlns:a="http://schemas.openxmlformats.org/drawingml/2006/main">
            <a:r>
              <a:t>한계: 기관 실증 사례 수록 · 정착·소득 개선 인과효과 실측과 구분</a:t>
            </a:r>
          </a:p>
          <a:p xmlns:a="http://schemas.openxmlformats.org/drawingml/2006/main">
            <a:r>
              <a:t>실패 위험: 지역·생육환경 예외 / 상담 답변과 현장 적합성의 간극</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"AX19",</a:t>
            </a:r>
          </a:p>
          <a:p xmlns:a="http://schemas.openxmlformats.org/drawingml/2006/main">
            <a:r>
              <a:t>    "title": "청년농업인 특화 AI 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"지역·산업 특화 지식 서비스",</a:t>
            </a:r>
          </a:p>
          <a:p xmlns:a="http://schemas.openxmlformats.org/drawingml/2006/main">
            <a:r>
              <a:t>    "period": "2024 구축 / 2025.02 개시",</a:t>
            </a:r>
          </a:p>
          <a:p xmlns:a="http://schemas.openxmlformats.org/drawingml/2006/main">
            <a:r>
              <a:t>    "sources": [</a:t>
            </a:r>
          </a:p>
          <a:p xmlns:a="http://schemas.openxmlformats.org/drawingml/2006/main">
            <a:r>
              <a:t>      "S-AX19"</a:t>
            </a:r>
          </a:p>
          <a:p xmlns:a="http://schemas.openxmlformats.org/drawingml/2006/main">
            <a:r>
              <a:t>    ],</a:t>
            </a:r>
          </a:p>
          <a:p xmlns:a="http://schemas.openxmlformats.org/drawingml/2006/main">
            <a:r>
              <a:t>    "keywords": [</a:t>
            </a:r>
          </a:p>
          <a:p xmlns:a="http://schemas.openxmlformats.org/drawingml/2006/main">
            <a:r>
              <a:t>      "지역",</a:t>
            </a:r>
          </a:p>
          <a:p xmlns:a="http://schemas.openxmlformats.org/drawingml/2006/main">
            <a:r>
              <a:t>      "산업 특화 지식 서비스"</a:t>
            </a:r>
          </a:p>
          <a:p xmlns:a="http://schemas.openxmlformats.org/drawingml/2006/main">
            <a:r>
              <a:t>    ],</a:t>
            </a:r>
          </a:p>
          <a:p xmlns:a="http://schemas.openxmlformats.org/drawingml/2006/main">
            <a:r>
              <a:t>    "fact": "농업기술 앱에 초거대 AI 상담을 결합하고 전문가·청년농업인 사전 평가 후 서비스 개시",</a:t>
            </a:r>
          </a:p>
          <a:p xmlns:a="http://schemas.openxmlformats.org/drawingml/2006/main">
            <a:r>
              <a:t>    "limit": "기관 실증 사례 수록 · 정착·소득 개선 인과효과 실측과 구분",</a:t>
            </a:r>
          </a:p>
          <a:p xmlns:a="http://schemas.openxmlformats.org/drawingml/2006/main">
            <a:r>
              <a:t>    "flow": [</a:t>
            </a:r>
          </a:p>
          <a:p xmlns:a="http://schemas.openxmlformats.org/drawingml/2006/main">
            <a:r>
              <a:t>      "영농 지식",</a:t>
            </a:r>
          </a:p>
          <a:p xmlns:a="http://schemas.openxmlformats.org/drawingml/2006/main">
            <a:r>
              <a:t>      "위치·작물 맥락",</a:t>
            </a:r>
          </a:p>
          <a:p xmlns:a="http://schemas.openxmlformats.org/drawingml/2006/main">
            <a:r>
              <a:t>      "전문 상담",</a:t>
            </a:r>
          </a:p>
          <a:p xmlns:a="http://schemas.openxmlformats.org/drawingml/2006/main">
            <a:r>
              <a:t>      "현업·이용자 평가"</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"지역·산업 맥락과 전문가 사전 평가",</a:t>
            </a:r>
          </a:p>
          <a:p xmlns:a="http://schemas.openxmlformats.org/drawingml/2006/main">
            <a:r>
              <a:t>    "local": "운수사업자·지역별 안전·지원 업무 지식 구분",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"업종·지역·자격 조건·지원 절차 사전",</a:t>
            </a:r>
          </a:p>
          <a:p xmlns:a="http://schemas.openxmlformats.org/drawingml/2006/main">
            <a:r>
              <a:t>    "test": "업종·지역별 답변 근거와 신청 조건 대조",</a:t>
            </a:r>
          </a:p>
          <a:p xmlns:a="http://schemas.openxmlformats.org/drawingml/2006/main">
            <a:r>
              <a:t>    "metric": "정보 탐색시간 / 조건 오안내율",</a:t>
            </a:r>
          </a:p>
          <a:p xmlns:a="http://schemas.openxmlformats.org/drawingml/2006/main">
            <a:r>
              <a:t>    "strategies": [</a:t>
            </a:r>
          </a:p>
          <a:p xmlns:a="http://schemas.openxmlformats.org/drawingml/2006/main">
            <a:r>
              <a:t>      "ST-09",</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"AX19",</a:t>
            </a:r>
          </a:p>
          <a:p xmlns:a="http://schemas.openxmlformats.org/drawingml/2006/main">
            <a:r>
              <a:t>    "canonicalId": "AX19",</a:t>
            </a:r>
          </a:p>
          <a:p xmlns:a="http://schemas.openxmlformats.org/drawingml/2006/main">
            <a:r>
              <a:t>    "purpose": "농업 전문지식의 현장 상담 연결",</a:t>
            </a:r>
          </a:p>
          <a:p xmlns:a="http://schemas.openxmlformats.org/drawingml/2006/main">
            <a:r>
              <a:t>    "users": "청년농업인·농업 전문가",</a:t>
            </a:r>
          </a:p>
          <a:p xmlns:a="http://schemas.openxmlformats.org/drawingml/2006/main">
            <a:r>
              <a:t>    "scope": [</a:t>
            </a:r>
          </a:p>
          <a:p xmlns:a="http://schemas.openxmlformats.org/drawingml/2006/main">
            <a:r>
              <a:t>      "재배 질의",</a:t>
            </a:r>
          </a:p>
          <a:p xmlns:a="http://schemas.openxmlformats.org/drawingml/2006/main">
            <a:r>
              <a:t>      "전문지식",</a:t>
            </a:r>
          </a:p>
          <a:p xmlns:a="http://schemas.openxmlformats.org/drawingml/2006/main">
            <a:r>
              <a:t>      "사전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"농업기술 앱",</a:t>
            </a:r>
          </a:p>
          <a:p xmlns:a="http://schemas.openxmlformats.org/drawingml/2006/main">
            <a:r>
              <a:t>        "detail": "작물·지역·생육단계·문제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"재배 질의 / 전문지식 / 사전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"맥락 기반 상담",</a:t>
            </a:r>
          </a:p>
          <a:p xmlns:a="http://schemas.openxmlformats.org/drawingml/2006/main">
            <a:r>
              <a:t>        "detail": "질의 관련 농업 지식의 검색·설명",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"농업인·전문가",</a:t>
            </a:r>
          </a:p>
          <a:p xmlns:a="http://schemas.openxmlformats.org/drawingml/2006/main">
            <a:r>
              <a:t>        "detail": "원문 근거 안내와 전문가 확인 경로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"영농 지식",</a:t>
            </a:r>
          </a:p>
          <a:p xmlns:a="http://schemas.openxmlformats.org/drawingml/2006/main">
            <a:r>
              <a:t>        "detail": "기술 문서·상담자료·전문가 평가셋 정비",</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"작물·상황별 오답과 현장 적용성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"영농 지식",</a:t>
            </a:r>
          </a:p>
          <a:p xmlns:a="http://schemas.openxmlformats.org/drawingml/2006/main">
            <a:r>
              <a:t>        "input": "작물·지역·생육단계·문제 상황 확인",</a:t>
            </a:r>
          </a:p>
          <a:p xmlns:a="http://schemas.openxmlformats.org/drawingml/2006/main">
            <a:r>
              <a:t>        "process": "기술 문서·상담자료·전문가 평가셋 정비",</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"title": "위치·작물 맥락",</a:t>
            </a:r>
          </a:p>
          <a:p xmlns:a="http://schemas.openxmlformats.org/drawingml/2006/main">
            <a:r>
              <a:t>        "input": "질문·작물·위치",</a:t>
            </a:r>
          </a:p>
          <a:p xmlns:a="http://schemas.openxmlformats.org/drawingml/2006/main">
            <a:r>
              <a:t>        "process": "질의 관련 농업 지식의 검색·설명",</a:t>
            </a:r>
          </a:p>
          <a:p xmlns:a="http://schemas.openxmlformats.org/drawingml/2006/main">
            <a:r>
              <a:t>        "output": "관련 영농 근거"</a:t>
            </a:r>
          </a:p>
          <a:p xmlns:a="http://schemas.openxmlformats.org/drawingml/2006/main">
            <a:r>
              <a:t>      },</a:t>
            </a:r>
          </a:p>
          <a:p xmlns:a="http://schemas.openxmlformats.org/drawingml/2006/main">
            <a:r>
              <a:t>      {</a:t>
            </a:r>
          </a:p>
          <a:p xmlns:a="http://schemas.openxmlformats.org/drawingml/2006/main">
            <a:r>
              <a:t>        "title": "전문 상담",</a:t>
            </a:r>
          </a:p>
          <a:p xmlns:a="http://schemas.openxmlformats.org/drawingml/2006/main">
            <a:r>
              <a:t>        "input": "관련 영농 근거",</a:t>
            </a:r>
          </a:p>
          <a:p xmlns:a="http://schemas.openxmlformats.org/drawingml/2006/main">
            <a:r>
              <a:t>        "process": "지역·작물별 정답 및 전문가 전환",</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"title": "현업·이용자 평가",</a:t>
            </a:r>
          </a:p>
          <a:p xmlns:a="http://schemas.openxmlformats.org/drawingml/2006/main">
            <a:r>
              <a:t>        "input": "상담 답변",</a:t>
            </a:r>
          </a:p>
          <a:p xmlns:a="http://schemas.openxmlformats.org/drawingml/2006/main">
            <a:r>
              <a:t>        "process":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"작물·지역·생육단계에 맞는 기술 지식 안내",</a:t>
            </a:r>
          </a:p>
          <a:p xmlns:a="http://schemas.openxmlformats.org/drawingml/2006/main">
            <a:r>
              <a:t>      "exception": "다른 작물 지침·증상 누락·전문가 판단이 필요한 요청",</a:t>
            </a:r>
          </a:p>
          <a:p xmlns:a="http://schemas.openxmlformats.org/drawingml/2006/main">
            <a:r>
              <a:t>      "evidence": "조건별 근거 일치와 전문가 전환 판정표",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"청년농업인·농업 전문가",</a:t>
            </a:r>
          </a:p>
          <a:p xmlns:a="http://schemas.openxmlformats.org/drawingml/2006/main">
            <a:r>
              <a:t>          "processing": "작물·지역·생육단계·문제 상황 확인",</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"영농 지식",</a:t>
            </a:r>
          </a:p>
          <a:p xmlns:a="http://schemas.openxmlformats.org/drawingml/2006/main">
            <a:r>
              <a:t>          "processing": "기술 문서·상담자료·전문가 평가셋 정비",</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"질문·작물·위치",</a:t>
            </a:r>
          </a:p>
          <a:p xmlns:a="http://schemas.openxmlformats.org/drawingml/2006/main">
            <a:r>
              <a:t>          "processing": "질의 관련 농업 지식의 검색·설명",</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"상담 답변",</a:t>
            </a:r>
          </a:p>
          <a:p xmlns:a="http://schemas.openxmlformats.org/drawingml/2006/main">
            <a:r>
              <a:t>          "processing":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"작물·상황별 오답과 현장 적용성 검토",</a:t>
            </a:r>
          </a:p>
          <a:p xmlns:a="http://schemas.openxmlformats.org/drawingml/2006/main">
            <a:r>
              <a:t>          "output": "조건별 근거 일치와 전문가 전환 판정표"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"작물·상황별 오답과 현장 적용성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"S-AX19",</a:t>
            </a:r>
          </a:p>
          <a:p xmlns:a="http://schemas.openxmlformats.org/drawingml/2006/main">
            <a:r>
              <a:t>        "title": "청년농업인 특화 AI 상담 · 공공AI 사례집 44–45쪽",</a:t>
            </a:r>
          </a:p>
          <a:p xmlns:a="http://schemas.openxmlformats.org/drawingml/2006/main">
            <a:r>
              <a:t>        "url": "https://bigdata.dongjak.go.kr/board/viewArticle?articleNo=954&amp;boardId=4",</a:t>
            </a:r>
          </a:p>
          <a:p xmlns:a="http://schemas.openxmlformats.org/drawingml/2006/main">
            <a:r>
              <a:t>        "published": "2024 구축 / 2025.02 개시",</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"지역·산업 맥락과 전문가 사전 평가",</a:t>
            </a:r>
          </a:p>
          <a:p xmlns:a="http://schemas.openxmlformats.org/drawingml/2006/main">
            <a:r>
              <a:t>    "local": "운수사업자·지역별 안전·지원 업무 지식 구분",</a:t>
            </a:r>
          </a:p>
          <a:p xmlns:a="http://schemas.openxmlformats.org/drawingml/2006/main">
            <a:r>
              <a:t>    "sourceDetail": null,</a:t>
            </a:r>
          </a:p>
          <a:p xmlns:a="http://schemas.openxmlformats.org/drawingml/2006/main">
            <a:r>
              <a:t>    "narrative": [</a:t>
            </a:r>
          </a:p>
          <a:p xmlns:a="http://schemas.openxmlformats.org/drawingml/2006/main">
            <a:r>
              <a:t>      "농업인이 작물·지역·생육 상황에 맞는 전문지식을 찾도록 지원하는 상담 사례. 범용 질문 답변에 현장 문맥과 전문가 확인을 결합하는 유형.",</a:t>
            </a:r>
          </a:p>
          <a:p xmlns:a="http://schemas.openxmlformats.org/drawingml/2006/main">
            <a:r>
              <a:t>      "입력에서 작물·생육단계·지역·문제 상황을 정리한 뒤 관련 기술자료를 검색하고 원문 근거를 안내하는 구조의 재구성. 정보가 부족하거나 지역 예외가 있는 질문은 추가 확인·전문가 상담으로 연결.",</a:t>
            </a:r>
          </a:p>
          <a:p xmlns:a="http://schemas.openxmlformats.org/drawingml/2006/main">
            <a:r>
              <a:t>      "TS 업무에는 차량·시설·지역·시행일 등 도메인 문맥을 먼저 확보하는 방식으로 현지화. 평균 정답률보다 상황별 오류와 전문가 전환율, 실제 업무에 맞는 안내인지의 검토가 중요."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"영농 질의 접점",</a:t>
            </a:r>
          </a:p>
          <a:p xmlns:a="http://schemas.openxmlformats.org/drawingml/2006/main">
            <a:r>
              <a:t>          "layer": "이용 접점",</a:t>
            </a:r>
          </a:p>
          <a:p xmlns:a="http://schemas.openxmlformats.org/drawingml/2006/main">
            <a:r>
              <a:t>          "detail": "청년농업인·농업 전문가",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"작물·생육단계",</a:t>
            </a:r>
          </a:p>
          <a:p xmlns:a="http://schemas.openxmlformats.org/drawingml/2006/main">
            <a:r>
              <a:t>          "layer": "업무 문맥",</a:t>
            </a:r>
          </a:p>
          <a:p xmlns:a="http://schemas.openxmlformats.org/drawingml/2006/main">
            <a:r>
              <a:t>          "detail": "작물·지역·생육단계·문제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"농업 지식 검색",</a:t>
            </a:r>
          </a:p>
          <a:p xmlns:a="http://schemas.openxmlformats.org/drawingml/2006/main">
            <a:r>
              <a:t>          "layer": "자료 조회",</a:t>
            </a:r>
          </a:p>
          <a:p xmlns:a="http://schemas.openxmlformats.org/drawingml/2006/main">
            <a:r>
              <a:t>          "detail": "질문·작물·위치",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"맥락형 상담 생성",</a:t>
            </a:r>
          </a:p>
          <a:p xmlns:a="http://schemas.openxmlformats.org/drawingml/2006/main">
            <a:r>
              <a:t>          "layer": "핵심 처리",</a:t>
            </a:r>
          </a:p>
          <a:p xmlns:a="http://schemas.openxmlformats.org/drawingml/2006/main">
            <a:r>
              <a:t>          "detail": "질의 관련 농업 지식의 검색·설명",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"지역·상황 대조",</a:t>
            </a:r>
          </a:p>
          <a:p xmlns:a="http://schemas.openxmlformats.org/drawingml/2006/main">
            <a:r>
              <a:t>          "layer": "결과 검증",</a:t>
            </a:r>
          </a:p>
          <a:p xmlns:a="http://schemas.openxmlformats.org/drawingml/2006/main">
            <a:r>
              <a:t>          "detail": "지역·작물별 정답 및 전문가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"전문가 확인",</a:t>
            </a:r>
          </a:p>
          <a:p xmlns:a="http://schemas.openxmlformats.org/drawingml/2006/main">
            <a:r>
              <a:t>          "layer": "사람 확인",</a:t>
            </a:r>
          </a:p>
          <a:p xmlns:a="http://schemas.openxmlformats.org/drawingml/2006/main">
            <a:r>
              <a:t>          "detail": "작물·지역·생육단계에 맞는 기술 지식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"원문·상담 연결",</a:t>
            </a:r>
          </a:p>
          <a:p xmlns:a="http://schemas.openxmlformats.org/drawingml/2006/main">
            <a:r>
              <a:t>          "layer": "업무 연결",</a:t>
            </a:r>
          </a:p>
          <a:p xmlns:a="http://schemas.openxmlformats.org/drawingml/2006/main">
            <a:r>
              <a:t>          "detail": "원문 근거 안내와 전문가 확인 경로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"현장 적합성 평가",</a:t>
            </a:r>
          </a:p>
          <a:p xmlns:a="http://schemas.openxmlformats.org/drawingml/2006/main">
            <a:r>
              <a:t>          "layer": "운영 관측",</a:t>
            </a:r>
          </a:p>
          <a:p xmlns:a="http://schemas.openxmlformats.org/drawingml/2006/main">
            <a:r>
              <a:t>          "detail": "작물·상황별 오답과 현장 적용성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"기술·상담 자료",</a:t>
            </a:r>
          </a:p>
          <a:p xmlns:a="http://schemas.openxmlformats.org/drawingml/2006/main">
            <a:r>
              <a:t>          "layer": "데이터 원천",</a:t>
            </a:r>
          </a:p>
          <a:p xmlns:a="http://schemas.openxmlformats.org/drawingml/2006/main">
            <a:r>
              <a:t>          "detail": "영농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"작물·지역 태깅",</a:t>
            </a:r>
          </a:p>
          <a:p xmlns:a="http://schemas.openxmlformats.org/drawingml/2006/main">
            <a:r>
              <a:t>          "layer": "준비·갱신",</a:t>
            </a:r>
          </a:p>
          <a:p xmlns:a="http://schemas.openxmlformats.org/drawingml/2006/main">
            <a:r>
              <a:t>          "detail": "기술 문서·상담자료·전문가 평가셋 정비",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"조건별 근거 일치와 전문가 전환 판정표",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"전문가 전환 기준",</a:t>
            </a:r>
          </a:p>
          <a:p xmlns:a="http://schemas.openxmlformats.org/drawingml/2006/main">
            <a:r>
              <a:t>          "layer": "권한·정책",</a:t>
            </a:r>
          </a:p>
          <a:p xmlns:a="http://schemas.openxmlformats.org/drawingml/2006/main">
            <a:r>
              <a:t>          "detail": "다른 작물 지침·증상 누락·전문가 판단이 필요한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"영농 지식 → 위치·작물 맥락 → 전문 상담 → 현업·이용자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"영농 지식",</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"작물·지역·생육단계·문제 상황 확인",</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"조건별 근거 일치와 전문가 전환 판정표",</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영농 근거",</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"상담 답변",</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"농업 전문지식의 현장 상담 연결 / 재배 질의·전문지식·사전 평가",</a:t>
            </a:r>
          </a:p>
          <a:p xmlns:a="http://schemas.openxmlformats.org/drawingml/2006/main">
            <a:r>
              <a:t>        "extension": "운수사업자·지역별 안전·지원 업무 지식 구분"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작물 지침·증상 누락·전문가 판단이 필요한 요청",</a:t>
            </a:r>
          </a:p>
          <a:p xmlns:a="http://schemas.openxmlformats.org/drawingml/2006/main">
            <a:r>
              <a:t>        "hold": "지역·작물별 정답 및 전문가 전환",</a:t>
            </a:r>
          </a:p>
          <a:p xmlns:a="http://schemas.openxmlformats.org/drawingml/2006/main">
            <a:r>
              <a:t>        "recovery": "작물·상황별 오답과 현장 적용성 검토",</a:t>
            </a:r>
          </a:p>
          <a:p xmlns:a="http://schemas.openxmlformats.org/drawingml/2006/main">
            <a:r>
              <a:t>        "evidence": "조건별 근거 일치와 전문가 전환 판정표"</a:t>
            </a:r>
          </a:p>
          <a:p xmlns:a="http://schemas.openxmlformats.org/drawingml/2006/main">
            <a:r>
              <a:t>      },</a:t>
            </a:r>
          </a:p>
          <a:p xmlns:a="http://schemas.openxmlformats.org/drawingml/2006/main">
            <a:r>
              <a:t>      "data": {</a:t>
            </a:r>
          </a:p>
          <a:p xmlns:a="http://schemas.openxmlformats.org/drawingml/2006/main">
            <a:r>
              <a:t>        "source": "영농 지식",</a:t>
            </a:r>
          </a:p>
          <a:p xmlns:a="http://schemas.openxmlformats.org/drawingml/2006/main">
            <a:r>
              <a:t>        "prepare": "기술 문서·상담자료·전문가 평가셋 정비",</a:t>
            </a:r>
          </a:p>
          <a:p xmlns:a="http://schemas.openxmlformats.org/drawingml/2006/main">
            <a:r>
              <a:t>        "output": "질문·작물·위치",</a:t>
            </a:r>
          </a:p>
          <a:p xmlns:a="http://schemas.openxmlformats.org/drawingml/2006/main">
            <a:r>
              <a:t>        "refresh": "작물·상황별 오답과 현장 적용성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"AX19",</a:t>
            </a:r>
          </a:p>
          <a:p xmlns:a="http://schemas.openxmlformats.org/drawingml/2006/main">
            <a:r>
              <a:t>    "success": [</a:t>
            </a:r>
          </a:p>
          <a:p xmlns:a="http://schemas.openxmlformats.org/drawingml/2006/main">
            <a:r>
              <a:t>      "작물·위치 맥락의 전문 지식 연결",</a:t>
            </a:r>
          </a:p>
          <a:p xmlns:a="http://schemas.openxmlformats.org/drawingml/2006/main">
            <a:r>
              <a:t>      "전문가·이용자 사전 평가"</a:t>
            </a:r>
          </a:p>
          <a:p xmlns:a="http://schemas.openxmlformats.org/drawingml/2006/main">
            <a:r>
              <a:t>    ],</a:t>
            </a:r>
          </a:p>
          <a:p xmlns:a="http://schemas.openxmlformats.org/drawingml/2006/main">
            <a:r>
              <a:t>    "risks": [</a:t>
            </a:r>
          </a:p>
          <a:p xmlns:a="http://schemas.openxmlformats.org/drawingml/2006/main">
            <a:r>
              <a:t>      "지역·생육환경 예외",</a:t>
            </a:r>
          </a:p>
          <a:p xmlns:a="http://schemas.openxmlformats.org/drawingml/2006/main">
            <a:r>
              <a:t>      "상담 답변과 현장 적합성의 간극"</a:t>
            </a:r>
          </a:p>
          <a:p xmlns:a="http://schemas.openxmlformats.org/drawingml/2006/main">
            <a:r>
              <a:t>    ],</a:t>
            </a:r>
          </a:p>
          <a:p xmlns:a="http://schemas.openxmlformats.org/drawingml/2006/main">
            <a:r>
              <a:t>    "architecture": [</a:t>
            </a:r>
          </a:p>
          <a:p xmlns:a="http://schemas.openxmlformats.org/drawingml/2006/main">
            <a:r>
              <a:t>      "농업기술 앱",</a:t>
            </a:r>
          </a:p>
          <a:p xmlns:a="http://schemas.openxmlformats.org/drawingml/2006/main">
            <a:r>
              <a:t>      "맥락 기반 상담",</a:t>
            </a:r>
          </a:p>
          <a:p xmlns:a="http://schemas.openxmlformats.org/drawingml/2006/main">
            <a:r>
              <a:t>      "영농 지식",</a:t>
            </a:r>
          </a:p>
          <a:p xmlns:a="http://schemas.openxmlformats.org/drawingml/2006/main">
            <a:r>
              <a:t>      "농업인·전문가"</a:t>
            </a:r>
          </a:p>
          <a:p xmlns:a="http://schemas.openxmlformats.org/drawingml/2006/main">
            <a:r>
              <a:t>    ],</a:t>
            </a:r>
          </a:p>
          <a:p xmlns:a="http://schemas.openxmlformats.org/drawingml/2006/main">
            <a:r>
              <a:t>    "transfers": [</a:t>
            </a:r>
          </a:p>
          <a:p xmlns:a="http://schemas.openxmlformats.org/drawingml/2006/main">
            <a:r>
              <a:t>      "질문·작물·위치",</a:t>
            </a:r>
          </a:p>
          <a:p xmlns:a="http://schemas.openxmlformats.org/drawingml/2006/main">
            <a:r>
              <a:t>      "관련 영농 근거",</a:t>
            </a:r>
          </a:p>
          <a:p xmlns:a="http://schemas.openxmlformats.org/drawingml/2006/main">
            <a:r>
              <a:t>      "상담 답변",</a:t>
            </a:r>
          </a:p>
          <a:p xmlns:a="http://schemas.openxmlformats.org/drawingml/2006/main">
            <a:r>
              <a:t>      "이용자 검증"</a:t>
            </a:r>
          </a:p>
          <a:p xmlns:a="http://schemas.openxmlformats.org/drawingml/2006/main">
            <a:r>
              <a:t>    ],</a:t>
            </a:r>
          </a:p>
          <a:p xmlns:a="http://schemas.openxmlformats.org/drawingml/2006/main">
            <a:r>
              <a:t>    "control": "지역·작물별 정답 및 전문가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청년농업인 특화 AI 상담 · 공공AI 사례집 44–45쪽 https://bigdata.dongjak.go.kr/board/viewArticle?articleNo=954&amp;boardId=4</a:t>
            </a:r>
          </a:p>
          <a:p xmlns:a="http://schemas.openxmlformats.org/drawingml/2006/main">
            <a:r>
              <a:t>홈페이지 https://heen1987-ops.github.io/TS-business-Plan-001/index.html?view=casebook&amp;case=AX19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"AX19",</a:t>
            </a:r>
          </a:p>
          <a:p xmlns:a="http://schemas.openxmlformats.org/drawingml/2006/main">
            <a:r>
              <a:t>    "title": "청년농업인 특화 AI 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"지역·산업 특화 지식 서비스",</a:t>
            </a:r>
          </a:p>
          <a:p xmlns:a="http://schemas.openxmlformats.org/drawingml/2006/main">
            <a:r>
              <a:t>    "period": "2024 구축 / 2025.02 개시",</a:t>
            </a:r>
          </a:p>
          <a:p xmlns:a="http://schemas.openxmlformats.org/drawingml/2006/main">
            <a:r>
              <a:t>    "sources": [</a:t>
            </a:r>
          </a:p>
          <a:p xmlns:a="http://schemas.openxmlformats.org/drawingml/2006/main">
            <a:r>
              <a:t>      "S-AX19"</a:t>
            </a:r>
          </a:p>
          <a:p xmlns:a="http://schemas.openxmlformats.org/drawingml/2006/main">
            <a:r>
              <a:t>    ],</a:t>
            </a:r>
          </a:p>
          <a:p xmlns:a="http://schemas.openxmlformats.org/drawingml/2006/main">
            <a:r>
              <a:t>    "keywords": [</a:t>
            </a:r>
          </a:p>
          <a:p xmlns:a="http://schemas.openxmlformats.org/drawingml/2006/main">
            <a:r>
              <a:t>      "지역",</a:t>
            </a:r>
          </a:p>
          <a:p xmlns:a="http://schemas.openxmlformats.org/drawingml/2006/main">
            <a:r>
              <a:t>      "산업 특화 지식 서비스"</a:t>
            </a:r>
          </a:p>
          <a:p xmlns:a="http://schemas.openxmlformats.org/drawingml/2006/main">
            <a:r>
              <a:t>    ],</a:t>
            </a:r>
          </a:p>
          <a:p xmlns:a="http://schemas.openxmlformats.org/drawingml/2006/main">
            <a:r>
              <a:t>    "fact": "농업기술 앱에 초거대 AI 상담을 결합하고 전문가·청년농업인 사전 평가 후 서비스 개시",</a:t>
            </a:r>
          </a:p>
          <a:p xmlns:a="http://schemas.openxmlformats.org/drawingml/2006/main">
            <a:r>
              <a:t>    "limit": "기관 실증 사례 수록 · 정착·소득 개선 인과효과 실측과 구분",</a:t>
            </a:r>
          </a:p>
          <a:p xmlns:a="http://schemas.openxmlformats.org/drawingml/2006/main">
            <a:r>
              <a:t>    "flow": [</a:t>
            </a:r>
          </a:p>
          <a:p xmlns:a="http://schemas.openxmlformats.org/drawingml/2006/main">
            <a:r>
              <a:t>      "영농 지식",</a:t>
            </a:r>
          </a:p>
          <a:p xmlns:a="http://schemas.openxmlformats.org/drawingml/2006/main">
            <a:r>
              <a:t>      "위치·작물 맥락",</a:t>
            </a:r>
          </a:p>
          <a:p xmlns:a="http://schemas.openxmlformats.org/drawingml/2006/main">
            <a:r>
              <a:t>      "전문 상담",</a:t>
            </a:r>
          </a:p>
          <a:p xmlns:a="http://schemas.openxmlformats.org/drawingml/2006/main">
            <a:r>
              <a:t>      "현업·이용자 평가"</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"지역·산업 맥락과 전문가 사전 평가",</a:t>
            </a:r>
          </a:p>
          <a:p xmlns:a="http://schemas.openxmlformats.org/drawingml/2006/main">
            <a:r>
              <a:t>    "local": "운수사업자·지역별 안전·지원 업무 지식 구분",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"업종·지역·자격 조건·지원 절차 사전",</a:t>
            </a:r>
          </a:p>
          <a:p xmlns:a="http://schemas.openxmlformats.org/drawingml/2006/main">
            <a:r>
              <a:t>    "test": "업종·지역별 답변 근거와 신청 조건 대조",</a:t>
            </a:r>
          </a:p>
          <a:p xmlns:a="http://schemas.openxmlformats.org/drawingml/2006/main">
            <a:r>
              <a:t>    "metric": "정보 탐색시간 / 조건 오안내율",</a:t>
            </a:r>
          </a:p>
          <a:p xmlns:a="http://schemas.openxmlformats.org/drawingml/2006/main">
            <a:r>
              <a:t>    "strategies": [</a:t>
            </a:r>
          </a:p>
          <a:p xmlns:a="http://schemas.openxmlformats.org/drawingml/2006/main">
            <a:r>
              <a:t>      "ST-09",</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"AX19",</a:t>
            </a:r>
          </a:p>
          <a:p xmlns:a="http://schemas.openxmlformats.org/drawingml/2006/main">
            <a:r>
              <a:t>    "canonicalId": "AX19",</a:t>
            </a:r>
          </a:p>
          <a:p xmlns:a="http://schemas.openxmlformats.org/drawingml/2006/main">
            <a:r>
              <a:t>    "purpose": "농업 전문지식의 현장 상담 연결",</a:t>
            </a:r>
          </a:p>
          <a:p xmlns:a="http://schemas.openxmlformats.org/drawingml/2006/main">
            <a:r>
              <a:t>    "users": "청년농업인·농업 전문가",</a:t>
            </a:r>
          </a:p>
          <a:p xmlns:a="http://schemas.openxmlformats.org/drawingml/2006/main">
            <a:r>
              <a:t>    "scope": [</a:t>
            </a:r>
          </a:p>
          <a:p xmlns:a="http://schemas.openxmlformats.org/drawingml/2006/main">
            <a:r>
              <a:t>      "재배 질의",</a:t>
            </a:r>
          </a:p>
          <a:p xmlns:a="http://schemas.openxmlformats.org/drawingml/2006/main">
            <a:r>
              <a:t>      "전문지식",</a:t>
            </a:r>
          </a:p>
          <a:p xmlns:a="http://schemas.openxmlformats.org/drawingml/2006/main">
            <a:r>
              <a:t>      "사전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"농업기술 앱",</a:t>
            </a:r>
          </a:p>
          <a:p xmlns:a="http://schemas.openxmlformats.org/drawingml/2006/main">
            <a:r>
              <a:t>        "detail": "작물·지역·생육단계·문제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"재배 질의 / 전문지식 / 사전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"맥락 기반 상담",</a:t>
            </a:r>
          </a:p>
          <a:p xmlns:a="http://schemas.openxmlformats.org/drawingml/2006/main">
            <a:r>
              <a:t>        "detail": "질의 관련 농업 지식의 검색·설명",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"농업인·전문가",</a:t>
            </a:r>
          </a:p>
          <a:p xmlns:a="http://schemas.openxmlformats.org/drawingml/2006/main">
            <a:r>
              <a:t>        "detail": "원문 근거 안내와 전문가 확인 경로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"영농 지식",</a:t>
            </a:r>
          </a:p>
          <a:p xmlns:a="http://schemas.openxmlformats.org/drawingml/2006/main">
            <a:r>
              <a:t>        "detail": "기술 문서·상담자료·전문가 평가셋 정비",</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"작물·상황별 오답과 현장 적용성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"영농 지식",</a:t>
            </a:r>
          </a:p>
          <a:p xmlns:a="http://schemas.openxmlformats.org/drawingml/2006/main">
            <a:r>
              <a:t>        "input": "작물·지역·생육단계·문제 상황 확인",</a:t>
            </a:r>
          </a:p>
          <a:p xmlns:a="http://schemas.openxmlformats.org/drawingml/2006/main">
            <a:r>
              <a:t>        "process": "기술 문서·상담자료·전문가 평가셋 정비",</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"title": "위치·작물 맥락",</a:t>
            </a:r>
          </a:p>
          <a:p xmlns:a="http://schemas.openxmlformats.org/drawingml/2006/main">
            <a:r>
              <a:t>        "input": "질문·작물·위치",</a:t>
            </a:r>
          </a:p>
          <a:p xmlns:a="http://schemas.openxmlformats.org/drawingml/2006/main">
            <a:r>
              <a:t>        "process": "질의 관련 농업 지식의 검색·설명",</a:t>
            </a:r>
          </a:p>
          <a:p xmlns:a="http://schemas.openxmlformats.org/drawingml/2006/main">
            <a:r>
              <a:t>        "output": "관련 영농 근거"</a:t>
            </a:r>
          </a:p>
          <a:p xmlns:a="http://schemas.openxmlformats.org/drawingml/2006/main">
            <a:r>
              <a:t>      },</a:t>
            </a:r>
          </a:p>
          <a:p xmlns:a="http://schemas.openxmlformats.org/drawingml/2006/main">
            <a:r>
              <a:t>      {</a:t>
            </a:r>
          </a:p>
          <a:p xmlns:a="http://schemas.openxmlformats.org/drawingml/2006/main">
            <a:r>
              <a:t>        "title": "전문 상담",</a:t>
            </a:r>
          </a:p>
          <a:p xmlns:a="http://schemas.openxmlformats.org/drawingml/2006/main">
            <a:r>
              <a:t>        "input": "관련 영농 근거",</a:t>
            </a:r>
          </a:p>
          <a:p xmlns:a="http://schemas.openxmlformats.org/drawingml/2006/main">
            <a:r>
              <a:t>        "process": "지역·작물별 정답 및 전문가 전환",</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"title": "현업·이용자 평가",</a:t>
            </a:r>
          </a:p>
          <a:p xmlns:a="http://schemas.openxmlformats.org/drawingml/2006/main">
            <a:r>
              <a:t>        "input": "상담 답변",</a:t>
            </a:r>
          </a:p>
          <a:p xmlns:a="http://schemas.openxmlformats.org/drawingml/2006/main">
            <a:r>
              <a:t>        "process":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"작물·지역·생육단계에 맞는 기술 지식 안내",</a:t>
            </a:r>
          </a:p>
          <a:p xmlns:a="http://schemas.openxmlformats.org/drawingml/2006/main">
            <a:r>
              <a:t>      "exception": "다른 작물 지침·증상 누락·전문가 판단이 필요한 요청",</a:t>
            </a:r>
          </a:p>
          <a:p xmlns:a="http://schemas.openxmlformats.org/drawingml/2006/main">
            <a:r>
              <a:t>      "evidence": "조건별 근거 일치와 전문가 전환 판정표",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"청년농업인·농업 전문가",</a:t>
            </a:r>
          </a:p>
          <a:p xmlns:a="http://schemas.openxmlformats.org/drawingml/2006/main">
            <a:r>
              <a:t>          "processing": "작물·지역·생육단계·문제 상황 확인",</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"영농 지식",</a:t>
            </a:r>
          </a:p>
          <a:p xmlns:a="http://schemas.openxmlformats.org/drawingml/2006/main">
            <a:r>
              <a:t>          "processing": "기술 문서·상담자료·전문가 평가셋 정비",</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"질문·작물·위치",</a:t>
            </a:r>
          </a:p>
          <a:p xmlns:a="http://schemas.openxmlformats.org/drawingml/2006/main">
            <a:r>
              <a:t>          "processing": "질의 관련 농업 지식의 검색·설명",</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"상담 답변",</a:t>
            </a:r>
          </a:p>
          <a:p xmlns:a="http://schemas.openxmlformats.org/drawingml/2006/main">
            <a:r>
              <a:t>          "processing":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"작물·상황별 오답과 현장 적용성 검토",</a:t>
            </a:r>
          </a:p>
          <a:p xmlns:a="http://schemas.openxmlformats.org/drawingml/2006/main">
            <a:r>
              <a:t>          "output": "조건별 근거 일치와 전문가 전환 판정표"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"작물·상황별 오답과 현장 적용성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"S-AX19",</a:t>
            </a:r>
          </a:p>
          <a:p xmlns:a="http://schemas.openxmlformats.org/drawingml/2006/main">
            <a:r>
              <a:t>        "title": "청년농업인 특화 AI 상담 · 공공AI 사례집 44–45쪽",</a:t>
            </a:r>
          </a:p>
          <a:p xmlns:a="http://schemas.openxmlformats.org/drawingml/2006/main">
            <a:r>
              <a:t>        "url": "https://bigdata.dongjak.go.kr/board/viewArticle?articleNo=954&amp;boardId=4",</a:t>
            </a:r>
          </a:p>
          <a:p xmlns:a="http://schemas.openxmlformats.org/drawingml/2006/main">
            <a:r>
              <a:t>        "published": "2024 구축 / 2025.02 개시",</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"지역·산업 맥락과 전문가 사전 평가",</a:t>
            </a:r>
          </a:p>
          <a:p xmlns:a="http://schemas.openxmlformats.org/drawingml/2006/main">
            <a:r>
              <a:t>    "local": "운수사업자·지역별 안전·지원 업무 지식 구분",</a:t>
            </a:r>
          </a:p>
          <a:p xmlns:a="http://schemas.openxmlformats.org/drawingml/2006/main">
            <a:r>
              <a:t>    "sourceDetail": null,</a:t>
            </a:r>
          </a:p>
          <a:p xmlns:a="http://schemas.openxmlformats.org/drawingml/2006/main">
            <a:r>
              <a:t>    "narrative": [</a:t>
            </a:r>
          </a:p>
          <a:p xmlns:a="http://schemas.openxmlformats.org/drawingml/2006/main">
            <a:r>
              <a:t>      "농업인이 작물·지역·생육 상황에 맞는 전문지식을 찾도록 지원하는 상담 사례. 범용 질문 답변에 현장 문맥과 전문가 확인을 결합하는 유형.",</a:t>
            </a:r>
          </a:p>
          <a:p xmlns:a="http://schemas.openxmlformats.org/drawingml/2006/main">
            <a:r>
              <a:t>      "입력에서 작물·생육단계·지역·문제 상황을 정리한 뒤 관련 기술자료를 검색하고 원문 근거를 안내하는 구조의 재구성. 정보가 부족하거나 지역 예외가 있는 질문은 추가 확인·전문가 상담으로 연결.",</a:t>
            </a:r>
          </a:p>
          <a:p xmlns:a="http://schemas.openxmlformats.org/drawingml/2006/main">
            <a:r>
              <a:t>      "TS 업무에는 차량·시설·지역·시행일 등 도메인 문맥을 먼저 확보하는 방식으로 현지화. 평균 정답률보다 상황별 오류와 전문가 전환율, 실제 업무에 맞는 안내인지의 검토가 중요."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"영농 질의 접점",</a:t>
            </a:r>
          </a:p>
          <a:p xmlns:a="http://schemas.openxmlformats.org/drawingml/2006/main">
            <a:r>
              <a:t>          "layer": "이용 접점",</a:t>
            </a:r>
          </a:p>
          <a:p xmlns:a="http://schemas.openxmlformats.org/drawingml/2006/main">
            <a:r>
              <a:t>          "detail": "청년농업인·농업 전문가",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"작물·생육단계",</a:t>
            </a:r>
          </a:p>
          <a:p xmlns:a="http://schemas.openxmlformats.org/drawingml/2006/main">
            <a:r>
              <a:t>          "layer": "업무 문맥",</a:t>
            </a:r>
          </a:p>
          <a:p xmlns:a="http://schemas.openxmlformats.org/drawingml/2006/main">
            <a:r>
              <a:t>          "detail": "작물·지역·생육단계·문제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"농업 지식 검색",</a:t>
            </a:r>
          </a:p>
          <a:p xmlns:a="http://schemas.openxmlformats.org/drawingml/2006/main">
            <a:r>
              <a:t>          "layer": "자료 조회",</a:t>
            </a:r>
          </a:p>
          <a:p xmlns:a="http://schemas.openxmlformats.org/drawingml/2006/main">
            <a:r>
              <a:t>          "detail": "질문·작물·위치",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"맥락형 상담 생성",</a:t>
            </a:r>
          </a:p>
          <a:p xmlns:a="http://schemas.openxmlformats.org/drawingml/2006/main">
            <a:r>
              <a:t>          "layer": "핵심 처리",</a:t>
            </a:r>
          </a:p>
          <a:p xmlns:a="http://schemas.openxmlformats.org/drawingml/2006/main">
            <a:r>
              <a:t>          "detail": "질의 관련 농업 지식의 검색·설명",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"지역·상황 대조",</a:t>
            </a:r>
          </a:p>
          <a:p xmlns:a="http://schemas.openxmlformats.org/drawingml/2006/main">
            <a:r>
              <a:t>          "layer": "결과 검증",</a:t>
            </a:r>
          </a:p>
          <a:p xmlns:a="http://schemas.openxmlformats.org/drawingml/2006/main">
            <a:r>
              <a:t>          "detail": "지역·작물별 정답 및 전문가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"전문가 확인",</a:t>
            </a:r>
          </a:p>
          <a:p xmlns:a="http://schemas.openxmlformats.org/drawingml/2006/main">
            <a:r>
              <a:t>          "layer": "사람 확인",</a:t>
            </a:r>
          </a:p>
          <a:p xmlns:a="http://schemas.openxmlformats.org/drawingml/2006/main">
            <a:r>
              <a:t>          "detail": "작물·지역·생육단계에 맞는 기술 지식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"원문·상담 연결",</a:t>
            </a:r>
          </a:p>
          <a:p xmlns:a="http://schemas.openxmlformats.org/drawingml/2006/main">
            <a:r>
              <a:t>          "layer": "업무 연결",</a:t>
            </a:r>
          </a:p>
          <a:p xmlns:a="http://schemas.openxmlformats.org/drawingml/2006/main">
            <a:r>
              <a:t>          "detail": "원문 근거 안내와 전문가 확인 경로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"현장 적합성 평가",</a:t>
            </a:r>
          </a:p>
          <a:p xmlns:a="http://schemas.openxmlformats.org/drawingml/2006/main">
            <a:r>
              <a:t>          "layer": "운영 관측",</a:t>
            </a:r>
          </a:p>
          <a:p xmlns:a="http://schemas.openxmlformats.org/drawingml/2006/main">
            <a:r>
              <a:t>          "detail": "작물·상황별 오답과 현장 적용성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"기술·상담 자료",</a:t>
            </a:r>
          </a:p>
          <a:p xmlns:a="http://schemas.openxmlformats.org/drawingml/2006/main">
            <a:r>
              <a:t>          "layer": "데이터 원천",</a:t>
            </a:r>
          </a:p>
          <a:p xmlns:a="http://schemas.openxmlformats.org/drawingml/2006/main">
            <a:r>
              <a:t>          "detail": "영농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"작물·지역 태깅",</a:t>
            </a:r>
          </a:p>
          <a:p xmlns:a="http://schemas.openxmlformats.org/drawingml/2006/main">
            <a:r>
              <a:t>          "layer": "준비·갱신",</a:t>
            </a:r>
          </a:p>
          <a:p xmlns:a="http://schemas.openxmlformats.org/drawingml/2006/main">
            <a:r>
              <a:t>          "detail": "기술 문서·상담자료·전문가 평가셋 정비",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"조건별 근거 일치와 전문가 전환 판정표",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"전문가 전환 기준",</a:t>
            </a:r>
          </a:p>
          <a:p xmlns:a="http://schemas.openxmlformats.org/drawingml/2006/main">
            <a:r>
              <a:t>          "layer": "권한·정책",</a:t>
            </a:r>
          </a:p>
          <a:p xmlns:a="http://schemas.openxmlformats.org/drawingml/2006/main">
            <a:r>
              <a:t>          "detail": "다른 작물 지침·증상 누락·전문가 판단이 필요한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"영농 지식 → 위치·작물 맥락 → 전문 상담 → 현업·이용자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"영농 지식",</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"작물·지역·생육단계·문제 상황 확인",</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"조건별 근거 일치와 전문가 전환 판정표",</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영농 근거",</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"상담 답변",</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"농업 전문지식의 현장 상담 연결 / 재배 질의·전문지식·사전 평가",</a:t>
            </a:r>
          </a:p>
          <a:p xmlns:a="http://schemas.openxmlformats.org/drawingml/2006/main">
            <a:r>
              <a:t>        "extension": "운수사업자·지역별 안전·지원 업무 지식 구분"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작물 지침·증상 누락·전문가 판단이 필요한 요청",</a:t>
            </a:r>
          </a:p>
          <a:p xmlns:a="http://schemas.openxmlformats.org/drawingml/2006/main">
            <a:r>
              <a:t>        "hold": "지역·작물별 정답 및 전문가 전환",</a:t>
            </a:r>
          </a:p>
          <a:p xmlns:a="http://schemas.openxmlformats.org/drawingml/2006/main">
            <a:r>
              <a:t>        "recovery": "작물·상황별 오답과 현장 적용성 검토",</a:t>
            </a:r>
          </a:p>
          <a:p xmlns:a="http://schemas.openxmlformats.org/drawingml/2006/main">
            <a:r>
              <a:t>        "evidence": "조건별 근거 일치와 전문가 전환 판정표"</a:t>
            </a:r>
          </a:p>
          <a:p xmlns:a="http://schemas.openxmlformats.org/drawingml/2006/main">
            <a:r>
              <a:t>      },</a:t>
            </a:r>
          </a:p>
          <a:p xmlns:a="http://schemas.openxmlformats.org/drawingml/2006/main">
            <a:r>
              <a:t>      "data": {</a:t>
            </a:r>
          </a:p>
          <a:p xmlns:a="http://schemas.openxmlformats.org/drawingml/2006/main">
            <a:r>
              <a:t>        "source": "영농 지식",</a:t>
            </a:r>
          </a:p>
          <a:p xmlns:a="http://schemas.openxmlformats.org/drawingml/2006/main">
            <a:r>
              <a:t>        "prepare": "기술 문서·상담자료·전문가 평가셋 정비",</a:t>
            </a:r>
          </a:p>
          <a:p xmlns:a="http://schemas.openxmlformats.org/drawingml/2006/main">
            <a:r>
              <a:t>        "output": "질문·작물·위치",</a:t>
            </a:r>
          </a:p>
          <a:p xmlns:a="http://schemas.openxmlformats.org/drawingml/2006/main">
            <a:r>
              <a:t>        "refresh": "작물·상황별 오답과 현장 적용성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"AX19",</a:t>
            </a:r>
          </a:p>
          <a:p xmlns:a="http://schemas.openxmlformats.org/drawingml/2006/main">
            <a:r>
              <a:t>    "success": [</a:t>
            </a:r>
          </a:p>
          <a:p xmlns:a="http://schemas.openxmlformats.org/drawingml/2006/main">
            <a:r>
              <a:t>      "작물·위치 맥락의 전문 지식 연결",</a:t>
            </a:r>
          </a:p>
          <a:p xmlns:a="http://schemas.openxmlformats.org/drawingml/2006/main">
            <a:r>
              <a:t>      "전문가·이용자 사전 평가"</a:t>
            </a:r>
          </a:p>
          <a:p xmlns:a="http://schemas.openxmlformats.org/drawingml/2006/main">
            <a:r>
              <a:t>    ],</a:t>
            </a:r>
          </a:p>
          <a:p xmlns:a="http://schemas.openxmlformats.org/drawingml/2006/main">
            <a:r>
              <a:t>    "risks": [</a:t>
            </a:r>
          </a:p>
          <a:p xmlns:a="http://schemas.openxmlformats.org/drawingml/2006/main">
            <a:r>
              <a:t>      "지역·생육환경 예외",</a:t>
            </a:r>
          </a:p>
          <a:p xmlns:a="http://schemas.openxmlformats.org/drawingml/2006/main">
            <a:r>
              <a:t>      "상담 답변과 현장 적합성의 간극"</a:t>
            </a:r>
          </a:p>
          <a:p xmlns:a="http://schemas.openxmlformats.org/drawingml/2006/main">
            <a:r>
              <a:t>    ],</a:t>
            </a:r>
          </a:p>
          <a:p xmlns:a="http://schemas.openxmlformats.org/drawingml/2006/main">
            <a:r>
              <a:t>    "architecture": [</a:t>
            </a:r>
          </a:p>
          <a:p xmlns:a="http://schemas.openxmlformats.org/drawingml/2006/main">
            <a:r>
              <a:t>      "농업기술 앱",</a:t>
            </a:r>
          </a:p>
          <a:p xmlns:a="http://schemas.openxmlformats.org/drawingml/2006/main">
            <a:r>
              <a:t>      "맥락 기반 상담",</a:t>
            </a:r>
          </a:p>
          <a:p xmlns:a="http://schemas.openxmlformats.org/drawingml/2006/main">
            <a:r>
              <a:t>      "영농 지식",</a:t>
            </a:r>
          </a:p>
          <a:p xmlns:a="http://schemas.openxmlformats.org/drawingml/2006/main">
            <a:r>
              <a:t>      "농업인·전문가"</a:t>
            </a:r>
          </a:p>
          <a:p xmlns:a="http://schemas.openxmlformats.org/drawingml/2006/main">
            <a:r>
              <a:t>    ],</a:t>
            </a:r>
          </a:p>
          <a:p xmlns:a="http://schemas.openxmlformats.org/drawingml/2006/main">
            <a:r>
              <a:t>    "transfers": [</a:t>
            </a:r>
          </a:p>
          <a:p xmlns:a="http://schemas.openxmlformats.org/drawingml/2006/main">
            <a:r>
              <a:t>      "질문·작물·위치",</a:t>
            </a:r>
          </a:p>
          <a:p xmlns:a="http://schemas.openxmlformats.org/drawingml/2006/main">
            <a:r>
              <a:t>      "관련 영농 근거",</a:t>
            </a:r>
          </a:p>
          <a:p xmlns:a="http://schemas.openxmlformats.org/drawingml/2006/main">
            <a:r>
              <a:t>      "상담 답변",</a:t>
            </a:r>
          </a:p>
          <a:p xmlns:a="http://schemas.openxmlformats.org/drawingml/2006/main">
            <a:r>
              <a:t>      "이용자 검증"</a:t>
            </a:r>
          </a:p>
          <a:p xmlns:a="http://schemas.openxmlformats.org/drawingml/2006/main">
            <a:r>
              <a:t>    ],</a:t>
            </a:r>
          </a:p>
          <a:p xmlns:a="http://schemas.openxmlformats.org/drawingml/2006/main">
            <a:r>
              <a:t>    "control": "지역·작물별 정답 및 전문가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청년농업인 특화 AI 상담 · 공공AI 사례집 44–45쪽 https://bigdata.dongjak.go.kr/board/viewArticle?articleNo=954&amp;boardId=4</a:t>
            </a:r>
          </a:p>
          <a:p xmlns:a="http://schemas.openxmlformats.org/drawingml/2006/main">
            <a:r>
              <a:t>홈페이지 https://heen1987-ops.github.io/TS-business-Plan-001/index.html?view=casebook&amp;case=AX19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"AX19",</a:t>
            </a:r>
          </a:p>
          <a:p xmlns:a="http://schemas.openxmlformats.org/drawingml/2006/main">
            <a:r>
              <a:t>    "title": "청년농업인 특화 AI 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"지역·산업 특화 지식 서비스",</a:t>
            </a:r>
          </a:p>
          <a:p xmlns:a="http://schemas.openxmlformats.org/drawingml/2006/main">
            <a:r>
              <a:t>    "period": "2024 구축 / 2025.02 개시",</a:t>
            </a:r>
          </a:p>
          <a:p xmlns:a="http://schemas.openxmlformats.org/drawingml/2006/main">
            <a:r>
              <a:t>    "sources": [</a:t>
            </a:r>
          </a:p>
          <a:p xmlns:a="http://schemas.openxmlformats.org/drawingml/2006/main">
            <a:r>
              <a:t>      "S-AX19"</a:t>
            </a:r>
          </a:p>
          <a:p xmlns:a="http://schemas.openxmlformats.org/drawingml/2006/main">
            <a:r>
              <a:t>    ],</a:t>
            </a:r>
          </a:p>
          <a:p xmlns:a="http://schemas.openxmlformats.org/drawingml/2006/main">
            <a:r>
              <a:t>    "keywords": [</a:t>
            </a:r>
          </a:p>
          <a:p xmlns:a="http://schemas.openxmlformats.org/drawingml/2006/main">
            <a:r>
              <a:t>      "지역",</a:t>
            </a:r>
          </a:p>
          <a:p xmlns:a="http://schemas.openxmlformats.org/drawingml/2006/main">
            <a:r>
              <a:t>      "산업 특화 지식 서비스"</a:t>
            </a:r>
          </a:p>
          <a:p xmlns:a="http://schemas.openxmlformats.org/drawingml/2006/main">
            <a:r>
              <a:t>    ],</a:t>
            </a:r>
          </a:p>
          <a:p xmlns:a="http://schemas.openxmlformats.org/drawingml/2006/main">
            <a:r>
              <a:t>    "fact": "농업기술 앱에 초거대 AI 상담을 결합하고 전문가·청년농업인 사전 평가 후 서비스 개시",</a:t>
            </a:r>
          </a:p>
          <a:p xmlns:a="http://schemas.openxmlformats.org/drawingml/2006/main">
            <a:r>
              <a:t>    "limit": "기관 실증 사례 수록 · 정착·소득 개선 인과효과 실측과 구분",</a:t>
            </a:r>
          </a:p>
          <a:p xmlns:a="http://schemas.openxmlformats.org/drawingml/2006/main">
            <a:r>
              <a:t>    "flow": [</a:t>
            </a:r>
          </a:p>
          <a:p xmlns:a="http://schemas.openxmlformats.org/drawingml/2006/main">
            <a:r>
              <a:t>      "영농 지식",</a:t>
            </a:r>
          </a:p>
          <a:p xmlns:a="http://schemas.openxmlformats.org/drawingml/2006/main">
            <a:r>
              <a:t>      "위치·작물 맥락",</a:t>
            </a:r>
          </a:p>
          <a:p xmlns:a="http://schemas.openxmlformats.org/drawingml/2006/main">
            <a:r>
              <a:t>      "전문 상담",</a:t>
            </a:r>
          </a:p>
          <a:p xmlns:a="http://schemas.openxmlformats.org/drawingml/2006/main">
            <a:r>
              <a:t>      "현업·이용자 평가"</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"지역·산업 맥락과 전문가 사전 평가",</a:t>
            </a:r>
          </a:p>
          <a:p xmlns:a="http://schemas.openxmlformats.org/drawingml/2006/main">
            <a:r>
              <a:t>    "local": "운수사업자·지역별 안전·지원 업무 지식 구분",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"업종·지역·자격 조건·지원 절차 사전",</a:t>
            </a:r>
          </a:p>
          <a:p xmlns:a="http://schemas.openxmlformats.org/drawingml/2006/main">
            <a:r>
              <a:t>    "test": "업종·지역별 답변 근거와 신청 조건 대조",</a:t>
            </a:r>
          </a:p>
          <a:p xmlns:a="http://schemas.openxmlformats.org/drawingml/2006/main">
            <a:r>
              <a:t>    "metric": "정보 탐색시간 / 조건 오안내율",</a:t>
            </a:r>
          </a:p>
          <a:p xmlns:a="http://schemas.openxmlformats.org/drawingml/2006/main">
            <a:r>
              <a:t>    "strategies": [</a:t>
            </a:r>
          </a:p>
          <a:p xmlns:a="http://schemas.openxmlformats.org/drawingml/2006/main">
            <a:r>
              <a:t>      "ST-09",</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"AX19",</a:t>
            </a:r>
          </a:p>
          <a:p xmlns:a="http://schemas.openxmlformats.org/drawingml/2006/main">
            <a:r>
              <a:t>    "canonicalId": "AX19",</a:t>
            </a:r>
          </a:p>
          <a:p xmlns:a="http://schemas.openxmlformats.org/drawingml/2006/main">
            <a:r>
              <a:t>    "purpose": "농업 전문지식의 현장 상담 연결",</a:t>
            </a:r>
          </a:p>
          <a:p xmlns:a="http://schemas.openxmlformats.org/drawingml/2006/main">
            <a:r>
              <a:t>    "users": "청년농업인·농업 전문가",</a:t>
            </a:r>
          </a:p>
          <a:p xmlns:a="http://schemas.openxmlformats.org/drawingml/2006/main">
            <a:r>
              <a:t>    "scope": [</a:t>
            </a:r>
          </a:p>
          <a:p xmlns:a="http://schemas.openxmlformats.org/drawingml/2006/main">
            <a:r>
              <a:t>      "재배 질의",</a:t>
            </a:r>
          </a:p>
          <a:p xmlns:a="http://schemas.openxmlformats.org/drawingml/2006/main">
            <a:r>
              <a:t>      "전문지식",</a:t>
            </a:r>
          </a:p>
          <a:p xmlns:a="http://schemas.openxmlformats.org/drawingml/2006/main">
            <a:r>
              <a:t>      "사전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"농업기술 앱",</a:t>
            </a:r>
          </a:p>
          <a:p xmlns:a="http://schemas.openxmlformats.org/drawingml/2006/main">
            <a:r>
              <a:t>        "detail": "작물·지역·생육단계·문제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"재배 질의 / 전문지식 / 사전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"맥락 기반 상담",</a:t>
            </a:r>
          </a:p>
          <a:p xmlns:a="http://schemas.openxmlformats.org/drawingml/2006/main">
            <a:r>
              <a:t>        "detail": "질의 관련 농업 지식의 검색·설명",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"농업인·전문가",</a:t>
            </a:r>
          </a:p>
          <a:p xmlns:a="http://schemas.openxmlformats.org/drawingml/2006/main">
            <a:r>
              <a:t>        "detail": "원문 근거 안내와 전문가 확인 경로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"영농 지식",</a:t>
            </a:r>
          </a:p>
          <a:p xmlns:a="http://schemas.openxmlformats.org/drawingml/2006/main">
            <a:r>
              <a:t>        "detail": "기술 문서·상담자료·전문가 평가셋 정비",</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"작물·상황별 오답과 현장 적용성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"영농 지식",</a:t>
            </a:r>
          </a:p>
          <a:p xmlns:a="http://schemas.openxmlformats.org/drawingml/2006/main">
            <a:r>
              <a:t>        "input": "작물·지역·생육단계·문제 상황 확인",</a:t>
            </a:r>
          </a:p>
          <a:p xmlns:a="http://schemas.openxmlformats.org/drawingml/2006/main">
            <a:r>
              <a:t>        "process": "기술 문서·상담자료·전문가 평가셋 정비",</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"title": "위치·작물 맥락",</a:t>
            </a:r>
          </a:p>
          <a:p xmlns:a="http://schemas.openxmlformats.org/drawingml/2006/main">
            <a:r>
              <a:t>        "input": "질문·작물·위치",</a:t>
            </a:r>
          </a:p>
          <a:p xmlns:a="http://schemas.openxmlformats.org/drawingml/2006/main">
            <a:r>
              <a:t>        "process": "질의 관련 농업 지식의 검색·설명",</a:t>
            </a:r>
          </a:p>
          <a:p xmlns:a="http://schemas.openxmlformats.org/drawingml/2006/main">
            <a:r>
              <a:t>        "output": "관련 영농 근거"</a:t>
            </a:r>
          </a:p>
          <a:p xmlns:a="http://schemas.openxmlformats.org/drawingml/2006/main">
            <a:r>
              <a:t>      },</a:t>
            </a:r>
          </a:p>
          <a:p xmlns:a="http://schemas.openxmlformats.org/drawingml/2006/main">
            <a:r>
              <a:t>      {</a:t>
            </a:r>
          </a:p>
          <a:p xmlns:a="http://schemas.openxmlformats.org/drawingml/2006/main">
            <a:r>
              <a:t>        "title": "전문 상담",</a:t>
            </a:r>
          </a:p>
          <a:p xmlns:a="http://schemas.openxmlformats.org/drawingml/2006/main">
            <a:r>
              <a:t>        "input": "관련 영농 근거",</a:t>
            </a:r>
          </a:p>
          <a:p xmlns:a="http://schemas.openxmlformats.org/drawingml/2006/main">
            <a:r>
              <a:t>        "process": "지역·작물별 정답 및 전문가 전환",</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"title": "현업·이용자 평가",</a:t>
            </a:r>
          </a:p>
          <a:p xmlns:a="http://schemas.openxmlformats.org/drawingml/2006/main">
            <a:r>
              <a:t>        "input": "상담 답변",</a:t>
            </a:r>
          </a:p>
          <a:p xmlns:a="http://schemas.openxmlformats.org/drawingml/2006/main">
            <a:r>
              <a:t>        "process":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"작물·지역·생육단계에 맞는 기술 지식 안내",</a:t>
            </a:r>
          </a:p>
          <a:p xmlns:a="http://schemas.openxmlformats.org/drawingml/2006/main">
            <a:r>
              <a:t>      "exception": "다른 작물 지침·증상 누락·전문가 판단이 필요한 요청",</a:t>
            </a:r>
          </a:p>
          <a:p xmlns:a="http://schemas.openxmlformats.org/drawingml/2006/main">
            <a:r>
              <a:t>      "evidence": "조건별 근거 일치와 전문가 전환 판정표",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"청년농업인·농업 전문가",</a:t>
            </a:r>
          </a:p>
          <a:p xmlns:a="http://schemas.openxmlformats.org/drawingml/2006/main">
            <a:r>
              <a:t>          "processing": "작물·지역·생육단계·문제 상황 확인",</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"영농 지식",</a:t>
            </a:r>
          </a:p>
          <a:p xmlns:a="http://schemas.openxmlformats.org/drawingml/2006/main">
            <a:r>
              <a:t>          "processing": "기술 문서·상담자료·전문가 평가셋 정비",</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"질문·작물·위치",</a:t>
            </a:r>
          </a:p>
          <a:p xmlns:a="http://schemas.openxmlformats.org/drawingml/2006/main">
            <a:r>
              <a:t>          "processing": "질의 관련 농업 지식의 검색·설명",</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"상담 답변",</a:t>
            </a:r>
          </a:p>
          <a:p xmlns:a="http://schemas.openxmlformats.org/drawingml/2006/main">
            <a:r>
              <a:t>          "processing":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"작물·상황별 오답과 현장 적용성 검토",</a:t>
            </a:r>
          </a:p>
          <a:p xmlns:a="http://schemas.openxmlformats.org/drawingml/2006/main">
            <a:r>
              <a:t>          "output": "조건별 근거 일치와 전문가 전환 판정표"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"작물·상황별 오답과 현장 적용성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"S-AX19",</a:t>
            </a:r>
          </a:p>
          <a:p xmlns:a="http://schemas.openxmlformats.org/drawingml/2006/main">
            <a:r>
              <a:t>        "title": "청년농업인 특화 AI 상담 · 공공AI 사례집 44–45쪽",</a:t>
            </a:r>
          </a:p>
          <a:p xmlns:a="http://schemas.openxmlformats.org/drawingml/2006/main">
            <a:r>
              <a:t>        "url": "https://bigdata.dongjak.go.kr/board/viewArticle?articleNo=954&amp;boardId=4",</a:t>
            </a:r>
          </a:p>
          <a:p xmlns:a="http://schemas.openxmlformats.org/drawingml/2006/main">
            <a:r>
              <a:t>        "published": "2024 구축 / 2025.02 개시",</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"지역·산업 맥락과 전문가 사전 평가",</a:t>
            </a:r>
          </a:p>
          <a:p xmlns:a="http://schemas.openxmlformats.org/drawingml/2006/main">
            <a:r>
              <a:t>    "local": "운수사업자·지역별 안전·지원 업무 지식 구분",</a:t>
            </a:r>
          </a:p>
          <a:p xmlns:a="http://schemas.openxmlformats.org/drawingml/2006/main">
            <a:r>
              <a:t>    "sourceDetail": null,</a:t>
            </a:r>
          </a:p>
          <a:p xmlns:a="http://schemas.openxmlformats.org/drawingml/2006/main">
            <a:r>
              <a:t>    "narrative": [</a:t>
            </a:r>
          </a:p>
          <a:p xmlns:a="http://schemas.openxmlformats.org/drawingml/2006/main">
            <a:r>
              <a:t>      "농업인이 작물·지역·생육 상황에 맞는 전문지식을 찾도록 지원하는 상담 사례. 범용 질문 답변에 현장 문맥과 전문가 확인을 결합하는 유형.",</a:t>
            </a:r>
          </a:p>
          <a:p xmlns:a="http://schemas.openxmlformats.org/drawingml/2006/main">
            <a:r>
              <a:t>      "입력에서 작물·생육단계·지역·문제 상황을 정리한 뒤 관련 기술자료를 검색하고 원문 근거를 안내하는 구조의 재구성. 정보가 부족하거나 지역 예외가 있는 질문은 추가 확인·전문가 상담으로 연결.",</a:t>
            </a:r>
          </a:p>
          <a:p xmlns:a="http://schemas.openxmlformats.org/drawingml/2006/main">
            <a:r>
              <a:t>      "TS 업무에는 차량·시설·지역·시행일 등 도메인 문맥을 먼저 확보하는 방식으로 현지화. 평균 정답률보다 상황별 오류와 전문가 전환율, 실제 업무에 맞는 안내인지의 검토가 중요."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"영농 질의 접점",</a:t>
            </a:r>
          </a:p>
          <a:p xmlns:a="http://schemas.openxmlformats.org/drawingml/2006/main">
            <a:r>
              <a:t>          "layer": "이용 접점",</a:t>
            </a:r>
          </a:p>
          <a:p xmlns:a="http://schemas.openxmlformats.org/drawingml/2006/main">
            <a:r>
              <a:t>          "detail": "청년농업인·농업 전문가",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"작물·생육단계",</a:t>
            </a:r>
          </a:p>
          <a:p xmlns:a="http://schemas.openxmlformats.org/drawingml/2006/main">
            <a:r>
              <a:t>          "layer": "업무 문맥",</a:t>
            </a:r>
          </a:p>
          <a:p xmlns:a="http://schemas.openxmlformats.org/drawingml/2006/main">
            <a:r>
              <a:t>          "detail": "작물·지역·생육단계·문제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"농업 지식 검색",</a:t>
            </a:r>
          </a:p>
          <a:p xmlns:a="http://schemas.openxmlformats.org/drawingml/2006/main">
            <a:r>
              <a:t>          "layer": "자료 조회",</a:t>
            </a:r>
          </a:p>
          <a:p xmlns:a="http://schemas.openxmlformats.org/drawingml/2006/main">
            <a:r>
              <a:t>          "detail": "질문·작물·위치",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"맥락형 상담 생성",</a:t>
            </a:r>
          </a:p>
          <a:p xmlns:a="http://schemas.openxmlformats.org/drawingml/2006/main">
            <a:r>
              <a:t>          "layer": "핵심 처리",</a:t>
            </a:r>
          </a:p>
          <a:p xmlns:a="http://schemas.openxmlformats.org/drawingml/2006/main">
            <a:r>
              <a:t>          "detail": "질의 관련 농업 지식의 검색·설명",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"지역·상황 대조",</a:t>
            </a:r>
          </a:p>
          <a:p xmlns:a="http://schemas.openxmlformats.org/drawingml/2006/main">
            <a:r>
              <a:t>          "layer": "결과 검증",</a:t>
            </a:r>
          </a:p>
          <a:p xmlns:a="http://schemas.openxmlformats.org/drawingml/2006/main">
            <a:r>
              <a:t>          "detail": "지역·작물별 정답 및 전문가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"전문가 확인",</a:t>
            </a:r>
          </a:p>
          <a:p xmlns:a="http://schemas.openxmlformats.org/drawingml/2006/main">
            <a:r>
              <a:t>          "layer": "사람 확인",</a:t>
            </a:r>
          </a:p>
          <a:p xmlns:a="http://schemas.openxmlformats.org/drawingml/2006/main">
            <a:r>
              <a:t>          "detail": "작물·지역·생육단계에 맞는 기술 지식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"원문·상담 연결",</a:t>
            </a:r>
          </a:p>
          <a:p xmlns:a="http://schemas.openxmlformats.org/drawingml/2006/main">
            <a:r>
              <a:t>          "layer": "업무 연결",</a:t>
            </a:r>
          </a:p>
          <a:p xmlns:a="http://schemas.openxmlformats.org/drawingml/2006/main">
            <a:r>
              <a:t>          "detail": "원문 근거 안내와 전문가 확인 경로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"현장 적합성 평가",</a:t>
            </a:r>
          </a:p>
          <a:p xmlns:a="http://schemas.openxmlformats.org/drawingml/2006/main">
            <a:r>
              <a:t>          "layer": "운영 관측",</a:t>
            </a:r>
          </a:p>
          <a:p xmlns:a="http://schemas.openxmlformats.org/drawingml/2006/main">
            <a:r>
              <a:t>          "detail": "작물·상황별 오답과 현장 적용성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"기술·상담 자료",</a:t>
            </a:r>
          </a:p>
          <a:p xmlns:a="http://schemas.openxmlformats.org/drawingml/2006/main">
            <a:r>
              <a:t>          "layer": "데이터 원천",</a:t>
            </a:r>
          </a:p>
          <a:p xmlns:a="http://schemas.openxmlformats.org/drawingml/2006/main">
            <a:r>
              <a:t>          "detail": "영농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"작물·지역 태깅",</a:t>
            </a:r>
          </a:p>
          <a:p xmlns:a="http://schemas.openxmlformats.org/drawingml/2006/main">
            <a:r>
              <a:t>          "layer": "준비·갱신",</a:t>
            </a:r>
          </a:p>
          <a:p xmlns:a="http://schemas.openxmlformats.org/drawingml/2006/main">
            <a:r>
              <a:t>          "detail": "기술 문서·상담자료·전문가 평가셋 정비",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"조건별 근거 일치와 전문가 전환 판정표",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"전문가 전환 기준",</a:t>
            </a:r>
          </a:p>
          <a:p xmlns:a="http://schemas.openxmlformats.org/drawingml/2006/main">
            <a:r>
              <a:t>          "layer": "권한·정책",</a:t>
            </a:r>
          </a:p>
          <a:p xmlns:a="http://schemas.openxmlformats.org/drawingml/2006/main">
            <a:r>
              <a:t>          "detail": "다른 작물 지침·증상 누락·전문가 판단이 필요한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"영농 지식 → 위치·작물 맥락 → 전문 상담 → 현업·이용자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"영농 지식",</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"작물·지역·생육단계·문제 상황 확인",</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"조건별 근거 일치와 전문가 전환 판정표",</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영농 근거",</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"상담 답변",</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"농업 전문지식의 현장 상담 연결 / 재배 질의·전문지식·사전 평가",</a:t>
            </a:r>
          </a:p>
          <a:p xmlns:a="http://schemas.openxmlformats.org/drawingml/2006/main">
            <a:r>
              <a:t>        "extension": "운수사업자·지역별 안전·지원 업무 지식 구분"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작물 지침·증상 누락·전문가 판단이 필요한 요청",</a:t>
            </a:r>
          </a:p>
          <a:p xmlns:a="http://schemas.openxmlformats.org/drawingml/2006/main">
            <a:r>
              <a:t>        "hold": "지역·작물별 정답 및 전문가 전환",</a:t>
            </a:r>
          </a:p>
          <a:p xmlns:a="http://schemas.openxmlformats.org/drawingml/2006/main">
            <a:r>
              <a:t>        "recovery": "작물·상황별 오답과 현장 적용성 검토",</a:t>
            </a:r>
          </a:p>
          <a:p xmlns:a="http://schemas.openxmlformats.org/drawingml/2006/main">
            <a:r>
              <a:t>        "evidence": "조건별 근거 일치와 전문가 전환 판정표"</a:t>
            </a:r>
          </a:p>
          <a:p xmlns:a="http://schemas.openxmlformats.org/drawingml/2006/main">
            <a:r>
              <a:t>      },</a:t>
            </a:r>
          </a:p>
          <a:p xmlns:a="http://schemas.openxmlformats.org/drawingml/2006/main">
            <a:r>
              <a:t>      "data": {</a:t>
            </a:r>
          </a:p>
          <a:p xmlns:a="http://schemas.openxmlformats.org/drawingml/2006/main">
            <a:r>
              <a:t>        "source": "영농 지식",</a:t>
            </a:r>
          </a:p>
          <a:p xmlns:a="http://schemas.openxmlformats.org/drawingml/2006/main">
            <a:r>
              <a:t>        "prepare": "기술 문서·상담자료·전문가 평가셋 정비",</a:t>
            </a:r>
          </a:p>
          <a:p xmlns:a="http://schemas.openxmlformats.org/drawingml/2006/main">
            <a:r>
              <a:t>        "output": "질문·작물·위치",</a:t>
            </a:r>
          </a:p>
          <a:p xmlns:a="http://schemas.openxmlformats.org/drawingml/2006/main">
            <a:r>
              <a:t>        "refresh": "작물·상황별 오답과 현장 적용성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"AX19",</a:t>
            </a:r>
          </a:p>
          <a:p xmlns:a="http://schemas.openxmlformats.org/drawingml/2006/main">
            <a:r>
              <a:t>    "success": [</a:t>
            </a:r>
          </a:p>
          <a:p xmlns:a="http://schemas.openxmlformats.org/drawingml/2006/main">
            <a:r>
              <a:t>      "작물·위치 맥락의 전문 지식 연결",</a:t>
            </a:r>
          </a:p>
          <a:p xmlns:a="http://schemas.openxmlformats.org/drawingml/2006/main">
            <a:r>
              <a:t>      "전문가·이용자 사전 평가"</a:t>
            </a:r>
          </a:p>
          <a:p xmlns:a="http://schemas.openxmlformats.org/drawingml/2006/main">
            <a:r>
              <a:t>    ],</a:t>
            </a:r>
          </a:p>
          <a:p xmlns:a="http://schemas.openxmlformats.org/drawingml/2006/main">
            <a:r>
              <a:t>    "risks": [</a:t>
            </a:r>
          </a:p>
          <a:p xmlns:a="http://schemas.openxmlformats.org/drawingml/2006/main">
            <a:r>
              <a:t>      "지역·생육환경 예외",</a:t>
            </a:r>
          </a:p>
          <a:p xmlns:a="http://schemas.openxmlformats.org/drawingml/2006/main">
            <a:r>
              <a:t>      "상담 답변과 현장 적합성의 간극"</a:t>
            </a:r>
          </a:p>
          <a:p xmlns:a="http://schemas.openxmlformats.org/drawingml/2006/main">
            <a:r>
              <a:t>    ],</a:t>
            </a:r>
          </a:p>
          <a:p xmlns:a="http://schemas.openxmlformats.org/drawingml/2006/main">
            <a:r>
              <a:t>    "architecture": [</a:t>
            </a:r>
          </a:p>
          <a:p xmlns:a="http://schemas.openxmlformats.org/drawingml/2006/main">
            <a:r>
              <a:t>      "농업기술 앱",</a:t>
            </a:r>
          </a:p>
          <a:p xmlns:a="http://schemas.openxmlformats.org/drawingml/2006/main">
            <a:r>
              <a:t>      "맥락 기반 상담",</a:t>
            </a:r>
          </a:p>
          <a:p xmlns:a="http://schemas.openxmlformats.org/drawingml/2006/main">
            <a:r>
              <a:t>      "영농 지식",</a:t>
            </a:r>
          </a:p>
          <a:p xmlns:a="http://schemas.openxmlformats.org/drawingml/2006/main">
            <a:r>
              <a:t>      "농업인·전문가"</a:t>
            </a:r>
          </a:p>
          <a:p xmlns:a="http://schemas.openxmlformats.org/drawingml/2006/main">
            <a:r>
              <a:t>    ],</a:t>
            </a:r>
          </a:p>
          <a:p xmlns:a="http://schemas.openxmlformats.org/drawingml/2006/main">
            <a:r>
              <a:t>    "transfers": [</a:t>
            </a:r>
          </a:p>
          <a:p xmlns:a="http://schemas.openxmlformats.org/drawingml/2006/main">
            <a:r>
              <a:t>      "질문·작물·위치",</a:t>
            </a:r>
          </a:p>
          <a:p xmlns:a="http://schemas.openxmlformats.org/drawingml/2006/main">
            <a:r>
              <a:t>      "관련 영농 근거",</a:t>
            </a:r>
          </a:p>
          <a:p xmlns:a="http://schemas.openxmlformats.org/drawingml/2006/main">
            <a:r>
              <a:t>      "상담 답변",</a:t>
            </a:r>
          </a:p>
          <a:p xmlns:a="http://schemas.openxmlformats.org/drawingml/2006/main">
            <a:r>
              <a:t>      "이용자 검증"</a:t>
            </a:r>
          </a:p>
          <a:p xmlns:a="http://schemas.openxmlformats.org/drawingml/2006/main">
            <a:r>
              <a:t>    ],</a:t>
            </a:r>
          </a:p>
          <a:p xmlns:a="http://schemas.openxmlformats.org/drawingml/2006/main">
            <a:r>
              <a:t>    "control": "지역·작물별 정답 및 전문가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청년농업인 특화 AI 상담 · 공공AI 사례집 44–45쪽 https://bigdata.dongjak.go.kr/board/viewArticle?articleNo=954&amp;boardId=4</a:t>
            </a:r>
          </a:p>
          <a:p xmlns:a="http://schemas.openxmlformats.org/drawingml/2006/main">
            <a:r>
              <a:t>홈페이지 https://heen1987-ops.github.io/TS-business-Plan-001/index.html?view=casebook&amp;case=AX19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"AX20",</a:t>
            </a:r>
          </a:p>
          <a:p xmlns:a="http://schemas.openxmlformats.org/drawingml/2006/main">
            <a:r>
              <a:t>    "title": "K-인파관리지원시스템",</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"데이터 기반 위험 상황 공유",</a:t>
            </a:r>
          </a:p>
          <a:p xmlns:a="http://schemas.openxmlformats.org/drawingml/2006/main">
            <a:r>
              <a:t>    "period": "2023 구축·운영",</a:t>
            </a:r>
          </a:p>
          <a:p xmlns:a="http://schemas.openxmlformats.org/drawingml/2006/main">
            <a:r>
              <a:t>    "sources": [</a:t>
            </a:r>
          </a:p>
          <a:p xmlns:a="http://schemas.openxmlformats.org/drawingml/2006/main">
            <a:r>
              <a:t>      "S-AX20"</a:t>
            </a:r>
          </a:p>
          <a:p xmlns:a="http://schemas.openxmlformats.org/drawingml/2006/main">
            <a:r>
              <a:t>    ],</a:t>
            </a:r>
          </a:p>
          <a:p xmlns:a="http://schemas.openxmlformats.org/drawingml/2006/main">
            <a:r>
              <a:t>    "keywords": [</a:t>
            </a:r>
          </a:p>
          <a:p xmlns:a="http://schemas.openxmlformats.org/drawingml/2006/main">
            <a:r>
              <a:t>      "데이터 기반 위험 상황 공유"</a:t>
            </a:r>
          </a:p>
          <a:p xmlns:a="http://schemas.openxmlformats.org/drawingml/2006/main">
            <a:r>
              <a:t>    ],</a:t>
            </a:r>
          </a:p>
          <a:p xmlns:a="http://schemas.openxmlformats.org/drawingml/2006/main">
            <a:r>
              <a:t>    "fact": "유동인구·공간정보의 밀집도 분석과 GIS 상황판·위험 알림 제공",</a:t>
            </a:r>
          </a:p>
          <a:p xmlns:a="http://schemas.openxmlformats.org/drawingml/2006/main">
            <a:r>
              <a:t>    "limit": "데이터 분석 운영 사례 · 생성형 AI 아님 · 사고 감소 인과효과 별도",</a:t>
            </a:r>
          </a:p>
          <a:p xmlns:a="http://schemas.openxmlformats.org/drawingml/2006/main">
            <a:r>
              <a:t>    "flow": [</a:t>
            </a:r>
          </a:p>
          <a:p xmlns:a="http://schemas.openxmlformats.org/drawingml/2006/main">
            <a:r>
              <a:t>      "유동인구·공간정보",</a:t>
            </a:r>
          </a:p>
          <a:p xmlns:a="http://schemas.openxmlformats.org/drawingml/2006/main">
            <a:r>
              <a:t>      "밀집도 분석",</a:t>
            </a:r>
          </a:p>
          <a:p xmlns:a="http://schemas.openxmlformats.org/drawingml/2006/main">
            <a:r>
              <a:t>      "GIS·위험 알림",</a:t>
            </a:r>
          </a:p>
          <a:p xmlns:a="http://schemas.openxmlformats.org/drawingml/2006/main">
            <a:r>
              <a:t>      "지자체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감지와 소관기관 상황 전파 연결",</a:t>
            </a:r>
          </a:p>
          <a:p xmlns:a="http://schemas.openxmlformats.org/drawingml/2006/main">
            <a:r>
              <a:t>    "local": "행사·교통시설 혼잡 정보의 관할·업무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"장소·시간·단계·담당 기관 매핑",</a:t>
            </a:r>
          </a:p>
          <a:p xmlns:a="http://schemas.openxmlformats.org/drawingml/2006/main">
            <a:r>
              <a:t>    "test": "자료 지연·경계 지역·알림 미수신 시험",</a:t>
            </a:r>
          </a:p>
          <a:p xmlns:a="http://schemas.openxmlformats.org/drawingml/2006/main">
            <a:r>
              <a:t>    "metric": "상황 전파시간 / 조치 누락률",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"AX20",</a:t>
            </a:r>
          </a:p>
          <a:p xmlns:a="http://schemas.openxmlformats.org/drawingml/2006/main">
            <a:r>
              <a:t>    "canonicalId": "AX20",</a:t>
            </a:r>
          </a:p>
          <a:p xmlns:a="http://schemas.openxmlformats.org/drawingml/2006/main">
            <a:r>
              <a:t>    "purpose": "인파 밀집 위험의 공간 기반 상황 관리",</a:t>
            </a:r>
          </a:p>
          <a:p xmlns:a="http://schemas.openxmlformats.org/drawingml/2006/main">
            <a:r>
              <a:t>    "users": "지자체 상황실·현장 대응부서",</a:t>
            </a:r>
          </a:p>
          <a:p xmlns:a="http://schemas.openxmlformats.org/drawingml/2006/main">
            <a:r>
              <a:t>    "scope": [</a:t>
            </a:r>
          </a:p>
          <a:p xmlns:a="http://schemas.openxmlformats.org/drawingml/2006/main">
            <a:r>
              <a:t>      "밀집도",</a:t>
            </a:r>
          </a:p>
          <a:p xmlns:a="http://schemas.openxmlformats.org/drawingml/2006/main">
            <a:r>
              <a:t>      "GIS 상황판",</a:t>
            </a:r>
          </a:p>
          <a:p xmlns:a="http://schemas.openxmlformats.org/drawingml/2006/main">
            <a:r>
              <a:t>      "위험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"유동인구·공간정보",</a:t>
            </a:r>
          </a:p>
          <a:p xmlns:a="http://schemas.openxmlformats.org/drawingml/2006/main">
            <a:r>
              <a:t>        "detail": "구역·시간·행사 등 상황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"밀집도 / GIS 상황판 / 위험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"밀집도 분석",</a:t>
            </a:r>
          </a:p>
          <a:p xmlns:a="http://schemas.openxmlformats.org/drawingml/2006/main">
            <a:r>
              <a:t>        "detail": "유동인구와 공간 조건의 밀집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"지자체 상황실",</a:t>
            </a:r>
          </a:p>
          <a:p xmlns:a="http://schemas.openxmlformats.org/drawingml/2006/main">
            <a:r>
              <a:t>        "detail": "상황판 경보와 현장 확인·대응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밀집 이력",</a:t>
            </a:r>
          </a:p>
          <a:p xmlns:a="http://schemas.openxmlformats.org/drawingml/2006/main">
            <a:r>
              <a:t>        "detail": "유동인구 집계·공간정보·구역 코드 결합",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"실제 밀집상태·경보·대응시간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"유동인구·공간정보",</a:t>
            </a:r>
          </a:p>
          <a:p xmlns:a="http://schemas.openxmlformats.org/drawingml/2006/main">
            <a:r>
              <a:t>        "input": "구역·시간·행사 등 상황 맥락 지정",</a:t>
            </a:r>
          </a:p>
          <a:p xmlns:a="http://schemas.openxmlformats.org/drawingml/2006/main">
            <a:r>
              <a:t>        "process": "유동인구 집계·공간정보·구역 코드 결합",</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"title": "밀집도 분석",</a:t>
            </a:r>
          </a:p>
          <a:p xmlns:a="http://schemas.openxmlformats.org/drawingml/2006/main">
            <a:r>
              <a:t>        "input": "인구·공간 집계",</a:t>
            </a:r>
          </a:p>
          <a:p xmlns:a="http://schemas.openxmlformats.org/drawingml/2006/main">
            <a:r>
              <a:t>        "process": "유동인구와 공간 조건의 밀집 분석",</a:t>
            </a:r>
          </a:p>
          <a:p xmlns:a="http://schemas.openxmlformats.org/drawingml/2006/main">
            <a:r>
              <a:t>        "output": "밀집 지표"</a:t>
            </a:r>
          </a:p>
          <a:p xmlns:a="http://schemas.openxmlformats.org/drawingml/2006/main">
            <a:r>
              <a:t>      },</a:t>
            </a:r>
          </a:p>
          <a:p xmlns:a="http://schemas.openxmlformats.org/drawingml/2006/main">
            <a:r>
              <a:t>      {</a:t>
            </a:r>
          </a:p>
          <a:p xmlns:a="http://schemas.openxmlformats.org/drawingml/2006/main">
            <a:r>
              <a:t>        "title": "GIS·위험 알림",</a:t>
            </a:r>
          </a:p>
          <a:p xmlns:a="http://schemas.openxmlformats.org/drawingml/2006/main">
            <a:r>
              <a:t>        "input": "밀집 지표",</a:t>
            </a:r>
          </a:p>
          <a:p xmlns:a="http://schemas.openxmlformats.org/drawingml/2006/main">
            <a:r>
              <a:t>        "process": "공간·시간 단위 대사와 조치 확인",</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"title": "지자체 대응",</a:t>
            </a:r>
          </a:p>
          <a:p xmlns:a="http://schemas.openxmlformats.org/drawingml/2006/main">
            <a:r>
              <a:t>        "input": "위험 알림",</a:t>
            </a:r>
          </a:p>
          <a:p xmlns:a="http://schemas.openxmlformats.org/drawingml/2006/main">
            <a:r>
              <a:t>        "process":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"구역별 인파 밀집을 파악하고 현장 확인 요청",</a:t>
            </a:r>
          </a:p>
          <a:p xmlns:a="http://schemas.openxmlformats.org/drawingml/2006/main">
            <a:r>
              <a:t>      "exception": "집계 지연·통신 표본 편향·구역 경계 변경",</a:t>
            </a:r>
          </a:p>
          <a:p xmlns:a="http://schemas.openxmlformats.org/drawingml/2006/main">
            <a:r>
              <a:t>      "evidence": "현장 밀집상태 대비 경보·전파·조치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"지자체 상황실·현장 대응부서",</a:t>
            </a:r>
          </a:p>
          <a:p xmlns:a="http://schemas.openxmlformats.org/drawingml/2006/main">
            <a:r>
              <a:t>          "processing": "구역·시간·행사 등 상황 맥락 지정",</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밀집 이력",</a:t>
            </a:r>
          </a:p>
          <a:p xmlns:a="http://schemas.openxmlformats.org/drawingml/2006/main">
            <a:r>
              <a:t>          "processing": "유동인구 집계·공간정보·구역 코드 결합",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"인구·공간 집계",</a:t>
            </a:r>
          </a:p>
          <a:p xmlns:a="http://schemas.openxmlformats.org/drawingml/2006/main">
            <a:r>
              <a:t>          "processing": "유동인구와 공간 조건의 밀집 분석",</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알림",</a:t>
            </a:r>
          </a:p>
          <a:p xmlns:a="http://schemas.openxmlformats.org/drawingml/2006/main">
            <a:r>
              <a:t>          "processing":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"실제 밀집상태·경보·대응시간 대조",</a:t>
            </a:r>
          </a:p>
          <a:p xmlns:a="http://schemas.openxmlformats.org/drawingml/2006/main">
            <a:r>
              <a:t>          "output": "현장 밀집상태 대비 경보·전파·조치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"실제 밀집상태·경보·대응시간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"S-AX20",</a:t>
            </a:r>
          </a:p>
          <a:p xmlns:a="http://schemas.openxmlformats.org/drawingml/2006/main">
            <a:r>
              <a:t>        "title": "K-인파관리지원시스템 · 공공AI 사례집 86–87쪽",</a:t>
            </a:r>
          </a:p>
          <a:p xmlns:a="http://schemas.openxmlformats.org/drawingml/2006/main">
            <a:r>
              <a:t>        "url": "https://bigdata.dongjak.go.kr/board/viewArticle?articleNo=954&amp;boardId=4",</a:t>
            </a:r>
          </a:p>
          <a:p xmlns:a="http://schemas.openxmlformats.org/drawingml/2006/main">
            <a:r>
              <a:t>        "published": "2023 구축·운영",</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감지와 소관기관 상황 전파 연결",</a:t>
            </a:r>
          </a:p>
          <a:p xmlns:a="http://schemas.openxmlformats.org/drawingml/2006/main">
            <a:r>
              <a:t>    "local": "행사·교통시설 혼잡 정보의 관할·업무 인계",</a:t>
            </a:r>
          </a:p>
          <a:p xmlns:a="http://schemas.openxmlformats.org/drawingml/2006/main">
            <a:r>
              <a:t>    "sourceDetail": null,</a:t>
            </a:r>
          </a:p>
          <a:p xmlns:a="http://schemas.openxmlformats.org/drawingml/2006/main">
            <a:r>
              <a:t>    "narrative": [</a:t>
            </a:r>
          </a:p>
          <a:p xmlns:a="http://schemas.openxmlformats.org/drawingml/2006/main">
            <a:r>
              <a:t>      "유동인구와 공간정보를 결합해 밀집 위험을 상황실과 현장 대응부서에 전달하는 사례. 추정 밀집도와 실제 현장 상태를 확인하는 조직적 대응이 결합된 구조.",</a:t>
            </a:r>
          </a:p>
          <a:p xmlns:a="http://schemas.openxmlformats.org/drawingml/2006/main">
            <a:r>
              <a:t>      "시간·구역·행사 맥락에 따라 집계 자료를 정합화하고 GIS 상황판과 경보를 생성하는 재구성. 경보 발생, 상황실 확인, 현장 출동·통제, 결과 보고를 별도 상태로 연결.",</a:t>
            </a:r>
          </a:p>
          <a:p xmlns:a="http://schemas.openxmlformats.org/drawingml/2006/main">
            <a:r>
              <a:t>      "TS 교통·시설 안전 적용에서 집계 공간 단위와 관측 편차를 먼저 확인할 필요. 오경보·미탐 외에 알림 수신·확인·대응까지 걸린 시간과 담당 부서의 인계 누락을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"상황실 조회",</a:t>
            </a:r>
          </a:p>
          <a:p xmlns:a="http://schemas.openxmlformats.org/drawingml/2006/main">
            <a:r>
              <a:t>          "layer": "이용 접점",</a:t>
            </a:r>
          </a:p>
          <a:p xmlns:a="http://schemas.openxmlformats.org/drawingml/2006/main">
            <a:r>
              <a:t>          "detail": "지자체 상황실·현장 대응부서",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"구역·행사 맥락",</a:t>
            </a:r>
          </a:p>
          <a:p xmlns:a="http://schemas.openxmlformats.org/drawingml/2006/main">
            <a:r>
              <a:t>          "layer": "업무 문맥",</a:t>
            </a:r>
          </a:p>
          <a:p xmlns:a="http://schemas.openxmlformats.org/drawingml/2006/main">
            <a:r>
              <a:t>          "detail": "구역·시간·행사 등 상황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"인구·공간 조회",</a:t>
            </a:r>
          </a:p>
          <a:p xmlns:a="http://schemas.openxmlformats.org/drawingml/2006/main">
            <a:r>
              <a:t>          "layer": "자료 조회",</a:t>
            </a:r>
          </a:p>
          <a:p xmlns:a="http://schemas.openxmlformats.org/drawingml/2006/main">
            <a:r>
              <a:t>          "detail": "인구·공간 집계",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"밀집 위험 분석",</a:t>
            </a:r>
          </a:p>
          <a:p xmlns:a="http://schemas.openxmlformats.org/drawingml/2006/main">
            <a:r>
              <a:t>          "layer": "핵심 처리",</a:t>
            </a:r>
          </a:p>
          <a:p xmlns:a="http://schemas.openxmlformats.org/drawingml/2006/main">
            <a:r>
              <a:t>          "detail": "유동인구와 공간 조건의 밀집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"관측·추정 대조",</a:t>
            </a:r>
          </a:p>
          <a:p xmlns:a="http://schemas.openxmlformats.org/drawingml/2006/main">
            <a:r>
              <a:t>          "layer": "결과 검증",</a:t>
            </a:r>
          </a:p>
          <a:p xmlns:a="http://schemas.openxmlformats.org/drawingml/2006/main">
            <a:r>
              <a:t>          "detail": "공간·시간 단위 대사와 조치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"상황실 확인",</a:t>
            </a:r>
          </a:p>
          <a:p xmlns:a="http://schemas.openxmlformats.org/drawingml/2006/main">
            <a:r>
              <a:t>          "layer": "사람 확인",</a:t>
            </a:r>
          </a:p>
          <a:p xmlns:a="http://schemas.openxmlformats.org/drawingml/2006/main">
            <a:r>
              <a:t>          "detail": "구역별 인파 밀집을 파악하고 현장 확인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"현장 대응 알림",</a:t>
            </a:r>
          </a:p>
          <a:p xmlns:a="http://schemas.openxmlformats.org/drawingml/2006/main">
            <a:r>
              <a:t>          "layer": "업무 연결",</a:t>
            </a:r>
          </a:p>
          <a:p xmlns:a="http://schemas.openxmlformats.org/drawingml/2006/main">
            <a:r>
              <a:t>          "detail": "상황판 경보와 현장 확인·대응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"대응시간 추적",</a:t>
            </a:r>
          </a:p>
          <a:p xmlns:a="http://schemas.openxmlformats.org/drawingml/2006/main">
            <a:r>
              <a:t>          "layer": "운영 관측",</a:t>
            </a:r>
          </a:p>
          <a:p xmlns:a="http://schemas.openxmlformats.org/drawingml/2006/main">
            <a:r>
              <a:t>          "detail": "실제 밀집상태·경보·대응시간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"유동인구·GIS",</a:t>
            </a:r>
          </a:p>
          <a:p xmlns:a="http://schemas.openxmlformats.org/drawingml/2006/main">
            <a:r>
              <a:t>          "layer": "데이터 원천",</a:t>
            </a:r>
          </a:p>
          <a:p xmlns:a="http://schemas.openxmlformats.org/drawingml/2006/main">
            <a:r>
              <a:t>          "detail": "지역별 밀집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"시간·구역 정합화",</a:t>
            </a:r>
          </a:p>
          <a:p xmlns:a="http://schemas.openxmlformats.org/drawingml/2006/main">
            <a:r>
              <a:t>          "layer": "준비·갱신",</a:t>
            </a:r>
          </a:p>
          <a:p xmlns:a="http://schemas.openxmlformats.org/drawingml/2006/main">
            <a:r>
              <a:t>          "detail": "유동인구 집계·공간정보·구역 코드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"밀집·대응 이력",</a:t>
            </a:r>
          </a:p>
          <a:p xmlns:a="http://schemas.openxmlformats.org/drawingml/2006/main">
            <a:r>
              <a:t>          "layer": "상태·지식 저장",</a:t>
            </a:r>
          </a:p>
          <a:p xmlns:a="http://schemas.openxmlformats.org/drawingml/2006/main">
            <a:r>
              <a:t>          "detail": "현장 밀집상태 대비 경보·전파·조치 시각",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"집계·경보 기준",</a:t>
            </a:r>
          </a:p>
          <a:p xmlns:a="http://schemas.openxmlformats.org/drawingml/2006/main">
            <a:r>
              <a:t>          "layer": "권한·정책",</a:t>
            </a:r>
          </a:p>
          <a:p xmlns:a="http://schemas.openxmlformats.org/drawingml/2006/main">
            <a:r>
              <a:t>          "detail": "집계 지연·통신 표본 편향·구역 경계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"유동인구·공간정보 → 밀집도 분석 → GIS·위험 알림 → 지자체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"지역별 밀집 이력",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"위험 알림",</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"집계·경보 기준",</a:t>
            </a:r>
          </a:p>
          <a:p xmlns:a="http://schemas.openxmlformats.org/drawingml/2006/main">
            <a:r>
              <a:t>          "check": "공간·시간 단위 대사와 조치 확인"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대응",</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"실제 밀집상태·경보·대응시간 대조",</a:t>
            </a:r>
          </a:p>
          <a:p xmlns:a="http://schemas.openxmlformats.org/drawingml/2006/main">
            <a:r>
              <a:t>          "check": "실제 밀집상태·경보·대응시간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"인파 밀집 위험의 공간 기반 상황 관리 / 밀집도·GIS 상황판·위험 알림",</a:t>
            </a:r>
          </a:p>
          <a:p xmlns:a="http://schemas.openxmlformats.org/drawingml/2006/main">
            <a:r>
              <a:t>        "extension": "행사·교통시설 혼잡 정보의 관할·업무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"집계 지연·통신 표본 편향·구역 경계 변경",</a:t>
            </a:r>
          </a:p>
          <a:p xmlns:a="http://schemas.openxmlformats.org/drawingml/2006/main">
            <a:r>
              <a:t>        "hold": "공간·시간 단위 대사와 조치 확인",</a:t>
            </a:r>
          </a:p>
          <a:p xmlns:a="http://schemas.openxmlformats.org/drawingml/2006/main">
            <a:r>
              <a:t>        "recovery": "실제 밀집상태·경보·대응시간 대조",</a:t>
            </a:r>
          </a:p>
          <a:p xmlns:a="http://schemas.openxmlformats.org/drawingml/2006/main">
            <a:r>
              <a:t>        "evidence": "현장 밀집상태 대비 경보·전파·조치 시각"</a:t>
            </a:r>
          </a:p>
          <a:p xmlns:a="http://schemas.openxmlformats.org/drawingml/2006/main">
            <a:r>
              <a:t>      },</a:t>
            </a:r>
          </a:p>
          <a:p xmlns:a="http://schemas.openxmlformats.org/drawingml/2006/main">
            <a:r>
              <a:t>      "data": {</a:t>
            </a:r>
          </a:p>
          <a:p xmlns:a="http://schemas.openxmlformats.org/drawingml/2006/main">
            <a:r>
              <a:t>        "source": "지역별 밀집 이력",</a:t>
            </a:r>
          </a:p>
          <a:p xmlns:a="http://schemas.openxmlformats.org/drawingml/2006/main">
            <a:r>
              <a:t>        "prepare": "유동인구 집계·공간정보·구역 코드 결합",</a:t>
            </a:r>
          </a:p>
          <a:p xmlns:a="http://schemas.openxmlformats.org/drawingml/2006/main">
            <a:r>
              <a:t>        "output": "인구·공간 집계",</a:t>
            </a:r>
          </a:p>
          <a:p xmlns:a="http://schemas.openxmlformats.org/drawingml/2006/main">
            <a:r>
              <a:t>        "refresh": "실제 밀집상태·경보·대응시간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"AX20",</a:t>
            </a:r>
          </a:p>
          <a:p xmlns:a="http://schemas.openxmlformats.org/drawingml/2006/main">
            <a:r>
              <a:t>    "success": [</a:t>
            </a:r>
          </a:p>
          <a:p xmlns:a="http://schemas.openxmlformats.org/drawingml/2006/main">
            <a:r>
              <a:t>      "공간정보와 유동인구의 결합",</a:t>
            </a:r>
          </a:p>
          <a:p xmlns:a="http://schemas.openxmlformats.org/drawingml/2006/main">
            <a:r>
              <a:t>      "상황판·알림과 지자체 대응 연결"</a:t>
            </a:r>
          </a:p>
          <a:p xmlns:a="http://schemas.openxmlformats.org/drawingml/2006/main">
            <a:r>
              <a:t>    ],</a:t>
            </a:r>
          </a:p>
          <a:p xmlns:a="http://schemas.openxmlformats.org/drawingml/2006/main">
            <a:r>
              <a:t>    "risks": [</a:t>
            </a:r>
          </a:p>
          <a:p xmlns:a="http://schemas.openxmlformats.org/drawingml/2006/main">
            <a:r>
              <a:t>      "추정 인구와 실제 밀집의 차이",</a:t>
            </a:r>
          </a:p>
          <a:p xmlns:a="http://schemas.openxmlformats.org/drawingml/2006/main">
            <a:r>
              <a:t>      "알림 발생과 대응 완료의 혼동"</a:t>
            </a:r>
          </a:p>
          <a:p xmlns:a="http://schemas.openxmlformats.org/drawingml/2006/main">
            <a:r>
              <a:t>    ],</a:t>
            </a:r>
          </a:p>
          <a:p xmlns:a="http://schemas.openxmlformats.org/drawingml/2006/main">
            <a:r>
              <a:t>    "architecture": [</a:t>
            </a:r>
          </a:p>
          <a:p xmlns:a="http://schemas.openxmlformats.org/drawingml/2006/main">
            <a:r>
              <a:t>      "유동인구·공간정보",</a:t>
            </a:r>
          </a:p>
          <a:p xmlns:a="http://schemas.openxmlformats.org/drawingml/2006/main">
            <a:r>
              <a:t>      "밀집도 분석",</a:t>
            </a:r>
          </a:p>
          <a:p xmlns:a="http://schemas.openxmlformats.org/drawingml/2006/main">
            <a:r>
              <a:t>      "지역별 밀집 이력",</a:t>
            </a:r>
          </a:p>
          <a:p xmlns:a="http://schemas.openxmlformats.org/drawingml/2006/main">
            <a:r>
              <a:t>      "지자체 상황실"</a:t>
            </a:r>
          </a:p>
          <a:p xmlns:a="http://schemas.openxmlformats.org/drawingml/2006/main">
            <a:r>
              <a:t>    ],</a:t>
            </a:r>
          </a:p>
          <a:p xmlns:a="http://schemas.openxmlformats.org/drawingml/2006/main">
            <a:r>
              <a:t>    "transfers": [</a:t>
            </a:r>
          </a:p>
          <a:p xmlns:a="http://schemas.openxmlformats.org/drawingml/2006/main">
            <a:r>
              <a:t>      "인구·공간 집계",</a:t>
            </a:r>
          </a:p>
          <a:p xmlns:a="http://schemas.openxmlformats.org/drawingml/2006/main">
            <a:r>
              <a:t>      "밀집 지표",</a:t>
            </a:r>
          </a:p>
          <a:p xmlns:a="http://schemas.openxmlformats.org/drawingml/2006/main">
            <a:r>
              <a:t>      "위험 알림",</a:t>
            </a:r>
          </a:p>
          <a:p xmlns:a="http://schemas.openxmlformats.org/drawingml/2006/main">
            <a:r>
              <a:t>      "현장 대응"</a:t>
            </a:r>
          </a:p>
          <a:p xmlns:a="http://schemas.openxmlformats.org/drawingml/2006/main">
            <a:r>
              <a:t>    ],</a:t>
            </a:r>
          </a:p>
          <a:p xmlns:a="http://schemas.openxmlformats.org/drawingml/2006/main">
            <a:r>
              <a:t>    "control": "공간·시간 단위 대사와 조치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K-인파관리지원시스템 · 공공AI 사례집 86–87쪽 https://bigdata.dongjak.go.kr/board/viewArticle?articleNo=954&amp;boardId=4</a:t>
            </a:r>
          </a:p>
          <a:p xmlns:a="http://schemas.openxmlformats.org/drawingml/2006/main">
            <a:r>
              <a:t>홈페이지 https://heen1987-ops.github.io/TS-business-Plan-001/index.html?view=casebook&amp;case=AX20</a:t>
            </a:r>
          </a:p>
          <a:p xmlns:a="http://schemas.openxmlformats.org/drawingml/2006/main">
            <a:r>
              <a:t>한계: 데이터 분석 운영 사례 · 생성형 AI 아님 · 사고 감소 인과효과 별도</a:t>
            </a:r>
          </a:p>
          <a:p xmlns:a="http://schemas.openxmlformats.org/drawingml/2006/main">
            <a:r>
              <a:t>실패 위험: 추정 인구와 실제 밀집의 차이 / 알림 발생과 대응 완료의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"AX20",</a:t>
            </a:r>
          </a:p>
          <a:p xmlns:a="http://schemas.openxmlformats.org/drawingml/2006/main">
            <a:r>
              <a:t>    "title": "K-인파관리지원시스템",</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"데이터 기반 위험 상황 공유",</a:t>
            </a:r>
          </a:p>
          <a:p xmlns:a="http://schemas.openxmlformats.org/drawingml/2006/main">
            <a:r>
              <a:t>    "period": "2023 구축·운영",</a:t>
            </a:r>
          </a:p>
          <a:p xmlns:a="http://schemas.openxmlformats.org/drawingml/2006/main">
            <a:r>
              <a:t>    "sources": [</a:t>
            </a:r>
          </a:p>
          <a:p xmlns:a="http://schemas.openxmlformats.org/drawingml/2006/main">
            <a:r>
              <a:t>      "S-AX20"</a:t>
            </a:r>
          </a:p>
          <a:p xmlns:a="http://schemas.openxmlformats.org/drawingml/2006/main">
            <a:r>
              <a:t>    ],</a:t>
            </a:r>
          </a:p>
          <a:p xmlns:a="http://schemas.openxmlformats.org/drawingml/2006/main">
            <a:r>
              <a:t>    "keywords": [</a:t>
            </a:r>
          </a:p>
          <a:p xmlns:a="http://schemas.openxmlformats.org/drawingml/2006/main">
            <a:r>
              <a:t>      "데이터 기반 위험 상황 공유"</a:t>
            </a:r>
          </a:p>
          <a:p xmlns:a="http://schemas.openxmlformats.org/drawingml/2006/main">
            <a:r>
              <a:t>    ],</a:t>
            </a:r>
          </a:p>
          <a:p xmlns:a="http://schemas.openxmlformats.org/drawingml/2006/main">
            <a:r>
              <a:t>    "fact": "유동인구·공간정보의 밀집도 분석과 GIS 상황판·위험 알림 제공",</a:t>
            </a:r>
          </a:p>
          <a:p xmlns:a="http://schemas.openxmlformats.org/drawingml/2006/main">
            <a:r>
              <a:t>    "limit": "데이터 분석 운영 사례 · 생성형 AI 아님 · 사고 감소 인과효과 별도",</a:t>
            </a:r>
          </a:p>
          <a:p xmlns:a="http://schemas.openxmlformats.org/drawingml/2006/main">
            <a:r>
              <a:t>    "flow": [</a:t>
            </a:r>
          </a:p>
          <a:p xmlns:a="http://schemas.openxmlformats.org/drawingml/2006/main">
            <a:r>
              <a:t>      "유동인구·공간정보",</a:t>
            </a:r>
          </a:p>
          <a:p xmlns:a="http://schemas.openxmlformats.org/drawingml/2006/main">
            <a:r>
              <a:t>      "밀집도 분석",</a:t>
            </a:r>
          </a:p>
          <a:p xmlns:a="http://schemas.openxmlformats.org/drawingml/2006/main">
            <a:r>
              <a:t>      "GIS·위험 알림",</a:t>
            </a:r>
          </a:p>
          <a:p xmlns:a="http://schemas.openxmlformats.org/drawingml/2006/main">
            <a:r>
              <a:t>      "지자체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감지와 소관기관 상황 전파 연결",</a:t>
            </a:r>
          </a:p>
          <a:p xmlns:a="http://schemas.openxmlformats.org/drawingml/2006/main">
            <a:r>
              <a:t>    "local": "행사·교통시설 혼잡 정보의 관할·업무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"장소·시간·단계·담당 기관 매핑",</a:t>
            </a:r>
          </a:p>
          <a:p xmlns:a="http://schemas.openxmlformats.org/drawingml/2006/main">
            <a:r>
              <a:t>    "test": "자료 지연·경계 지역·알림 미수신 시험",</a:t>
            </a:r>
          </a:p>
          <a:p xmlns:a="http://schemas.openxmlformats.org/drawingml/2006/main">
            <a:r>
              <a:t>    "metric": "상황 전파시간 / 조치 누락률",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"AX20",</a:t>
            </a:r>
          </a:p>
          <a:p xmlns:a="http://schemas.openxmlformats.org/drawingml/2006/main">
            <a:r>
              <a:t>    "canonicalId": "AX20",</a:t>
            </a:r>
          </a:p>
          <a:p xmlns:a="http://schemas.openxmlformats.org/drawingml/2006/main">
            <a:r>
              <a:t>    "purpose": "인파 밀집 위험의 공간 기반 상황 관리",</a:t>
            </a:r>
          </a:p>
          <a:p xmlns:a="http://schemas.openxmlformats.org/drawingml/2006/main">
            <a:r>
              <a:t>    "users": "지자체 상황실·현장 대응부서",</a:t>
            </a:r>
          </a:p>
          <a:p xmlns:a="http://schemas.openxmlformats.org/drawingml/2006/main">
            <a:r>
              <a:t>    "scope": [</a:t>
            </a:r>
          </a:p>
          <a:p xmlns:a="http://schemas.openxmlformats.org/drawingml/2006/main">
            <a:r>
              <a:t>      "밀집도",</a:t>
            </a:r>
          </a:p>
          <a:p xmlns:a="http://schemas.openxmlformats.org/drawingml/2006/main">
            <a:r>
              <a:t>      "GIS 상황판",</a:t>
            </a:r>
          </a:p>
          <a:p xmlns:a="http://schemas.openxmlformats.org/drawingml/2006/main">
            <a:r>
              <a:t>      "위험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"유동인구·공간정보",</a:t>
            </a:r>
          </a:p>
          <a:p xmlns:a="http://schemas.openxmlformats.org/drawingml/2006/main">
            <a:r>
              <a:t>        "detail": "구역·시간·행사 등 상황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"밀집도 / GIS 상황판 / 위험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"밀집도 분석",</a:t>
            </a:r>
          </a:p>
          <a:p xmlns:a="http://schemas.openxmlformats.org/drawingml/2006/main">
            <a:r>
              <a:t>        "detail": "유동인구와 공간 조건의 밀집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"지자체 상황실",</a:t>
            </a:r>
          </a:p>
          <a:p xmlns:a="http://schemas.openxmlformats.org/drawingml/2006/main">
            <a:r>
              <a:t>        "detail": "상황판 경보와 현장 확인·대응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밀집 이력",</a:t>
            </a:r>
          </a:p>
          <a:p xmlns:a="http://schemas.openxmlformats.org/drawingml/2006/main">
            <a:r>
              <a:t>        "detail": "유동인구 집계·공간정보·구역 코드 결합",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"실제 밀집상태·경보·대응시간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"유동인구·공간정보",</a:t>
            </a:r>
          </a:p>
          <a:p xmlns:a="http://schemas.openxmlformats.org/drawingml/2006/main">
            <a:r>
              <a:t>        "input": "구역·시간·행사 등 상황 맥락 지정",</a:t>
            </a:r>
          </a:p>
          <a:p xmlns:a="http://schemas.openxmlformats.org/drawingml/2006/main">
            <a:r>
              <a:t>        "process": "유동인구 집계·공간정보·구역 코드 결합",</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"title": "밀집도 분석",</a:t>
            </a:r>
          </a:p>
          <a:p xmlns:a="http://schemas.openxmlformats.org/drawingml/2006/main">
            <a:r>
              <a:t>        "input": "인구·공간 집계",</a:t>
            </a:r>
          </a:p>
          <a:p xmlns:a="http://schemas.openxmlformats.org/drawingml/2006/main">
            <a:r>
              <a:t>        "process": "유동인구와 공간 조건의 밀집 분석",</a:t>
            </a:r>
          </a:p>
          <a:p xmlns:a="http://schemas.openxmlformats.org/drawingml/2006/main">
            <a:r>
              <a:t>        "output": "밀집 지표"</a:t>
            </a:r>
          </a:p>
          <a:p xmlns:a="http://schemas.openxmlformats.org/drawingml/2006/main">
            <a:r>
              <a:t>      },</a:t>
            </a:r>
          </a:p>
          <a:p xmlns:a="http://schemas.openxmlformats.org/drawingml/2006/main">
            <a:r>
              <a:t>      {</a:t>
            </a:r>
          </a:p>
          <a:p xmlns:a="http://schemas.openxmlformats.org/drawingml/2006/main">
            <a:r>
              <a:t>        "title": "GIS·위험 알림",</a:t>
            </a:r>
          </a:p>
          <a:p xmlns:a="http://schemas.openxmlformats.org/drawingml/2006/main">
            <a:r>
              <a:t>        "input": "밀집 지표",</a:t>
            </a:r>
          </a:p>
          <a:p xmlns:a="http://schemas.openxmlformats.org/drawingml/2006/main">
            <a:r>
              <a:t>        "process": "공간·시간 단위 대사와 조치 확인",</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"title": "지자체 대응",</a:t>
            </a:r>
          </a:p>
          <a:p xmlns:a="http://schemas.openxmlformats.org/drawingml/2006/main">
            <a:r>
              <a:t>        "input": "위험 알림",</a:t>
            </a:r>
          </a:p>
          <a:p xmlns:a="http://schemas.openxmlformats.org/drawingml/2006/main">
            <a:r>
              <a:t>        "process":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"구역별 인파 밀집을 파악하고 현장 확인 요청",</a:t>
            </a:r>
          </a:p>
          <a:p xmlns:a="http://schemas.openxmlformats.org/drawingml/2006/main">
            <a:r>
              <a:t>      "exception": "집계 지연·통신 표본 편향·구역 경계 변경",</a:t>
            </a:r>
          </a:p>
          <a:p xmlns:a="http://schemas.openxmlformats.org/drawingml/2006/main">
            <a:r>
              <a:t>      "evidence": "현장 밀집상태 대비 경보·전파·조치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"지자체 상황실·현장 대응부서",</a:t>
            </a:r>
          </a:p>
          <a:p xmlns:a="http://schemas.openxmlformats.org/drawingml/2006/main">
            <a:r>
              <a:t>          "processing": "구역·시간·행사 등 상황 맥락 지정",</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밀집 이력",</a:t>
            </a:r>
          </a:p>
          <a:p xmlns:a="http://schemas.openxmlformats.org/drawingml/2006/main">
            <a:r>
              <a:t>          "processing": "유동인구 집계·공간정보·구역 코드 결합",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"인구·공간 집계",</a:t>
            </a:r>
          </a:p>
          <a:p xmlns:a="http://schemas.openxmlformats.org/drawingml/2006/main">
            <a:r>
              <a:t>          "processing": "유동인구와 공간 조건의 밀집 분석",</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알림",</a:t>
            </a:r>
          </a:p>
          <a:p xmlns:a="http://schemas.openxmlformats.org/drawingml/2006/main">
            <a:r>
              <a:t>          "processing":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"실제 밀집상태·경보·대응시간 대조",</a:t>
            </a:r>
          </a:p>
          <a:p xmlns:a="http://schemas.openxmlformats.org/drawingml/2006/main">
            <a:r>
              <a:t>          "output": "현장 밀집상태 대비 경보·전파·조치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"실제 밀집상태·경보·대응시간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"S-AX20",</a:t>
            </a:r>
          </a:p>
          <a:p xmlns:a="http://schemas.openxmlformats.org/drawingml/2006/main">
            <a:r>
              <a:t>        "title": "K-인파관리지원시스템 · 공공AI 사례집 86–87쪽",</a:t>
            </a:r>
          </a:p>
          <a:p xmlns:a="http://schemas.openxmlformats.org/drawingml/2006/main">
            <a:r>
              <a:t>        "url": "https://bigdata.dongjak.go.kr/board/viewArticle?articleNo=954&amp;boardId=4",</a:t>
            </a:r>
          </a:p>
          <a:p xmlns:a="http://schemas.openxmlformats.org/drawingml/2006/main">
            <a:r>
              <a:t>        "published": "2023 구축·운영",</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감지와 소관기관 상황 전파 연결",</a:t>
            </a:r>
          </a:p>
          <a:p xmlns:a="http://schemas.openxmlformats.org/drawingml/2006/main">
            <a:r>
              <a:t>    "local": "행사·교통시설 혼잡 정보의 관할·업무 인계",</a:t>
            </a:r>
          </a:p>
          <a:p xmlns:a="http://schemas.openxmlformats.org/drawingml/2006/main">
            <a:r>
              <a:t>    "sourceDetail": null,</a:t>
            </a:r>
          </a:p>
          <a:p xmlns:a="http://schemas.openxmlformats.org/drawingml/2006/main">
            <a:r>
              <a:t>    "narrative": [</a:t>
            </a:r>
          </a:p>
          <a:p xmlns:a="http://schemas.openxmlformats.org/drawingml/2006/main">
            <a:r>
              <a:t>      "유동인구와 공간정보를 결합해 밀집 위험을 상황실과 현장 대응부서에 전달하는 사례. 추정 밀집도와 실제 현장 상태를 확인하는 조직적 대응이 결합된 구조.",</a:t>
            </a:r>
          </a:p>
          <a:p xmlns:a="http://schemas.openxmlformats.org/drawingml/2006/main">
            <a:r>
              <a:t>      "시간·구역·행사 맥락에 따라 집계 자료를 정합화하고 GIS 상황판과 경보를 생성하는 재구성. 경보 발생, 상황실 확인, 현장 출동·통제, 결과 보고를 별도 상태로 연결.",</a:t>
            </a:r>
          </a:p>
          <a:p xmlns:a="http://schemas.openxmlformats.org/drawingml/2006/main">
            <a:r>
              <a:t>      "TS 교통·시설 안전 적용에서 집계 공간 단위와 관측 편차를 먼저 확인할 필요. 오경보·미탐 외에 알림 수신·확인·대응까지 걸린 시간과 담당 부서의 인계 누락을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"상황실 조회",</a:t>
            </a:r>
          </a:p>
          <a:p xmlns:a="http://schemas.openxmlformats.org/drawingml/2006/main">
            <a:r>
              <a:t>          "layer": "이용 접점",</a:t>
            </a:r>
          </a:p>
          <a:p xmlns:a="http://schemas.openxmlformats.org/drawingml/2006/main">
            <a:r>
              <a:t>          "detail": "지자체 상황실·현장 대응부서",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"구역·행사 맥락",</a:t>
            </a:r>
          </a:p>
          <a:p xmlns:a="http://schemas.openxmlformats.org/drawingml/2006/main">
            <a:r>
              <a:t>          "layer": "업무 문맥",</a:t>
            </a:r>
          </a:p>
          <a:p xmlns:a="http://schemas.openxmlformats.org/drawingml/2006/main">
            <a:r>
              <a:t>          "detail": "구역·시간·행사 등 상황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"인구·공간 조회",</a:t>
            </a:r>
          </a:p>
          <a:p xmlns:a="http://schemas.openxmlformats.org/drawingml/2006/main">
            <a:r>
              <a:t>          "layer": "자료 조회",</a:t>
            </a:r>
          </a:p>
          <a:p xmlns:a="http://schemas.openxmlformats.org/drawingml/2006/main">
            <a:r>
              <a:t>          "detail": "인구·공간 집계",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"밀집 위험 분석",</a:t>
            </a:r>
          </a:p>
          <a:p xmlns:a="http://schemas.openxmlformats.org/drawingml/2006/main">
            <a:r>
              <a:t>          "layer": "핵심 처리",</a:t>
            </a:r>
          </a:p>
          <a:p xmlns:a="http://schemas.openxmlformats.org/drawingml/2006/main">
            <a:r>
              <a:t>          "detail": "유동인구와 공간 조건의 밀집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"관측·추정 대조",</a:t>
            </a:r>
          </a:p>
          <a:p xmlns:a="http://schemas.openxmlformats.org/drawingml/2006/main">
            <a:r>
              <a:t>          "layer": "결과 검증",</a:t>
            </a:r>
          </a:p>
          <a:p xmlns:a="http://schemas.openxmlformats.org/drawingml/2006/main">
            <a:r>
              <a:t>          "detail": "공간·시간 단위 대사와 조치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"상황실 확인",</a:t>
            </a:r>
          </a:p>
          <a:p xmlns:a="http://schemas.openxmlformats.org/drawingml/2006/main">
            <a:r>
              <a:t>          "layer": "사람 확인",</a:t>
            </a:r>
          </a:p>
          <a:p xmlns:a="http://schemas.openxmlformats.org/drawingml/2006/main">
            <a:r>
              <a:t>          "detail": "구역별 인파 밀집을 파악하고 현장 확인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"현장 대응 알림",</a:t>
            </a:r>
          </a:p>
          <a:p xmlns:a="http://schemas.openxmlformats.org/drawingml/2006/main">
            <a:r>
              <a:t>          "layer": "업무 연결",</a:t>
            </a:r>
          </a:p>
          <a:p xmlns:a="http://schemas.openxmlformats.org/drawingml/2006/main">
            <a:r>
              <a:t>          "detail": "상황판 경보와 현장 확인·대응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"대응시간 추적",</a:t>
            </a:r>
          </a:p>
          <a:p xmlns:a="http://schemas.openxmlformats.org/drawingml/2006/main">
            <a:r>
              <a:t>          "layer": "운영 관측",</a:t>
            </a:r>
          </a:p>
          <a:p xmlns:a="http://schemas.openxmlformats.org/drawingml/2006/main">
            <a:r>
              <a:t>          "detail": "실제 밀집상태·경보·대응시간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"유동인구·GIS",</a:t>
            </a:r>
          </a:p>
          <a:p xmlns:a="http://schemas.openxmlformats.org/drawingml/2006/main">
            <a:r>
              <a:t>          "layer": "데이터 원천",</a:t>
            </a:r>
          </a:p>
          <a:p xmlns:a="http://schemas.openxmlformats.org/drawingml/2006/main">
            <a:r>
              <a:t>          "detail": "지역별 밀집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"시간·구역 정합화",</a:t>
            </a:r>
          </a:p>
          <a:p xmlns:a="http://schemas.openxmlformats.org/drawingml/2006/main">
            <a:r>
              <a:t>          "layer": "준비·갱신",</a:t>
            </a:r>
          </a:p>
          <a:p xmlns:a="http://schemas.openxmlformats.org/drawingml/2006/main">
            <a:r>
              <a:t>          "detail": "유동인구 집계·공간정보·구역 코드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"밀집·대응 이력",</a:t>
            </a:r>
          </a:p>
          <a:p xmlns:a="http://schemas.openxmlformats.org/drawingml/2006/main">
            <a:r>
              <a:t>          "layer": "상태·지식 저장",</a:t>
            </a:r>
          </a:p>
          <a:p xmlns:a="http://schemas.openxmlformats.org/drawingml/2006/main">
            <a:r>
              <a:t>          "detail": "현장 밀집상태 대비 경보·전파·조치 시각",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"집계·경보 기준",</a:t>
            </a:r>
          </a:p>
          <a:p xmlns:a="http://schemas.openxmlformats.org/drawingml/2006/main">
            <a:r>
              <a:t>          "layer": "권한·정책",</a:t>
            </a:r>
          </a:p>
          <a:p xmlns:a="http://schemas.openxmlformats.org/drawingml/2006/main">
            <a:r>
              <a:t>          "detail": "집계 지연·통신 표본 편향·구역 경계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"유동인구·공간정보 → 밀집도 분석 → GIS·위험 알림 → 지자체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"지역별 밀집 이력",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"위험 알림",</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"집계·경보 기준",</a:t>
            </a:r>
          </a:p>
          <a:p xmlns:a="http://schemas.openxmlformats.org/drawingml/2006/main">
            <a:r>
              <a:t>          "check": "공간·시간 단위 대사와 조치 확인"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대응",</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"실제 밀집상태·경보·대응시간 대조",</a:t>
            </a:r>
          </a:p>
          <a:p xmlns:a="http://schemas.openxmlformats.org/drawingml/2006/main">
            <a:r>
              <a:t>          "check": "실제 밀집상태·경보·대응시간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"인파 밀집 위험의 공간 기반 상황 관리 / 밀집도·GIS 상황판·위험 알림",</a:t>
            </a:r>
          </a:p>
          <a:p xmlns:a="http://schemas.openxmlformats.org/drawingml/2006/main">
            <a:r>
              <a:t>        "extension": "행사·교통시설 혼잡 정보의 관할·업무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"집계 지연·통신 표본 편향·구역 경계 변경",</a:t>
            </a:r>
          </a:p>
          <a:p xmlns:a="http://schemas.openxmlformats.org/drawingml/2006/main">
            <a:r>
              <a:t>        "hold": "공간·시간 단위 대사와 조치 확인",</a:t>
            </a:r>
          </a:p>
          <a:p xmlns:a="http://schemas.openxmlformats.org/drawingml/2006/main">
            <a:r>
              <a:t>        "recovery": "실제 밀집상태·경보·대응시간 대조",</a:t>
            </a:r>
          </a:p>
          <a:p xmlns:a="http://schemas.openxmlformats.org/drawingml/2006/main">
            <a:r>
              <a:t>        "evidence": "현장 밀집상태 대비 경보·전파·조치 시각"</a:t>
            </a:r>
          </a:p>
          <a:p xmlns:a="http://schemas.openxmlformats.org/drawingml/2006/main">
            <a:r>
              <a:t>      },</a:t>
            </a:r>
          </a:p>
          <a:p xmlns:a="http://schemas.openxmlformats.org/drawingml/2006/main">
            <a:r>
              <a:t>      "data": {</a:t>
            </a:r>
          </a:p>
          <a:p xmlns:a="http://schemas.openxmlformats.org/drawingml/2006/main">
            <a:r>
              <a:t>        "source": "지역별 밀집 이력",</a:t>
            </a:r>
          </a:p>
          <a:p xmlns:a="http://schemas.openxmlformats.org/drawingml/2006/main">
            <a:r>
              <a:t>        "prepare": "유동인구 집계·공간정보·구역 코드 결합",</a:t>
            </a:r>
          </a:p>
          <a:p xmlns:a="http://schemas.openxmlformats.org/drawingml/2006/main">
            <a:r>
              <a:t>        "output": "인구·공간 집계",</a:t>
            </a:r>
          </a:p>
          <a:p xmlns:a="http://schemas.openxmlformats.org/drawingml/2006/main">
            <a:r>
              <a:t>        "refresh": "실제 밀집상태·경보·대응시간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"AX20",</a:t>
            </a:r>
          </a:p>
          <a:p xmlns:a="http://schemas.openxmlformats.org/drawingml/2006/main">
            <a:r>
              <a:t>    "success": [</a:t>
            </a:r>
          </a:p>
          <a:p xmlns:a="http://schemas.openxmlformats.org/drawingml/2006/main">
            <a:r>
              <a:t>      "공간정보와 유동인구의 결합",</a:t>
            </a:r>
          </a:p>
          <a:p xmlns:a="http://schemas.openxmlformats.org/drawingml/2006/main">
            <a:r>
              <a:t>      "상황판·알림과 지자체 대응 연결"</a:t>
            </a:r>
          </a:p>
          <a:p xmlns:a="http://schemas.openxmlformats.org/drawingml/2006/main">
            <a:r>
              <a:t>    ],</a:t>
            </a:r>
          </a:p>
          <a:p xmlns:a="http://schemas.openxmlformats.org/drawingml/2006/main">
            <a:r>
              <a:t>    "risks": [</a:t>
            </a:r>
          </a:p>
          <a:p xmlns:a="http://schemas.openxmlformats.org/drawingml/2006/main">
            <a:r>
              <a:t>      "추정 인구와 실제 밀집의 차이",</a:t>
            </a:r>
          </a:p>
          <a:p xmlns:a="http://schemas.openxmlformats.org/drawingml/2006/main">
            <a:r>
              <a:t>      "알림 발생과 대응 완료의 혼동"</a:t>
            </a:r>
          </a:p>
          <a:p xmlns:a="http://schemas.openxmlformats.org/drawingml/2006/main">
            <a:r>
              <a:t>    ],</a:t>
            </a:r>
          </a:p>
          <a:p xmlns:a="http://schemas.openxmlformats.org/drawingml/2006/main">
            <a:r>
              <a:t>    "architecture": [</a:t>
            </a:r>
          </a:p>
          <a:p xmlns:a="http://schemas.openxmlformats.org/drawingml/2006/main">
            <a:r>
              <a:t>      "유동인구·공간정보",</a:t>
            </a:r>
          </a:p>
          <a:p xmlns:a="http://schemas.openxmlformats.org/drawingml/2006/main">
            <a:r>
              <a:t>      "밀집도 분석",</a:t>
            </a:r>
          </a:p>
          <a:p xmlns:a="http://schemas.openxmlformats.org/drawingml/2006/main">
            <a:r>
              <a:t>      "지역별 밀집 이력",</a:t>
            </a:r>
          </a:p>
          <a:p xmlns:a="http://schemas.openxmlformats.org/drawingml/2006/main">
            <a:r>
              <a:t>      "지자체 상황실"</a:t>
            </a:r>
          </a:p>
          <a:p xmlns:a="http://schemas.openxmlformats.org/drawingml/2006/main">
            <a:r>
              <a:t>    ],</a:t>
            </a:r>
          </a:p>
          <a:p xmlns:a="http://schemas.openxmlformats.org/drawingml/2006/main">
            <a:r>
              <a:t>    "transfers": [</a:t>
            </a:r>
          </a:p>
          <a:p xmlns:a="http://schemas.openxmlformats.org/drawingml/2006/main">
            <a:r>
              <a:t>      "인구·공간 집계",</a:t>
            </a:r>
          </a:p>
          <a:p xmlns:a="http://schemas.openxmlformats.org/drawingml/2006/main">
            <a:r>
              <a:t>      "밀집 지표",</a:t>
            </a:r>
          </a:p>
          <a:p xmlns:a="http://schemas.openxmlformats.org/drawingml/2006/main">
            <a:r>
              <a:t>      "위험 알림",</a:t>
            </a:r>
          </a:p>
          <a:p xmlns:a="http://schemas.openxmlformats.org/drawingml/2006/main">
            <a:r>
              <a:t>      "현장 대응"</a:t>
            </a:r>
          </a:p>
          <a:p xmlns:a="http://schemas.openxmlformats.org/drawingml/2006/main">
            <a:r>
              <a:t>    ],</a:t>
            </a:r>
          </a:p>
          <a:p xmlns:a="http://schemas.openxmlformats.org/drawingml/2006/main">
            <a:r>
              <a:t>    "control": "공간·시간 단위 대사와 조치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K-인파관리지원시스템 · 공공AI 사례집 86–87쪽 https://bigdata.dongjak.go.kr/board/viewArticle?articleNo=954&amp;boardId=4</a:t>
            </a:r>
          </a:p>
          <a:p xmlns:a="http://schemas.openxmlformats.org/drawingml/2006/main">
            <a:r>
              <a:t>홈페이지 https://heen1987-ops.github.io/TS-business-Plan-001/index.html?view=casebook&amp;case=AX20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"AX20",</a:t>
            </a:r>
          </a:p>
          <a:p xmlns:a="http://schemas.openxmlformats.org/drawingml/2006/main">
            <a:r>
              <a:t>    "title": "K-인파관리지원시스템",</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"데이터 기반 위험 상황 공유",</a:t>
            </a:r>
          </a:p>
          <a:p xmlns:a="http://schemas.openxmlformats.org/drawingml/2006/main">
            <a:r>
              <a:t>    "period": "2023 구축·운영",</a:t>
            </a:r>
          </a:p>
          <a:p xmlns:a="http://schemas.openxmlformats.org/drawingml/2006/main">
            <a:r>
              <a:t>    "sources": [</a:t>
            </a:r>
          </a:p>
          <a:p xmlns:a="http://schemas.openxmlformats.org/drawingml/2006/main">
            <a:r>
              <a:t>      "S-AX20"</a:t>
            </a:r>
          </a:p>
          <a:p xmlns:a="http://schemas.openxmlformats.org/drawingml/2006/main">
            <a:r>
              <a:t>    ],</a:t>
            </a:r>
          </a:p>
          <a:p xmlns:a="http://schemas.openxmlformats.org/drawingml/2006/main">
            <a:r>
              <a:t>    "keywords": [</a:t>
            </a:r>
          </a:p>
          <a:p xmlns:a="http://schemas.openxmlformats.org/drawingml/2006/main">
            <a:r>
              <a:t>      "데이터 기반 위험 상황 공유"</a:t>
            </a:r>
          </a:p>
          <a:p xmlns:a="http://schemas.openxmlformats.org/drawingml/2006/main">
            <a:r>
              <a:t>    ],</a:t>
            </a:r>
          </a:p>
          <a:p xmlns:a="http://schemas.openxmlformats.org/drawingml/2006/main">
            <a:r>
              <a:t>    "fact": "유동인구·공간정보의 밀집도 분석과 GIS 상황판·위험 알림 제공",</a:t>
            </a:r>
          </a:p>
          <a:p xmlns:a="http://schemas.openxmlformats.org/drawingml/2006/main">
            <a:r>
              <a:t>    "limit": "데이터 분석 운영 사례 · 생성형 AI 아님 · 사고 감소 인과효과 별도",</a:t>
            </a:r>
          </a:p>
          <a:p xmlns:a="http://schemas.openxmlformats.org/drawingml/2006/main">
            <a:r>
              <a:t>    "flow": [</a:t>
            </a:r>
          </a:p>
          <a:p xmlns:a="http://schemas.openxmlformats.org/drawingml/2006/main">
            <a:r>
              <a:t>      "유동인구·공간정보",</a:t>
            </a:r>
          </a:p>
          <a:p xmlns:a="http://schemas.openxmlformats.org/drawingml/2006/main">
            <a:r>
              <a:t>      "밀집도 분석",</a:t>
            </a:r>
          </a:p>
          <a:p xmlns:a="http://schemas.openxmlformats.org/drawingml/2006/main">
            <a:r>
              <a:t>      "GIS·위험 알림",</a:t>
            </a:r>
          </a:p>
          <a:p xmlns:a="http://schemas.openxmlformats.org/drawingml/2006/main">
            <a:r>
              <a:t>      "지자체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감지와 소관기관 상황 전파 연결",</a:t>
            </a:r>
          </a:p>
          <a:p xmlns:a="http://schemas.openxmlformats.org/drawingml/2006/main">
            <a:r>
              <a:t>    "local": "행사·교통시설 혼잡 정보의 관할·업무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"장소·시간·단계·담당 기관 매핑",</a:t>
            </a:r>
          </a:p>
          <a:p xmlns:a="http://schemas.openxmlformats.org/drawingml/2006/main">
            <a:r>
              <a:t>    "test": "자료 지연·경계 지역·알림 미수신 시험",</a:t>
            </a:r>
          </a:p>
          <a:p xmlns:a="http://schemas.openxmlformats.org/drawingml/2006/main">
            <a:r>
              <a:t>    "metric": "상황 전파시간 / 조치 누락률",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"AX20",</a:t>
            </a:r>
          </a:p>
          <a:p xmlns:a="http://schemas.openxmlformats.org/drawingml/2006/main">
            <a:r>
              <a:t>    "canonicalId": "AX20",</a:t>
            </a:r>
          </a:p>
          <a:p xmlns:a="http://schemas.openxmlformats.org/drawingml/2006/main">
            <a:r>
              <a:t>    "purpose": "인파 밀집 위험의 공간 기반 상황 관리",</a:t>
            </a:r>
          </a:p>
          <a:p xmlns:a="http://schemas.openxmlformats.org/drawingml/2006/main">
            <a:r>
              <a:t>    "users": "지자체 상황실·현장 대응부서",</a:t>
            </a:r>
          </a:p>
          <a:p xmlns:a="http://schemas.openxmlformats.org/drawingml/2006/main">
            <a:r>
              <a:t>    "scope": [</a:t>
            </a:r>
          </a:p>
          <a:p xmlns:a="http://schemas.openxmlformats.org/drawingml/2006/main">
            <a:r>
              <a:t>      "밀집도",</a:t>
            </a:r>
          </a:p>
          <a:p xmlns:a="http://schemas.openxmlformats.org/drawingml/2006/main">
            <a:r>
              <a:t>      "GIS 상황판",</a:t>
            </a:r>
          </a:p>
          <a:p xmlns:a="http://schemas.openxmlformats.org/drawingml/2006/main">
            <a:r>
              <a:t>      "위험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"유동인구·공간정보",</a:t>
            </a:r>
          </a:p>
          <a:p xmlns:a="http://schemas.openxmlformats.org/drawingml/2006/main">
            <a:r>
              <a:t>        "detail": "구역·시간·행사 등 상황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"밀집도 / GIS 상황판 / 위험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"밀집도 분석",</a:t>
            </a:r>
          </a:p>
          <a:p xmlns:a="http://schemas.openxmlformats.org/drawingml/2006/main">
            <a:r>
              <a:t>        "detail": "유동인구와 공간 조건의 밀집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"지자체 상황실",</a:t>
            </a:r>
          </a:p>
          <a:p xmlns:a="http://schemas.openxmlformats.org/drawingml/2006/main">
            <a:r>
              <a:t>        "detail": "상황판 경보와 현장 확인·대응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밀집 이력",</a:t>
            </a:r>
          </a:p>
          <a:p xmlns:a="http://schemas.openxmlformats.org/drawingml/2006/main">
            <a:r>
              <a:t>        "detail": "유동인구 집계·공간정보·구역 코드 결합",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"실제 밀집상태·경보·대응시간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"유동인구·공간정보",</a:t>
            </a:r>
          </a:p>
          <a:p xmlns:a="http://schemas.openxmlformats.org/drawingml/2006/main">
            <a:r>
              <a:t>        "input": "구역·시간·행사 등 상황 맥락 지정",</a:t>
            </a:r>
          </a:p>
          <a:p xmlns:a="http://schemas.openxmlformats.org/drawingml/2006/main">
            <a:r>
              <a:t>        "process": "유동인구 집계·공간정보·구역 코드 결합",</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"title": "밀집도 분석",</a:t>
            </a:r>
          </a:p>
          <a:p xmlns:a="http://schemas.openxmlformats.org/drawingml/2006/main">
            <a:r>
              <a:t>        "input": "인구·공간 집계",</a:t>
            </a:r>
          </a:p>
          <a:p xmlns:a="http://schemas.openxmlformats.org/drawingml/2006/main">
            <a:r>
              <a:t>        "process": "유동인구와 공간 조건의 밀집 분석",</a:t>
            </a:r>
          </a:p>
          <a:p xmlns:a="http://schemas.openxmlformats.org/drawingml/2006/main">
            <a:r>
              <a:t>        "output": "밀집 지표"</a:t>
            </a:r>
          </a:p>
          <a:p xmlns:a="http://schemas.openxmlformats.org/drawingml/2006/main">
            <a:r>
              <a:t>      },</a:t>
            </a:r>
          </a:p>
          <a:p xmlns:a="http://schemas.openxmlformats.org/drawingml/2006/main">
            <a:r>
              <a:t>      {</a:t>
            </a:r>
          </a:p>
          <a:p xmlns:a="http://schemas.openxmlformats.org/drawingml/2006/main">
            <a:r>
              <a:t>        "title": "GIS·위험 알림",</a:t>
            </a:r>
          </a:p>
          <a:p xmlns:a="http://schemas.openxmlformats.org/drawingml/2006/main">
            <a:r>
              <a:t>        "input": "밀집 지표",</a:t>
            </a:r>
          </a:p>
          <a:p xmlns:a="http://schemas.openxmlformats.org/drawingml/2006/main">
            <a:r>
              <a:t>        "process": "공간·시간 단위 대사와 조치 확인",</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"title": "지자체 대응",</a:t>
            </a:r>
          </a:p>
          <a:p xmlns:a="http://schemas.openxmlformats.org/drawingml/2006/main">
            <a:r>
              <a:t>        "input": "위험 알림",</a:t>
            </a:r>
          </a:p>
          <a:p xmlns:a="http://schemas.openxmlformats.org/drawingml/2006/main">
            <a:r>
              <a:t>        "process":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"구역별 인파 밀집을 파악하고 현장 확인 요청",</a:t>
            </a:r>
          </a:p>
          <a:p xmlns:a="http://schemas.openxmlformats.org/drawingml/2006/main">
            <a:r>
              <a:t>      "exception": "집계 지연·통신 표본 편향·구역 경계 변경",</a:t>
            </a:r>
          </a:p>
          <a:p xmlns:a="http://schemas.openxmlformats.org/drawingml/2006/main">
            <a:r>
              <a:t>      "evidence": "현장 밀집상태 대비 경보·전파·조치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"지자체 상황실·현장 대응부서",</a:t>
            </a:r>
          </a:p>
          <a:p xmlns:a="http://schemas.openxmlformats.org/drawingml/2006/main">
            <a:r>
              <a:t>          "processing": "구역·시간·행사 등 상황 맥락 지정",</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밀집 이력",</a:t>
            </a:r>
          </a:p>
          <a:p xmlns:a="http://schemas.openxmlformats.org/drawingml/2006/main">
            <a:r>
              <a:t>          "processing": "유동인구 집계·공간정보·구역 코드 결합",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"인구·공간 집계",</a:t>
            </a:r>
          </a:p>
          <a:p xmlns:a="http://schemas.openxmlformats.org/drawingml/2006/main">
            <a:r>
              <a:t>          "processing": "유동인구와 공간 조건의 밀집 분석",</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알림",</a:t>
            </a:r>
          </a:p>
          <a:p xmlns:a="http://schemas.openxmlformats.org/drawingml/2006/main">
            <a:r>
              <a:t>          "processing":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"실제 밀집상태·경보·대응시간 대조",</a:t>
            </a:r>
          </a:p>
          <a:p xmlns:a="http://schemas.openxmlformats.org/drawingml/2006/main">
            <a:r>
              <a:t>          "output": "현장 밀집상태 대비 경보·전파·조치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"실제 밀집상태·경보·대응시간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"S-AX20",</a:t>
            </a:r>
          </a:p>
          <a:p xmlns:a="http://schemas.openxmlformats.org/drawingml/2006/main">
            <a:r>
              <a:t>        "title": "K-인파관리지원시스템 · 공공AI 사례집 86–87쪽",</a:t>
            </a:r>
          </a:p>
          <a:p xmlns:a="http://schemas.openxmlformats.org/drawingml/2006/main">
            <a:r>
              <a:t>        "url": "https://bigdata.dongjak.go.kr/board/viewArticle?articleNo=954&amp;boardId=4",</a:t>
            </a:r>
          </a:p>
          <a:p xmlns:a="http://schemas.openxmlformats.org/drawingml/2006/main">
            <a:r>
              <a:t>        "published": "2023 구축·운영",</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감지와 소관기관 상황 전파 연결",</a:t>
            </a:r>
          </a:p>
          <a:p xmlns:a="http://schemas.openxmlformats.org/drawingml/2006/main">
            <a:r>
              <a:t>    "local": "행사·교통시설 혼잡 정보의 관할·업무 인계",</a:t>
            </a:r>
          </a:p>
          <a:p xmlns:a="http://schemas.openxmlformats.org/drawingml/2006/main">
            <a:r>
              <a:t>    "sourceDetail": null,</a:t>
            </a:r>
          </a:p>
          <a:p xmlns:a="http://schemas.openxmlformats.org/drawingml/2006/main">
            <a:r>
              <a:t>    "narrative": [</a:t>
            </a:r>
          </a:p>
          <a:p xmlns:a="http://schemas.openxmlformats.org/drawingml/2006/main">
            <a:r>
              <a:t>      "유동인구와 공간정보를 결합해 밀집 위험을 상황실과 현장 대응부서에 전달하는 사례. 추정 밀집도와 실제 현장 상태를 확인하는 조직적 대응이 결합된 구조.",</a:t>
            </a:r>
          </a:p>
          <a:p xmlns:a="http://schemas.openxmlformats.org/drawingml/2006/main">
            <a:r>
              <a:t>      "시간·구역·행사 맥락에 따라 집계 자료를 정합화하고 GIS 상황판과 경보를 생성하는 재구성. 경보 발생, 상황실 확인, 현장 출동·통제, 결과 보고를 별도 상태로 연결.",</a:t>
            </a:r>
          </a:p>
          <a:p xmlns:a="http://schemas.openxmlformats.org/drawingml/2006/main">
            <a:r>
              <a:t>      "TS 교통·시설 안전 적용에서 집계 공간 단위와 관측 편차를 먼저 확인할 필요. 오경보·미탐 외에 알림 수신·확인·대응까지 걸린 시간과 담당 부서의 인계 누락을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"상황실 조회",</a:t>
            </a:r>
          </a:p>
          <a:p xmlns:a="http://schemas.openxmlformats.org/drawingml/2006/main">
            <a:r>
              <a:t>          "layer": "이용 접점",</a:t>
            </a:r>
          </a:p>
          <a:p xmlns:a="http://schemas.openxmlformats.org/drawingml/2006/main">
            <a:r>
              <a:t>          "detail": "지자체 상황실·현장 대응부서",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"구역·행사 맥락",</a:t>
            </a:r>
          </a:p>
          <a:p xmlns:a="http://schemas.openxmlformats.org/drawingml/2006/main">
            <a:r>
              <a:t>          "layer": "업무 문맥",</a:t>
            </a:r>
          </a:p>
          <a:p xmlns:a="http://schemas.openxmlformats.org/drawingml/2006/main">
            <a:r>
              <a:t>          "detail": "구역·시간·행사 등 상황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"인구·공간 조회",</a:t>
            </a:r>
          </a:p>
          <a:p xmlns:a="http://schemas.openxmlformats.org/drawingml/2006/main">
            <a:r>
              <a:t>          "layer": "자료 조회",</a:t>
            </a:r>
          </a:p>
          <a:p xmlns:a="http://schemas.openxmlformats.org/drawingml/2006/main">
            <a:r>
              <a:t>          "detail": "인구·공간 집계",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"밀집 위험 분석",</a:t>
            </a:r>
          </a:p>
          <a:p xmlns:a="http://schemas.openxmlformats.org/drawingml/2006/main">
            <a:r>
              <a:t>          "layer": "핵심 처리",</a:t>
            </a:r>
          </a:p>
          <a:p xmlns:a="http://schemas.openxmlformats.org/drawingml/2006/main">
            <a:r>
              <a:t>          "detail": "유동인구와 공간 조건의 밀집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"관측·추정 대조",</a:t>
            </a:r>
          </a:p>
          <a:p xmlns:a="http://schemas.openxmlformats.org/drawingml/2006/main">
            <a:r>
              <a:t>          "layer": "결과 검증",</a:t>
            </a:r>
          </a:p>
          <a:p xmlns:a="http://schemas.openxmlformats.org/drawingml/2006/main">
            <a:r>
              <a:t>          "detail": "공간·시간 단위 대사와 조치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"상황실 확인",</a:t>
            </a:r>
          </a:p>
          <a:p xmlns:a="http://schemas.openxmlformats.org/drawingml/2006/main">
            <a:r>
              <a:t>          "layer": "사람 확인",</a:t>
            </a:r>
          </a:p>
          <a:p xmlns:a="http://schemas.openxmlformats.org/drawingml/2006/main">
            <a:r>
              <a:t>          "detail": "구역별 인파 밀집을 파악하고 현장 확인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"현장 대응 알림",</a:t>
            </a:r>
          </a:p>
          <a:p xmlns:a="http://schemas.openxmlformats.org/drawingml/2006/main">
            <a:r>
              <a:t>          "layer": "업무 연결",</a:t>
            </a:r>
          </a:p>
          <a:p xmlns:a="http://schemas.openxmlformats.org/drawingml/2006/main">
            <a:r>
              <a:t>          "detail": "상황판 경보와 현장 확인·대응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"대응시간 추적",</a:t>
            </a:r>
          </a:p>
          <a:p xmlns:a="http://schemas.openxmlformats.org/drawingml/2006/main">
            <a:r>
              <a:t>          "layer": "운영 관측",</a:t>
            </a:r>
          </a:p>
          <a:p xmlns:a="http://schemas.openxmlformats.org/drawingml/2006/main">
            <a:r>
              <a:t>          "detail": "실제 밀집상태·경보·대응시간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"유동인구·GIS",</a:t>
            </a:r>
          </a:p>
          <a:p xmlns:a="http://schemas.openxmlformats.org/drawingml/2006/main">
            <a:r>
              <a:t>          "layer": "데이터 원천",</a:t>
            </a:r>
          </a:p>
          <a:p xmlns:a="http://schemas.openxmlformats.org/drawingml/2006/main">
            <a:r>
              <a:t>          "detail": "지역별 밀집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"시간·구역 정합화",</a:t>
            </a:r>
          </a:p>
          <a:p xmlns:a="http://schemas.openxmlformats.org/drawingml/2006/main">
            <a:r>
              <a:t>          "layer": "준비·갱신",</a:t>
            </a:r>
          </a:p>
          <a:p xmlns:a="http://schemas.openxmlformats.org/drawingml/2006/main">
            <a:r>
              <a:t>          "detail": "유동인구 집계·공간정보·구역 코드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"밀집·대응 이력",</a:t>
            </a:r>
          </a:p>
          <a:p xmlns:a="http://schemas.openxmlformats.org/drawingml/2006/main">
            <a:r>
              <a:t>          "layer": "상태·지식 저장",</a:t>
            </a:r>
          </a:p>
          <a:p xmlns:a="http://schemas.openxmlformats.org/drawingml/2006/main">
            <a:r>
              <a:t>          "detail": "현장 밀집상태 대비 경보·전파·조치 시각",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"집계·경보 기준",</a:t>
            </a:r>
          </a:p>
          <a:p xmlns:a="http://schemas.openxmlformats.org/drawingml/2006/main">
            <a:r>
              <a:t>          "layer": "권한·정책",</a:t>
            </a:r>
          </a:p>
          <a:p xmlns:a="http://schemas.openxmlformats.org/drawingml/2006/main">
            <a:r>
              <a:t>          "detail": "집계 지연·통신 표본 편향·구역 경계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"유동인구·공간정보 → 밀집도 분석 → GIS·위험 알림 → 지자체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"지역별 밀집 이력",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"위험 알림",</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"집계·경보 기준",</a:t>
            </a:r>
          </a:p>
          <a:p xmlns:a="http://schemas.openxmlformats.org/drawingml/2006/main">
            <a:r>
              <a:t>          "check": "공간·시간 단위 대사와 조치 확인"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대응",</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"실제 밀집상태·경보·대응시간 대조",</a:t>
            </a:r>
          </a:p>
          <a:p xmlns:a="http://schemas.openxmlformats.org/drawingml/2006/main">
            <a:r>
              <a:t>          "check": "실제 밀집상태·경보·대응시간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"인파 밀집 위험의 공간 기반 상황 관리 / 밀집도·GIS 상황판·위험 알림",</a:t>
            </a:r>
          </a:p>
          <a:p xmlns:a="http://schemas.openxmlformats.org/drawingml/2006/main">
            <a:r>
              <a:t>        "extension": "행사·교통시설 혼잡 정보의 관할·업무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"집계 지연·통신 표본 편향·구역 경계 변경",</a:t>
            </a:r>
          </a:p>
          <a:p xmlns:a="http://schemas.openxmlformats.org/drawingml/2006/main">
            <a:r>
              <a:t>        "hold": "공간·시간 단위 대사와 조치 확인",</a:t>
            </a:r>
          </a:p>
          <a:p xmlns:a="http://schemas.openxmlformats.org/drawingml/2006/main">
            <a:r>
              <a:t>        "recovery": "실제 밀집상태·경보·대응시간 대조",</a:t>
            </a:r>
          </a:p>
          <a:p xmlns:a="http://schemas.openxmlformats.org/drawingml/2006/main">
            <a:r>
              <a:t>        "evidence": "현장 밀집상태 대비 경보·전파·조치 시각"</a:t>
            </a:r>
          </a:p>
          <a:p xmlns:a="http://schemas.openxmlformats.org/drawingml/2006/main">
            <a:r>
              <a:t>      },</a:t>
            </a:r>
          </a:p>
          <a:p xmlns:a="http://schemas.openxmlformats.org/drawingml/2006/main">
            <a:r>
              <a:t>      "data": {</a:t>
            </a:r>
          </a:p>
          <a:p xmlns:a="http://schemas.openxmlformats.org/drawingml/2006/main">
            <a:r>
              <a:t>        "source": "지역별 밀집 이력",</a:t>
            </a:r>
          </a:p>
          <a:p xmlns:a="http://schemas.openxmlformats.org/drawingml/2006/main">
            <a:r>
              <a:t>        "prepare": "유동인구 집계·공간정보·구역 코드 결합",</a:t>
            </a:r>
          </a:p>
          <a:p xmlns:a="http://schemas.openxmlformats.org/drawingml/2006/main">
            <a:r>
              <a:t>        "output": "인구·공간 집계",</a:t>
            </a:r>
          </a:p>
          <a:p xmlns:a="http://schemas.openxmlformats.org/drawingml/2006/main">
            <a:r>
              <a:t>        "refresh": "실제 밀집상태·경보·대응시간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"AX20",</a:t>
            </a:r>
          </a:p>
          <a:p xmlns:a="http://schemas.openxmlformats.org/drawingml/2006/main">
            <a:r>
              <a:t>    "success": [</a:t>
            </a:r>
          </a:p>
          <a:p xmlns:a="http://schemas.openxmlformats.org/drawingml/2006/main">
            <a:r>
              <a:t>      "공간정보와 유동인구의 결합",</a:t>
            </a:r>
          </a:p>
          <a:p xmlns:a="http://schemas.openxmlformats.org/drawingml/2006/main">
            <a:r>
              <a:t>      "상황판·알림과 지자체 대응 연결"</a:t>
            </a:r>
          </a:p>
          <a:p xmlns:a="http://schemas.openxmlformats.org/drawingml/2006/main">
            <a:r>
              <a:t>    ],</a:t>
            </a:r>
          </a:p>
          <a:p xmlns:a="http://schemas.openxmlformats.org/drawingml/2006/main">
            <a:r>
              <a:t>    "risks": [</a:t>
            </a:r>
          </a:p>
          <a:p xmlns:a="http://schemas.openxmlformats.org/drawingml/2006/main">
            <a:r>
              <a:t>      "추정 인구와 실제 밀집의 차이",</a:t>
            </a:r>
          </a:p>
          <a:p xmlns:a="http://schemas.openxmlformats.org/drawingml/2006/main">
            <a:r>
              <a:t>      "알림 발생과 대응 완료의 혼동"</a:t>
            </a:r>
          </a:p>
          <a:p xmlns:a="http://schemas.openxmlformats.org/drawingml/2006/main">
            <a:r>
              <a:t>    ],</a:t>
            </a:r>
          </a:p>
          <a:p xmlns:a="http://schemas.openxmlformats.org/drawingml/2006/main">
            <a:r>
              <a:t>    "architecture": [</a:t>
            </a:r>
          </a:p>
          <a:p xmlns:a="http://schemas.openxmlformats.org/drawingml/2006/main">
            <a:r>
              <a:t>      "유동인구·공간정보",</a:t>
            </a:r>
          </a:p>
          <a:p xmlns:a="http://schemas.openxmlformats.org/drawingml/2006/main">
            <a:r>
              <a:t>      "밀집도 분석",</a:t>
            </a:r>
          </a:p>
          <a:p xmlns:a="http://schemas.openxmlformats.org/drawingml/2006/main">
            <a:r>
              <a:t>      "지역별 밀집 이력",</a:t>
            </a:r>
          </a:p>
          <a:p xmlns:a="http://schemas.openxmlformats.org/drawingml/2006/main">
            <a:r>
              <a:t>      "지자체 상황실"</a:t>
            </a:r>
          </a:p>
          <a:p xmlns:a="http://schemas.openxmlformats.org/drawingml/2006/main">
            <a:r>
              <a:t>    ],</a:t>
            </a:r>
          </a:p>
          <a:p xmlns:a="http://schemas.openxmlformats.org/drawingml/2006/main">
            <a:r>
              <a:t>    "transfers": [</a:t>
            </a:r>
          </a:p>
          <a:p xmlns:a="http://schemas.openxmlformats.org/drawingml/2006/main">
            <a:r>
              <a:t>      "인구·공간 집계",</a:t>
            </a:r>
          </a:p>
          <a:p xmlns:a="http://schemas.openxmlformats.org/drawingml/2006/main">
            <a:r>
              <a:t>      "밀집 지표",</a:t>
            </a:r>
          </a:p>
          <a:p xmlns:a="http://schemas.openxmlformats.org/drawingml/2006/main">
            <a:r>
              <a:t>      "위험 알림",</a:t>
            </a:r>
          </a:p>
          <a:p xmlns:a="http://schemas.openxmlformats.org/drawingml/2006/main">
            <a:r>
              <a:t>      "현장 대응"</a:t>
            </a:r>
          </a:p>
          <a:p xmlns:a="http://schemas.openxmlformats.org/drawingml/2006/main">
            <a:r>
              <a:t>    ],</a:t>
            </a:r>
          </a:p>
          <a:p xmlns:a="http://schemas.openxmlformats.org/drawingml/2006/main">
            <a:r>
              <a:t>    "control": "공간·시간 단위 대사와 조치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K-인파관리지원시스템 · 공공AI 사례집 86–87쪽 https://bigdata.dongjak.go.kr/board/viewArticle?articleNo=954&amp;boardId=4</a:t>
            </a:r>
          </a:p>
          <a:p xmlns:a="http://schemas.openxmlformats.org/drawingml/2006/main">
            <a:r>
              <a:t>홈페이지 https://heen1987-ops.github.io/TS-business-Plan-001/index.html?view=casebook&amp;case=AX20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"AX20",</a:t>
            </a:r>
          </a:p>
          <a:p xmlns:a="http://schemas.openxmlformats.org/drawingml/2006/main">
            <a:r>
              <a:t>    "title": "K-인파관리지원시스템",</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"데이터 기반 위험 상황 공유",</a:t>
            </a:r>
          </a:p>
          <a:p xmlns:a="http://schemas.openxmlformats.org/drawingml/2006/main">
            <a:r>
              <a:t>    "period": "2023 구축·운영",</a:t>
            </a:r>
          </a:p>
          <a:p xmlns:a="http://schemas.openxmlformats.org/drawingml/2006/main">
            <a:r>
              <a:t>    "sources": [</a:t>
            </a:r>
          </a:p>
          <a:p xmlns:a="http://schemas.openxmlformats.org/drawingml/2006/main">
            <a:r>
              <a:t>      "S-AX20"</a:t>
            </a:r>
          </a:p>
          <a:p xmlns:a="http://schemas.openxmlformats.org/drawingml/2006/main">
            <a:r>
              <a:t>    ],</a:t>
            </a:r>
          </a:p>
          <a:p xmlns:a="http://schemas.openxmlformats.org/drawingml/2006/main">
            <a:r>
              <a:t>    "keywords": [</a:t>
            </a:r>
          </a:p>
          <a:p xmlns:a="http://schemas.openxmlformats.org/drawingml/2006/main">
            <a:r>
              <a:t>      "데이터 기반 위험 상황 공유"</a:t>
            </a:r>
          </a:p>
          <a:p xmlns:a="http://schemas.openxmlformats.org/drawingml/2006/main">
            <a:r>
              <a:t>    ],</a:t>
            </a:r>
          </a:p>
          <a:p xmlns:a="http://schemas.openxmlformats.org/drawingml/2006/main">
            <a:r>
              <a:t>    "fact": "유동인구·공간정보의 밀집도 분석과 GIS 상황판·위험 알림 제공",</a:t>
            </a:r>
          </a:p>
          <a:p xmlns:a="http://schemas.openxmlformats.org/drawingml/2006/main">
            <a:r>
              <a:t>    "limit": "데이터 분석 운영 사례 · 생성형 AI 아님 · 사고 감소 인과효과 별도",</a:t>
            </a:r>
          </a:p>
          <a:p xmlns:a="http://schemas.openxmlformats.org/drawingml/2006/main">
            <a:r>
              <a:t>    "flow": [</a:t>
            </a:r>
          </a:p>
          <a:p xmlns:a="http://schemas.openxmlformats.org/drawingml/2006/main">
            <a:r>
              <a:t>      "유동인구·공간정보",</a:t>
            </a:r>
          </a:p>
          <a:p xmlns:a="http://schemas.openxmlformats.org/drawingml/2006/main">
            <a:r>
              <a:t>      "밀집도 분석",</a:t>
            </a:r>
          </a:p>
          <a:p xmlns:a="http://schemas.openxmlformats.org/drawingml/2006/main">
            <a:r>
              <a:t>      "GIS·위험 알림",</a:t>
            </a:r>
          </a:p>
          <a:p xmlns:a="http://schemas.openxmlformats.org/drawingml/2006/main">
            <a:r>
              <a:t>      "지자체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감지와 소관기관 상황 전파 연결",</a:t>
            </a:r>
          </a:p>
          <a:p xmlns:a="http://schemas.openxmlformats.org/drawingml/2006/main">
            <a:r>
              <a:t>    "local": "행사·교통시설 혼잡 정보의 관할·업무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"장소·시간·단계·담당 기관 매핑",</a:t>
            </a:r>
          </a:p>
          <a:p xmlns:a="http://schemas.openxmlformats.org/drawingml/2006/main">
            <a:r>
              <a:t>    "test": "자료 지연·경계 지역·알림 미수신 시험",</a:t>
            </a:r>
          </a:p>
          <a:p xmlns:a="http://schemas.openxmlformats.org/drawingml/2006/main">
            <a:r>
              <a:t>    "metric": "상황 전파시간 / 조치 누락률",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"AX20",</a:t>
            </a:r>
          </a:p>
          <a:p xmlns:a="http://schemas.openxmlformats.org/drawingml/2006/main">
            <a:r>
              <a:t>    "canonicalId": "AX20",</a:t>
            </a:r>
          </a:p>
          <a:p xmlns:a="http://schemas.openxmlformats.org/drawingml/2006/main">
            <a:r>
              <a:t>    "purpose": "인파 밀집 위험의 공간 기반 상황 관리",</a:t>
            </a:r>
          </a:p>
          <a:p xmlns:a="http://schemas.openxmlformats.org/drawingml/2006/main">
            <a:r>
              <a:t>    "users": "지자체 상황실·현장 대응부서",</a:t>
            </a:r>
          </a:p>
          <a:p xmlns:a="http://schemas.openxmlformats.org/drawingml/2006/main">
            <a:r>
              <a:t>    "scope": [</a:t>
            </a:r>
          </a:p>
          <a:p xmlns:a="http://schemas.openxmlformats.org/drawingml/2006/main">
            <a:r>
              <a:t>      "밀집도",</a:t>
            </a:r>
          </a:p>
          <a:p xmlns:a="http://schemas.openxmlformats.org/drawingml/2006/main">
            <a:r>
              <a:t>      "GIS 상황판",</a:t>
            </a:r>
          </a:p>
          <a:p xmlns:a="http://schemas.openxmlformats.org/drawingml/2006/main">
            <a:r>
              <a:t>      "위험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"유동인구·공간정보",</a:t>
            </a:r>
          </a:p>
          <a:p xmlns:a="http://schemas.openxmlformats.org/drawingml/2006/main">
            <a:r>
              <a:t>        "detail": "구역·시간·행사 등 상황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"밀집도 / GIS 상황판 / 위험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"밀집도 분석",</a:t>
            </a:r>
          </a:p>
          <a:p xmlns:a="http://schemas.openxmlformats.org/drawingml/2006/main">
            <a:r>
              <a:t>        "detail": "유동인구와 공간 조건의 밀집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"지자체 상황실",</a:t>
            </a:r>
          </a:p>
          <a:p xmlns:a="http://schemas.openxmlformats.org/drawingml/2006/main">
            <a:r>
              <a:t>        "detail": "상황판 경보와 현장 확인·대응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밀집 이력",</a:t>
            </a:r>
          </a:p>
          <a:p xmlns:a="http://schemas.openxmlformats.org/drawingml/2006/main">
            <a:r>
              <a:t>        "detail": "유동인구 집계·공간정보·구역 코드 결합",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"실제 밀집상태·경보·대응시간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"유동인구·공간정보",</a:t>
            </a:r>
          </a:p>
          <a:p xmlns:a="http://schemas.openxmlformats.org/drawingml/2006/main">
            <a:r>
              <a:t>        "input": "구역·시간·행사 등 상황 맥락 지정",</a:t>
            </a:r>
          </a:p>
          <a:p xmlns:a="http://schemas.openxmlformats.org/drawingml/2006/main">
            <a:r>
              <a:t>        "process": "유동인구 집계·공간정보·구역 코드 결합",</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"title": "밀집도 분석",</a:t>
            </a:r>
          </a:p>
          <a:p xmlns:a="http://schemas.openxmlformats.org/drawingml/2006/main">
            <a:r>
              <a:t>        "input": "인구·공간 집계",</a:t>
            </a:r>
          </a:p>
          <a:p xmlns:a="http://schemas.openxmlformats.org/drawingml/2006/main">
            <a:r>
              <a:t>        "process": "유동인구와 공간 조건의 밀집 분석",</a:t>
            </a:r>
          </a:p>
          <a:p xmlns:a="http://schemas.openxmlformats.org/drawingml/2006/main">
            <a:r>
              <a:t>        "output": "밀집 지표"</a:t>
            </a:r>
          </a:p>
          <a:p xmlns:a="http://schemas.openxmlformats.org/drawingml/2006/main">
            <a:r>
              <a:t>      },</a:t>
            </a:r>
          </a:p>
          <a:p xmlns:a="http://schemas.openxmlformats.org/drawingml/2006/main">
            <a:r>
              <a:t>      {</a:t>
            </a:r>
          </a:p>
          <a:p xmlns:a="http://schemas.openxmlformats.org/drawingml/2006/main">
            <a:r>
              <a:t>        "title": "GIS·위험 알림",</a:t>
            </a:r>
          </a:p>
          <a:p xmlns:a="http://schemas.openxmlformats.org/drawingml/2006/main">
            <a:r>
              <a:t>        "input": "밀집 지표",</a:t>
            </a:r>
          </a:p>
          <a:p xmlns:a="http://schemas.openxmlformats.org/drawingml/2006/main">
            <a:r>
              <a:t>        "process": "공간·시간 단위 대사와 조치 확인",</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"title": "지자체 대응",</a:t>
            </a:r>
          </a:p>
          <a:p xmlns:a="http://schemas.openxmlformats.org/drawingml/2006/main">
            <a:r>
              <a:t>        "input": "위험 알림",</a:t>
            </a:r>
          </a:p>
          <a:p xmlns:a="http://schemas.openxmlformats.org/drawingml/2006/main">
            <a:r>
              <a:t>        "process":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"구역별 인파 밀집을 파악하고 현장 확인 요청",</a:t>
            </a:r>
          </a:p>
          <a:p xmlns:a="http://schemas.openxmlformats.org/drawingml/2006/main">
            <a:r>
              <a:t>      "exception": "집계 지연·통신 표본 편향·구역 경계 변경",</a:t>
            </a:r>
          </a:p>
          <a:p xmlns:a="http://schemas.openxmlformats.org/drawingml/2006/main">
            <a:r>
              <a:t>      "evidence": "현장 밀집상태 대비 경보·전파·조치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"지자체 상황실·현장 대응부서",</a:t>
            </a:r>
          </a:p>
          <a:p xmlns:a="http://schemas.openxmlformats.org/drawingml/2006/main">
            <a:r>
              <a:t>          "processing": "구역·시간·행사 등 상황 맥락 지정",</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밀집 이력",</a:t>
            </a:r>
          </a:p>
          <a:p xmlns:a="http://schemas.openxmlformats.org/drawingml/2006/main">
            <a:r>
              <a:t>          "processing": "유동인구 집계·공간정보·구역 코드 결합",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"인구·공간 집계",</a:t>
            </a:r>
          </a:p>
          <a:p xmlns:a="http://schemas.openxmlformats.org/drawingml/2006/main">
            <a:r>
              <a:t>          "processing": "유동인구와 공간 조건의 밀집 분석",</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알림",</a:t>
            </a:r>
          </a:p>
          <a:p xmlns:a="http://schemas.openxmlformats.org/drawingml/2006/main">
            <a:r>
              <a:t>          "processing":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"실제 밀집상태·경보·대응시간 대조",</a:t>
            </a:r>
          </a:p>
          <a:p xmlns:a="http://schemas.openxmlformats.org/drawingml/2006/main">
            <a:r>
              <a:t>          "output": "현장 밀집상태 대비 경보·전파·조치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"실제 밀집상태·경보·대응시간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"S-AX20",</a:t>
            </a:r>
          </a:p>
          <a:p xmlns:a="http://schemas.openxmlformats.org/drawingml/2006/main">
            <a:r>
              <a:t>        "title": "K-인파관리지원시스템 · 공공AI 사례집 86–87쪽",</a:t>
            </a:r>
          </a:p>
          <a:p xmlns:a="http://schemas.openxmlformats.org/drawingml/2006/main">
            <a:r>
              <a:t>        "url": "https://bigdata.dongjak.go.kr/board/viewArticle?articleNo=954&amp;boardId=4",</a:t>
            </a:r>
          </a:p>
          <a:p xmlns:a="http://schemas.openxmlformats.org/drawingml/2006/main">
            <a:r>
              <a:t>        "published": "2023 구축·운영",</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감지와 소관기관 상황 전파 연결",</a:t>
            </a:r>
          </a:p>
          <a:p xmlns:a="http://schemas.openxmlformats.org/drawingml/2006/main">
            <a:r>
              <a:t>    "local": "행사·교통시설 혼잡 정보의 관할·업무 인계",</a:t>
            </a:r>
          </a:p>
          <a:p xmlns:a="http://schemas.openxmlformats.org/drawingml/2006/main">
            <a:r>
              <a:t>    "sourceDetail": null,</a:t>
            </a:r>
          </a:p>
          <a:p xmlns:a="http://schemas.openxmlformats.org/drawingml/2006/main">
            <a:r>
              <a:t>    "narrative": [</a:t>
            </a:r>
          </a:p>
          <a:p xmlns:a="http://schemas.openxmlformats.org/drawingml/2006/main">
            <a:r>
              <a:t>      "유동인구와 공간정보를 결합해 밀집 위험을 상황실과 현장 대응부서에 전달하는 사례. 추정 밀집도와 실제 현장 상태를 확인하는 조직적 대응이 결합된 구조.",</a:t>
            </a:r>
          </a:p>
          <a:p xmlns:a="http://schemas.openxmlformats.org/drawingml/2006/main">
            <a:r>
              <a:t>      "시간·구역·행사 맥락에 따라 집계 자료를 정합화하고 GIS 상황판과 경보를 생성하는 재구성. 경보 발생, 상황실 확인, 현장 출동·통제, 결과 보고를 별도 상태로 연결.",</a:t>
            </a:r>
          </a:p>
          <a:p xmlns:a="http://schemas.openxmlformats.org/drawingml/2006/main">
            <a:r>
              <a:t>      "TS 교통·시설 안전 적용에서 집계 공간 단위와 관측 편차를 먼저 확인할 필요. 오경보·미탐 외에 알림 수신·확인·대응까지 걸린 시간과 담당 부서의 인계 누락을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"상황실 조회",</a:t>
            </a:r>
          </a:p>
          <a:p xmlns:a="http://schemas.openxmlformats.org/drawingml/2006/main">
            <a:r>
              <a:t>          "layer": "이용 접점",</a:t>
            </a:r>
          </a:p>
          <a:p xmlns:a="http://schemas.openxmlformats.org/drawingml/2006/main">
            <a:r>
              <a:t>          "detail": "지자체 상황실·현장 대응부서",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"구역·행사 맥락",</a:t>
            </a:r>
          </a:p>
          <a:p xmlns:a="http://schemas.openxmlformats.org/drawingml/2006/main">
            <a:r>
              <a:t>          "layer": "업무 문맥",</a:t>
            </a:r>
          </a:p>
          <a:p xmlns:a="http://schemas.openxmlformats.org/drawingml/2006/main">
            <a:r>
              <a:t>          "detail": "구역·시간·행사 등 상황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"인구·공간 조회",</a:t>
            </a:r>
          </a:p>
          <a:p xmlns:a="http://schemas.openxmlformats.org/drawingml/2006/main">
            <a:r>
              <a:t>          "layer": "자료 조회",</a:t>
            </a:r>
          </a:p>
          <a:p xmlns:a="http://schemas.openxmlformats.org/drawingml/2006/main">
            <a:r>
              <a:t>          "detail": "인구·공간 집계",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"밀집 위험 분석",</a:t>
            </a:r>
          </a:p>
          <a:p xmlns:a="http://schemas.openxmlformats.org/drawingml/2006/main">
            <a:r>
              <a:t>          "layer": "핵심 처리",</a:t>
            </a:r>
          </a:p>
          <a:p xmlns:a="http://schemas.openxmlformats.org/drawingml/2006/main">
            <a:r>
              <a:t>          "detail": "유동인구와 공간 조건의 밀집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"관측·추정 대조",</a:t>
            </a:r>
          </a:p>
          <a:p xmlns:a="http://schemas.openxmlformats.org/drawingml/2006/main">
            <a:r>
              <a:t>          "layer": "결과 검증",</a:t>
            </a:r>
          </a:p>
          <a:p xmlns:a="http://schemas.openxmlformats.org/drawingml/2006/main">
            <a:r>
              <a:t>          "detail": "공간·시간 단위 대사와 조치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"상황실 확인",</a:t>
            </a:r>
          </a:p>
          <a:p xmlns:a="http://schemas.openxmlformats.org/drawingml/2006/main">
            <a:r>
              <a:t>          "layer": "사람 확인",</a:t>
            </a:r>
          </a:p>
          <a:p xmlns:a="http://schemas.openxmlformats.org/drawingml/2006/main">
            <a:r>
              <a:t>          "detail": "구역별 인파 밀집을 파악하고 현장 확인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"현장 대응 알림",</a:t>
            </a:r>
          </a:p>
          <a:p xmlns:a="http://schemas.openxmlformats.org/drawingml/2006/main">
            <a:r>
              <a:t>          "layer": "업무 연결",</a:t>
            </a:r>
          </a:p>
          <a:p xmlns:a="http://schemas.openxmlformats.org/drawingml/2006/main">
            <a:r>
              <a:t>          "detail": "상황판 경보와 현장 확인·대응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"대응시간 추적",</a:t>
            </a:r>
          </a:p>
          <a:p xmlns:a="http://schemas.openxmlformats.org/drawingml/2006/main">
            <a:r>
              <a:t>          "layer": "운영 관측",</a:t>
            </a:r>
          </a:p>
          <a:p xmlns:a="http://schemas.openxmlformats.org/drawingml/2006/main">
            <a:r>
              <a:t>          "detail": "실제 밀집상태·경보·대응시간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"유동인구·GIS",</a:t>
            </a:r>
          </a:p>
          <a:p xmlns:a="http://schemas.openxmlformats.org/drawingml/2006/main">
            <a:r>
              <a:t>          "layer": "데이터 원천",</a:t>
            </a:r>
          </a:p>
          <a:p xmlns:a="http://schemas.openxmlformats.org/drawingml/2006/main">
            <a:r>
              <a:t>          "detail": "지역별 밀집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"시간·구역 정합화",</a:t>
            </a:r>
          </a:p>
          <a:p xmlns:a="http://schemas.openxmlformats.org/drawingml/2006/main">
            <a:r>
              <a:t>          "layer": "준비·갱신",</a:t>
            </a:r>
          </a:p>
          <a:p xmlns:a="http://schemas.openxmlformats.org/drawingml/2006/main">
            <a:r>
              <a:t>          "detail": "유동인구 집계·공간정보·구역 코드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"밀집·대응 이력",</a:t>
            </a:r>
          </a:p>
          <a:p xmlns:a="http://schemas.openxmlformats.org/drawingml/2006/main">
            <a:r>
              <a:t>          "layer": "상태·지식 저장",</a:t>
            </a:r>
          </a:p>
          <a:p xmlns:a="http://schemas.openxmlformats.org/drawingml/2006/main">
            <a:r>
              <a:t>          "detail": "현장 밀집상태 대비 경보·전파·조치 시각",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"집계·경보 기준",</a:t>
            </a:r>
          </a:p>
          <a:p xmlns:a="http://schemas.openxmlformats.org/drawingml/2006/main">
            <a:r>
              <a:t>          "layer": "권한·정책",</a:t>
            </a:r>
          </a:p>
          <a:p xmlns:a="http://schemas.openxmlformats.org/drawingml/2006/main">
            <a:r>
              <a:t>          "detail": "집계 지연·통신 표본 편향·구역 경계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"유동인구·공간정보 → 밀집도 분석 → GIS·위험 알림 → 지자체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"지역별 밀집 이력",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"위험 알림",</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"집계·경보 기준",</a:t>
            </a:r>
          </a:p>
          <a:p xmlns:a="http://schemas.openxmlformats.org/drawingml/2006/main">
            <a:r>
              <a:t>          "check": "공간·시간 단위 대사와 조치 확인"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대응",</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"실제 밀집상태·경보·대응시간 대조",</a:t>
            </a:r>
          </a:p>
          <a:p xmlns:a="http://schemas.openxmlformats.org/drawingml/2006/main">
            <a:r>
              <a:t>          "check": "실제 밀집상태·경보·대응시간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"인파 밀집 위험의 공간 기반 상황 관리 / 밀집도·GIS 상황판·위험 알림",</a:t>
            </a:r>
          </a:p>
          <a:p xmlns:a="http://schemas.openxmlformats.org/drawingml/2006/main">
            <a:r>
              <a:t>        "extension": "행사·교통시설 혼잡 정보의 관할·업무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"집계 지연·통신 표본 편향·구역 경계 변경",</a:t>
            </a:r>
          </a:p>
          <a:p xmlns:a="http://schemas.openxmlformats.org/drawingml/2006/main">
            <a:r>
              <a:t>        "hold": "공간·시간 단위 대사와 조치 확인",</a:t>
            </a:r>
          </a:p>
          <a:p xmlns:a="http://schemas.openxmlformats.org/drawingml/2006/main">
            <a:r>
              <a:t>        "recovery": "실제 밀집상태·경보·대응시간 대조",</a:t>
            </a:r>
          </a:p>
          <a:p xmlns:a="http://schemas.openxmlformats.org/drawingml/2006/main">
            <a:r>
              <a:t>        "evidence": "현장 밀집상태 대비 경보·전파·조치 시각"</a:t>
            </a:r>
          </a:p>
          <a:p xmlns:a="http://schemas.openxmlformats.org/drawingml/2006/main">
            <a:r>
              <a:t>      },</a:t>
            </a:r>
          </a:p>
          <a:p xmlns:a="http://schemas.openxmlformats.org/drawingml/2006/main">
            <a:r>
              <a:t>      "data": {</a:t>
            </a:r>
          </a:p>
          <a:p xmlns:a="http://schemas.openxmlformats.org/drawingml/2006/main">
            <a:r>
              <a:t>        "source": "지역별 밀집 이력",</a:t>
            </a:r>
          </a:p>
          <a:p xmlns:a="http://schemas.openxmlformats.org/drawingml/2006/main">
            <a:r>
              <a:t>        "prepare": "유동인구 집계·공간정보·구역 코드 결합",</a:t>
            </a:r>
          </a:p>
          <a:p xmlns:a="http://schemas.openxmlformats.org/drawingml/2006/main">
            <a:r>
              <a:t>        "output": "인구·공간 집계",</a:t>
            </a:r>
          </a:p>
          <a:p xmlns:a="http://schemas.openxmlformats.org/drawingml/2006/main">
            <a:r>
              <a:t>        "refresh": "실제 밀집상태·경보·대응시간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"AX20",</a:t>
            </a:r>
          </a:p>
          <a:p xmlns:a="http://schemas.openxmlformats.org/drawingml/2006/main">
            <a:r>
              <a:t>    "success": [</a:t>
            </a:r>
          </a:p>
          <a:p xmlns:a="http://schemas.openxmlformats.org/drawingml/2006/main">
            <a:r>
              <a:t>      "공간정보와 유동인구의 결합",</a:t>
            </a:r>
          </a:p>
          <a:p xmlns:a="http://schemas.openxmlformats.org/drawingml/2006/main">
            <a:r>
              <a:t>      "상황판·알림과 지자체 대응 연결"</a:t>
            </a:r>
          </a:p>
          <a:p xmlns:a="http://schemas.openxmlformats.org/drawingml/2006/main">
            <a:r>
              <a:t>    ],</a:t>
            </a:r>
          </a:p>
          <a:p xmlns:a="http://schemas.openxmlformats.org/drawingml/2006/main">
            <a:r>
              <a:t>    "risks": [</a:t>
            </a:r>
          </a:p>
          <a:p xmlns:a="http://schemas.openxmlformats.org/drawingml/2006/main">
            <a:r>
              <a:t>      "추정 인구와 실제 밀집의 차이",</a:t>
            </a:r>
          </a:p>
          <a:p xmlns:a="http://schemas.openxmlformats.org/drawingml/2006/main">
            <a:r>
              <a:t>      "알림 발생과 대응 완료의 혼동"</a:t>
            </a:r>
          </a:p>
          <a:p xmlns:a="http://schemas.openxmlformats.org/drawingml/2006/main">
            <a:r>
              <a:t>    ],</a:t>
            </a:r>
          </a:p>
          <a:p xmlns:a="http://schemas.openxmlformats.org/drawingml/2006/main">
            <a:r>
              <a:t>    "architecture": [</a:t>
            </a:r>
          </a:p>
          <a:p xmlns:a="http://schemas.openxmlformats.org/drawingml/2006/main">
            <a:r>
              <a:t>      "유동인구·공간정보",</a:t>
            </a:r>
          </a:p>
          <a:p xmlns:a="http://schemas.openxmlformats.org/drawingml/2006/main">
            <a:r>
              <a:t>      "밀집도 분석",</a:t>
            </a:r>
          </a:p>
          <a:p xmlns:a="http://schemas.openxmlformats.org/drawingml/2006/main">
            <a:r>
              <a:t>      "지역별 밀집 이력",</a:t>
            </a:r>
          </a:p>
          <a:p xmlns:a="http://schemas.openxmlformats.org/drawingml/2006/main">
            <a:r>
              <a:t>      "지자체 상황실"</a:t>
            </a:r>
          </a:p>
          <a:p xmlns:a="http://schemas.openxmlformats.org/drawingml/2006/main">
            <a:r>
              <a:t>    ],</a:t>
            </a:r>
          </a:p>
          <a:p xmlns:a="http://schemas.openxmlformats.org/drawingml/2006/main">
            <a:r>
              <a:t>    "transfers": [</a:t>
            </a:r>
          </a:p>
          <a:p xmlns:a="http://schemas.openxmlformats.org/drawingml/2006/main">
            <a:r>
              <a:t>      "인구·공간 집계",</a:t>
            </a:r>
          </a:p>
          <a:p xmlns:a="http://schemas.openxmlformats.org/drawingml/2006/main">
            <a:r>
              <a:t>      "밀집 지표",</a:t>
            </a:r>
          </a:p>
          <a:p xmlns:a="http://schemas.openxmlformats.org/drawingml/2006/main">
            <a:r>
              <a:t>      "위험 알림",</a:t>
            </a:r>
          </a:p>
          <a:p xmlns:a="http://schemas.openxmlformats.org/drawingml/2006/main">
            <a:r>
              <a:t>      "현장 대응"</a:t>
            </a:r>
          </a:p>
          <a:p xmlns:a="http://schemas.openxmlformats.org/drawingml/2006/main">
            <a:r>
              <a:t>    ],</a:t>
            </a:r>
          </a:p>
          <a:p xmlns:a="http://schemas.openxmlformats.org/drawingml/2006/main">
            <a:r>
              <a:t>    "control": "공간·시간 단위 대사와 조치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K-인파관리지원시스템 · 공공AI 사례집 86–87쪽 https://bigdata.dongjak.go.kr/board/viewArticle?articleNo=954&amp;boardId=4</a:t>
            </a:r>
          </a:p>
          <a:p xmlns:a="http://schemas.openxmlformats.org/drawingml/2006/main">
            <a:r>
              <a:t>홈페이지 https://heen1987-ops.github.io/TS-business-Plan-001/index.html?view=casebook&amp;case=AX20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"AX21",</a:t>
            </a:r>
          </a:p>
          <a:p xmlns:a="http://schemas.openxmlformats.org/drawingml/2006/main">
            <a:r>
              <a:t>    "title": "항공안전 이슈 분석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"안전 문서 분류·분석",</a:t>
            </a:r>
          </a:p>
          <a:p xmlns:a="http://schemas.openxmlformats.org/drawingml/2006/main">
            <a:r>
              <a:t>    "period": "2024 기술 실증",</a:t>
            </a:r>
          </a:p>
          <a:p xmlns:a="http://schemas.openxmlformats.org/drawingml/2006/main">
            <a:r>
              <a:t>    "sources": [</a:t>
            </a:r>
          </a:p>
          <a:p xmlns:a="http://schemas.openxmlformats.org/drawingml/2006/main">
            <a:r>
              <a:t>      "S-AX21"</a:t>
            </a:r>
          </a:p>
          <a:p xmlns:a="http://schemas.openxmlformats.org/drawingml/2006/main">
            <a:r>
              <a:t>    ],</a:t>
            </a:r>
          </a:p>
          <a:p xmlns:a="http://schemas.openxmlformats.org/drawingml/2006/main">
            <a:r>
              <a:t>    "keywords": [</a:t>
            </a:r>
          </a:p>
          <a:p xmlns:a="http://schemas.openxmlformats.org/drawingml/2006/main">
            <a:r>
              <a:t>      "안전 문서 분류",</a:t>
            </a:r>
          </a:p>
          <a:p xmlns:a="http://schemas.openxmlformats.org/drawingml/2006/main">
            <a:r>
              <a:t>      "분석"</a:t>
            </a:r>
          </a:p>
          <a:p xmlns:a="http://schemas.openxmlformats.org/drawingml/2006/main">
            <a:r>
              <a:t>    ],</a:t>
            </a:r>
          </a:p>
          <a:p xmlns:a="http://schemas.openxmlformats.org/drawingml/2006/main">
            <a:r>
              <a:t>    "fact": "항공안전 기사·분류체계 기반 번역·요약·위험 분류와 분석원 검토의 기술 실증",</a:t>
            </a:r>
          </a:p>
          <a:p xmlns:a="http://schemas.openxmlformats.org/drawingml/2006/main">
            <a:r>
              <a:t>    "limit": "PoC 범위 · 운영 생산성 실측으로 해석 금지",</a:t>
            </a:r>
          </a:p>
          <a:p xmlns:a="http://schemas.openxmlformats.org/drawingml/2006/main">
            <a:r>
              <a:t>    "flow": [</a:t>
            </a:r>
          </a:p>
          <a:p xmlns:a="http://schemas.openxmlformats.org/drawingml/2006/main">
            <a:r>
              <a:t>      "항공안전 기사",</a:t>
            </a:r>
          </a:p>
          <a:p xmlns:a="http://schemas.openxmlformats.org/drawingml/2006/main">
            <a:r>
              <a:t>      "전처리·RAG",</a:t>
            </a:r>
          </a:p>
          <a:p xmlns:a="http://schemas.openxmlformats.org/drawingml/2006/main">
            <a:r>
              <a:t>      "요약·위험 분류",</a:t>
            </a:r>
          </a:p>
          <a:p xmlns:a="http://schemas.openxmlformats.org/drawingml/2006/main">
            <a:r>
              <a:t>      "분석원 재검토"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"전문 분류체계와 사람의 재검토 결합",</a:t>
            </a:r>
          </a:p>
          <a:p xmlns:a="http://schemas.openxmlformats.org/drawingml/2006/main">
            <a:r>
              <a:t>    "local": "TS 분야별 사고·위험 용어와 책임 직무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"안전 이슈 분류셋·근거 위치·검토 기록",</a:t>
            </a:r>
          </a:p>
          <a:p xmlns:a="http://schemas.openxmlformats.org/drawingml/2006/main">
            <a:r>
              <a:t>    "test": "위험 유형별 누락·오분류·번역 오류 평가",</a:t>
            </a:r>
          </a:p>
          <a:p xmlns:a="http://schemas.openxmlformats.org/drawingml/2006/main">
            <a:r>
              <a:t>    "metric": "분류 재현율 / 검토 포함 소요시간",</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"AX21",</a:t>
            </a:r>
          </a:p>
          <a:p xmlns:a="http://schemas.openxmlformats.org/drawingml/2006/main">
            <a:r>
              <a:t>    "canonicalId": "AX21",</a:t>
            </a:r>
          </a:p>
          <a:p xmlns:a="http://schemas.openxmlformats.org/drawingml/2006/main">
            <a:r>
              <a:t>    "purpose": "항공안전 이슈의 번역·분류·검토 지원",</a:t>
            </a:r>
          </a:p>
          <a:p xmlns:a="http://schemas.openxmlformats.org/drawingml/2006/main">
            <a:r>
              <a:t>    "users": "항공안전 분석원",</a:t>
            </a:r>
          </a:p>
          <a:p xmlns:a="http://schemas.openxmlformats.org/drawingml/2006/main">
            <a:r>
              <a:t>    "scope": [</a:t>
            </a:r>
          </a:p>
          <a:p xmlns:a="http://schemas.openxmlformats.org/drawingml/2006/main">
            <a:r>
              <a:t>      "기사 수집",</a:t>
            </a:r>
          </a:p>
          <a:p xmlns:a="http://schemas.openxmlformats.org/drawingml/2006/main">
            <a:r>
              <a:t>      "위험 분류",</a:t>
            </a:r>
          </a:p>
          <a:p xmlns:a="http://schemas.openxmlformats.org/drawingml/2006/main">
            <a:r>
              <a:t>      "분석원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"항공안전 기사",</a:t>
            </a:r>
          </a:p>
          <a:p xmlns:a="http://schemas.openxmlformats.org/drawingml/2006/main">
            <a:r>
              <a:t>        "detail": "기사 출처·발생일·대상 항공 업무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"기사 수집 / 위험 분류 / 분석원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"전처리·RAG·분류",</a:t>
            </a:r>
          </a:p>
          <a:p xmlns:a="http://schemas.openxmlformats.org/drawingml/2006/main">
            <a:r>
              <a:t>        "detail": "번역·요약 후 안전 분류체계별 후보 제시",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"항공안전 분석원",</a:t>
            </a:r>
          </a:p>
          <a:p xmlns:a="http://schemas.openxmlformats.org/drawingml/2006/main">
            <a:r>
              <a:t>        "detail": "분류 근거와 원문을 분석원에게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"기사·위험 분류체계",</a:t>
            </a:r>
          </a:p>
          <a:p xmlns:a="http://schemas.openxmlformats.org/drawingml/2006/main">
            <a:r>
              <a:t>        "detail": "원문 기사·번역문·분류체계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"분석원 수정과 분류 누락의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"항공안전 기사",</a:t>
            </a:r>
          </a:p>
          <a:p xmlns:a="http://schemas.openxmlformats.org/drawingml/2006/main">
            <a:r>
              <a:t>        "input": "기사 출처·발생일·대상 항공 업무 식별",</a:t>
            </a:r>
          </a:p>
          <a:p xmlns:a="http://schemas.openxmlformats.org/drawingml/2006/main">
            <a:r>
              <a:t>        "process": "원문 기사·번역문·분류체계 판본 관리",</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"title": "전처리·RAG",</a:t>
            </a:r>
          </a:p>
          <a:p xmlns:a="http://schemas.openxmlformats.org/drawingml/2006/main">
            <a:r>
              <a:t>        "input": "기사 원문",</a:t>
            </a:r>
          </a:p>
          <a:p xmlns:a="http://schemas.openxmlformats.org/drawingml/2006/main">
            <a:r>
              <a:t>        "process": "번역·요약 후 안전 분류체계별 후보 제시",</a:t>
            </a:r>
          </a:p>
          <a:p xmlns:a="http://schemas.openxmlformats.org/drawingml/2006/main">
            <a:r>
              <a:t>        "output": "분석용 문서"</a:t>
            </a:r>
          </a:p>
          <a:p xmlns:a="http://schemas.openxmlformats.org/drawingml/2006/main">
            <a:r>
              <a:t>      },</a:t>
            </a:r>
          </a:p>
          <a:p xmlns:a="http://schemas.openxmlformats.org/drawingml/2006/main">
            <a:r>
              <a:t>      {</a:t>
            </a:r>
          </a:p>
          <a:p xmlns:a="http://schemas.openxmlformats.org/drawingml/2006/main">
            <a:r>
              <a:t>        "title": "요약·위험 분류",</a:t>
            </a:r>
          </a:p>
          <a:p xmlns:a="http://schemas.openxmlformats.org/drawingml/2006/main">
            <a:r>
              <a:t>        "input": "분석용 문서",</a:t>
            </a:r>
          </a:p>
          <a:p xmlns:a="http://schemas.openxmlformats.org/drawingml/2006/main">
            <a:r>
              <a:t>        "process": "원문 사건·시각·위험등급 대조",</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"title": "분석원 재검토",</a:t>
            </a:r>
          </a:p>
          <a:p xmlns:a="http://schemas.openxmlformats.org/drawingml/2006/main">
            <a:r>
              <a:t>        "input": "요약·위험 태그",</a:t>
            </a:r>
          </a:p>
          <a:p xmlns:a="http://schemas.openxmlformats.org/drawingml/2006/main">
            <a:r>
              <a:t>        "process":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"기사의 사건·번역·분류 근거를 분석원이 검토",</a:t>
            </a:r>
          </a:p>
          <a:p xmlns:a="http://schemas.openxmlformats.org/drawingml/2006/main">
            <a:r>
              <a:t>      "exception": "다른 사건의 혼합·번역 부정문 오류·분류 중복",</a:t>
            </a:r>
          </a:p>
          <a:p xmlns:a="http://schemas.openxmlformats.org/drawingml/2006/main">
            <a:r>
              <a:t>      "evidence": "원문 구간과 번역·분류·분석원 수정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"항공안전 분석원",</a:t>
            </a:r>
          </a:p>
          <a:p xmlns:a="http://schemas.openxmlformats.org/drawingml/2006/main">
            <a:r>
              <a:t>          "processing": "기사 출처·발생일·대상 항공 업무 식별",</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"기사·위험 분류체계",</a:t>
            </a:r>
          </a:p>
          <a:p xmlns:a="http://schemas.openxmlformats.org/drawingml/2006/main">
            <a:r>
              <a:t>          "processing": "원문 기사·번역문·분류체계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"기사 원문",</a:t>
            </a:r>
          </a:p>
          <a:p xmlns:a="http://schemas.openxmlformats.org/drawingml/2006/main">
            <a:r>
              <a:t>          "processing": "번역·요약 후 안전 분류체계별 후보 제시",</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"요약·위험 태그",</a:t>
            </a:r>
          </a:p>
          <a:p xmlns:a="http://schemas.openxmlformats.org/drawingml/2006/main">
            <a:r>
              <a:t>          "processing":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"분석원 수정과 분류 누락의 회귀 평가",</a:t>
            </a:r>
          </a:p>
          <a:p xmlns:a="http://schemas.openxmlformats.org/drawingml/2006/main">
            <a:r>
              <a:t>          "output": "원문 구간과 번역·분류·분석원 수정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"분석원 수정과 분류 누락의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"S-AX21",</a:t>
            </a:r>
          </a:p>
          <a:p xmlns:a="http://schemas.openxmlformats.org/drawingml/2006/main">
            <a:r>
              <a:t>        "title": "항공안전 이슈 분석 AI PoC · 공공AI 사례집 100–101쪽",</a:t>
            </a:r>
          </a:p>
          <a:p xmlns:a="http://schemas.openxmlformats.org/drawingml/2006/main">
            <a:r>
              <a:t>        "url": "https://bigdata.dongjak.go.kr/board/viewArticle?articleNo=954&amp;boardId=4",</a:t>
            </a:r>
          </a:p>
          <a:p xmlns:a="http://schemas.openxmlformats.org/drawingml/2006/main">
            <a:r>
              <a:t>        "published": "2024 기술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"전문 분류체계와 사람의 재검토 결합",</a:t>
            </a:r>
          </a:p>
          <a:p xmlns:a="http://schemas.openxmlformats.org/drawingml/2006/main">
            <a:r>
              <a:t>    "local": "TS 분야별 사고·위험 용어와 책임 직무 매핑",</a:t>
            </a:r>
          </a:p>
          <a:p xmlns:a="http://schemas.openxmlformats.org/drawingml/2006/main">
            <a:r>
              <a:t>    "sourceDetail": null,</a:t>
            </a:r>
          </a:p>
          <a:p xmlns:a="http://schemas.openxmlformats.org/drawingml/2006/main">
            <a:r>
              <a:t>    "narrative": [</a:t>
            </a:r>
          </a:p>
          <a:p xmlns:a="http://schemas.openxmlformats.org/drawingml/2006/main">
            <a:r>
              <a:t>      "항공안전 관련 기사에서 사건과 위험 요인을 찾아 분석원의 검토를 돕는 사례. 다국어 자료의 번역·요약과 정해진 안전 분류체계 적용이 결합된 업무.",</a:t>
            </a:r>
          </a:p>
          <a:p xmlns:a="http://schemas.openxmlformats.org/drawingml/2006/main">
            <a:r>
              <a:t>      "기사 출처·발생일·항공업무를 식별한 뒤 번역문과 원문을 연결하고 위험 태그 후보를 제시하는 재구성. 분석원의 수정값과 판정 근거를 보존해 분류 누락·오역을 회귀 평가.",</a:t>
            </a:r>
          </a:p>
          <a:p xmlns:a="http://schemas.openxmlformats.org/drawingml/2006/main">
            <a:r>
              <a:t>      "TS 적용에서는 기사량 처리보다 사건·시각·위험등급의 정확한 추출과 근거 추적을 우선. 원문 대비 중요 사건 누락, 분류체계 개정, 다국어 전문용어 오역을 독립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"기사 수집 접점",</a:t>
            </a:r>
          </a:p>
          <a:p xmlns:a="http://schemas.openxmlformats.org/drawingml/2006/main">
            <a:r>
              <a:t>          "layer": "이용 접점",</a:t>
            </a:r>
          </a:p>
          <a:p xmlns:a="http://schemas.openxmlformats.org/drawingml/2006/main">
            <a:r>
              <a:t>          "detail": "항공안전 분석원",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"출처·발생일",</a:t>
            </a:r>
          </a:p>
          <a:p xmlns:a="http://schemas.openxmlformats.org/drawingml/2006/main">
            <a:r>
              <a:t>          "layer": "업무 문맥",</a:t>
            </a:r>
          </a:p>
          <a:p xmlns:a="http://schemas.openxmlformats.org/drawingml/2006/main">
            <a:r>
              <a:t>          "detail": "기사 출처·발생일·대상 항공 업무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"분류 지식 검색",</a:t>
            </a:r>
          </a:p>
          <a:p xmlns:a="http://schemas.openxmlformats.org/drawingml/2006/main">
            <a:r>
              <a:t>          "layer": "자료 조회",</a:t>
            </a:r>
          </a:p>
          <a:p xmlns:a="http://schemas.openxmlformats.org/drawingml/2006/main">
            <a:r>
              <a:t>          "detail": "기사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"번역·요약·태깅",</a:t>
            </a:r>
          </a:p>
          <a:p xmlns:a="http://schemas.openxmlformats.org/drawingml/2006/main">
            <a:r>
              <a:t>          "layer": "핵심 처리",</a:t>
            </a:r>
          </a:p>
          <a:p xmlns:a="http://schemas.openxmlformats.org/drawingml/2006/main">
            <a:r>
              <a:t>          "detail": "번역·요약 후 안전 분류체계별 후보 제시",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"사건·등급 대조",</a:t>
            </a:r>
          </a:p>
          <a:p xmlns:a="http://schemas.openxmlformats.org/drawingml/2006/main">
            <a:r>
              <a:t>          "layer": "결과 검증",</a:t>
            </a:r>
          </a:p>
          <a:p xmlns:a="http://schemas.openxmlformats.org/drawingml/2006/main">
            <a:r>
              <a:t>          "detail": "원문 사건·시각·위험등급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"분석원 수정",</a:t>
            </a:r>
          </a:p>
          <a:p xmlns:a="http://schemas.openxmlformats.org/drawingml/2006/main">
            <a:r>
              <a:t>          "layer": "사람 확인",</a:t>
            </a:r>
          </a:p>
          <a:p xmlns:a="http://schemas.openxmlformats.org/drawingml/2006/main">
            <a:r>
              <a:t>          "detail": "기사의 사건·번역·분류 근거를 분석원이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"검토 보고서",</a:t>
            </a:r>
          </a:p>
          <a:p xmlns:a="http://schemas.openxmlformats.org/drawingml/2006/main">
            <a:r>
              <a:t>          "layer": "업무 연결",</a:t>
            </a:r>
          </a:p>
          <a:p xmlns:a="http://schemas.openxmlformats.org/drawingml/2006/main">
            <a:r>
              <a:t>          "detail": "분류 근거와 원문을 분석원에게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 회귀평가",</a:t>
            </a:r>
          </a:p>
          <a:p xmlns:a="http://schemas.openxmlformats.org/drawingml/2006/main">
            <a:r>
              <a:t>          "layer": "운영 관측",</a:t>
            </a:r>
          </a:p>
          <a:p xmlns:a="http://schemas.openxmlformats.org/drawingml/2006/main">
            <a:r>
              <a:t>          "detail": "분석원 수정과 분류 누락의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"기사·안전 분류",</a:t>
            </a:r>
          </a:p>
          <a:p xmlns:a="http://schemas.openxmlformats.org/drawingml/2006/main">
            <a:r>
              <a:t>          "layer": "데이터 원천",</a:t>
            </a:r>
          </a:p>
          <a:p xmlns:a="http://schemas.openxmlformats.org/drawingml/2006/main">
            <a:r>
              <a:t>          "detail": "기사·위험 분류체계",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"번역·판본 정리",</a:t>
            </a:r>
          </a:p>
          <a:p xmlns:a="http://schemas.openxmlformats.org/drawingml/2006/main">
            <a:r>
              <a:t>          "layer": "준비·갱신",</a:t>
            </a:r>
          </a:p>
          <a:p xmlns:a="http://schemas.openxmlformats.org/drawingml/2006/main">
            <a:r>
              <a:t>          "detail": "원문 기사·번역문·분류체계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"기사·분류 이력",</a:t>
            </a:r>
          </a:p>
          <a:p xmlns:a="http://schemas.openxmlformats.org/drawingml/2006/main">
            <a:r>
              <a:t>          "layer": "상태·지식 저장",</a:t>
            </a:r>
          </a:p>
          <a:p xmlns:a="http://schemas.openxmlformats.org/drawingml/2006/main">
            <a:r>
              <a:t>          "detail": "원문 구간과 번역·분류·분석원 수정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"분류·검토 책임",</a:t>
            </a:r>
          </a:p>
          <a:p xmlns:a="http://schemas.openxmlformats.org/drawingml/2006/main">
            <a:r>
              <a:t>          "layer": "권한·정책",</a:t>
            </a:r>
          </a:p>
          <a:p xmlns:a="http://schemas.openxmlformats.org/drawingml/2006/main">
            <a:r>
              <a:t>          "detail": "다른 사건의 혼합·번역 부정문 오류·분류 중복",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"항공안전 기사 → 전처리·RAG → 요약·위험 분류 → 분석원 재검토"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"기사·위험 분류체계",</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"분석용 문서",</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"분석원 수정",</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"항공안전 이슈의 번역·분류·검토 지원 / 기사 수집·위험 분류·분석원 검토",</a:t>
            </a:r>
          </a:p>
          <a:p xmlns:a="http://schemas.openxmlformats.org/drawingml/2006/main">
            <a:r>
              <a:t>        "extension": "TS 분야별 사고·위험 용어와 책임 직무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사건의 혼합·번역 부정문 오류·분류 중복",</a:t>
            </a:r>
          </a:p>
          <a:p xmlns:a="http://schemas.openxmlformats.org/drawingml/2006/main">
            <a:r>
              <a:t>        "hold": "원문 사건·시각·위험등급 대조",</a:t>
            </a:r>
          </a:p>
          <a:p xmlns:a="http://schemas.openxmlformats.org/drawingml/2006/main">
            <a:r>
              <a:t>        "recovery": "분석원 수정과 분류 누락의 회귀 평가",</a:t>
            </a:r>
          </a:p>
          <a:p xmlns:a="http://schemas.openxmlformats.org/drawingml/2006/main">
            <a:r>
              <a:t>        "evidence": "원문 구간과 번역·분류·분석원 수정 연결표"</a:t>
            </a:r>
          </a:p>
          <a:p xmlns:a="http://schemas.openxmlformats.org/drawingml/2006/main">
            <a:r>
              <a:t>      },</a:t>
            </a:r>
          </a:p>
          <a:p xmlns:a="http://schemas.openxmlformats.org/drawingml/2006/main">
            <a:r>
              <a:t>      "data": {</a:t>
            </a:r>
          </a:p>
          <a:p xmlns:a="http://schemas.openxmlformats.org/drawingml/2006/main">
            <a:r>
              <a:t>        "source": "기사·위험 분류체계",</a:t>
            </a:r>
          </a:p>
          <a:p xmlns:a="http://schemas.openxmlformats.org/drawingml/2006/main">
            <a:r>
              <a:t>        "prepare": "원문 기사·번역문·분류체계 판본 관리",</a:t>
            </a:r>
          </a:p>
          <a:p xmlns:a="http://schemas.openxmlformats.org/drawingml/2006/main">
            <a:r>
              <a:t>        "output": "기사 원문",</a:t>
            </a:r>
          </a:p>
          <a:p xmlns:a="http://schemas.openxmlformats.org/drawingml/2006/main">
            <a:r>
              <a:t>        "refresh": "분석원 수정과 분류 누락의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"AX21",</a:t>
            </a:r>
          </a:p>
          <a:p xmlns:a="http://schemas.openxmlformats.org/drawingml/2006/main">
            <a:r>
              <a:t>    "success": [</a:t>
            </a:r>
          </a:p>
          <a:p xmlns:a="http://schemas.openxmlformats.org/drawingml/2006/main">
            <a:r>
              <a:t>      "분류체계에 맞춘 번역·요약",</a:t>
            </a:r>
          </a:p>
          <a:p xmlns:a="http://schemas.openxmlformats.org/drawingml/2006/main">
            <a:r>
              <a:t>      "안전 분석원의 재검토"</a:t>
            </a:r>
          </a:p>
          <a:p xmlns:a="http://schemas.openxmlformats.org/drawingml/2006/main">
            <a:r>
              <a:t>    ],</a:t>
            </a:r>
          </a:p>
          <a:p xmlns:a="http://schemas.openxmlformats.org/drawingml/2006/main">
            <a:r>
              <a:t>    "risks": [</a:t>
            </a:r>
          </a:p>
          <a:p xmlns:a="http://schemas.openxmlformats.org/drawingml/2006/main">
            <a:r>
              <a:t>      "다국어 용어·위험 분류 오류",</a:t>
            </a:r>
          </a:p>
          <a:p xmlns:a="http://schemas.openxmlformats.org/drawingml/2006/main">
            <a:r>
              <a:t>      "기사 요약에서 중요 사건 누락"</a:t>
            </a:r>
          </a:p>
          <a:p xmlns:a="http://schemas.openxmlformats.org/drawingml/2006/main">
            <a:r>
              <a:t>    ],</a:t>
            </a:r>
          </a:p>
          <a:p xmlns:a="http://schemas.openxmlformats.org/drawingml/2006/main">
            <a:r>
              <a:t>    "architecture": [</a:t>
            </a:r>
          </a:p>
          <a:p xmlns:a="http://schemas.openxmlformats.org/drawingml/2006/main">
            <a:r>
              <a:t>      "항공안전 기사",</a:t>
            </a:r>
          </a:p>
          <a:p xmlns:a="http://schemas.openxmlformats.org/drawingml/2006/main">
            <a:r>
              <a:t>      "전처리·RAG·분류",</a:t>
            </a:r>
          </a:p>
          <a:p xmlns:a="http://schemas.openxmlformats.org/drawingml/2006/main">
            <a:r>
              <a:t>      "기사·위험 분류체계",</a:t>
            </a:r>
          </a:p>
          <a:p xmlns:a="http://schemas.openxmlformats.org/drawingml/2006/main">
            <a:r>
              <a:t>      "항공안전 분석원"</a:t>
            </a:r>
          </a:p>
          <a:p xmlns:a="http://schemas.openxmlformats.org/drawingml/2006/main">
            <a:r>
              <a:t>    ],</a:t>
            </a:r>
          </a:p>
          <a:p xmlns:a="http://schemas.openxmlformats.org/drawingml/2006/main">
            <a:r>
              <a:t>    "transfers": [</a:t>
            </a:r>
          </a:p>
          <a:p xmlns:a="http://schemas.openxmlformats.org/drawingml/2006/main">
            <a:r>
              <a:t>      "기사 원문",</a:t>
            </a:r>
          </a:p>
          <a:p xmlns:a="http://schemas.openxmlformats.org/drawingml/2006/main">
            <a:r>
              <a:t>      "분석용 문서",</a:t>
            </a:r>
          </a:p>
          <a:p xmlns:a="http://schemas.openxmlformats.org/drawingml/2006/main">
            <a:r>
              <a:t>      "요약·위험 태그",</a:t>
            </a:r>
          </a:p>
          <a:p xmlns:a="http://schemas.openxmlformats.org/drawingml/2006/main">
            <a:r>
              <a:t>      "분석원 수정"</a:t>
            </a:r>
          </a:p>
          <a:p xmlns:a="http://schemas.openxmlformats.org/drawingml/2006/main">
            <a:r>
              <a:t>    ],</a:t>
            </a:r>
          </a:p>
          <a:p xmlns:a="http://schemas.openxmlformats.org/drawingml/2006/main">
            <a:r>
              <a:t>    "control": "원문 사건·시각·위험등급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항공안전 이슈 분석 AI PoC · 공공AI 사례집 100–101쪽 https://bigdata.dongjak.go.kr/board/viewArticle?articleNo=954&amp;boardId=4</a:t>
            </a:r>
          </a:p>
          <a:p xmlns:a="http://schemas.openxmlformats.org/drawingml/2006/main">
            <a:r>
              <a:t>홈페이지 https://heen1987-ops.github.io/TS-business-Plan-001/index.html?view=casebook&amp;case=AX21</a:t>
            </a:r>
          </a:p>
          <a:p xmlns:a="http://schemas.openxmlformats.org/drawingml/2006/main">
            <a:r>
              <a:t>한계: PoC 범위 · 운영 생산성 실측으로 해석 금지</a:t>
            </a:r>
          </a:p>
          <a:p xmlns:a="http://schemas.openxmlformats.org/drawingml/2006/main">
            <a:r>
              <a:t>실패 위험: 다국어 용어·위험 분류 오류 / 기사 요약에서 중요 사건 누락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"AX21",</a:t>
            </a:r>
          </a:p>
          <a:p xmlns:a="http://schemas.openxmlformats.org/drawingml/2006/main">
            <a:r>
              <a:t>    "title": "항공안전 이슈 분석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"안전 문서 분류·분석",</a:t>
            </a:r>
          </a:p>
          <a:p xmlns:a="http://schemas.openxmlformats.org/drawingml/2006/main">
            <a:r>
              <a:t>    "period": "2024 기술 실증",</a:t>
            </a:r>
          </a:p>
          <a:p xmlns:a="http://schemas.openxmlformats.org/drawingml/2006/main">
            <a:r>
              <a:t>    "sources": [</a:t>
            </a:r>
          </a:p>
          <a:p xmlns:a="http://schemas.openxmlformats.org/drawingml/2006/main">
            <a:r>
              <a:t>      "S-AX21"</a:t>
            </a:r>
          </a:p>
          <a:p xmlns:a="http://schemas.openxmlformats.org/drawingml/2006/main">
            <a:r>
              <a:t>    ],</a:t>
            </a:r>
          </a:p>
          <a:p xmlns:a="http://schemas.openxmlformats.org/drawingml/2006/main">
            <a:r>
              <a:t>    "keywords": [</a:t>
            </a:r>
          </a:p>
          <a:p xmlns:a="http://schemas.openxmlformats.org/drawingml/2006/main">
            <a:r>
              <a:t>      "안전 문서 분류",</a:t>
            </a:r>
          </a:p>
          <a:p xmlns:a="http://schemas.openxmlformats.org/drawingml/2006/main">
            <a:r>
              <a:t>      "분석"</a:t>
            </a:r>
          </a:p>
          <a:p xmlns:a="http://schemas.openxmlformats.org/drawingml/2006/main">
            <a:r>
              <a:t>    ],</a:t>
            </a:r>
          </a:p>
          <a:p xmlns:a="http://schemas.openxmlformats.org/drawingml/2006/main">
            <a:r>
              <a:t>    "fact": "항공안전 기사·분류체계 기반 번역·요약·위험 분류와 분석원 검토의 기술 실증",</a:t>
            </a:r>
          </a:p>
          <a:p xmlns:a="http://schemas.openxmlformats.org/drawingml/2006/main">
            <a:r>
              <a:t>    "limit": "PoC 범위 · 운영 생산성 실측으로 해석 금지",</a:t>
            </a:r>
          </a:p>
          <a:p xmlns:a="http://schemas.openxmlformats.org/drawingml/2006/main">
            <a:r>
              <a:t>    "flow": [</a:t>
            </a:r>
          </a:p>
          <a:p xmlns:a="http://schemas.openxmlformats.org/drawingml/2006/main">
            <a:r>
              <a:t>      "항공안전 기사",</a:t>
            </a:r>
          </a:p>
          <a:p xmlns:a="http://schemas.openxmlformats.org/drawingml/2006/main">
            <a:r>
              <a:t>      "전처리·RAG",</a:t>
            </a:r>
          </a:p>
          <a:p xmlns:a="http://schemas.openxmlformats.org/drawingml/2006/main">
            <a:r>
              <a:t>      "요약·위험 분류",</a:t>
            </a:r>
          </a:p>
          <a:p xmlns:a="http://schemas.openxmlformats.org/drawingml/2006/main">
            <a:r>
              <a:t>      "분석원 재검토"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"전문 분류체계와 사람의 재검토 결합",</a:t>
            </a:r>
          </a:p>
          <a:p xmlns:a="http://schemas.openxmlformats.org/drawingml/2006/main">
            <a:r>
              <a:t>    "local": "TS 분야별 사고·위험 용어와 책임 직무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"안전 이슈 분류셋·근거 위치·검토 기록",</a:t>
            </a:r>
          </a:p>
          <a:p xmlns:a="http://schemas.openxmlformats.org/drawingml/2006/main">
            <a:r>
              <a:t>    "test": "위험 유형별 누락·오분류·번역 오류 평가",</a:t>
            </a:r>
          </a:p>
          <a:p xmlns:a="http://schemas.openxmlformats.org/drawingml/2006/main">
            <a:r>
              <a:t>    "metric": "분류 재현율 / 검토 포함 소요시간",</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"AX21",</a:t>
            </a:r>
          </a:p>
          <a:p xmlns:a="http://schemas.openxmlformats.org/drawingml/2006/main">
            <a:r>
              <a:t>    "canonicalId": "AX21",</a:t>
            </a:r>
          </a:p>
          <a:p xmlns:a="http://schemas.openxmlformats.org/drawingml/2006/main">
            <a:r>
              <a:t>    "purpose": "항공안전 이슈의 번역·분류·검토 지원",</a:t>
            </a:r>
          </a:p>
          <a:p xmlns:a="http://schemas.openxmlformats.org/drawingml/2006/main">
            <a:r>
              <a:t>    "users": "항공안전 분석원",</a:t>
            </a:r>
          </a:p>
          <a:p xmlns:a="http://schemas.openxmlformats.org/drawingml/2006/main">
            <a:r>
              <a:t>    "scope": [</a:t>
            </a:r>
          </a:p>
          <a:p xmlns:a="http://schemas.openxmlformats.org/drawingml/2006/main">
            <a:r>
              <a:t>      "기사 수집",</a:t>
            </a:r>
          </a:p>
          <a:p xmlns:a="http://schemas.openxmlformats.org/drawingml/2006/main">
            <a:r>
              <a:t>      "위험 분류",</a:t>
            </a:r>
          </a:p>
          <a:p xmlns:a="http://schemas.openxmlformats.org/drawingml/2006/main">
            <a:r>
              <a:t>      "분석원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"항공안전 기사",</a:t>
            </a:r>
          </a:p>
          <a:p xmlns:a="http://schemas.openxmlformats.org/drawingml/2006/main">
            <a:r>
              <a:t>        "detail": "기사 출처·발생일·대상 항공 업무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"기사 수집 / 위험 분류 / 분석원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"전처리·RAG·분류",</a:t>
            </a:r>
          </a:p>
          <a:p xmlns:a="http://schemas.openxmlformats.org/drawingml/2006/main">
            <a:r>
              <a:t>        "detail": "번역·요약 후 안전 분류체계별 후보 제시",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"항공안전 분석원",</a:t>
            </a:r>
          </a:p>
          <a:p xmlns:a="http://schemas.openxmlformats.org/drawingml/2006/main">
            <a:r>
              <a:t>        "detail": "분류 근거와 원문을 분석원에게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"기사·위험 분류체계",</a:t>
            </a:r>
          </a:p>
          <a:p xmlns:a="http://schemas.openxmlformats.org/drawingml/2006/main">
            <a:r>
              <a:t>        "detail": "원문 기사·번역문·분류체계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"분석원 수정과 분류 누락의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"항공안전 기사",</a:t>
            </a:r>
          </a:p>
          <a:p xmlns:a="http://schemas.openxmlformats.org/drawingml/2006/main">
            <a:r>
              <a:t>        "input": "기사 출처·발생일·대상 항공 업무 식별",</a:t>
            </a:r>
          </a:p>
          <a:p xmlns:a="http://schemas.openxmlformats.org/drawingml/2006/main">
            <a:r>
              <a:t>        "process": "원문 기사·번역문·분류체계 판본 관리",</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"title": "전처리·RAG",</a:t>
            </a:r>
          </a:p>
          <a:p xmlns:a="http://schemas.openxmlformats.org/drawingml/2006/main">
            <a:r>
              <a:t>        "input": "기사 원문",</a:t>
            </a:r>
          </a:p>
          <a:p xmlns:a="http://schemas.openxmlformats.org/drawingml/2006/main">
            <a:r>
              <a:t>        "process": "번역·요약 후 안전 분류체계별 후보 제시",</a:t>
            </a:r>
          </a:p>
          <a:p xmlns:a="http://schemas.openxmlformats.org/drawingml/2006/main">
            <a:r>
              <a:t>        "output": "분석용 문서"</a:t>
            </a:r>
          </a:p>
          <a:p xmlns:a="http://schemas.openxmlformats.org/drawingml/2006/main">
            <a:r>
              <a:t>      },</a:t>
            </a:r>
          </a:p>
          <a:p xmlns:a="http://schemas.openxmlformats.org/drawingml/2006/main">
            <a:r>
              <a:t>      {</a:t>
            </a:r>
          </a:p>
          <a:p xmlns:a="http://schemas.openxmlformats.org/drawingml/2006/main">
            <a:r>
              <a:t>        "title": "요약·위험 분류",</a:t>
            </a:r>
          </a:p>
          <a:p xmlns:a="http://schemas.openxmlformats.org/drawingml/2006/main">
            <a:r>
              <a:t>        "input": "분석용 문서",</a:t>
            </a:r>
          </a:p>
          <a:p xmlns:a="http://schemas.openxmlformats.org/drawingml/2006/main">
            <a:r>
              <a:t>        "process": "원문 사건·시각·위험등급 대조",</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"title": "분석원 재검토",</a:t>
            </a:r>
          </a:p>
          <a:p xmlns:a="http://schemas.openxmlformats.org/drawingml/2006/main">
            <a:r>
              <a:t>        "input": "요약·위험 태그",</a:t>
            </a:r>
          </a:p>
          <a:p xmlns:a="http://schemas.openxmlformats.org/drawingml/2006/main">
            <a:r>
              <a:t>        "process":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"기사의 사건·번역·분류 근거를 분석원이 검토",</a:t>
            </a:r>
          </a:p>
          <a:p xmlns:a="http://schemas.openxmlformats.org/drawingml/2006/main">
            <a:r>
              <a:t>      "exception": "다른 사건의 혼합·번역 부정문 오류·분류 중복",</a:t>
            </a:r>
          </a:p>
          <a:p xmlns:a="http://schemas.openxmlformats.org/drawingml/2006/main">
            <a:r>
              <a:t>      "evidence": "원문 구간과 번역·분류·분석원 수정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"항공안전 분석원",</a:t>
            </a:r>
          </a:p>
          <a:p xmlns:a="http://schemas.openxmlformats.org/drawingml/2006/main">
            <a:r>
              <a:t>          "processing": "기사 출처·발생일·대상 항공 업무 식별",</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"기사·위험 분류체계",</a:t>
            </a:r>
          </a:p>
          <a:p xmlns:a="http://schemas.openxmlformats.org/drawingml/2006/main">
            <a:r>
              <a:t>          "processing": "원문 기사·번역문·분류체계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"기사 원문",</a:t>
            </a:r>
          </a:p>
          <a:p xmlns:a="http://schemas.openxmlformats.org/drawingml/2006/main">
            <a:r>
              <a:t>          "processing": "번역·요약 후 안전 분류체계별 후보 제시",</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"요약·위험 태그",</a:t>
            </a:r>
          </a:p>
          <a:p xmlns:a="http://schemas.openxmlformats.org/drawingml/2006/main">
            <a:r>
              <a:t>          "processing":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"분석원 수정과 분류 누락의 회귀 평가",</a:t>
            </a:r>
          </a:p>
          <a:p xmlns:a="http://schemas.openxmlformats.org/drawingml/2006/main">
            <a:r>
              <a:t>          "output": "원문 구간과 번역·분류·분석원 수정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"분석원 수정과 분류 누락의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"S-AX21",</a:t>
            </a:r>
          </a:p>
          <a:p xmlns:a="http://schemas.openxmlformats.org/drawingml/2006/main">
            <a:r>
              <a:t>        "title": "항공안전 이슈 분석 AI PoC · 공공AI 사례집 100–101쪽",</a:t>
            </a:r>
          </a:p>
          <a:p xmlns:a="http://schemas.openxmlformats.org/drawingml/2006/main">
            <a:r>
              <a:t>        "url": "https://bigdata.dongjak.go.kr/board/viewArticle?articleNo=954&amp;boardId=4",</a:t>
            </a:r>
          </a:p>
          <a:p xmlns:a="http://schemas.openxmlformats.org/drawingml/2006/main">
            <a:r>
              <a:t>        "published": "2024 기술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"전문 분류체계와 사람의 재검토 결합",</a:t>
            </a:r>
          </a:p>
          <a:p xmlns:a="http://schemas.openxmlformats.org/drawingml/2006/main">
            <a:r>
              <a:t>    "local": "TS 분야별 사고·위험 용어와 책임 직무 매핑",</a:t>
            </a:r>
          </a:p>
          <a:p xmlns:a="http://schemas.openxmlformats.org/drawingml/2006/main">
            <a:r>
              <a:t>    "sourceDetail": null,</a:t>
            </a:r>
          </a:p>
          <a:p xmlns:a="http://schemas.openxmlformats.org/drawingml/2006/main">
            <a:r>
              <a:t>    "narrative": [</a:t>
            </a:r>
          </a:p>
          <a:p xmlns:a="http://schemas.openxmlformats.org/drawingml/2006/main">
            <a:r>
              <a:t>      "항공안전 관련 기사에서 사건과 위험 요인을 찾아 분석원의 검토를 돕는 사례. 다국어 자료의 번역·요약과 정해진 안전 분류체계 적용이 결합된 업무.",</a:t>
            </a:r>
          </a:p>
          <a:p xmlns:a="http://schemas.openxmlformats.org/drawingml/2006/main">
            <a:r>
              <a:t>      "기사 출처·발생일·항공업무를 식별한 뒤 번역문과 원문을 연결하고 위험 태그 후보를 제시하는 재구성. 분석원의 수정값과 판정 근거를 보존해 분류 누락·오역을 회귀 평가.",</a:t>
            </a:r>
          </a:p>
          <a:p xmlns:a="http://schemas.openxmlformats.org/drawingml/2006/main">
            <a:r>
              <a:t>      "TS 적용에서는 기사량 처리보다 사건·시각·위험등급의 정확한 추출과 근거 추적을 우선. 원문 대비 중요 사건 누락, 분류체계 개정, 다국어 전문용어 오역을 독립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"기사 수집 접점",</a:t>
            </a:r>
          </a:p>
          <a:p xmlns:a="http://schemas.openxmlformats.org/drawingml/2006/main">
            <a:r>
              <a:t>          "layer": "이용 접점",</a:t>
            </a:r>
          </a:p>
          <a:p xmlns:a="http://schemas.openxmlformats.org/drawingml/2006/main">
            <a:r>
              <a:t>          "detail": "항공안전 분석원",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"출처·발생일",</a:t>
            </a:r>
          </a:p>
          <a:p xmlns:a="http://schemas.openxmlformats.org/drawingml/2006/main">
            <a:r>
              <a:t>          "layer": "업무 문맥",</a:t>
            </a:r>
          </a:p>
          <a:p xmlns:a="http://schemas.openxmlformats.org/drawingml/2006/main">
            <a:r>
              <a:t>          "detail": "기사 출처·발생일·대상 항공 업무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"분류 지식 검색",</a:t>
            </a:r>
          </a:p>
          <a:p xmlns:a="http://schemas.openxmlformats.org/drawingml/2006/main">
            <a:r>
              <a:t>          "layer": "자료 조회",</a:t>
            </a:r>
          </a:p>
          <a:p xmlns:a="http://schemas.openxmlformats.org/drawingml/2006/main">
            <a:r>
              <a:t>          "detail": "기사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"번역·요약·태깅",</a:t>
            </a:r>
          </a:p>
          <a:p xmlns:a="http://schemas.openxmlformats.org/drawingml/2006/main">
            <a:r>
              <a:t>          "layer": "핵심 처리",</a:t>
            </a:r>
          </a:p>
          <a:p xmlns:a="http://schemas.openxmlformats.org/drawingml/2006/main">
            <a:r>
              <a:t>          "detail": "번역·요약 후 안전 분류체계별 후보 제시",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"사건·등급 대조",</a:t>
            </a:r>
          </a:p>
          <a:p xmlns:a="http://schemas.openxmlformats.org/drawingml/2006/main">
            <a:r>
              <a:t>          "layer": "결과 검증",</a:t>
            </a:r>
          </a:p>
          <a:p xmlns:a="http://schemas.openxmlformats.org/drawingml/2006/main">
            <a:r>
              <a:t>          "detail": "원문 사건·시각·위험등급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"분석원 수정",</a:t>
            </a:r>
          </a:p>
          <a:p xmlns:a="http://schemas.openxmlformats.org/drawingml/2006/main">
            <a:r>
              <a:t>          "layer": "사람 확인",</a:t>
            </a:r>
          </a:p>
          <a:p xmlns:a="http://schemas.openxmlformats.org/drawingml/2006/main">
            <a:r>
              <a:t>          "detail": "기사의 사건·번역·분류 근거를 분석원이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"검토 보고서",</a:t>
            </a:r>
          </a:p>
          <a:p xmlns:a="http://schemas.openxmlformats.org/drawingml/2006/main">
            <a:r>
              <a:t>          "layer": "업무 연결",</a:t>
            </a:r>
          </a:p>
          <a:p xmlns:a="http://schemas.openxmlformats.org/drawingml/2006/main">
            <a:r>
              <a:t>          "detail": "분류 근거와 원문을 분석원에게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 회귀평가",</a:t>
            </a:r>
          </a:p>
          <a:p xmlns:a="http://schemas.openxmlformats.org/drawingml/2006/main">
            <a:r>
              <a:t>          "layer": "운영 관측",</a:t>
            </a:r>
          </a:p>
          <a:p xmlns:a="http://schemas.openxmlformats.org/drawingml/2006/main">
            <a:r>
              <a:t>          "detail": "분석원 수정과 분류 누락의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"기사·안전 분류",</a:t>
            </a:r>
          </a:p>
          <a:p xmlns:a="http://schemas.openxmlformats.org/drawingml/2006/main">
            <a:r>
              <a:t>          "layer": "데이터 원천",</a:t>
            </a:r>
          </a:p>
          <a:p xmlns:a="http://schemas.openxmlformats.org/drawingml/2006/main">
            <a:r>
              <a:t>          "detail": "기사·위험 분류체계",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"번역·판본 정리",</a:t>
            </a:r>
          </a:p>
          <a:p xmlns:a="http://schemas.openxmlformats.org/drawingml/2006/main">
            <a:r>
              <a:t>          "layer": "준비·갱신",</a:t>
            </a:r>
          </a:p>
          <a:p xmlns:a="http://schemas.openxmlformats.org/drawingml/2006/main">
            <a:r>
              <a:t>          "detail": "원문 기사·번역문·분류체계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"기사·분류 이력",</a:t>
            </a:r>
          </a:p>
          <a:p xmlns:a="http://schemas.openxmlformats.org/drawingml/2006/main">
            <a:r>
              <a:t>          "layer": "상태·지식 저장",</a:t>
            </a:r>
          </a:p>
          <a:p xmlns:a="http://schemas.openxmlformats.org/drawingml/2006/main">
            <a:r>
              <a:t>          "detail": "원문 구간과 번역·분류·분석원 수정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"분류·검토 책임",</a:t>
            </a:r>
          </a:p>
          <a:p xmlns:a="http://schemas.openxmlformats.org/drawingml/2006/main">
            <a:r>
              <a:t>          "layer": "권한·정책",</a:t>
            </a:r>
          </a:p>
          <a:p xmlns:a="http://schemas.openxmlformats.org/drawingml/2006/main">
            <a:r>
              <a:t>          "detail": "다른 사건의 혼합·번역 부정문 오류·분류 중복",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"항공안전 기사 → 전처리·RAG → 요약·위험 분류 → 분석원 재검토"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"기사·위험 분류체계",</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"분석용 문서",</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"분석원 수정",</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"항공안전 이슈의 번역·분류·검토 지원 / 기사 수집·위험 분류·분석원 검토",</a:t>
            </a:r>
          </a:p>
          <a:p xmlns:a="http://schemas.openxmlformats.org/drawingml/2006/main">
            <a:r>
              <a:t>        "extension": "TS 분야별 사고·위험 용어와 책임 직무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사건의 혼합·번역 부정문 오류·분류 중복",</a:t>
            </a:r>
          </a:p>
          <a:p xmlns:a="http://schemas.openxmlformats.org/drawingml/2006/main">
            <a:r>
              <a:t>        "hold": "원문 사건·시각·위험등급 대조",</a:t>
            </a:r>
          </a:p>
          <a:p xmlns:a="http://schemas.openxmlformats.org/drawingml/2006/main">
            <a:r>
              <a:t>        "recovery": "분석원 수정과 분류 누락의 회귀 평가",</a:t>
            </a:r>
          </a:p>
          <a:p xmlns:a="http://schemas.openxmlformats.org/drawingml/2006/main">
            <a:r>
              <a:t>        "evidence": "원문 구간과 번역·분류·분석원 수정 연결표"</a:t>
            </a:r>
          </a:p>
          <a:p xmlns:a="http://schemas.openxmlformats.org/drawingml/2006/main">
            <a:r>
              <a:t>      },</a:t>
            </a:r>
          </a:p>
          <a:p xmlns:a="http://schemas.openxmlformats.org/drawingml/2006/main">
            <a:r>
              <a:t>      "data": {</a:t>
            </a:r>
          </a:p>
          <a:p xmlns:a="http://schemas.openxmlformats.org/drawingml/2006/main">
            <a:r>
              <a:t>        "source": "기사·위험 분류체계",</a:t>
            </a:r>
          </a:p>
          <a:p xmlns:a="http://schemas.openxmlformats.org/drawingml/2006/main">
            <a:r>
              <a:t>        "prepare": "원문 기사·번역문·분류체계 판본 관리",</a:t>
            </a:r>
          </a:p>
          <a:p xmlns:a="http://schemas.openxmlformats.org/drawingml/2006/main">
            <a:r>
              <a:t>        "output": "기사 원문",</a:t>
            </a:r>
          </a:p>
          <a:p xmlns:a="http://schemas.openxmlformats.org/drawingml/2006/main">
            <a:r>
              <a:t>        "refresh": "분석원 수정과 분류 누락의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"AX21",</a:t>
            </a:r>
          </a:p>
          <a:p xmlns:a="http://schemas.openxmlformats.org/drawingml/2006/main">
            <a:r>
              <a:t>    "success": [</a:t>
            </a:r>
          </a:p>
          <a:p xmlns:a="http://schemas.openxmlformats.org/drawingml/2006/main">
            <a:r>
              <a:t>      "분류체계에 맞춘 번역·요약",</a:t>
            </a:r>
          </a:p>
          <a:p xmlns:a="http://schemas.openxmlformats.org/drawingml/2006/main">
            <a:r>
              <a:t>      "안전 분석원의 재검토"</a:t>
            </a:r>
          </a:p>
          <a:p xmlns:a="http://schemas.openxmlformats.org/drawingml/2006/main">
            <a:r>
              <a:t>    ],</a:t>
            </a:r>
          </a:p>
          <a:p xmlns:a="http://schemas.openxmlformats.org/drawingml/2006/main">
            <a:r>
              <a:t>    "risks": [</a:t>
            </a:r>
          </a:p>
          <a:p xmlns:a="http://schemas.openxmlformats.org/drawingml/2006/main">
            <a:r>
              <a:t>      "다국어 용어·위험 분류 오류",</a:t>
            </a:r>
          </a:p>
          <a:p xmlns:a="http://schemas.openxmlformats.org/drawingml/2006/main">
            <a:r>
              <a:t>      "기사 요약에서 중요 사건 누락"</a:t>
            </a:r>
          </a:p>
          <a:p xmlns:a="http://schemas.openxmlformats.org/drawingml/2006/main">
            <a:r>
              <a:t>    ],</a:t>
            </a:r>
          </a:p>
          <a:p xmlns:a="http://schemas.openxmlformats.org/drawingml/2006/main">
            <a:r>
              <a:t>    "architecture": [</a:t>
            </a:r>
          </a:p>
          <a:p xmlns:a="http://schemas.openxmlformats.org/drawingml/2006/main">
            <a:r>
              <a:t>      "항공안전 기사",</a:t>
            </a:r>
          </a:p>
          <a:p xmlns:a="http://schemas.openxmlformats.org/drawingml/2006/main">
            <a:r>
              <a:t>      "전처리·RAG·분류",</a:t>
            </a:r>
          </a:p>
          <a:p xmlns:a="http://schemas.openxmlformats.org/drawingml/2006/main">
            <a:r>
              <a:t>      "기사·위험 분류체계",</a:t>
            </a:r>
          </a:p>
          <a:p xmlns:a="http://schemas.openxmlformats.org/drawingml/2006/main">
            <a:r>
              <a:t>      "항공안전 분석원"</a:t>
            </a:r>
          </a:p>
          <a:p xmlns:a="http://schemas.openxmlformats.org/drawingml/2006/main">
            <a:r>
              <a:t>    ],</a:t>
            </a:r>
          </a:p>
          <a:p xmlns:a="http://schemas.openxmlformats.org/drawingml/2006/main">
            <a:r>
              <a:t>    "transfers": [</a:t>
            </a:r>
          </a:p>
          <a:p xmlns:a="http://schemas.openxmlformats.org/drawingml/2006/main">
            <a:r>
              <a:t>      "기사 원문",</a:t>
            </a:r>
          </a:p>
          <a:p xmlns:a="http://schemas.openxmlformats.org/drawingml/2006/main">
            <a:r>
              <a:t>      "분석용 문서",</a:t>
            </a:r>
          </a:p>
          <a:p xmlns:a="http://schemas.openxmlformats.org/drawingml/2006/main">
            <a:r>
              <a:t>      "요약·위험 태그",</a:t>
            </a:r>
          </a:p>
          <a:p xmlns:a="http://schemas.openxmlformats.org/drawingml/2006/main">
            <a:r>
              <a:t>      "분석원 수정"</a:t>
            </a:r>
          </a:p>
          <a:p xmlns:a="http://schemas.openxmlformats.org/drawingml/2006/main">
            <a:r>
              <a:t>    ],</a:t>
            </a:r>
          </a:p>
          <a:p xmlns:a="http://schemas.openxmlformats.org/drawingml/2006/main">
            <a:r>
              <a:t>    "control": "원문 사건·시각·위험등급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항공안전 이슈 분석 AI PoC · 공공AI 사례집 100–101쪽 https://bigdata.dongjak.go.kr/board/viewArticle?articleNo=954&amp;boardId=4</a:t>
            </a:r>
          </a:p>
          <a:p xmlns:a="http://schemas.openxmlformats.org/drawingml/2006/main">
            <a:r>
              <a:t>홈페이지 https://heen1987-ops.github.io/TS-business-Plan-001/index.html?view=casebook&amp;case=AX21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"AX21",</a:t>
            </a:r>
          </a:p>
          <a:p xmlns:a="http://schemas.openxmlformats.org/drawingml/2006/main">
            <a:r>
              <a:t>    "title": "항공안전 이슈 분석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"안전 문서 분류·분석",</a:t>
            </a:r>
          </a:p>
          <a:p xmlns:a="http://schemas.openxmlformats.org/drawingml/2006/main">
            <a:r>
              <a:t>    "period": "2024 기술 실증",</a:t>
            </a:r>
          </a:p>
          <a:p xmlns:a="http://schemas.openxmlformats.org/drawingml/2006/main">
            <a:r>
              <a:t>    "sources": [</a:t>
            </a:r>
          </a:p>
          <a:p xmlns:a="http://schemas.openxmlformats.org/drawingml/2006/main">
            <a:r>
              <a:t>      "S-AX21"</a:t>
            </a:r>
          </a:p>
          <a:p xmlns:a="http://schemas.openxmlformats.org/drawingml/2006/main">
            <a:r>
              <a:t>    ],</a:t>
            </a:r>
          </a:p>
          <a:p xmlns:a="http://schemas.openxmlformats.org/drawingml/2006/main">
            <a:r>
              <a:t>    "keywords": [</a:t>
            </a:r>
          </a:p>
          <a:p xmlns:a="http://schemas.openxmlformats.org/drawingml/2006/main">
            <a:r>
              <a:t>      "안전 문서 분류",</a:t>
            </a:r>
          </a:p>
          <a:p xmlns:a="http://schemas.openxmlformats.org/drawingml/2006/main">
            <a:r>
              <a:t>      "분석"</a:t>
            </a:r>
          </a:p>
          <a:p xmlns:a="http://schemas.openxmlformats.org/drawingml/2006/main">
            <a:r>
              <a:t>    ],</a:t>
            </a:r>
          </a:p>
          <a:p xmlns:a="http://schemas.openxmlformats.org/drawingml/2006/main">
            <a:r>
              <a:t>    "fact": "항공안전 기사·분류체계 기반 번역·요약·위험 분류와 분석원 검토의 기술 실증",</a:t>
            </a:r>
          </a:p>
          <a:p xmlns:a="http://schemas.openxmlformats.org/drawingml/2006/main">
            <a:r>
              <a:t>    "limit": "PoC 범위 · 운영 생산성 실측으로 해석 금지",</a:t>
            </a:r>
          </a:p>
          <a:p xmlns:a="http://schemas.openxmlformats.org/drawingml/2006/main">
            <a:r>
              <a:t>    "flow": [</a:t>
            </a:r>
          </a:p>
          <a:p xmlns:a="http://schemas.openxmlformats.org/drawingml/2006/main">
            <a:r>
              <a:t>      "항공안전 기사",</a:t>
            </a:r>
          </a:p>
          <a:p xmlns:a="http://schemas.openxmlformats.org/drawingml/2006/main">
            <a:r>
              <a:t>      "전처리·RAG",</a:t>
            </a:r>
          </a:p>
          <a:p xmlns:a="http://schemas.openxmlformats.org/drawingml/2006/main">
            <a:r>
              <a:t>      "요약·위험 분류",</a:t>
            </a:r>
          </a:p>
          <a:p xmlns:a="http://schemas.openxmlformats.org/drawingml/2006/main">
            <a:r>
              <a:t>      "분석원 재검토"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"전문 분류체계와 사람의 재검토 결합",</a:t>
            </a:r>
          </a:p>
          <a:p xmlns:a="http://schemas.openxmlformats.org/drawingml/2006/main">
            <a:r>
              <a:t>    "local": "TS 분야별 사고·위험 용어와 책임 직무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"안전 이슈 분류셋·근거 위치·검토 기록",</a:t>
            </a:r>
          </a:p>
          <a:p xmlns:a="http://schemas.openxmlformats.org/drawingml/2006/main">
            <a:r>
              <a:t>    "test": "위험 유형별 누락·오분류·번역 오류 평가",</a:t>
            </a:r>
          </a:p>
          <a:p xmlns:a="http://schemas.openxmlformats.org/drawingml/2006/main">
            <a:r>
              <a:t>    "metric": "분류 재현율 / 검토 포함 소요시간",</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"AX21",</a:t>
            </a:r>
          </a:p>
          <a:p xmlns:a="http://schemas.openxmlformats.org/drawingml/2006/main">
            <a:r>
              <a:t>    "canonicalId": "AX21",</a:t>
            </a:r>
          </a:p>
          <a:p xmlns:a="http://schemas.openxmlformats.org/drawingml/2006/main">
            <a:r>
              <a:t>    "purpose": "항공안전 이슈의 번역·분류·검토 지원",</a:t>
            </a:r>
          </a:p>
          <a:p xmlns:a="http://schemas.openxmlformats.org/drawingml/2006/main">
            <a:r>
              <a:t>    "users": "항공안전 분석원",</a:t>
            </a:r>
          </a:p>
          <a:p xmlns:a="http://schemas.openxmlformats.org/drawingml/2006/main">
            <a:r>
              <a:t>    "scope": [</a:t>
            </a:r>
          </a:p>
          <a:p xmlns:a="http://schemas.openxmlformats.org/drawingml/2006/main">
            <a:r>
              <a:t>      "기사 수집",</a:t>
            </a:r>
          </a:p>
          <a:p xmlns:a="http://schemas.openxmlformats.org/drawingml/2006/main">
            <a:r>
              <a:t>      "위험 분류",</a:t>
            </a:r>
          </a:p>
          <a:p xmlns:a="http://schemas.openxmlformats.org/drawingml/2006/main">
            <a:r>
              <a:t>      "분석원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"항공안전 기사",</a:t>
            </a:r>
          </a:p>
          <a:p xmlns:a="http://schemas.openxmlformats.org/drawingml/2006/main">
            <a:r>
              <a:t>        "detail": "기사 출처·발생일·대상 항공 업무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"기사 수집 / 위험 분류 / 분석원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"전처리·RAG·분류",</a:t>
            </a:r>
          </a:p>
          <a:p xmlns:a="http://schemas.openxmlformats.org/drawingml/2006/main">
            <a:r>
              <a:t>        "detail": "번역·요약 후 안전 분류체계별 후보 제시",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"항공안전 분석원",</a:t>
            </a:r>
          </a:p>
          <a:p xmlns:a="http://schemas.openxmlformats.org/drawingml/2006/main">
            <a:r>
              <a:t>        "detail": "분류 근거와 원문을 분석원에게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"기사·위험 분류체계",</a:t>
            </a:r>
          </a:p>
          <a:p xmlns:a="http://schemas.openxmlformats.org/drawingml/2006/main">
            <a:r>
              <a:t>        "detail": "원문 기사·번역문·분류체계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"분석원 수정과 분류 누락의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"항공안전 기사",</a:t>
            </a:r>
          </a:p>
          <a:p xmlns:a="http://schemas.openxmlformats.org/drawingml/2006/main">
            <a:r>
              <a:t>        "input": "기사 출처·발생일·대상 항공 업무 식별",</a:t>
            </a:r>
          </a:p>
          <a:p xmlns:a="http://schemas.openxmlformats.org/drawingml/2006/main">
            <a:r>
              <a:t>        "process": "원문 기사·번역문·분류체계 판본 관리",</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"title": "전처리·RAG",</a:t>
            </a:r>
          </a:p>
          <a:p xmlns:a="http://schemas.openxmlformats.org/drawingml/2006/main">
            <a:r>
              <a:t>        "input": "기사 원문",</a:t>
            </a:r>
          </a:p>
          <a:p xmlns:a="http://schemas.openxmlformats.org/drawingml/2006/main">
            <a:r>
              <a:t>        "process": "번역·요약 후 안전 분류체계별 후보 제시",</a:t>
            </a:r>
          </a:p>
          <a:p xmlns:a="http://schemas.openxmlformats.org/drawingml/2006/main">
            <a:r>
              <a:t>        "output": "분석용 문서"</a:t>
            </a:r>
          </a:p>
          <a:p xmlns:a="http://schemas.openxmlformats.org/drawingml/2006/main">
            <a:r>
              <a:t>      },</a:t>
            </a:r>
          </a:p>
          <a:p xmlns:a="http://schemas.openxmlformats.org/drawingml/2006/main">
            <a:r>
              <a:t>      {</a:t>
            </a:r>
          </a:p>
          <a:p xmlns:a="http://schemas.openxmlformats.org/drawingml/2006/main">
            <a:r>
              <a:t>        "title": "요약·위험 분류",</a:t>
            </a:r>
          </a:p>
          <a:p xmlns:a="http://schemas.openxmlformats.org/drawingml/2006/main">
            <a:r>
              <a:t>        "input": "분석용 문서",</a:t>
            </a:r>
          </a:p>
          <a:p xmlns:a="http://schemas.openxmlformats.org/drawingml/2006/main">
            <a:r>
              <a:t>        "process": "원문 사건·시각·위험등급 대조",</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"title": "분석원 재검토",</a:t>
            </a:r>
          </a:p>
          <a:p xmlns:a="http://schemas.openxmlformats.org/drawingml/2006/main">
            <a:r>
              <a:t>        "input": "요약·위험 태그",</a:t>
            </a:r>
          </a:p>
          <a:p xmlns:a="http://schemas.openxmlformats.org/drawingml/2006/main">
            <a:r>
              <a:t>        "process":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"기사의 사건·번역·분류 근거를 분석원이 검토",</a:t>
            </a:r>
          </a:p>
          <a:p xmlns:a="http://schemas.openxmlformats.org/drawingml/2006/main">
            <a:r>
              <a:t>      "exception": "다른 사건의 혼합·번역 부정문 오류·분류 중복",</a:t>
            </a:r>
          </a:p>
          <a:p xmlns:a="http://schemas.openxmlformats.org/drawingml/2006/main">
            <a:r>
              <a:t>      "evidence": "원문 구간과 번역·분류·분석원 수정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"항공안전 분석원",</a:t>
            </a:r>
          </a:p>
          <a:p xmlns:a="http://schemas.openxmlformats.org/drawingml/2006/main">
            <a:r>
              <a:t>          "processing": "기사 출처·발생일·대상 항공 업무 식별",</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"기사·위험 분류체계",</a:t>
            </a:r>
          </a:p>
          <a:p xmlns:a="http://schemas.openxmlformats.org/drawingml/2006/main">
            <a:r>
              <a:t>          "processing": "원문 기사·번역문·분류체계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"기사 원문",</a:t>
            </a:r>
          </a:p>
          <a:p xmlns:a="http://schemas.openxmlformats.org/drawingml/2006/main">
            <a:r>
              <a:t>          "processing": "번역·요약 후 안전 분류체계별 후보 제시",</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"요약·위험 태그",</a:t>
            </a:r>
          </a:p>
          <a:p xmlns:a="http://schemas.openxmlformats.org/drawingml/2006/main">
            <a:r>
              <a:t>          "processing":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"분석원 수정과 분류 누락의 회귀 평가",</a:t>
            </a:r>
          </a:p>
          <a:p xmlns:a="http://schemas.openxmlformats.org/drawingml/2006/main">
            <a:r>
              <a:t>          "output": "원문 구간과 번역·분류·분석원 수정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"분석원 수정과 분류 누락의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"S-AX21",</a:t>
            </a:r>
          </a:p>
          <a:p xmlns:a="http://schemas.openxmlformats.org/drawingml/2006/main">
            <a:r>
              <a:t>        "title": "항공안전 이슈 분석 AI PoC · 공공AI 사례집 100–101쪽",</a:t>
            </a:r>
          </a:p>
          <a:p xmlns:a="http://schemas.openxmlformats.org/drawingml/2006/main">
            <a:r>
              <a:t>        "url": "https://bigdata.dongjak.go.kr/board/viewArticle?articleNo=954&amp;boardId=4",</a:t>
            </a:r>
          </a:p>
          <a:p xmlns:a="http://schemas.openxmlformats.org/drawingml/2006/main">
            <a:r>
              <a:t>        "published": "2024 기술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"전문 분류체계와 사람의 재검토 결합",</a:t>
            </a:r>
          </a:p>
          <a:p xmlns:a="http://schemas.openxmlformats.org/drawingml/2006/main">
            <a:r>
              <a:t>    "local": "TS 분야별 사고·위험 용어와 책임 직무 매핑",</a:t>
            </a:r>
          </a:p>
          <a:p xmlns:a="http://schemas.openxmlformats.org/drawingml/2006/main">
            <a:r>
              <a:t>    "sourceDetail": null,</a:t>
            </a:r>
          </a:p>
          <a:p xmlns:a="http://schemas.openxmlformats.org/drawingml/2006/main">
            <a:r>
              <a:t>    "narrative": [</a:t>
            </a:r>
          </a:p>
          <a:p xmlns:a="http://schemas.openxmlformats.org/drawingml/2006/main">
            <a:r>
              <a:t>      "항공안전 관련 기사에서 사건과 위험 요인을 찾아 분석원의 검토를 돕는 사례. 다국어 자료의 번역·요약과 정해진 안전 분류체계 적용이 결합된 업무.",</a:t>
            </a:r>
          </a:p>
          <a:p xmlns:a="http://schemas.openxmlformats.org/drawingml/2006/main">
            <a:r>
              <a:t>      "기사 출처·발생일·항공업무를 식별한 뒤 번역문과 원문을 연결하고 위험 태그 후보를 제시하는 재구성. 분석원의 수정값과 판정 근거를 보존해 분류 누락·오역을 회귀 평가.",</a:t>
            </a:r>
          </a:p>
          <a:p xmlns:a="http://schemas.openxmlformats.org/drawingml/2006/main">
            <a:r>
              <a:t>      "TS 적용에서는 기사량 처리보다 사건·시각·위험등급의 정확한 추출과 근거 추적을 우선. 원문 대비 중요 사건 누락, 분류체계 개정, 다국어 전문용어 오역을 독립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"기사 수집 접점",</a:t>
            </a:r>
          </a:p>
          <a:p xmlns:a="http://schemas.openxmlformats.org/drawingml/2006/main">
            <a:r>
              <a:t>          "layer": "이용 접점",</a:t>
            </a:r>
          </a:p>
          <a:p xmlns:a="http://schemas.openxmlformats.org/drawingml/2006/main">
            <a:r>
              <a:t>          "detail": "항공안전 분석원",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"출처·발생일",</a:t>
            </a:r>
          </a:p>
          <a:p xmlns:a="http://schemas.openxmlformats.org/drawingml/2006/main">
            <a:r>
              <a:t>          "layer": "업무 문맥",</a:t>
            </a:r>
          </a:p>
          <a:p xmlns:a="http://schemas.openxmlformats.org/drawingml/2006/main">
            <a:r>
              <a:t>          "detail": "기사 출처·발생일·대상 항공 업무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"분류 지식 검색",</a:t>
            </a:r>
          </a:p>
          <a:p xmlns:a="http://schemas.openxmlformats.org/drawingml/2006/main">
            <a:r>
              <a:t>          "layer": "자료 조회",</a:t>
            </a:r>
          </a:p>
          <a:p xmlns:a="http://schemas.openxmlformats.org/drawingml/2006/main">
            <a:r>
              <a:t>          "detail": "기사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"번역·요약·태깅",</a:t>
            </a:r>
          </a:p>
          <a:p xmlns:a="http://schemas.openxmlformats.org/drawingml/2006/main">
            <a:r>
              <a:t>          "layer": "핵심 처리",</a:t>
            </a:r>
          </a:p>
          <a:p xmlns:a="http://schemas.openxmlformats.org/drawingml/2006/main">
            <a:r>
              <a:t>          "detail": "번역·요약 후 안전 분류체계별 후보 제시",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"사건·등급 대조",</a:t>
            </a:r>
          </a:p>
          <a:p xmlns:a="http://schemas.openxmlformats.org/drawingml/2006/main">
            <a:r>
              <a:t>          "layer": "결과 검증",</a:t>
            </a:r>
          </a:p>
          <a:p xmlns:a="http://schemas.openxmlformats.org/drawingml/2006/main">
            <a:r>
              <a:t>          "detail": "원문 사건·시각·위험등급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"분석원 수정",</a:t>
            </a:r>
          </a:p>
          <a:p xmlns:a="http://schemas.openxmlformats.org/drawingml/2006/main">
            <a:r>
              <a:t>          "layer": "사람 확인",</a:t>
            </a:r>
          </a:p>
          <a:p xmlns:a="http://schemas.openxmlformats.org/drawingml/2006/main">
            <a:r>
              <a:t>          "detail": "기사의 사건·번역·분류 근거를 분석원이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"검토 보고서",</a:t>
            </a:r>
          </a:p>
          <a:p xmlns:a="http://schemas.openxmlformats.org/drawingml/2006/main">
            <a:r>
              <a:t>          "layer": "업무 연결",</a:t>
            </a:r>
          </a:p>
          <a:p xmlns:a="http://schemas.openxmlformats.org/drawingml/2006/main">
            <a:r>
              <a:t>          "detail": "분류 근거와 원문을 분석원에게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 회귀평가",</a:t>
            </a:r>
          </a:p>
          <a:p xmlns:a="http://schemas.openxmlformats.org/drawingml/2006/main">
            <a:r>
              <a:t>          "layer": "운영 관측",</a:t>
            </a:r>
          </a:p>
          <a:p xmlns:a="http://schemas.openxmlformats.org/drawingml/2006/main">
            <a:r>
              <a:t>          "detail": "분석원 수정과 분류 누락의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"기사·안전 분류",</a:t>
            </a:r>
          </a:p>
          <a:p xmlns:a="http://schemas.openxmlformats.org/drawingml/2006/main">
            <a:r>
              <a:t>          "layer": "데이터 원천",</a:t>
            </a:r>
          </a:p>
          <a:p xmlns:a="http://schemas.openxmlformats.org/drawingml/2006/main">
            <a:r>
              <a:t>          "detail": "기사·위험 분류체계",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"번역·판본 정리",</a:t>
            </a:r>
          </a:p>
          <a:p xmlns:a="http://schemas.openxmlformats.org/drawingml/2006/main">
            <a:r>
              <a:t>          "layer": "준비·갱신",</a:t>
            </a:r>
          </a:p>
          <a:p xmlns:a="http://schemas.openxmlformats.org/drawingml/2006/main">
            <a:r>
              <a:t>          "detail": "원문 기사·번역문·분류체계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"기사·분류 이력",</a:t>
            </a:r>
          </a:p>
          <a:p xmlns:a="http://schemas.openxmlformats.org/drawingml/2006/main">
            <a:r>
              <a:t>          "layer": "상태·지식 저장",</a:t>
            </a:r>
          </a:p>
          <a:p xmlns:a="http://schemas.openxmlformats.org/drawingml/2006/main">
            <a:r>
              <a:t>          "detail": "원문 구간과 번역·분류·분석원 수정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"분류·검토 책임",</a:t>
            </a:r>
          </a:p>
          <a:p xmlns:a="http://schemas.openxmlformats.org/drawingml/2006/main">
            <a:r>
              <a:t>          "layer": "권한·정책",</a:t>
            </a:r>
          </a:p>
          <a:p xmlns:a="http://schemas.openxmlformats.org/drawingml/2006/main">
            <a:r>
              <a:t>          "detail": "다른 사건의 혼합·번역 부정문 오류·분류 중복",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"항공안전 기사 → 전처리·RAG → 요약·위험 분류 → 분석원 재검토"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"기사·위험 분류체계",</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"분석용 문서",</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"분석원 수정",</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"항공안전 이슈의 번역·분류·검토 지원 / 기사 수집·위험 분류·분석원 검토",</a:t>
            </a:r>
          </a:p>
          <a:p xmlns:a="http://schemas.openxmlformats.org/drawingml/2006/main">
            <a:r>
              <a:t>        "extension": "TS 분야별 사고·위험 용어와 책임 직무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사건의 혼합·번역 부정문 오류·분류 중복",</a:t>
            </a:r>
          </a:p>
          <a:p xmlns:a="http://schemas.openxmlformats.org/drawingml/2006/main">
            <a:r>
              <a:t>        "hold": "원문 사건·시각·위험등급 대조",</a:t>
            </a:r>
          </a:p>
          <a:p xmlns:a="http://schemas.openxmlformats.org/drawingml/2006/main">
            <a:r>
              <a:t>        "recovery": "분석원 수정과 분류 누락의 회귀 평가",</a:t>
            </a:r>
          </a:p>
          <a:p xmlns:a="http://schemas.openxmlformats.org/drawingml/2006/main">
            <a:r>
              <a:t>        "evidence": "원문 구간과 번역·분류·분석원 수정 연결표"</a:t>
            </a:r>
          </a:p>
          <a:p xmlns:a="http://schemas.openxmlformats.org/drawingml/2006/main">
            <a:r>
              <a:t>      },</a:t>
            </a:r>
          </a:p>
          <a:p xmlns:a="http://schemas.openxmlformats.org/drawingml/2006/main">
            <a:r>
              <a:t>      "data": {</a:t>
            </a:r>
          </a:p>
          <a:p xmlns:a="http://schemas.openxmlformats.org/drawingml/2006/main">
            <a:r>
              <a:t>        "source": "기사·위험 분류체계",</a:t>
            </a:r>
          </a:p>
          <a:p xmlns:a="http://schemas.openxmlformats.org/drawingml/2006/main">
            <a:r>
              <a:t>        "prepare": "원문 기사·번역문·분류체계 판본 관리",</a:t>
            </a:r>
          </a:p>
          <a:p xmlns:a="http://schemas.openxmlformats.org/drawingml/2006/main">
            <a:r>
              <a:t>        "output": "기사 원문",</a:t>
            </a:r>
          </a:p>
          <a:p xmlns:a="http://schemas.openxmlformats.org/drawingml/2006/main">
            <a:r>
              <a:t>        "refresh": "분석원 수정과 분류 누락의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"AX21",</a:t>
            </a:r>
          </a:p>
          <a:p xmlns:a="http://schemas.openxmlformats.org/drawingml/2006/main">
            <a:r>
              <a:t>    "success": [</a:t>
            </a:r>
          </a:p>
          <a:p xmlns:a="http://schemas.openxmlformats.org/drawingml/2006/main">
            <a:r>
              <a:t>      "분류체계에 맞춘 번역·요약",</a:t>
            </a:r>
          </a:p>
          <a:p xmlns:a="http://schemas.openxmlformats.org/drawingml/2006/main">
            <a:r>
              <a:t>      "안전 분석원의 재검토"</a:t>
            </a:r>
          </a:p>
          <a:p xmlns:a="http://schemas.openxmlformats.org/drawingml/2006/main">
            <a:r>
              <a:t>    ],</a:t>
            </a:r>
          </a:p>
          <a:p xmlns:a="http://schemas.openxmlformats.org/drawingml/2006/main">
            <a:r>
              <a:t>    "risks": [</a:t>
            </a:r>
          </a:p>
          <a:p xmlns:a="http://schemas.openxmlformats.org/drawingml/2006/main">
            <a:r>
              <a:t>      "다국어 용어·위험 분류 오류",</a:t>
            </a:r>
          </a:p>
          <a:p xmlns:a="http://schemas.openxmlformats.org/drawingml/2006/main">
            <a:r>
              <a:t>      "기사 요약에서 중요 사건 누락"</a:t>
            </a:r>
          </a:p>
          <a:p xmlns:a="http://schemas.openxmlformats.org/drawingml/2006/main">
            <a:r>
              <a:t>    ],</a:t>
            </a:r>
          </a:p>
          <a:p xmlns:a="http://schemas.openxmlformats.org/drawingml/2006/main">
            <a:r>
              <a:t>    "architecture": [</a:t>
            </a:r>
          </a:p>
          <a:p xmlns:a="http://schemas.openxmlformats.org/drawingml/2006/main">
            <a:r>
              <a:t>      "항공안전 기사",</a:t>
            </a:r>
          </a:p>
          <a:p xmlns:a="http://schemas.openxmlformats.org/drawingml/2006/main">
            <a:r>
              <a:t>      "전처리·RAG·분류",</a:t>
            </a:r>
          </a:p>
          <a:p xmlns:a="http://schemas.openxmlformats.org/drawingml/2006/main">
            <a:r>
              <a:t>      "기사·위험 분류체계",</a:t>
            </a:r>
          </a:p>
          <a:p xmlns:a="http://schemas.openxmlformats.org/drawingml/2006/main">
            <a:r>
              <a:t>      "항공안전 분석원"</a:t>
            </a:r>
          </a:p>
          <a:p xmlns:a="http://schemas.openxmlformats.org/drawingml/2006/main">
            <a:r>
              <a:t>    ],</a:t>
            </a:r>
          </a:p>
          <a:p xmlns:a="http://schemas.openxmlformats.org/drawingml/2006/main">
            <a:r>
              <a:t>    "transfers": [</a:t>
            </a:r>
          </a:p>
          <a:p xmlns:a="http://schemas.openxmlformats.org/drawingml/2006/main">
            <a:r>
              <a:t>      "기사 원문",</a:t>
            </a:r>
          </a:p>
          <a:p xmlns:a="http://schemas.openxmlformats.org/drawingml/2006/main">
            <a:r>
              <a:t>      "분석용 문서",</a:t>
            </a:r>
          </a:p>
          <a:p xmlns:a="http://schemas.openxmlformats.org/drawingml/2006/main">
            <a:r>
              <a:t>      "요약·위험 태그",</a:t>
            </a:r>
          </a:p>
          <a:p xmlns:a="http://schemas.openxmlformats.org/drawingml/2006/main">
            <a:r>
              <a:t>      "분석원 수정"</a:t>
            </a:r>
          </a:p>
          <a:p xmlns:a="http://schemas.openxmlformats.org/drawingml/2006/main">
            <a:r>
              <a:t>    ],</a:t>
            </a:r>
          </a:p>
          <a:p xmlns:a="http://schemas.openxmlformats.org/drawingml/2006/main">
            <a:r>
              <a:t>    "control": "원문 사건·시각·위험등급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항공안전 이슈 분석 AI PoC · 공공AI 사례집 100–101쪽 https://bigdata.dongjak.go.kr/board/viewArticle?articleNo=954&amp;boardId=4</a:t>
            </a:r>
          </a:p>
          <a:p xmlns:a="http://schemas.openxmlformats.org/drawingml/2006/main">
            <a:r>
              <a:t>홈페이지 https://heen1987-ops.github.io/TS-business-Plan-001/index.html?view=casebook&amp;case=AX21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"AX21",</a:t>
            </a:r>
          </a:p>
          <a:p xmlns:a="http://schemas.openxmlformats.org/drawingml/2006/main">
            <a:r>
              <a:t>    "title": "항공안전 이슈 분석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"안전 문서 분류·분석",</a:t>
            </a:r>
          </a:p>
          <a:p xmlns:a="http://schemas.openxmlformats.org/drawingml/2006/main">
            <a:r>
              <a:t>    "period": "2024 기술 실증",</a:t>
            </a:r>
          </a:p>
          <a:p xmlns:a="http://schemas.openxmlformats.org/drawingml/2006/main">
            <a:r>
              <a:t>    "sources": [</a:t>
            </a:r>
          </a:p>
          <a:p xmlns:a="http://schemas.openxmlformats.org/drawingml/2006/main">
            <a:r>
              <a:t>      "S-AX21"</a:t>
            </a:r>
          </a:p>
          <a:p xmlns:a="http://schemas.openxmlformats.org/drawingml/2006/main">
            <a:r>
              <a:t>    ],</a:t>
            </a:r>
          </a:p>
          <a:p xmlns:a="http://schemas.openxmlformats.org/drawingml/2006/main">
            <a:r>
              <a:t>    "keywords": [</a:t>
            </a:r>
          </a:p>
          <a:p xmlns:a="http://schemas.openxmlformats.org/drawingml/2006/main">
            <a:r>
              <a:t>      "안전 문서 분류",</a:t>
            </a:r>
          </a:p>
          <a:p xmlns:a="http://schemas.openxmlformats.org/drawingml/2006/main">
            <a:r>
              <a:t>      "분석"</a:t>
            </a:r>
          </a:p>
          <a:p xmlns:a="http://schemas.openxmlformats.org/drawingml/2006/main">
            <a:r>
              <a:t>    ],</a:t>
            </a:r>
          </a:p>
          <a:p xmlns:a="http://schemas.openxmlformats.org/drawingml/2006/main">
            <a:r>
              <a:t>    "fact": "항공안전 기사·분류체계 기반 번역·요약·위험 분류와 분석원 검토의 기술 실증",</a:t>
            </a:r>
          </a:p>
          <a:p xmlns:a="http://schemas.openxmlformats.org/drawingml/2006/main">
            <a:r>
              <a:t>    "limit": "PoC 범위 · 운영 생산성 실측으로 해석 금지",</a:t>
            </a:r>
          </a:p>
          <a:p xmlns:a="http://schemas.openxmlformats.org/drawingml/2006/main">
            <a:r>
              <a:t>    "flow": [</a:t>
            </a:r>
          </a:p>
          <a:p xmlns:a="http://schemas.openxmlformats.org/drawingml/2006/main">
            <a:r>
              <a:t>      "항공안전 기사",</a:t>
            </a:r>
          </a:p>
          <a:p xmlns:a="http://schemas.openxmlformats.org/drawingml/2006/main">
            <a:r>
              <a:t>      "전처리·RAG",</a:t>
            </a:r>
          </a:p>
          <a:p xmlns:a="http://schemas.openxmlformats.org/drawingml/2006/main">
            <a:r>
              <a:t>      "요약·위험 분류",</a:t>
            </a:r>
          </a:p>
          <a:p xmlns:a="http://schemas.openxmlformats.org/drawingml/2006/main">
            <a:r>
              <a:t>      "분석원 재검토"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"전문 분류체계와 사람의 재검토 결합",</a:t>
            </a:r>
          </a:p>
          <a:p xmlns:a="http://schemas.openxmlformats.org/drawingml/2006/main">
            <a:r>
              <a:t>    "local": "TS 분야별 사고·위험 용어와 책임 직무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"안전 이슈 분류셋·근거 위치·검토 기록",</a:t>
            </a:r>
          </a:p>
          <a:p xmlns:a="http://schemas.openxmlformats.org/drawingml/2006/main">
            <a:r>
              <a:t>    "test": "위험 유형별 누락·오분류·번역 오류 평가",</a:t>
            </a:r>
          </a:p>
          <a:p xmlns:a="http://schemas.openxmlformats.org/drawingml/2006/main">
            <a:r>
              <a:t>    "metric": "분류 재현율 / 검토 포함 소요시간",</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"AX21",</a:t>
            </a:r>
          </a:p>
          <a:p xmlns:a="http://schemas.openxmlformats.org/drawingml/2006/main">
            <a:r>
              <a:t>    "canonicalId": "AX21",</a:t>
            </a:r>
          </a:p>
          <a:p xmlns:a="http://schemas.openxmlformats.org/drawingml/2006/main">
            <a:r>
              <a:t>    "purpose": "항공안전 이슈의 번역·분류·검토 지원",</a:t>
            </a:r>
          </a:p>
          <a:p xmlns:a="http://schemas.openxmlformats.org/drawingml/2006/main">
            <a:r>
              <a:t>    "users": "항공안전 분석원",</a:t>
            </a:r>
          </a:p>
          <a:p xmlns:a="http://schemas.openxmlformats.org/drawingml/2006/main">
            <a:r>
              <a:t>    "scope": [</a:t>
            </a:r>
          </a:p>
          <a:p xmlns:a="http://schemas.openxmlformats.org/drawingml/2006/main">
            <a:r>
              <a:t>      "기사 수집",</a:t>
            </a:r>
          </a:p>
          <a:p xmlns:a="http://schemas.openxmlformats.org/drawingml/2006/main">
            <a:r>
              <a:t>      "위험 분류",</a:t>
            </a:r>
          </a:p>
          <a:p xmlns:a="http://schemas.openxmlformats.org/drawingml/2006/main">
            <a:r>
              <a:t>      "분석원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"항공안전 기사",</a:t>
            </a:r>
          </a:p>
          <a:p xmlns:a="http://schemas.openxmlformats.org/drawingml/2006/main">
            <a:r>
              <a:t>        "detail": "기사 출처·발생일·대상 항공 업무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"기사 수집 / 위험 분류 / 분석원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"전처리·RAG·분류",</a:t>
            </a:r>
          </a:p>
          <a:p xmlns:a="http://schemas.openxmlformats.org/drawingml/2006/main">
            <a:r>
              <a:t>        "detail": "번역·요약 후 안전 분류체계별 후보 제시",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"항공안전 분석원",</a:t>
            </a:r>
          </a:p>
          <a:p xmlns:a="http://schemas.openxmlformats.org/drawingml/2006/main">
            <a:r>
              <a:t>        "detail": "분류 근거와 원문을 분석원에게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"기사·위험 분류체계",</a:t>
            </a:r>
          </a:p>
          <a:p xmlns:a="http://schemas.openxmlformats.org/drawingml/2006/main">
            <a:r>
              <a:t>        "detail": "원문 기사·번역문·분류체계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"분석원 수정과 분류 누락의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"항공안전 기사",</a:t>
            </a:r>
          </a:p>
          <a:p xmlns:a="http://schemas.openxmlformats.org/drawingml/2006/main">
            <a:r>
              <a:t>        "input": "기사 출처·발생일·대상 항공 업무 식별",</a:t>
            </a:r>
          </a:p>
          <a:p xmlns:a="http://schemas.openxmlformats.org/drawingml/2006/main">
            <a:r>
              <a:t>        "process": "원문 기사·번역문·분류체계 판본 관리",</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"title": "전처리·RAG",</a:t>
            </a:r>
          </a:p>
          <a:p xmlns:a="http://schemas.openxmlformats.org/drawingml/2006/main">
            <a:r>
              <a:t>        "input": "기사 원문",</a:t>
            </a:r>
          </a:p>
          <a:p xmlns:a="http://schemas.openxmlformats.org/drawingml/2006/main">
            <a:r>
              <a:t>        "process": "번역·요약 후 안전 분류체계별 후보 제시",</a:t>
            </a:r>
          </a:p>
          <a:p xmlns:a="http://schemas.openxmlformats.org/drawingml/2006/main">
            <a:r>
              <a:t>        "output": "분석용 문서"</a:t>
            </a:r>
          </a:p>
          <a:p xmlns:a="http://schemas.openxmlformats.org/drawingml/2006/main">
            <a:r>
              <a:t>      },</a:t>
            </a:r>
          </a:p>
          <a:p xmlns:a="http://schemas.openxmlformats.org/drawingml/2006/main">
            <a:r>
              <a:t>      {</a:t>
            </a:r>
          </a:p>
          <a:p xmlns:a="http://schemas.openxmlformats.org/drawingml/2006/main">
            <a:r>
              <a:t>        "title": "요약·위험 분류",</a:t>
            </a:r>
          </a:p>
          <a:p xmlns:a="http://schemas.openxmlformats.org/drawingml/2006/main">
            <a:r>
              <a:t>        "input": "분석용 문서",</a:t>
            </a:r>
          </a:p>
          <a:p xmlns:a="http://schemas.openxmlformats.org/drawingml/2006/main">
            <a:r>
              <a:t>        "process": "원문 사건·시각·위험등급 대조",</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"title": "분석원 재검토",</a:t>
            </a:r>
          </a:p>
          <a:p xmlns:a="http://schemas.openxmlformats.org/drawingml/2006/main">
            <a:r>
              <a:t>        "input": "요약·위험 태그",</a:t>
            </a:r>
          </a:p>
          <a:p xmlns:a="http://schemas.openxmlformats.org/drawingml/2006/main">
            <a:r>
              <a:t>        "process":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"기사의 사건·번역·분류 근거를 분석원이 검토",</a:t>
            </a:r>
          </a:p>
          <a:p xmlns:a="http://schemas.openxmlformats.org/drawingml/2006/main">
            <a:r>
              <a:t>      "exception": "다른 사건의 혼합·번역 부정문 오류·분류 중복",</a:t>
            </a:r>
          </a:p>
          <a:p xmlns:a="http://schemas.openxmlformats.org/drawingml/2006/main">
            <a:r>
              <a:t>      "evidence": "원문 구간과 번역·분류·분석원 수정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"항공안전 분석원",</a:t>
            </a:r>
          </a:p>
          <a:p xmlns:a="http://schemas.openxmlformats.org/drawingml/2006/main">
            <a:r>
              <a:t>          "processing": "기사 출처·발생일·대상 항공 업무 식별",</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"기사·위험 분류체계",</a:t>
            </a:r>
          </a:p>
          <a:p xmlns:a="http://schemas.openxmlformats.org/drawingml/2006/main">
            <a:r>
              <a:t>          "processing": "원문 기사·번역문·분류체계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"기사 원문",</a:t>
            </a:r>
          </a:p>
          <a:p xmlns:a="http://schemas.openxmlformats.org/drawingml/2006/main">
            <a:r>
              <a:t>          "processing": "번역·요약 후 안전 분류체계별 후보 제시",</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"요약·위험 태그",</a:t>
            </a:r>
          </a:p>
          <a:p xmlns:a="http://schemas.openxmlformats.org/drawingml/2006/main">
            <a:r>
              <a:t>          "processing":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"분석원 수정과 분류 누락의 회귀 평가",</a:t>
            </a:r>
          </a:p>
          <a:p xmlns:a="http://schemas.openxmlformats.org/drawingml/2006/main">
            <a:r>
              <a:t>          "output": "원문 구간과 번역·분류·분석원 수정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"분석원 수정과 분류 누락의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"S-AX21",</a:t>
            </a:r>
          </a:p>
          <a:p xmlns:a="http://schemas.openxmlformats.org/drawingml/2006/main">
            <a:r>
              <a:t>        "title": "항공안전 이슈 분석 AI PoC · 공공AI 사례집 100–101쪽",</a:t>
            </a:r>
          </a:p>
          <a:p xmlns:a="http://schemas.openxmlformats.org/drawingml/2006/main">
            <a:r>
              <a:t>        "url": "https://bigdata.dongjak.go.kr/board/viewArticle?articleNo=954&amp;boardId=4",</a:t>
            </a:r>
          </a:p>
          <a:p xmlns:a="http://schemas.openxmlformats.org/drawingml/2006/main">
            <a:r>
              <a:t>        "published": "2024 기술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"전문 분류체계와 사람의 재검토 결합",</a:t>
            </a:r>
          </a:p>
          <a:p xmlns:a="http://schemas.openxmlformats.org/drawingml/2006/main">
            <a:r>
              <a:t>    "local": "TS 분야별 사고·위험 용어와 책임 직무 매핑",</a:t>
            </a:r>
          </a:p>
          <a:p xmlns:a="http://schemas.openxmlformats.org/drawingml/2006/main">
            <a:r>
              <a:t>    "sourceDetail": null,</a:t>
            </a:r>
          </a:p>
          <a:p xmlns:a="http://schemas.openxmlformats.org/drawingml/2006/main">
            <a:r>
              <a:t>    "narrative": [</a:t>
            </a:r>
          </a:p>
          <a:p xmlns:a="http://schemas.openxmlformats.org/drawingml/2006/main">
            <a:r>
              <a:t>      "항공안전 관련 기사에서 사건과 위험 요인을 찾아 분석원의 검토를 돕는 사례. 다국어 자료의 번역·요약과 정해진 안전 분류체계 적용이 결합된 업무.",</a:t>
            </a:r>
          </a:p>
          <a:p xmlns:a="http://schemas.openxmlformats.org/drawingml/2006/main">
            <a:r>
              <a:t>      "기사 출처·발생일·항공업무를 식별한 뒤 번역문과 원문을 연결하고 위험 태그 후보를 제시하는 재구성. 분석원의 수정값과 판정 근거를 보존해 분류 누락·오역을 회귀 평가.",</a:t>
            </a:r>
          </a:p>
          <a:p xmlns:a="http://schemas.openxmlformats.org/drawingml/2006/main">
            <a:r>
              <a:t>      "TS 적용에서는 기사량 처리보다 사건·시각·위험등급의 정확한 추출과 근거 추적을 우선. 원문 대비 중요 사건 누락, 분류체계 개정, 다국어 전문용어 오역을 독립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"기사 수집 접점",</a:t>
            </a:r>
          </a:p>
          <a:p xmlns:a="http://schemas.openxmlformats.org/drawingml/2006/main">
            <a:r>
              <a:t>          "layer": "이용 접점",</a:t>
            </a:r>
          </a:p>
          <a:p xmlns:a="http://schemas.openxmlformats.org/drawingml/2006/main">
            <a:r>
              <a:t>          "detail": "항공안전 분석원",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"출처·발생일",</a:t>
            </a:r>
          </a:p>
          <a:p xmlns:a="http://schemas.openxmlformats.org/drawingml/2006/main">
            <a:r>
              <a:t>          "layer": "업무 문맥",</a:t>
            </a:r>
          </a:p>
          <a:p xmlns:a="http://schemas.openxmlformats.org/drawingml/2006/main">
            <a:r>
              <a:t>          "detail": "기사 출처·발생일·대상 항공 업무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"분류 지식 검색",</a:t>
            </a:r>
          </a:p>
          <a:p xmlns:a="http://schemas.openxmlformats.org/drawingml/2006/main">
            <a:r>
              <a:t>          "layer": "자료 조회",</a:t>
            </a:r>
          </a:p>
          <a:p xmlns:a="http://schemas.openxmlformats.org/drawingml/2006/main">
            <a:r>
              <a:t>          "detail": "기사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"번역·요약·태깅",</a:t>
            </a:r>
          </a:p>
          <a:p xmlns:a="http://schemas.openxmlformats.org/drawingml/2006/main">
            <a:r>
              <a:t>          "layer": "핵심 처리",</a:t>
            </a:r>
          </a:p>
          <a:p xmlns:a="http://schemas.openxmlformats.org/drawingml/2006/main">
            <a:r>
              <a:t>          "detail": "번역·요약 후 안전 분류체계별 후보 제시",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"사건·등급 대조",</a:t>
            </a:r>
          </a:p>
          <a:p xmlns:a="http://schemas.openxmlformats.org/drawingml/2006/main">
            <a:r>
              <a:t>          "layer": "결과 검증",</a:t>
            </a:r>
          </a:p>
          <a:p xmlns:a="http://schemas.openxmlformats.org/drawingml/2006/main">
            <a:r>
              <a:t>          "detail": "원문 사건·시각·위험등급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"분석원 수정",</a:t>
            </a:r>
          </a:p>
          <a:p xmlns:a="http://schemas.openxmlformats.org/drawingml/2006/main">
            <a:r>
              <a:t>          "layer": "사람 확인",</a:t>
            </a:r>
          </a:p>
          <a:p xmlns:a="http://schemas.openxmlformats.org/drawingml/2006/main">
            <a:r>
              <a:t>          "detail": "기사의 사건·번역·분류 근거를 분석원이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"검토 보고서",</a:t>
            </a:r>
          </a:p>
          <a:p xmlns:a="http://schemas.openxmlformats.org/drawingml/2006/main">
            <a:r>
              <a:t>          "layer": "업무 연결",</a:t>
            </a:r>
          </a:p>
          <a:p xmlns:a="http://schemas.openxmlformats.org/drawingml/2006/main">
            <a:r>
              <a:t>          "detail": "분류 근거와 원문을 분석원에게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 회귀평가",</a:t>
            </a:r>
          </a:p>
          <a:p xmlns:a="http://schemas.openxmlformats.org/drawingml/2006/main">
            <a:r>
              <a:t>          "layer": "운영 관측",</a:t>
            </a:r>
          </a:p>
          <a:p xmlns:a="http://schemas.openxmlformats.org/drawingml/2006/main">
            <a:r>
              <a:t>          "detail": "분석원 수정과 분류 누락의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"기사·안전 분류",</a:t>
            </a:r>
          </a:p>
          <a:p xmlns:a="http://schemas.openxmlformats.org/drawingml/2006/main">
            <a:r>
              <a:t>          "layer": "데이터 원천",</a:t>
            </a:r>
          </a:p>
          <a:p xmlns:a="http://schemas.openxmlformats.org/drawingml/2006/main">
            <a:r>
              <a:t>          "detail": "기사·위험 분류체계",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"번역·판본 정리",</a:t>
            </a:r>
          </a:p>
          <a:p xmlns:a="http://schemas.openxmlformats.org/drawingml/2006/main">
            <a:r>
              <a:t>          "layer": "준비·갱신",</a:t>
            </a:r>
          </a:p>
          <a:p xmlns:a="http://schemas.openxmlformats.org/drawingml/2006/main">
            <a:r>
              <a:t>          "detail": "원문 기사·번역문·분류체계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"기사·분류 이력",</a:t>
            </a:r>
          </a:p>
          <a:p xmlns:a="http://schemas.openxmlformats.org/drawingml/2006/main">
            <a:r>
              <a:t>          "layer": "상태·지식 저장",</a:t>
            </a:r>
          </a:p>
          <a:p xmlns:a="http://schemas.openxmlformats.org/drawingml/2006/main">
            <a:r>
              <a:t>          "detail": "원문 구간과 번역·분류·분석원 수정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"분류·검토 책임",</a:t>
            </a:r>
          </a:p>
          <a:p xmlns:a="http://schemas.openxmlformats.org/drawingml/2006/main">
            <a:r>
              <a:t>          "layer": "권한·정책",</a:t>
            </a:r>
          </a:p>
          <a:p xmlns:a="http://schemas.openxmlformats.org/drawingml/2006/main">
            <a:r>
              <a:t>          "detail": "다른 사건의 혼합·번역 부정문 오류·분류 중복",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"항공안전 기사 → 전처리·RAG → 요약·위험 분류 → 분석원 재검토"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"기사·위험 분류체계",</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"분석용 문서",</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"분석원 수정",</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"항공안전 이슈의 번역·분류·검토 지원 / 기사 수집·위험 분류·분석원 검토",</a:t>
            </a:r>
          </a:p>
          <a:p xmlns:a="http://schemas.openxmlformats.org/drawingml/2006/main">
            <a:r>
              <a:t>        "extension": "TS 분야별 사고·위험 용어와 책임 직무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사건의 혼합·번역 부정문 오류·분류 중복",</a:t>
            </a:r>
          </a:p>
          <a:p xmlns:a="http://schemas.openxmlformats.org/drawingml/2006/main">
            <a:r>
              <a:t>        "hold": "원문 사건·시각·위험등급 대조",</a:t>
            </a:r>
          </a:p>
          <a:p xmlns:a="http://schemas.openxmlformats.org/drawingml/2006/main">
            <a:r>
              <a:t>        "recovery": "분석원 수정과 분류 누락의 회귀 평가",</a:t>
            </a:r>
          </a:p>
          <a:p xmlns:a="http://schemas.openxmlformats.org/drawingml/2006/main">
            <a:r>
              <a:t>        "evidence": "원문 구간과 번역·분류·분석원 수정 연결표"</a:t>
            </a:r>
          </a:p>
          <a:p xmlns:a="http://schemas.openxmlformats.org/drawingml/2006/main">
            <a:r>
              <a:t>      },</a:t>
            </a:r>
          </a:p>
          <a:p xmlns:a="http://schemas.openxmlformats.org/drawingml/2006/main">
            <a:r>
              <a:t>      "data": {</a:t>
            </a:r>
          </a:p>
          <a:p xmlns:a="http://schemas.openxmlformats.org/drawingml/2006/main">
            <a:r>
              <a:t>        "source": "기사·위험 분류체계",</a:t>
            </a:r>
          </a:p>
          <a:p xmlns:a="http://schemas.openxmlformats.org/drawingml/2006/main">
            <a:r>
              <a:t>        "prepare": "원문 기사·번역문·분류체계 판본 관리",</a:t>
            </a:r>
          </a:p>
          <a:p xmlns:a="http://schemas.openxmlformats.org/drawingml/2006/main">
            <a:r>
              <a:t>        "output": "기사 원문",</a:t>
            </a:r>
          </a:p>
          <a:p xmlns:a="http://schemas.openxmlformats.org/drawingml/2006/main">
            <a:r>
              <a:t>        "refresh": "분석원 수정과 분류 누락의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"AX21",</a:t>
            </a:r>
          </a:p>
          <a:p xmlns:a="http://schemas.openxmlformats.org/drawingml/2006/main">
            <a:r>
              <a:t>    "success": [</a:t>
            </a:r>
          </a:p>
          <a:p xmlns:a="http://schemas.openxmlformats.org/drawingml/2006/main">
            <a:r>
              <a:t>      "분류체계에 맞춘 번역·요약",</a:t>
            </a:r>
          </a:p>
          <a:p xmlns:a="http://schemas.openxmlformats.org/drawingml/2006/main">
            <a:r>
              <a:t>      "안전 분석원의 재검토"</a:t>
            </a:r>
          </a:p>
          <a:p xmlns:a="http://schemas.openxmlformats.org/drawingml/2006/main">
            <a:r>
              <a:t>    ],</a:t>
            </a:r>
          </a:p>
          <a:p xmlns:a="http://schemas.openxmlformats.org/drawingml/2006/main">
            <a:r>
              <a:t>    "risks": [</a:t>
            </a:r>
          </a:p>
          <a:p xmlns:a="http://schemas.openxmlformats.org/drawingml/2006/main">
            <a:r>
              <a:t>      "다국어 용어·위험 분류 오류",</a:t>
            </a:r>
          </a:p>
          <a:p xmlns:a="http://schemas.openxmlformats.org/drawingml/2006/main">
            <a:r>
              <a:t>      "기사 요약에서 중요 사건 누락"</a:t>
            </a:r>
          </a:p>
          <a:p xmlns:a="http://schemas.openxmlformats.org/drawingml/2006/main">
            <a:r>
              <a:t>    ],</a:t>
            </a:r>
          </a:p>
          <a:p xmlns:a="http://schemas.openxmlformats.org/drawingml/2006/main">
            <a:r>
              <a:t>    "architecture": [</a:t>
            </a:r>
          </a:p>
          <a:p xmlns:a="http://schemas.openxmlformats.org/drawingml/2006/main">
            <a:r>
              <a:t>      "항공안전 기사",</a:t>
            </a:r>
          </a:p>
          <a:p xmlns:a="http://schemas.openxmlformats.org/drawingml/2006/main">
            <a:r>
              <a:t>      "전처리·RAG·분류",</a:t>
            </a:r>
          </a:p>
          <a:p xmlns:a="http://schemas.openxmlformats.org/drawingml/2006/main">
            <a:r>
              <a:t>      "기사·위험 분류체계",</a:t>
            </a:r>
          </a:p>
          <a:p xmlns:a="http://schemas.openxmlformats.org/drawingml/2006/main">
            <a:r>
              <a:t>      "항공안전 분석원"</a:t>
            </a:r>
          </a:p>
          <a:p xmlns:a="http://schemas.openxmlformats.org/drawingml/2006/main">
            <a:r>
              <a:t>    ],</a:t>
            </a:r>
          </a:p>
          <a:p xmlns:a="http://schemas.openxmlformats.org/drawingml/2006/main">
            <a:r>
              <a:t>    "transfers": [</a:t>
            </a:r>
          </a:p>
          <a:p xmlns:a="http://schemas.openxmlformats.org/drawingml/2006/main">
            <a:r>
              <a:t>      "기사 원문",</a:t>
            </a:r>
          </a:p>
          <a:p xmlns:a="http://schemas.openxmlformats.org/drawingml/2006/main">
            <a:r>
              <a:t>      "분석용 문서",</a:t>
            </a:r>
          </a:p>
          <a:p xmlns:a="http://schemas.openxmlformats.org/drawingml/2006/main">
            <a:r>
              <a:t>      "요약·위험 태그",</a:t>
            </a:r>
          </a:p>
          <a:p xmlns:a="http://schemas.openxmlformats.org/drawingml/2006/main">
            <a:r>
              <a:t>      "분석원 수정"</a:t>
            </a:r>
          </a:p>
          <a:p xmlns:a="http://schemas.openxmlformats.org/drawingml/2006/main">
            <a:r>
              <a:t>    ],</a:t>
            </a:r>
          </a:p>
          <a:p xmlns:a="http://schemas.openxmlformats.org/drawingml/2006/main">
            <a:r>
              <a:t>    "control": "원문 사건·시각·위험등급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항공안전 이슈 분석 AI PoC · 공공AI 사례집 100–101쪽 https://bigdata.dongjak.go.kr/board/viewArticle?articleNo=954&amp;boardId=4</a:t>
            </a:r>
          </a:p>
          <a:p xmlns:a="http://schemas.openxmlformats.org/drawingml/2006/main">
            <a:r>
              <a:t>홈페이지 https://heen1987-ops.github.io/TS-business-Plan-001/index.html?view=casebook&amp;case=AX21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"AX22",</a:t>
            </a:r>
          </a:p>
          <a:p xmlns:a="http://schemas.openxmlformats.org/drawingml/2006/main">
            <a:r>
              <a:t>    "title": "도시철도 교통안전 GPT",</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"규정·매뉴얼 지식 지원",</a:t>
            </a:r>
          </a:p>
          <a:p xmlns:a="http://schemas.openxmlformats.org/drawingml/2006/main">
            <a:r>
              <a:t>    "period": "2023 실증",</a:t>
            </a:r>
          </a:p>
          <a:p xmlns:a="http://schemas.openxmlformats.org/drawingml/2006/main">
            <a:r>
              <a:t>    "sources": [</a:t>
            </a:r>
          </a:p>
          <a:p xmlns:a="http://schemas.openxmlformats.org/drawingml/2006/main">
            <a:r>
              <a:t>      "S-AX22"</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"매뉴얼 지식 지원"</a:t>
            </a:r>
          </a:p>
          <a:p xmlns:a="http://schemas.openxmlformats.org/drawingml/2006/main">
            <a:r>
              <a:t>    ],</a:t>
            </a:r>
          </a:p>
          <a:p xmlns:a="http://schemas.openxmlformats.org/drawingml/2006/main">
            <a:r>
              <a:t>    "fact": "안전 법령·사규·매뉴얼을 활용한 질의응답과 최신 근거 제공 서비스 실증",</a:t>
            </a:r>
          </a:p>
          <a:p xmlns:a="http://schemas.openxmlformats.org/drawingml/2006/main">
            <a:r>
              <a:t>    "limit": "실증과 기대효과 소개 · 사고 예방의 인과성과 수치 미제시",</a:t>
            </a:r>
          </a:p>
          <a:p xmlns:a="http://schemas.openxmlformats.org/drawingml/2006/main">
            <a:r>
              <a:t>    "flow": [</a:t>
            </a:r>
          </a:p>
          <a:p xmlns:a="http://schemas.openxmlformats.org/drawingml/2006/main">
            <a:r>
              <a:t>      "법령·사규·매뉴얼",</a:t>
            </a:r>
          </a:p>
          <a:p xmlns:a="http://schemas.openxmlformats.org/drawingml/2006/main">
            <a:r>
              <a:t>      "전처리·검색",</a:t>
            </a:r>
          </a:p>
          <a:p xmlns:a="http://schemas.openxmlformats.org/drawingml/2006/main">
            <a:r>
              <a:t>      "안전 Q&amp;A",</a:t>
            </a:r>
          </a:p>
          <a:p xmlns:a="http://schemas.openxmlformats.org/drawingml/2006/main">
            <a:r>
              <a:t>      "안전 담당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"문서 판본과 안전 직무별 근거 연결",</a:t>
            </a:r>
          </a:p>
          <a:p xmlns:a="http://schemas.openxmlformats.org/drawingml/2006/main">
            <a:r>
              <a:t>    "local": "TS 안전 직무별 규정·검사 기준 지식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"규정 효력일·폐지 문서·업무별 평가셋",</a:t>
            </a:r>
          </a:p>
          <a:p xmlns:a="http://schemas.openxmlformats.org/drawingml/2006/main">
            <a:r>
              <a:t>    "test": "동일 질문의 개정 전후 근거·답변 일치 시험",</a:t>
            </a:r>
          </a:p>
          <a:p xmlns:a="http://schemas.openxmlformats.org/drawingml/2006/main">
            <a:r>
              <a:t>    "metric": "근거 정확도 / 검토시간",</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"ST-04"</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"AX22",</a:t>
            </a:r>
          </a:p>
          <a:p xmlns:a="http://schemas.openxmlformats.org/drawingml/2006/main">
            <a:r>
              <a:t>    "canonicalId": "AX22",</a:t>
            </a:r>
          </a:p>
          <a:p xmlns:a="http://schemas.openxmlformats.org/drawingml/2006/main">
            <a:r>
              <a:t>    "purpose": "도시철도 안전 규정의 근거형 질의응답",</a:t>
            </a:r>
          </a:p>
          <a:p xmlns:a="http://schemas.openxmlformats.org/drawingml/2006/main">
            <a:r>
              <a:t>    "users": "안전·현장 운영 담당자",</a:t>
            </a:r>
          </a:p>
          <a:p xmlns:a="http://schemas.openxmlformats.org/drawingml/2006/main">
            <a:r>
              <a:t>    "scope": [</a:t>
            </a:r>
          </a:p>
          <a:p xmlns:a="http://schemas.openxmlformats.org/drawingml/2006/main">
            <a:r>
              <a:t>      "법령·사규",</a:t>
            </a:r>
          </a:p>
          <a:p xmlns:a="http://schemas.openxmlformats.org/drawingml/2006/main">
            <a:r>
              <a:t>      "질의응답",</a:t>
            </a:r>
          </a:p>
          <a:p xmlns:a="http://schemas.openxmlformats.org/drawingml/2006/main">
            <a:r>
              <a:t>      "판본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담당 질의",</a:t>
            </a:r>
          </a:p>
          <a:p xmlns:a="http://schemas.openxmlformats.org/drawingml/2006/main">
            <a:r>
              <a:t>        "detail": "업무·설비·적용 시점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"법령·사규 / 질의응답 / 판본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"문서 검색·Q&amp;A",</a:t>
            </a:r>
          </a:p>
          <a:p xmlns:a="http://schemas.openxmlformats.org/drawingml/2006/main">
            <a:r>
              <a:t>        "detail": "규정 검색과 조문 근거형 응답",</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검토자",</a:t>
            </a:r>
          </a:p>
          <a:p xmlns:a="http://schemas.openxmlformats.org/drawingml/2006/main">
            <a:r>
              <a:t>        "detail": "현장 담당자가 출처를 확인한 후 적용",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규정·매뉴얼",</a:t>
            </a:r>
          </a:p>
          <a:p xmlns:a="http://schemas.openxmlformats.org/drawingml/2006/main">
            <a:r>
              <a:t>        "detail": "법령·사규·매뉴얼의 조문·개정일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"개정 후 구버전 인용과 충돌 답변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"법령·사규·매뉴얼",</a:t>
            </a:r>
          </a:p>
          <a:p xmlns:a="http://schemas.openxmlformats.org/drawingml/2006/main">
            <a:r>
              <a:t>        "input": "업무·설비·적용 시점 확인",</a:t>
            </a:r>
          </a:p>
          <a:p xmlns:a="http://schemas.openxmlformats.org/drawingml/2006/main">
            <a:r>
              <a:t>        "process": "법령·사규·매뉴얼의 조문·개정일 색인",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"전처리·검색",</a:t>
            </a:r>
          </a:p>
          <a:p xmlns:a="http://schemas.openxmlformats.org/drawingml/2006/main">
            <a:r>
              <a:t>        "input": "질문",</a:t>
            </a:r>
          </a:p>
          <a:p xmlns:a="http://schemas.openxmlformats.org/drawingml/2006/main">
            <a:r>
              <a:t>        "process": "규정 검색과 조문 근거형 응답",</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"안전 Q&amp;A",</a:t>
            </a:r>
          </a:p>
          <a:p xmlns:a="http://schemas.openxmlformats.org/drawingml/2006/main">
            <a:r>
              <a:t>        "input": "관련 조문",</a:t>
            </a:r>
          </a:p>
          <a:p xmlns:a="http://schemas.openxmlformats.org/drawingml/2006/main">
            <a:r>
              <a:t>        "process": "시행일·조문 위치·예외 조건 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"근거 답변",</a:t>
            </a:r>
          </a:p>
          <a:p xmlns:a="http://schemas.openxmlformats.org/drawingml/2006/main">
            <a:r>
              <a:t>        "process":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"현장 질문에 적용 시점의 안전 규정과 조문 제공",</a:t>
            </a:r>
          </a:p>
          <a:p xmlns:a="http://schemas.openxmlformats.org/drawingml/2006/main">
            <a:r>
              <a:t>      "exception": "폐지 규정·상위 법령과 사규 충돌·근거 부재",</a:t>
            </a:r>
          </a:p>
          <a:p xmlns:a="http://schemas.openxmlformats.org/drawingml/2006/main">
            <a:r>
              <a:t>      "evidence": "판본·조문 정답표와 충돌 경고·응답 보류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"안전·현장 운영 담당자",</a:t>
            </a:r>
          </a:p>
          <a:p xmlns:a="http://schemas.openxmlformats.org/drawingml/2006/main">
            <a:r>
              <a:t>          "processing": "업무·설비·적용 시점 확인",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규정·매뉴얼",</a:t>
            </a:r>
          </a:p>
          <a:p xmlns:a="http://schemas.openxmlformats.org/drawingml/2006/main">
            <a:r>
              <a:t>          "processing": "법령·사규·매뉴얼의 조문·개정일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"규정 검색과 조문 근거형 응답",</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"개정 후 구버전 인용과 충돌 답변 시험",</a:t>
            </a:r>
          </a:p>
          <a:p xmlns:a="http://schemas.openxmlformats.org/drawingml/2006/main">
            <a:r>
              <a:t>          "output": "판본·조문 정답표와 충돌 경고·응답 보류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"개정 후 구버전 인용과 충돌 답변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"S-AX22",</a:t>
            </a:r>
          </a:p>
          <a:p xmlns:a="http://schemas.openxmlformats.org/drawingml/2006/main">
            <a:r>
              <a:t>        "title": "도시철도 교통안전 GPT · 공공AI 사례집 108–109쪽",</a:t>
            </a:r>
          </a:p>
          <a:p xmlns:a="http://schemas.openxmlformats.org/drawingml/2006/main">
            <a:r>
              <a:t>        "url": "https://bigdata.dongjak.go.kr/board/viewArticle?articleNo=954&amp;boardId=4",</a:t>
            </a:r>
          </a:p>
          <a:p xmlns:a="http://schemas.openxmlformats.org/drawingml/2006/main">
            <a:r>
              <a:t>        "published": "2023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"문서 판본과 안전 직무별 근거 연결",</a:t>
            </a:r>
          </a:p>
          <a:p xmlns:a="http://schemas.openxmlformats.org/drawingml/2006/main">
            <a:r>
              <a:t>    "local": "TS 안전 직무별 규정·검사 기준 지식 분리",</a:t>
            </a:r>
          </a:p>
          <a:p xmlns:a="http://schemas.openxmlformats.org/drawingml/2006/main">
            <a:r>
              <a:t>    "sourceDetail": null,</a:t>
            </a:r>
          </a:p>
          <a:p xmlns:a="http://schemas.openxmlformats.org/drawingml/2006/main">
            <a:r>
              <a:t>    "narrative": [</a:t>
            </a:r>
          </a:p>
          <a:p xmlns:a="http://schemas.openxmlformats.org/drawingml/2006/main">
            <a:r>
              <a:t>      "도시철도 안전 업무에서 법령·사규·매뉴얼을 함께 검색하는 질의응답 사례. 자료가 여러 위치와 판본으로 존재할 때 관련 조문을 찾는 작업의 지원.",</a:t>
            </a:r>
          </a:p>
          <a:p xmlns:a="http://schemas.openxmlformats.org/drawingml/2006/main">
            <a:r>
              <a:t>      "질의의 업무·설비·적용 시점을 바탕으로 유효 문서를 검색하고 조문 위치를 포함한 답변을 구성하는 재구성. 현장 담당자가 예외 조건과 시행일을 확인한 후 업무에 참고하는 흐름.",</a:t>
            </a:r>
          </a:p>
          <a:p xmlns:a="http://schemas.openxmlformats.org/drawingml/2006/main">
            <a:r>
              <a:t>      "CCK에서는 검색 답변과 안전 승인 권한을 분리하고 개정 전후 충돌 답변을 시험할 근거. 구판 회수, 조문 위치 일치, 예외 조건 누락과 검토시간을 TS 부서별로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"안전업무 질의",</a:t>
            </a:r>
          </a:p>
          <a:p xmlns:a="http://schemas.openxmlformats.org/drawingml/2006/main">
            <a:r>
              <a:t>          "layer": "이용 접점",</a:t>
            </a:r>
          </a:p>
          <a:p xmlns:a="http://schemas.openxmlformats.org/drawingml/2006/main">
            <a:r>
              <a:t>          "detail": "안전·현장 운영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"설비·적용시점",</a:t>
            </a:r>
          </a:p>
          <a:p xmlns:a="http://schemas.openxmlformats.org/drawingml/2006/main">
            <a:r>
              <a:t>          "layer": "업무 문맥",</a:t>
            </a:r>
          </a:p>
          <a:p xmlns:a="http://schemas.openxmlformats.org/drawingml/2006/main">
            <a:r>
              <a:t>          "detail": "업무·설비·적용 시점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조문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"규정 검색과 조문 근거형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"시행일·예외 대조",</a:t>
            </a:r>
          </a:p>
          <a:p xmlns:a="http://schemas.openxmlformats.org/drawingml/2006/main">
            <a:r>
              <a:t>          "layer": "결과 검증",</a:t>
            </a:r>
          </a:p>
          <a:p xmlns:a="http://schemas.openxmlformats.org/drawingml/2006/main">
            <a:r>
              <a:t>          "detail": "시행일·조문 위치·예외 조건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담당 검토",</a:t>
            </a:r>
          </a:p>
          <a:p xmlns:a="http://schemas.openxmlformats.org/drawingml/2006/main">
            <a:r>
              <a:t>          "layer": "사람 확인",</a:t>
            </a:r>
          </a:p>
          <a:p xmlns:a="http://schemas.openxmlformats.org/drawingml/2006/main">
            <a:r>
              <a:t>          "detail": "현장 질문에 적용 시점의 안전 규정과 조문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"안전업무 참고",</a:t>
            </a:r>
          </a:p>
          <a:p xmlns:a="http://schemas.openxmlformats.org/drawingml/2006/main">
            <a:r>
              <a:t>          "layer": "업무 연결",</a:t>
            </a:r>
          </a:p>
          <a:p xmlns:a="http://schemas.openxmlformats.org/drawingml/2006/main">
            <a:r>
              <a:t>          "detail": "현장 담당자가 출처를 확인한 후 적용",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"구판 인용 검사",</a:t>
            </a:r>
          </a:p>
          <a:p xmlns:a="http://schemas.openxmlformats.org/drawingml/2006/main">
            <a:r>
              <a:t>          "layer": "운영 관측",</a:t>
            </a:r>
          </a:p>
          <a:p xmlns:a="http://schemas.openxmlformats.org/drawingml/2006/main">
            <a:r>
              <a:t>          "detail": "개정 후 구버전 인용과 충돌 답변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"법령·사규·매뉴얼",</a:t>
            </a:r>
          </a:p>
          <a:p xmlns:a="http://schemas.openxmlformats.org/drawingml/2006/main">
            <a:r>
              <a:t>          "layer": "데이터 원천",</a:t>
            </a:r>
          </a:p>
          <a:p xmlns:a="http://schemas.openxmlformats.org/drawingml/2006/main">
            <a:r>
              <a:t>          "detail": "안전 규정·매뉴얼",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"조문·개정일 색인",</a:t>
            </a:r>
          </a:p>
          <a:p xmlns:a="http://schemas.openxmlformats.org/drawingml/2006/main">
            <a:r>
              <a:t>          "layer": "준비·갱신",</a:t>
            </a:r>
          </a:p>
          <a:p xmlns:a="http://schemas.openxmlformats.org/drawingml/2006/main">
            <a:r>
              <a:t>          "detail": "법령·사규·매뉴얼의 조문·개정일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"유효 문서·답변",</a:t>
            </a:r>
          </a:p>
          <a:p xmlns:a="http://schemas.openxmlformats.org/drawingml/2006/main">
            <a:r>
              <a:t>          "layer": "상태·지식 저장",</a:t>
            </a:r>
          </a:p>
          <a:p xmlns:a="http://schemas.openxmlformats.org/drawingml/2006/main">
            <a:r>
              <a:t>          "detail": "판본·조문 정답표와 충돌 경고·응답 보류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"안전 승인 경계",</a:t>
            </a:r>
          </a:p>
          <a:p xmlns:a="http://schemas.openxmlformats.org/drawingml/2006/main">
            <a:r>
              <a:t>          "layer": "권한·정책",</a:t>
            </a:r>
          </a:p>
          <a:p xmlns:a="http://schemas.openxmlformats.org/drawingml/2006/main">
            <a:r>
              <a:t>          "detail": "폐지 규정·상위 법령과 사규 충돌·근거 부재",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"법령·사규·매뉴얼 → 전처리·검색 → 안전 Q&amp;A → 안전 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"안전 규정·매뉴얼",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"업무·설비·적용 시점 확인",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"판본·조문 정답표와 충돌 경고·응답 보류 결과",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조문",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"도시철도 안전 규정의 근거형 질의응답 / 법령·사규·질의응답·판본 확인",</a:t>
            </a:r>
          </a:p>
          <a:p xmlns:a="http://schemas.openxmlformats.org/drawingml/2006/main">
            <a:r>
              <a:t>        "extension": "TS 안전 직무별 규정·검사 기준 지식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규정·상위 법령과 사규 충돌·근거 부재",</a:t>
            </a:r>
          </a:p>
          <a:p xmlns:a="http://schemas.openxmlformats.org/drawingml/2006/main">
            <a:r>
              <a:t>        "hold": "시행일·조문 위치·예외 조건 검증",</a:t>
            </a:r>
          </a:p>
          <a:p xmlns:a="http://schemas.openxmlformats.org/drawingml/2006/main">
            <a:r>
              <a:t>        "recovery": "개정 후 구버전 인용과 충돌 답변 시험",</a:t>
            </a:r>
          </a:p>
          <a:p xmlns:a="http://schemas.openxmlformats.org/drawingml/2006/main">
            <a:r>
              <a:t>        "evidence": "판본·조문 정답표와 충돌 경고·응답 보류 결과"</a:t>
            </a:r>
          </a:p>
          <a:p xmlns:a="http://schemas.openxmlformats.org/drawingml/2006/main">
            <a:r>
              <a:t>      },</a:t>
            </a:r>
          </a:p>
          <a:p xmlns:a="http://schemas.openxmlformats.org/drawingml/2006/main">
            <a:r>
              <a:t>      "data": {</a:t>
            </a:r>
          </a:p>
          <a:p xmlns:a="http://schemas.openxmlformats.org/drawingml/2006/main">
            <a:r>
              <a:t>        "source": "안전 규정·매뉴얼",</a:t>
            </a:r>
          </a:p>
          <a:p xmlns:a="http://schemas.openxmlformats.org/drawingml/2006/main">
            <a:r>
              <a:t>        "prepare": "법령·사규·매뉴얼의 조문·개정일 색인",</a:t>
            </a:r>
          </a:p>
          <a:p xmlns:a="http://schemas.openxmlformats.org/drawingml/2006/main">
            <a:r>
              <a:t>        "output": "질문",</a:t>
            </a:r>
          </a:p>
          <a:p xmlns:a="http://schemas.openxmlformats.org/drawingml/2006/main">
            <a:r>
              <a:t>        "refresh": "개정 후 구버전 인용과 충돌 답변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"AX22",</a:t>
            </a:r>
          </a:p>
          <a:p xmlns:a="http://schemas.openxmlformats.org/drawingml/2006/main">
            <a:r>
              <a:t>    "success": [</a:t>
            </a:r>
          </a:p>
          <a:p xmlns:a="http://schemas.openxmlformats.org/drawingml/2006/main">
            <a:r>
              <a:t>      "법령·사규·매뉴얼의 통합 검색",</a:t>
            </a:r>
          </a:p>
          <a:p xmlns:a="http://schemas.openxmlformats.org/drawingml/2006/main">
            <a:r>
              <a:t>      "안전 담당자의 근거 검토"</a:t>
            </a:r>
          </a:p>
          <a:p xmlns:a="http://schemas.openxmlformats.org/drawingml/2006/main">
            <a:r>
              <a:t>    ],</a:t>
            </a:r>
          </a:p>
          <a:p xmlns:a="http://schemas.openxmlformats.org/drawingml/2006/main">
            <a:r>
              <a:t>    "risks": [</a:t>
            </a:r>
          </a:p>
          <a:p xmlns:a="http://schemas.openxmlformats.org/drawingml/2006/main">
            <a:r>
              <a:t>      "폐지·개정 전 문서 인용",</a:t>
            </a:r>
          </a:p>
          <a:p xmlns:a="http://schemas.openxmlformats.org/drawingml/2006/main">
            <a:r>
              <a:t>      "질의응답을 안전 승인으로 오인"</a:t>
            </a:r>
          </a:p>
          <a:p xmlns:a="http://schemas.openxmlformats.org/drawingml/2006/main">
            <a:r>
              <a:t>    ],</a:t>
            </a:r>
          </a:p>
          <a:p xmlns:a="http://schemas.openxmlformats.org/drawingml/2006/main">
            <a:r>
              <a:t>    "architecture": [</a:t>
            </a:r>
          </a:p>
          <a:p xmlns:a="http://schemas.openxmlformats.org/drawingml/2006/main">
            <a:r>
              <a:t>      "안전 담당 질의",</a:t>
            </a:r>
          </a:p>
          <a:p xmlns:a="http://schemas.openxmlformats.org/drawingml/2006/main">
            <a:r>
              <a:t>      "문서 검색·Q&amp;A",</a:t>
            </a:r>
          </a:p>
          <a:p xmlns:a="http://schemas.openxmlformats.org/drawingml/2006/main">
            <a:r>
              <a:t>      "안전 규정·매뉴얼",</a:t>
            </a:r>
          </a:p>
          <a:p xmlns:a="http://schemas.openxmlformats.org/drawingml/2006/main">
            <a:r>
              <a:t>      "안전 검토자"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"관련 조문",</a:t>
            </a:r>
          </a:p>
          <a:p xmlns:a="http://schemas.openxmlformats.org/drawingml/2006/main">
            <a:r>
              <a:t>      "근거 답변",</a:t>
            </a:r>
          </a:p>
          <a:p xmlns:a="http://schemas.openxmlformats.org/drawingml/2006/main">
            <a:r>
              <a:t>      "현장 검토"</a:t>
            </a:r>
          </a:p>
          <a:p xmlns:a="http://schemas.openxmlformats.org/drawingml/2006/main">
            <a:r>
              <a:t>    ],</a:t>
            </a:r>
          </a:p>
          <a:p xmlns:a="http://schemas.openxmlformats.org/drawingml/2006/main">
            <a:r>
              <a:t>    "control": "시행일·조문 위치·예외 조건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도시철도 교통안전 GPT · 공공AI 사례집 108–109쪽 https://bigdata.dongjak.go.kr/board/viewArticle?articleNo=954&amp;boardId=4</a:t>
            </a:r>
          </a:p>
          <a:p xmlns:a="http://schemas.openxmlformats.org/drawingml/2006/main">
            <a:r>
              <a:t>홈페이지 https://heen1987-ops.github.io/TS-business-Plan-001/index.html?view=casebook&amp;case=AX22</a:t>
            </a:r>
          </a:p>
          <a:p xmlns:a="http://schemas.openxmlformats.org/drawingml/2006/main">
            <a:r>
              <a:t>한계: 실증과 기대효과 소개 · 사고 예방의 인과성과 수치 미제시</a:t>
            </a:r>
          </a:p>
          <a:p xmlns:a="http://schemas.openxmlformats.org/drawingml/2006/main">
            <a:r>
              <a:t>실패 위험: 폐지·개정 전 문서 인용 / 질의응답을 안전 승인으로 오인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"AX22",</a:t>
            </a:r>
          </a:p>
          <a:p xmlns:a="http://schemas.openxmlformats.org/drawingml/2006/main">
            <a:r>
              <a:t>    "title": "도시철도 교통안전 GPT",</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"규정·매뉴얼 지식 지원",</a:t>
            </a:r>
          </a:p>
          <a:p xmlns:a="http://schemas.openxmlformats.org/drawingml/2006/main">
            <a:r>
              <a:t>    "period": "2023 실증",</a:t>
            </a:r>
          </a:p>
          <a:p xmlns:a="http://schemas.openxmlformats.org/drawingml/2006/main">
            <a:r>
              <a:t>    "sources": [</a:t>
            </a:r>
          </a:p>
          <a:p xmlns:a="http://schemas.openxmlformats.org/drawingml/2006/main">
            <a:r>
              <a:t>      "S-AX22"</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"매뉴얼 지식 지원"</a:t>
            </a:r>
          </a:p>
          <a:p xmlns:a="http://schemas.openxmlformats.org/drawingml/2006/main">
            <a:r>
              <a:t>    ],</a:t>
            </a:r>
          </a:p>
          <a:p xmlns:a="http://schemas.openxmlformats.org/drawingml/2006/main">
            <a:r>
              <a:t>    "fact": "안전 법령·사규·매뉴얼을 활용한 질의응답과 최신 근거 제공 서비스 실증",</a:t>
            </a:r>
          </a:p>
          <a:p xmlns:a="http://schemas.openxmlformats.org/drawingml/2006/main">
            <a:r>
              <a:t>    "limit": "실증과 기대효과 소개 · 사고 예방의 인과성과 수치 미제시",</a:t>
            </a:r>
          </a:p>
          <a:p xmlns:a="http://schemas.openxmlformats.org/drawingml/2006/main">
            <a:r>
              <a:t>    "flow": [</a:t>
            </a:r>
          </a:p>
          <a:p xmlns:a="http://schemas.openxmlformats.org/drawingml/2006/main">
            <a:r>
              <a:t>      "법령·사규·매뉴얼",</a:t>
            </a:r>
          </a:p>
          <a:p xmlns:a="http://schemas.openxmlformats.org/drawingml/2006/main">
            <a:r>
              <a:t>      "전처리·검색",</a:t>
            </a:r>
          </a:p>
          <a:p xmlns:a="http://schemas.openxmlformats.org/drawingml/2006/main">
            <a:r>
              <a:t>      "안전 Q&amp;A",</a:t>
            </a:r>
          </a:p>
          <a:p xmlns:a="http://schemas.openxmlformats.org/drawingml/2006/main">
            <a:r>
              <a:t>      "안전 담당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"문서 판본과 안전 직무별 근거 연결",</a:t>
            </a:r>
          </a:p>
          <a:p xmlns:a="http://schemas.openxmlformats.org/drawingml/2006/main">
            <a:r>
              <a:t>    "local": "TS 안전 직무별 규정·검사 기준 지식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"규정 효력일·폐지 문서·업무별 평가셋",</a:t>
            </a:r>
          </a:p>
          <a:p xmlns:a="http://schemas.openxmlformats.org/drawingml/2006/main">
            <a:r>
              <a:t>    "test": "동일 질문의 개정 전후 근거·답변 일치 시험",</a:t>
            </a:r>
          </a:p>
          <a:p xmlns:a="http://schemas.openxmlformats.org/drawingml/2006/main">
            <a:r>
              <a:t>    "metric": "근거 정확도 / 검토시간",</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"ST-04"</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"AX22",</a:t>
            </a:r>
          </a:p>
          <a:p xmlns:a="http://schemas.openxmlformats.org/drawingml/2006/main">
            <a:r>
              <a:t>    "canonicalId": "AX22",</a:t>
            </a:r>
          </a:p>
          <a:p xmlns:a="http://schemas.openxmlformats.org/drawingml/2006/main">
            <a:r>
              <a:t>    "purpose": "도시철도 안전 규정의 근거형 질의응답",</a:t>
            </a:r>
          </a:p>
          <a:p xmlns:a="http://schemas.openxmlformats.org/drawingml/2006/main">
            <a:r>
              <a:t>    "users": "안전·현장 운영 담당자",</a:t>
            </a:r>
          </a:p>
          <a:p xmlns:a="http://schemas.openxmlformats.org/drawingml/2006/main">
            <a:r>
              <a:t>    "scope": [</a:t>
            </a:r>
          </a:p>
          <a:p xmlns:a="http://schemas.openxmlformats.org/drawingml/2006/main">
            <a:r>
              <a:t>      "법령·사규",</a:t>
            </a:r>
          </a:p>
          <a:p xmlns:a="http://schemas.openxmlformats.org/drawingml/2006/main">
            <a:r>
              <a:t>      "질의응답",</a:t>
            </a:r>
          </a:p>
          <a:p xmlns:a="http://schemas.openxmlformats.org/drawingml/2006/main">
            <a:r>
              <a:t>      "판본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담당 질의",</a:t>
            </a:r>
          </a:p>
          <a:p xmlns:a="http://schemas.openxmlformats.org/drawingml/2006/main">
            <a:r>
              <a:t>        "detail": "업무·설비·적용 시점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"법령·사규 / 질의응답 / 판본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"문서 검색·Q&amp;A",</a:t>
            </a:r>
          </a:p>
          <a:p xmlns:a="http://schemas.openxmlformats.org/drawingml/2006/main">
            <a:r>
              <a:t>        "detail": "규정 검색과 조문 근거형 응답",</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검토자",</a:t>
            </a:r>
          </a:p>
          <a:p xmlns:a="http://schemas.openxmlformats.org/drawingml/2006/main">
            <a:r>
              <a:t>        "detail": "현장 담당자가 출처를 확인한 후 적용",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규정·매뉴얼",</a:t>
            </a:r>
          </a:p>
          <a:p xmlns:a="http://schemas.openxmlformats.org/drawingml/2006/main">
            <a:r>
              <a:t>        "detail": "법령·사규·매뉴얼의 조문·개정일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"개정 후 구버전 인용과 충돌 답변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"법령·사규·매뉴얼",</a:t>
            </a:r>
          </a:p>
          <a:p xmlns:a="http://schemas.openxmlformats.org/drawingml/2006/main">
            <a:r>
              <a:t>        "input": "업무·설비·적용 시점 확인",</a:t>
            </a:r>
          </a:p>
          <a:p xmlns:a="http://schemas.openxmlformats.org/drawingml/2006/main">
            <a:r>
              <a:t>        "process": "법령·사규·매뉴얼의 조문·개정일 색인",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"전처리·검색",</a:t>
            </a:r>
          </a:p>
          <a:p xmlns:a="http://schemas.openxmlformats.org/drawingml/2006/main">
            <a:r>
              <a:t>        "input": "질문",</a:t>
            </a:r>
          </a:p>
          <a:p xmlns:a="http://schemas.openxmlformats.org/drawingml/2006/main">
            <a:r>
              <a:t>        "process": "규정 검색과 조문 근거형 응답",</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"안전 Q&amp;A",</a:t>
            </a:r>
          </a:p>
          <a:p xmlns:a="http://schemas.openxmlformats.org/drawingml/2006/main">
            <a:r>
              <a:t>        "input": "관련 조문",</a:t>
            </a:r>
          </a:p>
          <a:p xmlns:a="http://schemas.openxmlformats.org/drawingml/2006/main">
            <a:r>
              <a:t>        "process": "시행일·조문 위치·예외 조건 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"근거 답변",</a:t>
            </a:r>
          </a:p>
          <a:p xmlns:a="http://schemas.openxmlformats.org/drawingml/2006/main">
            <a:r>
              <a:t>        "process":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"현장 질문에 적용 시점의 안전 규정과 조문 제공",</a:t>
            </a:r>
          </a:p>
          <a:p xmlns:a="http://schemas.openxmlformats.org/drawingml/2006/main">
            <a:r>
              <a:t>      "exception": "폐지 규정·상위 법령과 사규 충돌·근거 부재",</a:t>
            </a:r>
          </a:p>
          <a:p xmlns:a="http://schemas.openxmlformats.org/drawingml/2006/main">
            <a:r>
              <a:t>      "evidence": "판본·조문 정답표와 충돌 경고·응답 보류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"안전·현장 운영 담당자",</a:t>
            </a:r>
          </a:p>
          <a:p xmlns:a="http://schemas.openxmlformats.org/drawingml/2006/main">
            <a:r>
              <a:t>          "processing": "업무·설비·적용 시점 확인",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규정·매뉴얼",</a:t>
            </a:r>
          </a:p>
          <a:p xmlns:a="http://schemas.openxmlformats.org/drawingml/2006/main">
            <a:r>
              <a:t>          "processing": "법령·사규·매뉴얼의 조문·개정일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"규정 검색과 조문 근거형 응답",</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"개정 후 구버전 인용과 충돌 답변 시험",</a:t>
            </a:r>
          </a:p>
          <a:p xmlns:a="http://schemas.openxmlformats.org/drawingml/2006/main">
            <a:r>
              <a:t>          "output": "판본·조문 정답표와 충돌 경고·응답 보류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"개정 후 구버전 인용과 충돌 답변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"S-AX22",</a:t>
            </a:r>
          </a:p>
          <a:p xmlns:a="http://schemas.openxmlformats.org/drawingml/2006/main">
            <a:r>
              <a:t>        "title": "도시철도 교통안전 GPT · 공공AI 사례집 108–109쪽",</a:t>
            </a:r>
          </a:p>
          <a:p xmlns:a="http://schemas.openxmlformats.org/drawingml/2006/main">
            <a:r>
              <a:t>        "url": "https://bigdata.dongjak.go.kr/board/viewArticle?articleNo=954&amp;boardId=4",</a:t>
            </a:r>
          </a:p>
          <a:p xmlns:a="http://schemas.openxmlformats.org/drawingml/2006/main">
            <a:r>
              <a:t>        "published": "2023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"문서 판본과 안전 직무별 근거 연결",</a:t>
            </a:r>
          </a:p>
          <a:p xmlns:a="http://schemas.openxmlformats.org/drawingml/2006/main">
            <a:r>
              <a:t>    "local": "TS 안전 직무별 규정·검사 기준 지식 분리",</a:t>
            </a:r>
          </a:p>
          <a:p xmlns:a="http://schemas.openxmlformats.org/drawingml/2006/main">
            <a:r>
              <a:t>    "sourceDetail": null,</a:t>
            </a:r>
          </a:p>
          <a:p xmlns:a="http://schemas.openxmlformats.org/drawingml/2006/main">
            <a:r>
              <a:t>    "narrative": [</a:t>
            </a:r>
          </a:p>
          <a:p xmlns:a="http://schemas.openxmlformats.org/drawingml/2006/main">
            <a:r>
              <a:t>      "도시철도 안전 업무에서 법령·사규·매뉴얼을 함께 검색하는 질의응답 사례. 자료가 여러 위치와 판본으로 존재할 때 관련 조문을 찾는 작업의 지원.",</a:t>
            </a:r>
          </a:p>
          <a:p xmlns:a="http://schemas.openxmlformats.org/drawingml/2006/main">
            <a:r>
              <a:t>      "질의의 업무·설비·적용 시점을 바탕으로 유효 문서를 검색하고 조문 위치를 포함한 답변을 구성하는 재구성. 현장 담당자가 예외 조건과 시행일을 확인한 후 업무에 참고하는 흐름.",</a:t>
            </a:r>
          </a:p>
          <a:p xmlns:a="http://schemas.openxmlformats.org/drawingml/2006/main">
            <a:r>
              <a:t>      "CCK에서는 검색 답변과 안전 승인 권한을 분리하고 개정 전후 충돌 답변을 시험할 근거. 구판 회수, 조문 위치 일치, 예외 조건 누락과 검토시간을 TS 부서별로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"안전업무 질의",</a:t>
            </a:r>
          </a:p>
          <a:p xmlns:a="http://schemas.openxmlformats.org/drawingml/2006/main">
            <a:r>
              <a:t>          "layer": "이용 접점",</a:t>
            </a:r>
          </a:p>
          <a:p xmlns:a="http://schemas.openxmlformats.org/drawingml/2006/main">
            <a:r>
              <a:t>          "detail": "안전·현장 운영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"설비·적용시점",</a:t>
            </a:r>
          </a:p>
          <a:p xmlns:a="http://schemas.openxmlformats.org/drawingml/2006/main">
            <a:r>
              <a:t>          "layer": "업무 문맥",</a:t>
            </a:r>
          </a:p>
          <a:p xmlns:a="http://schemas.openxmlformats.org/drawingml/2006/main">
            <a:r>
              <a:t>          "detail": "업무·설비·적용 시점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조문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"규정 검색과 조문 근거형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"시행일·예외 대조",</a:t>
            </a:r>
          </a:p>
          <a:p xmlns:a="http://schemas.openxmlformats.org/drawingml/2006/main">
            <a:r>
              <a:t>          "layer": "결과 검증",</a:t>
            </a:r>
          </a:p>
          <a:p xmlns:a="http://schemas.openxmlformats.org/drawingml/2006/main">
            <a:r>
              <a:t>          "detail": "시행일·조문 위치·예외 조건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담당 검토",</a:t>
            </a:r>
          </a:p>
          <a:p xmlns:a="http://schemas.openxmlformats.org/drawingml/2006/main">
            <a:r>
              <a:t>          "layer": "사람 확인",</a:t>
            </a:r>
          </a:p>
          <a:p xmlns:a="http://schemas.openxmlformats.org/drawingml/2006/main">
            <a:r>
              <a:t>          "detail": "현장 질문에 적용 시점의 안전 규정과 조문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"안전업무 참고",</a:t>
            </a:r>
          </a:p>
          <a:p xmlns:a="http://schemas.openxmlformats.org/drawingml/2006/main">
            <a:r>
              <a:t>          "layer": "업무 연결",</a:t>
            </a:r>
          </a:p>
          <a:p xmlns:a="http://schemas.openxmlformats.org/drawingml/2006/main">
            <a:r>
              <a:t>          "detail": "현장 담당자가 출처를 확인한 후 적용",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"구판 인용 검사",</a:t>
            </a:r>
          </a:p>
          <a:p xmlns:a="http://schemas.openxmlformats.org/drawingml/2006/main">
            <a:r>
              <a:t>          "layer": "운영 관측",</a:t>
            </a:r>
          </a:p>
          <a:p xmlns:a="http://schemas.openxmlformats.org/drawingml/2006/main">
            <a:r>
              <a:t>          "detail": "개정 후 구버전 인용과 충돌 답변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"법령·사규·매뉴얼",</a:t>
            </a:r>
          </a:p>
          <a:p xmlns:a="http://schemas.openxmlformats.org/drawingml/2006/main">
            <a:r>
              <a:t>          "layer": "데이터 원천",</a:t>
            </a:r>
          </a:p>
          <a:p xmlns:a="http://schemas.openxmlformats.org/drawingml/2006/main">
            <a:r>
              <a:t>          "detail": "안전 규정·매뉴얼",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"조문·개정일 색인",</a:t>
            </a:r>
          </a:p>
          <a:p xmlns:a="http://schemas.openxmlformats.org/drawingml/2006/main">
            <a:r>
              <a:t>          "layer": "준비·갱신",</a:t>
            </a:r>
          </a:p>
          <a:p xmlns:a="http://schemas.openxmlformats.org/drawingml/2006/main">
            <a:r>
              <a:t>          "detail": "법령·사규·매뉴얼의 조문·개정일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"유효 문서·답변",</a:t>
            </a:r>
          </a:p>
          <a:p xmlns:a="http://schemas.openxmlformats.org/drawingml/2006/main">
            <a:r>
              <a:t>          "layer": "상태·지식 저장",</a:t>
            </a:r>
          </a:p>
          <a:p xmlns:a="http://schemas.openxmlformats.org/drawingml/2006/main">
            <a:r>
              <a:t>          "detail": "판본·조문 정답표와 충돌 경고·응답 보류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"안전 승인 경계",</a:t>
            </a:r>
          </a:p>
          <a:p xmlns:a="http://schemas.openxmlformats.org/drawingml/2006/main">
            <a:r>
              <a:t>          "layer": "권한·정책",</a:t>
            </a:r>
          </a:p>
          <a:p xmlns:a="http://schemas.openxmlformats.org/drawingml/2006/main">
            <a:r>
              <a:t>          "detail": "폐지 규정·상위 법령과 사규 충돌·근거 부재",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"법령·사규·매뉴얼 → 전처리·검색 → 안전 Q&amp;A → 안전 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"안전 규정·매뉴얼",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"업무·설비·적용 시점 확인",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"판본·조문 정답표와 충돌 경고·응답 보류 결과",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조문",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"도시철도 안전 규정의 근거형 질의응답 / 법령·사규·질의응답·판본 확인",</a:t>
            </a:r>
          </a:p>
          <a:p xmlns:a="http://schemas.openxmlformats.org/drawingml/2006/main">
            <a:r>
              <a:t>        "extension": "TS 안전 직무별 규정·검사 기준 지식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규정·상위 법령과 사규 충돌·근거 부재",</a:t>
            </a:r>
          </a:p>
          <a:p xmlns:a="http://schemas.openxmlformats.org/drawingml/2006/main">
            <a:r>
              <a:t>        "hold": "시행일·조문 위치·예외 조건 검증",</a:t>
            </a:r>
          </a:p>
          <a:p xmlns:a="http://schemas.openxmlformats.org/drawingml/2006/main">
            <a:r>
              <a:t>        "recovery": "개정 후 구버전 인용과 충돌 답변 시험",</a:t>
            </a:r>
          </a:p>
          <a:p xmlns:a="http://schemas.openxmlformats.org/drawingml/2006/main">
            <a:r>
              <a:t>        "evidence": "판본·조문 정답표와 충돌 경고·응답 보류 결과"</a:t>
            </a:r>
          </a:p>
          <a:p xmlns:a="http://schemas.openxmlformats.org/drawingml/2006/main">
            <a:r>
              <a:t>      },</a:t>
            </a:r>
          </a:p>
          <a:p xmlns:a="http://schemas.openxmlformats.org/drawingml/2006/main">
            <a:r>
              <a:t>      "data": {</a:t>
            </a:r>
          </a:p>
          <a:p xmlns:a="http://schemas.openxmlformats.org/drawingml/2006/main">
            <a:r>
              <a:t>        "source": "안전 규정·매뉴얼",</a:t>
            </a:r>
          </a:p>
          <a:p xmlns:a="http://schemas.openxmlformats.org/drawingml/2006/main">
            <a:r>
              <a:t>        "prepare": "법령·사규·매뉴얼의 조문·개정일 색인",</a:t>
            </a:r>
          </a:p>
          <a:p xmlns:a="http://schemas.openxmlformats.org/drawingml/2006/main">
            <a:r>
              <a:t>        "output": "질문",</a:t>
            </a:r>
          </a:p>
          <a:p xmlns:a="http://schemas.openxmlformats.org/drawingml/2006/main">
            <a:r>
              <a:t>        "refresh": "개정 후 구버전 인용과 충돌 답변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"AX22",</a:t>
            </a:r>
          </a:p>
          <a:p xmlns:a="http://schemas.openxmlformats.org/drawingml/2006/main">
            <a:r>
              <a:t>    "success": [</a:t>
            </a:r>
          </a:p>
          <a:p xmlns:a="http://schemas.openxmlformats.org/drawingml/2006/main">
            <a:r>
              <a:t>      "법령·사규·매뉴얼의 통합 검색",</a:t>
            </a:r>
          </a:p>
          <a:p xmlns:a="http://schemas.openxmlformats.org/drawingml/2006/main">
            <a:r>
              <a:t>      "안전 담당자의 근거 검토"</a:t>
            </a:r>
          </a:p>
          <a:p xmlns:a="http://schemas.openxmlformats.org/drawingml/2006/main">
            <a:r>
              <a:t>    ],</a:t>
            </a:r>
          </a:p>
          <a:p xmlns:a="http://schemas.openxmlformats.org/drawingml/2006/main">
            <a:r>
              <a:t>    "risks": [</a:t>
            </a:r>
          </a:p>
          <a:p xmlns:a="http://schemas.openxmlformats.org/drawingml/2006/main">
            <a:r>
              <a:t>      "폐지·개정 전 문서 인용",</a:t>
            </a:r>
          </a:p>
          <a:p xmlns:a="http://schemas.openxmlformats.org/drawingml/2006/main">
            <a:r>
              <a:t>      "질의응답을 안전 승인으로 오인"</a:t>
            </a:r>
          </a:p>
          <a:p xmlns:a="http://schemas.openxmlformats.org/drawingml/2006/main">
            <a:r>
              <a:t>    ],</a:t>
            </a:r>
          </a:p>
          <a:p xmlns:a="http://schemas.openxmlformats.org/drawingml/2006/main">
            <a:r>
              <a:t>    "architecture": [</a:t>
            </a:r>
          </a:p>
          <a:p xmlns:a="http://schemas.openxmlformats.org/drawingml/2006/main">
            <a:r>
              <a:t>      "안전 담당 질의",</a:t>
            </a:r>
          </a:p>
          <a:p xmlns:a="http://schemas.openxmlformats.org/drawingml/2006/main">
            <a:r>
              <a:t>      "문서 검색·Q&amp;A",</a:t>
            </a:r>
          </a:p>
          <a:p xmlns:a="http://schemas.openxmlformats.org/drawingml/2006/main">
            <a:r>
              <a:t>      "안전 규정·매뉴얼",</a:t>
            </a:r>
          </a:p>
          <a:p xmlns:a="http://schemas.openxmlformats.org/drawingml/2006/main">
            <a:r>
              <a:t>      "안전 검토자"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"관련 조문",</a:t>
            </a:r>
          </a:p>
          <a:p xmlns:a="http://schemas.openxmlformats.org/drawingml/2006/main">
            <a:r>
              <a:t>      "근거 답변",</a:t>
            </a:r>
          </a:p>
          <a:p xmlns:a="http://schemas.openxmlformats.org/drawingml/2006/main">
            <a:r>
              <a:t>      "현장 검토"</a:t>
            </a:r>
          </a:p>
          <a:p xmlns:a="http://schemas.openxmlformats.org/drawingml/2006/main">
            <a:r>
              <a:t>    ],</a:t>
            </a:r>
          </a:p>
          <a:p xmlns:a="http://schemas.openxmlformats.org/drawingml/2006/main">
            <a:r>
              <a:t>    "control": "시행일·조문 위치·예외 조건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도시철도 교통안전 GPT · 공공AI 사례집 108–109쪽 https://bigdata.dongjak.go.kr/board/viewArticle?articleNo=954&amp;boardId=4</a:t>
            </a:r>
          </a:p>
          <a:p xmlns:a="http://schemas.openxmlformats.org/drawingml/2006/main">
            <a:r>
              <a:t>홈페이지 https://heen1987-ops.github.io/TS-business-Plan-001/index.html?view=casebook&amp;case=AX22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"AX22",</a:t>
            </a:r>
          </a:p>
          <a:p xmlns:a="http://schemas.openxmlformats.org/drawingml/2006/main">
            <a:r>
              <a:t>    "title": "도시철도 교통안전 GPT",</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"규정·매뉴얼 지식 지원",</a:t>
            </a:r>
          </a:p>
          <a:p xmlns:a="http://schemas.openxmlformats.org/drawingml/2006/main">
            <a:r>
              <a:t>    "period": "2023 실증",</a:t>
            </a:r>
          </a:p>
          <a:p xmlns:a="http://schemas.openxmlformats.org/drawingml/2006/main">
            <a:r>
              <a:t>    "sources": [</a:t>
            </a:r>
          </a:p>
          <a:p xmlns:a="http://schemas.openxmlformats.org/drawingml/2006/main">
            <a:r>
              <a:t>      "S-AX22"</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"매뉴얼 지식 지원"</a:t>
            </a:r>
          </a:p>
          <a:p xmlns:a="http://schemas.openxmlformats.org/drawingml/2006/main">
            <a:r>
              <a:t>    ],</a:t>
            </a:r>
          </a:p>
          <a:p xmlns:a="http://schemas.openxmlformats.org/drawingml/2006/main">
            <a:r>
              <a:t>    "fact": "안전 법령·사규·매뉴얼을 활용한 질의응답과 최신 근거 제공 서비스 실증",</a:t>
            </a:r>
          </a:p>
          <a:p xmlns:a="http://schemas.openxmlformats.org/drawingml/2006/main">
            <a:r>
              <a:t>    "limit": "실증과 기대효과 소개 · 사고 예방의 인과성과 수치 미제시",</a:t>
            </a:r>
          </a:p>
          <a:p xmlns:a="http://schemas.openxmlformats.org/drawingml/2006/main">
            <a:r>
              <a:t>    "flow": [</a:t>
            </a:r>
          </a:p>
          <a:p xmlns:a="http://schemas.openxmlformats.org/drawingml/2006/main">
            <a:r>
              <a:t>      "법령·사규·매뉴얼",</a:t>
            </a:r>
          </a:p>
          <a:p xmlns:a="http://schemas.openxmlformats.org/drawingml/2006/main">
            <a:r>
              <a:t>      "전처리·검색",</a:t>
            </a:r>
          </a:p>
          <a:p xmlns:a="http://schemas.openxmlformats.org/drawingml/2006/main">
            <a:r>
              <a:t>      "안전 Q&amp;A",</a:t>
            </a:r>
          </a:p>
          <a:p xmlns:a="http://schemas.openxmlformats.org/drawingml/2006/main">
            <a:r>
              <a:t>      "안전 담당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"문서 판본과 안전 직무별 근거 연결",</a:t>
            </a:r>
          </a:p>
          <a:p xmlns:a="http://schemas.openxmlformats.org/drawingml/2006/main">
            <a:r>
              <a:t>    "local": "TS 안전 직무별 규정·검사 기준 지식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"규정 효력일·폐지 문서·업무별 평가셋",</a:t>
            </a:r>
          </a:p>
          <a:p xmlns:a="http://schemas.openxmlformats.org/drawingml/2006/main">
            <a:r>
              <a:t>    "test": "동일 질문의 개정 전후 근거·답변 일치 시험",</a:t>
            </a:r>
          </a:p>
          <a:p xmlns:a="http://schemas.openxmlformats.org/drawingml/2006/main">
            <a:r>
              <a:t>    "metric": "근거 정확도 / 검토시간",</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"ST-04"</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"AX22",</a:t>
            </a:r>
          </a:p>
          <a:p xmlns:a="http://schemas.openxmlformats.org/drawingml/2006/main">
            <a:r>
              <a:t>    "canonicalId": "AX22",</a:t>
            </a:r>
          </a:p>
          <a:p xmlns:a="http://schemas.openxmlformats.org/drawingml/2006/main">
            <a:r>
              <a:t>    "purpose": "도시철도 안전 규정의 근거형 질의응답",</a:t>
            </a:r>
          </a:p>
          <a:p xmlns:a="http://schemas.openxmlformats.org/drawingml/2006/main">
            <a:r>
              <a:t>    "users": "안전·현장 운영 담당자",</a:t>
            </a:r>
          </a:p>
          <a:p xmlns:a="http://schemas.openxmlformats.org/drawingml/2006/main">
            <a:r>
              <a:t>    "scope": [</a:t>
            </a:r>
          </a:p>
          <a:p xmlns:a="http://schemas.openxmlformats.org/drawingml/2006/main">
            <a:r>
              <a:t>      "법령·사규",</a:t>
            </a:r>
          </a:p>
          <a:p xmlns:a="http://schemas.openxmlformats.org/drawingml/2006/main">
            <a:r>
              <a:t>      "질의응답",</a:t>
            </a:r>
          </a:p>
          <a:p xmlns:a="http://schemas.openxmlformats.org/drawingml/2006/main">
            <a:r>
              <a:t>      "판본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담당 질의",</a:t>
            </a:r>
          </a:p>
          <a:p xmlns:a="http://schemas.openxmlformats.org/drawingml/2006/main">
            <a:r>
              <a:t>        "detail": "업무·설비·적용 시점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"법령·사규 / 질의응답 / 판본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"문서 검색·Q&amp;A",</a:t>
            </a:r>
          </a:p>
          <a:p xmlns:a="http://schemas.openxmlformats.org/drawingml/2006/main">
            <a:r>
              <a:t>        "detail": "규정 검색과 조문 근거형 응답",</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검토자",</a:t>
            </a:r>
          </a:p>
          <a:p xmlns:a="http://schemas.openxmlformats.org/drawingml/2006/main">
            <a:r>
              <a:t>        "detail": "현장 담당자가 출처를 확인한 후 적용",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규정·매뉴얼",</a:t>
            </a:r>
          </a:p>
          <a:p xmlns:a="http://schemas.openxmlformats.org/drawingml/2006/main">
            <a:r>
              <a:t>        "detail": "법령·사규·매뉴얼의 조문·개정일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"개정 후 구버전 인용과 충돌 답변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"법령·사규·매뉴얼",</a:t>
            </a:r>
          </a:p>
          <a:p xmlns:a="http://schemas.openxmlformats.org/drawingml/2006/main">
            <a:r>
              <a:t>        "input": "업무·설비·적용 시점 확인",</a:t>
            </a:r>
          </a:p>
          <a:p xmlns:a="http://schemas.openxmlformats.org/drawingml/2006/main">
            <a:r>
              <a:t>        "process": "법령·사규·매뉴얼의 조문·개정일 색인",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"전처리·검색",</a:t>
            </a:r>
          </a:p>
          <a:p xmlns:a="http://schemas.openxmlformats.org/drawingml/2006/main">
            <a:r>
              <a:t>        "input": "질문",</a:t>
            </a:r>
          </a:p>
          <a:p xmlns:a="http://schemas.openxmlformats.org/drawingml/2006/main">
            <a:r>
              <a:t>        "process": "규정 검색과 조문 근거형 응답",</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"안전 Q&amp;A",</a:t>
            </a:r>
          </a:p>
          <a:p xmlns:a="http://schemas.openxmlformats.org/drawingml/2006/main">
            <a:r>
              <a:t>        "input": "관련 조문",</a:t>
            </a:r>
          </a:p>
          <a:p xmlns:a="http://schemas.openxmlformats.org/drawingml/2006/main">
            <a:r>
              <a:t>        "process": "시행일·조문 위치·예외 조건 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"근거 답변",</a:t>
            </a:r>
          </a:p>
          <a:p xmlns:a="http://schemas.openxmlformats.org/drawingml/2006/main">
            <a:r>
              <a:t>        "process":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"현장 질문에 적용 시점의 안전 규정과 조문 제공",</a:t>
            </a:r>
          </a:p>
          <a:p xmlns:a="http://schemas.openxmlformats.org/drawingml/2006/main">
            <a:r>
              <a:t>      "exception": "폐지 규정·상위 법령과 사규 충돌·근거 부재",</a:t>
            </a:r>
          </a:p>
          <a:p xmlns:a="http://schemas.openxmlformats.org/drawingml/2006/main">
            <a:r>
              <a:t>      "evidence": "판본·조문 정답표와 충돌 경고·응답 보류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"안전·현장 운영 담당자",</a:t>
            </a:r>
          </a:p>
          <a:p xmlns:a="http://schemas.openxmlformats.org/drawingml/2006/main">
            <a:r>
              <a:t>          "processing": "업무·설비·적용 시점 확인",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규정·매뉴얼",</a:t>
            </a:r>
          </a:p>
          <a:p xmlns:a="http://schemas.openxmlformats.org/drawingml/2006/main">
            <a:r>
              <a:t>          "processing": "법령·사규·매뉴얼의 조문·개정일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"규정 검색과 조문 근거형 응답",</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"개정 후 구버전 인용과 충돌 답변 시험",</a:t>
            </a:r>
          </a:p>
          <a:p xmlns:a="http://schemas.openxmlformats.org/drawingml/2006/main">
            <a:r>
              <a:t>          "output": "판본·조문 정답표와 충돌 경고·응답 보류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"개정 후 구버전 인용과 충돌 답변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"S-AX22",</a:t>
            </a:r>
          </a:p>
          <a:p xmlns:a="http://schemas.openxmlformats.org/drawingml/2006/main">
            <a:r>
              <a:t>        "title": "도시철도 교통안전 GPT · 공공AI 사례집 108–109쪽",</a:t>
            </a:r>
          </a:p>
          <a:p xmlns:a="http://schemas.openxmlformats.org/drawingml/2006/main">
            <a:r>
              <a:t>        "url": "https://bigdata.dongjak.go.kr/board/viewArticle?articleNo=954&amp;boardId=4",</a:t>
            </a:r>
          </a:p>
          <a:p xmlns:a="http://schemas.openxmlformats.org/drawingml/2006/main">
            <a:r>
              <a:t>        "published": "2023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"문서 판본과 안전 직무별 근거 연결",</a:t>
            </a:r>
          </a:p>
          <a:p xmlns:a="http://schemas.openxmlformats.org/drawingml/2006/main">
            <a:r>
              <a:t>    "local": "TS 안전 직무별 규정·검사 기준 지식 분리",</a:t>
            </a:r>
          </a:p>
          <a:p xmlns:a="http://schemas.openxmlformats.org/drawingml/2006/main">
            <a:r>
              <a:t>    "sourceDetail": null,</a:t>
            </a:r>
          </a:p>
          <a:p xmlns:a="http://schemas.openxmlformats.org/drawingml/2006/main">
            <a:r>
              <a:t>    "narrative": [</a:t>
            </a:r>
          </a:p>
          <a:p xmlns:a="http://schemas.openxmlformats.org/drawingml/2006/main">
            <a:r>
              <a:t>      "도시철도 안전 업무에서 법령·사규·매뉴얼을 함께 검색하는 질의응답 사례. 자료가 여러 위치와 판본으로 존재할 때 관련 조문을 찾는 작업의 지원.",</a:t>
            </a:r>
          </a:p>
          <a:p xmlns:a="http://schemas.openxmlformats.org/drawingml/2006/main">
            <a:r>
              <a:t>      "질의의 업무·설비·적용 시점을 바탕으로 유효 문서를 검색하고 조문 위치를 포함한 답변을 구성하는 재구성. 현장 담당자가 예외 조건과 시행일을 확인한 후 업무에 참고하는 흐름.",</a:t>
            </a:r>
          </a:p>
          <a:p xmlns:a="http://schemas.openxmlformats.org/drawingml/2006/main">
            <a:r>
              <a:t>      "CCK에서는 검색 답변과 안전 승인 권한을 분리하고 개정 전후 충돌 답변을 시험할 근거. 구판 회수, 조문 위치 일치, 예외 조건 누락과 검토시간을 TS 부서별로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"안전업무 질의",</a:t>
            </a:r>
          </a:p>
          <a:p xmlns:a="http://schemas.openxmlformats.org/drawingml/2006/main">
            <a:r>
              <a:t>          "layer": "이용 접점",</a:t>
            </a:r>
          </a:p>
          <a:p xmlns:a="http://schemas.openxmlformats.org/drawingml/2006/main">
            <a:r>
              <a:t>          "detail": "안전·현장 운영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"설비·적용시점",</a:t>
            </a:r>
          </a:p>
          <a:p xmlns:a="http://schemas.openxmlformats.org/drawingml/2006/main">
            <a:r>
              <a:t>          "layer": "업무 문맥",</a:t>
            </a:r>
          </a:p>
          <a:p xmlns:a="http://schemas.openxmlformats.org/drawingml/2006/main">
            <a:r>
              <a:t>          "detail": "업무·설비·적용 시점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조문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"규정 검색과 조문 근거형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"시행일·예외 대조",</a:t>
            </a:r>
          </a:p>
          <a:p xmlns:a="http://schemas.openxmlformats.org/drawingml/2006/main">
            <a:r>
              <a:t>          "layer": "결과 검증",</a:t>
            </a:r>
          </a:p>
          <a:p xmlns:a="http://schemas.openxmlformats.org/drawingml/2006/main">
            <a:r>
              <a:t>          "detail": "시행일·조문 위치·예외 조건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담당 검토",</a:t>
            </a:r>
          </a:p>
          <a:p xmlns:a="http://schemas.openxmlformats.org/drawingml/2006/main">
            <a:r>
              <a:t>          "layer": "사람 확인",</a:t>
            </a:r>
          </a:p>
          <a:p xmlns:a="http://schemas.openxmlformats.org/drawingml/2006/main">
            <a:r>
              <a:t>          "detail": "현장 질문에 적용 시점의 안전 규정과 조문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"안전업무 참고",</a:t>
            </a:r>
          </a:p>
          <a:p xmlns:a="http://schemas.openxmlformats.org/drawingml/2006/main">
            <a:r>
              <a:t>          "layer": "업무 연결",</a:t>
            </a:r>
          </a:p>
          <a:p xmlns:a="http://schemas.openxmlformats.org/drawingml/2006/main">
            <a:r>
              <a:t>          "detail": "현장 담당자가 출처를 확인한 후 적용",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"구판 인용 검사",</a:t>
            </a:r>
          </a:p>
          <a:p xmlns:a="http://schemas.openxmlformats.org/drawingml/2006/main">
            <a:r>
              <a:t>          "layer": "운영 관측",</a:t>
            </a:r>
          </a:p>
          <a:p xmlns:a="http://schemas.openxmlformats.org/drawingml/2006/main">
            <a:r>
              <a:t>          "detail": "개정 후 구버전 인용과 충돌 답변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"법령·사규·매뉴얼",</a:t>
            </a:r>
          </a:p>
          <a:p xmlns:a="http://schemas.openxmlformats.org/drawingml/2006/main">
            <a:r>
              <a:t>          "layer": "데이터 원천",</a:t>
            </a:r>
          </a:p>
          <a:p xmlns:a="http://schemas.openxmlformats.org/drawingml/2006/main">
            <a:r>
              <a:t>          "detail": "안전 규정·매뉴얼",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"조문·개정일 색인",</a:t>
            </a:r>
          </a:p>
          <a:p xmlns:a="http://schemas.openxmlformats.org/drawingml/2006/main">
            <a:r>
              <a:t>          "layer": "준비·갱신",</a:t>
            </a:r>
          </a:p>
          <a:p xmlns:a="http://schemas.openxmlformats.org/drawingml/2006/main">
            <a:r>
              <a:t>          "detail": "법령·사규·매뉴얼의 조문·개정일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"유효 문서·답변",</a:t>
            </a:r>
          </a:p>
          <a:p xmlns:a="http://schemas.openxmlformats.org/drawingml/2006/main">
            <a:r>
              <a:t>          "layer": "상태·지식 저장",</a:t>
            </a:r>
          </a:p>
          <a:p xmlns:a="http://schemas.openxmlformats.org/drawingml/2006/main">
            <a:r>
              <a:t>          "detail": "판본·조문 정답표와 충돌 경고·응답 보류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"안전 승인 경계",</a:t>
            </a:r>
          </a:p>
          <a:p xmlns:a="http://schemas.openxmlformats.org/drawingml/2006/main">
            <a:r>
              <a:t>          "layer": "권한·정책",</a:t>
            </a:r>
          </a:p>
          <a:p xmlns:a="http://schemas.openxmlformats.org/drawingml/2006/main">
            <a:r>
              <a:t>          "detail": "폐지 규정·상위 법령과 사규 충돌·근거 부재",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"법령·사규·매뉴얼 → 전처리·검색 → 안전 Q&amp;A → 안전 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"안전 규정·매뉴얼",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"업무·설비·적용 시점 확인",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"판본·조문 정답표와 충돌 경고·응답 보류 결과",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조문",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"도시철도 안전 규정의 근거형 질의응답 / 법령·사규·질의응답·판본 확인",</a:t>
            </a:r>
          </a:p>
          <a:p xmlns:a="http://schemas.openxmlformats.org/drawingml/2006/main">
            <a:r>
              <a:t>        "extension": "TS 안전 직무별 규정·검사 기준 지식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규정·상위 법령과 사규 충돌·근거 부재",</a:t>
            </a:r>
          </a:p>
          <a:p xmlns:a="http://schemas.openxmlformats.org/drawingml/2006/main">
            <a:r>
              <a:t>        "hold": "시행일·조문 위치·예외 조건 검증",</a:t>
            </a:r>
          </a:p>
          <a:p xmlns:a="http://schemas.openxmlformats.org/drawingml/2006/main">
            <a:r>
              <a:t>        "recovery": "개정 후 구버전 인용과 충돌 답변 시험",</a:t>
            </a:r>
          </a:p>
          <a:p xmlns:a="http://schemas.openxmlformats.org/drawingml/2006/main">
            <a:r>
              <a:t>        "evidence": "판본·조문 정답표와 충돌 경고·응답 보류 결과"</a:t>
            </a:r>
          </a:p>
          <a:p xmlns:a="http://schemas.openxmlformats.org/drawingml/2006/main">
            <a:r>
              <a:t>      },</a:t>
            </a:r>
          </a:p>
          <a:p xmlns:a="http://schemas.openxmlformats.org/drawingml/2006/main">
            <a:r>
              <a:t>      "data": {</a:t>
            </a:r>
          </a:p>
          <a:p xmlns:a="http://schemas.openxmlformats.org/drawingml/2006/main">
            <a:r>
              <a:t>        "source": "안전 규정·매뉴얼",</a:t>
            </a:r>
          </a:p>
          <a:p xmlns:a="http://schemas.openxmlformats.org/drawingml/2006/main">
            <a:r>
              <a:t>        "prepare": "법령·사규·매뉴얼의 조문·개정일 색인",</a:t>
            </a:r>
          </a:p>
          <a:p xmlns:a="http://schemas.openxmlformats.org/drawingml/2006/main">
            <a:r>
              <a:t>        "output": "질문",</a:t>
            </a:r>
          </a:p>
          <a:p xmlns:a="http://schemas.openxmlformats.org/drawingml/2006/main">
            <a:r>
              <a:t>        "refresh": "개정 후 구버전 인용과 충돌 답변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"AX22",</a:t>
            </a:r>
          </a:p>
          <a:p xmlns:a="http://schemas.openxmlformats.org/drawingml/2006/main">
            <a:r>
              <a:t>    "success": [</a:t>
            </a:r>
          </a:p>
          <a:p xmlns:a="http://schemas.openxmlformats.org/drawingml/2006/main">
            <a:r>
              <a:t>      "법령·사규·매뉴얼의 통합 검색",</a:t>
            </a:r>
          </a:p>
          <a:p xmlns:a="http://schemas.openxmlformats.org/drawingml/2006/main">
            <a:r>
              <a:t>      "안전 담당자의 근거 검토"</a:t>
            </a:r>
          </a:p>
          <a:p xmlns:a="http://schemas.openxmlformats.org/drawingml/2006/main">
            <a:r>
              <a:t>    ],</a:t>
            </a:r>
          </a:p>
          <a:p xmlns:a="http://schemas.openxmlformats.org/drawingml/2006/main">
            <a:r>
              <a:t>    "risks": [</a:t>
            </a:r>
          </a:p>
          <a:p xmlns:a="http://schemas.openxmlformats.org/drawingml/2006/main">
            <a:r>
              <a:t>      "폐지·개정 전 문서 인용",</a:t>
            </a:r>
          </a:p>
          <a:p xmlns:a="http://schemas.openxmlformats.org/drawingml/2006/main">
            <a:r>
              <a:t>      "질의응답을 안전 승인으로 오인"</a:t>
            </a:r>
          </a:p>
          <a:p xmlns:a="http://schemas.openxmlformats.org/drawingml/2006/main">
            <a:r>
              <a:t>    ],</a:t>
            </a:r>
          </a:p>
          <a:p xmlns:a="http://schemas.openxmlformats.org/drawingml/2006/main">
            <a:r>
              <a:t>    "architecture": [</a:t>
            </a:r>
          </a:p>
          <a:p xmlns:a="http://schemas.openxmlformats.org/drawingml/2006/main">
            <a:r>
              <a:t>      "안전 담당 질의",</a:t>
            </a:r>
          </a:p>
          <a:p xmlns:a="http://schemas.openxmlformats.org/drawingml/2006/main">
            <a:r>
              <a:t>      "문서 검색·Q&amp;A",</a:t>
            </a:r>
          </a:p>
          <a:p xmlns:a="http://schemas.openxmlformats.org/drawingml/2006/main">
            <a:r>
              <a:t>      "안전 규정·매뉴얼",</a:t>
            </a:r>
          </a:p>
          <a:p xmlns:a="http://schemas.openxmlformats.org/drawingml/2006/main">
            <a:r>
              <a:t>      "안전 검토자"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"관련 조문",</a:t>
            </a:r>
          </a:p>
          <a:p xmlns:a="http://schemas.openxmlformats.org/drawingml/2006/main">
            <a:r>
              <a:t>      "근거 답변",</a:t>
            </a:r>
          </a:p>
          <a:p xmlns:a="http://schemas.openxmlformats.org/drawingml/2006/main">
            <a:r>
              <a:t>      "현장 검토"</a:t>
            </a:r>
          </a:p>
          <a:p xmlns:a="http://schemas.openxmlformats.org/drawingml/2006/main">
            <a:r>
              <a:t>    ],</a:t>
            </a:r>
          </a:p>
          <a:p xmlns:a="http://schemas.openxmlformats.org/drawingml/2006/main">
            <a:r>
              <a:t>    "control": "시행일·조문 위치·예외 조건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도시철도 교통안전 GPT · 공공AI 사례집 108–109쪽 https://bigdata.dongjak.go.kr/board/viewArticle?articleNo=954&amp;boardId=4</a:t>
            </a:r>
          </a:p>
          <a:p xmlns:a="http://schemas.openxmlformats.org/drawingml/2006/main">
            <a:r>
              <a:t>홈페이지 https://heen1987-ops.github.io/TS-business-Plan-001/index.html?view=casebook&amp;case=AX22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"AX22",</a:t>
            </a:r>
          </a:p>
          <a:p xmlns:a="http://schemas.openxmlformats.org/drawingml/2006/main">
            <a:r>
              <a:t>    "title": "도시철도 교통안전 GPT",</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"규정·매뉴얼 지식 지원",</a:t>
            </a:r>
          </a:p>
          <a:p xmlns:a="http://schemas.openxmlformats.org/drawingml/2006/main">
            <a:r>
              <a:t>    "period": "2023 실증",</a:t>
            </a:r>
          </a:p>
          <a:p xmlns:a="http://schemas.openxmlformats.org/drawingml/2006/main">
            <a:r>
              <a:t>    "sources": [</a:t>
            </a:r>
          </a:p>
          <a:p xmlns:a="http://schemas.openxmlformats.org/drawingml/2006/main">
            <a:r>
              <a:t>      "S-AX22"</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"매뉴얼 지식 지원"</a:t>
            </a:r>
          </a:p>
          <a:p xmlns:a="http://schemas.openxmlformats.org/drawingml/2006/main">
            <a:r>
              <a:t>    ],</a:t>
            </a:r>
          </a:p>
          <a:p xmlns:a="http://schemas.openxmlformats.org/drawingml/2006/main">
            <a:r>
              <a:t>    "fact": "안전 법령·사규·매뉴얼을 활용한 질의응답과 최신 근거 제공 서비스 실증",</a:t>
            </a:r>
          </a:p>
          <a:p xmlns:a="http://schemas.openxmlformats.org/drawingml/2006/main">
            <a:r>
              <a:t>    "limit": "실증과 기대효과 소개 · 사고 예방의 인과성과 수치 미제시",</a:t>
            </a:r>
          </a:p>
          <a:p xmlns:a="http://schemas.openxmlformats.org/drawingml/2006/main">
            <a:r>
              <a:t>    "flow": [</a:t>
            </a:r>
          </a:p>
          <a:p xmlns:a="http://schemas.openxmlformats.org/drawingml/2006/main">
            <a:r>
              <a:t>      "법령·사규·매뉴얼",</a:t>
            </a:r>
          </a:p>
          <a:p xmlns:a="http://schemas.openxmlformats.org/drawingml/2006/main">
            <a:r>
              <a:t>      "전처리·검색",</a:t>
            </a:r>
          </a:p>
          <a:p xmlns:a="http://schemas.openxmlformats.org/drawingml/2006/main">
            <a:r>
              <a:t>      "안전 Q&amp;A",</a:t>
            </a:r>
          </a:p>
          <a:p xmlns:a="http://schemas.openxmlformats.org/drawingml/2006/main">
            <a:r>
              <a:t>      "안전 담당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"문서 판본과 안전 직무별 근거 연결",</a:t>
            </a:r>
          </a:p>
          <a:p xmlns:a="http://schemas.openxmlformats.org/drawingml/2006/main">
            <a:r>
              <a:t>    "local": "TS 안전 직무별 규정·검사 기준 지식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"규정 효력일·폐지 문서·업무별 평가셋",</a:t>
            </a:r>
          </a:p>
          <a:p xmlns:a="http://schemas.openxmlformats.org/drawingml/2006/main">
            <a:r>
              <a:t>    "test": "동일 질문의 개정 전후 근거·답변 일치 시험",</a:t>
            </a:r>
          </a:p>
          <a:p xmlns:a="http://schemas.openxmlformats.org/drawingml/2006/main">
            <a:r>
              <a:t>    "metric": "근거 정확도 / 검토시간",</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"ST-04"</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"AX22",</a:t>
            </a:r>
          </a:p>
          <a:p xmlns:a="http://schemas.openxmlformats.org/drawingml/2006/main">
            <a:r>
              <a:t>    "canonicalId": "AX22",</a:t>
            </a:r>
          </a:p>
          <a:p xmlns:a="http://schemas.openxmlformats.org/drawingml/2006/main">
            <a:r>
              <a:t>    "purpose": "도시철도 안전 규정의 근거형 질의응답",</a:t>
            </a:r>
          </a:p>
          <a:p xmlns:a="http://schemas.openxmlformats.org/drawingml/2006/main">
            <a:r>
              <a:t>    "users": "안전·현장 운영 담당자",</a:t>
            </a:r>
          </a:p>
          <a:p xmlns:a="http://schemas.openxmlformats.org/drawingml/2006/main">
            <a:r>
              <a:t>    "scope": [</a:t>
            </a:r>
          </a:p>
          <a:p xmlns:a="http://schemas.openxmlformats.org/drawingml/2006/main">
            <a:r>
              <a:t>      "법령·사규",</a:t>
            </a:r>
          </a:p>
          <a:p xmlns:a="http://schemas.openxmlformats.org/drawingml/2006/main">
            <a:r>
              <a:t>      "질의응답",</a:t>
            </a:r>
          </a:p>
          <a:p xmlns:a="http://schemas.openxmlformats.org/drawingml/2006/main">
            <a:r>
              <a:t>      "판본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담당 질의",</a:t>
            </a:r>
          </a:p>
          <a:p xmlns:a="http://schemas.openxmlformats.org/drawingml/2006/main">
            <a:r>
              <a:t>        "detail": "업무·설비·적용 시점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"법령·사규 / 질의응답 / 판본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"문서 검색·Q&amp;A",</a:t>
            </a:r>
          </a:p>
          <a:p xmlns:a="http://schemas.openxmlformats.org/drawingml/2006/main">
            <a:r>
              <a:t>        "detail": "규정 검색과 조문 근거형 응답",</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검토자",</a:t>
            </a:r>
          </a:p>
          <a:p xmlns:a="http://schemas.openxmlformats.org/drawingml/2006/main">
            <a:r>
              <a:t>        "detail": "현장 담당자가 출처를 확인한 후 적용",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규정·매뉴얼",</a:t>
            </a:r>
          </a:p>
          <a:p xmlns:a="http://schemas.openxmlformats.org/drawingml/2006/main">
            <a:r>
              <a:t>        "detail": "법령·사규·매뉴얼의 조문·개정일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"개정 후 구버전 인용과 충돌 답변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"법령·사규·매뉴얼",</a:t>
            </a:r>
          </a:p>
          <a:p xmlns:a="http://schemas.openxmlformats.org/drawingml/2006/main">
            <a:r>
              <a:t>        "input": "업무·설비·적용 시점 확인",</a:t>
            </a:r>
          </a:p>
          <a:p xmlns:a="http://schemas.openxmlformats.org/drawingml/2006/main">
            <a:r>
              <a:t>        "process": "법령·사규·매뉴얼의 조문·개정일 색인",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"전처리·검색",</a:t>
            </a:r>
          </a:p>
          <a:p xmlns:a="http://schemas.openxmlformats.org/drawingml/2006/main">
            <a:r>
              <a:t>        "input": "질문",</a:t>
            </a:r>
          </a:p>
          <a:p xmlns:a="http://schemas.openxmlformats.org/drawingml/2006/main">
            <a:r>
              <a:t>        "process": "규정 검색과 조문 근거형 응답",</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"안전 Q&amp;A",</a:t>
            </a:r>
          </a:p>
          <a:p xmlns:a="http://schemas.openxmlformats.org/drawingml/2006/main">
            <a:r>
              <a:t>        "input": "관련 조문",</a:t>
            </a:r>
          </a:p>
          <a:p xmlns:a="http://schemas.openxmlformats.org/drawingml/2006/main">
            <a:r>
              <a:t>        "process": "시행일·조문 위치·예외 조건 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"근거 답변",</a:t>
            </a:r>
          </a:p>
          <a:p xmlns:a="http://schemas.openxmlformats.org/drawingml/2006/main">
            <a:r>
              <a:t>        "process":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"현장 질문에 적용 시점의 안전 규정과 조문 제공",</a:t>
            </a:r>
          </a:p>
          <a:p xmlns:a="http://schemas.openxmlformats.org/drawingml/2006/main">
            <a:r>
              <a:t>      "exception": "폐지 규정·상위 법령과 사규 충돌·근거 부재",</a:t>
            </a:r>
          </a:p>
          <a:p xmlns:a="http://schemas.openxmlformats.org/drawingml/2006/main">
            <a:r>
              <a:t>      "evidence": "판본·조문 정답표와 충돌 경고·응답 보류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"안전·현장 운영 담당자",</a:t>
            </a:r>
          </a:p>
          <a:p xmlns:a="http://schemas.openxmlformats.org/drawingml/2006/main">
            <a:r>
              <a:t>          "processing": "업무·설비·적용 시점 확인",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규정·매뉴얼",</a:t>
            </a:r>
          </a:p>
          <a:p xmlns:a="http://schemas.openxmlformats.org/drawingml/2006/main">
            <a:r>
              <a:t>          "processing": "법령·사규·매뉴얼의 조문·개정일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"규정 검색과 조문 근거형 응답",</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"개정 후 구버전 인용과 충돌 답변 시험",</a:t>
            </a:r>
          </a:p>
          <a:p xmlns:a="http://schemas.openxmlformats.org/drawingml/2006/main">
            <a:r>
              <a:t>          "output": "판본·조문 정답표와 충돌 경고·응답 보류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"개정 후 구버전 인용과 충돌 답변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"S-AX22",</a:t>
            </a:r>
          </a:p>
          <a:p xmlns:a="http://schemas.openxmlformats.org/drawingml/2006/main">
            <a:r>
              <a:t>        "title": "도시철도 교통안전 GPT · 공공AI 사례집 108–109쪽",</a:t>
            </a:r>
          </a:p>
          <a:p xmlns:a="http://schemas.openxmlformats.org/drawingml/2006/main">
            <a:r>
              <a:t>        "url": "https://bigdata.dongjak.go.kr/board/viewArticle?articleNo=954&amp;boardId=4",</a:t>
            </a:r>
          </a:p>
          <a:p xmlns:a="http://schemas.openxmlformats.org/drawingml/2006/main">
            <a:r>
              <a:t>        "published": "2023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"문서 판본과 안전 직무별 근거 연결",</a:t>
            </a:r>
          </a:p>
          <a:p xmlns:a="http://schemas.openxmlformats.org/drawingml/2006/main">
            <a:r>
              <a:t>    "local": "TS 안전 직무별 규정·검사 기준 지식 분리",</a:t>
            </a:r>
          </a:p>
          <a:p xmlns:a="http://schemas.openxmlformats.org/drawingml/2006/main">
            <a:r>
              <a:t>    "sourceDetail": null,</a:t>
            </a:r>
          </a:p>
          <a:p xmlns:a="http://schemas.openxmlformats.org/drawingml/2006/main">
            <a:r>
              <a:t>    "narrative": [</a:t>
            </a:r>
          </a:p>
          <a:p xmlns:a="http://schemas.openxmlformats.org/drawingml/2006/main">
            <a:r>
              <a:t>      "도시철도 안전 업무에서 법령·사규·매뉴얼을 함께 검색하는 질의응답 사례. 자료가 여러 위치와 판본으로 존재할 때 관련 조문을 찾는 작업의 지원.",</a:t>
            </a:r>
          </a:p>
          <a:p xmlns:a="http://schemas.openxmlformats.org/drawingml/2006/main">
            <a:r>
              <a:t>      "질의의 업무·설비·적용 시점을 바탕으로 유효 문서를 검색하고 조문 위치를 포함한 답변을 구성하는 재구성. 현장 담당자가 예외 조건과 시행일을 확인한 후 업무에 참고하는 흐름.",</a:t>
            </a:r>
          </a:p>
          <a:p xmlns:a="http://schemas.openxmlformats.org/drawingml/2006/main">
            <a:r>
              <a:t>      "CCK에서는 검색 답변과 안전 승인 권한을 분리하고 개정 전후 충돌 답변을 시험할 근거. 구판 회수, 조문 위치 일치, 예외 조건 누락과 검토시간을 TS 부서별로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"안전업무 질의",</a:t>
            </a:r>
          </a:p>
          <a:p xmlns:a="http://schemas.openxmlformats.org/drawingml/2006/main">
            <a:r>
              <a:t>          "layer": "이용 접점",</a:t>
            </a:r>
          </a:p>
          <a:p xmlns:a="http://schemas.openxmlformats.org/drawingml/2006/main">
            <a:r>
              <a:t>          "detail": "안전·현장 운영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"설비·적용시점",</a:t>
            </a:r>
          </a:p>
          <a:p xmlns:a="http://schemas.openxmlformats.org/drawingml/2006/main">
            <a:r>
              <a:t>          "layer": "업무 문맥",</a:t>
            </a:r>
          </a:p>
          <a:p xmlns:a="http://schemas.openxmlformats.org/drawingml/2006/main">
            <a:r>
              <a:t>          "detail": "업무·설비·적용 시점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조문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"규정 검색과 조문 근거형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"시행일·예외 대조",</a:t>
            </a:r>
          </a:p>
          <a:p xmlns:a="http://schemas.openxmlformats.org/drawingml/2006/main">
            <a:r>
              <a:t>          "layer": "결과 검증",</a:t>
            </a:r>
          </a:p>
          <a:p xmlns:a="http://schemas.openxmlformats.org/drawingml/2006/main">
            <a:r>
              <a:t>          "detail": "시행일·조문 위치·예외 조건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담당 검토",</a:t>
            </a:r>
          </a:p>
          <a:p xmlns:a="http://schemas.openxmlformats.org/drawingml/2006/main">
            <a:r>
              <a:t>          "layer": "사람 확인",</a:t>
            </a:r>
          </a:p>
          <a:p xmlns:a="http://schemas.openxmlformats.org/drawingml/2006/main">
            <a:r>
              <a:t>          "detail": "현장 질문에 적용 시점의 안전 규정과 조문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"안전업무 참고",</a:t>
            </a:r>
          </a:p>
          <a:p xmlns:a="http://schemas.openxmlformats.org/drawingml/2006/main">
            <a:r>
              <a:t>          "layer": "업무 연결",</a:t>
            </a:r>
          </a:p>
          <a:p xmlns:a="http://schemas.openxmlformats.org/drawingml/2006/main">
            <a:r>
              <a:t>          "detail": "현장 담당자가 출처를 확인한 후 적용",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"구판 인용 검사",</a:t>
            </a:r>
          </a:p>
          <a:p xmlns:a="http://schemas.openxmlformats.org/drawingml/2006/main">
            <a:r>
              <a:t>          "layer": "운영 관측",</a:t>
            </a:r>
          </a:p>
          <a:p xmlns:a="http://schemas.openxmlformats.org/drawingml/2006/main">
            <a:r>
              <a:t>          "detail": "개정 후 구버전 인용과 충돌 답변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"법령·사규·매뉴얼",</a:t>
            </a:r>
          </a:p>
          <a:p xmlns:a="http://schemas.openxmlformats.org/drawingml/2006/main">
            <a:r>
              <a:t>          "layer": "데이터 원천",</a:t>
            </a:r>
          </a:p>
          <a:p xmlns:a="http://schemas.openxmlformats.org/drawingml/2006/main">
            <a:r>
              <a:t>          "detail": "안전 규정·매뉴얼",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"조문·개정일 색인",</a:t>
            </a:r>
          </a:p>
          <a:p xmlns:a="http://schemas.openxmlformats.org/drawingml/2006/main">
            <a:r>
              <a:t>          "layer": "준비·갱신",</a:t>
            </a:r>
          </a:p>
          <a:p xmlns:a="http://schemas.openxmlformats.org/drawingml/2006/main">
            <a:r>
              <a:t>          "detail": "법령·사규·매뉴얼의 조문·개정일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"유효 문서·답변",</a:t>
            </a:r>
          </a:p>
          <a:p xmlns:a="http://schemas.openxmlformats.org/drawingml/2006/main">
            <a:r>
              <a:t>          "layer": "상태·지식 저장",</a:t>
            </a:r>
          </a:p>
          <a:p xmlns:a="http://schemas.openxmlformats.org/drawingml/2006/main">
            <a:r>
              <a:t>          "detail": "판본·조문 정답표와 충돌 경고·응답 보류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"안전 승인 경계",</a:t>
            </a:r>
          </a:p>
          <a:p xmlns:a="http://schemas.openxmlformats.org/drawingml/2006/main">
            <a:r>
              <a:t>          "layer": "권한·정책",</a:t>
            </a:r>
          </a:p>
          <a:p xmlns:a="http://schemas.openxmlformats.org/drawingml/2006/main">
            <a:r>
              <a:t>          "detail": "폐지 규정·상위 법령과 사규 충돌·근거 부재",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"법령·사규·매뉴얼 → 전처리·검색 → 안전 Q&amp;A → 안전 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"안전 규정·매뉴얼",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"업무·설비·적용 시점 확인",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"판본·조문 정답표와 충돌 경고·응답 보류 결과",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조문",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"도시철도 안전 규정의 근거형 질의응답 / 법령·사규·질의응답·판본 확인",</a:t>
            </a:r>
          </a:p>
          <a:p xmlns:a="http://schemas.openxmlformats.org/drawingml/2006/main">
            <a:r>
              <a:t>        "extension": "TS 안전 직무별 규정·검사 기준 지식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규정·상위 법령과 사규 충돌·근거 부재",</a:t>
            </a:r>
          </a:p>
          <a:p xmlns:a="http://schemas.openxmlformats.org/drawingml/2006/main">
            <a:r>
              <a:t>        "hold": "시행일·조문 위치·예외 조건 검증",</a:t>
            </a:r>
          </a:p>
          <a:p xmlns:a="http://schemas.openxmlformats.org/drawingml/2006/main">
            <a:r>
              <a:t>        "recovery": "개정 후 구버전 인용과 충돌 답변 시험",</a:t>
            </a:r>
          </a:p>
          <a:p xmlns:a="http://schemas.openxmlformats.org/drawingml/2006/main">
            <a:r>
              <a:t>        "evidence": "판본·조문 정답표와 충돌 경고·응답 보류 결과"</a:t>
            </a:r>
          </a:p>
          <a:p xmlns:a="http://schemas.openxmlformats.org/drawingml/2006/main">
            <a:r>
              <a:t>      },</a:t>
            </a:r>
          </a:p>
          <a:p xmlns:a="http://schemas.openxmlformats.org/drawingml/2006/main">
            <a:r>
              <a:t>      "data": {</a:t>
            </a:r>
          </a:p>
          <a:p xmlns:a="http://schemas.openxmlformats.org/drawingml/2006/main">
            <a:r>
              <a:t>        "source": "안전 규정·매뉴얼",</a:t>
            </a:r>
          </a:p>
          <a:p xmlns:a="http://schemas.openxmlformats.org/drawingml/2006/main">
            <a:r>
              <a:t>        "prepare": "법령·사규·매뉴얼의 조문·개정일 색인",</a:t>
            </a:r>
          </a:p>
          <a:p xmlns:a="http://schemas.openxmlformats.org/drawingml/2006/main">
            <a:r>
              <a:t>        "output": "질문",</a:t>
            </a:r>
          </a:p>
          <a:p xmlns:a="http://schemas.openxmlformats.org/drawingml/2006/main">
            <a:r>
              <a:t>        "refresh": "개정 후 구버전 인용과 충돌 답변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"AX22",</a:t>
            </a:r>
          </a:p>
          <a:p xmlns:a="http://schemas.openxmlformats.org/drawingml/2006/main">
            <a:r>
              <a:t>    "success": [</a:t>
            </a:r>
          </a:p>
          <a:p xmlns:a="http://schemas.openxmlformats.org/drawingml/2006/main">
            <a:r>
              <a:t>      "법령·사규·매뉴얼의 통합 검색",</a:t>
            </a:r>
          </a:p>
          <a:p xmlns:a="http://schemas.openxmlformats.org/drawingml/2006/main">
            <a:r>
              <a:t>      "안전 담당자의 근거 검토"</a:t>
            </a:r>
          </a:p>
          <a:p xmlns:a="http://schemas.openxmlformats.org/drawingml/2006/main">
            <a:r>
              <a:t>    ],</a:t>
            </a:r>
          </a:p>
          <a:p xmlns:a="http://schemas.openxmlformats.org/drawingml/2006/main">
            <a:r>
              <a:t>    "risks": [</a:t>
            </a:r>
          </a:p>
          <a:p xmlns:a="http://schemas.openxmlformats.org/drawingml/2006/main">
            <a:r>
              <a:t>      "폐지·개정 전 문서 인용",</a:t>
            </a:r>
          </a:p>
          <a:p xmlns:a="http://schemas.openxmlformats.org/drawingml/2006/main">
            <a:r>
              <a:t>      "질의응답을 안전 승인으로 오인"</a:t>
            </a:r>
          </a:p>
          <a:p xmlns:a="http://schemas.openxmlformats.org/drawingml/2006/main">
            <a:r>
              <a:t>    ],</a:t>
            </a:r>
          </a:p>
          <a:p xmlns:a="http://schemas.openxmlformats.org/drawingml/2006/main">
            <a:r>
              <a:t>    "architecture": [</a:t>
            </a:r>
          </a:p>
          <a:p xmlns:a="http://schemas.openxmlformats.org/drawingml/2006/main">
            <a:r>
              <a:t>      "안전 담당 질의",</a:t>
            </a:r>
          </a:p>
          <a:p xmlns:a="http://schemas.openxmlformats.org/drawingml/2006/main">
            <a:r>
              <a:t>      "문서 검색·Q&amp;A",</a:t>
            </a:r>
          </a:p>
          <a:p xmlns:a="http://schemas.openxmlformats.org/drawingml/2006/main">
            <a:r>
              <a:t>      "안전 규정·매뉴얼",</a:t>
            </a:r>
          </a:p>
          <a:p xmlns:a="http://schemas.openxmlformats.org/drawingml/2006/main">
            <a:r>
              <a:t>      "안전 검토자"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"관련 조문",</a:t>
            </a:r>
          </a:p>
          <a:p xmlns:a="http://schemas.openxmlformats.org/drawingml/2006/main">
            <a:r>
              <a:t>      "근거 답변",</a:t>
            </a:r>
          </a:p>
          <a:p xmlns:a="http://schemas.openxmlformats.org/drawingml/2006/main">
            <a:r>
              <a:t>      "현장 검토"</a:t>
            </a:r>
          </a:p>
          <a:p xmlns:a="http://schemas.openxmlformats.org/drawingml/2006/main">
            <a:r>
              <a:t>    ],</a:t>
            </a:r>
          </a:p>
          <a:p xmlns:a="http://schemas.openxmlformats.org/drawingml/2006/main">
            <a:r>
              <a:t>    "control": "시행일·조문 위치·예외 조건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도시철도 교통안전 GPT · 공공AI 사례집 108–109쪽 https://bigdata.dongjak.go.kr/board/viewArticle?articleNo=954&amp;boardId=4</a:t>
            </a:r>
          </a:p>
          <a:p xmlns:a="http://schemas.openxmlformats.org/drawingml/2006/main">
            <a:r>
              <a:t>홈페이지 https://heen1987-ops.github.io/TS-business-Plan-001/index.html?view=casebook&amp;case=AX22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"AX23",</a:t>
            </a:r>
          </a:p>
          <a:p xmlns:a="http://schemas.openxmlformats.org/drawingml/2006/main">
            <a:r>
              <a:t>    "title": "경찰 AI 교통안전 시스템",</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"교통사고 위험 예측",</a:t>
            </a:r>
          </a:p>
          <a:p xmlns:a="http://schemas.openxmlformats.org/drawingml/2006/main">
            <a:r>
              <a:t>    "period": "2024 구축·실증",</a:t>
            </a:r>
          </a:p>
          <a:p xmlns:a="http://schemas.openxmlformats.org/drawingml/2006/main">
            <a:r>
              <a:t>    "sources": [</a:t>
            </a:r>
          </a:p>
          <a:p xmlns:a="http://schemas.openxmlformats.org/drawingml/2006/main">
            <a:r>
              <a:t>      "S-AX23"</a:t>
            </a:r>
          </a:p>
          <a:p xmlns:a="http://schemas.openxmlformats.org/drawingml/2006/main">
            <a:r>
              <a:t>    ],</a:t>
            </a:r>
          </a:p>
          <a:p xmlns:a="http://schemas.openxmlformats.org/drawingml/2006/main">
            <a:r>
              <a:t>    "keywords": [</a:t>
            </a:r>
          </a:p>
          <a:p xmlns:a="http://schemas.openxmlformats.org/drawingml/2006/main">
            <a:r>
              <a:t>      "교통사고 위험 예측"</a:t>
            </a:r>
          </a:p>
          <a:p xmlns:a="http://schemas.openxmlformats.org/drawingml/2006/main">
            <a:r>
              <a:t>    ],</a:t>
            </a:r>
          </a:p>
          <a:p xmlns:a="http://schemas.openxmlformats.org/drawingml/2006/main">
            <a:r>
              <a:t>    "fact": "교통사고·단속·시설·기상·교통량 데이터 기반 위험 예측과 지역 실증",</a:t>
            </a:r>
          </a:p>
          <a:p xmlns:a="http://schemas.openxmlformats.org/drawingml/2006/main">
            <a:r>
              <a:t>    "limit": "지역 실증 범위 · 전국 사고 감소 성과로 확대 불가",</a:t>
            </a:r>
          </a:p>
          <a:p xmlns:a="http://schemas.openxmlformats.org/drawingml/2006/main">
            <a:r>
              <a:t>    "flow": [</a:t>
            </a:r>
          </a:p>
          <a:p xmlns:a="http://schemas.openxmlformats.org/drawingml/2006/main">
            <a:r>
              <a:t>      "민관 교통 데이터",</a:t>
            </a:r>
          </a:p>
          <a:p xmlns:a="http://schemas.openxmlformats.org/drawingml/2006/main">
            <a:r>
              <a:t>      "전처리·MLOps",</a:t>
            </a:r>
          </a:p>
          <a:p xmlns:a="http://schemas.openxmlformats.org/drawingml/2006/main">
            <a:r>
              <a:t>      "사고 위험 예측",</a:t>
            </a:r>
          </a:p>
          <a:p xmlns:a="http://schemas.openxmlformats.org/drawingml/2006/main">
            <a:r>
              <a:t>      "지역 실증·현장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"지역별 모델 평가와 예방 조치의 연결",</a:t>
            </a:r>
          </a:p>
          <a:p xmlns:a="http://schemas.openxmlformats.org/drawingml/2006/main">
            <a:r>
              <a:t>    "local": "TS 지역 안전 진단·개선 권고와 관할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"지역·도로·시점 정규화 및 개선 이력 연결",</a:t>
            </a:r>
          </a:p>
          <a:p xmlns:a="http://schemas.openxmlformats.org/drawingml/2006/main">
            <a:r>
              <a:t>    "test": "시간·지역 분리 검증과 데이터 누락 시험",</a:t>
            </a:r>
          </a:p>
          <a:p xmlns:a="http://schemas.openxmlformats.org/drawingml/2006/main">
            <a:r>
              <a:t>    "metric": "위험 탐지율 / 예방 조치 이행률",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"AX23",</a:t>
            </a:r>
          </a:p>
          <a:p xmlns:a="http://schemas.openxmlformats.org/drawingml/2006/main">
            <a:r>
              <a:t>    "canonicalId": "AX23",</a:t>
            </a:r>
          </a:p>
          <a:p xmlns:a="http://schemas.openxmlformats.org/drawingml/2006/main">
            <a:r>
              <a:t>    "purpose": "지역별 교통사고 위험 분석과 대응 지원",</a:t>
            </a:r>
          </a:p>
          <a:p xmlns:a="http://schemas.openxmlformats.org/drawingml/2006/main">
            <a:r>
              <a:t>    "users": "교통안전·단속·시설 담당",</a:t>
            </a:r>
          </a:p>
          <a:p xmlns:a="http://schemas.openxmlformats.org/drawingml/2006/main">
            <a:r>
              <a:t>    "scope": [</a:t>
            </a:r>
          </a:p>
          <a:p xmlns:a="http://schemas.openxmlformats.org/drawingml/2006/main">
            <a:r>
              <a:t>      "다종 데이터",</a:t>
            </a:r>
          </a:p>
          <a:p xmlns:a="http://schemas.openxmlformats.org/drawingml/2006/main">
            <a:r>
              <a:t>      "위험 예측",</a:t>
            </a:r>
          </a:p>
          <a:p xmlns:a="http://schemas.openxmlformats.org/drawingml/2006/main">
            <a:r>
              <a:t>      "지역 실증"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"민관 교통 데이터",</a:t>
            </a:r>
          </a:p>
          <a:p xmlns:a="http://schemas.openxmlformats.org/drawingml/2006/main">
            <a:r>
              <a:t>        "detail": "지역·기간·사고유형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"다종 데이터 / 위험 예측 / 지역 실증",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"전처리·MLOps",</a:t>
            </a:r>
          </a:p>
          <a:p xmlns:a="http://schemas.openxmlformats.org/drawingml/2006/main">
            <a:r>
              <a:t>        "detail": "사고·단속·시설·기상·교통량 결합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"교통안전 담당",</a:t>
            </a:r>
          </a:p>
          <a:p xmlns:a="http://schemas.openxmlformats.org/drawingml/2006/main">
            <a:r>
              <a:t>        "detail": "위험 후보를 단속·시설 개선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위험 특징",</a:t>
            </a:r>
          </a:p>
          <a:p xmlns:a="http://schemas.openxmlformats.org/drawingml/2006/main">
            <a:r>
              <a:t>        "detail": "공간·시간 단위 정합화와 결측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"예측 오차·지역 편차·개입 후 지표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"민관 교통 데이터",</a:t>
            </a:r>
          </a:p>
          <a:p xmlns:a="http://schemas.openxmlformats.org/drawingml/2006/main">
            <a:r>
              <a:t>        "input": "지역·기간·사고유형 정의",</a:t>
            </a:r>
          </a:p>
          <a:p xmlns:a="http://schemas.openxmlformats.org/drawingml/2006/main">
            <a:r>
              <a:t>        "process": "공간·시간 단위 정합화와 결측 점검",</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"title": "전처리·MLOps",</a:t>
            </a:r>
          </a:p>
          <a:p xmlns:a="http://schemas.openxmlformats.org/drawingml/2006/main">
            <a:r>
              <a:t>        "input": "관측 데이터",</a:t>
            </a:r>
          </a:p>
          <a:p xmlns:a="http://schemas.openxmlformats.org/drawingml/2006/main">
            <a:r>
              <a:t>        "process": "사고·단속·시설·기상·교통량 결합 분석",</a:t>
            </a:r>
          </a:p>
          <a:p xmlns:a="http://schemas.openxmlformats.org/drawingml/2006/main">
            <a:r>
              <a:t>        "output": "학습·평가 특징"</a:t>
            </a:r>
          </a:p>
          <a:p xmlns:a="http://schemas.openxmlformats.org/drawingml/2006/main">
            <a:r>
              <a:t>      },</a:t>
            </a:r>
          </a:p>
          <a:p xmlns:a="http://schemas.openxmlformats.org/drawingml/2006/main">
            <a:r>
              <a:t>      {</a:t>
            </a:r>
          </a:p>
          <a:p xmlns:a="http://schemas.openxmlformats.org/drawingml/2006/main">
            <a:r>
              <a:t>        "title": "사고 위험 예측",</a:t>
            </a:r>
          </a:p>
          <a:p xmlns:a="http://schemas.openxmlformats.org/drawingml/2006/main">
            <a:r>
              <a:t>        "input": "학습·평가 특징",</a:t>
            </a:r>
          </a:p>
          <a:p xmlns:a="http://schemas.openxmlformats.org/drawingml/2006/main">
            <a:r>
              <a:t>        "process": "시간·지역 분리 평가와 누수 차단",</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"title": "지역 실증·현장 대응",</a:t>
            </a:r>
          </a:p>
          <a:p xmlns:a="http://schemas.openxmlformats.org/drawingml/2006/main">
            <a:r>
              <a:t>        "input": "위험 순위",</a:t>
            </a:r>
          </a:p>
          <a:p xmlns:a="http://schemas.openxmlformats.org/drawingml/2006/main">
            <a:r>
              <a:t>        "process":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지역·기간의 사고 위험을 분석하고 대응 후보 선정",</a:t>
            </a:r>
          </a:p>
          <a:p xmlns:a="http://schemas.openxmlformats.org/drawingml/2006/main">
            <a:r>
              <a:t>      "exception": "공간 코드 변경·기상 결측·학습 이후 자료 유입",</a:t>
            </a:r>
          </a:p>
          <a:p xmlns:a="http://schemas.openxmlformats.org/drawingml/2006/main">
            <a:r>
              <a:t>      "evidence": "시공간 분리 평가와 지역별 오차·대응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"교통안전·단속·시설 담당",</a:t>
            </a:r>
          </a:p>
          <a:p xmlns:a="http://schemas.openxmlformats.org/drawingml/2006/main">
            <a:r>
              <a:t>          "processing": "지역·기간·사고유형 정의",</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위험 특징",</a:t>
            </a:r>
          </a:p>
          <a:p xmlns:a="http://schemas.openxmlformats.org/drawingml/2006/main">
            <a:r>
              <a:t>          "processing": "공간·시간 단위 정합화와 결측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"관측 데이터",</a:t>
            </a:r>
          </a:p>
          <a:p xmlns:a="http://schemas.openxmlformats.org/drawingml/2006/main">
            <a:r>
              <a:t>          "processing": "사고·단속·시설·기상·교통량 결합 분석",</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순위",</a:t>
            </a:r>
          </a:p>
          <a:p xmlns:a="http://schemas.openxmlformats.org/drawingml/2006/main">
            <a:r>
              <a:t>          "processing":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"예측 오차·지역 편차·개입 후 지표 평가",</a:t>
            </a:r>
          </a:p>
          <a:p xmlns:a="http://schemas.openxmlformats.org/drawingml/2006/main">
            <a:r>
              <a:t>          "output": "시공간 분리 평가와 지역별 오차·대응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"예측 오차·지역 편차·개입 후 지표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"S-AX23",</a:t>
            </a:r>
          </a:p>
          <a:p xmlns:a="http://schemas.openxmlformats.org/drawingml/2006/main">
            <a:r>
              <a:t>        "title": "경찰 AI 교통안전 시스템 · 공공AI 사례집 110–111쪽",</a:t>
            </a:r>
          </a:p>
          <a:p xmlns:a="http://schemas.openxmlformats.org/drawingml/2006/main">
            <a:r>
              <a:t>        "url": "https://bigdata.dongjak.go.kr/board/viewArticle?articleNo=954&amp;boardId=4",</a:t>
            </a:r>
          </a:p>
          <a:p xmlns:a="http://schemas.openxmlformats.org/drawingml/2006/main">
            <a:r>
              <a:t>        "published": "2024 구축·실증",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"지역별 모델 평가와 예방 조치의 연결",</a:t>
            </a:r>
          </a:p>
          <a:p xmlns:a="http://schemas.openxmlformats.org/drawingml/2006/main">
            <a:r>
              <a:t>    "local": "TS 지역 안전 진단·개선 권고와 관할 매핑",</a:t>
            </a:r>
          </a:p>
          <a:p xmlns:a="http://schemas.openxmlformats.org/drawingml/2006/main">
            <a:r>
              <a:t>    "sourceDetail": null,</a:t>
            </a:r>
          </a:p>
          <a:p xmlns:a="http://schemas.openxmlformats.org/drawingml/2006/main">
            <a:r>
              <a:t>    "narrative": [</a:t>
            </a:r>
          </a:p>
          <a:p xmlns:a="http://schemas.openxmlformats.org/drawingml/2006/main">
            <a:r>
              <a:t>      "사고·단속·시설·기상·교통량을 결합해 지역별 교통 위험을 분석하는 사례. 다양한 원천의 시간·공간 단위를 맞추고 현장 실증으로 예측을 평가하는 유형.",</a:t>
            </a:r>
          </a:p>
          <a:p xmlns:a="http://schemas.openxmlformats.org/drawingml/2006/main">
            <a:r>
              <a:t>      "원천 자료를 정합화하고 결측·표본 편차를 검사한 뒤 학습·평가 특징을 구성하는 재구성. 위험 순위는 단속·시설 개선 담당자의 검토 자료로 전달하고 실제 개입 결과를 별도 기록.",</a:t>
            </a:r>
          </a:p>
          <a:p xmlns:a="http://schemas.openxmlformats.org/drawingml/2006/main">
            <a:r>
              <a:t>      "CCK 비교에서는 시간·지역 분리 평가로 데이터 누수를 막고 희귀 사고의 미탐을 별도로 확인. 예측 성능과 개입 후 사고 변화의 인과효과를 구분하고 관할 부서별 조치 이력을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"지역 위험 조회",</a:t>
            </a:r>
          </a:p>
          <a:p xmlns:a="http://schemas.openxmlformats.org/drawingml/2006/main">
            <a:r>
              <a:t>          "layer": "이용 접점",</a:t>
            </a:r>
          </a:p>
          <a:p xmlns:a="http://schemas.openxmlformats.org/drawingml/2006/main">
            <a:r>
              <a:t>          "detail": "교통안전·단속·시설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"지역·기간·유형",</a:t>
            </a:r>
          </a:p>
          <a:p xmlns:a="http://schemas.openxmlformats.org/drawingml/2006/main">
            <a:r>
              <a:t>          "layer": "업무 문맥",</a:t>
            </a:r>
          </a:p>
          <a:p xmlns:a="http://schemas.openxmlformats.org/drawingml/2006/main">
            <a:r>
              <a:t>          "detail": "지역·기간·사고유형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특징 조회",</a:t>
            </a:r>
          </a:p>
          <a:p xmlns:a="http://schemas.openxmlformats.org/drawingml/2006/main">
            <a:r>
              <a:t>          "layer": "자료 조회",</a:t>
            </a:r>
          </a:p>
          <a:p xmlns:a="http://schemas.openxmlformats.org/drawingml/2006/main">
            <a:r>
              <a:t>          "detail": "관측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순위 예측",</a:t>
            </a:r>
          </a:p>
          <a:p xmlns:a="http://schemas.openxmlformats.org/drawingml/2006/main">
            <a:r>
              <a:t>          "layer": "핵심 처리",</a:t>
            </a:r>
          </a:p>
          <a:p xmlns:a="http://schemas.openxmlformats.org/drawingml/2006/main">
            <a:r>
              <a:t>          "detail": "사고·단속·시설·기상·교통량 결합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"누수·편향 검사",</a:t>
            </a:r>
          </a:p>
          <a:p xmlns:a="http://schemas.openxmlformats.org/drawingml/2006/main">
            <a:r>
              <a:t>          "layer": "결과 검증",</a:t>
            </a:r>
          </a:p>
          <a:p xmlns:a="http://schemas.openxmlformats.org/drawingml/2006/main">
            <a:r>
              <a:t>          "detail": "시간·지역 분리 평가와 누수 차단",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"같은 지역·기간의 사고 위험을 분석하고 대응 후보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"단속·시설 계획",</a:t>
            </a:r>
          </a:p>
          <a:p xmlns:a="http://schemas.openxmlformats.org/drawingml/2006/main">
            <a:r>
              <a:t>          "layer": "업무 연결",</a:t>
            </a:r>
          </a:p>
          <a:p xmlns:a="http://schemas.openxmlformats.org/drawingml/2006/main">
            <a:r>
              <a:t>          "detail": "위험 후보를 단속·시설 개선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"지역 실증 평가",</a:t>
            </a:r>
          </a:p>
          <a:p xmlns:a="http://schemas.openxmlformats.org/drawingml/2006/main">
            <a:r>
              <a:t>          "layer": "운영 관측",</a:t>
            </a:r>
          </a:p>
          <a:p xmlns:a="http://schemas.openxmlformats.org/drawingml/2006/main">
            <a:r>
              <a:t>          "detail": "예측 오차·지역 편차·개입 후 지표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"사고·기상·시설",</a:t>
            </a:r>
          </a:p>
          <a:p xmlns:a="http://schemas.openxmlformats.org/drawingml/2006/main">
            <a:r>
              <a:t>          "layer": "데이터 원천",</a:t>
            </a:r>
          </a:p>
          <a:p xmlns:a="http://schemas.openxmlformats.org/drawingml/2006/main">
            <a:r>
              <a:t>          "detail": "지역별 위험 특징",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"시공간·결측 정리",</a:t>
            </a:r>
          </a:p>
          <a:p xmlns:a="http://schemas.openxmlformats.org/drawingml/2006/main">
            <a:r>
              <a:t>          "layer": "준비·갱신",</a:t>
            </a:r>
          </a:p>
          <a:p xmlns:a="http://schemas.openxmlformats.org/drawingml/2006/main">
            <a:r>
              <a:t>          "detail": "공간·시간 단위 정합화와 결측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"특징·평가 자료",</a:t>
            </a:r>
          </a:p>
          <a:p xmlns:a="http://schemas.openxmlformats.org/drawingml/2006/main">
            <a:r>
              <a:t>          "layer": "상태·지식 저장",</a:t>
            </a:r>
          </a:p>
          <a:p xmlns:a="http://schemas.openxmlformats.org/drawingml/2006/main">
            <a:r>
              <a:t>          "detail": "시공간 분리 평가와 지역별 오차·대응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"기간·지역 분리",</a:t>
            </a:r>
          </a:p>
          <a:p xmlns:a="http://schemas.openxmlformats.org/drawingml/2006/main">
            <a:r>
              <a:t>          "layer": "권한·정책",</a:t>
            </a:r>
          </a:p>
          <a:p xmlns:a="http://schemas.openxmlformats.org/drawingml/2006/main">
            <a:r>
              <a:t>          "detail": "공간 코드 변경·기상 결측·학습 이후 자료 유입",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"민관 교통 데이터 → 전처리·MLOps → 사고 위험 예측 → 지역 실증·현장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"지역별 위험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"학습·평가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 순위",</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 순위",</a:t>
            </a:r>
          </a:p>
          <a:p xmlns:a="http://schemas.openxmlformats.org/drawingml/2006/main">
            <a:r>
              <a:t>          "check": "시간·지역 분리 평가와 누수 차단"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조치 검토",</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"지역별 교통사고 위험 분석과 대응 지원 / 다종 데이터·위험 예측·지역 실증",</a:t>
            </a:r>
          </a:p>
          <a:p xmlns:a="http://schemas.openxmlformats.org/drawingml/2006/main">
            <a:r>
              <a:t>        "extension": "TS 지역 안전 진단·개선 권고와 관할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"공간 코드 변경·기상 결측·학습 이후 자료 유입",</a:t>
            </a:r>
          </a:p>
          <a:p xmlns:a="http://schemas.openxmlformats.org/drawingml/2006/main">
            <a:r>
              <a:t>        "hold": "시간·지역 분리 평가와 누수 차단",</a:t>
            </a:r>
          </a:p>
          <a:p xmlns:a="http://schemas.openxmlformats.org/drawingml/2006/main">
            <a:r>
              <a:t>        "recovery": "예측 오차·지역 편차·개입 후 지표 평가",</a:t>
            </a:r>
          </a:p>
          <a:p xmlns:a="http://schemas.openxmlformats.org/drawingml/2006/main">
            <a:r>
              <a:t>        "evidence": "시공간 분리 평가와 지역별 오차·대응 기록"</a:t>
            </a:r>
          </a:p>
          <a:p xmlns:a="http://schemas.openxmlformats.org/drawingml/2006/main">
            <a:r>
              <a:t>      },</a:t>
            </a:r>
          </a:p>
          <a:p xmlns:a="http://schemas.openxmlformats.org/drawingml/2006/main">
            <a:r>
              <a:t>      "data": {</a:t>
            </a:r>
          </a:p>
          <a:p xmlns:a="http://schemas.openxmlformats.org/drawingml/2006/main">
            <a:r>
              <a:t>        "source": "지역별 위험 특징",</a:t>
            </a:r>
          </a:p>
          <a:p xmlns:a="http://schemas.openxmlformats.org/drawingml/2006/main">
            <a:r>
              <a:t>        "prepare": "공간·시간 단위 정합화와 결측 점검",</a:t>
            </a:r>
          </a:p>
          <a:p xmlns:a="http://schemas.openxmlformats.org/drawingml/2006/main">
            <a:r>
              <a:t>        "output": "관측 데이터",</a:t>
            </a:r>
          </a:p>
          <a:p xmlns:a="http://schemas.openxmlformats.org/drawingml/2006/main">
            <a:r>
              <a:t>        "refresh": "예측 오차·지역 편차·개입 후 지표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"AX23",</a:t>
            </a:r>
          </a:p>
          <a:p xmlns:a="http://schemas.openxmlformats.org/drawingml/2006/main">
            <a:r>
              <a:t>    "success": [</a:t>
            </a:r>
          </a:p>
          <a:p xmlns:a="http://schemas.openxmlformats.org/drawingml/2006/main">
            <a:r>
              <a:t>      "사고·시설·기상·교통량 결합",</a:t>
            </a:r>
          </a:p>
          <a:p xmlns:a="http://schemas.openxmlformats.org/drawingml/2006/main">
            <a:r>
              <a:t>      "지역 현장 실증으로 위험 검토"</a:t>
            </a:r>
          </a:p>
          <a:p xmlns:a="http://schemas.openxmlformats.org/drawingml/2006/main">
            <a:r>
              <a:t>    ],</a:t>
            </a:r>
          </a:p>
          <a:p xmlns:a="http://schemas.openxmlformats.org/drawingml/2006/main">
            <a:r>
              <a:t>    "risks": [</a:t>
            </a:r>
          </a:p>
          <a:p xmlns:a="http://schemas.openxmlformats.org/drawingml/2006/main">
            <a:r>
              <a:t>      "희귀 사고의 표본 불균형",</a:t>
            </a:r>
          </a:p>
          <a:p xmlns:a="http://schemas.openxmlformats.org/drawingml/2006/main">
            <a:r>
              <a:t>      "예측지표를 예방 효과로 환산"</a:t>
            </a:r>
          </a:p>
          <a:p xmlns:a="http://schemas.openxmlformats.org/drawingml/2006/main">
            <a:r>
              <a:t>    ],</a:t>
            </a:r>
          </a:p>
          <a:p xmlns:a="http://schemas.openxmlformats.org/drawingml/2006/main">
            <a:r>
              <a:t>    "architecture": [</a:t>
            </a:r>
          </a:p>
          <a:p xmlns:a="http://schemas.openxmlformats.org/drawingml/2006/main">
            <a:r>
              <a:t>      "민관 교통 데이터",</a:t>
            </a:r>
          </a:p>
          <a:p xmlns:a="http://schemas.openxmlformats.org/drawingml/2006/main">
            <a:r>
              <a:t>      "전처리·MLOps",</a:t>
            </a:r>
          </a:p>
          <a:p xmlns:a="http://schemas.openxmlformats.org/drawingml/2006/main">
            <a:r>
              <a:t>      "지역별 위험 특징",</a:t>
            </a:r>
          </a:p>
          <a:p xmlns:a="http://schemas.openxmlformats.org/drawingml/2006/main">
            <a:r>
              <a:t>      "교통안전 담당"</a:t>
            </a:r>
          </a:p>
          <a:p xmlns:a="http://schemas.openxmlformats.org/drawingml/2006/main">
            <a:r>
              <a:t>    ],</a:t>
            </a:r>
          </a:p>
          <a:p xmlns:a="http://schemas.openxmlformats.org/drawingml/2006/main">
            <a:r>
              <a:t>    "transfers": [</a:t>
            </a:r>
          </a:p>
          <a:p xmlns:a="http://schemas.openxmlformats.org/drawingml/2006/main">
            <a:r>
              <a:t>      "관측 데이터",</a:t>
            </a:r>
          </a:p>
          <a:p xmlns:a="http://schemas.openxmlformats.org/drawingml/2006/main">
            <a:r>
              <a:t>      "학습·평가 특징",</a:t>
            </a:r>
          </a:p>
          <a:p xmlns:a="http://schemas.openxmlformats.org/drawingml/2006/main">
            <a:r>
              <a:t>      "위험 순위",</a:t>
            </a:r>
          </a:p>
          <a:p xmlns:a="http://schemas.openxmlformats.org/drawingml/2006/main">
            <a:r>
              <a:t>      "현장 조치 검토"</a:t>
            </a:r>
          </a:p>
          <a:p xmlns:a="http://schemas.openxmlformats.org/drawingml/2006/main">
            <a:r>
              <a:t>    ],</a:t>
            </a:r>
          </a:p>
          <a:p xmlns:a="http://schemas.openxmlformats.org/drawingml/2006/main">
            <a:r>
              <a:t>    "control": "시간·지역 분리 평가와 누수 차단",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경찰 AI 교통안전 시스템 · 공공AI 사례집 110–111쪽 https://bigdata.dongjak.go.kr/board/viewArticle?articleNo=954&amp;boardId=4</a:t>
            </a:r>
          </a:p>
          <a:p xmlns:a="http://schemas.openxmlformats.org/drawingml/2006/main">
            <a:r>
              <a:t>홈페이지 https://heen1987-ops.github.io/TS-business-Plan-001/index.html?view=casebook&amp;case=AX23</a:t>
            </a:r>
          </a:p>
          <a:p xmlns:a="http://schemas.openxmlformats.org/drawingml/2006/main">
            <a:r>
              <a:t>한계: 지역 실증 범위 · 전국 사고 감소 성과로 확대 불가</a:t>
            </a:r>
          </a:p>
          <a:p xmlns:a="http://schemas.openxmlformats.org/drawingml/2006/main">
            <a:r>
              <a:t>실패 위험: 희귀 사고의 표본 불균형 / 예측지표를 예방 효과로 환산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"AX23",</a:t>
            </a:r>
          </a:p>
          <a:p xmlns:a="http://schemas.openxmlformats.org/drawingml/2006/main">
            <a:r>
              <a:t>    "title": "경찰 AI 교통안전 시스템",</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"교통사고 위험 예측",</a:t>
            </a:r>
          </a:p>
          <a:p xmlns:a="http://schemas.openxmlformats.org/drawingml/2006/main">
            <a:r>
              <a:t>    "period": "2024 구축·실증",</a:t>
            </a:r>
          </a:p>
          <a:p xmlns:a="http://schemas.openxmlformats.org/drawingml/2006/main">
            <a:r>
              <a:t>    "sources": [</a:t>
            </a:r>
          </a:p>
          <a:p xmlns:a="http://schemas.openxmlformats.org/drawingml/2006/main">
            <a:r>
              <a:t>      "S-AX23"</a:t>
            </a:r>
          </a:p>
          <a:p xmlns:a="http://schemas.openxmlformats.org/drawingml/2006/main">
            <a:r>
              <a:t>    ],</a:t>
            </a:r>
          </a:p>
          <a:p xmlns:a="http://schemas.openxmlformats.org/drawingml/2006/main">
            <a:r>
              <a:t>    "keywords": [</a:t>
            </a:r>
          </a:p>
          <a:p xmlns:a="http://schemas.openxmlformats.org/drawingml/2006/main">
            <a:r>
              <a:t>      "교통사고 위험 예측"</a:t>
            </a:r>
          </a:p>
          <a:p xmlns:a="http://schemas.openxmlformats.org/drawingml/2006/main">
            <a:r>
              <a:t>    ],</a:t>
            </a:r>
          </a:p>
          <a:p xmlns:a="http://schemas.openxmlformats.org/drawingml/2006/main">
            <a:r>
              <a:t>    "fact": "교통사고·단속·시설·기상·교통량 데이터 기반 위험 예측과 지역 실증",</a:t>
            </a:r>
          </a:p>
          <a:p xmlns:a="http://schemas.openxmlformats.org/drawingml/2006/main">
            <a:r>
              <a:t>    "limit": "지역 실증 범위 · 전국 사고 감소 성과로 확대 불가",</a:t>
            </a:r>
          </a:p>
          <a:p xmlns:a="http://schemas.openxmlformats.org/drawingml/2006/main">
            <a:r>
              <a:t>    "flow": [</a:t>
            </a:r>
          </a:p>
          <a:p xmlns:a="http://schemas.openxmlformats.org/drawingml/2006/main">
            <a:r>
              <a:t>      "민관 교통 데이터",</a:t>
            </a:r>
          </a:p>
          <a:p xmlns:a="http://schemas.openxmlformats.org/drawingml/2006/main">
            <a:r>
              <a:t>      "전처리·MLOps",</a:t>
            </a:r>
          </a:p>
          <a:p xmlns:a="http://schemas.openxmlformats.org/drawingml/2006/main">
            <a:r>
              <a:t>      "사고 위험 예측",</a:t>
            </a:r>
          </a:p>
          <a:p xmlns:a="http://schemas.openxmlformats.org/drawingml/2006/main">
            <a:r>
              <a:t>      "지역 실증·현장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"지역별 모델 평가와 예방 조치의 연결",</a:t>
            </a:r>
          </a:p>
          <a:p xmlns:a="http://schemas.openxmlformats.org/drawingml/2006/main">
            <a:r>
              <a:t>    "local": "TS 지역 안전 진단·개선 권고와 관할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"지역·도로·시점 정규화 및 개선 이력 연결",</a:t>
            </a:r>
          </a:p>
          <a:p xmlns:a="http://schemas.openxmlformats.org/drawingml/2006/main">
            <a:r>
              <a:t>    "test": "시간·지역 분리 검증과 데이터 누락 시험",</a:t>
            </a:r>
          </a:p>
          <a:p xmlns:a="http://schemas.openxmlformats.org/drawingml/2006/main">
            <a:r>
              <a:t>    "metric": "위험 탐지율 / 예방 조치 이행률",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"AX23",</a:t>
            </a:r>
          </a:p>
          <a:p xmlns:a="http://schemas.openxmlformats.org/drawingml/2006/main">
            <a:r>
              <a:t>    "canonicalId": "AX23",</a:t>
            </a:r>
          </a:p>
          <a:p xmlns:a="http://schemas.openxmlformats.org/drawingml/2006/main">
            <a:r>
              <a:t>    "purpose": "지역별 교통사고 위험 분석과 대응 지원",</a:t>
            </a:r>
          </a:p>
          <a:p xmlns:a="http://schemas.openxmlformats.org/drawingml/2006/main">
            <a:r>
              <a:t>    "users": "교통안전·단속·시설 담당",</a:t>
            </a:r>
          </a:p>
          <a:p xmlns:a="http://schemas.openxmlformats.org/drawingml/2006/main">
            <a:r>
              <a:t>    "scope": [</a:t>
            </a:r>
          </a:p>
          <a:p xmlns:a="http://schemas.openxmlformats.org/drawingml/2006/main">
            <a:r>
              <a:t>      "다종 데이터",</a:t>
            </a:r>
          </a:p>
          <a:p xmlns:a="http://schemas.openxmlformats.org/drawingml/2006/main">
            <a:r>
              <a:t>      "위험 예측",</a:t>
            </a:r>
          </a:p>
          <a:p xmlns:a="http://schemas.openxmlformats.org/drawingml/2006/main">
            <a:r>
              <a:t>      "지역 실증"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"민관 교통 데이터",</a:t>
            </a:r>
          </a:p>
          <a:p xmlns:a="http://schemas.openxmlformats.org/drawingml/2006/main">
            <a:r>
              <a:t>        "detail": "지역·기간·사고유형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"다종 데이터 / 위험 예측 / 지역 실증",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"전처리·MLOps",</a:t>
            </a:r>
          </a:p>
          <a:p xmlns:a="http://schemas.openxmlformats.org/drawingml/2006/main">
            <a:r>
              <a:t>        "detail": "사고·단속·시설·기상·교통량 결합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"교통안전 담당",</a:t>
            </a:r>
          </a:p>
          <a:p xmlns:a="http://schemas.openxmlformats.org/drawingml/2006/main">
            <a:r>
              <a:t>        "detail": "위험 후보를 단속·시설 개선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위험 특징",</a:t>
            </a:r>
          </a:p>
          <a:p xmlns:a="http://schemas.openxmlformats.org/drawingml/2006/main">
            <a:r>
              <a:t>        "detail": "공간·시간 단위 정합화와 결측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"예측 오차·지역 편차·개입 후 지표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"민관 교통 데이터",</a:t>
            </a:r>
          </a:p>
          <a:p xmlns:a="http://schemas.openxmlformats.org/drawingml/2006/main">
            <a:r>
              <a:t>        "input": "지역·기간·사고유형 정의",</a:t>
            </a:r>
          </a:p>
          <a:p xmlns:a="http://schemas.openxmlformats.org/drawingml/2006/main">
            <a:r>
              <a:t>        "process": "공간·시간 단위 정합화와 결측 점검",</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"title": "전처리·MLOps",</a:t>
            </a:r>
          </a:p>
          <a:p xmlns:a="http://schemas.openxmlformats.org/drawingml/2006/main">
            <a:r>
              <a:t>        "input": "관측 데이터",</a:t>
            </a:r>
          </a:p>
          <a:p xmlns:a="http://schemas.openxmlformats.org/drawingml/2006/main">
            <a:r>
              <a:t>        "process": "사고·단속·시설·기상·교통량 결합 분석",</a:t>
            </a:r>
          </a:p>
          <a:p xmlns:a="http://schemas.openxmlformats.org/drawingml/2006/main">
            <a:r>
              <a:t>        "output": "학습·평가 특징"</a:t>
            </a:r>
          </a:p>
          <a:p xmlns:a="http://schemas.openxmlformats.org/drawingml/2006/main">
            <a:r>
              <a:t>      },</a:t>
            </a:r>
          </a:p>
          <a:p xmlns:a="http://schemas.openxmlformats.org/drawingml/2006/main">
            <a:r>
              <a:t>      {</a:t>
            </a:r>
          </a:p>
          <a:p xmlns:a="http://schemas.openxmlformats.org/drawingml/2006/main">
            <a:r>
              <a:t>        "title": "사고 위험 예측",</a:t>
            </a:r>
          </a:p>
          <a:p xmlns:a="http://schemas.openxmlformats.org/drawingml/2006/main">
            <a:r>
              <a:t>        "input": "학습·평가 특징",</a:t>
            </a:r>
          </a:p>
          <a:p xmlns:a="http://schemas.openxmlformats.org/drawingml/2006/main">
            <a:r>
              <a:t>        "process": "시간·지역 분리 평가와 누수 차단",</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"title": "지역 실증·현장 대응",</a:t>
            </a:r>
          </a:p>
          <a:p xmlns:a="http://schemas.openxmlformats.org/drawingml/2006/main">
            <a:r>
              <a:t>        "input": "위험 순위",</a:t>
            </a:r>
          </a:p>
          <a:p xmlns:a="http://schemas.openxmlformats.org/drawingml/2006/main">
            <a:r>
              <a:t>        "process":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지역·기간의 사고 위험을 분석하고 대응 후보 선정",</a:t>
            </a:r>
          </a:p>
          <a:p xmlns:a="http://schemas.openxmlformats.org/drawingml/2006/main">
            <a:r>
              <a:t>      "exception": "공간 코드 변경·기상 결측·학습 이후 자료 유입",</a:t>
            </a:r>
          </a:p>
          <a:p xmlns:a="http://schemas.openxmlformats.org/drawingml/2006/main">
            <a:r>
              <a:t>      "evidence": "시공간 분리 평가와 지역별 오차·대응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"교통안전·단속·시설 담당",</a:t>
            </a:r>
          </a:p>
          <a:p xmlns:a="http://schemas.openxmlformats.org/drawingml/2006/main">
            <a:r>
              <a:t>          "processing": "지역·기간·사고유형 정의",</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위험 특징",</a:t>
            </a:r>
          </a:p>
          <a:p xmlns:a="http://schemas.openxmlformats.org/drawingml/2006/main">
            <a:r>
              <a:t>          "processing": "공간·시간 단위 정합화와 결측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"관측 데이터",</a:t>
            </a:r>
          </a:p>
          <a:p xmlns:a="http://schemas.openxmlformats.org/drawingml/2006/main">
            <a:r>
              <a:t>          "processing": "사고·단속·시설·기상·교통량 결합 분석",</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순위",</a:t>
            </a:r>
          </a:p>
          <a:p xmlns:a="http://schemas.openxmlformats.org/drawingml/2006/main">
            <a:r>
              <a:t>          "processing":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"예측 오차·지역 편차·개입 후 지표 평가",</a:t>
            </a:r>
          </a:p>
          <a:p xmlns:a="http://schemas.openxmlformats.org/drawingml/2006/main">
            <a:r>
              <a:t>          "output": "시공간 분리 평가와 지역별 오차·대응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"예측 오차·지역 편차·개입 후 지표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"S-AX23",</a:t>
            </a:r>
          </a:p>
          <a:p xmlns:a="http://schemas.openxmlformats.org/drawingml/2006/main">
            <a:r>
              <a:t>        "title": "경찰 AI 교통안전 시스템 · 공공AI 사례집 110–111쪽",</a:t>
            </a:r>
          </a:p>
          <a:p xmlns:a="http://schemas.openxmlformats.org/drawingml/2006/main">
            <a:r>
              <a:t>        "url": "https://bigdata.dongjak.go.kr/board/viewArticle?articleNo=954&amp;boardId=4",</a:t>
            </a:r>
          </a:p>
          <a:p xmlns:a="http://schemas.openxmlformats.org/drawingml/2006/main">
            <a:r>
              <a:t>        "published": "2024 구축·실증",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"지역별 모델 평가와 예방 조치의 연결",</a:t>
            </a:r>
          </a:p>
          <a:p xmlns:a="http://schemas.openxmlformats.org/drawingml/2006/main">
            <a:r>
              <a:t>    "local": "TS 지역 안전 진단·개선 권고와 관할 매핑",</a:t>
            </a:r>
          </a:p>
          <a:p xmlns:a="http://schemas.openxmlformats.org/drawingml/2006/main">
            <a:r>
              <a:t>    "sourceDetail": null,</a:t>
            </a:r>
          </a:p>
          <a:p xmlns:a="http://schemas.openxmlformats.org/drawingml/2006/main">
            <a:r>
              <a:t>    "narrative": [</a:t>
            </a:r>
          </a:p>
          <a:p xmlns:a="http://schemas.openxmlformats.org/drawingml/2006/main">
            <a:r>
              <a:t>      "사고·단속·시설·기상·교통량을 결합해 지역별 교통 위험을 분석하는 사례. 다양한 원천의 시간·공간 단위를 맞추고 현장 실증으로 예측을 평가하는 유형.",</a:t>
            </a:r>
          </a:p>
          <a:p xmlns:a="http://schemas.openxmlformats.org/drawingml/2006/main">
            <a:r>
              <a:t>      "원천 자료를 정합화하고 결측·표본 편차를 검사한 뒤 학습·평가 특징을 구성하는 재구성. 위험 순위는 단속·시설 개선 담당자의 검토 자료로 전달하고 실제 개입 결과를 별도 기록.",</a:t>
            </a:r>
          </a:p>
          <a:p xmlns:a="http://schemas.openxmlformats.org/drawingml/2006/main">
            <a:r>
              <a:t>      "CCK 비교에서는 시간·지역 분리 평가로 데이터 누수를 막고 희귀 사고의 미탐을 별도로 확인. 예측 성능과 개입 후 사고 변화의 인과효과를 구분하고 관할 부서별 조치 이력을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"지역 위험 조회",</a:t>
            </a:r>
          </a:p>
          <a:p xmlns:a="http://schemas.openxmlformats.org/drawingml/2006/main">
            <a:r>
              <a:t>          "layer": "이용 접점",</a:t>
            </a:r>
          </a:p>
          <a:p xmlns:a="http://schemas.openxmlformats.org/drawingml/2006/main">
            <a:r>
              <a:t>          "detail": "교통안전·단속·시설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"지역·기간·유형",</a:t>
            </a:r>
          </a:p>
          <a:p xmlns:a="http://schemas.openxmlformats.org/drawingml/2006/main">
            <a:r>
              <a:t>          "layer": "업무 문맥",</a:t>
            </a:r>
          </a:p>
          <a:p xmlns:a="http://schemas.openxmlformats.org/drawingml/2006/main">
            <a:r>
              <a:t>          "detail": "지역·기간·사고유형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특징 조회",</a:t>
            </a:r>
          </a:p>
          <a:p xmlns:a="http://schemas.openxmlformats.org/drawingml/2006/main">
            <a:r>
              <a:t>          "layer": "자료 조회",</a:t>
            </a:r>
          </a:p>
          <a:p xmlns:a="http://schemas.openxmlformats.org/drawingml/2006/main">
            <a:r>
              <a:t>          "detail": "관측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순위 예측",</a:t>
            </a:r>
          </a:p>
          <a:p xmlns:a="http://schemas.openxmlformats.org/drawingml/2006/main">
            <a:r>
              <a:t>          "layer": "핵심 처리",</a:t>
            </a:r>
          </a:p>
          <a:p xmlns:a="http://schemas.openxmlformats.org/drawingml/2006/main">
            <a:r>
              <a:t>          "detail": "사고·단속·시설·기상·교통량 결합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"누수·편향 검사",</a:t>
            </a:r>
          </a:p>
          <a:p xmlns:a="http://schemas.openxmlformats.org/drawingml/2006/main">
            <a:r>
              <a:t>          "layer": "결과 검증",</a:t>
            </a:r>
          </a:p>
          <a:p xmlns:a="http://schemas.openxmlformats.org/drawingml/2006/main">
            <a:r>
              <a:t>          "detail": "시간·지역 분리 평가와 누수 차단",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"같은 지역·기간의 사고 위험을 분석하고 대응 후보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"단속·시설 계획",</a:t>
            </a:r>
          </a:p>
          <a:p xmlns:a="http://schemas.openxmlformats.org/drawingml/2006/main">
            <a:r>
              <a:t>          "layer": "업무 연결",</a:t>
            </a:r>
          </a:p>
          <a:p xmlns:a="http://schemas.openxmlformats.org/drawingml/2006/main">
            <a:r>
              <a:t>          "detail": "위험 후보를 단속·시설 개선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"지역 실증 평가",</a:t>
            </a:r>
          </a:p>
          <a:p xmlns:a="http://schemas.openxmlformats.org/drawingml/2006/main">
            <a:r>
              <a:t>          "layer": "운영 관측",</a:t>
            </a:r>
          </a:p>
          <a:p xmlns:a="http://schemas.openxmlformats.org/drawingml/2006/main">
            <a:r>
              <a:t>          "detail": "예측 오차·지역 편차·개입 후 지표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"사고·기상·시설",</a:t>
            </a:r>
          </a:p>
          <a:p xmlns:a="http://schemas.openxmlformats.org/drawingml/2006/main">
            <a:r>
              <a:t>          "layer": "데이터 원천",</a:t>
            </a:r>
          </a:p>
          <a:p xmlns:a="http://schemas.openxmlformats.org/drawingml/2006/main">
            <a:r>
              <a:t>          "detail": "지역별 위험 특징",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"시공간·결측 정리",</a:t>
            </a:r>
          </a:p>
          <a:p xmlns:a="http://schemas.openxmlformats.org/drawingml/2006/main">
            <a:r>
              <a:t>          "layer": "준비·갱신",</a:t>
            </a:r>
          </a:p>
          <a:p xmlns:a="http://schemas.openxmlformats.org/drawingml/2006/main">
            <a:r>
              <a:t>          "detail": "공간·시간 단위 정합화와 결측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"특징·평가 자료",</a:t>
            </a:r>
          </a:p>
          <a:p xmlns:a="http://schemas.openxmlformats.org/drawingml/2006/main">
            <a:r>
              <a:t>          "layer": "상태·지식 저장",</a:t>
            </a:r>
          </a:p>
          <a:p xmlns:a="http://schemas.openxmlformats.org/drawingml/2006/main">
            <a:r>
              <a:t>          "detail": "시공간 분리 평가와 지역별 오차·대응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"기간·지역 분리",</a:t>
            </a:r>
          </a:p>
          <a:p xmlns:a="http://schemas.openxmlformats.org/drawingml/2006/main">
            <a:r>
              <a:t>          "layer": "권한·정책",</a:t>
            </a:r>
          </a:p>
          <a:p xmlns:a="http://schemas.openxmlformats.org/drawingml/2006/main">
            <a:r>
              <a:t>          "detail": "공간 코드 변경·기상 결측·학습 이후 자료 유입",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"민관 교통 데이터 → 전처리·MLOps → 사고 위험 예측 → 지역 실증·현장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"지역별 위험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"학습·평가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 순위",</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 순위",</a:t>
            </a:r>
          </a:p>
          <a:p xmlns:a="http://schemas.openxmlformats.org/drawingml/2006/main">
            <a:r>
              <a:t>          "check": "시간·지역 분리 평가와 누수 차단"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조치 검토",</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"지역별 교통사고 위험 분석과 대응 지원 / 다종 데이터·위험 예측·지역 실증",</a:t>
            </a:r>
          </a:p>
          <a:p xmlns:a="http://schemas.openxmlformats.org/drawingml/2006/main">
            <a:r>
              <a:t>        "extension": "TS 지역 안전 진단·개선 권고와 관할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"공간 코드 변경·기상 결측·학습 이후 자료 유입",</a:t>
            </a:r>
          </a:p>
          <a:p xmlns:a="http://schemas.openxmlformats.org/drawingml/2006/main">
            <a:r>
              <a:t>        "hold": "시간·지역 분리 평가와 누수 차단",</a:t>
            </a:r>
          </a:p>
          <a:p xmlns:a="http://schemas.openxmlformats.org/drawingml/2006/main">
            <a:r>
              <a:t>        "recovery": "예측 오차·지역 편차·개입 후 지표 평가",</a:t>
            </a:r>
          </a:p>
          <a:p xmlns:a="http://schemas.openxmlformats.org/drawingml/2006/main">
            <a:r>
              <a:t>        "evidence": "시공간 분리 평가와 지역별 오차·대응 기록"</a:t>
            </a:r>
          </a:p>
          <a:p xmlns:a="http://schemas.openxmlformats.org/drawingml/2006/main">
            <a:r>
              <a:t>      },</a:t>
            </a:r>
          </a:p>
          <a:p xmlns:a="http://schemas.openxmlformats.org/drawingml/2006/main">
            <a:r>
              <a:t>      "data": {</a:t>
            </a:r>
          </a:p>
          <a:p xmlns:a="http://schemas.openxmlformats.org/drawingml/2006/main">
            <a:r>
              <a:t>        "source": "지역별 위험 특징",</a:t>
            </a:r>
          </a:p>
          <a:p xmlns:a="http://schemas.openxmlformats.org/drawingml/2006/main">
            <a:r>
              <a:t>        "prepare": "공간·시간 단위 정합화와 결측 점검",</a:t>
            </a:r>
          </a:p>
          <a:p xmlns:a="http://schemas.openxmlformats.org/drawingml/2006/main">
            <a:r>
              <a:t>        "output": "관측 데이터",</a:t>
            </a:r>
          </a:p>
          <a:p xmlns:a="http://schemas.openxmlformats.org/drawingml/2006/main">
            <a:r>
              <a:t>        "refresh": "예측 오차·지역 편차·개입 후 지표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"AX23",</a:t>
            </a:r>
          </a:p>
          <a:p xmlns:a="http://schemas.openxmlformats.org/drawingml/2006/main">
            <a:r>
              <a:t>    "success": [</a:t>
            </a:r>
          </a:p>
          <a:p xmlns:a="http://schemas.openxmlformats.org/drawingml/2006/main">
            <a:r>
              <a:t>      "사고·시설·기상·교통량 결합",</a:t>
            </a:r>
          </a:p>
          <a:p xmlns:a="http://schemas.openxmlformats.org/drawingml/2006/main">
            <a:r>
              <a:t>      "지역 현장 실증으로 위험 검토"</a:t>
            </a:r>
          </a:p>
          <a:p xmlns:a="http://schemas.openxmlformats.org/drawingml/2006/main">
            <a:r>
              <a:t>    ],</a:t>
            </a:r>
          </a:p>
          <a:p xmlns:a="http://schemas.openxmlformats.org/drawingml/2006/main">
            <a:r>
              <a:t>    "risks": [</a:t>
            </a:r>
          </a:p>
          <a:p xmlns:a="http://schemas.openxmlformats.org/drawingml/2006/main">
            <a:r>
              <a:t>      "희귀 사고의 표본 불균형",</a:t>
            </a:r>
          </a:p>
          <a:p xmlns:a="http://schemas.openxmlformats.org/drawingml/2006/main">
            <a:r>
              <a:t>      "예측지표를 예방 효과로 환산"</a:t>
            </a:r>
          </a:p>
          <a:p xmlns:a="http://schemas.openxmlformats.org/drawingml/2006/main">
            <a:r>
              <a:t>    ],</a:t>
            </a:r>
          </a:p>
          <a:p xmlns:a="http://schemas.openxmlformats.org/drawingml/2006/main">
            <a:r>
              <a:t>    "architecture": [</a:t>
            </a:r>
          </a:p>
          <a:p xmlns:a="http://schemas.openxmlformats.org/drawingml/2006/main">
            <a:r>
              <a:t>      "민관 교통 데이터",</a:t>
            </a:r>
          </a:p>
          <a:p xmlns:a="http://schemas.openxmlformats.org/drawingml/2006/main">
            <a:r>
              <a:t>      "전처리·MLOps",</a:t>
            </a:r>
          </a:p>
          <a:p xmlns:a="http://schemas.openxmlformats.org/drawingml/2006/main">
            <a:r>
              <a:t>      "지역별 위험 특징",</a:t>
            </a:r>
          </a:p>
          <a:p xmlns:a="http://schemas.openxmlformats.org/drawingml/2006/main">
            <a:r>
              <a:t>      "교통안전 담당"</a:t>
            </a:r>
          </a:p>
          <a:p xmlns:a="http://schemas.openxmlformats.org/drawingml/2006/main">
            <a:r>
              <a:t>    ],</a:t>
            </a:r>
          </a:p>
          <a:p xmlns:a="http://schemas.openxmlformats.org/drawingml/2006/main">
            <a:r>
              <a:t>    "transfers": [</a:t>
            </a:r>
          </a:p>
          <a:p xmlns:a="http://schemas.openxmlformats.org/drawingml/2006/main">
            <a:r>
              <a:t>      "관측 데이터",</a:t>
            </a:r>
          </a:p>
          <a:p xmlns:a="http://schemas.openxmlformats.org/drawingml/2006/main">
            <a:r>
              <a:t>      "학습·평가 특징",</a:t>
            </a:r>
          </a:p>
          <a:p xmlns:a="http://schemas.openxmlformats.org/drawingml/2006/main">
            <a:r>
              <a:t>      "위험 순위",</a:t>
            </a:r>
          </a:p>
          <a:p xmlns:a="http://schemas.openxmlformats.org/drawingml/2006/main">
            <a:r>
              <a:t>      "현장 조치 검토"</a:t>
            </a:r>
          </a:p>
          <a:p xmlns:a="http://schemas.openxmlformats.org/drawingml/2006/main">
            <a:r>
              <a:t>    ],</a:t>
            </a:r>
          </a:p>
          <a:p xmlns:a="http://schemas.openxmlformats.org/drawingml/2006/main">
            <a:r>
              <a:t>    "control": "시간·지역 분리 평가와 누수 차단",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경찰 AI 교통안전 시스템 · 공공AI 사례집 110–111쪽 https://bigdata.dongjak.go.kr/board/viewArticle?articleNo=954&amp;boardId=4</a:t>
            </a:r>
          </a:p>
          <a:p xmlns:a="http://schemas.openxmlformats.org/drawingml/2006/main">
            <a:r>
              <a:t>홈페이지 https://heen1987-ops.github.io/TS-business-Plan-001/index.html?view=casebook&amp;case=AX23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"AX23",</a:t>
            </a:r>
          </a:p>
          <a:p xmlns:a="http://schemas.openxmlformats.org/drawingml/2006/main">
            <a:r>
              <a:t>    "title": "경찰 AI 교통안전 시스템",</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"교통사고 위험 예측",</a:t>
            </a:r>
          </a:p>
          <a:p xmlns:a="http://schemas.openxmlformats.org/drawingml/2006/main">
            <a:r>
              <a:t>    "period": "2024 구축·실증",</a:t>
            </a:r>
          </a:p>
          <a:p xmlns:a="http://schemas.openxmlformats.org/drawingml/2006/main">
            <a:r>
              <a:t>    "sources": [</a:t>
            </a:r>
          </a:p>
          <a:p xmlns:a="http://schemas.openxmlformats.org/drawingml/2006/main">
            <a:r>
              <a:t>      "S-AX23"</a:t>
            </a:r>
          </a:p>
          <a:p xmlns:a="http://schemas.openxmlformats.org/drawingml/2006/main">
            <a:r>
              <a:t>    ],</a:t>
            </a:r>
          </a:p>
          <a:p xmlns:a="http://schemas.openxmlformats.org/drawingml/2006/main">
            <a:r>
              <a:t>    "keywords": [</a:t>
            </a:r>
          </a:p>
          <a:p xmlns:a="http://schemas.openxmlformats.org/drawingml/2006/main">
            <a:r>
              <a:t>      "교통사고 위험 예측"</a:t>
            </a:r>
          </a:p>
          <a:p xmlns:a="http://schemas.openxmlformats.org/drawingml/2006/main">
            <a:r>
              <a:t>    ],</a:t>
            </a:r>
          </a:p>
          <a:p xmlns:a="http://schemas.openxmlformats.org/drawingml/2006/main">
            <a:r>
              <a:t>    "fact": "교통사고·단속·시설·기상·교통량 데이터 기반 위험 예측과 지역 실증",</a:t>
            </a:r>
          </a:p>
          <a:p xmlns:a="http://schemas.openxmlformats.org/drawingml/2006/main">
            <a:r>
              <a:t>    "limit": "지역 실증 범위 · 전국 사고 감소 성과로 확대 불가",</a:t>
            </a:r>
          </a:p>
          <a:p xmlns:a="http://schemas.openxmlformats.org/drawingml/2006/main">
            <a:r>
              <a:t>    "flow": [</a:t>
            </a:r>
          </a:p>
          <a:p xmlns:a="http://schemas.openxmlformats.org/drawingml/2006/main">
            <a:r>
              <a:t>      "민관 교통 데이터",</a:t>
            </a:r>
          </a:p>
          <a:p xmlns:a="http://schemas.openxmlformats.org/drawingml/2006/main">
            <a:r>
              <a:t>      "전처리·MLOps",</a:t>
            </a:r>
          </a:p>
          <a:p xmlns:a="http://schemas.openxmlformats.org/drawingml/2006/main">
            <a:r>
              <a:t>      "사고 위험 예측",</a:t>
            </a:r>
          </a:p>
          <a:p xmlns:a="http://schemas.openxmlformats.org/drawingml/2006/main">
            <a:r>
              <a:t>      "지역 실증·현장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"지역별 모델 평가와 예방 조치의 연결",</a:t>
            </a:r>
          </a:p>
          <a:p xmlns:a="http://schemas.openxmlformats.org/drawingml/2006/main">
            <a:r>
              <a:t>    "local": "TS 지역 안전 진단·개선 권고와 관할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"지역·도로·시점 정규화 및 개선 이력 연결",</a:t>
            </a:r>
          </a:p>
          <a:p xmlns:a="http://schemas.openxmlformats.org/drawingml/2006/main">
            <a:r>
              <a:t>    "test": "시간·지역 분리 검증과 데이터 누락 시험",</a:t>
            </a:r>
          </a:p>
          <a:p xmlns:a="http://schemas.openxmlformats.org/drawingml/2006/main">
            <a:r>
              <a:t>    "metric": "위험 탐지율 / 예방 조치 이행률",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"AX23",</a:t>
            </a:r>
          </a:p>
          <a:p xmlns:a="http://schemas.openxmlformats.org/drawingml/2006/main">
            <a:r>
              <a:t>    "canonicalId": "AX23",</a:t>
            </a:r>
          </a:p>
          <a:p xmlns:a="http://schemas.openxmlformats.org/drawingml/2006/main">
            <a:r>
              <a:t>    "purpose": "지역별 교통사고 위험 분석과 대응 지원",</a:t>
            </a:r>
          </a:p>
          <a:p xmlns:a="http://schemas.openxmlformats.org/drawingml/2006/main">
            <a:r>
              <a:t>    "users": "교통안전·단속·시설 담당",</a:t>
            </a:r>
          </a:p>
          <a:p xmlns:a="http://schemas.openxmlformats.org/drawingml/2006/main">
            <a:r>
              <a:t>    "scope": [</a:t>
            </a:r>
          </a:p>
          <a:p xmlns:a="http://schemas.openxmlformats.org/drawingml/2006/main">
            <a:r>
              <a:t>      "다종 데이터",</a:t>
            </a:r>
          </a:p>
          <a:p xmlns:a="http://schemas.openxmlformats.org/drawingml/2006/main">
            <a:r>
              <a:t>      "위험 예측",</a:t>
            </a:r>
          </a:p>
          <a:p xmlns:a="http://schemas.openxmlformats.org/drawingml/2006/main">
            <a:r>
              <a:t>      "지역 실증"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"민관 교통 데이터",</a:t>
            </a:r>
          </a:p>
          <a:p xmlns:a="http://schemas.openxmlformats.org/drawingml/2006/main">
            <a:r>
              <a:t>        "detail": "지역·기간·사고유형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"다종 데이터 / 위험 예측 / 지역 실증",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"전처리·MLOps",</a:t>
            </a:r>
          </a:p>
          <a:p xmlns:a="http://schemas.openxmlformats.org/drawingml/2006/main">
            <a:r>
              <a:t>        "detail": "사고·단속·시설·기상·교통량 결합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"교통안전 담당",</a:t>
            </a:r>
          </a:p>
          <a:p xmlns:a="http://schemas.openxmlformats.org/drawingml/2006/main">
            <a:r>
              <a:t>        "detail": "위험 후보를 단속·시설 개선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위험 특징",</a:t>
            </a:r>
          </a:p>
          <a:p xmlns:a="http://schemas.openxmlformats.org/drawingml/2006/main">
            <a:r>
              <a:t>        "detail": "공간·시간 단위 정합화와 결측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"예측 오차·지역 편차·개입 후 지표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"민관 교통 데이터",</a:t>
            </a:r>
          </a:p>
          <a:p xmlns:a="http://schemas.openxmlformats.org/drawingml/2006/main">
            <a:r>
              <a:t>        "input": "지역·기간·사고유형 정의",</a:t>
            </a:r>
          </a:p>
          <a:p xmlns:a="http://schemas.openxmlformats.org/drawingml/2006/main">
            <a:r>
              <a:t>        "process": "공간·시간 단위 정합화와 결측 점검",</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"title": "전처리·MLOps",</a:t>
            </a:r>
          </a:p>
          <a:p xmlns:a="http://schemas.openxmlformats.org/drawingml/2006/main">
            <a:r>
              <a:t>        "input": "관측 데이터",</a:t>
            </a:r>
          </a:p>
          <a:p xmlns:a="http://schemas.openxmlformats.org/drawingml/2006/main">
            <a:r>
              <a:t>        "process": "사고·단속·시설·기상·교통량 결합 분석",</a:t>
            </a:r>
          </a:p>
          <a:p xmlns:a="http://schemas.openxmlformats.org/drawingml/2006/main">
            <a:r>
              <a:t>        "output": "학습·평가 특징"</a:t>
            </a:r>
          </a:p>
          <a:p xmlns:a="http://schemas.openxmlformats.org/drawingml/2006/main">
            <a:r>
              <a:t>      },</a:t>
            </a:r>
          </a:p>
          <a:p xmlns:a="http://schemas.openxmlformats.org/drawingml/2006/main">
            <a:r>
              <a:t>      {</a:t>
            </a:r>
          </a:p>
          <a:p xmlns:a="http://schemas.openxmlformats.org/drawingml/2006/main">
            <a:r>
              <a:t>        "title": "사고 위험 예측",</a:t>
            </a:r>
          </a:p>
          <a:p xmlns:a="http://schemas.openxmlformats.org/drawingml/2006/main">
            <a:r>
              <a:t>        "input": "학습·평가 특징",</a:t>
            </a:r>
          </a:p>
          <a:p xmlns:a="http://schemas.openxmlformats.org/drawingml/2006/main">
            <a:r>
              <a:t>        "process": "시간·지역 분리 평가와 누수 차단",</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"title": "지역 실증·현장 대응",</a:t>
            </a:r>
          </a:p>
          <a:p xmlns:a="http://schemas.openxmlformats.org/drawingml/2006/main">
            <a:r>
              <a:t>        "input": "위험 순위",</a:t>
            </a:r>
          </a:p>
          <a:p xmlns:a="http://schemas.openxmlformats.org/drawingml/2006/main">
            <a:r>
              <a:t>        "process":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지역·기간의 사고 위험을 분석하고 대응 후보 선정",</a:t>
            </a:r>
          </a:p>
          <a:p xmlns:a="http://schemas.openxmlformats.org/drawingml/2006/main">
            <a:r>
              <a:t>      "exception": "공간 코드 변경·기상 결측·학습 이후 자료 유입",</a:t>
            </a:r>
          </a:p>
          <a:p xmlns:a="http://schemas.openxmlformats.org/drawingml/2006/main">
            <a:r>
              <a:t>      "evidence": "시공간 분리 평가와 지역별 오차·대응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"교통안전·단속·시설 담당",</a:t>
            </a:r>
          </a:p>
          <a:p xmlns:a="http://schemas.openxmlformats.org/drawingml/2006/main">
            <a:r>
              <a:t>          "processing": "지역·기간·사고유형 정의",</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위험 특징",</a:t>
            </a:r>
          </a:p>
          <a:p xmlns:a="http://schemas.openxmlformats.org/drawingml/2006/main">
            <a:r>
              <a:t>          "processing": "공간·시간 단위 정합화와 결측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"관측 데이터",</a:t>
            </a:r>
          </a:p>
          <a:p xmlns:a="http://schemas.openxmlformats.org/drawingml/2006/main">
            <a:r>
              <a:t>          "processing": "사고·단속·시설·기상·교통량 결합 분석",</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순위",</a:t>
            </a:r>
          </a:p>
          <a:p xmlns:a="http://schemas.openxmlformats.org/drawingml/2006/main">
            <a:r>
              <a:t>          "processing":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"예측 오차·지역 편차·개입 후 지표 평가",</a:t>
            </a:r>
          </a:p>
          <a:p xmlns:a="http://schemas.openxmlformats.org/drawingml/2006/main">
            <a:r>
              <a:t>          "output": "시공간 분리 평가와 지역별 오차·대응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"예측 오차·지역 편차·개입 후 지표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"S-AX23",</a:t>
            </a:r>
          </a:p>
          <a:p xmlns:a="http://schemas.openxmlformats.org/drawingml/2006/main">
            <a:r>
              <a:t>        "title": "경찰 AI 교통안전 시스템 · 공공AI 사례집 110–111쪽",</a:t>
            </a:r>
          </a:p>
          <a:p xmlns:a="http://schemas.openxmlformats.org/drawingml/2006/main">
            <a:r>
              <a:t>        "url": "https://bigdata.dongjak.go.kr/board/viewArticle?articleNo=954&amp;boardId=4",</a:t>
            </a:r>
          </a:p>
          <a:p xmlns:a="http://schemas.openxmlformats.org/drawingml/2006/main">
            <a:r>
              <a:t>        "published": "2024 구축·실증",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"지역별 모델 평가와 예방 조치의 연결",</a:t>
            </a:r>
          </a:p>
          <a:p xmlns:a="http://schemas.openxmlformats.org/drawingml/2006/main">
            <a:r>
              <a:t>    "local": "TS 지역 안전 진단·개선 권고와 관할 매핑",</a:t>
            </a:r>
          </a:p>
          <a:p xmlns:a="http://schemas.openxmlformats.org/drawingml/2006/main">
            <a:r>
              <a:t>    "sourceDetail": null,</a:t>
            </a:r>
          </a:p>
          <a:p xmlns:a="http://schemas.openxmlformats.org/drawingml/2006/main">
            <a:r>
              <a:t>    "narrative": [</a:t>
            </a:r>
          </a:p>
          <a:p xmlns:a="http://schemas.openxmlformats.org/drawingml/2006/main">
            <a:r>
              <a:t>      "사고·단속·시설·기상·교통량을 결합해 지역별 교통 위험을 분석하는 사례. 다양한 원천의 시간·공간 단위를 맞추고 현장 실증으로 예측을 평가하는 유형.",</a:t>
            </a:r>
          </a:p>
          <a:p xmlns:a="http://schemas.openxmlformats.org/drawingml/2006/main">
            <a:r>
              <a:t>      "원천 자료를 정합화하고 결측·표본 편차를 검사한 뒤 학습·평가 특징을 구성하는 재구성. 위험 순위는 단속·시설 개선 담당자의 검토 자료로 전달하고 실제 개입 결과를 별도 기록.",</a:t>
            </a:r>
          </a:p>
          <a:p xmlns:a="http://schemas.openxmlformats.org/drawingml/2006/main">
            <a:r>
              <a:t>      "CCK 비교에서는 시간·지역 분리 평가로 데이터 누수를 막고 희귀 사고의 미탐을 별도로 확인. 예측 성능과 개입 후 사고 변화의 인과효과를 구분하고 관할 부서별 조치 이력을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"지역 위험 조회",</a:t>
            </a:r>
          </a:p>
          <a:p xmlns:a="http://schemas.openxmlformats.org/drawingml/2006/main">
            <a:r>
              <a:t>          "layer": "이용 접점",</a:t>
            </a:r>
          </a:p>
          <a:p xmlns:a="http://schemas.openxmlformats.org/drawingml/2006/main">
            <a:r>
              <a:t>          "detail": "교통안전·단속·시설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"지역·기간·유형",</a:t>
            </a:r>
          </a:p>
          <a:p xmlns:a="http://schemas.openxmlformats.org/drawingml/2006/main">
            <a:r>
              <a:t>          "layer": "업무 문맥",</a:t>
            </a:r>
          </a:p>
          <a:p xmlns:a="http://schemas.openxmlformats.org/drawingml/2006/main">
            <a:r>
              <a:t>          "detail": "지역·기간·사고유형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특징 조회",</a:t>
            </a:r>
          </a:p>
          <a:p xmlns:a="http://schemas.openxmlformats.org/drawingml/2006/main">
            <a:r>
              <a:t>          "layer": "자료 조회",</a:t>
            </a:r>
          </a:p>
          <a:p xmlns:a="http://schemas.openxmlformats.org/drawingml/2006/main">
            <a:r>
              <a:t>          "detail": "관측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순위 예측",</a:t>
            </a:r>
          </a:p>
          <a:p xmlns:a="http://schemas.openxmlformats.org/drawingml/2006/main">
            <a:r>
              <a:t>          "layer": "핵심 처리",</a:t>
            </a:r>
          </a:p>
          <a:p xmlns:a="http://schemas.openxmlformats.org/drawingml/2006/main">
            <a:r>
              <a:t>          "detail": "사고·단속·시설·기상·교통량 결합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"누수·편향 검사",</a:t>
            </a:r>
          </a:p>
          <a:p xmlns:a="http://schemas.openxmlformats.org/drawingml/2006/main">
            <a:r>
              <a:t>          "layer": "결과 검증",</a:t>
            </a:r>
          </a:p>
          <a:p xmlns:a="http://schemas.openxmlformats.org/drawingml/2006/main">
            <a:r>
              <a:t>          "detail": "시간·지역 분리 평가와 누수 차단",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"같은 지역·기간의 사고 위험을 분석하고 대응 후보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"단속·시설 계획",</a:t>
            </a:r>
          </a:p>
          <a:p xmlns:a="http://schemas.openxmlformats.org/drawingml/2006/main">
            <a:r>
              <a:t>          "layer": "업무 연결",</a:t>
            </a:r>
          </a:p>
          <a:p xmlns:a="http://schemas.openxmlformats.org/drawingml/2006/main">
            <a:r>
              <a:t>          "detail": "위험 후보를 단속·시설 개선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"지역 실증 평가",</a:t>
            </a:r>
          </a:p>
          <a:p xmlns:a="http://schemas.openxmlformats.org/drawingml/2006/main">
            <a:r>
              <a:t>          "layer": "운영 관측",</a:t>
            </a:r>
          </a:p>
          <a:p xmlns:a="http://schemas.openxmlformats.org/drawingml/2006/main">
            <a:r>
              <a:t>          "detail": "예측 오차·지역 편차·개입 후 지표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"사고·기상·시설",</a:t>
            </a:r>
          </a:p>
          <a:p xmlns:a="http://schemas.openxmlformats.org/drawingml/2006/main">
            <a:r>
              <a:t>          "layer": "데이터 원천",</a:t>
            </a:r>
          </a:p>
          <a:p xmlns:a="http://schemas.openxmlformats.org/drawingml/2006/main">
            <a:r>
              <a:t>          "detail": "지역별 위험 특징",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"시공간·결측 정리",</a:t>
            </a:r>
          </a:p>
          <a:p xmlns:a="http://schemas.openxmlformats.org/drawingml/2006/main">
            <a:r>
              <a:t>          "layer": "준비·갱신",</a:t>
            </a:r>
          </a:p>
          <a:p xmlns:a="http://schemas.openxmlformats.org/drawingml/2006/main">
            <a:r>
              <a:t>          "detail": "공간·시간 단위 정합화와 결측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"특징·평가 자료",</a:t>
            </a:r>
          </a:p>
          <a:p xmlns:a="http://schemas.openxmlformats.org/drawingml/2006/main">
            <a:r>
              <a:t>          "layer": "상태·지식 저장",</a:t>
            </a:r>
          </a:p>
          <a:p xmlns:a="http://schemas.openxmlformats.org/drawingml/2006/main">
            <a:r>
              <a:t>          "detail": "시공간 분리 평가와 지역별 오차·대응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"기간·지역 분리",</a:t>
            </a:r>
          </a:p>
          <a:p xmlns:a="http://schemas.openxmlformats.org/drawingml/2006/main">
            <a:r>
              <a:t>          "layer": "권한·정책",</a:t>
            </a:r>
          </a:p>
          <a:p xmlns:a="http://schemas.openxmlformats.org/drawingml/2006/main">
            <a:r>
              <a:t>          "detail": "공간 코드 변경·기상 결측·학습 이후 자료 유입",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"민관 교통 데이터 → 전처리·MLOps → 사고 위험 예측 → 지역 실증·현장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"지역별 위험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"학습·평가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 순위",</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 순위",</a:t>
            </a:r>
          </a:p>
          <a:p xmlns:a="http://schemas.openxmlformats.org/drawingml/2006/main">
            <a:r>
              <a:t>          "check": "시간·지역 분리 평가와 누수 차단"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조치 검토",</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"지역별 교통사고 위험 분석과 대응 지원 / 다종 데이터·위험 예측·지역 실증",</a:t>
            </a:r>
          </a:p>
          <a:p xmlns:a="http://schemas.openxmlformats.org/drawingml/2006/main">
            <a:r>
              <a:t>        "extension": "TS 지역 안전 진단·개선 권고와 관할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"공간 코드 변경·기상 결측·학습 이후 자료 유입",</a:t>
            </a:r>
          </a:p>
          <a:p xmlns:a="http://schemas.openxmlformats.org/drawingml/2006/main">
            <a:r>
              <a:t>        "hold": "시간·지역 분리 평가와 누수 차단",</a:t>
            </a:r>
          </a:p>
          <a:p xmlns:a="http://schemas.openxmlformats.org/drawingml/2006/main">
            <a:r>
              <a:t>        "recovery": "예측 오차·지역 편차·개입 후 지표 평가",</a:t>
            </a:r>
          </a:p>
          <a:p xmlns:a="http://schemas.openxmlformats.org/drawingml/2006/main">
            <a:r>
              <a:t>        "evidence": "시공간 분리 평가와 지역별 오차·대응 기록"</a:t>
            </a:r>
          </a:p>
          <a:p xmlns:a="http://schemas.openxmlformats.org/drawingml/2006/main">
            <a:r>
              <a:t>      },</a:t>
            </a:r>
          </a:p>
          <a:p xmlns:a="http://schemas.openxmlformats.org/drawingml/2006/main">
            <a:r>
              <a:t>      "data": {</a:t>
            </a:r>
          </a:p>
          <a:p xmlns:a="http://schemas.openxmlformats.org/drawingml/2006/main">
            <a:r>
              <a:t>        "source": "지역별 위험 특징",</a:t>
            </a:r>
          </a:p>
          <a:p xmlns:a="http://schemas.openxmlformats.org/drawingml/2006/main">
            <a:r>
              <a:t>        "prepare": "공간·시간 단위 정합화와 결측 점검",</a:t>
            </a:r>
          </a:p>
          <a:p xmlns:a="http://schemas.openxmlformats.org/drawingml/2006/main">
            <a:r>
              <a:t>        "output": "관측 데이터",</a:t>
            </a:r>
          </a:p>
          <a:p xmlns:a="http://schemas.openxmlformats.org/drawingml/2006/main">
            <a:r>
              <a:t>        "refresh": "예측 오차·지역 편차·개입 후 지표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"AX23",</a:t>
            </a:r>
          </a:p>
          <a:p xmlns:a="http://schemas.openxmlformats.org/drawingml/2006/main">
            <a:r>
              <a:t>    "success": [</a:t>
            </a:r>
          </a:p>
          <a:p xmlns:a="http://schemas.openxmlformats.org/drawingml/2006/main">
            <a:r>
              <a:t>      "사고·시설·기상·교통량 결합",</a:t>
            </a:r>
          </a:p>
          <a:p xmlns:a="http://schemas.openxmlformats.org/drawingml/2006/main">
            <a:r>
              <a:t>      "지역 현장 실증으로 위험 검토"</a:t>
            </a:r>
          </a:p>
          <a:p xmlns:a="http://schemas.openxmlformats.org/drawingml/2006/main">
            <a:r>
              <a:t>    ],</a:t>
            </a:r>
          </a:p>
          <a:p xmlns:a="http://schemas.openxmlformats.org/drawingml/2006/main">
            <a:r>
              <a:t>    "risks": [</a:t>
            </a:r>
          </a:p>
          <a:p xmlns:a="http://schemas.openxmlformats.org/drawingml/2006/main">
            <a:r>
              <a:t>      "희귀 사고의 표본 불균형",</a:t>
            </a:r>
          </a:p>
          <a:p xmlns:a="http://schemas.openxmlformats.org/drawingml/2006/main">
            <a:r>
              <a:t>      "예측지표를 예방 효과로 환산"</a:t>
            </a:r>
          </a:p>
          <a:p xmlns:a="http://schemas.openxmlformats.org/drawingml/2006/main">
            <a:r>
              <a:t>    ],</a:t>
            </a:r>
          </a:p>
          <a:p xmlns:a="http://schemas.openxmlformats.org/drawingml/2006/main">
            <a:r>
              <a:t>    "architecture": [</a:t>
            </a:r>
          </a:p>
          <a:p xmlns:a="http://schemas.openxmlformats.org/drawingml/2006/main">
            <a:r>
              <a:t>      "민관 교통 데이터",</a:t>
            </a:r>
          </a:p>
          <a:p xmlns:a="http://schemas.openxmlformats.org/drawingml/2006/main">
            <a:r>
              <a:t>      "전처리·MLOps",</a:t>
            </a:r>
          </a:p>
          <a:p xmlns:a="http://schemas.openxmlformats.org/drawingml/2006/main">
            <a:r>
              <a:t>      "지역별 위험 특징",</a:t>
            </a:r>
          </a:p>
          <a:p xmlns:a="http://schemas.openxmlformats.org/drawingml/2006/main">
            <a:r>
              <a:t>      "교통안전 담당"</a:t>
            </a:r>
          </a:p>
          <a:p xmlns:a="http://schemas.openxmlformats.org/drawingml/2006/main">
            <a:r>
              <a:t>    ],</a:t>
            </a:r>
          </a:p>
          <a:p xmlns:a="http://schemas.openxmlformats.org/drawingml/2006/main">
            <a:r>
              <a:t>    "transfers": [</a:t>
            </a:r>
          </a:p>
          <a:p xmlns:a="http://schemas.openxmlformats.org/drawingml/2006/main">
            <a:r>
              <a:t>      "관측 데이터",</a:t>
            </a:r>
          </a:p>
          <a:p xmlns:a="http://schemas.openxmlformats.org/drawingml/2006/main">
            <a:r>
              <a:t>      "학습·평가 특징",</a:t>
            </a:r>
          </a:p>
          <a:p xmlns:a="http://schemas.openxmlformats.org/drawingml/2006/main">
            <a:r>
              <a:t>      "위험 순위",</a:t>
            </a:r>
          </a:p>
          <a:p xmlns:a="http://schemas.openxmlformats.org/drawingml/2006/main">
            <a:r>
              <a:t>      "현장 조치 검토"</a:t>
            </a:r>
          </a:p>
          <a:p xmlns:a="http://schemas.openxmlformats.org/drawingml/2006/main">
            <a:r>
              <a:t>    ],</a:t>
            </a:r>
          </a:p>
          <a:p xmlns:a="http://schemas.openxmlformats.org/drawingml/2006/main">
            <a:r>
              <a:t>    "control": "시간·지역 분리 평가와 누수 차단",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경찰 AI 교통안전 시스템 · 공공AI 사례집 110–111쪽 https://bigdata.dongjak.go.kr/board/viewArticle?articleNo=954&amp;boardId=4</a:t>
            </a:r>
          </a:p>
          <a:p xmlns:a="http://schemas.openxmlformats.org/drawingml/2006/main">
            <a:r>
              <a:t>홈페이지 https://heen1987-ops.github.io/TS-business-Plan-001/index.html?view=casebook&amp;case=AX23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"AX23",</a:t>
            </a:r>
          </a:p>
          <a:p xmlns:a="http://schemas.openxmlformats.org/drawingml/2006/main">
            <a:r>
              <a:t>    "title": "경찰 AI 교통안전 시스템",</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"교통사고 위험 예측",</a:t>
            </a:r>
          </a:p>
          <a:p xmlns:a="http://schemas.openxmlformats.org/drawingml/2006/main">
            <a:r>
              <a:t>    "period": "2024 구축·실증",</a:t>
            </a:r>
          </a:p>
          <a:p xmlns:a="http://schemas.openxmlformats.org/drawingml/2006/main">
            <a:r>
              <a:t>    "sources": [</a:t>
            </a:r>
          </a:p>
          <a:p xmlns:a="http://schemas.openxmlformats.org/drawingml/2006/main">
            <a:r>
              <a:t>      "S-AX23"</a:t>
            </a:r>
          </a:p>
          <a:p xmlns:a="http://schemas.openxmlformats.org/drawingml/2006/main">
            <a:r>
              <a:t>    ],</a:t>
            </a:r>
          </a:p>
          <a:p xmlns:a="http://schemas.openxmlformats.org/drawingml/2006/main">
            <a:r>
              <a:t>    "keywords": [</a:t>
            </a:r>
          </a:p>
          <a:p xmlns:a="http://schemas.openxmlformats.org/drawingml/2006/main">
            <a:r>
              <a:t>      "교통사고 위험 예측"</a:t>
            </a:r>
          </a:p>
          <a:p xmlns:a="http://schemas.openxmlformats.org/drawingml/2006/main">
            <a:r>
              <a:t>    ],</a:t>
            </a:r>
          </a:p>
          <a:p xmlns:a="http://schemas.openxmlformats.org/drawingml/2006/main">
            <a:r>
              <a:t>    "fact": "교통사고·단속·시설·기상·교통량 데이터 기반 위험 예측과 지역 실증",</a:t>
            </a:r>
          </a:p>
          <a:p xmlns:a="http://schemas.openxmlformats.org/drawingml/2006/main">
            <a:r>
              <a:t>    "limit": "지역 실증 범위 · 전국 사고 감소 성과로 확대 불가",</a:t>
            </a:r>
          </a:p>
          <a:p xmlns:a="http://schemas.openxmlformats.org/drawingml/2006/main">
            <a:r>
              <a:t>    "flow": [</a:t>
            </a:r>
          </a:p>
          <a:p xmlns:a="http://schemas.openxmlformats.org/drawingml/2006/main">
            <a:r>
              <a:t>      "민관 교통 데이터",</a:t>
            </a:r>
          </a:p>
          <a:p xmlns:a="http://schemas.openxmlformats.org/drawingml/2006/main">
            <a:r>
              <a:t>      "전처리·MLOps",</a:t>
            </a:r>
          </a:p>
          <a:p xmlns:a="http://schemas.openxmlformats.org/drawingml/2006/main">
            <a:r>
              <a:t>      "사고 위험 예측",</a:t>
            </a:r>
          </a:p>
          <a:p xmlns:a="http://schemas.openxmlformats.org/drawingml/2006/main">
            <a:r>
              <a:t>      "지역 실증·현장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"지역별 모델 평가와 예방 조치의 연결",</a:t>
            </a:r>
          </a:p>
          <a:p xmlns:a="http://schemas.openxmlformats.org/drawingml/2006/main">
            <a:r>
              <a:t>    "local": "TS 지역 안전 진단·개선 권고와 관할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"지역·도로·시점 정규화 및 개선 이력 연결",</a:t>
            </a:r>
          </a:p>
          <a:p xmlns:a="http://schemas.openxmlformats.org/drawingml/2006/main">
            <a:r>
              <a:t>    "test": "시간·지역 분리 검증과 데이터 누락 시험",</a:t>
            </a:r>
          </a:p>
          <a:p xmlns:a="http://schemas.openxmlformats.org/drawingml/2006/main">
            <a:r>
              <a:t>    "metric": "위험 탐지율 / 예방 조치 이행률",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"AX23",</a:t>
            </a:r>
          </a:p>
          <a:p xmlns:a="http://schemas.openxmlformats.org/drawingml/2006/main">
            <a:r>
              <a:t>    "canonicalId": "AX23",</a:t>
            </a:r>
          </a:p>
          <a:p xmlns:a="http://schemas.openxmlformats.org/drawingml/2006/main">
            <a:r>
              <a:t>    "purpose": "지역별 교통사고 위험 분석과 대응 지원",</a:t>
            </a:r>
          </a:p>
          <a:p xmlns:a="http://schemas.openxmlformats.org/drawingml/2006/main">
            <a:r>
              <a:t>    "users": "교통안전·단속·시설 담당",</a:t>
            </a:r>
          </a:p>
          <a:p xmlns:a="http://schemas.openxmlformats.org/drawingml/2006/main">
            <a:r>
              <a:t>    "scope": [</a:t>
            </a:r>
          </a:p>
          <a:p xmlns:a="http://schemas.openxmlformats.org/drawingml/2006/main">
            <a:r>
              <a:t>      "다종 데이터",</a:t>
            </a:r>
          </a:p>
          <a:p xmlns:a="http://schemas.openxmlformats.org/drawingml/2006/main">
            <a:r>
              <a:t>      "위험 예측",</a:t>
            </a:r>
          </a:p>
          <a:p xmlns:a="http://schemas.openxmlformats.org/drawingml/2006/main">
            <a:r>
              <a:t>      "지역 실증"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"민관 교통 데이터",</a:t>
            </a:r>
          </a:p>
          <a:p xmlns:a="http://schemas.openxmlformats.org/drawingml/2006/main">
            <a:r>
              <a:t>        "detail": "지역·기간·사고유형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"다종 데이터 / 위험 예측 / 지역 실증",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"전처리·MLOps",</a:t>
            </a:r>
          </a:p>
          <a:p xmlns:a="http://schemas.openxmlformats.org/drawingml/2006/main">
            <a:r>
              <a:t>        "detail": "사고·단속·시설·기상·교통량 결합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"교통안전 담당",</a:t>
            </a:r>
          </a:p>
          <a:p xmlns:a="http://schemas.openxmlformats.org/drawingml/2006/main">
            <a:r>
              <a:t>        "detail": "위험 후보를 단속·시설 개선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위험 특징",</a:t>
            </a:r>
          </a:p>
          <a:p xmlns:a="http://schemas.openxmlformats.org/drawingml/2006/main">
            <a:r>
              <a:t>        "detail": "공간·시간 단위 정합화와 결측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"예측 오차·지역 편차·개입 후 지표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"민관 교통 데이터",</a:t>
            </a:r>
          </a:p>
          <a:p xmlns:a="http://schemas.openxmlformats.org/drawingml/2006/main">
            <a:r>
              <a:t>        "input": "지역·기간·사고유형 정의",</a:t>
            </a:r>
          </a:p>
          <a:p xmlns:a="http://schemas.openxmlformats.org/drawingml/2006/main">
            <a:r>
              <a:t>        "process": "공간·시간 단위 정합화와 결측 점검",</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"title": "전처리·MLOps",</a:t>
            </a:r>
          </a:p>
          <a:p xmlns:a="http://schemas.openxmlformats.org/drawingml/2006/main">
            <a:r>
              <a:t>        "input": "관측 데이터",</a:t>
            </a:r>
          </a:p>
          <a:p xmlns:a="http://schemas.openxmlformats.org/drawingml/2006/main">
            <a:r>
              <a:t>        "process": "사고·단속·시설·기상·교통량 결합 분석",</a:t>
            </a:r>
          </a:p>
          <a:p xmlns:a="http://schemas.openxmlformats.org/drawingml/2006/main">
            <a:r>
              <a:t>        "output": "학습·평가 특징"</a:t>
            </a:r>
          </a:p>
          <a:p xmlns:a="http://schemas.openxmlformats.org/drawingml/2006/main">
            <a:r>
              <a:t>      },</a:t>
            </a:r>
          </a:p>
          <a:p xmlns:a="http://schemas.openxmlformats.org/drawingml/2006/main">
            <a:r>
              <a:t>      {</a:t>
            </a:r>
          </a:p>
          <a:p xmlns:a="http://schemas.openxmlformats.org/drawingml/2006/main">
            <a:r>
              <a:t>        "title": "사고 위험 예측",</a:t>
            </a:r>
          </a:p>
          <a:p xmlns:a="http://schemas.openxmlformats.org/drawingml/2006/main">
            <a:r>
              <a:t>        "input": "학습·평가 특징",</a:t>
            </a:r>
          </a:p>
          <a:p xmlns:a="http://schemas.openxmlformats.org/drawingml/2006/main">
            <a:r>
              <a:t>        "process": "시간·지역 분리 평가와 누수 차단",</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"title": "지역 실증·현장 대응",</a:t>
            </a:r>
          </a:p>
          <a:p xmlns:a="http://schemas.openxmlformats.org/drawingml/2006/main">
            <a:r>
              <a:t>        "input": "위험 순위",</a:t>
            </a:r>
          </a:p>
          <a:p xmlns:a="http://schemas.openxmlformats.org/drawingml/2006/main">
            <a:r>
              <a:t>        "process":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지역·기간의 사고 위험을 분석하고 대응 후보 선정",</a:t>
            </a:r>
          </a:p>
          <a:p xmlns:a="http://schemas.openxmlformats.org/drawingml/2006/main">
            <a:r>
              <a:t>      "exception": "공간 코드 변경·기상 결측·학습 이후 자료 유입",</a:t>
            </a:r>
          </a:p>
          <a:p xmlns:a="http://schemas.openxmlformats.org/drawingml/2006/main">
            <a:r>
              <a:t>      "evidence": "시공간 분리 평가와 지역별 오차·대응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"교통안전·단속·시설 담당",</a:t>
            </a:r>
          </a:p>
          <a:p xmlns:a="http://schemas.openxmlformats.org/drawingml/2006/main">
            <a:r>
              <a:t>          "processing": "지역·기간·사고유형 정의",</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위험 특징",</a:t>
            </a:r>
          </a:p>
          <a:p xmlns:a="http://schemas.openxmlformats.org/drawingml/2006/main">
            <a:r>
              <a:t>          "processing": "공간·시간 단위 정합화와 결측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"관측 데이터",</a:t>
            </a:r>
          </a:p>
          <a:p xmlns:a="http://schemas.openxmlformats.org/drawingml/2006/main">
            <a:r>
              <a:t>          "processing": "사고·단속·시설·기상·교통량 결합 분석",</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순위",</a:t>
            </a:r>
          </a:p>
          <a:p xmlns:a="http://schemas.openxmlformats.org/drawingml/2006/main">
            <a:r>
              <a:t>          "processing":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"예측 오차·지역 편차·개입 후 지표 평가",</a:t>
            </a:r>
          </a:p>
          <a:p xmlns:a="http://schemas.openxmlformats.org/drawingml/2006/main">
            <a:r>
              <a:t>          "output": "시공간 분리 평가와 지역별 오차·대응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"예측 오차·지역 편차·개입 후 지표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"S-AX23",</a:t>
            </a:r>
          </a:p>
          <a:p xmlns:a="http://schemas.openxmlformats.org/drawingml/2006/main">
            <a:r>
              <a:t>        "title": "경찰 AI 교통안전 시스템 · 공공AI 사례집 110–111쪽",</a:t>
            </a:r>
          </a:p>
          <a:p xmlns:a="http://schemas.openxmlformats.org/drawingml/2006/main">
            <a:r>
              <a:t>        "url": "https://bigdata.dongjak.go.kr/board/viewArticle?articleNo=954&amp;boardId=4",</a:t>
            </a:r>
          </a:p>
          <a:p xmlns:a="http://schemas.openxmlformats.org/drawingml/2006/main">
            <a:r>
              <a:t>        "published": "2024 구축·실증",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"지역별 모델 평가와 예방 조치의 연결",</a:t>
            </a:r>
          </a:p>
          <a:p xmlns:a="http://schemas.openxmlformats.org/drawingml/2006/main">
            <a:r>
              <a:t>    "local": "TS 지역 안전 진단·개선 권고와 관할 매핑",</a:t>
            </a:r>
          </a:p>
          <a:p xmlns:a="http://schemas.openxmlformats.org/drawingml/2006/main">
            <a:r>
              <a:t>    "sourceDetail": null,</a:t>
            </a:r>
          </a:p>
          <a:p xmlns:a="http://schemas.openxmlformats.org/drawingml/2006/main">
            <a:r>
              <a:t>    "narrative": [</a:t>
            </a:r>
          </a:p>
          <a:p xmlns:a="http://schemas.openxmlformats.org/drawingml/2006/main">
            <a:r>
              <a:t>      "사고·단속·시설·기상·교통량을 결합해 지역별 교통 위험을 분석하는 사례. 다양한 원천의 시간·공간 단위를 맞추고 현장 실증으로 예측을 평가하는 유형.",</a:t>
            </a:r>
          </a:p>
          <a:p xmlns:a="http://schemas.openxmlformats.org/drawingml/2006/main">
            <a:r>
              <a:t>      "원천 자료를 정합화하고 결측·표본 편차를 검사한 뒤 학습·평가 특징을 구성하는 재구성. 위험 순위는 단속·시설 개선 담당자의 검토 자료로 전달하고 실제 개입 결과를 별도 기록.",</a:t>
            </a:r>
          </a:p>
          <a:p xmlns:a="http://schemas.openxmlformats.org/drawingml/2006/main">
            <a:r>
              <a:t>      "CCK 비교에서는 시간·지역 분리 평가로 데이터 누수를 막고 희귀 사고의 미탐을 별도로 확인. 예측 성능과 개입 후 사고 변화의 인과효과를 구분하고 관할 부서별 조치 이력을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"지역 위험 조회",</a:t>
            </a:r>
          </a:p>
          <a:p xmlns:a="http://schemas.openxmlformats.org/drawingml/2006/main">
            <a:r>
              <a:t>          "layer": "이용 접점",</a:t>
            </a:r>
          </a:p>
          <a:p xmlns:a="http://schemas.openxmlformats.org/drawingml/2006/main">
            <a:r>
              <a:t>          "detail": "교통안전·단속·시설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"지역·기간·유형",</a:t>
            </a:r>
          </a:p>
          <a:p xmlns:a="http://schemas.openxmlformats.org/drawingml/2006/main">
            <a:r>
              <a:t>          "layer": "업무 문맥",</a:t>
            </a:r>
          </a:p>
          <a:p xmlns:a="http://schemas.openxmlformats.org/drawingml/2006/main">
            <a:r>
              <a:t>          "detail": "지역·기간·사고유형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특징 조회",</a:t>
            </a:r>
          </a:p>
          <a:p xmlns:a="http://schemas.openxmlformats.org/drawingml/2006/main">
            <a:r>
              <a:t>          "layer": "자료 조회",</a:t>
            </a:r>
          </a:p>
          <a:p xmlns:a="http://schemas.openxmlformats.org/drawingml/2006/main">
            <a:r>
              <a:t>          "detail": "관측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순위 예측",</a:t>
            </a:r>
          </a:p>
          <a:p xmlns:a="http://schemas.openxmlformats.org/drawingml/2006/main">
            <a:r>
              <a:t>          "layer": "핵심 처리",</a:t>
            </a:r>
          </a:p>
          <a:p xmlns:a="http://schemas.openxmlformats.org/drawingml/2006/main">
            <a:r>
              <a:t>          "detail": "사고·단속·시설·기상·교통량 결합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"누수·편향 검사",</a:t>
            </a:r>
          </a:p>
          <a:p xmlns:a="http://schemas.openxmlformats.org/drawingml/2006/main">
            <a:r>
              <a:t>          "layer": "결과 검증",</a:t>
            </a:r>
          </a:p>
          <a:p xmlns:a="http://schemas.openxmlformats.org/drawingml/2006/main">
            <a:r>
              <a:t>          "detail": "시간·지역 분리 평가와 누수 차단",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"같은 지역·기간의 사고 위험을 분석하고 대응 후보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"단속·시설 계획",</a:t>
            </a:r>
          </a:p>
          <a:p xmlns:a="http://schemas.openxmlformats.org/drawingml/2006/main">
            <a:r>
              <a:t>          "layer": "업무 연결",</a:t>
            </a:r>
          </a:p>
          <a:p xmlns:a="http://schemas.openxmlformats.org/drawingml/2006/main">
            <a:r>
              <a:t>          "detail": "위험 후보를 단속·시설 개선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"지역 실증 평가",</a:t>
            </a:r>
          </a:p>
          <a:p xmlns:a="http://schemas.openxmlformats.org/drawingml/2006/main">
            <a:r>
              <a:t>          "layer": "운영 관측",</a:t>
            </a:r>
          </a:p>
          <a:p xmlns:a="http://schemas.openxmlformats.org/drawingml/2006/main">
            <a:r>
              <a:t>          "detail": "예측 오차·지역 편차·개입 후 지표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"사고·기상·시설",</a:t>
            </a:r>
          </a:p>
          <a:p xmlns:a="http://schemas.openxmlformats.org/drawingml/2006/main">
            <a:r>
              <a:t>          "layer": "데이터 원천",</a:t>
            </a:r>
          </a:p>
          <a:p xmlns:a="http://schemas.openxmlformats.org/drawingml/2006/main">
            <a:r>
              <a:t>          "detail": "지역별 위험 특징",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"시공간·결측 정리",</a:t>
            </a:r>
          </a:p>
          <a:p xmlns:a="http://schemas.openxmlformats.org/drawingml/2006/main">
            <a:r>
              <a:t>          "layer": "준비·갱신",</a:t>
            </a:r>
          </a:p>
          <a:p xmlns:a="http://schemas.openxmlformats.org/drawingml/2006/main">
            <a:r>
              <a:t>          "detail": "공간·시간 단위 정합화와 결측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"특징·평가 자료",</a:t>
            </a:r>
          </a:p>
          <a:p xmlns:a="http://schemas.openxmlformats.org/drawingml/2006/main">
            <a:r>
              <a:t>          "layer": "상태·지식 저장",</a:t>
            </a:r>
          </a:p>
          <a:p xmlns:a="http://schemas.openxmlformats.org/drawingml/2006/main">
            <a:r>
              <a:t>          "detail": "시공간 분리 평가와 지역별 오차·대응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"기간·지역 분리",</a:t>
            </a:r>
          </a:p>
          <a:p xmlns:a="http://schemas.openxmlformats.org/drawingml/2006/main">
            <a:r>
              <a:t>          "layer": "권한·정책",</a:t>
            </a:r>
          </a:p>
          <a:p xmlns:a="http://schemas.openxmlformats.org/drawingml/2006/main">
            <a:r>
              <a:t>          "detail": "공간 코드 변경·기상 결측·학습 이후 자료 유입",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"민관 교통 데이터 → 전처리·MLOps → 사고 위험 예측 → 지역 실증·현장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"지역별 위험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"학습·평가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 순위",</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 순위",</a:t>
            </a:r>
          </a:p>
          <a:p xmlns:a="http://schemas.openxmlformats.org/drawingml/2006/main">
            <a:r>
              <a:t>          "check": "시간·지역 분리 평가와 누수 차단"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조치 검토",</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"지역별 교통사고 위험 분석과 대응 지원 / 다종 데이터·위험 예측·지역 실증",</a:t>
            </a:r>
          </a:p>
          <a:p xmlns:a="http://schemas.openxmlformats.org/drawingml/2006/main">
            <a:r>
              <a:t>        "extension": "TS 지역 안전 진단·개선 권고와 관할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"공간 코드 변경·기상 결측·학습 이후 자료 유입",</a:t>
            </a:r>
          </a:p>
          <a:p xmlns:a="http://schemas.openxmlformats.org/drawingml/2006/main">
            <a:r>
              <a:t>        "hold": "시간·지역 분리 평가와 누수 차단",</a:t>
            </a:r>
          </a:p>
          <a:p xmlns:a="http://schemas.openxmlformats.org/drawingml/2006/main">
            <a:r>
              <a:t>        "recovery": "예측 오차·지역 편차·개입 후 지표 평가",</a:t>
            </a:r>
          </a:p>
          <a:p xmlns:a="http://schemas.openxmlformats.org/drawingml/2006/main">
            <a:r>
              <a:t>        "evidence": "시공간 분리 평가와 지역별 오차·대응 기록"</a:t>
            </a:r>
          </a:p>
          <a:p xmlns:a="http://schemas.openxmlformats.org/drawingml/2006/main">
            <a:r>
              <a:t>      },</a:t>
            </a:r>
          </a:p>
          <a:p xmlns:a="http://schemas.openxmlformats.org/drawingml/2006/main">
            <a:r>
              <a:t>      "data": {</a:t>
            </a:r>
          </a:p>
          <a:p xmlns:a="http://schemas.openxmlformats.org/drawingml/2006/main">
            <a:r>
              <a:t>        "source": "지역별 위험 특징",</a:t>
            </a:r>
          </a:p>
          <a:p xmlns:a="http://schemas.openxmlformats.org/drawingml/2006/main">
            <a:r>
              <a:t>        "prepare": "공간·시간 단위 정합화와 결측 점검",</a:t>
            </a:r>
          </a:p>
          <a:p xmlns:a="http://schemas.openxmlformats.org/drawingml/2006/main">
            <a:r>
              <a:t>        "output": "관측 데이터",</a:t>
            </a:r>
          </a:p>
          <a:p xmlns:a="http://schemas.openxmlformats.org/drawingml/2006/main">
            <a:r>
              <a:t>        "refresh": "예측 오차·지역 편차·개입 후 지표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"AX23",</a:t>
            </a:r>
          </a:p>
          <a:p xmlns:a="http://schemas.openxmlformats.org/drawingml/2006/main">
            <a:r>
              <a:t>    "success": [</a:t>
            </a:r>
          </a:p>
          <a:p xmlns:a="http://schemas.openxmlformats.org/drawingml/2006/main">
            <a:r>
              <a:t>      "사고·시설·기상·교통량 결합",</a:t>
            </a:r>
          </a:p>
          <a:p xmlns:a="http://schemas.openxmlformats.org/drawingml/2006/main">
            <a:r>
              <a:t>      "지역 현장 실증으로 위험 검토"</a:t>
            </a:r>
          </a:p>
          <a:p xmlns:a="http://schemas.openxmlformats.org/drawingml/2006/main">
            <a:r>
              <a:t>    ],</a:t>
            </a:r>
          </a:p>
          <a:p xmlns:a="http://schemas.openxmlformats.org/drawingml/2006/main">
            <a:r>
              <a:t>    "risks": [</a:t>
            </a:r>
          </a:p>
          <a:p xmlns:a="http://schemas.openxmlformats.org/drawingml/2006/main">
            <a:r>
              <a:t>      "희귀 사고의 표본 불균형",</a:t>
            </a:r>
          </a:p>
          <a:p xmlns:a="http://schemas.openxmlformats.org/drawingml/2006/main">
            <a:r>
              <a:t>      "예측지표를 예방 효과로 환산"</a:t>
            </a:r>
          </a:p>
          <a:p xmlns:a="http://schemas.openxmlformats.org/drawingml/2006/main">
            <a:r>
              <a:t>    ],</a:t>
            </a:r>
          </a:p>
          <a:p xmlns:a="http://schemas.openxmlformats.org/drawingml/2006/main">
            <a:r>
              <a:t>    "architecture": [</a:t>
            </a:r>
          </a:p>
          <a:p xmlns:a="http://schemas.openxmlformats.org/drawingml/2006/main">
            <a:r>
              <a:t>      "민관 교통 데이터",</a:t>
            </a:r>
          </a:p>
          <a:p xmlns:a="http://schemas.openxmlformats.org/drawingml/2006/main">
            <a:r>
              <a:t>      "전처리·MLOps",</a:t>
            </a:r>
          </a:p>
          <a:p xmlns:a="http://schemas.openxmlformats.org/drawingml/2006/main">
            <a:r>
              <a:t>      "지역별 위험 특징",</a:t>
            </a:r>
          </a:p>
          <a:p xmlns:a="http://schemas.openxmlformats.org/drawingml/2006/main">
            <a:r>
              <a:t>      "교통안전 담당"</a:t>
            </a:r>
          </a:p>
          <a:p xmlns:a="http://schemas.openxmlformats.org/drawingml/2006/main">
            <a:r>
              <a:t>    ],</a:t>
            </a:r>
          </a:p>
          <a:p xmlns:a="http://schemas.openxmlformats.org/drawingml/2006/main">
            <a:r>
              <a:t>    "transfers": [</a:t>
            </a:r>
          </a:p>
          <a:p xmlns:a="http://schemas.openxmlformats.org/drawingml/2006/main">
            <a:r>
              <a:t>      "관측 데이터",</a:t>
            </a:r>
          </a:p>
          <a:p xmlns:a="http://schemas.openxmlformats.org/drawingml/2006/main">
            <a:r>
              <a:t>      "학습·평가 특징",</a:t>
            </a:r>
          </a:p>
          <a:p xmlns:a="http://schemas.openxmlformats.org/drawingml/2006/main">
            <a:r>
              <a:t>      "위험 순위",</a:t>
            </a:r>
          </a:p>
          <a:p xmlns:a="http://schemas.openxmlformats.org/drawingml/2006/main">
            <a:r>
              <a:t>      "현장 조치 검토"</a:t>
            </a:r>
          </a:p>
          <a:p xmlns:a="http://schemas.openxmlformats.org/drawingml/2006/main">
            <a:r>
              <a:t>    ],</a:t>
            </a:r>
          </a:p>
          <a:p xmlns:a="http://schemas.openxmlformats.org/drawingml/2006/main">
            <a:r>
              <a:t>    "control": "시간·지역 분리 평가와 누수 차단",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경찰 AI 교통안전 시스템 · 공공AI 사례집 110–111쪽 https://bigdata.dongjak.go.kr/board/viewArticle?articleNo=954&amp;boardId=4</a:t>
            </a:r>
          </a:p>
          <a:p xmlns:a="http://schemas.openxmlformats.org/drawingml/2006/main">
            <a:r>
              <a:t>홈페이지 https://heen1987-ops.github.io/TS-business-Plan-001/index.html?view=casebook&amp;case=AX23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"AX24",</a:t>
            </a:r>
          </a:p>
          <a:p xmlns:a="http://schemas.openxmlformats.org/drawingml/2006/main">
            <a:r>
              <a:t>    "title": "국가 R&amp;D 사업비 Risk 지원",</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"규정·증빙 기반 사업관리",</a:t>
            </a:r>
          </a:p>
          <a:p xmlns:a="http://schemas.openxmlformats.org/drawingml/2006/main">
            <a:r>
              <a:t>    "period": "2024 개발 사례",</a:t>
            </a:r>
          </a:p>
          <a:p xmlns:a="http://schemas.openxmlformats.org/drawingml/2006/main">
            <a:r>
              <a:t>    "sources": [</a:t>
            </a:r>
          </a:p>
          <a:p xmlns:a="http://schemas.openxmlformats.org/drawingml/2006/main">
            <a:r>
              <a:t>      "S-AX24"</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"증빙 기반 사업관리"</a:t>
            </a:r>
          </a:p>
          <a:p xmlns:a="http://schemas.openxmlformats.org/drawingml/2006/main">
            <a:r>
              <a:t>    ],</a:t>
            </a:r>
          </a:p>
          <a:p xmlns:a="http://schemas.openxmlformats.org/drawingml/2006/main">
            <a:r>
              <a:t>    "fact": "R&amp;D 법규·부처 지침 상담과 집행 데이터 수집·서식 생성을 결합한 솔루션 개발",</a:t>
            </a:r>
          </a:p>
          <a:p xmlns:a="http://schemas.openxmlformats.org/drawingml/2006/main">
            <a:r>
              <a:t>    "limit": "성과 항목이 기대효과 중심 · 행정 부담 감소 실측 별도",</a:t>
            </a:r>
          </a:p>
          <a:p xmlns:a="http://schemas.openxmlformats.org/drawingml/2006/main">
            <a:r>
              <a:t>    "flow": [</a:t>
            </a:r>
          </a:p>
          <a:p xmlns:a="http://schemas.openxmlformats.org/drawingml/2006/main">
            <a:r>
              <a:t>      "부처 지침·집행자료",</a:t>
            </a:r>
          </a:p>
          <a:p xmlns:a="http://schemas.openxmlformats.org/drawingml/2006/main">
            <a:r>
              <a:t>      "규정 질의",</a:t>
            </a:r>
          </a:p>
          <a:p xmlns:a="http://schemas.openxmlformats.org/drawingml/2006/main">
            <a:r>
              <a:t>      "서식·증빙 정리",</a:t>
            </a:r>
          </a:p>
          <a:p xmlns:a="http://schemas.openxmlformats.org/drawingml/2006/main">
            <a:r>
              <a:t>      "연구자·기관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"부처별 지침·증빙·검토 책임의 연결",</a:t>
            </a:r>
          </a:p>
          <a:p xmlns:a="http://schemas.openxmlformats.org/drawingml/2006/main">
            <a:r>
              <a:t>    "local": "민간 AI PMS와 TS 기관 내부 업무를 역할별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"부처·사업·계약 판본·증빙 요구 매핑",</a:t>
            </a:r>
          </a:p>
          <a:p xmlns:a="http://schemas.openxmlformats.org/drawingml/2006/main">
            <a:r>
              <a:t>    "test": "유효 규정·증빙 누락·목적 외 자료 차단 시험",</a:t>
            </a:r>
          </a:p>
          <a:p xmlns:a="http://schemas.openxmlformats.org/drawingml/2006/main">
            <a:r>
              <a:t>    "metric": "보완 왕복 횟수 / 검토 소요시간",</a:t>
            </a:r>
          </a:p>
          <a:p xmlns:a="http://schemas.openxmlformats.org/drawingml/2006/main">
            <a:r>
              <a:t>    "strategies": [</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"AX24",</a:t>
            </a:r>
          </a:p>
          <a:p xmlns:a="http://schemas.openxmlformats.org/drawingml/2006/main">
            <a:r>
              <a:t>    "canonicalId": "AX24",</a:t>
            </a:r>
          </a:p>
          <a:p xmlns:a="http://schemas.openxmlformats.org/drawingml/2006/main">
            <a:r>
              <a:t>    "purpose": "R&amp;D 사업비 문의와 증빙 정리 지원",</a:t>
            </a:r>
          </a:p>
          <a:p xmlns:a="http://schemas.openxmlformats.org/drawingml/2006/main">
            <a:r>
              <a:t>    "users": "과제 수행자·연구관리 담당",</a:t>
            </a:r>
          </a:p>
          <a:p xmlns:a="http://schemas.openxmlformats.org/drawingml/2006/main">
            <a:r>
              <a:t>    "scope": [</a:t>
            </a:r>
          </a:p>
          <a:p xmlns:a="http://schemas.openxmlformats.org/drawingml/2006/main">
            <a:r>
              <a:t>      "규정 상담",</a:t>
            </a:r>
          </a:p>
          <a:p xmlns:a="http://schemas.openxmlformats.org/drawingml/2006/main">
            <a:r>
              <a:t>      "집행자료",</a:t>
            </a:r>
          </a:p>
          <a:p xmlns:a="http://schemas.openxmlformats.org/drawingml/2006/main">
            <a:r>
              <a:t>      "서식 생성"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"연구비 집행 자료",</a:t>
            </a:r>
          </a:p>
          <a:p xmlns:a="http://schemas.openxmlformats.org/drawingml/2006/main">
            <a:r>
              <a:t>        "detail": "부처·사업·협약기간·집행항목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"규정 상담 / 집행자료 / 서식 생성",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"규정 검색·서식 구성",</a:t>
            </a:r>
          </a:p>
          <a:p xmlns:a="http://schemas.openxmlformats.org/drawingml/2006/main">
            <a:r>
              <a:t>        "detail": "규정 검색과 집행 항목의 조건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"연구자·기관 검토자",</a:t>
            </a:r>
          </a:p>
          <a:p xmlns:a="http://schemas.openxmlformats.org/drawingml/2006/main">
            <a:r>
              <a:t>        "detail": "근거·누락 항목·서식 초안의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"지침·증빙 기록",</a:t>
            </a:r>
          </a:p>
          <a:p xmlns:a="http://schemas.openxmlformats.org/drawingml/2006/main">
            <a:r>
              <a:t>        "detail": "법규·부처 지침·거래증빙의 판본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"오분류·증빙 누락과 검토 결과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"부처 지침·집행자료",</a:t>
            </a:r>
          </a:p>
          <a:p xmlns:a="http://schemas.openxmlformats.org/drawingml/2006/main">
            <a:r>
              <a:t>        "input": "부처·사업·협약기간·집행항목 확인",</a:t>
            </a:r>
          </a:p>
          <a:p xmlns:a="http://schemas.openxmlformats.org/drawingml/2006/main">
            <a:r>
              <a:t>        "process": "법규·부처 지침·거래증빙의 판본 연결",</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"title": "규정 질의",</a:t>
            </a:r>
          </a:p>
          <a:p xmlns:a="http://schemas.openxmlformats.org/drawingml/2006/main">
            <a:r>
              <a:t>        "input": "집행 내역",</a:t>
            </a:r>
          </a:p>
          <a:p xmlns:a="http://schemas.openxmlformats.org/drawingml/2006/main">
            <a:r>
              <a:t>        "process": "규정 검색과 집행 항목의 조건 비교",</a:t>
            </a:r>
          </a:p>
          <a:p xmlns:a="http://schemas.openxmlformats.org/drawingml/2006/main">
            <a:r>
              <a:t>        "output": "적용 규정"</a:t>
            </a:r>
          </a:p>
          <a:p xmlns:a="http://schemas.openxmlformats.org/drawingml/2006/main">
            <a:r>
              <a:t>      },</a:t>
            </a:r>
          </a:p>
          <a:p xmlns:a="http://schemas.openxmlformats.org/drawingml/2006/main">
            <a:r>
              <a:t>      {</a:t>
            </a:r>
          </a:p>
          <a:p xmlns:a="http://schemas.openxmlformats.org/drawingml/2006/main">
            <a:r>
              <a:t>        "title": "서식·증빙 정리",</a:t>
            </a:r>
          </a:p>
          <a:p xmlns:a="http://schemas.openxmlformats.org/drawingml/2006/main">
            <a:r>
              <a:t>        "input": "적용 규정",</a:t>
            </a:r>
          </a:p>
          <a:p xmlns:a="http://schemas.openxmlformats.org/drawingml/2006/main">
            <a:r>
              <a:t>        "process": "사업·판본별 의무와 예외 대사",</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"title": "연구자·기관 검토",</a:t>
            </a:r>
          </a:p>
          <a:p xmlns:a="http://schemas.openxmlformats.org/drawingml/2006/main">
            <a:r>
              <a:t>        "input": "서식·증빙 목록",</a:t>
            </a:r>
          </a:p>
          <a:p xmlns:a="http://schemas.openxmlformats.org/drawingml/2006/main">
            <a:r>
              <a:t>        "process":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"부처·사업·협약기간에 맞는 집행 조건과 증빙 확인",</a:t>
            </a:r>
          </a:p>
          <a:p xmlns:a="http://schemas.openxmlformats.org/drawingml/2006/main">
            <a:r>
              <a:t>      "exception": "다른 부처 지침·기간 외 거래·중복 집행 증빙",</a:t>
            </a:r>
          </a:p>
          <a:p xmlns:a="http://schemas.openxmlformats.org/drawingml/2006/main">
            <a:r>
              <a:t>      "evidence": "요건·거래·증빙·검토자 연결표와 누락 검출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"과제 수행자·연구관리 담당",</a:t>
            </a:r>
          </a:p>
          <a:p xmlns:a="http://schemas.openxmlformats.org/drawingml/2006/main">
            <a:r>
              <a:t>          "processing": "부처·사업·협약기간·집행항목 확인",</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"지침·증빙 기록",</a:t>
            </a:r>
          </a:p>
          <a:p xmlns:a="http://schemas.openxmlformats.org/drawingml/2006/main">
            <a:r>
              <a:t>          "processing": "법규·부처 지침·거래증빙의 판본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"집행 내역",</a:t>
            </a:r>
          </a:p>
          <a:p xmlns:a="http://schemas.openxmlformats.org/drawingml/2006/main">
            <a:r>
              <a:t>          "processing": "규정 검색과 집행 항목의 조건 비교",</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"서식·증빙 목록",</a:t>
            </a:r>
          </a:p>
          <a:p xmlns:a="http://schemas.openxmlformats.org/drawingml/2006/main">
            <a:r>
              <a:t>          "processing":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"오분류·증빙 누락과 검토 결과 추적",</a:t>
            </a:r>
          </a:p>
          <a:p xmlns:a="http://schemas.openxmlformats.org/drawingml/2006/main">
            <a:r>
              <a:t>          "output": "요건·거래·증빙·검토자 연결표와 누락 검출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"오분류·증빙 누락과 검토 결과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"S-AX24",</a:t>
            </a:r>
          </a:p>
          <a:p xmlns:a="http://schemas.openxmlformats.org/drawingml/2006/main">
            <a:r>
              <a:t>        "title": "국가 R&amp;D 사업비 Risk 지원 · 공공AI 사례집 193–194쪽",</a:t>
            </a:r>
          </a:p>
          <a:p xmlns:a="http://schemas.openxmlformats.org/drawingml/2006/main">
            <a:r>
              <a:t>        "url": "https://bigdata.dongjak.go.kr/board/viewArticle?articleNo=954&amp;boardId=4",</a:t>
            </a:r>
          </a:p>
          <a:p xmlns:a="http://schemas.openxmlformats.org/drawingml/2006/main">
            <a:r>
              <a:t>        "published": "2024 개발 사례",</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"부처별 지침·증빙·검토 책임의 연결",</a:t>
            </a:r>
          </a:p>
          <a:p xmlns:a="http://schemas.openxmlformats.org/drawingml/2006/main">
            <a:r>
              <a:t>    "local": "민간 AI PMS와 TS 기관 내부 업무를 역할별 분리",</a:t>
            </a:r>
          </a:p>
          <a:p xmlns:a="http://schemas.openxmlformats.org/drawingml/2006/main">
            <a:r>
              <a:t>    "sourceDetail": null,</a:t>
            </a:r>
          </a:p>
          <a:p xmlns:a="http://schemas.openxmlformats.org/drawingml/2006/main">
            <a:r>
              <a:t>    "narrative": [</a:t>
            </a:r>
          </a:p>
          <a:p xmlns:a="http://schemas.openxmlformats.org/drawingml/2006/main">
            <a:r>
              <a:t>      "연구비 집행 자료와 부처·사업별 지침을 연결해 상담·증빙·서식 작성을 지원하는 사례. 같은 지출 항목도 사업·협약연도에 따라 적용 기준이 다른 업무.",</a:t>
            </a:r>
          </a:p>
          <a:p xmlns:a="http://schemas.openxmlformats.org/drawingml/2006/main">
            <a:r>
              <a:t>      "부처·사업·협약기간·집행항목을 먼저 식별하고 해당 판본의 규정과 거래증빙을 대조하는 재구성. 누락 서류·예외 조건·서식 초안을 담당 검토자에게 전달하는 흐름.",</a:t>
            </a:r>
          </a:p>
          <a:p xmlns:a="http://schemas.openxmlformats.org/drawingml/2006/main">
            <a:r>
              <a:t>      "CCK AI PMS에 적용할 경우 지침 검색·양식 재사용과 적정 집행 판단을 분리. 사업 변경·연차 차이·증빙 누락 시험을 수행하고 요구사항·검수·제출 증빙의 추적에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"연구비 질의",</a:t>
            </a:r>
          </a:p>
          <a:p xmlns:a="http://schemas.openxmlformats.org/drawingml/2006/main">
            <a:r>
              <a:t>          "layer": "이용 접점",</a:t>
            </a:r>
          </a:p>
          <a:p xmlns:a="http://schemas.openxmlformats.org/drawingml/2006/main">
            <a:r>
              <a:t>          "detail": "과제 수행자·연구관리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"사업·협약·항목",</a:t>
            </a:r>
          </a:p>
          <a:p xmlns:a="http://schemas.openxmlformats.org/drawingml/2006/main">
            <a:r>
              <a:t>          "layer": "업무 문맥",</a:t>
            </a:r>
          </a:p>
          <a:p xmlns:a="http://schemas.openxmlformats.org/drawingml/2006/main">
            <a:r>
              <a:t>          "detail": "부처·사업·협약기간·집행항목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"규정·증빙 조회",</a:t>
            </a:r>
          </a:p>
          <a:p xmlns:a="http://schemas.openxmlformats.org/drawingml/2006/main">
            <a:r>
              <a:t>          "layer": "자료 조회",</a:t>
            </a:r>
          </a:p>
          <a:p xmlns:a="http://schemas.openxmlformats.org/drawingml/2006/main">
            <a:r>
              <a:t>          "detail": "집행 내역",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"조건 비교·서식",</a:t>
            </a:r>
          </a:p>
          <a:p xmlns:a="http://schemas.openxmlformats.org/drawingml/2006/main">
            <a:r>
              <a:t>          "layer": "핵심 처리",</a:t>
            </a:r>
          </a:p>
          <a:p xmlns:a="http://schemas.openxmlformats.org/drawingml/2006/main">
            <a:r>
              <a:t>          "detail": "규정 검색과 집행 항목의 조건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"판본·누락 검사",</a:t>
            </a:r>
          </a:p>
          <a:p xmlns:a="http://schemas.openxmlformats.org/drawingml/2006/main">
            <a:r>
              <a:t>          "layer": "결과 검증",</a:t>
            </a:r>
          </a:p>
          <a:p xmlns:a="http://schemas.openxmlformats.org/drawingml/2006/main">
            <a:r>
              <a:t>          "detail": "사업·판본별 의무와 예외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"기관 검토자 확인",</a:t>
            </a:r>
          </a:p>
          <a:p xmlns:a="http://schemas.openxmlformats.org/drawingml/2006/main">
            <a:r>
              <a:t>          "layer": "사람 확인",</a:t>
            </a:r>
          </a:p>
          <a:p xmlns:a="http://schemas.openxmlformats.org/drawingml/2006/main">
            <a:r>
              <a:t>          "detail": "부처·사업·협약기간에 맞는 집행 조건과 증빙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"보완·집행 검토",</a:t>
            </a:r>
          </a:p>
          <a:p xmlns:a="http://schemas.openxmlformats.org/drawingml/2006/main">
            <a:r>
              <a:t>          "layer": "업무 연결",</a:t>
            </a:r>
          </a:p>
          <a:p xmlns:a="http://schemas.openxmlformats.org/drawingml/2006/main">
            <a:r>
              <a:t>          "detail": "근거·누락 항목·서식 초안의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"오분류 추적",</a:t>
            </a:r>
          </a:p>
          <a:p xmlns:a="http://schemas.openxmlformats.org/drawingml/2006/main">
            <a:r>
              <a:t>          "layer": "운영 관측",</a:t>
            </a:r>
          </a:p>
          <a:p xmlns:a="http://schemas.openxmlformats.org/drawingml/2006/main">
            <a:r>
              <a:t>          "detail": "오분류·증빙 누락과 검토 결과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"지침·거래 증빙",</a:t>
            </a:r>
          </a:p>
          <a:p xmlns:a="http://schemas.openxmlformats.org/drawingml/2006/main">
            <a:r>
              <a:t>          "layer": "데이터 원천",</a:t>
            </a:r>
          </a:p>
          <a:p xmlns:a="http://schemas.openxmlformats.org/drawingml/2006/main">
            <a:r>
              <a:t>          "detail": "지침·증빙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"판본·항목 연결",</a:t>
            </a:r>
          </a:p>
          <a:p xmlns:a="http://schemas.openxmlformats.org/drawingml/2006/main">
            <a:r>
              <a:t>          "layer": "준비·갱신",</a:t>
            </a:r>
          </a:p>
          <a:p xmlns:a="http://schemas.openxmlformats.org/drawingml/2006/main">
            <a:r>
              <a:t>          "detail": "법규·부처 지침·거래증빙의 판본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"집행·근거 기록",</a:t>
            </a:r>
          </a:p>
          <a:p xmlns:a="http://schemas.openxmlformats.org/drawingml/2006/main">
            <a:r>
              <a:t>          "layer": "상태·지식 저장",</a:t>
            </a:r>
          </a:p>
          <a:p xmlns:a="http://schemas.openxmlformats.org/drawingml/2006/main">
            <a:r>
              <a:t>          "detail": "요건·거래·증빙·검토자 연결표와 누락 검출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"사업별 집행 기준",</a:t>
            </a:r>
          </a:p>
          <a:p xmlns:a="http://schemas.openxmlformats.org/drawingml/2006/main">
            <a:r>
              <a:t>          "layer": "권한·정책",</a:t>
            </a:r>
          </a:p>
          <a:p xmlns:a="http://schemas.openxmlformats.org/drawingml/2006/main">
            <a:r>
              <a:t>          "detail": "다른 부처 지침·기간 외 거래·중복 집행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"부처 지침·집행자료 → 규정 질의 → 서식·증빙 정리 → 연구자·기관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"지침·증빙 기록",</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"적용 규정",</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"보완·검토 결과",</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"R&amp;D 사업비 문의와 증빙 정리 지원 / 규정 상담·집행자료·서식 생성",</a:t>
            </a:r>
          </a:p>
          <a:p xmlns:a="http://schemas.openxmlformats.org/drawingml/2006/main">
            <a:r>
              <a:t>        "extension": "민간 AI PMS와 TS 기관 내부 업무를 역할별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부처 지침·기간 외 거래·중복 집행 증빙",</a:t>
            </a:r>
          </a:p>
          <a:p xmlns:a="http://schemas.openxmlformats.org/drawingml/2006/main">
            <a:r>
              <a:t>        "hold": "사업·판본별 의무와 예외 대사",</a:t>
            </a:r>
          </a:p>
          <a:p xmlns:a="http://schemas.openxmlformats.org/drawingml/2006/main">
            <a:r>
              <a:t>        "recovery": "오분류·증빙 누락과 검토 결과 추적",</a:t>
            </a:r>
          </a:p>
          <a:p xmlns:a="http://schemas.openxmlformats.org/drawingml/2006/main">
            <a:r>
              <a:t>        "evidence": "요건·거래·증빙·검토자 연결표와 누락 검출 결과"</a:t>
            </a:r>
          </a:p>
          <a:p xmlns:a="http://schemas.openxmlformats.org/drawingml/2006/main">
            <a:r>
              <a:t>      },</a:t>
            </a:r>
          </a:p>
          <a:p xmlns:a="http://schemas.openxmlformats.org/drawingml/2006/main">
            <a:r>
              <a:t>      "data": {</a:t>
            </a:r>
          </a:p>
          <a:p xmlns:a="http://schemas.openxmlformats.org/drawingml/2006/main">
            <a:r>
              <a:t>        "source": "지침·증빙 기록",</a:t>
            </a:r>
          </a:p>
          <a:p xmlns:a="http://schemas.openxmlformats.org/drawingml/2006/main">
            <a:r>
              <a:t>        "prepare": "법규·부처 지침·거래증빙의 판본 연결",</a:t>
            </a:r>
          </a:p>
          <a:p xmlns:a="http://schemas.openxmlformats.org/drawingml/2006/main">
            <a:r>
              <a:t>        "output": "집행 내역",</a:t>
            </a:r>
          </a:p>
          <a:p xmlns:a="http://schemas.openxmlformats.org/drawingml/2006/main">
            <a:r>
              <a:t>        "refresh": "오분류·증빙 누락과 검토 결과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"AX24",</a:t>
            </a:r>
          </a:p>
          <a:p xmlns:a="http://schemas.openxmlformats.org/drawingml/2006/main">
            <a:r>
              <a:t>    "success": [</a:t>
            </a:r>
          </a:p>
          <a:p xmlns:a="http://schemas.openxmlformats.org/drawingml/2006/main">
            <a:r>
              <a:t>      "부처 지침과 집행 자료 연결",</a:t>
            </a:r>
          </a:p>
          <a:p xmlns:a="http://schemas.openxmlformats.org/drawingml/2006/main">
            <a:r>
              <a:t>      "서식·증빙을 검토 과정에 결합"</a:t>
            </a:r>
          </a:p>
          <a:p xmlns:a="http://schemas.openxmlformats.org/drawingml/2006/main">
            <a:r>
              <a:t>    ],</a:t>
            </a:r>
          </a:p>
          <a:p xmlns:a="http://schemas.openxmlformats.org/drawingml/2006/main">
            <a:r>
              <a:t>    "risks": [</a:t>
            </a:r>
          </a:p>
          <a:p xmlns:a="http://schemas.openxmlformats.org/drawingml/2006/main">
            <a:r>
              <a:t>      "부처·연차별 집행기준 혼용",</a:t>
            </a:r>
          </a:p>
          <a:p xmlns:a="http://schemas.openxmlformats.org/drawingml/2006/main">
            <a:r>
              <a:t>      "서식 생성과 적정 집행 판정의 혼동"</a:t>
            </a:r>
          </a:p>
          <a:p xmlns:a="http://schemas.openxmlformats.org/drawingml/2006/main">
            <a:r>
              <a:t>    ],</a:t>
            </a:r>
          </a:p>
          <a:p xmlns:a="http://schemas.openxmlformats.org/drawingml/2006/main">
            <a:r>
              <a:t>    "architecture": [</a:t>
            </a:r>
          </a:p>
          <a:p xmlns:a="http://schemas.openxmlformats.org/drawingml/2006/main">
            <a:r>
              <a:t>      "연구비 집행 자료",</a:t>
            </a:r>
          </a:p>
          <a:p xmlns:a="http://schemas.openxmlformats.org/drawingml/2006/main">
            <a:r>
              <a:t>      "규정 검색·서식 구성",</a:t>
            </a:r>
          </a:p>
          <a:p xmlns:a="http://schemas.openxmlformats.org/drawingml/2006/main">
            <a:r>
              <a:t>      "지침·증빙 기록",</a:t>
            </a:r>
          </a:p>
          <a:p xmlns:a="http://schemas.openxmlformats.org/drawingml/2006/main">
            <a:r>
              <a:t>      "연구자·기관 검토자"</a:t>
            </a:r>
          </a:p>
          <a:p xmlns:a="http://schemas.openxmlformats.org/drawingml/2006/main">
            <a:r>
              <a:t>    ],</a:t>
            </a:r>
          </a:p>
          <a:p xmlns:a="http://schemas.openxmlformats.org/drawingml/2006/main">
            <a:r>
              <a:t>    "transfers": [</a:t>
            </a:r>
          </a:p>
          <a:p xmlns:a="http://schemas.openxmlformats.org/drawingml/2006/main">
            <a:r>
              <a:t>      "집행 내역",</a:t>
            </a:r>
          </a:p>
          <a:p xmlns:a="http://schemas.openxmlformats.org/drawingml/2006/main">
            <a:r>
              <a:t>      "적용 규정",</a:t>
            </a:r>
          </a:p>
          <a:p xmlns:a="http://schemas.openxmlformats.org/drawingml/2006/main">
            <a:r>
              <a:t>      "서식·증빙 목록",</a:t>
            </a:r>
          </a:p>
          <a:p xmlns:a="http://schemas.openxmlformats.org/drawingml/2006/main">
            <a:r>
              <a:t>      "보완·검토 결과"</a:t>
            </a:r>
          </a:p>
          <a:p xmlns:a="http://schemas.openxmlformats.org/drawingml/2006/main">
            <a:r>
              <a:t>    ],</a:t>
            </a:r>
          </a:p>
          <a:p xmlns:a="http://schemas.openxmlformats.org/drawingml/2006/main">
            <a:r>
              <a:t>    "control": "사업·판본별 의무와 예외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국가 R&amp;D 사업비 Risk 지원 · 공공AI 사례집 193–194쪽 https://bigdata.dongjak.go.kr/board/viewArticle?articleNo=954&amp;boardId=4</a:t>
            </a:r>
          </a:p>
          <a:p xmlns:a="http://schemas.openxmlformats.org/drawingml/2006/main">
            <a:r>
              <a:t>홈페이지 https://heen1987-ops.github.io/TS-business-Plan-001/index.html?view=casebook&amp;case=AX24</a:t>
            </a:r>
          </a:p>
          <a:p xmlns:a="http://schemas.openxmlformats.org/drawingml/2006/main">
            <a:r>
              <a:t>한계: 성과 항목이 기대효과 중심 · 행정 부담 감소 실측 별도</a:t>
            </a:r>
          </a:p>
          <a:p xmlns:a="http://schemas.openxmlformats.org/drawingml/2006/main">
            <a:r>
              <a:t>실패 위험: 부처·연차별 집행기준 혼용 / 서식 생성과 적정 집행 판정의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"AX24",</a:t>
            </a:r>
          </a:p>
          <a:p xmlns:a="http://schemas.openxmlformats.org/drawingml/2006/main">
            <a:r>
              <a:t>    "title": "국가 R&amp;D 사업비 Risk 지원",</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"규정·증빙 기반 사업관리",</a:t>
            </a:r>
          </a:p>
          <a:p xmlns:a="http://schemas.openxmlformats.org/drawingml/2006/main">
            <a:r>
              <a:t>    "period": "2024 개발 사례",</a:t>
            </a:r>
          </a:p>
          <a:p xmlns:a="http://schemas.openxmlformats.org/drawingml/2006/main">
            <a:r>
              <a:t>    "sources": [</a:t>
            </a:r>
          </a:p>
          <a:p xmlns:a="http://schemas.openxmlformats.org/drawingml/2006/main">
            <a:r>
              <a:t>      "S-AX24"</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"증빙 기반 사업관리"</a:t>
            </a:r>
          </a:p>
          <a:p xmlns:a="http://schemas.openxmlformats.org/drawingml/2006/main">
            <a:r>
              <a:t>    ],</a:t>
            </a:r>
          </a:p>
          <a:p xmlns:a="http://schemas.openxmlformats.org/drawingml/2006/main">
            <a:r>
              <a:t>    "fact": "R&amp;D 법규·부처 지침 상담과 집행 데이터 수집·서식 생성을 결합한 솔루션 개발",</a:t>
            </a:r>
          </a:p>
          <a:p xmlns:a="http://schemas.openxmlformats.org/drawingml/2006/main">
            <a:r>
              <a:t>    "limit": "성과 항목이 기대효과 중심 · 행정 부담 감소 실측 별도",</a:t>
            </a:r>
          </a:p>
          <a:p xmlns:a="http://schemas.openxmlformats.org/drawingml/2006/main">
            <a:r>
              <a:t>    "flow": [</a:t>
            </a:r>
          </a:p>
          <a:p xmlns:a="http://schemas.openxmlformats.org/drawingml/2006/main">
            <a:r>
              <a:t>      "부처 지침·집행자료",</a:t>
            </a:r>
          </a:p>
          <a:p xmlns:a="http://schemas.openxmlformats.org/drawingml/2006/main">
            <a:r>
              <a:t>      "규정 질의",</a:t>
            </a:r>
          </a:p>
          <a:p xmlns:a="http://schemas.openxmlformats.org/drawingml/2006/main">
            <a:r>
              <a:t>      "서식·증빙 정리",</a:t>
            </a:r>
          </a:p>
          <a:p xmlns:a="http://schemas.openxmlformats.org/drawingml/2006/main">
            <a:r>
              <a:t>      "연구자·기관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"부처별 지침·증빙·검토 책임의 연결",</a:t>
            </a:r>
          </a:p>
          <a:p xmlns:a="http://schemas.openxmlformats.org/drawingml/2006/main">
            <a:r>
              <a:t>    "local": "민간 AI PMS와 TS 기관 내부 업무를 역할별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"부처·사업·계약 판본·증빙 요구 매핑",</a:t>
            </a:r>
          </a:p>
          <a:p xmlns:a="http://schemas.openxmlformats.org/drawingml/2006/main">
            <a:r>
              <a:t>    "test": "유효 규정·증빙 누락·목적 외 자료 차단 시험",</a:t>
            </a:r>
          </a:p>
          <a:p xmlns:a="http://schemas.openxmlformats.org/drawingml/2006/main">
            <a:r>
              <a:t>    "metric": "보완 왕복 횟수 / 검토 소요시간",</a:t>
            </a:r>
          </a:p>
          <a:p xmlns:a="http://schemas.openxmlformats.org/drawingml/2006/main">
            <a:r>
              <a:t>    "strategies": [</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"AX24",</a:t>
            </a:r>
          </a:p>
          <a:p xmlns:a="http://schemas.openxmlformats.org/drawingml/2006/main">
            <a:r>
              <a:t>    "canonicalId": "AX24",</a:t>
            </a:r>
          </a:p>
          <a:p xmlns:a="http://schemas.openxmlformats.org/drawingml/2006/main">
            <a:r>
              <a:t>    "purpose": "R&amp;D 사업비 문의와 증빙 정리 지원",</a:t>
            </a:r>
          </a:p>
          <a:p xmlns:a="http://schemas.openxmlformats.org/drawingml/2006/main">
            <a:r>
              <a:t>    "users": "과제 수행자·연구관리 담당",</a:t>
            </a:r>
          </a:p>
          <a:p xmlns:a="http://schemas.openxmlformats.org/drawingml/2006/main">
            <a:r>
              <a:t>    "scope": [</a:t>
            </a:r>
          </a:p>
          <a:p xmlns:a="http://schemas.openxmlformats.org/drawingml/2006/main">
            <a:r>
              <a:t>      "규정 상담",</a:t>
            </a:r>
          </a:p>
          <a:p xmlns:a="http://schemas.openxmlformats.org/drawingml/2006/main">
            <a:r>
              <a:t>      "집행자료",</a:t>
            </a:r>
          </a:p>
          <a:p xmlns:a="http://schemas.openxmlformats.org/drawingml/2006/main">
            <a:r>
              <a:t>      "서식 생성"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"연구비 집행 자료",</a:t>
            </a:r>
          </a:p>
          <a:p xmlns:a="http://schemas.openxmlformats.org/drawingml/2006/main">
            <a:r>
              <a:t>        "detail": "부처·사업·협약기간·집행항목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"규정 상담 / 집행자료 / 서식 생성",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"규정 검색·서식 구성",</a:t>
            </a:r>
          </a:p>
          <a:p xmlns:a="http://schemas.openxmlformats.org/drawingml/2006/main">
            <a:r>
              <a:t>        "detail": "규정 검색과 집행 항목의 조건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"연구자·기관 검토자",</a:t>
            </a:r>
          </a:p>
          <a:p xmlns:a="http://schemas.openxmlformats.org/drawingml/2006/main">
            <a:r>
              <a:t>        "detail": "근거·누락 항목·서식 초안의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"지침·증빙 기록",</a:t>
            </a:r>
          </a:p>
          <a:p xmlns:a="http://schemas.openxmlformats.org/drawingml/2006/main">
            <a:r>
              <a:t>        "detail": "법규·부처 지침·거래증빙의 판본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"오분류·증빙 누락과 검토 결과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"부처 지침·집행자료",</a:t>
            </a:r>
          </a:p>
          <a:p xmlns:a="http://schemas.openxmlformats.org/drawingml/2006/main">
            <a:r>
              <a:t>        "input": "부처·사업·협약기간·집행항목 확인",</a:t>
            </a:r>
          </a:p>
          <a:p xmlns:a="http://schemas.openxmlformats.org/drawingml/2006/main">
            <a:r>
              <a:t>        "process": "법규·부처 지침·거래증빙의 판본 연결",</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"title": "규정 질의",</a:t>
            </a:r>
          </a:p>
          <a:p xmlns:a="http://schemas.openxmlformats.org/drawingml/2006/main">
            <a:r>
              <a:t>        "input": "집행 내역",</a:t>
            </a:r>
          </a:p>
          <a:p xmlns:a="http://schemas.openxmlformats.org/drawingml/2006/main">
            <a:r>
              <a:t>        "process": "규정 검색과 집행 항목의 조건 비교",</a:t>
            </a:r>
          </a:p>
          <a:p xmlns:a="http://schemas.openxmlformats.org/drawingml/2006/main">
            <a:r>
              <a:t>        "output": "적용 규정"</a:t>
            </a:r>
          </a:p>
          <a:p xmlns:a="http://schemas.openxmlformats.org/drawingml/2006/main">
            <a:r>
              <a:t>      },</a:t>
            </a:r>
          </a:p>
          <a:p xmlns:a="http://schemas.openxmlformats.org/drawingml/2006/main">
            <a:r>
              <a:t>      {</a:t>
            </a:r>
          </a:p>
          <a:p xmlns:a="http://schemas.openxmlformats.org/drawingml/2006/main">
            <a:r>
              <a:t>        "title": "서식·증빙 정리",</a:t>
            </a:r>
          </a:p>
          <a:p xmlns:a="http://schemas.openxmlformats.org/drawingml/2006/main">
            <a:r>
              <a:t>        "input": "적용 규정",</a:t>
            </a:r>
          </a:p>
          <a:p xmlns:a="http://schemas.openxmlformats.org/drawingml/2006/main">
            <a:r>
              <a:t>        "process": "사업·판본별 의무와 예외 대사",</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"title": "연구자·기관 검토",</a:t>
            </a:r>
          </a:p>
          <a:p xmlns:a="http://schemas.openxmlformats.org/drawingml/2006/main">
            <a:r>
              <a:t>        "input": "서식·증빙 목록",</a:t>
            </a:r>
          </a:p>
          <a:p xmlns:a="http://schemas.openxmlformats.org/drawingml/2006/main">
            <a:r>
              <a:t>        "process":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"부처·사업·협약기간에 맞는 집행 조건과 증빙 확인",</a:t>
            </a:r>
          </a:p>
          <a:p xmlns:a="http://schemas.openxmlformats.org/drawingml/2006/main">
            <a:r>
              <a:t>      "exception": "다른 부처 지침·기간 외 거래·중복 집행 증빙",</a:t>
            </a:r>
          </a:p>
          <a:p xmlns:a="http://schemas.openxmlformats.org/drawingml/2006/main">
            <a:r>
              <a:t>      "evidence": "요건·거래·증빙·검토자 연결표와 누락 검출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"과제 수행자·연구관리 담당",</a:t>
            </a:r>
          </a:p>
          <a:p xmlns:a="http://schemas.openxmlformats.org/drawingml/2006/main">
            <a:r>
              <a:t>          "processing": "부처·사업·협약기간·집행항목 확인",</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"지침·증빙 기록",</a:t>
            </a:r>
          </a:p>
          <a:p xmlns:a="http://schemas.openxmlformats.org/drawingml/2006/main">
            <a:r>
              <a:t>          "processing": "법규·부처 지침·거래증빙의 판본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"집행 내역",</a:t>
            </a:r>
          </a:p>
          <a:p xmlns:a="http://schemas.openxmlformats.org/drawingml/2006/main">
            <a:r>
              <a:t>          "processing": "규정 검색과 집행 항목의 조건 비교",</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"서식·증빙 목록",</a:t>
            </a:r>
          </a:p>
          <a:p xmlns:a="http://schemas.openxmlformats.org/drawingml/2006/main">
            <a:r>
              <a:t>          "processing":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"오분류·증빙 누락과 검토 결과 추적",</a:t>
            </a:r>
          </a:p>
          <a:p xmlns:a="http://schemas.openxmlformats.org/drawingml/2006/main">
            <a:r>
              <a:t>          "output": "요건·거래·증빙·검토자 연결표와 누락 검출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"오분류·증빙 누락과 검토 결과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"S-AX24",</a:t>
            </a:r>
          </a:p>
          <a:p xmlns:a="http://schemas.openxmlformats.org/drawingml/2006/main">
            <a:r>
              <a:t>        "title": "국가 R&amp;D 사업비 Risk 지원 · 공공AI 사례집 193–194쪽",</a:t>
            </a:r>
          </a:p>
          <a:p xmlns:a="http://schemas.openxmlformats.org/drawingml/2006/main">
            <a:r>
              <a:t>        "url": "https://bigdata.dongjak.go.kr/board/viewArticle?articleNo=954&amp;boardId=4",</a:t>
            </a:r>
          </a:p>
          <a:p xmlns:a="http://schemas.openxmlformats.org/drawingml/2006/main">
            <a:r>
              <a:t>        "published": "2024 개발 사례",</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"부처별 지침·증빙·검토 책임의 연결",</a:t>
            </a:r>
          </a:p>
          <a:p xmlns:a="http://schemas.openxmlformats.org/drawingml/2006/main">
            <a:r>
              <a:t>    "local": "민간 AI PMS와 TS 기관 내부 업무를 역할별 분리",</a:t>
            </a:r>
          </a:p>
          <a:p xmlns:a="http://schemas.openxmlformats.org/drawingml/2006/main">
            <a:r>
              <a:t>    "sourceDetail": null,</a:t>
            </a:r>
          </a:p>
          <a:p xmlns:a="http://schemas.openxmlformats.org/drawingml/2006/main">
            <a:r>
              <a:t>    "narrative": [</a:t>
            </a:r>
          </a:p>
          <a:p xmlns:a="http://schemas.openxmlformats.org/drawingml/2006/main">
            <a:r>
              <a:t>      "연구비 집행 자료와 부처·사업별 지침을 연결해 상담·증빙·서식 작성을 지원하는 사례. 같은 지출 항목도 사업·협약연도에 따라 적용 기준이 다른 업무.",</a:t>
            </a:r>
          </a:p>
          <a:p xmlns:a="http://schemas.openxmlformats.org/drawingml/2006/main">
            <a:r>
              <a:t>      "부처·사업·협약기간·집행항목을 먼저 식별하고 해당 판본의 규정과 거래증빙을 대조하는 재구성. 누락 서류·예외 조건·서식 초안을 담당 검토자에게 전달하는 흐름.",</a:t>
            </a:r>
          </a:p>
          <a:p xmlns:a="http://schemas.openxmlformats.org/drawingml/2006/main">
            <a:r>
              <a:t>      "CCK AI PMS에 적용할 경우 지침 검색·양식 재사용과 적정 집행 판단을 분리. 사업 변경·연차 차이·증빙 누락 시험을 수행하고 요구사항·검수·제출 증빙의 추적에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"연구비 질의",</a:t>
            </a:r>
          </a:p>
          <a:p xmlns:a="http://schemas.openxmlformats.org/drawingml/2006/main">
            <a:r>
              <a:t>          "layer": "이용 접점",</a:t>
            </a:r>
          </a:p>
          <a:p xmlns:a="http://schemas.openxmlformats.org/drawingml/2006/main">
            <a:r>
              <a:t>          "detail": "과제 수행자·연구관리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"사업·협약·항목",</a:t>
            </a:r>
          </a:p>
          <a:p xmlns:a="http://schemas.openxmlformats.org/drawingml/2006/main">
            <a:r>
              <a:t>          "layer": "업무 문맥",</a:t>
            </a:r>
          </a:p>
          <a:p xmlns:a="http://schemas.openxmlformats.org/drawingml/2006/main">
            <a:r>
              <a:t>          "detail": "부처·사업·협약기간·집행항목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"규정·증빙 조회",</a:t>
            </a:r>
          </a:p>
          <a:p xmlns:a="http://schemas.openxmlformats.org/drawingml/2006/main">
            <a:r>
              <a:t>          "layer": "자료 조회",</a:t>
            </a:r>
          </a:p>
          <a:p xmlns:a="http://schemas.openxmlformats.org/drawingml/2006/main">
            <a:r>
              <a:t>          "detail": "집행 내역",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"조건 비교·서식",</a:t>
            </a:r>
          </a:p>
          <a:p xmlns:a="http://schemas.openxmlformats.org/drawingml/2006/main">
            <a:r>
              <a:t>          "layer": "핵심 처리",</a:t>
            </a:r>
          </a:p>
          <a:p xmlns:a="http://schemas.openxmlformats.org/drawingml/2006/main">
            <a:r>
              <a:t>          "detail": "규정 검색과 집행 항목의 조건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"판본·누락 검사",</a:t>
            </a:r>
          </a:p>
          <a:p xmlns:a="http://schemas.openxmlformats.org/drawingml/2006/main">
            <a:r>
              <a:t>          "layer": "결과 검증",</a:t>
            </a:r>
          </a:p>
          <a:p xmlns:a="http://schemas.openxmlformats.org/drawingml/2006/main">
            <a:r>
              <a:t>          "detail": "사업·판본별 의무와 예외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"기관 검토자 확인",</a:t>
            </a:r>
          </a:p>
          <a:p xmlns:a="http://schemas.openxmlformats.org/drawingml/2006/main">
            <a:r>
              <a:t>          "layer": "사람 확인",</a:t>
            </a:r>
          </a:p>
          <a:p xmlns:a="http://schemas.openxmlformats.org/drawingml/2006/main">
            <a:r>
              <a:t>          "detail": "부처·사업·협약기간에 맞는 집행 조건과 증빙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"보완·집행 검토",</a:t>
            </a:r>
          </a:p>
          <a:p xmlns:a="http://schemas.openxmlformats.org/drawingml/2006/main">
            <a:r>
              <a:t>          "layer": "업무 연결",</a:t>
            </a:r>
          </a:p>
          <a:p xmlns:a="http://schemas.openxmlformats.org/drawingml/2006/main">
            <a:r>
              <a:t>          "detail": "근거·누락 항목·서식 초안의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"오분류 추적",</a:t>
            </a:r>
          </a:p>
          <a:p xmlns:a="http://schemas.openxmlformats.org/drawingml/2006/main">
            <a:r>
              <a:t>          "layer": "운영 관측",</a:t>
            </a:r>
          </a:p>
          <a:p xmlns:a="http://schemas.openxmlformats.org/drawingml/2006/main">
            <a:r>
              <a:t>          "detail": "오분류·증빙 누락과 검토 결과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"지침·거래 증빙",</a:t>
            </a:r>
          </a:p>
          <a:p xmlns:a="http://schemas.openxmlformats.org/drawingml/2006/main">
            <a:r>
              <a:t>          "layer": "데이터 원천",</a:t>
            </a:r>
          </a:p>
          <a:p xmlns:a="http://schemas.openxmlformats.org/drawingml/2006/main">
            <a:r>
              <a:t>          "detail": "지침·증빙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"판본·항목 연결",</a:t>
            </a:r>
          </a:p>
          <a:p xmlns:a="http://schemas.openxmlformats.org/drawingml/2006/main">
            <a:r>
              <a:t>          "layer": "준비·갱신",</a:t>
            </a:r>
          </a:p>
          <a:p xmlns:a="http://schemas.openxmlformats.org/drawingml/2006/main">
            <a:r>
              <a:t>          "detail": "법규·부처 지침·거래증빙의 판본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"집행·근거 기록",</a:t>
            </a:r>
          </a:p>
          <a:p xmlns:a="http://schemas.openxmlformats.org/drawingml/2006/main">
            <a:r>
              <a:t>          "layer": "상태·지식 저장",</a:t>
            </a:r>
          </a:p>
          <a:p xmlns:a="http://schemas.openxmlformats.org/drawingml/2006/main">
            <a:r>
              <a:t>          "detail": "요건·거래·증빙·검토자 연결표와 누락 검출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"사업별 집행 기준",</a:t>
            </a:r>
          </a:p>
          <a:p xmlns:a="http://schemas.openxmlformats.org/drawingml/2006/main">
            <a:r>
              <a:t>          "layer": "권한·정책",</a:t>
            </a:r>
          </a:p>
          <a:p xmlns:a="http://schemas.openxmlformats.org/drawingml/2006/main">
            <a:r>
              <a:t>          "detail": "다른 부처 지침·기간 외 거래·중복 집행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"부처 지침·집행자료 → 규정 질의 → 서식·증빙 정리 → 연구자·기관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"지침·증빙 기록",</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"적용 규정",</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"보완·검토 결과",</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"R&amp;D 사업비 문의와 증빙 정리 지원 / 규정 상담·집행자료·서식 생성",</a:t>
            </a:r>
          </a:p>
          <a:p xmlns:a="http://schemas.openxmlformats.org/drawingml/2006/main">
            <a:r>
              <a:t>        "extension": "민간 AI PMS와 TS 기관 내부 업무를 역할별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부처 지침·기간 외 거래·중복 집행 증빙",</a:t>
            </a:r>
          </a:p>
          <a:p xmlns:a="http://schemas.openxmlformats.org/drawingml/2006/main">
            <a:r>
              <a:t>        "hold": "사업·판본별 의무와 예외 대사",</a:t>
            </a:r>
          </a:p>
          <a:p xmlns:a="http://schemas.openxmlformats.org/drawingml/2006/main">
            <a:r>
              <a:t>        "recovery": "오분류·증빙 누락과 검토 결과 추적",</a:t>
            </a:r>
          </a:p>
          <a:p xmlns:a="http://schemas.openxmlformats.org/drawingml/2006/main">
            <a:r>
              <a:t>        "evidence": "요건·거래·증빙·검토자 연결표와 누락 검출 결과"</a:t>
            </a:r>
          </a:p>
          <a:p xmlns:a="http://schemas.openxmlformats.org/drawingml/2006/main">
            <a:r>
              <a:t>      },</a:t>
            </a:r>
          </a:p>
          <a:p xmlns:a="http://schemas.openxmlformats.org/drawingml/2006/main">
            <a:r>
              <a:t>      "data": {</a:t>
            </a:r>
          </a:p>
          <a:p xmlns:a="http://schemas.openxmlformats.org/drawingml/2006/main">
            <a:r>
              <a:t>        "source": "지침·증빙 기록",</a:t>
            </a:r>
          </a:p>
          <a:p xmlns:a="http://schemas.openxmlformats.org/drawingml/2006/main">
            <a:r>
              <a:t>        "prepare": "법규·부처 지침·거래증빙의 판본 연결",</a:t>
            </a:r>
          </a:p>
          <a:p xmlns:a="http://schemas.openxmlformats.org/drawingml/2006/main">
            <a:r>
              <a:t>        "output": "집행 내역",</a:t>
            </a:r>
          </a:p>
          <a:p xmlns:a="http://schemas.openxmlformats.org/drawingml/2006/main">
            <a:r>
              <a:t>        "refresh": "오분류·증빙 누락과 검토 결과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"AX24",</a:t>
            </a:r>
          </a:p>
          <a:p xmlns:a="http://schemas.openxmlformats.org/drawingml/2006/main">
            <a:r>
              <a:t>    "success": [</a:t>
            </a:r>
          </a:p>
          <a:p xmlns:a="http://schemas.openxmlformats.org/drawingml/2006/main">
            <a:r>
              <a:t>      "부처 지침과 집행 자료 연결",</a:t>
            </a:r>
          </a:p>
          <a:p xmlns:a="http://schemas.openxmlformats.org/drawingml/2006/main">
            <a:r>
              <a:t>      "서식·증빙을 검토 과정에 결합"</a:t>
            </a:r>
          </a:p>
          <a:p xmlns:a="http://schemas.openxmlformats.org/drawingml/2006/main">
            <a:r>
              <a:t>    ],</a:t>
            </a:r>
          </a:p>
          <a:p xmlns:a="http://schemas.openxmlformats.org/drawingml/2006/main">
            <a:r>
              <a:t>    "risks": [</a:t>
            </a:r>
          </a:p>
          <a:p xmlns:a="http://schemas.openxmlformats.org/drawingml/2006/main">
            <a:r>
              <a:t>      "부처·연차별 집행기준 혼용",</a:t>
            </a:r>
          </a:p>
          <a:p xmlns:a="http://schemas.openxmlformats.org/drawingml/2006/main">
            <a:r>
              <a:t>      "서식 생성과 적정 집행 판정의 혼동"</a:t>
            </a:r>
          </a:p>
          <a:p xmlns:a="http://schemas.openxmlformats.org/drawingml/2006/main">
            <a:r>
              <a:t>    ],</a:t>
            </a:r>
          </a:p>
          <a:p xmlns:a="http://schemas.openxmlformats.org/drawingml/2006/main">
            <a:r>
              <a:t>    "architecture": [</a:t>
            </a:r>
          </a:p>
          <a:p xmlns:a="http://schemas.openxmlformats.org/drawingml/2006/main">
            <a:r>
              <a:t>      "연구비 집행 자료",</a:t>
            </a:r>
          </a:p>
          <a:p xmlns:a="http://schemas.openxmlformats.org/drawingml/2006/main">
            <a:r>
              <a:t>      "규정 검색·서식 구성",</a:t>
            </a:r>
          </a:p>
          <a:p xmlns:a="http://schemas.openxmlformats.org/drawingml/2006/main">
            <a:r>
              <a:t>      "지침·증빙 기록",</a:t>
            </a:r>
          </a:p>
          <a:p xmlns:a="http://schemas.openxmlformats.org/drawingml/2006/main">
            <a:r>
              <a:t>      "연구자·기관 검토자"</a:t>
            </a:r>
          </a:p>
          <a:p xmlns:a="http://schemas.openxmlformats.org/drawingml/2006/main">
            <a:r>
              <a:t>    ],</a:t>
            </a:r>
          </a:p>
          <a:p xmlns:a="http://schemas.openxmlformats.org/drawingml/2006/main">
            <a:r>
              <a:t>    "transfers": [</a:t>
            </a:r>
          </a:p>
          <a:p xmlns:a="http://schemas.openxmlformats.org/drawingml/2006/main">
            <a:r>
              <a:t>      "집행 내역",</a:t>
            </a:r>
          </a:p>
          <a:p xmlns:a="http://schemas.openxmlformats.org/drawingml/2006/main">
            <a:r>
              <a:t>      "적용 규정",</a:t>
            </a:r>
          </a:p>
          <a:p xmlns:a="http://schemas.openxmlformats.org/drawingml/2006/main">
            <a:r>
              <a:t>      "서식·증빙 목록",</a:t>
            </a:r>
          </a:p>
          <a:p xmlns:a="http://schemas.openxmlformats.org/drawingml/2006/main">
            <a:r>
              <a:t>      "보완·검토 결과"</a:t>
            </a:r>
          </a:p>
          <a:p xmlns:a="http://schemas.openxmlformats.org/drawingml/2006/main">
            <a:r>
              <a:t>    ],</a:t>
            </a:r>
          </a:p>
          <a:p xmlns:a="http://schemas.openxmlformats.org/drawingml/2006/main">
            <a:r>
              <a:t>    "control": "사업·판본별 의무와 예외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국가 R&amp;D 사업비 Risk 지원 · 공공AI 사례집 193–194쪽 https://bigdata.dongjak.go.kr/board/viewArticle?articleNo=954&amp;boardId=4</a:t>
            </a:r>
          </a:p>
          <a:p xmlns:a="http://schemas.openxmlformats.org/drawingml/2006/main">
            <a:r>
              <a:t>홈페이지 https://heen1987-ops.github.io/TS-business-Plan-001/index.html?view=casebook&amp;case=AX24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"AX24",</a:t>
            </a:r>
          </a:p>
          <a:p xmlns:a="http://schemas.openxmlformats.org/drawingml/2006/main">
            <a:r>
              <a:t>    "title": "국가 R&amp;D 사업비 Risk 지원",</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"규정·증빙 기반 사업관리",</a:t>
            </a:r>
          </a:p>
          <a:p xmlns:a="http://schemas.openxmlformats.org/drawingml/2006/main">
            <a:r>
              <a:t>    "period": "2024 개발 사례",</a:t>
            </a:r>
          </a:p>
          <a:p xmlns:a="http://schemas.openxmlformats.org/drawingml/2006/main">
            <a:r>
              <a:t>    "sources": [</a:t>
            </a:r>
          </a:p>
          <a:p xmlns:a="http://schemas.openxmlformats.org/drawingml/2006/main">
            <a:r>
              <a:t>      "S-AX24"</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"증빙 기반 사업관리"</a:t>
            </a:r>
          </a:p>
          <a:p xmlns:a="http://schemas.openxmlformats.org/drawingml/2006/main">
            <a:r>
              <a:t>    ],</a:t>
            </a:r>
          </a:p>
          <a:p xmlns:a="http://schemas.openxmlformats.org/drawingml/2006/main">
            <a:r>
              <a:t>    "fact": "R&amp;D 법규·부처 지침 상담과 집행 데이터 수집·서식 생성을 결합한 솔루션 개발",</a:t>
            </a:r>
          </a:p>
          <a:p xmlns:a="http://schemas.openxmlformats.org/drawingml/2006/main">
            <a:r>
              <a:t>    "limit": "성과 항목이 기대효과 중심 · 행정 부담 감소 실측 별도",</a:t>
            </a:r>
          </a:p>
          <a:p xmlns:a="http://schemas.openxmlformats.org/drawingml/2006/main">
            <a:r>
              <a:t>    "flow": [</a:t>
            </a:r>
          </a:p>
          <a:p xmlns:a="http://schemas.openxmlformats.org/drawingml/2006/main">
            <a:r>
              <a:t>      "부처 지침·집행자료",</a:t>
            </a:r>
          </a:p>
          <a:p xmlns:a="http://schemas.openxmlformats.org/drawingml/2006/main">
            <a:r>
              <a:t>      "규정 질의",</a:t>
            </a:r>
          </a:p>
          <a:p xmlns:a="http://schemas.openxmlformats.org/drawingml/2006/main">
            <a:r>
              <a:t>      "서식·증빙 정리",</a:t>
            </a:r>
          </a:p>
          <a:p xmlns:a="http://schemas.openxmlformats.org/drawingml/2006/main">
            <a:r>
              <a:t>      "연구자·기관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"부처별 지침·증빙·검토 책임의 연결",</a:t>
            </a:r>
          </a:p>
          <a:p xmlns:a="http://schemas.openxmlformats.org/drawingml/2006/main">
            <a:r>
              <a:t>    "local": "민간 AI PMS와 TS 기관 내부 업무를 역할별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"부처·사업·계약 판본·증빙 요구 매핑",</a:t>
            </a:r>
          </a:p>
          <a:p xmlns:a="http://schemas.openxmlformats.org/drawingml/2006/main">
            <a:r>
              <a:t>    "test": "유효 규정·증빙 누락·목적 외 자료 차단 시험",</a:t>
            </a:r>
          </a:p>
          <a:p xmlns:a="http://schemas.openxmlformats.org/drawingml/2006/main">
            <a:r>
              <a:t>    "metric": "보완 왕복 횟수 / 검토 소요시간",</a:t>
            </a:r>
          </a:p>
          <a:p xmlns:a="http://schemas.openxmlformats.org/drawingml/2006/main">
            <a:r>
              <a:t>    "strategies": [</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"AX24",</a:t>
            </a:r>
          </a:p>
          <a:p xmlns:a="http://schemas.openxmlformats.org/drawingml/2006/main">
            <a:r>
              <a:t>    "canonicalId": "AX24",</a:t>
            </a:r>
          </a:p>
          <a:p xmlns:a="http://schemas.openxmlformats.org/drawingml/2006/main">
            <a:r>
              <a:t>    "purpose": "R&amp;D 사업비 문의와 증빙 정리 지원",</a:t>
            </a:r>
          </a:p>
          <a:p xmlns:a="http://schemas.openxmlformats.org/drawingml/2006/main">
            <a:r>
              <a:t>    "users": "과제 수행자·연구관리 담당",</a:t>
            </a:r>
          </a:p>
          <a:p xmlns:a="http://schemas.openxmlformats.org/drawingml/2006/main">
            <a:r>
              <a:t>    "scope": [</a:t>
            </a:r>
          </a:p>
          <a:p xmlns:a="http://schemas.openxmlformats.org/drawingml/2006/main">
            <a:r>
              <a:t>      "규정 상담",</a:t>
            </a:r>
          </a:p>
          <a:p xmlns:a="http://schemas.openxmlformats.org/drawingml/2006/main">
            <a:r>
              <a:t>      "집행자료",</a:t>
            </a:r>
          </a:p>
          <a:p xmlns:a="http://schemas.openxmlformats.org/drawingml/2006/main">
            <a:r>
              <a:t>      "서식 생성"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"연구비 집행 자료",</a:t>
            </a:r>
          </a:p>
          <a:p xmlns:a="http://schemas.openxmlformats.org/drawingml/2006/main">
            <a:r>
              <a:t>        "detail": "부처·사업·협약기간·집행항목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"규정 상담 / 집행자료 / 서식 생성",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"규정 검색·서식 구성",</a:t>
            </a:r>
          </a:p>
          <a:p xmlns:a="http://schemas.openxmlformats.org/drawingml/2006/main">
            <a:r>
              <a:t>        "detail": "규정 검색과 집행 항목의 조건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"연구자·기관 검토자",</a:t>
            </a:r>
          </a:p>
          <a:p xmlns:a="http://schemas.openxmlformats.org/drawingml/2006/main">
            <a:r>
              <a:t>        "detail": "근거·누락 항목·서식 초안의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"지침·증빙 기록",</a:t>
            </a:r>
          </a:p>
          <a:p xmlns:a="http://schemas.openxmlformats.org/drawingml/2006/main">
            <a:r>
              <a:t>        "detail": "법규·부처 지침·거래증빙의 판본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"오분류·증빙 누락과 검토 결과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"부처 지침·집행자료",</a:t>
            </a:r>
          </a:p>
          <a:p xmlns:a="http://schemas.openxmlformats.org/drawingml/2006/main">
            <a:r>
              <a:t>        "input": "부처·사업·협약기간·집행항목 확인",</a:t>
            </a:r>
          </a:p>
          <a:p xmlns:a="http://schemas.openxmlformats.org/drawingml/2006/main">
            <a:r>
              <a:t>        "process": "법규·부처 지침·거래증빙의 판본 연결",</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"title": "규정 질의",</a:t>
            </a:r>
          </a:p>
          <a:p xmlns:a="http://schemas.openxmlformats.org/drawingml/2006/main">
            <a:r>
              <a:t>        "input": "집행 내역",</a:t>
            </a:r>
          </a:p>
          <a:p xmlns:a="http://schemas.openxmlformats.org/drawingml/2006/main">
            <a:r>
              <a:t>        "process": "규정 검색과 집행 항목의 조건 비교",</a:t>
            </a:r>
          </a:p>
          <a:p xmlns:a="http://schemas.openxmlformats.org/drawingml/2006/main">
            <a:r>
              <a:t>        "output": "적용 규정"</a:t>
            </a:r>
          </a:p>
          <a:p xmlns:a="http://schemas.openxmlformats.org/drawingml/2006/main">
            <a:r>
              <a:t>      },</a:t>
            </a:r>
          </a:p>
          <a:p xmlns:a="http://schemas.openxmlformats.org/drawingml/2006/main">
            <a:r>
              <a:t>      {</a:t>
            </a:r>
          </a:p>
          <a:p xmlns:a="http://schemas.openxmlformats.org/drawingml/2006/main">
            <a:r>
              <a:t>        "title": "서식·증빙 정리",</a:t>
            </a:r>
          </a:p>
          <a:p xmlns:a="http://schemas.openxmlformats.org/drawingml/2006/main">
            <a:r>
              <a:t>        "input": "적용 규정",</a:t>
            </a:r>
          </a:p>
          <a:p xmlns:a="http://schemas.openxmlformats.org/drawingml/2006/main">
            <a:r>
              <a:t>        "process": "사업·판본별 의무와 예외 대사",</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"title": "연구자·기관 검토",</a:t>
            </a:r>
          </a:p>
          <a:p xmlns:a="http://schemas.openxmlformats.org/drawingml/2006/main">
            <a:r>
              <a:t>        "input": "서식·증빙 목록",</a:t>
            </a:r>
          </a:p>
          <a:p xmlns:a="http://schemas.openxmlformats.org/drawingml/2006/main">
            <a:r>
              <a:t>        "process":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"부처·사업·협약기간에 맞는 집행 조건과 증빙 확인",</a:t>
            </a:r>
          </a:p>
          <a:p xmlns:a="http://schemas.openxmlformats.org/drawingml/2006/main">
            <a:r>
              <a:t>      "exception": "다른 부처 지침·기간 외 거래·중복 집행 증빙",</a:t>
            </a:r>
          </a:p>
          <a:p xmlns:a="http://schemas.openxmlformats.org/drawingml/2006/main">
            <a:r>
              <a:t>      "evidence": "요건·거래·증빙·검토자 연결표와 누락 검출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"과제 수행자·연구관리 담당",</a:t>
            </a:r>
          </a:p>
          <a:p xmlns:a="http://schemas.openxmlformats.org/drawingml/2006/main">
            <a:r>
              <a:t>          "processing": "부처·사업·협약기간·집행항목 확인",</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"지침·증빙 기록",</a:t>
            </a:r>
          </a:p>
          <a:p xmlns:a="http://schemas.openxmlformats.org/drawingml/2006/main">
            <a:r>
              <a:t>          "processing": "법규·부처 지침·거래증빙의 판본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"집행 내역",</a:t>
            </a:r>
          </a:p>
          <a:p xmlns:a="http://schemas.openxmlformats.org/drawingml/2006/main">
            <a:r>
              <a:t>          "processing": "규정 검색과 집행 항목의 조건 비교",</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"서식·증빙 목록",</a:t>
            </a:r>
          </a:p>
          <a:p xmlns:a="http://schemas.openxmlformats.org/drawingml/2006/main">
            <a:r>
              <a:t>          "processing":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"오분류·증빙 누락과 검토 결과 추적",</a:t>
            </a:r>
          </a:p>
          <a:p xmlns:a="http://schemas.openxmlformats.org/drawingml/2006/main">
            <a:r>
              <a:t>          "output": "요건·거래·증빙·검토자 연결표와 누락 검출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"오분류·증빙 누락과 검토 결과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"S-AX24",</a:t>
            </a:r>
          </a:p>
          <a:p xmlns:a="http://schemas.openxmlformats.org/drawingml/2006/main">
            <a:r>
              <a:t>        "title": "국가 R&amp;D 사업비 Risk 지원 · 공공AI 사례집 193–194쪽",</a:t>
            </a:r>
          </a:p>
          <a:p xmlns:a="http://schemas.openxmlformats.org/drawingml/2006/main">
            <a:r>
              <a:t>        "url": "https://bigdata.dongjak.go.kr/board/viewArticle?articleNo=954&amp;boardId=4",</a:t>
            </a:r>
          </a:p>
          <a:p xmlns:a="http://schemas.openxmlformats.org/drawingml/2006/main">
            <a:r>
              <a:t>        "published": "2024 개발 사례",</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"부처별 지침·증빙·검토 책임의 연결",</a:t>
            </a:r>
          </a:p>
          <a:p xmlns:a="http://schemas.openxmlformats.org/drawingml/2006/main">
            <a:r>
              <a:t>    "local": "민간 AI PMS와 TS 기관 내부 업무를 역할별 분리",</a:t>
            </a:r>
          </a:p>
          <a:p xmlns:a="http://schemas.openxmlformats.org/drawingml/2006/main">
            <a:r>
              <a:t>    "sourceDetail": null,</a:t>
            </a:r>
          </a:p>
          <a:p xmlns:a="http://schemas.openxmlformats.org/drawingml/2006/main">
            <a:r>
              <a:t>    "narrative": [</a:t>
            </a:r>
          </a:p>
          <a:p xmlns:a="http://schemas.openxmlformats.org/drawingml/2006/main">
            <a:r>
              <a:t>      "연구비 집행 자료와 부처·사업별 지침을 연결해 상담·증빙·서식 작성을 지원하는 사례. 같은 지출 항목도 사업·협약연도에 따라 적용 기준이 다른 업무.",</a:t>
            </a:r>
          </a:p>
          <a:p xmlns:a="http://schemas.openxmlformats.org/drawingml/2006/main">
            <a:r>
              <a:t>      "부처·사업·협약기간·집행항목을 먼저 식별하고 해당 판본의 규정과 거래증빙을 대조하는 재구성. 누락 서류·예외 조건·서식 초안을 담당 검토자에게 전달하는 흐름.",</a:t>
            </a:r>
          </a:p>
          <a:p xmlns:a="http://schemas.openxmlformats.org/drawingml/2006/main">
            <a:r>
              <a:t>      "CCK AI PMS에 적용할 경우 지침 검색·양식 재사용과 적정 집행 판단을 분리. 사업 변경·연차 차이·증빙 누락 시험을 수행하고 요구사항·검수·제출 증빙의 추적에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"연구비 질의",</a:t>
            </a:r>
          </a:p>
          <a:p xmlns:a="http://schemas.openxmlformats.org/drawingml/2006/main">
            <a:r>
              <a:t>          "layer": "이용 접점",</a:t>
            </a:r>
          </a:p>
          <a:p xmlns:a="http://schemas.openxmlformats.org/drawingml/2006/main">
            <a:r>
              <a:t>          "detail": "과제 수행자·연구관리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"사업·협약·항목",</a:t>
            </a:r>
          </a:p>
          <a:p xmlns:a="http://schemas.openxmlformats.org/drawingml/2006/main">
            <a:r>
              <a:t>          "layer": "업무 문맥",</a:t>
            </a:r>
          </a:p>
          <a:p xmlns:a="http://schemas.openxmlformats.org/drawingml/2006/main">
            <a:r>
              <a:t>          "detail": "부처·사업·협약기간·집행항목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"규정·증빙 조회",</a:t>
            </a:r>
          </a:p>
          <a:p xmlns:a="http://schemas.openxmlformats.org/drawingml/2006/main">
            <a:r>
              <a:t>          "layer": "자료 조회",</a:t>
            </a:r>
          </a:p>
          <a:p xmlns:a="http://schemas.openxmlformats.org/drawingml/2006/main">
            <a:r>
              <a:t>          "detail": "집행 내역",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"조건 비교·서식",</a:t>
            </a:r>
          </a:p>
          <a:p xmlns:a="http://schemas.openxmlformats.org/drawingml/2006/main">
            <a:r>
              <a:t>          "layer": "핵심 처리",</a:t>
            </a:r>
          </a:p>
          <a:p xmlns:a="http://schemas.openxmlformats.org/drawingml/2006/main">
            <a:r>
              <a:t>          "detail": "규정 검색과 집행 항목의 조건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"판본·누락 검사",</a:t>
            </a:r>
          </a:p>
          <a:p xmlns:a="http://schemas.openxmlformats.org/drawingml/2006/main">
            <a:r>
              <a:t>          "layer": "결과 검증",</a:t>
            </a:r>
          </a:p>
          <a:p xmlns:a="http://schemas.openxmlformats.org/drawingml/2006/main">
            <a:r>
              <a:t>          "detail": "사업·판본별 의무와 예외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"기관 검토자 확인",</a:t>
            </a:r>
          </a:p>
          <a:p xmlns:a="http://schemas.openxmlformats.org/drawingml/2006/main">
            <a:r>
              <a:t>          "layer": "사람 확인",</a:t>
            </a:r>
          </a:p>
          <a:p xmlns:a="http://schemas.openxmlformats.org/drawingml/2006/main">
            <a:r>
              <a:t>          "detail": "부처·사업·협약기간에 맞는 집행 조건과 증빙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"보완·집행 검토",</a:t>
            </a:r>
          </a:p>
          <a:p xmlns:a="http://schemas.openxmlformats.org/drawingml/2006/main">
            <a:r>
              <a:t>          "layer": "업무 연결",</a:t>
            </a:r>
          </a:p>
          <a:p xmlns:a="http://schemas.openxmlformats.org/drawingml/2006/main">
            <a:r>
              <a:t>          "detail": "근거·누락 항목·서식 초안의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"오분류 추적",</a:t>
            </a:r>
          </a:p>
          <a:p xmlns:a="http://schemas.openxmlformats.org/drawingml/2006/main">
            <a:r>
              <a:t>          "layer": "운영 관측",</a:t>
            </a:r>
          </a:p>
          <a:p xmlns:a="http://schemas.openxmlformats.org/drawingml/2006/main">
            <a:r>
              <a:t>          "detail": "오분류·증빙 누락과 검토 결과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"지침·거래 증빙",</a:t>
            </a:r>
          </a:p>
          <a:p xmlns:a="http://schemas.openxmlformats.org/drawingml/2006/main">
            <a:r>
              <a:t>          "layer": "데이터 원천",</a:t>
            </a:r>
          </a:p>
          <a:p xmlns:a="http://schemas.openxmlformats.org/drawingml/2006/main">
            <a:r>
              <a:t>          "detail": "지침·증빙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"판본·항목 연결",</a:t>
            </a:r>
          </a:p>
          <a:p xmlns:a="http://schemas.openxmlformats.org/drawingml/2006/main">
            <a:r>
              <a:t>          "layer": "준비·갱신",</a:t>
            </a:r>
          </a:p>
          <a:p xmlns:a="http://schemas.openxmlformats.org/drawingml/2006/main">
            <a:r>
              <a:t>          "detail": "법규·부처 지침·거래증빙의 판본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"집행·근거 기록",</a:t>
            </a:r>
          </a:p>
          <a:p xmlns:a="http://schemas.openxmlformats.org/drawingml/2006/main">
            <a:r>
              <a:t>          "layer": "상태·지식 저장",</a:t>
            </a:r>
          </a:p>
          <a:p xmlns:a="http://schemas.openxmlformats.org/drawingml/2006/main">
            <a:r>
              <a:t>          "detail": "요건·거래·증빙·검토자 연결표와 누락 검출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"사업별 집행 기준",</a:t>
            </a:r>
          </a:p>
          <a:p xmlns:a="http://schemas.openxmlformats.org/drawingml/2006/main">
            <a:r>
              <a:t>          "layer": "권한·정책",</a:t>
            </a:r>
          </a:p>
          <a:p xmlns:a="http://schemas.openxmlformats.org/drawingml/2006/main">
            <a:r>
              <a:t>          "detail": "다른 부처 지침·기간 외 거래·중복 집행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"부처 지침·집행자료 → 규정 질의 → 서식·증빙 정리 → 연구자·기관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"지침·증빙 기록",</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"적용 규정",</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"보완·검토 결과",</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"R&amp;D 사업비 문의와 증빙 정리 지원 / 규정 상담·집행자료·서식 생성",</a:t>
            </a:r>
          </a:p>
          <a:p xmlns:a="http://schemas.openxmlformats.org/drawingml/2006/main">
            <a:r>
              <a:t>        "extension": "민간 AI PMS와 TS 기관 내부 업무를 역할별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부처 지침·기간 외 거래·중복 집행 증빙",</a:t>
            </a:r>
          </a:p>
          <a:p xmlns:a="http://schemas.openxmlformats.org/drawingml/2006/main">
            <a:r>
              <a:t>        "hold": "사업·판본별 의무와 예외 대사",</a:t>
            </a:r>
          </a:p>
          <a:p xmlns:a="http://schemas.openxmlformats.org/drawingml/2006/main">
            <a:r>
              <a:t>        "recovery": "오분류·증빙 누락과 검토 결과 추적",</a:t>
            </a:r>
          </a:p>
          <a:p xmlns:a="http://schemas.openxmlformats.org/drawingml/2006/main">
            <a:r>
              <a:t>        "evidence": "요건·거래·증빙·검토자 연결표와 누락 검출 결과"</a:t>
            </a:r>
          </a:p>
          <a:p xmlns:a="http://schemas.openxmlformats.org/drawingml/2006/main">
            <a:r>
              <a:t>      },</a:t>
            </a:r>
          </a:p>
          <a:p xmlns:a="http://schemas.openxmlformats.org/drawingml/2006/main">
            <a:r>
              <a:t>      "data": {</a:t>
            </a:r>
          </a:p>
          <a:p xmlns:a="http://schemas.openxmlformats.org/drawingml/2006/main">
            <a:r>
              <a:t>        "source": "지침·증빙 기록",</a:t>
            </a:r>
          </a:p>
          <a:p xmlns:a="http://schemas.openxmlformats.org/drawingml/2006/main">
            <a:r>
              <a:t>        "prepare": "법규·부처 지침·거래증빙의 판본 연결",</a:t>
            </a:r>
          </a:p>
          <a:p xmlns:a="http://schemas.openxmlformats.org/drawingml/2006/main">
            <a:r>
              <a:t>        "output": "집행 내역",</a:t>
            </a:r>
          </a:p>
          <a:p xmlns:a="http://schemas.openxmlformats.org/drawingml/2006/main">
            <a:r>
              <a:t>        "refresh": "오분류·증빙 누락과 검토 결과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"AX24",</a:t>
            </a:r>
          </a:p>
          <a:p xmlns:a="http://schemas.openxmlformats.org/drawingml/2006/main">
            <a:r>
              <a:t>    "success": [</a:t>
            </a:r>
          </a:p>
          <a:p xmlns:a="http://schemas.openxmlformats.org/drawingml/2006/main">
            <a:r>
              <a:t>      "부처 지침과 집행 자료 연결",</a:t>
            </a:r>
          </a:p>
          <a:p xmlns:a="http://schemas.openxmlformats.org/drawingml/2006/main">
            <a:r>
              <a:t>      "서식·증빙을 검토 과정에 결합"</a:t>
            </a:r>
          </a:p>
          <a:p xmlns:a="http://schemas.openxmlformats.org/drawingml/2006/main">
            <a:r>
              <a:t>    ],</a:t>
            </a:r>
          </a:p>
          <a:p xmlns:a="http://schemas.openxmlformats.org/drawingml/2006/main">
            <a:r>
              <a:t>    "risks": [</a:t>
            </a:r>
          </a:p>
          <a:p xmlns:a="http://schemas.openxmlformats.org/drawingml/2006/main">
            <a:r>
              <a:t>      "부처·연차별 집행기준 혼용",</a:t>
            </a:r>
          </a:p>
          <a:p xmlns:a="http://schemas.openxmlformats.org/drawingml/2006/main">
            <a:r>
              <a:t>      "서식 생성과 적정 집행 판정의 혼동"</a:t>
            </a:r>
          </a:p>
          <a:p xmlns:a="http://schemas.openxmlformats.org/drawingml/2006/main">
            <a:r>
              <a:t>    ],</a:t>
            </a:r>
          </a:p>
          <a:p xmlns:a="http://schemas.openxmlformats.org/drawingml/2006/main">
            <a:r>
              <a:t>    "architecture": [</a:t>
            </a:r>
          </a:p>
          <a:p xmlns:a="http://schemas.openxmlformats.org/drawingml/2006/main">
            <a:r>
              <a:t>      "연구비 집행 자료",</a:t>
            </a:r>
          </a:p>
          <a:p xmlns:a="http://schemas.openxmlformats.org/drawingml/2006/main">
            <a:r>
              <a:t>      "규정 검색·서식 구성",</a:t>
            </a:r>
          </a:p>
          <a:p xmlns:a="http://schemas.openxmlformats.org/drawingml/2006/main">
            <a:r>
              <a:t>      "지침·증빙 기록",</a:t>
            </a:r>
          </a:p>
          <a:p xmlns:a="http://schemas.openxmlformats.org/drawingml/2006/main">
            <a:r>
              <a:t>      "연구자·기관 검토자"</a:t>
            </a:r>
          </a:p>
          <a:p xmlns:a="http://schemas.openxmlformats.org/drawingml/2006/main">
            <a:r>
              <a:t>    ],</a:t>
            </a:r>
          </a:p>
          <a:p xmlns:a="http://schemas.openxmlformats.org/drawingml/2006/main">
            <a:r>
              <a:t>    "transfers": [</a:t>
            </a:r>
          </a:p>
          <a:p xmlns:a="http://schemas.openxmlformats.org/drawingml/2006/main">
            <a:r>
              <a:t>      "집행 내역",</a:t>
            </a:r>
          </a:p>
          <a:p xmlns:a="http://schemas.openxmlformats.org/drawingml/2006/main">
            <a:r>
              <a:t>      "적용 규정",</a:t>
            </a:r>
          </a:p>
          <a:p xmlns:a="http://schemas.openxmlformats.org/drawingml/2006/main">
            <a:r>
              <a:t>      "서식·증빙 목록",</a:t>
            </a:r>
          </a:p>
          <a:p xmlns:a="http://schemas.openxmlformats.org/drawingml/2006/main">
            <a:r>
              <a:t>      "보완·검토 결과"</a:t>
            </a:r>
          </a:p>
          <a:p xmlns:a="http://schemas.openxmlformats.org/drawingml/2006/main">
            <a:r>
              <a:t>    ],</a:t>
            </a:r>
          </a:p>
          <a:p xmlns:a="http://schemas.openxmlformats.org/drawingml/2006/main">
            <a:r>
              <a:t>    "control": "사업·판본별 의무와 예외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국가 R&amp;D 사업비 Risk 지원 · 공공AI 사례집 193–194쪽 https://bigdata.dongjak.go.kr/board/viewArticle?articleNo=954&amp;boardId=4</a:t>
            </a:r>
          </a:p>
          <a:p xmlns:a="http://schemas.openxmlformats.org/drawingml/2006/main">
            <a:r>
              <a:t>홈페이지 https://heen1987-ops.github.io/TS-business-Plan-001/index.html?view=casebook&amp;case=AX24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"AX24",</a:t>
            </a:r>
          </a:p>
          <a:p xmlns:a="http://schemas.openxmlformats.org/drawingml/2006/main">
            <a:r>
              <a:t>    "title": "국가 R&amp;D 사업비 Risk 지원",</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"규정·증빙 기반 사업관리",</a:t>
            </a:r>
          </a:p>
          <a:p xmlns:a="http://schemas.openxmlformats.org/drawingml/2006/main">
            <a:r>
              <a:t>    "period": "2024 개발 사례",</a:t>
            </a:r>
          </a:p>
          <a:p xmlns:a="http://schemas.openxmlformats.org/drawingml/2006/main">
            <a:r>
              <a:t>    "sources": [</a:t>
            </a:r>
          </a:p>
          <a:p xmlns:a="http://schemas.openxmlformats.org/drawingml/2006/main">
            <a:r>
              <a:t>      "S-AX24"</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"증빙 기반 사업관리"</a:t>
            </a:r>
          </a:p>
          <a:p xmlns:a="http://schemas.openxmlformats.org/drawingml/2006/main">
            <a:r>
              <a:t>    ],</a:t>
            </a:r>
          </a:p>
          <a:p xmlns:a="http://schemas.openxmlformats.org/drawingml/2006/main">
            <a:r>
              <a:t>    "fact": "R&amp;D 법규·부처 지침 상담과 집행 데이터 수집·서식 생성을 결합한 솔루션 개발",</a:t>
            </a:r>
          </a:p>
          <a:p xmlns:a="http://schemas.openxmlformats.org/drawingml/2006/main">
            <a:r>
              <a:t>    "limit": "성과 항목이 기대효과 중심 · 행정 부담 감소 실측 별도",</a:t>
            </a:r>
          </a:p>
          <a:p xmlns:a="http://schemas.openxmlformats.org/drawingml/2006/main">
            <a:r>
              <a:t>    "flow": [</a:t>
            </a:r>
          </a:p>
          <a:p xmlns:a="http://schemas.openxmlformats.org/drawingml/2006/main">
            <a:r>
              <a:t>      "부처 지침·집행자료",</a:t>
            </a:r>
          </a:p>
          <a:p xmlns:a="http://schemas.openxmlformats.org/drawingml/2006/main">
            <a:r>
              <a:t>      "규정 질의",</a:t>
            </a:r>
          </a:p>
          <a:p xmlns:a="http://schemas.openxmlformats.org/drawingml/2006/main">
            <a:r>
              <a:t>      "서식·증빙 정리",</a:t>
            </a:r>
          </a:p>
          <a:p xmlns:a="http://schemas.openxmlformats.org/drawingml/2006/main">
            <a:r>
              <a:t>      "연구자·기관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"부처별 지침·증빙·검토 책임의 연결",</a:t>
            </a:r>
          </a:p>
          <a:p xmlns:a="http://schemas.openxmlformats.org/drawingml/2006/main">
            <a:r>
              <a:t>    "local": "민간 AI PMS와 TS 기관 내부 업무를 역할별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"부처·사업·계약 판본·증빙 요구 매핑",</a:t>
            </a:r>
          </a:p>
          <a:p xmlns:a="http://schemas.openxmlformats.org/drawingml/2006/main">
            <a:r>
              <a:t>    "test": "유효 규정·증빙 누락·목적 외 자료 차단 시험",</a:t>
            </a:r>
          </a:p>
          <a:p xmlns:a="http://schemas.openxmlformats.org/drawingml/2006/main">
            <a:r>
              <a:t>    "metric": "보완 왕복 횟수 / 검토 소요시간",</a:t>
            </a:r>
          </a:p>
          <a:p xmlns:a="http://schemas.openxmlformats.org/drawingml/2006/main">
            <a:r>
              <a:t>    "strategies": [</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"AX24",</a:t>
            </a:r>
          </a:p>
          <a:p xmlns:a="http://schemas.openxmlformats.org/drawingml/2006/main">
            <a:r>
              <a:t>    "canonicalId": "AX24",</a:t>
            </a:r>
          </a:p>
          <a:p xmlns:a="http://schemas.openxmlformats.org/drawingml/2006/main">
            <a:r>
              <a:t>    "purpose": "R&amp;D 사업비 문의와 증빙 정리 지원",</a:t>
            </a:r>
          </a:p>
          <a:p xmlns:a="http://schemas.openxmlformats.org/drawingml/2006/main">
            <a:r>
              <a:t>    "users": "과제 수행자·연구관리 담당",</a:t>
            </a:r>
          </a:p>
          <a:p xmlns:a="http://schemas.openxmlformats.org/drawingml/2006/main">
            <a:r>
              <a:t>    "scope": [</a:t>
            </a:r>
          </a:p>
          <a:p xmlns:a="http://schemas.openxmlformats.org/drawingml/2006/main">
            <a:r>
              <a:t>      "규정 상담",</a:t>
            </a:r>
          </a:p>
          <a:p xmlns:a="http://schemas.openxmlformats.org/drawingml/2006/main">
            <a:r>
              <a:t>      "집행자료",</a:t>
            </a:r>
          </a:p>
          <a:p xmlns:a="http://schemas.openxmlformats.org/drawingml/2006/main">
            <a:r>
              <a:t>      "서식 생성"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"연구비 집행 자료",</a:t>
            </a:r>
          </a:p>
          <a:p xmlns:a="http://schemas.openxmlformats.org/drawingml/2006/main">
            <a:r>
              <a:t>        "detail": "부처·사업·협약기간·집행항목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"규정 상담 / 집행자료 / 서식 생성",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"규정 검색·서식 구성",</a:t>
            </a:r>
          </a:p>
          <a:p xmlns:a="http://schemas.openxmlformats.org/drawingml/2006/main">
            <a:r>
              <a:t>        "detail": "규정 검색과 집행 항목의 조건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"연구자·기관 검토자",</a:t>
            </a:r>
          </a:p>
          <a:p xmlns:a="http://schemas.openxmlformats.org/drawingml/2006/main">
            <a:r>
              <a:t>        "detail": "근거·누락 항목·서식 초안의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"지침·증빙 기록",</a:t>
            </a:r>
          </a:p>
          <a:p xmlns:a="http://schemas.openxmlformats.org/drawingml/2006/main">
            <a:r>
              <a:t>        "detail": "법규·부처 지침·거래증빙의 판본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"오분류·증빙 누락과 검토 결과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"부처 지침·집행자료",</a:t>
            </a:r>
          </a:p>
          <a:p xmlns:a="http://schemas.openxmlformats.org/drawingml/2006/main">
            <a:r>
              <a:t>        "input": "부처·사업·협약기간·집행항목 확인",</a:t>
            </a:r>
          </a:p>
          <a:p xmlns:a="http://schemas.openxmlformats.org/drawingml/2006/main">
            <a:r>
              <a:t>        "process": "법규·부처 지침·거래증빙의 판본 연결",</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"title": "규정 질의",</a:t>
            </a:r>
          </a:p>
          <a:p xmlns:a="http://schemas.openxmlformats.org/drawingml/2006/main">
            <a:r>
              <a:t>        "input": "집행 내역",</a:t>
            </a:r>
          </a:p>
          <a:p xmlns:a="http://schemas.openxmlformats.org/drawingml/2006/main">
            <a:r>
              <a:t>        "process": "규정 검색과 집행 항목의 조건 비교",</a:t>
            </a:r>
          </a:p>
          <a:p xmlns:a="http://schemas.openxmlformats.org/drawingml/2006/main">
            <a:r>
              <a:t>        "output": "적용 규정"</a:t>
            </a:r>
          </a:p>
          <a:p xmlns:a="http://schemas.openxmlformats.org/drawingml/2006/main">
            <a:r>
              <a:t>      },</a:t>
            </a:r>
          </a:p>
          <a:p xmlns:a="http://schemas.openxmlformats.org/drawingml/2006/main">
            <a:r>
              <a:t>      {</a:t>
            </a:r>
          </a:p>
          <a:p xmlns:a="http://schemas.openxmlformats.org/drawingml/2006/main">
            <a:r>
              <a:t>        "title": "서식·증빙 정리",</a:t>
            </a:r>
          </a:p>
          <a:p xmlns:a="http://schemas.openxmlformats.org/drawingml/2006/main">
            <a:r>
              <a:t>        "input": "적용 규정",</a:t>
            </a:r>
          </a:p>
          <a:p xmlns:a="http://schemas.openxmlformats.org/drawingml/2006/main">
            <a:r>
              <a:t>        "process": "사업·판본별 의무와 예외 대사",</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"title": "연구자·기관 검토",</a:t>
            </a:r>
          </a:p>
          <a:p xmlns:a="http://schemas.openxmlformats.org/drawingml/2006/main">
            <a:r>
              <a:t>        "input": "서식·증빙 목록",</a:t>
            </a:r>
          </a:p>
          <a:p xmlns:a="http://schemas.openxmlformats.org/drawingml/2006/main">
            <a:r>
              <a:t>        "process":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"부처·사업·협약기간에 맞는 집행 조건과 증빙 확인",</a:t>
            </a:r>
          </a:p>
          <a:p xmlns:a="http://schemas.openxmlformats.org/drawingml/2006/main">
            <a:r>
              <a:t>      "exception": "다른 부처 지침·기간 외 거래·중복 집행 증빙",</a:t>
            </a:r>
          </a:p>
          <a:p xmlns:a="http://schemas.openxmlformats.org/drawingml/2006/main">
            <a:r>
              <a:t>      "evidence": "요건·거래·증빙·검토자 연결표와 누락 검출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"과제 수행자·연구관리 담당",</a:t>
            </a:r>
          </a:p>
          <a:p xmlns:a="http://schemas.openxmlformats.org/drawingml/2006/main">
            <a:r>
              <a:t>          "processing": "부처·사업·협약기간·집행항목 확인",</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"지침·증빙 기록",</a:t>
            </a:r>
          </a:p>
          <a:p xmlns:a="http://schemas.openxmlformats.org/drawingml/2006/main">
            <a:r>
              <a:t>          "processing": "법규·부처 지침·거래증빙의 판본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"집행 내역",</a:t>
            </a:r>
          </a:p>
          <a:p xmlns:a="http://schemas.openxmlformats.org/drawingml/2006/main">
            <a:r>
              <a:t>          "processing": "규정 검색과 집행 항목의 조건 비교",</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"서식·증빙 목록",</a:t>
            </a:r>
          </a:p>
          <a:p xmlns:a="http://schemas.openxmlformats.org/drawingml/2006/main">
            <a:r>
              <a:t>          "processing":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"오분류·증빙 누락과 검토 결과 추적",</a:t>
            </a:r>
          </a:p>
          <a:p xmlns:a="http://schemas.openxmlformats.org/drawingml/2006/main">
            <a:r>
              <a:t>          "output": "요건·거래·증빙·검토자 연결표와 누락 검출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"오분류·증빙 누락과 검토 결과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"S-AX24",</a:t>
            </a:r>
          </a:p>
          <a:p xmlns:a="http://schemas.openxmlformats.org/drawingml/2006/main">
            <a:r>
              <a:t>        "title": "국가 R&amp;D 사업비 Risk 지원 · 공공AI 사례집 193–194쪽",</a:t>
            </a:r>
          </a:p>
          <a:p xmlns:a="http://schemas.openxmlformats.org/drawingml/2006/main">
            <a:r>
              <a:t>        "url": "https://bigdata.dongjak.go.kr/board/viewArticle?articleNo=954&amp;boardId=4",</a:t>
            </a:r>
          </a:p>
          <a:p xmlns:a="http://schemas.openxmlformats.org/drawingml/2006/main">
            <a:r>
              <a:t>        "published": "2024 개발 사례",</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"부처별 지침·증빙·검토 책임의 연결",</a:t>
            </a:r>
          </a:p>
          <a:p xmlns:a="http://schemas.openxmlformats.org/drawingml/2006/main">
            <a:r>
              <a:t>    "local": "민간 AI PMS와 TS 기관 내부 업무를 역할별 분리",</a:t>
            </a:r>
          </a:p>
          <a:p xmlns:a="http://schemas.openxmlformats.org/drawingml/2006/main">
            <a:r>
              <a:t>    "sourceDetail": null,</a:t>
            </a:r>
          </a:p>
          <a:p xmlns:a="http://schemas.openxmlformats.org/drawingml/2006/main">
            <a:r>
              <a:t>    "narrative": [</a:t>
            </a:r>
          </a:p>
          <a:p xmlns:a="http://schemas.openxmlformats.org/drawingml/2006/main">
            <a:r>
              <a:t>      "연구비 집행 자료와 부처·사업별 지침을 연결해 상담·증빙·서식 작성을 지원하는 사례. 같은 지출 항목도 사업·협약연도에 따라 적용 기준이 다른 업무.",</a:t>
            </a:r>
          </a:p>
          <a:p xmlns:a="http://schemas.openxmlformats.org/drawingml/2006/main">
            <a:r>
              <a:t>      "부처·사업·협약기간·집행항목을 먼저 식별하고 해당 판본의 규정과 거래증빙을 대조하는 재구성. 누락 서류·예외 조건·서식 초안을 담당 검토자에게 전달하는 흐름.",</a:t>
            </a:r>
          </a:p>
          <a:p xmlns:a="http://schemas.openxmlformats.org/drawingml/2006/main">
            <a:r>
              <a:t>      "CCK AI PMS에 적용할 경우 지침 검색·양식 재사용과 적정 집행 판단을 분리. 사업 변경·연차 차이·증빙 누락 시험을 수행하고 요구사항·검수·제출 증빙의 추적에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"연구비 질의",</a:t>
            </a:r>
          </a:p>
          <a:p xmlns:a="http://schemas.openxmlformats.org/drawingml/2006/main">
            <a:r>
              <a:t>          "layer": "이용 접점",</a:t>
            </a:r>
          </a:p>
          <a:p xmlns:a="http://schemas.openxmlformats.org/drawingml/2006/main">
            <a:r>
              <a:t>          "detail": "과제 수행자·연구관리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"사업·협약·항목",</a:t>
            </a:r>
          </a:p>
          <a:p xmlns:a="http://schemas.openxmlformats.org/drawingml/2006/main">
            <a:r>
              <a:t>          "layer": "업무 문맥",</a:t>
            </a:r>
          </a:p>
          <a:p xmlns:a="http://schemas.openxmlformats.org/drawingml/2006/main">
            <a:r>
              <a:t>          "detail": "부처·사업·협약기간·집행항목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"규정·증빙 조회",</a:t>
            </a:r>
          </a:p>
          <a:p xmlns:a="http://schemas.openxmlformats.org/drawingml/2006/main">
            <a:r>
              <a:t>          "layer": "자료 조회",</a:t>
            </a:r>
          </a:p>
          <a:p xmlns:a="http://schemas.openxmlformats.org/drawingml/2006/main">
            <a:r>
              <a:t>          "detail": "집행 내역",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"조건 비교·서식",</a:t>
            </a:r>
          </a:p>
          <a:p xmlns:a="http://schemas.openxmlformats.org/drawingml/2006/main">
            <a:r>
              <a:t>          "layer": "핵심 처리",</a:t>
            </a:r>
          </a:p>
          <a:p xmlns:a="http://schemas.openxmlformats.org/drawingml/2006/main">
            <a:r>
              <a:t>          "detail": "규정 검색과 집행 항목의 조건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"판본·누락 검사",</a:t>
            </a:r>
          </a:p>
          <a:p xmlns:a="http://schemas.openxmlformats.org/drawingml/2006/main">
            <a:r>
              <a:t>          "layer": "결과 검증",</a:t>
            </a:r>
          </a:p>
          <a:p xmlns:a="http://schemas.openxmlformats.org/drawingml/2006/main">
            <a:r>
              <a:t>          "detail": "사업·판본별 의무와 예외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"기관 검토자 확인",</a:t>
            </a:r>
          </a:p>
          <a:p xmlns:a="http://schemas.openxmlformats.org/drawingml/2006/main">
            <a:r>
              <a:t>          "layer": "사람 확인",</a:t>
            </a:r>
          </a:p>
          <a:p xmlns:a="http://schemas.openxmlformats.org/drawingml/2006/main">
            <a:r>
              <a:t>          "detail": "부처·사업·협약기간에 맞는 집행 조건과 증빙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"보완·집행 검토",</a:t>
            </a:r>
          </a:p>
          <a:p xmlns:a="http://schemas.openxmlformats.org/drawingml/2006/main">
            <a:r>
              <a:t>          "layer": "업무 연결",</a:t>
            </a:r>
          </a:p>
          <a:p xmlns:a="http://schemas.openxmlformats.org/drawingml/2006/main">
            <a:r>
              <a:t>          "detail": "근거·누락 항목·서식 초안의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"오분류 추적",</a:t>
            </a:r>
          </a:p>
          <a:p xmlns:a="http://schemas.openxmlformats.org/drawingml/2006/main">
            <a:r>
              <a:t>          "layer": "운영 관측",</a:t>
            </a:r>
          </a:p>
          <a:p xmlns:a="http://schemas.openxmlformats.org/drawingml/2006/main">
            <a:r>
              <a:t>          "detail": "오분류·증빙 누락과 검토 결과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"지침·거래 증빙",</a:t>
            </a:r>
          </a:p>
          <a:p xmlns:a="http://schemas.openxmlformats.org/drawingml/2006/main">
            <a:r>
              <a:t>          "layer": "데이터 원천",</a:t>
            </a:r>
          </a:p>
          <a:p xmlns:a="http://schemas.openxmlformats.org/drawingml/2006/main">
            <a:r>
              <a:t>          "detail": "지침·증빙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"판본·항목 연결",</a:t>
            </a:r>
          </a:p>
          <a:p xmlns:a="http://schemas.openxmlformats.org/drawingml/2006/main">
            <a:r>
              <a:t>          "layer": "준비·갱신",</a:t>
            </a:r>
          </a:p>
          <a:p xmlns:a="http://schemas.openxmlformats.org/drawingml/2006/main">
            <a:r>
              <a:t>          "detail": "법규·부처 지침·거래증빙의 판본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"집행·근거 기록",</a:t>
            </a:r>
          </a:p>
          <a:p xmlns:a="http://schemas.openxmlformats.org/drawingml/2006/main">
            <a:r>
              <a:t>          "layer": "상태·지식 저장",</a:t>
            </a:r>
          </a:p>
          <a:p xmlns:a="http://schemas.openxmlformats.org/drawingml/2006/main">
            <a:r>
              <a:t>          "detail": "요건·거래·증빙·검토자 연결표와 누락 검출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"사업별 집행 기준",</a:t>
            </a:r>
          </a:p>
          <a:p xmlns:a="http://schemas.openxmlformats.org/drawingml/2006/main">
            <a:r>
              <a:t>          "layer": "권한·정책",</a:t>
            </a:r>
          </a:p>
          <a:p xmlns:a="http://schemas.openxmlformats.org/drawingml/2006/main">
            <a:r>
              <a:t>          "detail": "다른 부처 지침·기간 외 거래·중복 집행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"부처 지침·집행자료 → 규정 질의 → 서식·증빙 정리 → 연구자·기관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"지침·증빙 기록",</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"적용 규정",</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"보완·검토 결과",</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"R&amp;D 사업비 문의와 증빙 정리 지원 / 규정 상담·집행자료·서식 생성",</a:t>
            </a:r>
          </a:p>
          <a:p xmlns:a="http://schemas.openxmlformats.org/drawingml/2006/main">
            <a:r>
              <a:t>        "extension": "민간 AI PMS와 TS 기관 내부 업무를 역할별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부처 지침·기간 외 거래·중복 집행 증빙",</a:t>
            </a:r>
          </a:p>
          <a:p xmlns:a="http://schemas.openxmlformats.org/drawingml/2006/main">
            <a:r>
              <a:t>        "hold": "사업·판본별 의무와 예외 대사",</a:t>
            </a:r>
          </a:p>
          <a:p xmlns:a="http://schemas.openxmlformats.org/drawingml/2006/main">
            <a:r>
              <a:t>        "recovery": "오분류·증빙 누락과 검토 결과 추적",</a:t>
            </a:r>
          </a:p>
          <a:p xmlns:a="http://schemas.openxmlformats.org/drawingml/2006/main">
            <a:r>
              <a:t>        "evidence": "요건·거래·증빙·검토자 연결표와 누락 검출 결과"</a:t>
            </a:r>
          </a:p>
          <a:p xmlns:a="http://schemas.openxmlformats.org/drawingml/2006/main">
            <a:r>
              <a:t>      },</a:t>
            </a:r>
          </a:p>
          <a:p xmlns:a="http://schemas.openxmlformats.org/drawingml/2006/main">
            <a:r>
              <a:t>      "data": {</a:t>
            </a:r>
          </a:p>
          <a:p xmlns:a="http://schemas.openxmlformats.org/drawingml/2006/main">
            <a:r>
              <a:t>        "source": "지침·증빙 기록",</a:t>
            </a:r>
          </a:p>
          <a:p xmlns:a="http://schemas.openxmlformats.org/drawingml/2006/main">
            <a:r>
              <a:t>        "prepare": "법규·부처 지침·거래증빙의 판본 연결",</a:t>
            </a:r>
          </a:p>
          <a:p xmlns:a="http://schemas.openxmlformats.org/drawingml/2006/main">
            <a:r>
              <a:t>        "output": "집행 내역",</a:t>
            </a:r>
          </a:p>
          <a:p xmlns:a="http://schemas.openxmlformats.org/drawingml/2006/main">
            <a:r>
              <a:t>        "refresh": "오분류·증빙 누락과 검토 결과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"AX24",</a:t>
            </a:r>
          </a:p>
          <a:p xmlns:a="http://schemas.openxmlformats.org/drawingml/2006/main">
            <a:r>
              <a:t>    "success": [</a:t>
            </a:r>
          </a:p>
          <a:p xmlns:a="http://schemas.openxmlformats.org/drawingml/2006/main">
            <a:r>
              <a:t>      "부처 지침과 집행 자료 연결",</a:t>
            </a:r>
          </a:p>
          <a:p xmlns:a="http://schemas.openxmlformats.org/drawingml/2006/main">
            <a:r>
              <a:t>      "서식·증빙을 검토 과정에 결합"</a:t>
            </a:r>
          </a:p>
          <a:p xmlns:a="http://schemas.openxmlformats.org/drawingml/2006/main">
            <a:r>
              <a:t>    ],</a:t>
            </a:r>
          </a:p>
          <a:p xmlns:a="http://schemas.openxmlformats.org/drawingml/2006/main">
            <a:r>
              <a:t>    "risks": [</a:t>
            </a:r>
          </a:p>
          <a:p xmlns:a="http://schemas.openxmlformats.org/drawingml/2006/main">
            <a:r>
              <a:t>      "부처·연차별 집행기준 혼용",</a:t>
            </a:r>
          </a:p>
          <a:p xmlns:a="http://schemas.openxmlformats.org/drawingml/2006/main">
            <a:r>
              <a:t>      "서식 생성과 적정 집행 판정의 혼동"</a:t>
            </a:r>
          </a:p>
          <a:p xmlns:a="http://schemas.openxmlformats.org/drawingml/2006/main">
            <a:r>
              <a:t>    ],</a:t>
            </a:r>
          </a:p>
          <a:p xmlns:a="http://schemas.openxmlformats.org/drawingml/2006/main">
            <a:r>
              <a:t>    "architecture": [</a:t>
            </a:r>
          </a:p>
          <a:p xmlns:a="http://schemas.openxmlformats.org/drawingml/2006/main">
            <a:r>
              <a:t>      "연구비 집행 자료",</a:t>
            </a:r>
          </a:p>
          <a:p xmlns:a="http://schemas.openxmlformats.org/drawingml/2006/main">
            <a:r>
              <a:t>      "규정 검색·서식 구성",</a:t>
            </a:r>
          </a:p>
          <a:p xmlns:a="http://schemas.openxmlformats.org/drawingml/2006/main">
            <a:r>
              <a:t>      "지침·증빙 기록",</a:t>
            </a:r>
          </a:p>
          <a:p xmlns:a="http://schemas.openxmlformats.org/drawingml/2006/main">
            <a:r>
              <a:t>      "연구자·기관 검토자"</a:t>
            </a:r>
          </a:p>
          <a:p xmlns:a="http://schemas.openxmlformats.org/drawingml/2006/main">
            <a:r>
              <a:t>    ],</a:t>
            </a:r>
          </a:p>
          <a:p xmlns:a="http://schemas.openxmlformats.org/drawingml/2006/main">
            <a:r>
              <a:t>    "transfers": [</a:t>
            </a:r>
          </a:p>
          <a:p xmlns:a="http://schemas.openxmlformats.org/drawingml/2006/main">
            <a:r>
              <a:t>      "집행 내역",</a:t>
            </a:r>
          </a:p>
          <a:p xmlns:a="http://schemas.openxmlformats.org/drawingml/2006/main">
            <a:r>
              <a:t>      "적용 규정",</a:t>
            </a:r>
          </a:p>
          <a:p xmlns:a="http://schemas.openxmlformats.org/drawingml/2006/main">
            <a:r>
              <a:t>      "서식·증빙 목록",</a:t>
            </a:r>
          </a:p>
          <a:p xmlns:a="http://schemas.openxmlformats.org/drawingml/2006/main">
            <a:r>
              <a:t>      "보완·검토 결과"</a:t>
            </a:r>
          </a:p>
          <a:p xmlns:a="http://schemas.openxmlformats.org/drawingml/2006/main">
            <a:r>
              <a:t>    ],</a:t>
            </a:r>
          </a:p>
          <a:p xmlns:a="http://schemas.openxmlformats.org/drawingml/2006/main">
            <a:r>
              <a:t>    "control": "사업·판본별 의무와 예외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국가 R&amp;D 사업비 Risk 지원 · 공공AI 사례집 193–194쪽 https://bigdata.dongjak.go.kr/board/viewArticle?articleNo=954&amp;boardId=4</a:t>
            </a:r>
          </a:p>
          <a:p xmlns:a="http://schemas.openxmlformats.org/drawingml/2006/main">
            <a:r>
              <a:t>홈페이지 https://heen1987-ops.github.io/TS-business-Plan-001/index.html?view=casebook&amp;case=AX24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"AX25",</a:t>
            </a:r>
          </a:p>
          <a:p xmlns:a="http://schemas.openxmlformats.org/drawingml/2006/main">
            <a:r>
              <a:t>    "title": "조달청 e-제안요청 도움",</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"RFP 초안 작성 지원",</a:t>
            </a:r>
          </a:p>
          <a:p xmlns:a="http://schemas.openxmlformats.org/drawingml/2006/main">
            <a:r>
              <a:t>    "period": "2023 PoC / 2024 고도화",</a:t>
            </a:r>
          </a:p>
          <a:p xmlns:a="http://schemas.openxmlformats.org/drawingml/2006/main">
            <a:r>
              <a:t>    "sources": [</a:t>
            </a:r>
          </a:p>
          <a:p xmlns:a="http://schemas.openxmlformats.org/drawingml/2006/main">
            <a:r>
              <a:t>      "S-AX25"</a:t>
            </a:r>
          </a:p>
          <a:p xmlns:a="http://schemas.openxmlformats.org/drawingml/2006/main">
            <a:r>
              <a:t>    ],</a:t>
            </a:r>
          </a:p>
          <a:p xmlns:a="http://schemas.openxmlformats.org/drawingml/2006/main">
            <a:r>
              <a:t>    "keywords": [</a:t>
            </a:r>
          </a:p>
          <a:p xmlns:a="http://schemas.openxmlformats.org/drawingml/2006/main">
            <a:r>
              <a:t>      "RFP 초안 작성 지원"</a:t>
            </a:r>
          </a:p>
          <a:p xmlns:a="http://schemas.openxmlformats.org/drawingml/2006/main">
            <a:r>
              <a:t>    ],</a:t>
            </a:r>
          </a:p>
          <a:p xmlns:a="http://schemas.openxmlformats.org/drawingml/2006/main">
            <a:r>
              <a:t>    "fact": "제안요청서 목차별 초안 생성과 키워드 추출·사용자 검증을 결합한 실증 고도화",</a:t>
            </a:r>
          </a:p>
          <a:p xmlns:a="http://schemas.openxmlformats.org/drawingml/2006/main">
            <a:r>
              <a:t>    "limit": "작성 지원 범위 · 요구사항·예산의 자동 승인과 구분",</a:t>
            </a:r>
          </a:p>
          <a:p xmlns:a="http://schemas.openxmlformats.org/drawingml/2006/main">
            <a:r>
              <a:t>    "flow": [</a:t>
            </a:r>
          </a:p>
          <a:p xmlns:a="http://schemas.openxmlformats.org/drawingml/2006/main">
            <a:r>
              <a:t>      "기존 RFP",</a:t>
            </a:r>
          </a:p>
          <a:p xmlns:a="http://schemas.openxmlformats.org/drawingml/2006/main">
            <a:r>
              <a:t>      "목차·키워드 추출",</a:t>
            </a:r>
          </a:p>
          <a:p xmlns:a="http://schemas.openxmlformats.org/drawingml/2006/main">
            <a:r>
              <a:t>      "담당자 검증",</a:t>
            </a:r>
          </a:p>
          <a:p xmlns:a="http://schemas.openxmlformats.org/drawingml/2006/main">
            <a:r>
              <a:t>      "초안 구성"</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"추출 근거 검증을 초안 작성 앞단에 배치",</a:t>
            </a:r>
          </a:p>
          <a:p xmlns:a="http://schemas.openxmlformats.org/drawingml/2006/main">
            <a:r>
              <a:t>    "local": "TS 고도화의 재사용·추가 개발·검수 추적 지원",</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"요구ID·원문·산출물·검수의 누락 검사",</a:t>
            </a:r>
          </a:p>
          <a:p xmlns:a="http://schemas.openxmlformats.org/drawingml/2006/main">
            <a:r>
              <a:t>    "test": "누락·중복·상충 요구 및 근거 없는 성능 목표 탐지",</a:t>
            </a:r>
          </a:p>
          <a:p xmlns:a="http://schemas.openxmlformats.org/drawingml/2006/main">
            <a:r>
              <a:t>    "metric": "작성·보완 시간 / 추적 누락률",</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"AX25",</a:t>
            </a:r>
          </a:p>
          <a:p xmlns:a="http://schemas.openxmlformats.org/drawingml/2006/main">
            <a:r>
              <a:t>    "canonicalId": "AX25",</a:t>
            </a:r>
          </a:p>
          <a:p xmlns:a="http://schemas.openxmlformats.org/drawingml/2006/main">
            <a:r>
              <a:t>    "purpose": "공공 정보화사업 제안요청서 작성 지원",</a:t>
            </a:r>
          </a:p>
          <a:p xmlns:a="http://schemas.openxmlformats.org/drawingml/2006/main">
            <a:r>
              <a:t>    "users": "발주·사업관리 담당자",</a:t>
            </a:r>
          </a:p>
          <a:p xmlns:a="http://schemas.openxmlformats.org/drawingml/2006/main">
            <a:r>
              <a:t>    "scope": [</a:t>
            </a:r>
          </a:p>
          <a:p xmlns:a="http://schemas.openxmlformats.org/drawingml/2006/main">
            <a:r>
              <a:t>      "목차 구성",</a:t>
            </a:r>
          </a:p>
          <a:p xmlns:a="http://schemas.openxmlformats.org/drawingml/2006/main">
            <a:r>
              <a:t>      "요구 초안",</a:t>
            </a:r>
          </a:p>
          <a:p xmlns:a="http://schemas.openxmlformats.org/drawingml/2006/main">
            <a:r>
              <a:t>      "사용자 검증"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"기존 RFP·수요",</a:t>
            </a:r>
          </a:p>
          <a:p xmlns:a="http://schemas.openxmlformats.org/drawingml/2006/main">
            <a:r>
              <a:t>        "detail": "사업 목적·범위·기존 시스템 입력",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"목차 구성 / 요구 초안 / 사용자 검증",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"목차·키워드 분석",</a:t>
            </a:r>
          </a:p>
          <a:p xmlns:a="http://schemas.openxmlformats.org/drawingml/2006/main">
            <a:r>
              <a:t>        "detail": "키워드 추출과 목차별 요구사항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"발주 담당자",</a:t>
            </a:r>
          </a:p>
          <a:p xmlns:a="http://schemas.openxmlformats.org/drawingml/2006/main">
            <a:r>
              <a:t>        "detail": "담당자가 범위·중복·검수 가능성을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"요구·검수 자료",</a:t>
            </a:r>
          </a:p>
          <a:p xmlns:a="http://schemas.openxmlformats.org/drawingml/2006/main">
            <a:r>
              <a:t>        "detail": "관련 지침·양식·기존 요구사항의 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 이력과 요구사항·검수 연결 누락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"기존 RFP",</a:t>
            </a:r>
          </a:p>
          <a:p xmlns:a="http://schemas.openxmlformats.org/drawingml/2006/main">
            <a:r>
              <a:t>        "input": "사업 목적·범위·기존 시스템 입력",</a:t>
            </a:r>
          </a:p>
          <a:p xmlns:a="http://schemas.openxmlformats.org/drawingml/2006/main">
            <a:r>
              <a:t>        "process": "관련 지침·양식·기존 요구사항의 출처 관리",</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"title": "목차·키워드 추출",</a:t>
            </a:r>
          </a:p>
          <a:p xmlns:a="http://schemas.openxmlformats.org/drawingml/2006/main">
            <a:r>
              <a:t>        "input": "기존 문서",</a:t>
            </a:r>
          </a:p>
          <a:p xmlns:a="http://schemas.openxmlformats.org/drawingml/2006/main">
            <a:r>
              <a:t>        "process": "키워드 추출과 목차별 요구사항 초안 생성",</a:t>
            </a:r>
          </a:p>
          <a:p xmlns:a="http://schemas.openxmlformats.org/drawingml/2006/main">
            <a:r>
              <a:t>        "output": "요구 후보"</a:t>
            </a:r>
          </a:p>
          <a:p xmlns:a="http://schemas.openxmlformats.org/drawingml/2006/main">
            <a:r>
              <a:t>      },</a:t>
            </a:r>
          </a:p>
          <a:p xmlns:a="http://schemas.openxmlformats.org/drawingml/2006/main">
            <a:r>
              <a:t>      {</a:t>
            </a:r>
          </a:p>
          <a:p xmlns:a="http://schemas.openxmlformats.org/drawingml/2006/main">
            <a:r>
              <a:t>        "title": "담당자 검증",</a:t>
            </a:r>
          </a:p>
          <a:p xmlns:a="http://schemas.openxmlformats.org/drawingml/2006/main">
            <a:r>
              <a:t>        "input": "요구 후보",</a:t>
            </a:r>
          </a:p>
          <a:p xmlns:a="http://schemas.openxmlformats.org/drawingml/2006/main">
            <a:r>
              <a:t>        "process": "사업 범위·기존 의무·검수 연결 확인",</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"title": "초안 구성",</a:t>
            </a:r>
          </a:p>
          <a:p xmlns:a="http://schemas.openxmlformats.org/drawingml/2006/main">
            <a:r>
              <a:t>        "input": "검증된 목차",</a:t>
            </a:r>
          </a:p>
          <a:p xmlns:a="http://schemas.openxmlformats.org/drawingml/2006/main">
            <a:r>
              <a:t>        "process":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범위에 맞는 RFP 요구와 검수 초안 구성",</a:t>
            </a:r>
          </a:p>
          <a:p xmlns:a="http://schemas.openxmlformats.org/drawingml/2006/main">
            <a:r>
              <a:t>      "exception": "기존 계약 중복·수치 근거 부재·검수 불가능 요구",</a:t>
            </a:r>
          </a:p>
          <a:p xmlns:a="http://schemas.openxmlformats.org/drawingml/2006/main">
            <a:r>
              <a:t>      "evidence": "요구사항별 범위·출처·검수 연결 및 담당자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"발주·사업관리 담당자",</a:t>
            </a:r>
          </a:p>
          <a:p xmlns:a="http://schemas.openxmlformats.org/drawingml/2006/main">
            <a:r>
              <a:t>          "processing": "사업 목적·범위·기존 시스템 입력",</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"요구·검수 자료",</a:t>
            </a:r>
          </a:p>
          <a:p xmlns:a="http://schemas.openxmlformats.org/drawingml/2006/main">
            <a:r>
              <a:t>          "processing": "관련 지침·양식·기존 요구사항의 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"기존 문서",</a:t>
            </a:r>
          </a:p>
          <a:p xmlns:a="http://schemas.openxmlformats.org/drawingml/2006/main">
            <a:r>
              <a:t>          "processing": "키워드 추출과 목차별 요구사항 초안 생성",</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"검증된 목차",</a:t>
            </a:r>
          </a:p>
          <a:p xmlns:a="http://schemas.openxmlformats.org/drawingml/2006/main">
            <a:r>
              <a:t>          "processing":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 이력과 요구사항·검수 연결 누락 검사",</a:t>
            </a:r>
          </a:p>
          <a:p xmlns:a="http://schemas.openxmlformats.org/drawingml/2006/main">
            <a:r>
              <a:t>          "output":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 이력과 요구사항·검수 연결 누락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"S-AX25",</a:t>
            </a:r>
          </a:p>
          <a:p xmlns:a="http://schemas.openxmlformats.org/drawingml/2006/main">
            <a:r>
              <a:t>        "title": "조달청 e-제안요청 도움 · 공공AI 사례집 218–219쪽",</a:t>
            </a:r>
          </a:p>
          <a:p xmlns:a="http://schemas.openxmlformats.org/drawingml/2006/main">
            <a:r>
              <a:t>        "url": "https://bigdata.dongjak.go.kr/board/viewArticle?articleNo=954&amp;boardId=4",</a:t>
            </a:r>
          </a:p>
          <a:p xmlns:a="http://schemas.openxmlformats.org/drawingml/2006/main">
            <a:r>
              <a:t>        "published": "2023 PoC / 2024 고도화",</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"추출 근거 검증을 초안 작성 앞단에 배치",</a:t>
            </a:r>
          </a:p>
          <a:p xmlns:a="http://schemas.openxmlformats.org/drawingml/2006/main">
            <a:r>
              <a:t>    "local": "TS 고도화의 재사용·추가 개발·검수 추적 지원",</a:t>
            </a:r>
          </a:p>
          <a:p xmlns:a="http://schemas.openxmlformats.org/drawingml/2006/main">
            <a:r>
              <a:t>    "sourceDetail": null,</a:t>
            </a:r>
          </a:p>
          <a:p xmlns:a="http://schemas.openxmlformats.org/drawingml/2006/main">
            <a:r>
              <a:t>    "narrative": [</a:t>
            </a:r>
          </a:p>
          <a:p xmlns:a="http://schemas.openxmlformats.org/drawingml/2006/main">
            <a:r>
              <a:t>      "기존 RFP와 사업 수요를 분석해 목차·키워드·요구사항 초안을 만드는 지원 사례. 과거 문서를 재활용하면서 신규 범위와 기존 의무의 중복을 피하는 작업이 핵심.",</a:t>
            </a:r>
          </a:p>
          <a:p xmlns:a="http://schemas.openxmlformats.org/drawingml/2006/main">
            <a:r>
              <a:t>      "사업 목적·현재 시스템·추가 개발 범위를 입력하고 목차별 요구 후보를 구성하는 재구성. 담당자가 출처·누락·중복·검수 가능성을 확인한 뒤 요구 ID와 시험 항목을 연결.",</a:t>
            </a:r>
          </a:p>
          <a:p xmlns:a="http://schemas.openxmlformats.org/drawingml/2006/main">
            <a:r>
              <a:t>      "CCK 제안·사업관리 스킬에서는 문서 생성보다 근거와 요구·검수의 추적을 공통 기능으로 활용. 기존 과업 복사, 빈 검수기준, 법령 판본 혼용을 포함한 검토 시나리오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"RFP 작성 요청",</a:t>
            </a:r>
          </a:p>
          <a:p xmlns:a="http://schemas.openxmlformats.org/drawingml/2006/main">
            <a:r>
              <a:t>          "layer": "이용 접점",</a:t>
            </a:r>
          </a:p>
          <a:p xmlns:a="http://schemas.openxmlformats.org/drawingml/2006/main">
            <a:r>
              <a:t>          "detail": "발주·사업관리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"목적·범위·기존",</a:t>
            </a:r>
          </a:p>
          <a:p xmlns:a="http://schemas.openxmlformats.org/drawingml/2006/main">
            <a:r>
              <a:t>          "layer": "업무 문맥",</a:t>
            </a:r>
          </a:p>
          <a:p xmlns:a="http://schemas.openxmlformats.org/drawingml/2006/main">
            <a:r>
              <a:t>          "detail": "사업 목적·범위·기존 시스템 입력",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"지침·요구 조회",</a:t>
            </a:r>
          </a:p>
          <a:p xmlns:a="http://schemas.openxmlformats.org/drawingml/2006/main">
            <a:r>
              <a:t>          "layer": "자료 조회",</a:t>
            </a:r>
          </a:p>
          <a:p xmlns:a="http://schemas.openxmlformats.org/drawingml/2006/main">
            <a:r>
              <a:t>          "detail": "기존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"목차·초안 생성",</a:t>
            </a:r>
          </a:p>
          <a:p xmlns:a="http://schemas.openxmlformats.org/drawingml/2006/main">
            <a:r>
              <a:t>          "layer": "핵심 처리",</a:t>
            </a:r>
          </a:p>
          <a:p xmlns:a="http://schemas.openxmlformats.org/drawingml/2006/main">
            <a:r>
              <a:t>          "detail": "키워드 추출과 목차별 요구사항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"중복·누락 대조",</a:t>
            </a:r>
          </a:p>
          <a:p xmlns:a="http://schemas.openxmlformats.org/drawingml/2006/main">
            <a:r>
              <a:t>          "layer": "결과 검증",</a:t>
            </a:r>
          </a:p>
          <a:p xmlns:a="http://schemas.openxmlformats.org/drawingml/2006/main">
            <a:r>
              <a:t>          "detail": "사업 범위·기존 의무·검수 연결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"발주 담당 검토",</a:t>
            </a:r>
          </a:p>
          <a:p xmlns:a="http://schemas.openxmlformats.org/drawingml/2006/main">
            <a:r>
              <a:t>          "layer": "사람 확인",</a:t>
            </a:r>
          </a:p>
          <a:p xmlns:a="http://schemas.openxmlformats.org/drawingml/2006/main">
            <a:r>
              <a:t>          "detail": "사업 범위에 맞는 RFP 요구와 검수 초안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"요구·검수 명세",</a:t>
            </a:r>
          </a:p>
          <a:p xmlns:a="http://schemas.openxmlformats.org/drawingml/2006/main">
            <a:r>
              <a:t>          "layer": "업무 연결",</a:t>
            </a:r>
          </a:p>
          <a:p xmlns:a="http://schemas.openxmlformats.org/drawingml/2006/main">
            <a:r>
              <a:t>          "detail": "담당자가 범위·중복·검수 가능성을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추적",</a:t>
            </a:r>
          </a:p>
          <a:p xmlns:a="http://schemas.openxmlformats.org/drawingml/2006/main">
            <a:r>
              <a:t>          "layer": "운영 관측",</a:t>
            </a:r>
          </a:p>
          <a:p xmlns:a="http://schemas.openxmlformats.org/drawingml/2006/main">
            <a:r>
              <a:t>          "detail": "수정 이력과 요구사항·검수 연결 누락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"기존 RFP·수요",</a:t>
            </a:r>
          </a:p>
          <a:p xmlns:a="http://schemas.openxmlformats.org/drawingml/2006/main">
            <a:r>
              <a:t>          "layer": "데이터 원천",</a:t>
            </a:r>
          </a:p>
          <a:p xmlns:a="http://schemas.openxmlformats.org/drawingml/2006/main">
            <a:r>
              <a:t>          "detail": "요구·검수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"목차·ID 구조화",</a:t>
            </a:r>
          </a:p>
          <a:p xmlns:a="http://schemas.openxmlformats.org/drawingml/2006/main">
            <a:r>
              <a:t>          "layer": "준비·갱신",</a:t>
            </a:r>
          </a:p>
          <a:p xmlns:a="http://schemas.openxmlformats.org/drawingml/2006/main">
            <a:r>
              <a:t>          "detail": "관련 지침·양식·기존 요구사항의 출처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"요구·검수 원장",</a:t>
            </a:r>
          </a:p>
          <a:p xmlns:a="http://schemas.openxmlformats.org/drawingml/2006/main">
            <a:r>
              <a:t>          "layer": "상태·지식 저장",</a:t>
            </a:r>
          </a:p>
          <a:p xmlns:a="http://schemas.openxmlformats.org/drawingml/2006/main">
            <a:r>
              <a:t>          "detail": "요구사항별 범위·출처·검수 연결 및 담당자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"기존 의무·범위",</a:t>
            </a:r>
          </a:p>
          <a:p xmlns:a="http://schemas.openxmlformats.org/drawingml/2006/main">
            <a:r>
              <a:t>          "layer": "권한·정책",</a:t>
            </a:r>
          </a:p>
          <a:p xmlns:a="http://schemas.openxmlformats.org/drawingml/2006/main">
            <a:r>
              <a:t>          "detail": "기존 계약 중복·수치 근거 부재·검수 불가능 요구",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"기존 RFP → 목차·키워드 추출 → 담당자 검증 → 초안 구성"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"요구·검수 자료",</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"요구 후보",</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"RFP 초안",</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정보화사업 제안요청서 작성 지원 / 목차 구성·요구 초안·사용자 검증",</a:t>
            </a:r>
          </a:p>
          <a:p xmlns:a="http://schemas.openxmlformats.org/drawingml/2006/main">
            <a:r>
              <a:t>        "extension": "TS 고도화의 재사용·추가 개발·검수 추적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"기존 계약 중복·수치 근거 부재·검수 불가능 요구",</a:t>
            </a:r>
          </a:p>
          <a:p xmlns:a="http://schemas.openxmlformats.org/drawingml/2006/main">
            <a:r>
              <a:t>        "hold": "사업 범위·기존 의무·검수 연결 확인",</a:t>
            </a:r>
          </a:p>
          <a:p xmlns:a="http://schemas.openxmlformats.org/drawingml/2006/main">
            <a:r>
              <a:t>        "recovery": "수정 이력과 요구사항·검수 연결 누락 검사",</a:t>
            </a:r>
          </a:p>
          <a:p xmlns:a="http://schemas.openxmlformats.org/drawingml/2006/main">
            <a:r>
              <a:t>        "evidence": "요구사항별 범위·출처·검수 연결 및 담당자 수정 기록"</a:t>
            </a:r>
          </a:p>
          <a:p xmlns:a="http://schemas.openxmlformats.org/drawingml/2006/main">
            <a:r>
              <a:t>      },</a:t>
            </a:r>
          </a:p>
          <a:p xmlns:a="http://schemas.openxmlformats.org/drawingml/2006/main">
            <a:r>
              <a:t>      "data": {</a:t>
            </a:r>
          </a:p>
          <a:p xmlns:a="http://schemas.openxmlformats.org/drawingml/2006/main">
            <a:r>
              <a:t>        "source": "요구·검수 자료",</a:t>
            </a:r>
          </a:p>
          <a:p xmlns:a="http://schemas.openxmlformats.org/drawingml/2006/main">
            <a:r>
              <a:t>        "prepare": "관련 지침·양식·기존 요구사항의 출처 관리",</a:t>
            </a:r>
          </a:p>
          <a:p xmlns:a="http://schemas.openxmlformats.org/drawingml/2006/main">
            <a:r>
              <a:t>        "output": "기존 문서",</a:t>
            </a:r>
          </a:p>
          <a:p xmlns:a="http://schemas.openxmlformats.org/drawingml/2006/main">
            <a:r>
              <a:t>        "refresh": "수정 이력과 요구사항·검수 연결 누락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"AX25",</a:t>
            </a:r>
          </a:p>
          <a:p xmlns:a="http://schemas.openxmlformats.org/drawingml/2006/main">
            <a:r>
              <a:t>    "success": [</a:t>
            </a:r>
          </a:p>
          <a:p xmlns:a="http://schemas.openxmlformats.org/drawingml/2006/main">
            <a:r>
              <a:t>      "RFP 목차·키워드의 구조화",</a:t>
            </a:r>
          </a:p>
          <a:p xmlns:a="http://schemas.openxmlformats.org/drawingml/2006/main">
            <a:r>
              <a:t>      "사용자 검증을 통한 초안 구성"</a:t>
            </a:r>
          </a:p>
          <a:p xmlns:a="http://schemas.openxmlformats.org/drawingml/2006/main">
            <a:r>
              <a:t>    ],</a:t>
            </a:r>
          </a:p>
          <a:p xmlns:a="http://schemas.openxmlformats.org/drawingml/2006/main">
            <a:r>
              <a:t>    "risks": [</a:t>
            </a:r>
          </a:p>
          <a:p xmlns:a="http://schemas.openxmlformats.org/drawingml/2006/main">
            <a:r>
              <a:t>      "과거 과업의 무비판적 재사용",</a:t>
            </a:r>
          </a:p>
          <a:p xmlns:a="http://schemas.openxmlformats.org/drawingml/2006/main">
            <a:r>
              <a:t>      "필수 요구·검수 항목 누락"</a:t>
            </a:r>
          </a:p>
          <a:p xmlns:a="http://schemas.openxmlformats.org/drawingml/2006/main">
            <a:r>
              <a:t>    ],</a:t>
            </a:r>
          </a:p>
          <a:p xmlns:a="http://schemas.openxmlformats.org/drawingml/2006/main">
            <a:r>
              <a:t>    "architecture": [</a:t>
            </a:r>
          </a:p>
          <a:p xmlns:a="http://schemas.openxmlformats.org/drawingml/2006/main">
            <a:r>
              <a:t>      "기존 RFP·수요",</a:t>
            </a:r>
          </a:p>
          <a:p xmlns:a="http://schemas.openxmlformats.org/drawingml/2006/main">
            <a:r>
              <a:t>      "목차·키워드 분석",</a:t>
            </a:r>
          </a:p>
          <a:p xmlns:a="http://schemas.openxmlformats.org/drawingml/2006/main">
            <a:r>
              <a:t>      "요구·검수 자료",</a:t>
            </a:r>
          </a:p>
          <a:p xmlns:a="http://schemas.openxmlformats.org/drawingml/2006/main">
            <a:r>
              <a:t>      "발주 담당자"</a:t>
            </a:r>
          </a:p>
          <a:p xmlns:a="http://schemas.openxmlformats.org/drawingml/2006/main">
            <a:r>
              <a:t>    ],</a:t>
            </a:r>
          </a:p>
          <a:p xmlns:a="http://schemas.openxmlformats.org/drawingml/2006/main">
            <a:r>
              <a:t>    "transfers": [</a:t>
            </a:r>
          </a:p>
          <a:p xmlns:a="http://schemas.openxmlformats.org/drawingml/2006/main">
            <a:r>
              <a:t>      "기존 문서",</a:t>
            </a:r>
          </a:p>
          <a:p xmlns:a="http://schemas.openxmlformats.org/drawingml/2006/main">
            <a:r>
              <a:t>      "요구 후보",</a:t>
            </a:r>
          </a:p>
          <a:p xmlns:a="http://schemas.openxmlformats.org/drawingml/2006/main">
            <a:r>
              <a:t>      "검증된 목차",</a:t>
            </a:r>
          </a:p>
          <a:p xmlns:a="http://schemas.openxmlformats.org/drawingml/2006/main">
            <a:r>
              <a:t>      "RFP 초안"</a:t>
            </a:r>
          </a:p>
          <a:p xmlns:a="http://schemas.openxmlformats.org/drawingml/2006/main">
            <a:r>
              <a:t>    ],</a:t>
            </a:r>
          </a:p>
          <a:p xmlns:a="http://schemas.openxmlformats.org/drawingml/2006/main">
            <a:r>
              <a:t>    "control": "사업 범위·기존 의무·검수 연결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조달청 e-제안요청 도움 · 공공AI 사례집 218–219쪽 https://bigdata.dongjak.go.kr/board/viewArticle?articleNo=954&amp;boardId=4</a:t>
            </a:r>
          </a:p>
          <a:p xmlns:a="http://schemas.openxmlformats.org/drawingml/2006/main">
            <a:r>
              <a:t>홈페이지 https://heen1987-ops.github.io/TS-business-Plan-001/index.html?view=casebook&amp;case=AX25</a:t>
            </a:r>
          </a:p>
          <a:p xmlns:a="http://schemas.openxmlformats.org/drawingml/2006/main">
            <a:r>
              <a:t>한계: 작성 지원 범위 · 요구사항·예산의 자동 승인과 구분</a:t>
            </a:r>
          </a:p>
          <a:p xmlns:a="http://schemas.openxmlformats.org/drawingml/2006/main">
            <a:r>
              <a:t>실패 위험: 과거 과업의 무비판적 재사용 / 필수 요구·검수 항목 누락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"AX25",</a:t>
            </a:r>
          </a:p>
          <a:p xmlns:a="http://schemas.openxmlformats.org/drawingml/2006/main">
            <a:r>
              <a:t>    "title": "조달청 e-제안요청 도움",</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"RFP 초안 작성 지원",</a:t>
            </a:r>
          </a:p>
          <a:p xmlns:a="http://schemas.openxmlformats.org/drawingml/2006/main">
            <a:r>
              <a:t>    "period": "2023 PoC / 2024 고도화",</a:t>
            </a:r>
          </a:p>
          <a:p xmlns:a="http://schemas.openxmlformats.org/drawingml/2006/main">
            <a:r>
              <a:t>    "sources": [</a:t>
            </a:r>
          </a:p>
          <a:p xmlns:a="http://schemas.openxmlformats.org/drawingml/2006/main">
            <a:r>
              <a:t>      "S-AX25"</a:t>
            </a:r>
          </a:p>
          <a:p xmlns:a="http://schemas.openxmlformats.org/drawingml/2006/main">
            <a:r>
              <a:t>    ],</a:t>
            </a:r>
          </a:p>
          <a:p xmlns:a="http://schemas.openxmlformats.org/drawingml/2006/main">
            <a:r>
              <a:t>    "keywords": [</a:t>
            </a:r>
          </a:p>
          <a:p xmlns:a="http://schemas.openxmlformats.org/drawingml/2006/main">
            <a:r>
              <a:t>      "RFP 초안 작성 지원"</a:t>
            </a:r>
          </a:p>
          <a:p xmlns:a="http://schemas.openxmlformats.org/drawingml/2006/main">
            <a:r>
              <a:t>    ],</a:t>
            </a:r>
          </a:p>
          <a:p xmlns:a="http://schemas.openxmlformats.org/drawingml/2006/main">
            <a:r>
              <a:t>    "fact": "제안요청서 목차별 초안 생성과 키워드 추출·사용자 검증을 결합한 실증 고도화",</a:t>
            </a:r>
          </a:p>
          <a:p xmlns:a="http://schemas.openxmlformats.org/drawingml/2006/main">
            <a:r>
              <a:t>    "limit": "작성 지원 범위 · 요구사항·예산의 자동 승인과 구분",</a:t>
            </a:r>
          </a:p>
          <a:p xmlns:a="http://schemas.openxmlformats.org/drawingml/2006/main">
            <a:r>
              <a:t>    "flow": [</a:t>
            </a:r>
          </a:p>
          <a:p xmlns:a="http://schemas.openxmlformats.org/drawingml/2006/main">
            <a:r>
              <a:t>      "기존 RFP",</a:t>
            </a:r>
          </a:p>
          <a:p xmlns:a="http://schemas.openxmlformats.org/drawingml/2006/main">
            <a:r>
              <a:t>      "목차·키워드 추출",</a:t>
            </a:r>
          </a:p>
          <a:p xmlns:a="http://schemas.openxmlformats.org/drawingml/2006/main">
            <a:r>
              <a:t>      "담당자 검증",</a:t>
            </a:r>
          </a:p>
          <a:p xmlns:a="http://schemas.openxmlformats.org/drawingml/2006/main">
            <a:r>
              <a:t>      "초안 구성"</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"추출 근거 검증을 초안 작성 앞단에 배치",</a:t>
            </a:r>
          </a:p>
          <a:p xmlns:a="http://schemas.openxmlformats.org/drawingml/2006/main">
            <a:r>
              <a:t>    "local": "TS 고도화의 재사용·추가 개발·검수 추적 지원",</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"요구ID·원문·산출물·검수의 누락 검사",</a:t>
            </a:r>
          </a:p>
          <a:p xmlns:a="http://schemas.openxmlformats.org/drawingml/2006/main">
            <a:r>
              <a:t>    "test": "누락·중복·상충 요구 및 근거 없는 성능 목표 탐지",</a:t>
            </a:r>
          </a:p>
          <a:p xmlns:a="http://schemas.openxmlformats.org/drawingml/2006/main">
            <a:r>
              <a:t>    "metric": "작성·보완 시간 / 추적 누락률",</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"AX25",</a:t>
            </a:r>
          </a:p>
          <a:p xmlns:a="http://schemas.openxmlformats.org/drawingml/2006/main">
            <a:r>
              <a:t>    "canonicalId": "AX25",</a:t>
            </a:r>
          </a:p>
          <a:p xmlns:a="http://schemas.openxmlformats.org/drawingml/2006/main">
            <a:r>
              <a:t>    "purpose": "공공 정보화사업 제안요청서 작성 지원",</a:t>
            </a:r>
          </a:p>
          <a:p xmlns:a="http://schemas.openxmlformats.org/drawingml/2006/main">
            <a:r>
              <a:t>    "users": "발주·사업관리 담당자",</a:t>
            </a:r>
          </a:p>
          <a:p xmlns:a="http://schemas.openxmlformats.org/drawingml/2006/main">
            <a:r>
              <a:t>    "scope": [</a:t>
            </a:r>
          </a:p>
          <a:p xmlns:a="http://schemas.openxmlformats.org/drawingml/2006/main">
            <a:r>
              <a:t>      "목차 구성",</a:t>
            </a:r>
          </a:p>
          <a:p xmlns:a="http://schemas.openxmlformats.org/drawingml/2006/main">
            <a:r>
              <a:t>      "요구 초안",</a:t>
            </a:r>
          </a:p>
          <a:p xmlns:a="http://schemas.openxmlformats.org/drawingml/2006/main">
            <a:r>
              <a:t>      "사용자 검증"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"기존 RFP·수요",</a:t>
            </a:r>
          </a:p>
          <a:p xmlns:a="http://schemas.openxmlformats.org/drawingml/2006/main">
            <a:r>
              <a:t>        "detail": "사업 목적·범위·기존 시스템 입력",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"목차 구성 / 요구 초안 / 사용자 검증",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"목차·키워드 분석",</a:t>
            </a:r>
          </a:p>
          <a:p xmlns:a="http://schemas.openxmlformats.org/drawingml/2006/main">
            <a:r>
              <a:t>        "detail": "키워드 추출과 목차별 요구사항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"발주 담당자",</a:t>
            </a:r>
          </a:p>
          <a:p xmlns:a="http://schemas.openxmlformats.org/drawingml/2006/main">
            <a:r>
              <a:t>        "detail": "담당자가 범위·중복·검수 가능성을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"요구·검수 자료",</a:t>
            </a:r>
          </a:p>
          <a:p xmlns:a="http://schemas.openxmlformats.org/drawingml/2006/main">
            <a:r>
              <a:t>        "detail": "관련 지침·양식·기존 요구사항의 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 이력과 요구사항·검수 연결 누락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"기존 RFP",</a:t>
            </a:r>
          </a:p>
          <a:p xmlns:a="http://schemas.openxmlformats.org/drawingml/2006/main">
            <a:r>
              <a:t>        "input": "사업 목적·범위·기존 시스템 입력",</a:t>
            </a:r>
          </a:p>
          <a:p xmlns:a="http://schemas.openxmlformats.org/drawingml/2006/main">
            <a:r>
              <a:t>        "process": "관련 지침·양식·기존 요구사항의 출처 관리",</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"title": "목차·키워드 추출",</a:t>
            </a:r>
          </a:p>
          <a:p xmlns:a="http://schemas.openxmlformats.org/drawingml/2006/main">
            <a:r>
              <a:t>        "input": "기존 문서",</a:t>
            </a:r>
          </a:p>
          <a:p xmlns:a="http://schemas.openxmlformats.org/drawingml/2006/main">
            <a:r>
              <a:t>        "process": "키워드 추출과 목차별 요구사항 초안 생성",</a:t>
            </a:r>
          </a:p>
          <a:p xmlns:a="http://schemas.openxmlformats.org/drawingml/2006/main">
            <a:r>
              <a:t>        "output": "요구 후보"</a:t>
            </a:r>
          </a:p>
          <a:p xmlns:a="http://schemas.openxmlformats.org/drawingml/2006/main">
            <a:r>
              <a:t>      },</a:t>
            </a:r>
          </a:p>
          <a:p xmlns:a="http://schemas.openxmlformats.org/drawingml/2006/main">
            <a:r>
              <a:t>      {</a:t>
            </a:r>
          </a:p>
          <a:p xmlns:a="http://schemas.openxmlformats.org/drawingml/2006/main">
            <a:r>
              <a:t>        "title": "담당자 검증",</a:t>
            </a:r>
          </a:p>
          <a:p xmlns:a="http://schemas.openxmlformats.org/drawingml/2006/main">
            <a:r>
              <a:t>        "input": "요구 후보",</a:t>
            </a:r>
          </a:p>
          <a:p xmlns:a="http://schemas.openxmlformats.org/drawingml/2006/main">
            <a:r>
              <a:t>        "process": "사업 범위·기존 의무·검수 연결 확인",</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"title": "초안 구성",</a:t>
            </a:r>
          </a:p>
          <a:p xmlns:a="http://schemas.openxmlformats.org/drawingml/2006/main">
            <a:r>
              <a:t>        "input": "검증된 목차",</a:t>
            </a:r>
          </a:p>
          <a:p xmlns:a="http://schemas.openxmlformats.org/drawingml/2006/main">
            <a:r>
              <a:t>        "process":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범위에 맞는 RFP 요구와 검수 초안 구성",</a:t>
            </a:r>
          </a:p>
          <a:p xmlns:a="http://schemas.openxmlformats.org/drawingml/2006/main">
            <a:r>
              <a:t>      "exception": "기존 계약 중복·수치 근거 부재·검수 불가능 요구",</a:t>
            </a:r>
          </a:p>
          <a:p xmlns:a="http://schemas.openxmlformats.org/drawingml/2006/main">
            <a:r>
              <a:t>      "evidence": "요구사항별 범위·출처·검수 연결 및 담당자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"발주·사업관리 담당자",</a:t>
            </a:r>
          </a:p>
          <a:p xmlns:a="http://schemas.openxmlformats.org/drawingml/2006/main">
            <a:r>
              <a:t>          "processing": "사업 목적·범위·기존 시스템 입력",</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"요구·검수 자료",</a:t>
            </a:r>
          </a:p>
          <a:p xmlns:a="http://schemas.openxmlformats.org/drawingml/2006/main">
            <a:r>
              <a:t>          "processing": "관련 지침·양식·기존 요구사항의 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"기존 문서",</a:t>
            </a:r>
          </a:p>
          <a:p xmlns:a="http://schemas.openxmlformats.org/drawingml/2006/main">
            <a:r>
              <a:t>          "processing": "키워드 추출과 목차별 요구사항 초안 생성",</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"검증된 목차",</a:t>
            </a:r>
          </a:p>
          <a:p xmlns:a="http://schemas.openxmlformats.org/drawingml/2006/main">
            <a:r>
              <a:t>          "processing":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 이력과 요구사항·검수 연결 누락 검사",</a:t>
            </a:r>
          </a:p>
          <a:p xmlns:a="http://schemas.openxmlformats.org/drawingml/2006/main">
            <a:r>
              <a:t>          "output":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 이력과 요구사항·검수 연결 누락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"S-AX25",</a:t>
            </a:r>
          </a:p>
          <a:p xmlns:a="http://schemas.openxmlformats.org/drawingml/2006/main">
            <a:r>
              <a:t>        "title": "조달청 e-제안요청 도움 · 공공AI 사례집 218–219쪽",</a:t>
            </a:r>
          </a:p>
          <a:p xmlns:a="http://schemas.openxmlformats.org/drawingml/2006/main">
            <a:r>
              <a:t>        "url": "https://bigdata.dongjak.go.kr/board/viewArticle?articleNo=954&amp;boardId=4",</a:t>
            </a:r>
          </a:p>
          <a:p xmlns:a="http://schemas.openxmlformats.org/drawingml/2006/main">
            <a:r>
              <a:t>        "published": "2023 PoC / 2024 고도화",</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"추출 근거 검증을 초안 작성 앞단에 배치",</a:t>
            </a:r>
          </a:p>
          <a:p xmlns:a="http://schemas.openxmlformats.org/drawingml/2006/main">
            <a:r>
              <a:t>    "local": "TS 고도화의 재사용·추가 개발·검수 추적 지원",</a:t>
            </a:r>
          </a:p>
          <a:p xmlns:a="http://schemas.openxmlformats.org/drawingml/2006/main">
            <a:r>
              <a:t>    "sourceDetail": null,</a:t>
            </a:r>
          </a:p>
          <a:p xmlns:a="http://schemas.openxmlformats.org/drawingml/2006/main">
            <a:r>
              <a:t>    "narrative": [</a:t>
            </a:r>
          </a:p>
          <a:p xmlns:a="http://schemas.openxmlformats.org/drawingml/2006/main">
            <a:r>
              <a:t>      "기존 RFP와 사업 수요를 분석해 목차·키워드·요구사항 초안을 만드는 지원 사례. 과거 문서를 재활용하면서 신규 범위와 기존 의무의 중복을 피하는 작업이 핵심.",</a:t>
            </a:r>
          </a:p>
          <a:p xmlns:a="http://schemas.openxmlformats.org/drawingml/2006/main">
            <a:r>
              <a:t>      "사업 목적·현재 시스템·추가 개발 범위를 입력하고 목차별 요구 후보를 구성하는 재구성. 담당자가 출처·누락·중복·검수 가능성을 확인한 뒤 요구 ID와 시험 항목을 연결.",</a:t>
            </a:r>
          </a:p>
          <a:p xmlns:a="http://schemas.openxmlformats.org/drawingml/2006/main">
            <a:r>
              <a:t>      "CCK 제안·사업관리 스킬에서는 문서 생성보다 근거와 요구·검수의 추적을 공통 기능으로 활용. 기존 과업 복사, 빈 검수기준, 법령 판본 혼용을 포함한 검토 시나리오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"RFP 작성 요청",</a:t>
            </a:r>
          </a:p>
          <a:p xmlns:a="http://schemas.openxmlformats.org/drawingml/2006/main">
            <a:r>
              <a:t>          "layer": "이용 접점",</a:t>
            </a:r>
          </a:p>
          <a:p xmlns:a="http://schemas.openxmlformats.org/drawingml/2006/main">
            <a:r>
              <a:t>          "detail": "발주·사업관리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"목적·범위·기존",</a:t>
            </a:r>
          </a:p>
          <a:p xmlns:a="http://schemas.openxmlformats.org/drawingml/2006/main">
            <a:r>
              <a:t>          "layer": "업무 문맥",</a:t>
            </a:r>
          </a:p>
          <a:p xmlns:a="http://schemas.openxmlformats.org/drawingml/2006/main">
            <a:r>
              <a:t>          "detail": "사업 목적·범위·기존 시스템 입력",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"지침·요구 조회",</a:t>
            </a:r>
          </a:p>
          <a:p xmlns:a="http://schemas.openxmlformats.org/drawingml/2006/main">
            <a:r>
              <a:t>          "layer": "자료 조회",</a:t>
            </a:r>
          </a:p>
          <a:p xmlns:a="http://schemas.openxmlformats.org/drawingml/2006/main">
            <a:r>
              <a:t>          "detail": "기존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"목차·초안 생성",</a:t>
            </a:r>
          </a:p>
          <a:p xmlns:a="http://schemas.openxmlformats.org/drawingml/2006/main">
            <a:r>
              <a:t>          "layer": "핵심 처리",</a:t>
            </a:r>
          </a:p>
          <a:p xmlns:a="http://schemas.openxmlformats.org/drawingml/2006/main">
            <a:r>
              <a:t>          "detail": "키워드 추출과 목차별 요구사항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"중복·누락 대조",</a:t>
            </a:r>
          </a:p>
          <a:p xmlns:a="http://schemas.openxmlformats.org/drawingml/2006/main">
            <a:r>
              <a:t>          "layer": "결과 검증",</a:t>
            </a:r>
          </a:p>
          <a:p xmlns:a="http://schemas.openxmlformats.org/drawingml/2006/main">
            <a:r>
              <a:t>          "detail": "사업 범위·기존 의무·검수 연결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"발주 담당 검토",</a:t>
            </a:r>
          </a:p>
          <a:p xmlns:a="http://schemas.openxmlformats.org/drawingml/2006/main">
            <a:r>
              <a:t>          "layer": "사람 확인",</a:t>
            </a:r>
          </a:p>
          <a:p xmlns:a="http://schemas.openxmlformats.org/drawingml/2006/main">
            <a:r>
              <a:t>          "detail": "사업 범위에 맞는 RFP 요구와 검수 초안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"요구·검수 명세",</a:t>
            </a:r>
          </a:p>
          <a:p xmlns:a="http://schemas.openxmlformats.org/drawingml/2006/main">
            <a:r>
              <a:t>          "layer": "업무 연결",</a:t>
            </a:r>
          </a:p>
          <a:p xmlns:a="http://schemas.openxmlformats.org/drawingml/2006/main">
            <a:r>
              <a:t>          "detail": "담당자가 범위·중복·검수 가능성을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추적",</a:t>
            </a:r>
          </a:p>
          <a:p xmlns:a="http://schemas.openxmlformats.org/drawingml/2006/main">
            <a:r>
              <a:t>          "layer": "운영 관측",</a:t>
            </a:r>
          </a:p>
          <a:p xmlns:a="http://schemas.openxmlformats.org/drawingml/2006/main">
            <a:r>
              <a:t>          "detail": "수정 이력과 요구사항·검수 연결 누락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"기존 RFP·수요",</a:t>
            </a:r>
          </a:p>
          <a:p xmlns:a="http://schemas.openxmlformats.org/drawingml/2006/main">
            <a:r>
              <a:t>          "layer": "데이터 원천",</a:t>
            </a:r>
          </a:p>
          <a:p xmlns:a="http://schemas.openxmlformats.org/drawingml/2006/main">
            <a:r>
              <a:t>          "detail": "요구·검수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"목차·ID 구조화",</a:t>
            </a:r>
          </a:p>
          <a:p xmlns:a="http://schemas.openxmlformats.org/drawingml/2006/main">
            <a:r>
              <a:t>          "layer": "준비·갱신",</a:t>
            </a:r>
          </a:p>
          <a:p xmlns:a="http://schemas.openxmlformats.org/drawingml/2006/main">
            <a:r>
              <a:t>          "detail": "관련 지침·양식·기존 요구사항의 출처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"요구·검수 원장",</a:t>
            </a:r>
          </a:p>
          <a:p xmlns:a="http://schemas.openxmlformats.org/drawingml/2006/main">
            <a:r>
              <a:t>          "layer": "상태·지식 저장",</a:t>
            </a:r>
          </a:p>
          <a:p xmlns:a="http://schemas.openxmlformats.org/drawingml/2006/main">
            <a:r>
              <a:t>          "detail": "요구사항별 범위·출처·검수 연결 및 담당자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"기존 의무·범위",</a:t>
            </a:r>
          </a:p>
          <a:p xmlns:a="http://schemas.openxmlformats.org/drawingml/2006/main">
            <a:r>
              <a:t>          "layer": "권한·정책",</a:t>
            </a:r>
          </a:p>
          <a:p xmlns:a="http://schemas.openxmlformats.org/drawingml/2006/main">
            <a:r>
              <a:t>          "detail": "기존 계약 중복·수치 근거 부재·검수 불가능 요구",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"기존 RFP → 목차·키워드 추출 → 담당자 검증 → 초안 구성"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"요구·검수 자료",</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"요구 후보",</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"RFP 초안",</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정보화사업 제안요청서 작성 지원 / 목차 구성·요구 초안·사용자 검증",</a:t>
            </a:r>
          </a:p>
          <a:p xmlns:a="http://schemas.openxmlformats.org/drawingml/2006/main">
            <a:r>
              <a:t>        "extension": "TS 고도화의 재사용·추가 개발·검수 추적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"기존 계약 중복·수치 근거 부재·검수 불가능 요구",</a:t>
            </a:r>
          </a:p>
          <a:p xmlns:a="http://schemas.openxmlformats.org/drawingml/2006/main">
            <a:r>
              <a:t>        "hold": "사업 범위·기존 의무·검수 연결 확인",</a:t>
            </a:r>
          </a:p>
          <a:p xmlns:a="http://schemas.openxmlformats.org/drawingml/2006/main">
            <a:r>
              <a:t>        "recovery": "수정 이력과 요구사항·검수 연결 누락 검사",</a:t>
            </a:r>
          </a:p>
          <a:p xmlns:a="http://schemas.openxmlformats.org/drawingml/2006/main">
            <a:r>
              <a:t>        "evidence": "요구사항별 범위·출처·검수 연결 및 담당자 수정 기록"</a:t>
            </a:r>
          </a:p>
          <a:p xmlns:a="http://schemas.openxmlformats.org/drawingml/2006/main">
            <a:r>
              <a:t>      },</a:t>
            </a:r>
          </a:p>
          <a:p xmlns:a="http://schemas.openxmlformats.org/drawingml/2006/main">
            <a:r>
              <a:t>      "data": {</a:t>
            </a:r>
          </a:p>
          <a:p xmlns:a="http://schemas.openxmlformats.org/drawingml/2006/main">
            <a:r>
              <a:t>        "source": "요구·검수 자료",</a:t>
            </a:r>
          </a:p>
          <a:p xmlns:a="http://schemas.openxmlformats.org/drawingml/2006/main">
            <a:r>
              <a:t>        "prepare": "관련 지침·양식·기존 요구사항의 출처 관리",</a:t>
            </a:r>
          </a:p>
          <a:p xmlns:a="http://schemas.openxmlformats.org/drawingml/2006/main">
            <a:r>
              <a:t>        "output": "기존 문서",</a:t>
            </a:r>
          </a:p>
          <a:p xmlns:a="http://schemas.openxmlformats.org/drawingml/2006/main">
            <a:r>
              <a:t>        "refresh": "수정 이력과 요구사항·검수 연결 누락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"AX25",</a:t>
            </a:r>
          </a:p>
          <a:p xmlns:a="http://schemas.openxmlformats.org/drawingml/2006/main">
            <a:r>
              <a:t>    "success": [</a:t>
            </a:r>
          </a:p>
          <a:p xmlns:a="http://schemas.openxmlformats.org/drawingml/2006/main">
            <a:r>
              <a:t>      "RFP 목차·키워드의 구조화",</a:t>
            </a:r>
          </a:p>
          <a:p xmlns:a="http://schemas.openxmlformats.org/drawingml/2006/main">
            <a:r>
              <a:t>      "사용자 검증을 통한 초안 구성"</a:t>
            </a:r>
          </a:p>
          <a:p xmlns:a="http://schemas.openxmlformats.org/drawingml/2006/main">
            <a:r>
              <a:t>    ],</a:t>
            </a:r>
          </a:p>
          <a:p xmlns:a="http://schemas.openxmlformats.org/drawingml/2006/main">
            <a:r>
              <a:t>    "risks": [</a:t>
            </a:r>
          </a:p>
          <a:p xmlns:a="http://schemas.openxmlformats.org/drawingml/2006/main">
            <a:r>
              <a:t>      "과거 과업의 무비판적 재사용",</a:t>
            </a:r>
          </a:p>
          <a:p xmlns:a="http://schemas.openxmlformats.org/drawingml/2006/main">
            <a:r>
              <a:t>      "필수 요구·검수 항목 누락"</a:t>
            </a:r>
          </a:p>
          <a:p xmlns:a="http://schemas.openxmlformats.org/drawingml/2006/main">
            <a:r>
              <a:t>    ],</a:t>
            </a:r>
          </a:p>
          <a:p xmlns:a="http://schemas.openxmlformats.org/drawingml/2006/main">
            <a:r>
              <a:t>    "architecture": [</a:t>
            </a:r>
          </a:p>
          <a:p xmlns:a="http://schemas.openxmlformats.org/drawingml/2006/main">
            <a:r>
              <a:t>      "기존 RFP·수요",</a:t>
            </a:r>
          </a:p>
          <a:p xmlns:a="http://schemas.openxmlformats.org/drawingml/2006/main">
            <a:r>
              <a:t>      "목차·키워드 분석",</a:t>
            </a:r>
          </a:p>
          <a:p xmlns:a="http://schemas.openxmlformats.org/drawingml/2006/main">
            <a:r>
              <a:t>      "요구·검수 자료",</a:t>
            </a:r>
          </a:p>
          <a:p xmlns:a="http://schemas.openxmlformats.org/drawingml/2006/main">
            <a:r>
              <a:t>      "발주 담당자"</a:t>
            </a:r>
          </a:p>
          <a:p xmlns:a="http://schemas.openxmlformats.org/drawingml/2006/main">
            <a:r>
              <a:t>    ],</a:t>
            </a:r>
          </a:p>
          <a:p xmlns:a="http://schemas.openxmlformats.org/drawingml/2006/main">
            <a:r>
              <a:t>    "transfers": [</a:t>
            </a:r>
          </a:p>
          <a:p xmlns:a="http://schemas.openxmlformats.org/drawingml/2006/main">
            <a:r>
              <a:t>      "기존 문서",</a:t>
            </a:r>
          </a:p>
          <a:p xmlns:a="http://schemas.openxmlformats.org/drawingml/2006/main">
            <a:r>
              <a:t>      "요구 후보",</a:t>
            </a:r>
          </a:p>
          <a:p xmlns:a="http://schemas.openxmlformats.org/drawingml/2006/main">
            <a:r>
              <a:t>      "검증된 목차",</a:t>
            </a:r>
          </a:p>
          <a:p xmlns:a="http://schemas.openxmlformats.org/drawingml/2006/main">
            <a:r>
              <a:t>      "RFP 초안"</a:t>
            </a:r>
          </a:p>
          <a:p xmlns:a="http://schemas.openxmlformats.org/drawingml/2006/main">
            <a:r>
              <a:t>    ],</a:t>
            </a:r>
          </a:p>
          <a:p xmlns:a="http://schemas.openxmlformats.org/drawingml/2006/main">
            <a:r>
              <a:t>    "control": "사업 범위·기존 의무·검수 연결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조달청 e-제안요청 도움 · 공공AI 사례집 218–219쪽 https://bigdata.dongjak.go.kr/board/viewArticle?articleNo=954&amp;boardId=4</a:t>
            </a:r>
          </a:p>
          <a:p xmlns:a="http://schemas.openxmlformats.org/drawingml/2006/main">
            <a:r>
              <a:t>홈페이지 https://heen1987-ops.github.io/TS-business-Plan-001/index.html?view=casebook&amp;case=AX25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"AX25",</a:t>
            </a:r>
          </a:p>
          <a:p xmlns:a="http://schemas.openxmlformats.org/drawingml/2006/main">
            <a:r>
              <a:t>    "title": "조달청 e-제안요청 도움",</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"RFP 초안 작성 지원",</a:t>
            </a:r>
          </a:p>
          <a:p xmlns:a="http://schemas.openxmlformats.org/drawingml/2006/main">
            <a:r>
              <a:t>    "period": "2023 PoC / 2024 고도화",</a:t>
            </a:r>
          </a:p>
          <a:p xmlns:a="http://schemas.openxmlformats.org/drawingml/2006/main">
            <a:r>
              <a:t>    "sources": [</a:t>
            </a:r>
          </a:p>
          <a:p xmlns:a="http://schemas.openxmlformats.org/drawingml/2006/main">
            <a:r>
              <a:t>      "S-AX25"</a:t>
            </a:r>
          </a:p>
          <a:p xmlns:a="http://schemas.openxmlformats.org/drawingml/2006/main">
            <a:r>
              <a:t>    ],</a:t>
            </a:r>
          </a:p>
          <a:p xmlns:a="http://schemas.openxmlformats.org/drawingml/2006/main">
            <a:r>
              <a:t>    "keywords": [</a:t>
            </a:r>
          </a:p>
          <a:p xmlns:a="http://schemas.openxmlformats.org/drawingml/2006/main">
            <a:r>
              <a:t>      "RFP 초안 작성 지원"</a:t>
            </a:r>
          </a:p>
          <a:p xmlns:a="http://schemas.openxmlformats.org/drawingml/2006/main">
            <a:r>
              <a:t>    ],</a:t>
            </a:r>
          </a:p>
          <a:p xmlns:a="http://schemas.openxmlformats.org/drawingml/2006/main">
            <a:r>
              <a:t>    "fact": "제안요청서 목차별 초안 생성과 키워드 추출·사용자 검증을 결합한 실증 고도화",</a:t>
            </a:r>
          </a:p>
          <a:p xmlns:a="http://schemas.openxmlformats.org/drawingml/2006/main">
            <a:r>
              <a:t>    "limit": "작성 지원 범위 · 요구사항·예산의 자동 승인과 구분",</a:t>
            </a:r>
          </a:p>
          <a:p xmlns:a="http://schemas.openxmlformats.org/drawingml/2006/main">
            <a:r>
              <a:t>    "flow": [</a:t>
            </a:r>
          </a:p>
          <a:p xmlns:a="http://schemas.openxmlformats.org/drawingml/2006/main">
            <a:r>
              <a:t>      "기존 RFP",</a:t>
            </a:r>
          </a:p>
          <a:p xmlns:a="http://schemas.openxmlformats.org/drawingml/2006/main">
            <a:r>
              <a:t>      "목차·키워드 추출",</a:t>
            </a:r>
          </a:p>
          <a:p xmlns:a="http://schemas.openxmlformats.org/drawingml/2006/main">
            <a:r>
              <a:t>      "담당자 검증",</a:t>
            </a:r>
          </a:p>
          <a:p xmlns:a="http://schemas.openxmlformats.org/drawingml/2006/main">
            <a:r>
              <a:t>      "초안 구성"</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"추출 근거 검증을 초안 작성 앞단에 배치",</a:t>
            </a:r>
          </a:p>
          <a:p xmlns:a="http://schemas.openxmlformats.org/drawingml/2006/main">
            <a:r>
              <a:t>    "local": "TS 고도화의 재사용·추가 개발·검수 추적 지원",</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"요구ID·원문·산출물·검수의 누락 검사",</a:t>
            </a:r>
          </a:p>
          <a:p xmlns:a="http://schemas.openxmlformats.org/drawingml/2006/main">
            <a:r>
              <a:t>    "test": "누락·중복·상충 요구 및 근거 없는 성능 목표 탐지",</a:t>
            </a:r>
          </a:p>
          <a:p xmlns:a="http://schemas.openxmlformats.org/drawingml/2006/main">
            <a:r>
              <a:t>    "metric": "작성·보완 시간 / 추적 누락률",</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"AX25",</a:t>
            </a:r>
          </a:p>
          <a:p xmlns:a="http://schemas.openxmlformats.org/drawingml/2006/main">
            <a:r>
              <a:t>    "canonicalId": "AX25",</a:t>
            </a:r>
          </a:p>
          <a:p xmlns:a="http://schemas.openxmlformats.org/drawingml/2006/main">
            <a:r>
              <a:t>    "purpose": "공공 정보화사업 제안요청서 작성 지원",</a:t>
            </a:r>
          </a:p>
          <a:p xmlns:a="http://schemas.openxmlformats.org/drawingml/2006/main">
            <a:r>
              <a:t>    "users": "발주·사업관리 담당자",</a:t>
            </a:r>
          </a:p>
          <a:p xmlns:a="http://schemas.openxmlformats.org/drawingml/2006/main">
            <a:r>
              <a:t>    "scope": [</a:t>
            </a:r>
          </a:p>
          <a:p xmlns:a="http://schemas.openxmlformats.org/drawingml/2006/main">
            <a:r>
              <a:t>      "목차 구성",</a:t>
            </a:r>
          </a:p>
          <a:p xmlns:a="http://schemas.openxmlformats.org/drawingml/2006/main">
            <a:r>
              <a:t>      "요구 초안",</a:t>
            </a:r>
          </a:p>
          <a:p xmlns:a="http://schemas.openxmlformats.org/drawingml/2006/main">
            <a:r>
              <a:t>      "사용자 검증"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"기존 RFP·수요",</a:t>
            </a:r>
          </a:p>
          <a:p xmlns:a="http://schemas.openxmlformats.org/drawingml/2006/main">
            <a:r>
              <a:t>        "detail": "사업 목적·범위·기존 시스템 입력",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"목차 구성 / 요구 초안 / 사용자 검증",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"목차·키워드 분석",</a:t>
            </a:r>
          </a:p>
          <a:p xmlns:a="http://schemas.openxmlformats.org/drawingml/2006/main">
            <a:r>
              <a:t>        "detail": "키워드 추출과 목차별 요구사항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"발주 담당자",</a:t>
            </a:r>
          </a:p>
          <a:p xmlns:a="http://schemas.openxmlformats.org/drawingml/2006/main">
            <a:r>
              <a:t>        "detail": "담당자가 범위·중복·검수 가능성을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"요구·검수 자료",</a:t>
            </a:r>
          </a:p>
          <a:p xmlns:a="http://schemas.openxmlformats.org/drawingml/2006/main">
            <a:r>
              <a:t>        "detail": "관련 지침·양식·기존 요구사항의 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 이력과 요구사항·검수 연결 누락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"기존 RFP",</a:t>
            </a:r>
          </a:p>
          <a:p xmlns:a="http://schemas.openxmlformats.org/drawingml/2006/main">
            <a:r>
              <a:t>        "input": "사업 목적·범위·기존 시스템 입력",</a:t>
            </a:r>
          </a:p>
          <a:p xmlns:a="http://schemas.openxmlformats.org/drawingml/2006/main">
            <a:r>
              <a:t>        "process": "관련 지침·양식·기존 요구사항의 출처 관리",</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"title": "목차·키워드 추출",</a:t>
            </a:r>
          </a:p>
          <a:p xmlns:a="http://schemas.openxmlformats.org/drawingml/2006/main">
            <a:r>
              <a:t>        "input": "기존 문서",</a:t>
            </a:r>
          </a:p>
          <a:p xmlns:a="http://schemas.openxmlformats.org/drawingml/2006/main">
            <a:r>
              <a:t>        "process": "키워드 추출과 목차별 요구사항 초안 생성",</a:t>
            </a:r>
          </a:p>
          <a:p xmlns:a="http://schemas.openxmlformats.org/drawingml/2006/main">
            <a:r>
              <a:t>        "output": "요구 후보"</a:t>
            </a:r>
          </a:p>
          <a:p xmlns:a="http://schemas.openxmlformats.org/drawingml/2006/main">
            <a:r>
              <a:t>      },</a:t>
            </a:r>
          </a:p>
          <a:p xmlns:a="http://schemas.openxmlformats.org/drawingml/2006/main">
            <a:r>
              <a:t>      {</a:t>
            </a:r>
          </a:p>
          <a:p xmlns:a="http://schemas.openxmlformats.org/drawingml/2006/main">
            <a:r>
              <a:t>        "title": "담당자 검증",</a:t>
            </a:r>
          </a:p>
          <a:p xmlns:a="http://schemas.openxmlformats.org/drawingml/2006/main">
            <a:r>
              <a:t>        "input": "요구 후보",</a:t>
            </a:r>
          </a:p>
          <a:p xmlns:a="http://schemas.openxmlformats.org/drawingml/2006/main">
            <a:r>
              <a:t>        "process": "사업 범위·기존 의무·검수 연결 확인",</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"title": "초안 구성",</a:t>
            </a:r>
          </a:p>
          <a:p xmlns:a="http://schemas.openxmlformats.org/drawingml/2006/main">
            <a:r>
              <a:t>        "input": "검증된 목차",</a:t>
            </a:r>
          </a:p>
          <a:p xmlns:a="http://schemas.openxmlformats.org/drawingml/2006/main">
            <a:r>
              <a:t>        "process":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범위에 맞는 RFP 요구와 검수 초안 구성",</a:t>
            </a:r>
          </a:p>
          <a:p xmlns:a="http://schemas.openxmlformats.org/drawingml/2006/main">
            <a:r>
              <a:t>      "exception": "기존 계약 중복·수치 근거 부재·검수 불가능 요구",</a:t>
            </a:r>
          </a:p>
          <a:p xmlns:a="http://schemas.openxmlformats.org/drawingml/2006/main">
            <a:r>
              <a:t>      "evidence": "요구사항별 범위·출처·검수 연결 및 담당자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"발주·사업관리 담당자",</a:t>
            </a:r>
          </a:p>
          <a:p xmlns:a="http://schemas.openxmlformats.org/drawingml/2006/main">
            <a:r>
              <a:t>          "processing": "사업 목적·범위·기존 시스템 입력",</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"요구·검수 자료",</a:t>
            </a:r>
          </a:p>
          <a:p xmlns:a="http://schemas.openxmlformats.org/drawingml/2006/main">
            <a:r>
              <a:t>          "processing": "관련 지침·양식·기존 요구사항의 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"기존 문서",</a:t>
            </a:r>
          </a:p>
          <a:p xmlns:a="http://schemas.openxmlformats.org/drawingml/2006/main">
            <a:r>
              <a:t>          "processing": "키워드 추출과 목차별 요구사항 초안 생성",</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"검증된 목차",</a:t>
            </a:r>
          </a:p>
          <a:p xmlns:a="http://schemas.openxmlformats.org/drawingml/2006/main">
            <a:r>
              <a:t>          "processing":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 이력과 요구사항·검수 연결 누락 검사",</a:t>
            </a:r>
          </a:p>
          <a:p xmlns:a="http://schemas.openxmlformats.org/drawingml/2006/main">
            <a:r>
              <a:t>          "output":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 이력과 요구사항·검수 연결 누락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"S-AX25",</a:t>
            </a:r>
          </a:p>
          <a:p xmlns:a="http://schemas.openxmlformats.org/drawingml/2006/main">
            <a:r>
              <a:t>        "title": "조달청 e-제안요청 도움 · 공공AI 사례집 218–219쪽",</a:t>
            </a:r>
          </a:p>
          <a:p xmlns:a="http://schemas.openxmlformats.org/drawingml/2006/main">
            <a:r>
              <a:t>        "url": "https://bigdata.dongjak.go.kr/board/viewArticle?articleNo=954&amp;boardId=4",</a:t>
            </a:r>
          </a:p>
          <a:p xmlns:a="http://schemas.openxmlformats.org/drawingml/2006/main">
            <a:r>
              <a:t>        "published": "2023 PoC / 2024 고도화",</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"추출 근거 검증을 초안 작성 앞단에 배치",</a:t>
            </a:r>
          </a:p>
          <a:p xmlns:a="http://schemas.openxmlformats.org/drawingml/2006/main">
            <a:r>
              <a:t>    "local": "TS 고도화의 재사용·추가 개발·검수 추적 지원",</a:t>
            </a:r>
          </a:p>
          <a:p xmlns:a="http://schemas.openxmlformats.org/drawingml/2006/main">
            <a:r>
              <a:t>    "sourceDetail": null,</a:t>
            </a:r>
          </a:p>
          <a:p xmlns:a="http://schemas.openxmlformats.org/drawingml/2006/main">
            <a:r>
              <a:t>    "narrative": [</a:t>
            </a:r>
          </a:p>
          <a:p xmlns:a="http://schemas.openxmlformats.org/drawingml/2006/main">
            <a:r>
              <a:t>      "기존 RFP와 사업 수요를 분석해 목차·키워드·요구사항 초안을 만드는 지원 사례. 과거 문서를 재활용하면서 신규 범위와 기존 의무의 중복을 피하는 작업이 핵심.",</a:t>
            </a:r>
          </a:p>
          <a:p xmlns:a="http://schemas.openxmlformats.org/drawingml/2006/main">
            <a:r>
              <a:t>      "사업 목적·현재 시스템·추가 개발 범위를 입력하고 목차별 요구 후보를 구성하는 재구성. 담당자가 출처·누락·중복·검수 가능성을 확인한 뒤 요구 ID와 시험 항목을 연결.",</a:t>
            </a:r>
          </a:p>
          <a:p xmlns:a="http://schemas.openxmlformats.org/drawingml/2006/main">
            <a:r>
              <a:t>      "CCK 제안·사업관리 스킬에서는 문서 생성보다 근거와 요구·검수의 추적을 공통 기능으로 활용. 기존 과업 복사, 빈 검수기준, 법령 판본 혼용을 포함한 검토 시나리오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"RFP 작성 요청",</a:t>
            </a:r>
          </a:p>
          <a:p xmlns:a="http://schemas.openxmlformats.org/drawingml/2006/main">
            <a:r>
              <a:t>          "layer": "이용 접점",</a:t>
            </a:r>
          </a:p>
          <a:p xmlns:a="http://schemas.openxmlformats.org/drawingml/2006/main">
            <a:r>
              <a:t>          "detail": "발주·사업관리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"목적·범위·기존",</a:t>
            </a:r>
          </a:p>
          <a:p xmlns:a="http://schemas.openxmlformats.org/drawingml/2006/main">
            <a:r>
              <a:t>          "layer": "업무 문맥",</a:t>
            </a:r>
          </a:p>
          <a:p xmlns:a="http://schemas.openxmlformats.org/drawingml/2006/main">
            <a:r>
              <a:t>          "detail": "사업 목적·범위·기존 시스템 입력",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"지침·요구 조회",</a:t>
            </a:r>
          </a:p>
          <a:p xmlns:a="http://schemas.openxmlformats.org/drawingml/2006/main">
            <a:r>
              <a:t>          "layer": "자료 조회",</a:t>
            </a:r>
          </a:p>
          <a:p xmlns:a="http://schemas.openxmlformats.org/drawingml/2006/main">
            <a:r>
              <a:t>          "detail": "기존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"목차·초안 생성",</a:t>
            </a:r>
          </a:p>
          <a:p xmlns:a="http://schemas.openxmlformats.org/drawingml/2006/main">
            <a:r>
              <a:t>          "layer": "핵심 처리",</a:t>
            </a:r>
          </a:p>
          <a:p xmlns:a="http://schemas.openxmlformats.org/drawingml/2006/main">
            <a:r>
              <a:t>          "detail": "키워드 추출과 목차별 요구사항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"중복·누락 대조",</a:t>
            </a:r>
          </a:p>
          <a:p xmlns:a="http://schemas.openxmlformats.org/drawingml/2006/main">
            <a:r>
              <a:t>          "layer": "결과 검증",</a:t>
            </a:r>
          </a:p>
          <a:p xmlns:a="http://schemas.openxmlformats.org/drawingml/2006/main">
            <a:r>
              <a:t>          "detail": "사업 범위·기존 의무·검수 연결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"발주 담당 검토",</a:t>
            </a:r>
          </a:p>
          <a:p xmlns:a="http://schemas.openxmlformats.org/drawingml/2006/main">
            <a:r>
              <a:t>          "layer": "사람 확인",</a:t>
            </a:r>
          </a:p>
          <a:p xmlns:a="http://schemas.openxmlformats.org/drawingml/2006/main">
            <a:r>
              <a:t>          "detail": "사업 범위에 맞는 RFP 요구와 검수 초안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"요구·검수 명세",</a:t>
            </a:r>
          </a:p>
          <a:p xmlns:a="http://schemas.openxmlformats.org/drawingml/2006/main">
            <a:r>
              <a:t>          "layer": "업무 연결",</a:t>
            </a:r>
          </a:p>
          <a:p xmlns:a="http://schemas.openxmlformats.org/drawingml/2006/main">
            <a:r>
              <a:t>          "detail": "담당자가 범위·중복·검수 가능성을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추적",</a:t>
            </a:r>
          </a:p>
          <a:p xmlns:a="http://schemas.openxmlformats.org/drawingml/2006/main">
            <a:r>
              <a:t>          "layer": "운영 관측",</a:t>
            </a:r>
          </a:p>
          <a:p xmlns:a="http://schemas.openxmlformats.org/drawingml/2006/main">
            <a:r>
              <a:t>          "detail": "수정 이력과 요구사항·검수 연결 누락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"기존 RFP·수요",</a:t>
            </a:r>
          </a:p>
          <a:p xmlns:a="http://schemas.openxmlformats.org/drawingml/2006/main">
            <a:r>
              <a:t>          "layer": "데이터 원천",</a:t>
            </a:r>
          </a:p>
          <a:p xmlns:a="http://schemas.openxmlformats.org/drawingml/2006/main">
            <a:r>
              <a:t>          "detail": "요구·검수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"목차·ID 구조화",</a:t>
            </a:r>
          </a:p>
          <a:p xmlns:a="http://schemas.openxmlformats.org/drawingml/2006/main">
            <a:r>
              <a:t>          "layer": "준비·갱신",</a:t>
            </a:r>
          </a:p>
          <a:p xmlns:a="http://schemas.openxmlformats.org/drawingml/2006/main">
            <a:r>
              <a:t>          "detail": "관련 지침·양식·기존 요구사항의 출처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"요구·검수 원장",</a:t>
            </a:r>
          </a:p>
          <a:p xmlns:a="http://schemas.openxmlformats.org/drawingml/2006/main">
            <a:r>
              <a:t>          "layer": "상태·지식 저장",</a:t>
            </a:r>
          </a:p>
          <a:p xmlns:a="http://schemas.openxmlformats.org/drawingml/2006/main">
            <a:r>
              <a:t>          "detail": "요구사항별 범위·출처·검수 연결 및 담당자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"기존 의무·범위",</a:t>
            </a:r>
          </a:p>
          <a:p xmlns:a="http://schemas.openxmlformats.org/drawingml/2006/main">
            <a:r>
              <a:t>          "layer": "권한·정책",</a:t>
            </a:r>
          </a:p>
          <a:p xmlns:a="http://schemas.openxmlformats.org/drawingml/2006/main">
            <a:r>
              <a:t>          "detail": "기존 계약 중복·수치 근거 부재·검수 불가능 요구",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"기존 RFP → 목차·키워드 추출 → 담당자 검증 → 초안 구성"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"요구·검수 자료",</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"요구 후보",</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"RFP 초안",</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정보화사업 제안요청서 작성 지원 / 목차 구성·요구 초안·사용자 검증",</a:t>
            </a:r>
          </a:p>
          <a:p xmlns:a="http://schemas.openxmlformats.org/drawingml/2006/main">
            <a:r>
              <a:t>        "extension": "TS 고도화의 재사용·추가 개발·검수 추적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"기존 계약 중복·수치 근거 부재·검수 불가능 요구",</a:t>
            </a:r>
          </a:p>
          <a:p xmlns:a="http://schemas.openxmlformats.org/drawingml/2006/main">
            <a:r>
              <a:t>        "hold": "사업 범위·기존 의무·검수 연결 확인",</a:t>
            </a:r>
          </a:p>
          <a:p xmlns:a="http://schemas.openxmlformats.org/drawingml/2006/main">
            <a:r>
              <a:t>        "recovery": "수정 이력과 요구사항·검수 연결 누락 검사",</a:t>
            </a:r>
          </a:p>
          <a:p xmlns:a="http://schemas.openxmlformats.org/drawingml/2006/main">
            <a:r>
              <a:t>        "evidence": "요구사항별 범위·출처·검수 연결 및 담당자 수정 기록"</a:t>
            </a:r>
          </a:p>
          <a:p xmlns:a="http://schemas.openxmlformats.org/drawingml/2006/main">
            <a:r>
              <a:t>      },</a:t>
            </a:r>
          </a:p>
          <a:p xmlns:a="http://schemas.openxmlformats.org/drawingml/2006/main">
            <a:r>
              <a:t>      "data": {</a:t>
            </a:r>
          </a:p>
          <a:p xmlns:a="http://schemas.openxmlformats.org/drawingml/2006/main">
            <a:r>
              <a:t>        "source": "요구·검수 자료",</a:t>
            </a:r>
          </a:p>
          <a:p xmlns:a="http://schemas.openxmlformats.org/drawingml/2006/main">
            <a:r>
              <a:t>        "prepare": "관련 지침·양식·기존 요구사항의 출처 관리",</a:t>
            </a:r>
          </a:p>
          <a:p xmlns:a="http://schemas.openxmlformats.org/drawingml/2006/main">
            <a:r>
              <a:t>        "output": "기존 문서",</a:t>
            </a:r>
          </a:p>
          <a:p xmlns:a="http://schemas.openxmlformats.org/drawingml/2006/main">
            <a:r>
              <a:t>        "refresh": "수정 이력과 요구사항·검수 연결 누락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"AX25",</a:t>
            </a:r>
          </a:p>
          <a:p xmlns:a="http://schemas.openxmlformats.org/drawingml/2006/main">
            <a:r>
              <a:t>    "success": [</a:t>
            </a:r>
          </a:p>
          <a:p xmlns:a="http://schemas.openxmlformats.org/drawingml/2006/main">
            <a:r>
              <a:t>      "RFP 목차·키워드의 구조화",</a:t>
            </a:r>
          </a:p>
          <a:p xmlns:a="http://schemas.openxmlformats.org/drawingml/2006/main">
            <a:r>
              <a:t>      "사용자 검증을 통한 초안 구성"</a:t>
            </a:r>
          </a:p>
          <a:p xmlns:a="http://schemas.openxmlformats.org/drawingml/2006/main">
            <a:r>
              <a:t>    ],</a:t>
            </a:r>
          </a:p>
          <a:p xmlns:a="http://schemas.openxmlformats.org/drawingml/2006/main">
            <a:r>
              <a:t>    "risks": [</a:t>
            </a:r>
          </a:p>
          <a:p xmlns:a="http://schemas.openxmlformats.org/drawingml/2006/main">
            <a:r>
              <a:t>      "과거 과업의 무비판적 재사용",</a:t>
            </a:r>
          </a:p>
          <a:p xmlns:a="http://schemas.openxmlformats.org/drawingml/2006/main">
            <a:r>
              <a:t>      "필수 요구·검수 항목 누락"</a:t>
            </a:r>
          </a:p>
          <a:p xmlns:a="http://schemas.openxmlformats.org/drawingml/2006/main">
            <a:r>
              <a:t>    ],</a:t>
            </a:r>
          </a:p>
          <a:p xmlns:a="http://schemas.openxmlformats.org/drawingml/2006/main">
            <a:r>
              <a:t>    "architecture": [</a:t>
            </a:r>
          </a:p>
          <a:p xmlns:a="http://schemas.openxmlformats.org/drawingml/2006/main">
            <a:r>
              <a:t>      "기존 RFP·수요",</a:t>
            </a:r>
          </a:p>
          <a:p xmlns:a="http://schemas.openxmlformats.org/drawingml/2006/main">
            <a:r>
              <a:t>      "목차·키워드 분석",</a:t>
            </a:r>
          </a:p>
          <a:p xmlns:a="http://schemas.openxmlformats.org/drawingml/2006/main">
            <a:r>
              <a:t>      "요구·검수 자료",</a:t>
            </a:r>
          </a:p>
          <a:p xmlns:a="http://schemas.openxmlformats.org/drawingml/2006/main">
            <a:r>
              <a:t>      "발주 담당자"</a:t>
            </a:r>
          </a:p>
          <a:p xmlns:a="http://schemas.openxmlformats.org/drawingml/2006/main">
            <a:r>
              <a:t>    ],</a:t>
            </a:r>
          </a:p>
          <a:p xmlns:a="http://schemas.openxmlformats.org/drawingml/2006/main">
            <a:r>
              <a:t>    "transfers": [</a:t>
            </a:r>
          </a:p>
          <a:p xmlns:a="http://schemas.openxmlformats.org/drawingml/2006/main">
            <a:r>
              <a:t>      "기존 문서",</a:t>
            </a:r>
          </a:p>
          <a:p xmlns:a="http://schemas.openxmlformats.org/drawingml/2006/main">
            <a:r>
              <a:t>      "요구 후보",</a:t>
            </a:r>
          </a:p>
          <a:p xmlns:a="http://schemas.openxmlformats.org/drawingml/2006/main">
            <a:r>
              <a:t>      "검증된 목차",</a:t>
            </a:r>
          </a:p>
          <a:p xmlns:a="http://schemas.openxmlformats.org/drawingml/2006/main">
            <a:r>
              <a:t>      "RFP 초안"</a:t>
            </a:r>
          </a:p>
          <a:p xmlns:a="http://schemas.openxmlformats.org/drawingml/2006/main">
            <a:r>
              <a:t>    ],</a:t>
            </a:r>
          </a:p>
          <a:p xmlns:a="http://schemas.openxmlformats.org/drawingml/2006/main">
            <a:r>
              <a:t>    "control": "사업 범위·기존 의무·검수 연결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조달청 e-제안요청 도움 · 공공AI 사례집 218–219쪽 https://bigdata.dongjak.go.kr/board/viewArticle?articleNo=954&amp;boardId=4</a:t>
            </a:r>
          </a:p>
          <a:p xmlns:a="http://schemas.openxmlformats.org/drawingml/2006/main">
            <a:r>
              <a:t>홈페이지 https://heen1987-ops.github.io/TS-business-Plan-001/index.html?view=casebook&amp;case=AX25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"AX25",</a:t>
            </a:r>
          </a:p>
          <a:p xmlns:a="http://schemas.openxmlformats.org/drawingml/2006/main">
            <a:r>
              <a:t>    "title": "조달청 e-제안요청 도움",</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"RFP 초안 작성 지원",</a:t>
            </a:r>
          </a:p>
          <a:p xmlns:a="http://schemas.openxmlformats.org/drawingml/2006/main">
            <a:r>
              <a:t>    "period": "2023 PoC / 2024 고도화",</a:t>
            </a:r>
          </a:p>
          <a:p xmlns:a="http://schemas.openxmlformats.org/drawingml/2006/main">
            <a:r>
              <a:t>    "sources": [</a:t>
            </a:r>
          </a:p>
          <a:p xmlns:a="http://schemas.openxmlformats.org/drawingml/2006/main">
            <a:r>
              <a:t>      "S-AX25"</a:t>
            </a:r>
          </a:p>
          <a:p xmlns:a="http://schemas.openxmlformats.org/drawingml/2006/main">
            <a:r>
              <a:t>    ],</a:t>
            </a:r>
          </a:p>
          <a:p xmlns:a="http://schemas.openxmlformats.org/drawingml/2006/main">
            <a:r>
              <a:t>    "keywords": [</a:t>
            </a:r>
          </a:p>
          <a:p xmlns:a="http://schemas.openxmlformats.org/drawingml/2006/main">
            <a:r>
              <a:t>      "RFP 초안 작성 지원"</a:t>
            </a:r>
          </a:p>
          <a:p xmlns:a="http://schemas.openxmlformats.org/drawingml/2006/main">
            <a:r>
              <a:t>    ],</a:t>
            </a:r>
          </a:p>
          <a:p xmlns:a="http://schemas.openxmlformats.org/drawingml/2006/main">
            <a:r>
              <a:t>    "fact": "제안요청서 목차별 초안 생성과 키워드 추출·사용자 검증을 결합한 실증 고도화",</a:t>
            </a:r>
          </a:p>
          <a:p xmlns:a="http://schemas.openxmlformats.org/drawingml/2006/main">
            <a:r>
              <a:t>    "limit": "작성 지원 범위 · 요구사항·예산의 자동 승인과 구분",</a:t>
            </a:r>
          </a:p>
          <a:p xmlns:a="http://schemas.openxmlformats.org/drawingml/2006/main">
            <a:r>
              <a:t>    "flow": [</a:t>
            </a:r>
          </a:p>
          <a:p xmlns:a="http://schemas.openxmlformats.org/drawingml/2006/main">
            <a:r>
              <a:t>      "기존 RFP",</a:t>
            </a:r>
          </a:p>
          <a:p xmlns:a="http://schemas.openxmlformats.org/drawingml/2006/main">
            <a:r>
              <a:t>      "목차·키워드 추출",</a:t>
            </a:r>
          </a:p>
          <a:p xmlns:a="http://schemas.openxmlformats.org/drawingml/2006/main">
            <a:r>
              <a:t>      "담당자 검증",</a:t>
            </a:r>
          </a:p>
          <a:p xmlns:a="http://schemas.openxmlformats.org/drawingml/2006/main">
            <a:r>
              <a:t>      "초안 구성"</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"추출 근거 검증을 초안 작성 앞단에 배치",</a:t>
            </a:r>
          </a:p>
          <a:p xmlns:a="http://schemas.openxmlformats.org/drawingml/2006/main">
            <a:r>
              <a:t>    "local": "TS 고도화의 재사용·추가 개발·검수 추적 지원",</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"요구ID·원문·산출물·검수의 누락 검사",</a:t>
            </a:r>
          </a:p>
          <a:p xmlns:a="http://schemas.openxmlformats.org/drawingml/2006/main">
            <a:r>
              <a:t>    "test": "누락·중복·상충 요구 및 근거 없는 성능 목표 탐지",</a:t>
            </a:r>
          </a:p>
          <a:p xmlns:a="http://schemas.openxmlformats.org/drawingml/2006/main">
            <a:r>
              <a:t>    "metric": "작성·보완 시간 / 추적 누락률",</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"AX25",</a:t>
            </a:r>
          </a:p>
          <a:p xmlns:a="http://schemas.openxmlformats.org/drawingml/2006/main">
            <a:r>
              <a:t>    "canonicalId": "AX25",</a:t>
            </a:r>
          </a:p>
          <a:p xmlns:a="http://schemas.openxmlformats.org/drawingml/2006/main">
            <a:r>
              <a:t>    "purpose": "공공 정보화사업 제안요청서 작성 지원",</a:t>
            </a:r>
          </a:p>
          <a:p xmlns:a="http://schemas.openxmlformats.org/drawingml/2006/main">
            <a:r>
              <a:t>    "users": "발주·사업관리 담당자",</a:t>
            </a:r>
          </a:p>
          <a:p xmlns:a="http://schemas.openxmlformats.org/drawingml/2006/main">
            <a:r>
              <a:t>    "scope": [</a:t>
            </a:r>
          </a:p>
          <a:p xmlns:a="http://schemas.openxmlformats.org/drawingml/2006/main">
            <a:r>
              <a:t>      "목차 구성",</a:t>
            </a:r>
          </a:p>
          <a:p xmlns:a="http://schemas.openxmlformats.org/drawingml/2006/main">
            <a:r>
              <a:t>      "요구 초안",</a:t>
            </a:r>
          </a:p>
          <a:p xmlns:a="http://schemas.openxmlformats.org/drawingml/2006/main">
            <a:r>
              <a:t>      "사용자 검증"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"기존 RFP·수요",</a:t>
            </a:r>
          </a:p>
          <a:p xmlns:a="http://schemas.openxmlformats.org/drawingml/2006/main">
            <a:r>
              <a:t>        "detail": "사업 목적·범위·기존 시스템 입력",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"목차 구성 / 요구 초안 / 사용자 검증",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"목차·키워드 분석",</a:t>
            </a:r>
          </a:p>
          <a:p xmlns:a="http://schemas.openxmlformats.org/drawingml/2006/main">
            <a:r>
              <a:t>        "detail": "키워드 추출과 목차별 요구사항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"발주 담당자",</a:t>
            </a:r>
          </a:p>
          <a:p xmlns:a="http://schemas.openxmlformats.org/drawingml/2006/main">
            <a:r>
              <a:t>        "detail": "담당자가 범위·중복·검수 가능성을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"요구·검수 자료",</a:t>
            </a:r>
          </a:p>
          <a:p xmlns:a="http://schemas.openxmlformats.org/drawingml/2006/main">
            <a:r>
              <a:t>        "detail": "관련 지침·양식·기존 요구사항의 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 이력과 요구사항·검수 연결 누락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"기존 RFP",</a:t>
            </a:r>
          </a:p>
          <a:p xmlns:a="http://schemas.openxmlformats.org/drawingml/2006/main">
            <a:r>
              <a:t>        "input": "사업 목적·범위·기존 시스템 입력",</a:t>
            </a:r>
          </a:p>
          <a:p xmlns:a="http://schemas.openxmlformats.org/drawingml/2006/main">
            <a:r>
              <a:t>        "process": "관련 지침·양식·기존 요구사항의 출처 관리",</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"title": "목차·키워드 추출",</a:t>
            </a:r>
          </a:p>
          <a:p xmlns:a="http://schemas.openxmlformats.org/drawingml/2006/main">
            <a:r>
              <a:t>        "input": "기존 문서",</a:t>
            </a:r>
          </a:p>
          <a:p xmlns:a="http://schemas.openxmlformats.org/drawingml/2006/main">
            <a:r>
              <a:t>        "process": "키워드 추출과 목차별 요구사항 초안 생성",</a:t>
            </a:r>
          </a:p>
          <a:p xmlns:a="http://schemas.openxmlformats.org/drawingml/2006/main">
            <a:r>
              <a:t>        "output": "요구 후보"</a:t>
            </a:r>
          </a:p>
          <a:p xmlns:a="http://schemas.openxmlformats.org/drawingml/2006/main">
            <a:r>
              <a:t>      },</a:t>
            </a:r>
          </a:p>
          <a:p xmlns:a="http://schemas.openxmlformats.org/drawingml/2006/main">
            <a:r>
              <a:t>      {</a:t>
            </a:r>
          </a:p>
          <a:p xmlns:a="http://schemas.openxmlformats.org/drawingml/2006/main">
            <a:r>
              <a:t>        "title": "담당자 검증",</a:t>
            </a:r>
          </a:p>
          <a:p xmlns:a="http://schemas.openxmlformats.org/drawingml/2006/main">
            <a:r>
              <a:t>        "input": "요구 후보",</a:t>
            </a:r>
          </a:p>
          <a:p xmlns:a="http://schemas.openxmlformats.org/drawingml/2006/main">
            <a:r>
              <a:t>        "process": "사업 범위·기존 의무·검수 연결 확인",</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"title": "초안 구성",</a:t>
            </a:r>
          </a:p>
          <a:p xmlns:a="http://schemas.openxmlformats.org/drawingml/2006/main">
            <a:r>
              <a:t>        "input": "검증된 목차",</a:t>
            </a:r>
          </a:p>
          <a:p xmlns:a="http://schemas.openxmlformats.org/drawingml/2006/main">
            <a:r>
              <a:t>        "process":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범위에 맞는 RFP 요구와 검수 초안 구성",</a:t>
            </a:r>
          </a:p>
          <a:p xmlns:a="http://schemas.openxmlformats.org/drawingml/2006/main">
            <a:r>
              <a:t>      "exception": "기존 계약 중복·수치 근거 부재·검수 불가능 요구",</a:t>
            </a:r>
          </a:p>
          <a:p xmlns:a="http://schemas.openxmlformats.org/drawingml/2006/main">
            <a:r>
              <a:t>      "evidence": "요구사항별 범위·출처·검수 연결 및 담당자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"발주·사업관리 담당자",</a:t>
            </a:r>
          </a:p>
          <a:p xmlns:a="http://schemas.openxmlformats.org/drawingml/2006/main">
            <a:r>
              <a:t>          "processing": "사업 목적·범위·기존 시스템 입력",</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"요구·검수 자료",</a:t>
            </a:r>
          </a:p>
          <a:p xmlns:a="http://schemas.openxmlformats.org/drawingml/2006/main">
            <a:r>
              <a:t>          "processing": "관련 지침·양식·기존 요구사항의 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"기존 문서",</a:t>
            </a:r>
          </a:p>
          <a:p xmlns:a="http://schemas.openxmlformats.org/drawingml/2006/main">
            <a:r>
              <a:t>          "processing": "키워드 추출과 목차별 요구사항 초안 생성",</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"검증된 목차",</a:t>
            </a:r>
          </a:p>
          <a:p xmlns:a="http://schemas.openxmlformats.org/drawingml/2006/main">
            <a:r>
              <a:t>          "processing":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 이력과 요구사항·검수 연결 누락 검사",</a:t>
            </a:r>
          </a:p>
          <a:p xmlns:a="http://schemas.openxmlformats.org/drawingml/2006/main">
            <a:r>
              <a:t>          "output":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 이력과 요구사항·검수 연결 누락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"S-AX25",</a:t>
            </a:r>
          </a:p>
          <a:p xmlns:a="http://schemas.openxmlformats.org/drawingml/2006/main">
            <a:r>
              <a:t>        "title": "조달청 e-제안요청 도움 · 공공AI 사례집 218–219쪽",</a:t>
            </a:r>
          </a:p>
          <a:p xmlns:a="http://schemas.openxmlformats.org/drawingml/2006/main">
            <a:r>
              <a:t>        "url": "https://bigdata.dongjak.go.kr/board/viewArticle?articleNo=954&amp;boardId=4",</a:t>
            </a:r>
          </a:p>
          <a:p xmlns:a="http://schemas.openxmlformats.org/drawingml/2006/main">
            <a:r>
              <a:t>        "published": "2023 PoC / 2024 고도화",</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"추출 근거 검증을 초안 작성 앞단에 배치",</a:t>
            </a:r>
          </a:p>
          <a:p xmlns:a="http://schemas.openxmlformats.org/drawingml/2006/main">
            <a:r>
              <a:t>    "local": "TS 고도화의 재사용·추가 개발·검수 추적 지원",</a:t>
            </a:r>
          </a:p>
          <a:p xmlns:a="http://schemas.openxmlformats.org/drawingml/2006/main">
            <a:r>
              <a:t>    "sourceDetail": null,</a:t>
            </a:r>
          </a:p>
          <a:p xmlns:a="http://schemas.openxmlformats.org/drawingml/2006/main">
            <a:r>
              <a:t>    "narrative": [</a:t>
            </a:r>
          </a:p>
          <a:p xmlns:a="http://schemas.openxmlformats.org/drawingml/2006/main">
            <a:r>
              <a:t>      "기존 RFP와 사업 수요를 분석해 목차·키워드·요구사항 초안을 만드는 지원 사례. 과거 문서를 재활용하면서 신규 범위와 기존 의무의 중복을 피하는 작업이 핵심.",</a:t>
            </a:r>
          </a:p>
          <a:p xmlns:a="http://schemas.openxmlformats.org/drawingml/2006/main">
            <a:r>
              <a:t>      "사업 목적·현재 시스템·추가 개발 범위를 입력하고 목차별 요구 후보를 구성하는 재구성. 담당자가 출처·누락·중복·검수 가능성을 확인한 뒤 요구 ID와 시험 항목을 연결.",</a:t>
            </a:r>
          </a:p>
          <a:p xmlns:a="http://schemas.openxmlformats.org/drawingml/2006/main">
            <a:r>
              <a:t>      "CCK 제안·사업관리 스킬에서는 문서 생성보다 근거와 요구·검수의 추적을 공통 기능으로 활용. 기존 과업 복사, 빈 검수기준, 법령 판본 혼용을 포함한 검토 시나리오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"RFP 작성 요청",</a:t>
            </a:r>
          </a:p>
          <a:p xmlns:a="http://schemas.openxmlformats.org/drawingml/2006/main">
            <a:r>
              <a:t>          "layer": "이용 접점",</a:t>
            </a:r>
          </a:p>
          <a:p xmlns:a="http://schemas.openxmlformats.org/drawingml/2006/main">
            <a:r>
              <a:t>          "detail": "발주·사업관리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"목적·범위·기존",</a:t>
            </a:r>
          </a:p>
          <a:p xmlns:a="http://schemas.openxmlformats.org/drawingml/2006/main">
            <a:r>
              <a:t>          "layer": "업무 문맥",</a:t>
            </a:r>
          </a:p>
          <a:p xmlns:a="http://schemas.openxmlformats.org/drawingml/2006/main">
            <a:r>
              <a:t>          "detail": "사업 목적·범위·기존 시스템 입력",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"지침·요구 조회",</a:t>
            </a:r>
          </a:p>
          <a:p xmlns:a="http://schemas.openxmlformats.org/drawingml/2006/main">
            <a:r>
              <a:t>          "layer": "자료 조회",</a:t>
            </a:r>
          </a:p>
          <a:p xmlns:a="http://schemas.openxmlformats.org/drawingml/2006/main">
            <a:r>
              <a:t>          "detail": "기존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"목차·초안 생성",</a:t>
            </a:r>
          </a:p>
          <a:p xmlns:a="http://schemas.openxmlformats.org/drawingml/2006/main">
            <a:r>
              <a:t>          "layer": "핵심 처리",</a:t>
            </a:r>
          </a:p>
          <a:p xmlns:a="http://schemas.openxmlformats.org/drawingml/2006/main">
            <a:r>
              <a:t>          "detail": "키워드 추출과 목차별 요구사항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"중복·누락 대조",</a:t>
            </a:r>
          </a:p>
          <a:p xmlns:a="http://schemas.openxmlformats.org/drawingml/2006/main">
            <a:r>
              <a:t>          "layer": "결과 검증",</a:t>
            </a:r>
          </a:p>
          <a:p xmlns:a="http://schemas.openxmlformats.org/drawingml/2006/main">
            <a:r>
              <a:t>          "detail": "사업 범위·기존 의무·검수 연결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"발주 담당 검토",</a:t>
            </a:r>
          </a:p>
          <a:p xmlns:a="http://schemas.openxmlformats.org/drawingml/2006/main">
            <a:r>
              <a:t>          "layer": "사람 확인",</a:t>
            </a:r>
          </a:p>
          <a:p xmlns:a="http://schemas.openxmlformats.org/drawingml/2006/main">
            <a:r>
              <a:t>          "detail": "사업 범위에 맞는 RFP 요구와 검수 초안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"요구·검수 명세",</a:t>
            </a:r>
          </a:p>
          <a:p xmlns:a="http://schemas.openxmlformats.org/drawingml/2006/main">
            <a:r>
              <a:t>          "layer": "업무 연결",</a:t>
            </a:r>
          </a:p>
          <a:p xmlns:a="http://schemas.openxmlformats.org/drawingml/2006/main">
            <a:r>
              <a:t>          "detail": "담당자가 범위·중복·검수 가능성을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추적",</a:t>
            </a:r>
          </a:p>
          <a:p xmlns:a="http://schemas.openxmlformats.org/drawingml/2006/main">
            <a:r>
              <a:t>          "layer": "운영 관측",</a:t>
            </a:r>
          </a:p>
          <a:p xmlns:a="http://schemas.openxmlformats.org/drawingml/2006/main">
            <a:r>
              <a:t>          "detail": "수정 이력과 요구사항·검수 연결 누락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"기존 RFP·수요",</a:t>
            </a:r>
          </a:p>
          <a:p xmlns:a="http://schemas.openxmlformats.org/drawingml/2006/main">
            <a:r>
              <a:t>          "layer": "데이터 원천",</a:t>
            </a:r>
          </a:p>
          <a:p xmlns:a="http://schemas.openxmlformats.org/drawingml/2006/main">
            <a:r>
              <a:t>          "detail": "요구·검수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"목차·ID 구조화",</a:t>
            </a:r>
          </a:p>
          <a:p xmlns:a="http://schemas.openxmlformats.org/drawingml/2006/main">
            <a:r>
              <a:t>          "layer": "준비·갱신",</a:t>
            </a:r>
          </a:p>
          <a:p xmlns:a="http://schemas.openxmlformats.org/drawingml/2006/main">
            <a:r>
              <a:t>          "detail": "관련 지침·양식·기존 요구사항의 출처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"요구·검수 원장",</a:t>
            </a:r>
          </a:p>
          <a:p xmlns:a="http://schemas.openxmlformats.org/drawingml/2006/main">
            <a:r>
              <a:t>          "layer": "상태·지식 저장",</a:t>
            </a:r>
          </a:p>
          <a:p xmlns:a="http://schemas.openxmlformats.org/drawingml/2006/main">
            <a:r>
              <a:t>          "detail": "요구사항별 범위·출처·검수 연결 및 담당자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"기존 의무·범위",</a:t>
            </a:r>
          </a:p>
          <a:p xmlns:a="http://schemas.openxmlformats.org/drawingml/2006/main">
            <a:r>
              <a:t>          "layer": "권한·정책",</a:t>
            </a:r>
          </a:p>
          <a:p xmlns:a="http://schemas.openxmlformats.org/drawingml/2006/main">
            <a:r>
              <a:t>          "detail": "기존 계약 중복·수치 근거 부재·검수 불가능 요구",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"기존 RFP → 목차·키워드 추출 → 담당자 검증 → 초안 구성"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"요구·검수 자료",</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"요구 후보",</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"RFP 초안",</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정보화사업 제안요청서 작성 지원 / 목차 구성·요구 초안·사용자 검증",</a:t>
            </a:r>
          </a:p>
          <a:p xmlns:a="http://schemas.openxmlformats.org/drawingml/2006/main">
            <a:r>
              <a:t>        "extension": "TS 고도화의 재사용·추가 개발·검수 추적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"기존 계약 중복·수치 근거 부재·검수 불가능 요구",</a:t>
            </a:r>
          </a:p>
          <a:p xmlns:a="http://schemas.openxmlformats.org/drawingml/2006/main">
            <a:r>
              <a:t>        "hold": "사업 범위·기존 의무·검수 연결 확인",</a:t>
            </a:r>
          </a:p>
          <a:p xmlns:a="http://schemas.openxmlformats.org/drawingml/2006/main">
            <a:r>
              <a:t>        "recovery": "수정 이력과 요구사항·검수 연결 누락 검사",</a:t>
            </a:r>
          </a:p>
          <a:p xmlns:a="http://schemas.openxmlformats.org/drawingml/2006/main">
            <a:r>
              <a:t>        "evidence": "요구사항별 범위·출처·검수 연결 및 담당자 수정 기록"</a:t>
            </a:r>
          </a:p>
          <a:p xmlns:a="http://schemas.openxmlformats.org/drawingml/2006/main">
            <a:r>
              <a:t>      },</a:t>
            </a:r>
          </a:p>
          <a:p xmlns:a="http://schemas.openxmlformats.org/drawingml/2006/main">
            <a:r>
              <a:t>      "data": {</a:t>
            </a:r>
          </a:p>
          <a:p xmlns:a="http://schemas.openxmlformats.org/drawingml/2006/main">
            <a:r>
              <a:t>        "source": "요구·검수 자료",</a:t>
            </a:r>
          </a:p>
          <a:p xmlns:a="http://schemas.openxmlformats.org/drawingml/2006/main">
            <a:r>
              <a:t>        "prepare": "관련 지침·양식·기존 요구사항의 출처 관리",</a:t>
            </a:r>
          </a:p>
          <a:p xmlns:a="http://schemas.openxmlformats.org/drawingml/2006/main">
            <a:r>
              <a:t>        "output": "기존 문서",</a:t>
            </a:r>
          </a:p>
          <a:p xmlns:a="http://schemas.openxmlformats.org/drawingml/2006/main">
            <a:r>
              <a:t>        "refresh": "수정 이력과 요구사항·검수 연결 누락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"AX25",</a:t>
            </a:r>
          </a:p>
          <a:p xmlns:a="http://schemas.openxmlformats.org/drawingml/2006/main">
            <a:r>
              <a:t>    "success": [</a:t>
            </a:r>
          </a:p>
          <a:p xmlns:a="http://schemas.openxmlformats.org/drawingml/2006/main">
            <a:r>
              <a:t>      "RFP 목차·키워드의 구조화",</a:t>
            </a:r>
          </a:p>
          <a:p xmlns:a="http://schemas.openxmlformats.org/drawingml/2006/main">
            <a:r>
              <a:t>      "사용자 검증을 통한 초안 구성"</a:t>
            </a:r>
          </a:p>
          <a:p xmlns:a="http://schemas.openxmlformats.org/drawingml/2006/main">
            <a:r>
              <a:t>    ],</a:t>
            </a:r>
          </a:p>
          <a:p xmlns:a="http://schemas.openxmlformats.org/drawingml/2006/main">
            <a:r>
              <a:t>    "risks": [</a:t>
            </a:r>
          </a:p>
          <a:p xmlns:a="http://schemas.openxmlformats.org/drawingml/2006/main">
            <a:r>
              <a:t>      "과거 과업의 무비판적 재사용",</a:t>
            </a:r>
          </a:p>
          <a:p xmlns:a="http://schemas.openxmlformats.org/drawingml/2006/main">
            <a:r>
              <a:t>      "필수 요구·검수 항목 누락"</a:t>
            </a:r>
          </a:p>
          <a:p xmlns:a="http://schemas.openxmlformats.org/drawingml/2006/main">
            <a:r>
              <a:t>    ],</a:t>
            </a:r>
          </a:p>
          <a:p xmlns:a="http://schemas.openxmlformats.org/drawingml/2006/main">
            <a:r>
              <a:t>    "architecture": [</a:t>
            </a:r>
          </a:p>
          <a:p xmlns:a="http://schemas.openxmlformats.org/drawingml/2006/main">
            <a:r>
              <a:t>      "기존 RFP·수요",</a:t>
            </a:r>
          </a:p>
          <a:p xmlns:a="http://schemas.openxmlformats.org/drawingml/2006/main">
            <a:r>
              <a:t>      "목차·키워드 분석",</a:t>
            </a:r>
          </a:p>
          <a:p xmlns:a="http://schemas.openxmlformats.org/drawingml/2006/main">
            <a:r>
              <a:t>      "요구·검수 자료",</a:t>
            </a:r>
          </a:p>
          <a:p xmlns:a="http://schemas.openxmlformats.org/drawingml/2006/main">
            <a:r>
              <a:t>      "발주 담당자"</a:t>
            </a:r>
          </a:p>
          <a:p xmlns:a="http://schemas.openxmlformats.org/drawingml/2006/main">
            <a:r>
              <a:t>    ],</a:t>
            </a:r>
          </a:p>
          <a:p xmlns:a="http://schemas.openxmlformats.org/drawingml/2006/main">
            <a:r>
              <a:t>    "transfers": [</a:t>
            </a:r>
          </a:p>
          <a:p xmlns:a="http://schemas.openxmlformats.org/drawingml/2006/main">
            <a:r>
              <a:t>      "기존 문서",</a:t>
            </a:r>
          </a:p>
          <a:p xmlns:a="http://schemas.openxmlformats.org/drawingml/2006/main">
            <a:r>
              <a:t>      "요구 후보",</a:t>
            </a:r>
          </a:p>
          <a:p xmlns:a="http://schemas.openxmlformats.org/drawingml/2006/main">
            <a:r>
              <a:t>      "검증된 목차",</a:t>
            </a:r>
          </a:p>
          <a:p xmlns:a="http://schemas.openxmlformats.org/drawingml/2006/main">
            <a:r>
              <a:t>      "RFP 초안"</a:t>
            </a:r>
          </a:p>
          <a:p xmlns:a="http://schemas.openxmlformats.org/drawingml/2006/main">
            <a:r>
              <a:t>    ],</a:t>
            </a:r>
          </a:p>
          <a:p xmlns:a="http://schemas.openxmlformats.org/drawingml/2006/main">
            <a:r>
              <a:t>    "control": "사업 범위·기존 의무·검수 연결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조달청 e-제안요청 도움 · 공공AI 사례집 218–219쪽 https://bigdata.dongjak.go.kr/board/viewArticle?articleNo=954&amp;boardId=4</a:t>
            </a:r>
          </a:p>
          <a:p xmlns:a="http://schemas.openxmlformats.org/drawingml/2006/main">
            <a:r>
              <a:t>홈페이지 https://heen1987-ops.github.io/TS-business-Plan-001/index.html?view=casebook&amp;case=AX25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"AX26",</a:t>
            </a:r>
          </a:p>
          <a:p xmlns:a="http://schemas.openxmlformats.org/drawingml/2006/main">
            <a:r>
              <a:t>    "title": "교육행정 응대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"학교급·지침 기반 RAG",</a:t>
            </a:r>
          </a:p>
          <a:p xmlns:a="http://schemas.openxmlformats.org/drawingml/2006/main">
            <a:r>
              <a:t>    "period": "2024 실증",</a:t>
            </a:r>
          </a:p>
          <a:p xmlns:a="http://schemas.openxmlformats.org/drawingml/2006/main">
            <a:r>
              <a:t>    "sources": [</a:t>
            </a:r>
          </a:p>
          <a:p xmlns:a="http://schemas.openxmlformats.org/drawingml/2006/main">
            <a:r>
              <a:t>      "S-AX26"</a:t>
            </a:r>
          </a:p>
          <a:p xmlns:a="http://schemas.openxmlformats.org/drawingml/2006/main">
            <a:r>
              <a:t>    ],</a:t>
            </a:r>
          </a:p>
          <a:p xmlns:a="http://schemas.openxmlformats.org/drawingml/2006/main">
            <a:r>
              <a:t>    "keywords": [</a:t>
            </a:r>
          </a:p>
          <a:p xmlns:a="http://schemas.openxmlformats.org/drawingml/2006/main">
            <a:r>
              <a:t>      "학교급",</a:t>
            </a:r>
          </a:p>
          <a:p xmlns:a="http://schemas.openxmlformats.org/drawingml/2006/main">
            <a:r>
              <a:t>      "지침 기반 RAG"</a:t>
            </a:r>
          </a:p>
          <a:p xmlns:a="http://schemas.openxmlformats.org/drawingml/2006/main">
            <a:r>
              <a:t>    ],</a:t>
            </a:r>
          </a:p>
          <a:p xmlns:a="http://schemas.openxmlformats.org/drawingml/2006/main">
            <a:r>
              <a:t>    "fact": "학교생활기록부 지침·질의응답 자료를 활용한 RAG와 원문 페이지 연결 실증",</a:t>
            </a:r>
          </a:p>
          <a:p xmlns:a="http://schemas.openxmlformats.org/drawingml/2006/main">
            <a:r>
              <a:t>    "limit": "선정 문서·업무 범위의 PoC · 전체 교육행정 자동화와 구분",</a:t>
            </a:r>
          </a:p>
          <a:p xmlns:a="http://schemas.openxmlformats.org/drawingml/2006/main">
            <a:r>
              <a:t>    "flow": [</a:t>
            </a:r>
          </a:p>
          <a:p xmlns:a="http://schemas.openxmlformats.org/drawingml/2006/main">
            <a:r>
              <a:t>      "학교급별 지침",</a:t>
            </a:r>
          </a:p>
          <a:p xmlns:a="http://schemas.openxmlformats.org/drawingml/2006/main">
            <a:r>
              <a:t>      "문서 전처리·RAG",</a:t>
            </a:r>
          </a:p>
          <a:p xmlns:a="http://schemas.openxmlformats.org/drawingml/2006/main">
            <a:r>
              <a:t>      "근거 페이지 답변",</a:t>
            </a:r>
          </a:p>
          <a:p xmlns:a="http://schemas.openxmlformats.org/drawingml/2006/main">
            <a:r>
              <a:t>      "교직원 검증"</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"동일 질문도 소속·업무 맥락별 지침 구분",</a:t>
            </a:r>
          </a:p>
          <a:p xmlns:a="http://schemas.openxmlformats.org/drawingml/2006/main">
            <a:r>
              <a:t>    "local": "TS 부서·직무별 규정 및 동일 요청 교차 평가",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검색 필터·출처 페이지·오류 피드백",</a:t>
            </a:r>
          </a:p>
          <a:p xmlns:a="http://schemas.openxmlformats.org/drawingml/2006/main">
            <a:r>
              <a:t>    "test": "부서·직무 변경 전후 검색 근거 대조",</a:t>
            </a:r>
          </a:p>
          <a:p xmlns:a="http://schemas.openxmlformats.org/drawingml/2006/main">
            <a:r>
              <a:t>    "metric": "근거 일치율 / 보완시간",</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"AX26",</a:t>
            </a:r>
          </a:p>
          <a:p xmlns:a="http://schemas.openxmlformats.org/drawingml/2006/main">
            <a:r>
              <a:t>    "canonicalId": "AX26",</a:t>
            </a:r>
          </a:p>
          <a:p xmlns:a="http://schemas.openxmlformats.org/drawingml/2006/main">
            <a:r>
              <a:t>    "purpose": "학교생활기록부 지침의 근거형 응대",</a:t>
            </a:r>
          </a:p>
          <a:p xmlns:a="http://schemas.openxmlformats.org/drawingml/2006/main">
            <a:r>
              <a:t>    "users": "학교·교육행정 담당자",</a:t>
            </a:r>
          </a:p>
          <a:p xmlns:a="http://schemas.openxmlformats.org/drawingml/2006/main">
            <a:r>
              <a:t>    "scope": [</a:t>
            </a:r>
          </a:p>
          <a:p xmlns:a="http://schemas.openxmlformats.org/drawingml/2006/main">
            <a:r>
              <a:t>      "지침 검색",</a:t>
            </a:r>
          </a:p>
          <a:p xmlns:a="http://schemas.openxmlformats.org/drawingml/2006/main">
            <a:r>
              <a:t>      "질의응답",</a:t>
            </a:r>
          </a:p>
          <a:p xmlns:a="http://schemas.openxmlformats.org/drawingml/2006/main">
            <a:r>
              <a:t>      "원문 페이지"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"교직원 질의",</a:t>
            </a:r>
          </a:p>
          <a:p xmlns:a="http://schemas.openxmlformats.org/drawingml/2006/main">
            <a:r>
              <a:t>        "detail": "학교급·학년도·업무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"지침 검색 / 질의응답 / 원문 페이지",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a:t>
            </a:r>
          </a:p>
          <a:p xmlns:a="http://schemas.openxmlformats.org/drawingml/2006/main">
            <a:r>
              <a:t>        "detail": "조건에 맞는 지침·질의응답 검색",</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"교직원 검토",</a:t>
            </a:r>
          </a:p>
          <a:p xmlns:a="http://schemas.openxmlformats.org/drawingml/2006/main">
            <a:r>
              <a:t>        "detail": "답변 근거와 원문 페이지를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"학교급별 지침",</a:t>
            </a:r>
          </a:p>
          <a:p xmlns:a="http://schemas.openxmlformats.org/drawingml/2006/main">
            <a:r>
              <a:t>        "detail": "지침 판본·학년도·원문 페이지별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"학년도 혼용·예외 조항 누락의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"학교급별 지침",</a:t>
            </a:r>
          </a:p>
          <a:p xmlns:a="http://schemas.openxmlformats.org/drawingml/2006/main">
            <a:r>
              <a:t>        "input": "학교급·학년도·업무 상황 확인",</a:t>
            </a:r>
          </a:p>
          <a:p xmlns:a="http://schemas.openxmlformats.org/drawingml/2006/main">
            <a:r>
              <a:t>        "process": "지침 판본·학년도·원문 페이지별 색인",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"title": "문서 전처리·RAG",</a:t>
            </a:r>
          </a:p>
          <a:p xmlns:a="http://schemas.openxmlformats.org/drawingml/2006/main">
            <a:r>
              <a:t>        "input": "학교급·질문",</a:t>
            </a:r>
          </a:p>
          <a:p xmlns:a="http://schemas.openxmlformats.org/drawingml/2006/main">
            <a:r>
              <a:t>        "process": "조건에 맞는 지침·질의응답 검색",</a:t>
            </a:r>
          </a:p>
          <a:p xmlns:a="http://schemas.openxmlformats.org/drawingml/2006/main">
            <a:r>
              <a:t>        "output": "관련 지침"</a:t>
            </a:r>
          </a:p>
          <a:p xmlns:a="http://schemas.openxmlformats.org/drawingml/2006/main">
            <a:r>
              <a:t>      },</a:t>
            </a:r>
          </a:p>
          <a:p xmlns:a="http://schemas.openxmlformats.org/drawingml/2006/main">
            <a:r>
              <a:t>      {</a:t>
            </a:r>
          </a:p>
          <a:p xmlns:a="http://schemas.openxmlformats.org/drawingml/2006/main">
            <a:r>
              <a:t>        "title": "근거 페이지 답변",</a:t>
            </a:r>
          </a:p>
          <a:p xmlns:a="http://schemas.openxmlformats.org/drawingml/2006/main">
            <a:r>
              <a:t>        "input": "관련 지침",</a:t>
            </a:r>
          </a:p>
          <a:p xmlns:a="http://schemas.openxmlformats.org/drawingml/2006/main">
            <a:r>
              <a:t>        "process": "학교급·연도·원문 페이지 대조",</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"title": "교직원 검증",</a:t>
            </a:r>
          </a:p>
          <a:p xmlns:a="http://schemas.openxmlformats.org/drawingml/2006/main">
            <a:r>
              <a:t>        "input": "근거 페이지 답변",</a:t>
            </a:r>
          </a:p>
          <a:p xmlns:a="http://schemas.openxmlformats.org/drawingml/2006/main">
            <a:r>
              <a:t>        "process":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"학년도·학교급에 맞는 생활기록부 지침 안내",</a:t>
            </a:r>
          </a:p>
          <a:p xmlns:a="http://schemas.openxmlformats.org/drawingml/2006/main">
            <a:r>
              <a:t>      "exception": "이전 학년도 혼입·예외 조건 누락·원문 페이지 변경",</a:t>
            </a:r>
          </a:p>
          <a:p xmlns:a="http://schemas.openxmlformats.org/drawingml/2006/main">
            <a:r>
              <a:t>      "evidence": "학년도별 정답·근거 페이지·예외 적용 대조표",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"학교·교육행정 담당자",</a:t>
            </a:r>
          </a:p>
          <a:p xmlns:a="http://schemas.openxmlformats.org/drawingml/2006/main">
            <a:r>
              <a:t>          "processing": "학교급·학년도·업무 상황 확인",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"학교급별 지침",</a:t>
            </a:r>
          </a:p>
          <a:p xmlns:a="http://schemas.openxmlformats.org/drawingml/2006/main">
            <a:r>
              <a:t>          "processing": "지침 판본·학년도·원문 페이지별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"학교급·질문",</a:t>
            </a:r>
          </a:p>
          <a:p xmlns:a="http://schemas.openxmlformats.org/drawingml/2006/main">
            <a:r>
              <a:t>          "processing": "조건에 맞는 지침·질의응답 검색",</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페이지 답변",</a:t>
            </a:r>
          </a:p>
          <a:p xmlns:a="http://schemas.openxmlformats.org/drawingml/2006/main">
            <a:r>
              <a:t>          "processing":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"학년도 혼용·예외 조항 누락의 평가",</a:t>
            </a:r>
          </a:p>
          <a:p xmlns:a="http://schemas.openxmlformats.org/drawingml/2006/main">
            <a:r>
              <a:t>          "output": "학년도별 정답·근거 페이지·예외 적용 대조표"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"학년도 혼용·예외 조항 누락의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"S-AX26",</a:t>
            </a:r>
          </a:p>
          <a:p xmlns:a="http://schemas.openxmlformats.org/drawingml/2006/main">
            <a:r>
              <a:t>        "title": "교육행정 응대 AI PoC · 공공AI 사례집 222–223쪽",</a:t>
            </a:r>
          </a:p>
          <a:p xmlns:a="http://schemas.openxmlformats.org/drawingml/2006/main">
            <a:r>
              <a:t>        "url": "https://bigdata.dongjak.go.kr/board/viewArticle?articleNo=954&amp;boardId=4",</a:t>
            </a:r>
          </a:p>
          <a:p xmlns:a="http://schemas.openxmlformats.org/drawingml/2006/main">
            <a:r>
              <a:t>        "published": "2024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"동일 질문도 소속·업무 맥락별 지침 구분",</a:t>
            </a:r>
          </a:p>
          <a:p xmlns:a="http://schemas.openxmlformats.org/drawingml/2006/main">
            <a:r>
              <a:t>    "local": "TS 부서·직무별 규정 및 동일 요청 교차 평가",</a:t>
            </a:r>
          </a:p>
          <a:p xmlns:a="http://schemas.openxmlformats.org/drawingml/2006/main">
            <a:r>
              <a:t>    "sourceDetail": null,</a:t>
            </a:r>
          </a:p>
          <a:p xmlns:a="http://schemas.openxmlformats.org/drawingml/2006/main">
            <a:r>
              <a:t>    "narrative": [</a:t>
            </a:r>
          </a:p>
          <a:p xmlns:a="http://schemas.openxmlformats.org/drawingml/2006/main">
            <a:r>
              <a:t>      "학교급·학년도별 학교생활기록부 지침을 교직원 질의에 연결하는 사례. 같은 질문이라도 적용 연도·학교급·업무 상황에 따라 근거가 달라지는 규정형 업무.",</a:t>
            </a:r>
          </a:p>
          <a:p xmlns:a="http://schemas.openxmlformats.org/drawingml/2006/main">
            <a:r>
              <a:t>      "질의 문맥을 확보한 뒤 해당 지침 판본과 페이지를 검색해 근거를 제공하는 재구성. 답변의 편집·검토 과정에서도 원문 페이지와 적용 조건을 함께 보존.",</a:t>
            </a:r>
          </a:p>
          <a:p xmlns:a="http://schemas.openxmlformats.org/drawingml/2006/main">
            <a:r>
              <a:t>      "TS 조직 네이티브 AI에서는 소속·직무뿐 아니라 업무 대상과 시행일을 검색 조건으로 추가하는 참고. 연도 혼용·학교급 혼용·예외 조항 누락에 해당하는 TS 도메인 시험셋의 별도 구성."</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"교직원 질의",</a:t>
            </a:r>
          </a:p>
          <a:p xmlns:a="http://schemas.openxmlformats.org/drawingml/2006/main">
            <a:r>
              <a:t>          "layer": "이용 접점",</a:t>
            </a:r>
          </a:p>
          <a:p xmlns:a="http://schemas.openxmlformats.org/drawingml/2006/main">
            <a:r>
              <a:t>          "detail": "학교·교육행정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"학교급·학년도",</a:t>
            </a:r>
          </a:p>
          <a:p xmlns:a="http://schemas.openxmlformats.org/drawingml/2006/main">
            <a:r>
              <a:t>          "layer": "업무 문맥",</a:t>
            </a:r>
          </a:p>
          <a:p xmlns:a="http://schemas.openxmlformats.org/drawingml/2006/main">
            <a:r>
              <a:t>          "detail": "학교급·학년도·업무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지침 검색",</a:t>
            </a:r>
          </a:p>
          <a:p xmlns:a="http://schemas.openxmlformats.org/drawingml/2006/main">
            <a:r>
              <a:t>          "layer": "자료 조회",</a:t>
            </a:r>
          </a:p>
          <a:p xmlns:a="http://schemas.openxmlformats.org/drawingml/2006/main">
            <a:r>
              <a:t>          "detail": "학교급·질문",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"조건에 맞는 지침·질의응답 검색",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"페이지·예외 대조",</a:t>
            </a:r>
          </a:p>
          <a:p xmlns:a="http://schemas.openxmlformats.org/drawingml/2006/main">
            <a:r>
              <a:t>          "layer": "결과 검증",</a:t>
            </a:r>
          </a:p>
          <a:p xmlns:a="http://schemas.openxmlformats.org/drawingml/2006/main">
            <a:r>
              <a:t>          "detail": "학교급·연도·원문 페이지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"교직원 원문 확인",</a:t>
            </a:r>
          </a:p>
          <a:p xmlns:a="http://schemas.openxmlformats.org/drawingml/2006/main">
            <a:r>
              <a:t>          "layer": "사람 확인",</a:t>
            </a:r>
          </a:p>
          <a:p xmlns:a="http://schemas.openxmlformats.org/drawingml/2006/main">
            <a:r>
              <a:t>          "detail": "학년도·학교급에 맞는 생활기록부 지침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"행정업무 적용",</a:t>
            </a:r>
          </a:p>
          <a:p xmlns:a="http://schemas.openxmlformats.org/drawingml/2006/main">
            <a:r>
              <a:t>          "layer": "업무 연결",</a:t>
            </a:r>
          </a:p>
          <a:p xmlns:a="http://schemas.openxmlformats.org/drawingml/2006/main">
            <a:r>
              <a:t>          "detail": "답변 근거와 원문 페이지를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"연도 혼용 검사",</a:t>
            </a:r>
          </a:p>
          <a:p xmlns:a="http://schemas.openxmlformats.org/drawingml/2006/main">
            <a:r>
              <a:t>          "layer": "운영 관측",</a:t>
            </a:r>
          </a:p>
          <a:p xmlns:a="http://schemas.openxmlformats.org/drawingml/2006/main">
            <a:r>
              <a:t>          "detail": "학년도 혼용·예외 조항 누락의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"지침·질의응답",</a:t>
            </a:r>
          </a:p>
          <a:p xmlns:a="http://schemas.openxmlformats.org/drawingml/2006/main">
            <a:r>
              <a:t>          "layer": "데이터 원천",</a:t>
            </a:r>
          </a:p>
          <a:p xmlns:a="http://schemas.openxmlformats.org/drawingml/2006/main">
            <a:r>
              <a:t>          "detail": "학교급별 지침",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"페이지·판본 색인",</a:t>
            </a:r>
          </a:p>
          <a:p xmlns:a="http://schemas.openxmlformats.org/drawingml/2006/main">
            <a:r>
              <a:t>          "layer": "준비·갱신",</a:t>
            </a:r>
          </a:p>
          <a:p xmlns:a="http://schemas.openxmlformats.org/drawingml/2006/main">
            <a:r>
              <a:t>          "detail": "지침 판본·학년도·원문 페이지별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"지침·평가셋",</a:t>
            </a:r>
          </a:p>
          <a:p xmlns:a="http://schemas.openxmlformats.org/drawingml/2006/main">
            <a:r>
              <a:t>          "layer": "상태·지식 저장",</a:t>
            </a:r>
          </a:p>
          <a:p xmlns:a="http://schemas.openxmlformats.org/drawingml/2006/main">
            <a:r>
              <a:t>          "detail": "학년도별 정답·근거 페이지·예외 적용 대조표",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"학교급별 경계",</a:t>
            </a:r>
          </a:p>
          <a:p xmlns:a="http://schemas.openxmlformats.org/drawingml/2006/main">
            <a:r>
              <a:t>          "layer": "권한·정책",</a:t>
            </a:r>
          </a:p>
          <a:p xmlns:a="http://schemas.openxmlformats.org/drawingml/2006/main">
            <a:r>
              <a:t>          "detail": "이전 학년도 혼입·예외 조건 누락·원문 페이지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"학교급별 지침 → 문서 전처리·RAG → 근거 페이지 답변 → 교직원 검증"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"학교급별 지침",</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"학교급·학년도·업무 상황 확인",</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"학년도별 정답·근거 페이지·예외 적용 대조표",</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지침",</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페이지 답변",</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"학교생활기록부 지침의 근거형 응대 / 지침 검색·질의응답·원문 페이지",</a:t>
            </a:r>
          </a:p>
          <a:p xmlns:a="http://schemas.openxmlformats.org/drawingml/2006/main">
            <a:r>
              <a:t>        "extension": "TS 부서·직무별 규정 및 동일 요청 교차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"이전 학년도 혼입·예외 조건 누락·원문 페이지 변경",</a:t>
            </a:r>
          </a:p>
          <a:p xmlns:a="http://schemas.openxmlformats.org/drawingml/2006/main">
            <a:r>
              <a:t>        "hold": "학교급·연도·원문 페이지 대조",</a:t>
            </a:r>
          </a:p>
          <a:p xmlns:a="http://schemas.openxmlformats.org/drawingml/2006/main">
            <a:r>
              <a:t>        "recovery": "학년도 혼용·예외 조항 누락의 평가",</a:t>
            </a:r>
          </a:p>
          <a:p xmlns:a="http://schemas.openxmlformats.org/drawingml/2006/main">
            <a:r>
              <a:t>        "evidence": "학년도별 정답·근거 페이지·예외 적용 대조표"</a:t>
            </a:r>
          </a:p>
          <a:p xmlns:a="http://schemas.openxmlformats.org/drawingml/2006/main">
            <a:r>
              <a:t>      },</a:t>
            </a:r>
          </a:p>
          <a:p xmlns:a="http://schemas.openxmlformats.org/drawingml/2006/main">
            <a:r>
              <a:t>      "data": {</a:t>
            </a:r>
          </a:p>
          <a:p xmlns:a="http://schemas.openxmlformats.org/drawingml/2006/main">
            <a:r>
              <a:t>        "source": "학교급별 지침",</a:t>
            </a:r>
          </a:p>
          <a:p xmlns:a="http://schemas.openxmlformats.org/drawingml/2006/main">
            <a:r>
              <a:t>        "prepare": "지침 판본·학년도·원문 페이지별 색인",</a:t>
            </a:r>
          </a:p>
          <a:p xmlns:a="http://schemas.openxmlformats.org/drawingml/2006/main">
            <a:r>
              <a:t>        "output": "학교급·질문",</a:t>
            </a:r>
          </a:p>
          <a:p xmlns:a="http://schemas.openxmlformats.org/drawingml/2006/main">
            <a:r>
              <a:t>        "refresh": "학년도 혼용·예외 조항 누락의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"AX26",</a:t>
            </a:r>
          </a:p>
          <a:p xmlns:a="http://schemas.openxmlformats.org/drawingml/2006/main">
            <a:r>
              <a:t>    "success": [</a:t>
            </a:r>
          </a:p>
          <a:p xmlns:a="http://schemas.openxmlformats.org/drawingml/2006/main">
            <a:r>
              <a:t>      "학교급별 지침의 분리",</a:t>
            </a:r>
          </a:p>
          <a:p xmlns:a="http://schemas.openxmlformats.org/drawingml/2006/main">
            <a:r>
              <a:t>      "답변과 원문 페이지의 연결"</a:t>
            </a:r>
          </a:p>
          <a:p xmlns:a="http://schemas.openxmlformats.org/drawingml/2006/main">
            <a:r>
              <a:t>    ],</a:t>
            </a:r>
          </a:p>
          <a:p xmlns:a="http://schemas.openxmlformats.org/drawingml/2006/main">
            <a:r>
              <a:t>    "risks": [</a:t>
            </a:r>
          </a:p>
          <a:p xmlns:a="http://schemas.openxmlformats.org/drawingml/2006/main">
            <a:r>
              <a:t>      "학교급·적용 연도 혼용",</a:t>
            </a:r>
          </a:p>
          <a:p xmlns:a="http://schemas.openxmlformats.org/drawingml/2006/main">
            <a:r>
              <a:t>      "유사 질문의 예외 답변 누락"</a:t>
            </a:r>
          </a:p>
          <a:p xmlns:a="http://schemas.openxmlformats.org/drawingml/2006/main">
            <a:r>
              <a:t>    ],</a:t>
            </a:r>
          </a:p>
          <a:p xmlns:a="http://schemas.openxmlformats.org/drawingml/2006/main">
            <a:r>
              <a:t>    "architecture": [</a:t>
            </a:r>
          </a:p>
          <a:p xmlns:a="http://schemas.openxmlformats.org/drawingml/2006/main">
            <a:r>
              <a:t>      "교직원 질의",</a:t>
            </a:r>
          </a:p>
          <a:p xmlns:a="http://schemas.openxmlformats.org/drawingml/2006/main">
            <a:r>
              <a:t>      "전처리·RAG",</a:t>
            </a:r>
          </a:p>
          <a:p xmlns:a="http://schemas.openxmlformats.org/drawingml/2006/main">
            <a:r>
              <a:t>      "학교급별 지침",</a:t>
            </a:r>
          </a:p>
          <a:p xmlns:a="http://schemas.openxmlformats.org/drawingml/2006/main">
            <a:r>
              <a:t>      "교직원 검토"</a:t>
            </a:r>
          </a:p>
          <a:p xmlns:a="http://schemas.openxmlformats.org/drawingml/2006/main">
            <a:r>
              <a:t>    ],</a:t>
            </a:r>
          </a:p>
          <a:p xmlns:a="http://schemas.openxmlformats.org/drawingml/2006/main">
            <a:r>
              <a:t>    "transfers": [</a:t>
            </a:r>
          </a:p>
          <a:p xmlns:a="http://schemas.openxmlformats.org/drawingml/2006/main">
            <a:r>
              <a:t>      "학교급·질문",</a:t>
            </a:r>
          </a:p>
          <a:p xmlns:a="http://schemas.openxmlformats.org/drawingml/2006/main">
            <a:r>
              <a:t>      "관련 지침",</a:t>
            </a:r>
          </a:p>
          <a:p xmlns:a="http://schemas.openxmlformats.org/drawingml/2006/main">
            <a:r>
              <a:t>      "근거 페이지 답변",</a:t>
            </a:r>
          </a:p>
          <a:p xmlns:a="http://schemas.openxmlformats.org/drawingml/2006/main">
            <a:r>
              <a:t>      "검증·보완"</a:t>
            </a:r>
          </a:p>
          <a:p xmlns:a="http://schemas.openxmlformats.org/drawingml/2006/main">
            <a:r>
              <a:t>    ],</a:t>
            </a:r>
          </a:p>
          <a:p xmlns:a="http://schemas.openxmlformats.org/drawingml/2006/main">
            <a:r>
              <a:t>    "control": "학교급·연도·원문 페이지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교육행정 응대 AI PoC · 공공AI 사례집 222–223쪽 https://bigdata.dongjak.go.kr/board/viewArticle?articleNo=954&amp;boardId=4</a:t>
            </a:r>
          </a:p>
          <a:p xmlns:a="http://schemas.openxmlformats.org/drawingml/2006/main">
            <a:r>
              <a:t>홈페이지 https://heen1987-ops.github.io/TS-business-Plan-001/index.html?view=casebook&amp;case=AX26</a:t>
            </a:r>
          </a:p>
          <a:p xmlns:a="http://schemas.openxmlformats.org/drawingml/2006/main">
            <a:r>
              <a:t>한계: 선정 문서·업무 범위의 PoC · 전체 교육행정 자동화와 구분</a:t>
            </a:r>
          </a:p>
          <a:p xmlns:a="http://schemas.openxmlformats.org/drawingml/2006/main">
            <a:r>
              <a:t>실패 위험: 학교급·적용 연도 혼용 / 유사 질문의 예외 답변 누락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"AX26",</a:t>
            </a:r>
          </a:p>
          <a:p xmlns:a="http://schemas.openxmlformats.org/drawingml/2006/main">
            <a:r>
              <a:t>    "title": "교육행정 응대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"학교급·지침 기반 RAG",</a:t>
            </a:r>
          </a:p>
          <a:p xmlns:a="http://schemas.openxmlformats.org/drawingml/2006/main">
            <a:r>
              <a:t>    "period": "2024 실증",</a:t>
            </a:r>
          </a:p>
          <a:p xmlns:a="http://schemas.openxmlformats.org/drawingml/2006/main">
            <a:r>
              <a:t>    "sources": [</a:t>
            </a:r>
          </a:p>
          <a:p xmlns:a="http://schemas.openxmlformats.org/drawingml/2006/main">
            <a:r>
              <a:t>      "S-AX26"</a:t>
            </a:r>
          </a:p>
          <a:p xmlns:a="http://schemas.openxmlformats.org/drawingml/2006/main">
            <a:r>
              <a:t>    ],</a:t>
            </a:r>
          </a:p>
          <a:p xmlns:a="http://schemas.openxmlformats.org/drawingml/2006/main">
            <a:r>
              <a:t>    "keywords": [</a:t>
            </a:r>
          </a:p>
          <a:p xmlns:a="http://schemas.openxmlformats.org/drawingml/2006/main">
            <a:r>
              <a:t>      "학교급",</a:t>
            </a:r>
          </a:p>
          <a:p xmlns:a="http://schemas.openxmlformats.org/drawingml/2006/main">
            <a:r>
              <a:t>      "지침 기반 RAG"</a:t>
            </a:r>
          </a:p>
          <a:p xmlns:a="http://schemas.openxmlformats.org/drawingml/2006/main">
            <a:r>
              <a:t>    ],</a:t>
            </a:r>
          </a:p>
          <a:p xmlns:a="http://schemas.openxmlformats.org/drawingml/2006/main">
            <a:r>
              <a:t>    "fact": "학교생활기록부 지침·질의응답 자료를 활용한 RAG와 원문 페이지 연결 실증",</a:t>
            </a:r>
          </a:p>
          <a:p xmlns:a="http://schemas.openxmlformats.org/drawingml/2006/main">
            <a:r>
              <a:t>    "limit": "선정 문서·업무 범위의 PoC · 전체 교육행정 자동화와 구분",</a:t>
            </a:r>
          </a:p>
          <a:p xmlns:a="http://schemas.openxmlformats.org/drawingml/2006/main">
            <a:r>
              <a:t>    "flow": [</a:t>
            </a:r>
          </a:p>
          <a:p xmlns:a="http://schemas.openxmlformats.org/drawingml/2006/main">
            <a:r>
              <a:t>      "학교급별 지침",</a:t>
            </a:r>
          </a:p>
          <a:p xmlns:a="http://schemas.openxmlformats.org/drawingml/2006/main">
            <a:r>
              <a:t>      "문서 전처리·RAG",</a:t>
            </a:r>
          </a:p>
          <a:p xmlns:a="http://schemas.openxmlformats.org/drawingml/2006/main">
            <a:r>
              <a:t>      "근거 페이지 답변",</a:t>
            </a:r>
          </a:p>
          <a:p xmlns:a="http://schemas.openxmlformats.org/drawingml/2006/main">
            <a:r>
              <a:t>      "교직원 검증"</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"동일 질문도 소속·업무 맥락별 지침 구분",</a:t>
            </a:r>
          </a:p>
          <a:p xmlns:a="http://schemas.openxmlformats.org/drawingml/2006/main">
            <a:r>
              <a:t>    "local": "TS 부서·직무별 규정 및 동일 요청 교차 평가",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검색 필터·출처 페이지·오류 피드백",</a:t>
            </a:r>
          </a:p>
          <a:p xmlns:a="http://schemas.openxmlformats.org/drawingml/2006/main">
            <a:r>
              <a:t>    "test": "부서·직무 변경 전후 검색 근거 대조",</a:t>
            </a:r>
          </a:p>
          <a:p xmlns:a="http://schemas.openxmlformats.org/drawingml/2006/main">
            <a:r>
              <a:t>    "metric": "근거 일치율 / 보완시간",</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"AX26",</a:t>
            </a:r>
          </a:p>
          <a:p xmlns:a="http://schemas.openxmlformats.org/drawingml/2006/main">
            <a:r>
              <a:t>    "canonicalId": "AX26",</a:t>
            </a:r>
          </a:p>
          <a:p xmlns:a="http://schemas.openxmlformats.org/drawingml/2006/main">
            <a:r>
              <a:t>    "purpose": "학교생활기록부 지침의 근거형 응대",</a:t>
            </a:r>
          </a:p>
          <a:p xmlns:a="http://schemas.openxmlformats.org/drawingml/2006/main">
            <a:r>
              <a:t>    "users": "학교·교육행정 담당자",</a:t>
            </a:r>
          </a:p>
          <a:p xmlns:a="http://schemas.openxmlformats.org/drawingml/2006/main">
            <a:r>
              <a:t>    "scope": [</a:t>
            </a:r>
          </a:p>
          <a:p xmlns:a="http://schemas.openxmlformats.org/drawingml/2006/main">
            <a:r>
              <a:t>      "지침 검색",</a:t>
            </a:r>
          </a:p>
          <a:p xmlns:a="http://schemas.openxmlformats.org/drawingml/2006/main">
            <a:r>
              <a:t>      "질의응답",</a:t>
            </a:r>
          </a:p>
          <a:p xmlns:a="http://schemas.openxmlformats.org/drawingml/2006/main">
            <a:r>
              <a:t>      "원문 페이지"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"교직원 질의",</a:t>
            </a:r>
          </a:p>
          <a:p xmlns:a="http://schemas.openxmlformats.org/drawingml/2006/main">
            <a:r>
              <a:t>        "detail": "학교급·학년도·업무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"지침 검색 / 질의응답 / 원문 페이지",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a:t>
            </a:r>
          </a:p>
          <a:p xmlns:a="http://schemas.openxmlformats.org/drawingml/2006/main">
            <a:r>
              <a:t>        "detail": "조건에 맞는 지침·질의응답 검색",</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"교직원 검토",</a:t>
            </a:r>
          </a:p>
          <a:p xmlns:a="http://schemas.openxmlformats.org/drawingml/2006/main">
            <a:r>
              <a:t>        "detail": "답변 근거와 원문 페이지를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"학교급별 지침",</a:t>
            </a:r>
          </a:p>
          <a:p xmlns:a="http://schemas.openxmlformats.org/drawingml/2006/main">
            <a:r>
              <a:t>        "detail": "지침 판본·학년도·원문 페이지별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"학년도 혼용·예외 조항 누락의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"학교급별 지침",</a:t>
            </a:r>
          </a:p>
          <a:p xmlns:a="http://schemas.openxmlformats.org/drawingml/2006/main">
            <a:r>
              <a:t>        "input": "학교급·학년도·업무 상황 확인",</a:t>
            </a:r>
          </a:p>
          <a:p xmlns:a="http://schemas.openxmlformats.org/drawingml/2006/main">
            <a:r>
              <a:t>        "process": "지침 판본·학년도·원문 페이지별 색인",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"title": "문서 전처리·RAG",</a:t>
            </a:r>
          </a:p>
          <a:p xmlns:a="http://schemas.openxmlformats.org/drawingml/2006/main">
            <a:r>
              <a:t>        "input": "학교급·질문",</a:t>
            </a:r>
          </a:p>
          <a:p xmlns:a="http://schemas.openxmlformats.org/drawingml/2006/main">
            <a:r>
              <a:t>        "process": "조건에 맞는 지침·질의응답 검색",</a:t>
            </a:r>
          </a:p>
          <a:p xmlns:a="http://schemas.openxmlformats.org/drawingml/2006/main">
            <a:r>
              <a:t>        "output": "관련 지침"</a:t>
            </a:r>
          </a:p>
          <a:p xmlns:a="http://schemas.openxmlformats.org/drawingml/2006/main">
            <a:r>
              <a:t>      },</a:t>
            </a:r>
          </a:p>
          <a:p xmlns:a="http://schemas.openxmlformats.org/drawingml/2006/main">
            <a:r>
              <a:t>      {</a:t>
            </a:r>
          </a:p>
          <a:p xmlns:a="http://schemas.openxmlformats.org/drawingml/2006/main">
            <a:r>
              <a:t>        "title": "근거 페이지 답변",</a:t>
            </a:r>
          </a:p>
          <a:p xmlns:a="http://schemas.openxmlformats.org/drawingml/2006/main">
            <a:r>
              <a:t>        "input": "관련 지침",</a:t>
            </a:r>
          </a:p>
          <a:p xmlns:a="http://schemas.openxmlformats.org/drawingml/2006/main">
            <a:r>
              <a:t>        "process": "학교급·연도·원문 페이지 대조",</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"title": "교직원 검증",</a:t>
            </a:r>
          </a:p>
          <a:p xmlns:a="http://schemas.openxmlformats.org/drawingml/2006/main">
            <a:r>
              <a:t>        "input": "근거 페이지 답변",</a:t>
            </a:r>
          </a:p>
          <a:p xmlns:a="http://schemas.openxmlformats.org/drawingml/2006/main">
            <a:r>
              <a:t>        "process":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"학년도·학교급에 맞는 생활기록부 지침 안내",</a:t>
            </a:r>
          </a:p>
          <a:p xmlns:a="http://schemas.openxmlformats.org/drawingml/2006/main">
            <a:r>
              <a:t>      "exception": "이전 학년도 혼입·예외 조건 누락·원문 페이지 변경",</a:t>
            </a:r>
          </a:p>
          <a:p xmlns:a="http://schemas.openxmlformats.org/drawingml/2006/main">
            <a:r>
              <a:t>      "evidence": "학년도별 정답·근거 페이지·예외 적용 대조표",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"학교·교육행정 담당자",</a:t>
            </a:r>
          </a:p>
          <a:p xmlns:a="http://schemas.openxmlformats.org/drawingml/2006/main">
            <a:r>
              <a:t>          "processing": "학교급·학년도·업무 상황 확인",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"학교급별 지침",</a:t>
            </a:r>
          </a:p>
          <a:p xmlns:a="http://schemas.openxmlformats.org/drawingml/2006/main">
            <a:r>
              <a:t>          "processing": "지침 판본·학년도·원문 페이지별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"학교급·질문",</a:t>
            </a:r>
          </a:p>
          <a:p xmlns:a="http://schemas.openxmlformats.org/drawingml/2006/main">
            <a:r>
              <a:t>          "processing": "조건에 맞는 지침·질의응답 검색",</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페이지 답변",</a:t>
            </a:r>
          </a:p>
          <a:p xmlns:a="http://schemas.openxmlformats.org/drawingml/2006/main">
            <a:r>
              <a:t>          "processing":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"학년도 혼용·예외 조항 누락의 평가",</a:t>
            </a:r>
          </a:p>
          <a:p xmlns:a="http://schemas.openxmlformats.org/drawingml/2006/main">
            <a:r>
              <a:t>          "output": "학년도별 정답·근거 페이지·예외 적용 대조표"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"학년도 혼용·예외 조항 누락의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"S-AX26",</a:t>
            </a:r>
          </a:p>
          <a:p xmlns:a="http://schemas.openxmlformats.org/drawingml/2006/main">
            <a:r>
              <a:t>        "title": "교육행정 응대 AI PoC · 공공AI 사례집 222–223쪽",</a:t>
            </a:r>
          </a:p>
          <a:p xmlns:a="http://schemas.openxmlformats.org/drawingml/2006/main">
            <a:r>
              <a:t>        "url": "https://bigdata.dongjak.go.kr/board/viewArticle?articleNo=954&amp;boardId=4",</a:t>
            </a:r>
          </a:p>
          <a:p xmlns:a="http://schemas.openxmlformats.org/drawingml/2006/main">
            <a:r>
              <a:t>        "published": "2024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"동일 질문도 소속·업무 맥락별 지침 구분",</a:t>
            </a:r>
          </a:p>
          <a:p xmlns:a="http://schemas.openxmlformats.org/drawingml/2006/main">
            <a:r>
              <a:t>    "local": "TS 부서·직무별 규정 및 동일 요청 교차 평가",</a:t>
            </a:r>
          </a:p>
          <a:p xmlns:a="http://schemas.openxmlformats.org/drawingml/2006/main">
            <a:r>
              <a:t>    "sourceDetail": null,</a:t>
            </a:r>
          </a:p>
          <a:p xmlns:a="http://schemas.openxmlformats.org/drawingml/2006/main">
            <a:r>
              <a:t>    "narrative": [</a:t>
            </a:r>
          </a:p>
          <a:p xmlns:a="http://schemas.openxmlformats.org/drawingml/2006/main">
            <a:r>
              <a:t>      "학교급·학년도별 학교생활기록부 지침을 교직원 질의에 연결하는 사례. 같은 질문이라도 적용 연도·학교급·업무 상황에 따라 근거가 달라지는 규정형 업무.",</a:t>
            </a:r>
          </a:p>
          <a:p xmlns:a="http://schemas.openxmlformats.org/drawingml/2006/main">
            <a:r>
              <a:t>      "질의 문맥을 확보한 뒤 해당 지침 판본과 페이지를 검색해 근거를 제공하는 재구성. 답변의 편집·검토 과정에서도 원문 페이지와 적용 조건을 함께 보존.",</a:t>
            </a:r>
          </a:p>
          <a:p xmlns:a="http://schemas.openxmlformats.org/drawingml/2006/main">
            <a:r>
              <a:t>      "TS 조직 네이티브 AI에서는 소속·직무뿐 아니라 업무 대상과 시행일을 검색 조건으로 추가하는 참고. 연도 혼용·학교급 혼용·예외 조항 누락에 해당하는 TS 도메인 시험셋의 별도 구성."</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"교직원 질의",</a:t>
            </a:r>
          </a:p>
          <a:p xmlns:a="http://schemas.openxmlformats.org/drawingml/2006/main">
            <a:r>
              <a:t>          "layer": "이용 접점",</a:t>
            </a:r>
          </a:p>
          <a:p xmlns:a="http://schemas.openxmlformats.org/drawingml/2006/main">
            <a:r>
              <a:t>          "detail": "학교·교육행정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"학교급·학년도",</a:t>
            </a:r>
          </a:p>
          <a:p xmlns:a="http://schemas.openxmlformats.org/drawingml/2006/main">
            <a:r>
              <a:t>          "layer": "업무 문맥",</a:t>
            </a:r>
          </a:p>
          <a:p xmlns:a="http://schemas.openxmlformats.org/drawingml/2006/main">
            <a:r>
              <a:t>          "detail": "학교급·학년도·업무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지침 검색",</a:t>
            </a:r>
          </a:p>
          <a:p xmlns:a="http://schemas.openxmlformats.org/drawingml/2006/main">
            <a:r>
              <a:t>          "layer": "자료 조회",</a:t>
            </a:r>
          </a:p>
          <a:p xmlns:a="http://schemas.openxmlformats.org/drawingml/2006/main">
            <a:r>
              <a:t>          "detail": "학교급·질문",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"조건에 맞는 지침·질의응답 검색",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"페이지·예외 대조",</a:t>
            </a:r>
          </a:p>
          <a:p xmlns:a="http://schemas.openxmlformats.org/drawingml/2006/main">
            <a:r>
              <a:t>          "layer": "결과 검증",</a:t>
            </a:r>
          </a:p>
          <a:p xmlns:a="http://schemas.openxmlformats.org/drawingml/2006/main">
            <a:r>
              <a:t>          "detail": "학교급·연도·원문 페이지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"교직원 원문 확인",</a:t>
            </a:r>
          </a:p>
          <a:p xmlns:a="http://schemas.openxmlformats.org/drawingml/2006/main">
            <a:r>
              <a:t>          "layer": "사람 확인",</a:t>
            </a:r>
          </a:p>
          <a:p xmlns:a="http://schemas.openxmlformats.org/drawingml/2006/main">
            <a:r>
              <a:t>          "detail": "학년도·학교급에 맞는 생활기록부 지침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"행정업무 적용",</a:t>
            </a:r>
          </a:p>
          <a:p xmlns:a="http://schemas.openxmlformats.org/drawingml/2006/main">
            <a:r>
              <a:t>          "layer": "업무 연결",</a:t>
            </a:r>
          </a:p>
          <a:p xmlns:a="http://schemas.openxmlformats.org/drawingml/2006/main">
            <a:r>
              <a:t>          "detail": "답변 근거와 원문 페이지를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"연도 혼용 검사",</a:t>
            </a:r>
          </a:p>
          <a:p xmlns:a="http://schemas.openxmlformats.org/drawingml/2006/main">
            <a:r>
              <a:t>          "layer": "운영 관측",</a:t>
            </a:r>
          </a:p>
          <a:p xmlns:a="http://schemas.openxmlformats.org/drawingml/2006/main">
            <a:r>
              <a:t>          "detail": "학년도 혼용·예외 조항 누락의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"지침·질의응답",</a:t>
            </a:r>
          </a:p>
          <a:p xmlns:a="http://schemas.openxmlformats.org/drawingml/2006/main">
            <a:r>
              <a:t>          "layer": "데이터 원천",</a:t>
            </a:r>
          </a:p>
          <a:p xmlns:a="http://schemas.openxmlformats.org/drawingml/2006/main">
            <a:r>
              <a:t>          "detail": "학교급별 지침",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"페이지·판본 색인",</a:t>
            </a:r>
          </a:p>
          <a:p xmlns:a="http://schemas.openxmlformats.org/drawingml/2006/main">
            <a:r>
              <a:t>          "layer": "준비·갱신",</a:t>
            </a:r>
          </a:p>
          <a:p xmlns:a="http://schemas.openxmlformats.org/drawingml/2006/main">
            <a:r>
              <a:t>          "detail": "지침 판본·학년도·원문 페이지별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"지침·평가셋",</a:t>
            </a:r>
          </a:p>
          <a:p xmlns:a="http://schemas.openxmlformats.org/drawingml/2006/main">
            <a:r>
              <a:t>          "layer": "상태·지식 저장",</a:t>
            </a:r>
          </a:p>
          <a:p xmlns:a="http://schemas.openxmlformats.org/drawingml/2006/main">
            <a:r>
              <a:t>          "detail": "학년도별 정답·근거 페이지·예외 적용 대조표",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"학교급별 경계",</a:t>
            </a:r>
          </a:p>
          <a:p xmlns:a="http://schemas.openxmlformats.org/drawingml/2006/main">
            <a:r>
              <a:t>          "layer": "권한·정책",</a:t>
            </a:r>
          </a:p>
          <a:p xmlns:a="http://schemas.openxmlformats.org/drawingml/2006/main">
            <a:r>
              <a:t>          "detail": "이전 학년도 혼입·예외 조건 누락·원문 페이지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"학교급별 지침 → 문서 전처리·RAG → 근거 페이지 답변 → 교직원 검증"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"학교급별 지침",</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"학교급·학년도·업무 상황 확인",</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"학년도별 정답·근거 페이지·예외 적용 대조표",</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지침",</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페이지 답변",</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"학교생활기록부 지침의 근거형 응대 / 지침 검색·질의응답·원문 페이지",</a:t>
            </a:r>
          </a:p>
          <a:p xmlns:a="http://schemas.openxmlformats.org/drawingml/2006/main">
            <a:r>
              <a:t>        "extension": "TS 부서·직무별 규정 및 동일 요청 교차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"이전 학년도 혼입·예외 조건 누락·원문 페이지 변경",</a:t>
            </a:r>
          </a:p>
          <a:p xmlns:a="http://schemas.openxmlformats.org/drawingml/2006/main">
            <a:r>
              <a:t>        "hold": "학교급·연도·원문 페이지 대조",</a:t>
            </a:r>
          </a:p>
          <a:p xmlns:a="http://schemas.openxmlformats.org/drawingml/2006/main">
            <a:r>
              <a:t>        "recovery": "학년도 혼용·예외 조항 누락의 평가",</a:t>
            </a:r>
          </a:p>
          <a:p xmlns:a="http://schemas.openxmlformats.org/drawingml/2006/main">
            <a:r>
              <a:t>        "evidence": "학년도별 정답·근거 페이지·예외 적용 대조표"</a:t>
            </a:r>
          </a:p>
          <a:p xmlns:a="http://schemas.openxmlformats.org/drawingml/2006/main">
            <a:r>
              <a:t>      },</a:t>
            </a:r>
          </a:p>
          <a:p xmlns:a="http://schemas.openxmlformats.org/drawingml/2006/main">
            <a:r>
              <a:t>      "data": {</a:t>
            </a:r>
          </a:p>
          <a:p xmlns:a="http://schemas.openxmlformats.org/drawingml/2006/main">
            <a:r>
              <a:t>        "source": "학교급별 지침",</a:t>
            </a:r>
          </a:p>
          <a:p xmlns:a="http://schemas.openxmlformats.org/drawingml/2006/main">
            <a:r>
              <a:t>        "prepare": "지침 판본·학년도·원문 페이지별 색인",</a:t>
            </a:r>
          </a:p>
          <a:p xmlns:a="http://schemas.openxmlformats.org/drawingml/2006/main">
            <a:r>
              <a:t>        "output": "학교급·질문",</a:t>
            </a:r>
          </a:p>
          <a:p xmlns:a="http://schemas.openxmlformats.org/drawingml/2006/main">
            <a:r>
              <a:t>        "refresh": "학년도 혼용·예외 조항 누락의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"AX26",</a:t>
            </a:r>
          </a:p>
          <a:p xmlns:a="http://schemas.openxmlformats.org/drawingml/2006/main">
            <a:r>
              <a:t>    "success": [</a:t>
            </a:r>
          </a:p>
          <a:p xmlns:a="http://schemas.openxmlformats.org/drawingml/2006/main">
            <a:r>
              <a:t>      "학교급별 지침의 분리",</a:t>
            </a:r>
          </a:p>
          <a:p xmlns:a="http://schemas.openxmlformats.org/drawingml/2006/main">
            <a:r>
              <a:t>      "답변과 원문 페이지의 연결"</a:t>
            </a:r>
          </a:p>
          <a:p xmlns:a="http://schemas.openxmlformats.org/drawingml/2006/main">
            <a:r>
              <a:t>    ],</a:t>
            </a:r>
          </a:p>
          <a:p xmlns:a="http://schemas.openxmlformats.org/drawingml/2006/main">
            <a:r>
              <a:t>    "risks": [</a:t>
            </a:r>
          </a:p>
          <a:p xmlns:a="http://schemas.openxmlformats.org/drawingml/2006/main">
            <a:r>
              <a:t>      "학교급·적용 연도 혼용",</a:t>
            </a:r>
          </a:p>
          <a:p xmlns:a="http://schemas.openxmlformats.org/drawingml/2006/main">
            <a:r>
              <a:t>      "유사 질문의 예외 답변 누락"</a:t>
            </a:r>
          </a:p>
          <a:p xmlns:a="http://schemas.openxmlformats.org/drawingml/2006/main">
            <a:r>
              <a:t>    ],</a:t>
            </a:r>
          </a:p>
          <a:p xmlns:a="http://schemas.openxmlformats.org/drawingml/2006/main">
            <a:r>
              <a:t>    "architecture": [</a:t>
            </a:r>
          </a:p>
          <a:p xmlns:a="http://schemas.openxmlformats.org/drawingml/2006/main">
            <a:r>
              <a:t>      "교직원 질의",</a:t>
            </a:r>
          </a:p>
          <a:p xmlns:a="http://schemas.openxmlformats.org/drawingml/2006/main">
            <a:r>
              <a:t>      "전처리·RAG",</a:t>
            </a:r>
          </a:p>
          <a:p xmlns:a="http://schemas.openxmlformats.org/drawingml/2006/main">
            <a:r>
              <a:t>      "학교급별 지침",</a:t>
            </a:r>
          </a:p>
          <a:p xmlns:a="http://schemas.openxmlformats.org/drawingml/2006/main">
            <a:r>
              <a:t>      "교직원 검토"</a:t>
            </a:r>
          </a:p>
          <a:p xmlns:a="http://schemas.openxmlformats.org/drawingml/2006/main">
            <a:r>
              <a:t>    ],</a:t>
            </a:r>
          </a:p>
          <a:p xmlns:a="http://schemas.openxmlformats.org/drawingml/2006/main">
            <a:r>
              <a:t>    "transfers": [</a:t>
            </a:r>
          </a:p>
          <a:p xmlns:a="http://schemas.openxmlformats.org/drawingml/2006/main">
            <a:r>
              <a:t>      "학교급·질문",</a:t>
            </a:r>
          </a:p>
          <a:p xmlns:a="http://schemas.openxmlformats.org/drawingml/2006/main">
            <a:r>
              <a:t>      "관련 지침",</a:t>
            </a:r>
          </a:p>
          <a:p xmlns:a="http://schemas.openxmlformats.org/drawingml/2006/main">
            <a:r>
              <a:t>      "근거 페이지 답변",</a:t>
            </a:r>
          </a:p>
          <a:p xmlns:a="http://schemas.openxmlformats.org/drawingml/2006/main">
            <a:r>
              <a:t>      "검증·보완"</a:t>
            </a:r>
          </a:p>
          <a:p xmlns:a="http://schemas.openxmlformats.org/drawingml/2006/main">
            <a:r>
              <a:t>    ],</a:t>
            </a:r>
          </a:p>
          <a:p xmlns:a="http://schemas.openxmlformats.org/drawingml/2006/main">
            <a:r>
              <a:t>    "control": "학교급·연도·원문 페이지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교육행정 응대 AI PoC · 공공AI 사례집 222–223쪽 https://bigdata.dongjak.go.kr/board/viewArticle?articleNo=954&amp;boardId=4</a:t>
            </a:r>
          </a:p>
          <a:p xmlns:a="http://schemas.openxmlformats.org/drawingml/2006/main">
            <a:r>
              <a:t>홈페이지 https://heen1987-ops.github.io/TS-business-Plan-001/index.html?view=casebook&amp;case=AX26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"AX26",</a:t>
            </a:r>
          </a:p>
          <a:p xmlns:a="http://schemas.openxmlformats.org/drawingml/2006/main">
            <a:r>
              <a:t>    "title": "교육행정 응대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"학교급·지침 기반 RAG",</a:t>
            </a:r>
          </a:p>
          <a:p xmlns:a="http://schemas.openxmlformats.org/drawingml/2006/main">
            <a:r>
              <a:t>    "period": "2024 실증",</a:t>
            </a:r>
          </a:p>
          <a:p xmlns:a="http://schemas.openxmlformats.org/drawingml/2006/main">
            <a:r>
              <a:t>    "sources": [</a:t>
            </a:r>
          </a:p>
          <a:p xmlns:a="http://schemas.openxmlformats.org/drawingml/2006/main">
            <a:r>
              <a:t>      "S-AX26"</a:t>
            </a:r>
          </a:p>
          <a:p xmlns:a="http://schemas.openxmlformats.org/drawingml/2006/main">
            <a:r>
              <a:t>    ],</a:t>
            </a:r>
          </a:p>
          <a:p xmlns:a="http://schemas.openxmlformats.org/drawingml/2006/main">
            <a:r>
              <a:t>    "keywords": [</a:t>
            </a:r>
          </a:p>
          <a:p xmlns:a="http://schemas.openxmlformats.org/drawingml/2006/main">
            <a:r>
              <a:t>      "학교급",</a:t>
            </a:r>
          </a:p>
          <a:p xmlns:a="http://schemas.openxmlformats.org/drawingml/2006/main">
            <a:r>
              <a:t>      "지침 기반 RAG"</a:t>
            </a:r>
          </a:p>
          <a:p xmlns:a="http://schemas.openxmlformats.org/drawingml/2006/main">
            <a:r>
              <a:t>    ],</a:t>
            </a:r>
          </a:p>
          <a:p xmlns:a="http://schemas.openxmlformats.org/drawingml/2006/main">
            <a:r>
              <a:t>    "fact": "학교생활기록부 지침·질의응답 자료를 활용한 RAG와 원문 페이지 연결 실증",</a:t>
            </a:r>
          </a:p>
          <a:p xmlns:a="http://schemas.openxmlformats.org/drawingml/2006/main">
            <a:r>
              <a:t>    "limit": "선정 문서·업무 범위의 PoC · 전체 교육행정 자동화와 구분",</a:t>
            </a:r>
          </a:p>
          <a:p xmlns:a="http://schemas.openxmlformats.org/drawingml/2006/main">
            <a:r>
              <a:t>    "flow": [</a:t>
            </a:r>
          </a:p>
          <a:p xmlns:a="http://schemas.openxmlformats.org/drawingml/2006/main">
            <a:r>
              <a:t>      "학교급별 지침",</a:t>
            </a:r>
          </a:p>
          <a:p xmlns:a="http://schemas.openxmlformats.org/drawingml/2006/main">
            <a:r>
              <a:t>      "문서 전처리·RAG",</a:t>
            </a:r>
          </a:p>
          <a:p xmlns:a="http://schemas.openxmlformats.org/drawingml/2006/main">
            <a:r>
              <a:t>      "근거 페이지 답변",</a:t>
            </a:r>
          </a:p>
          <a:p xmlns:a="http://schemas.openxmlformats.org/drawingml/2006/main">
            <a:r>
              <a:t>      "교직원 검증"</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"동일 질문도 소속·업무 맥락별 지침 구분",</a:t>
            </a:r>
          </a:p>
          <a:p xmlns:a="http://schemas.openxmlformats.org/drawingml/2006/main">
            <a:r>
              <a:t>    "local": "TS 부서·직무별 규정 및 동일 요청 교차 평가",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검색 필터·출처 페이지·오류 피드백",</a:t>
            </a:r>
          </a:p>
          <a:p xmlns:a="http://schemas.openxmlformats.org/drawingml/2006/main">
            <a:r>
              <a:t>    "test": "부서·직무 변경 전후 검색 근거 대조",</a:t>
            </a:r>
          </a:p>
          <a:p xmlns:a="http://schemas.openxmlformats.org/drawingml/2006/main">
            <a:r>
              <a:t>    "metric": "근거 일치율 / 보완시간",</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"AX26",</a:t>
            </a:r>
          </a:p>
          <a:p xmlns:a="http://schemas.openxmlformats.org/drawingml/2006/main">
            <a:r>
              <a:t>    "canonicalId": "AX26",</a:t>
            </a:r>
          </a:p>
          <a:p xmlns:a="http://schemas.openxmlformats.org/drawingml/2006/main">
            <a:r>
              <a:t>    "purpose": "학교생활기록부 지침의 근거형 응대",</a:t>
            </a:r>
          </a:p>
          <a:p xmlns:a="http://schemas.openxmlformats.org/drawingml/2006/main">
            <a:r>
              <a:t>    "users": "학교·교육행정 담당자",</a:t>
            </a:r>
          </a:p>
          <a:p xmlns:a="http://schemas.openxmlformats.org/drawingml/2006/main">
            <a:r>
              <a:t>    "scope": [</a:t>
            </a:r>
          </a:p>
          <a:p xmlns:a="http://schemas.openxmlformats.org/drawingml/2006/main">
            <a:r>
              <a:t>      "지침 검색",</a:t>
            </a:r>
          </a:p>
          <a:p xmlns:a="http://schemas.openxmlformats.org/drawingml/2006/main">
            <a:r>
              <a:t>      "질의응답",</a:t>
            </a:r>
          </a:p>
          <a:p xmlns:a="http://schemas.openxmlformats.org/drawingml/2006/main">
            <a:r>
              <a:t>      "원문 페이지"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"교직원 질의",</a:t>
            </a:r>
          </a:p>
          <a:p xmlns:a="http://schemas.openxmlformats.org/drawingml/2006/main">
            <a:r>
              <a:t>        "detail": "학교급·학년도·업무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"지침 검색 / 질의응답 / 원문 페이지",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a:t>
            </a:r>
          </a:p>
          <a:p xmlns:a="http://schemas.openxmlformats.org/drawingml/2006/main">
            <a:r>
              <a:t>        "detail": "조건에 맞는 지침·질의응답 검색",</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"교직원 검토",</a:t>
            </a:r>
          </a:p>
          <a:p xmlns:a="http://schemas.openxmlformats.org/drawingml/2006/main">
            <a:r>
              <a:t>        "detail": "답변 근거와 원문 페이지를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"학교급별 지침",</a:t>
            </a:r>
          </a:p>
          <a:p xmlns:a="http://schemas.openxmlformats.org/drawingml/2006/main">
            <a:r>
              <a:t>        "detail": "지침 판본·학년도·원문 페이지별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"학년도 혼용·예외 조항 누락의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"학교급별 지침",</a:t>
            </a:r>
          </a:p>
          <a:p xmlns:a="http://schemas.openxmlformats.org/drawingml/2006/main">
            <a:r>
              <a:t>        "input": "학교급·학년도·업무 상황 확인",</a:t>
            </a:r>
          </a:p>
          <a:p xmlns:a="http://schemas.openxmlformats.org/drawingml/2006/main">
            <a:r>
              <a:t>        "process": "지침 판본·학년도·원문 페이지별 색인",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"title": "문서 전처리·RAG",</a:t>
            </a:r>
          </a:p>
          <a:p xmlns:a="http://schemas.openxmlformats.org/drawingml/2006/main">
            <a:r>
              <a:t>        "input": "학교급·질문",</a:t>
            </a:r>
          </a:p>
          <a:p xmlns:a="http://schemas.openxmlformats.org/drawingml/2006/main">
            <a:r>
              <a:t>        "process": "조건에 맞는 지침·질의응답 검색",</a:t>
            </a:r>
          </a:p>
          <a:p xmlns:a="http://schemas.openxmlformats.org/drawingml/2006/main">
            <a:r>
              <a:t>        "output": "관련 지침"</a:t>
            </a:r>
          </a:p>
          <a:p xmlns:a="http://schemas.openxmlformats.org/drawingml/2006/main">
            <a:r>
              <a:t>      },</a:t>
            </a:r>
          </a:p>
          <a:p xmlns:a="http://schemas.openxmlformats.org/drawingml/2006/main">
            <a:r>
              <a:t>      {</a:t>
            </a:r>
          </a:p>
          <a:p xmlns:a="http://schemas.openxmlformats.org/drawingml/2006/main">
            <a:r>
              <a:t>        "title": "근거 페이지 답변",</a:t>
            </a:r>
          </a:p>
          <a:p xmlns:a="http://schemas.openxmlformats.org/drawingml/2006/main">
            <a:r>
              <a:t>        "input": "관련 지침",</a:t>
            </a:r>
          </a:p>
          <a:p xmlns:a="http://schemas.openxmlformats.org/drawingml/2006/main">
            <a:r>
              <a:t>        "process": "학교급·연도·원문 페이지 대조",</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"title": "교직원 검증",</a:t>
            </a:r>
          </a:p>
          <a:p xmlns:a="http://schemas.openxmlformats.org/drawingml/2006/main">
            <a:r>
              <a:t>        "input": "근거 페이지 답변",</a:t>
            </a:r>
          </a:p>
          <a:p xmlns:a="http://schemas.openxmlformats.org/drawingml/2006/main">
            <a:r>
              <a:t>        "process":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"학년도·학교급에 맞는 생활기록부 지침 안내",</a:t>
            </a:r>
          </a:p>
          <a:p xmlns:a="http://schemas.openxmlformats.org/drawingml/2006/main">
            <a:r>
              <a:t>      "exception": "이전 학년도 혼입·예외 조건 누락·원문 페이지 변경",</a:t>
            </a:r>
          </a:p>
          <a:p xmlns:a="http://schemas.openxmlformats.org/drawingml/2006/main">
            <a:r>
              <a:t>      "evidence": "학년도별 정답·근거 페이지·예외 적용 대조표",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"학교·교육행정 담당자",</a:t>
            </a:r>
          </a:p>
          <a:p xmlns:a="http://schemas.openxmlformats.org/drawingml/2006/main">
            <a:r>
              <a:t>          "processing": "학교급·학년도·업무 상황 확인",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"학교급별 지침",</a:t>
            </a:r>
          </a:p>
          <a:p xmlns:a="http://schemas.openxmlformats.org/drawingml/2006/main">
            <a:r>
              <a:t>          "processing": "지침 판본·학년도·원문 페이지별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"학교급·질문",</a:t>
            </a:r>
          </a:p>
          <a:p xmlns:a="http://schemas.openxmlformats.org/drawingml/2006/main">
            <a:r>
              <a:t>          "processing": "조건에 맞는 지침·질의응답 검색",</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페이지 답변",</a:t>
            </a:r>
          </a:p>
          <a:p xmlns:a="http://schemas.openxmlformats.org/drawingml/2006/main">
            <a:r>
              <a:t>          "processing":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"학년도 혼용·예외 조항 누락의 평가",</a:t>
            </a:r>
          </a:p>
          <a:p xmlns:a="http://schemas.openxmlformats.org/drawingml/2006/main">
            <a:r>
              <a:t>          "output": "학년도별 정답·근거 페이지·예외 적용 대조표"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"학년도 혼용·예외 조항 누락의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"S-AX26",</a:t>
            </a:r>
          </a:p>
          <a:p xmlns:a="http://schemas.openxmlformats.org/drawingml/2006/main">
            <a:r>
              <a:t>        "title": "교육행정 응대 AI PoC · 공공AI 사례집 222–223쪽",</a:t>
            </a:r>
          </a:p>
          <a:p xmlns:a="http://schemas.openxmlformats.org/drawingml/2006/main">
            <a:r>
              <a:t>        "url": "https://bigdata.dongjak.go.kr/board/viewArticle?articleNo=954&amp;boardId=4",</a:t>
            </a:r>
          </a:p>
          <a:p xmlns:a="http://schemas.openxmlformats.org/drawingml/2006/main">
            <a:r>
              <a:t>        "published": "2024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"동일 질문도 소속·업무 맥락별 지침 구분",</a:t>
            </a:r>
          </a:p>
          <a:p xmlns:a="http://schemas.openxmlformats.org/drawingml/2006/main">
            <a:r>
              <a:t>    "local": "TS 부서·직무별 규정 및 동일 요청 교차 평가",</a:t>
            </a:r>
          </a:p>
          <a:p xmlns:a="http://schemas.openxmlformats.org/drawingml/2006/main">
            <a:r>
              <a:t>    "sourceDetail": null,</a:t>
            </a:r>
          </a:p>
          <a:p xmlns:a="http://schemas.openxmlformats.org/drawingml/2006/main">
            <a:r>
              <a:t>    "narrative": [</a:t>
            </a:r>
          </a:p>
          <a:p xmlns:a="http://schemas.openxmlformats.org/drawingml/2006/main">
            <a:r>
              <a:t>      "학교급·학년도별 학교생활기록부 지침을 교직원 질의에 연결하는 사례. 같은 질문이라도 적용 연도·학교급·업무 상황에 따라 근거가 달라지는 규정형 업무.",</a:t>
            </a:r>
          </a:p>
          <a:p xmlns:a="http://schemas.openxmlformats.org/drawingml/2006/main">
            <a:r>
              <a:t>      "질의 문맥을 확보한 뒤 해당 지침 판본과 페이지를 검색해 근거를 제공하는 재구성. 답변의 편집·검토 과정에서도 원문 페이지와 적용 조건을 함께 보존.",</a:t>
            </a:r>
          </a:p>
          <a:p xmlns:a="http://schemas.openxmlformats.org/drawingml/2006/main">
            <a:r>
              <a:t>      "TS 조직 네이티브 AI에서는 소속·직무뿐 아니라 업무 대상과 시행일을 검색 조건으로 추가하는 참고. 연도 혼용·학교급 혼용·예외 조항 누락에 해당하는 TS 도메인 시험셋의 별도 구성."</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"교직원 질의",</a:t>
            </a:r>
          </a:p>
          <a:p xmlns:a="http://schemas.openxmlformats.org/drawingml/2006/main">
            <a:r>
              <a:t>          "layer": "이용 접점",</a:t>
            </a:r>
          </a:p>
          <a:p xmlns:a="http://schemas.openxmlformats.org/drawingml/2006/main">
            <a:r>
              <a:t>          "detail": "학교·교육행정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"학교급·학년도",</a:t>
            </a:r>
          </a:p>
          <a:p xmlns:a="http://schemas.openxmlformats.org/drawingml/2006/main">
            <a:r>
              <a:t>          "layer": "업무 문맥",</a:t>
            </a:r>
          </a:p>
          <a:p xmlns:a="http://schemas.openxmlformats.org/drawingml/2006/main">
            <a:r>
              <a:t>          "detail": "학교급·학년도·업무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지침 검색",</a:t>
            </a:r>
          </a:p>
          <a:p xmlns:a="http://schemas.openxmlformats.org/drawingml/2006/main">
            <a:r>
              <a:t>          "layer": "자료 조회",</a:t>
            </a:r>
          </a:p>
          <a:p xmlns:a="http://schemas.openxmlformats.org/drawingml/2006/main">
            <a:r>
              <a:t>          "detail": "학교급·질문",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"조건에 맞는 지침·질의응답 검색",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"페이지·예외 대조",</a:t>
            </a:r>
          </a:p>
          <a:p xmlns:a="http://schemas.openxmlformats.org/drawingml/2006/main">
            <a:r>
              <a:t>          "layer": "결과 검증",</a:t>
            </a:r>
          </a:p>
          <a:p xmlns:a="http://schemas.openxmlformats.org/drawingml/2006/main">
            <a:r>
              <a:t>          "detail": "학교급·연도·원문 페이지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"교직원 원문 확인",</a:t>
            </a:r>
          </a:p>
          <a:p xmlns:a="http://schemas.openxmlformats.org/drawingml/2006/main">
            <a:r>
              <a:t>          "layer": "사람 확인",</a:t>
            </a:r>
          </a:p>
          <a:p xmlns:a="http://schemas.openxmlformats.org/drawingml/2006/main">
            <a:r>
              <a:t>          "detail": "학년도·학교급에 맞는 생활기록부 지침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"행정업무 적용",</a:t>
            </a:r>
          </a:p>
          <a:p xmlns:a="http://schemas.openxmlformats.org/drawingml/2006/main">
            <a:r>
              <a:t>          "layer": "업무 연결",</a:t>
            </a:r>
          </a:p>
          <a:p xmlns:a="http://schemas.openxmlformats.org/drawingml/2006/main">
            <a:r>
              <a:t>          "detail": "답변 근거와 원문 페이지를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"연도 혼용 검사",</a:t>
            </a:r>
          </a:p>
          <a:p xmlns:a="http://schemas.openxmlformats.org/drawingml/2006/main">
            <a:r>
              <a:t>          "layer": "운영 관측",</a:t>
            </a:r>
          </a:p>
          <a:p xmlns:a="http://schemas.openxmlformats.org/drawingml/2006/main">
            <a:r>
              <a:t>          "detail": "학년도 혼용·예외 조항 누락의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"지침·질의응답",</a:t>
            </a:r>
          </a:p>
          <a:p xmlns:a="http://schemas.openxmlformats.org/drawingml/2006/main">
            <a:r>
              <a:t>          "layer": "데이터 원천",</a:t>
            </a:r>
          </a:p>
          <a:p xmlns:a="http://schemas.openxmlformats.org/drawingml/2006/main">
            <a:r>
              <a:t>          "detail": "학교급별 지침",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"페이지·판본 색인",</a:t>
            </a:r>
          </a:p>
          <a:p xmlns:a="http://schemas.openxmlformats.org/drawingml/2006/main">
            <a:r>
              <a:t>          "layer": "준비·갱신",</a:t>
            </a:r>
          </a:p>
          <a:p xmlns:a="http://schemas.openxmlformats.org/drawingml/2006/main">
            <a:r>
              <a:t>          "detail": "지침 판본·학년도·원문 페이지별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"지침·평가셋",</a:t>
            </a:r>
          </a:p>
          <a:p xmlns:a="http://schemas.openxmlformats.org/drawingml/2006/main">
            <a:r>
              <a:t>          "layer": "상태·지식 저장",</a:t>
            </a:r>
          </a:p>
          <a:p xmlns:a="http://schemas.openxmlformats.org/drawingml/2006/main">
            <a:r>
              <a:t>          "detail": "학년도별 정답·근거 페이지·예외 적용 대조표",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"학교급별 경계",</a:t>
            </a:r>
          </a:p>
          <a:p xmlns:a="http://schemas.openxmlformats.org/drawingml/2006/main">
            <a:r>
              <a:t>          "layer": "권한·정책",</a:t>
            </a:r>
          </a:p>
          <a:p xmlns:a="http://schemas.openxmlformats.org/drawingml/2006/main">
            <a:r>
              <a:t>          "detail": "이전 학년도 혼입·예외 조건 누락·원문 페이지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"학교급별 지침 → 문서 전처리·RAG → 근거 페이지 답변 → 교직원 검증"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"학교급별 지침",</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"학교급·학년도·업무 상황 확인",</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"학년도별 정답·근거 페이지·예외 적용 대조표",</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지침",</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페이지 답변",</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"학교생활기록부 지침의 근거형 응대 / 지침 검색·질의응답·원문 페이지",</a:t>
            </a:r>
          </a:p>
          <a:p xmlns:a="http://schemas.openxmlformats.org/drawingml/2006/main">
            <a:r>
              <a:t>        "extension": "TS 부서·직무별 규정 및 동일 요청 교차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"이전 학년도 혼입·예외 조건 누락·원문 페이지 변경",</a:t>
            </a:r>
          </a:p>
          <a:p xmlns:a="http://schemas.openxmlformats.org/drawingml/2006/main">
            <a:r>
              <a:t>        "hold": "학교급·연도·원문 페이지 대조",</a:t>
            </a:r>
          </a:p>
          <a:p xmlns:a="http://schemas.openxmlformats.org/drawingml/2006/main">
            <a:r>
              <a:t>        "recovery": "학년도 혼용·예외 조항 누락의 평가",</a:t>
            </a:r>
          </a:p>
          <a:p xmlns:a="http://schemas.openxmlformats.org/drawingml/2006/main">
            <a:r>
              <a:t>        "evidence": "학년도별 정답·근거 페이지·예외 적용 대조표"</a:t>
            </a:r>
          </a:p>
          <a:p xmlns:a="http://schemas.openxmlformats.org/drawingml/2006/main">
            <a:r>
              <a:t>      },</a:t>
            </a:r>
          </a:p>
          <a:p xmlns:a="http://schemas.openxmlformats.org/drawingml/2006/main">
            <a:r>
              <a:t>      "data": {</a:t>
            </a:r>
          </a:p>
          <a:p xmlns:a="http://schemas.openxmlformats.org/drawingml/2006/main">
            <a:r>
              <a:t>        "source": "학교급별 지침",</a:t>
            </a:r>
          </a:p>
          <a:p xmlns:a="http://schemas.openxmlformats.org/drawingml/2006/main">
            <a:r>
              <a:t>        "prepare": "지침 판본·학년도·원문 페이지별 색인",</a:t>
            </a:r>
          </a:p>
          <a:p xmlns:a="http://schemas.openxmlformats.org/drawingml/2006/main">
            <a:r>
              <a:t>        "output": "학교급·질문",</a:t>
            </a:r>
          </a:p>
          <a:p xmlns:a="http://schemas.openxmlformats.org/drawingml/2006/main">
            <a:r>
              <a:t>        "refresh": "학년도 혼용·예외 조항 누락의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"AX26",</a:t>
            </a:r>
          </a:p>
          <a:p xmlns:a="http://schemas.openxmlformats.org/drawingml/2006/main">
            <a:r>
              <a:t>    "success": [</a:t>
            </a:r>
          </a:p>
          <a:p xmlns:a="http://schemas.openxmlformats.org/drawingml/2006/main">
            <a:r>
              <a:t>      "학교급별 지침의 분리",</a:t>
            </a:r>
          </a:p>
          <a:p xmlns:a="http://schemas.openxmlformats.org/drawingml/2006/main">
            <a:r>
              <a:t>      "답변과 원문 페이지의 연결"</a:t>
            </a:r>
          </a:p>
          <a:p xmlns:a="http://schemas.openxmlformats.org/drawingml/2006/main">
            <a:r>
              <a:t>    ],</a:t>
            </a:r>
          </a:p>
          <a:p xmlns:a="http://schemas.openxmlformats.org/drawingml/2006/main">
            <a:r>
              <a:t>    "risks": [</a:t>
            </a:r>
          </a:p>
          <a:p xmlns:a="http://schemas.openxmlformats.org/drawingml/2006/main">
            <a:r>
              <a:t>      "학교급·적용 연도 혼용",</a:t>
            </a:r>
          </a:p>
          <a:p xmlns:a="http://schemas.openxmlformats.org/drawingml/2006/main">
            <a:r>
              <a:t>      "유사 질문의 예외 답변 누락"</a:t>
            </a:r>
          </a:p>
          <a:p xmlns:a="http://schemas.openxmlformats.org/drawingml/2006/main">
            <a:r>
              <a:t>    ],</a:t>
            </a:r>
          </a:p>
          <a:p xmlns:a="http://schemas.openxmlformats.org/drawingml/2006/main">
            <a:r>
              <a:t>    "architecture": [</a:t>
            </a:r>
          </a:p>
          <a:p xmlns:a="http://schemas.openxmlformats.org/drawingml/2006/main">
            <a:r>
              <a:t>      "교직원 질의",</a:t>
            </a:r>
          </a:p>
          <a:p xmlns:a="http://schemas.openxmlformats.org/drawingml/2006/main">
            <a:r>
              <a:t>      "전처리·RAG",</a:t>
            </a:r>
          </a:p>
          <a:p xmlns:a="http://schemas.openxmlformats.org/drawingml/2006/main">
            <a:r>
              <a:t>      "학교급별 지침",</a:t>
            </a:r>
          </a:p>
          <a:p xmlns:a="http://schemas.openxmlformats.org/drawingml/2006/main">
            <a:r>
              <a:t>      "교직원 검토"</a:t>
            </a:r>
          </a:p>
          <a:p xmlns:a="http://schemas.openxmlformats.org/drawingml/2006/main">
            <a:r>
              <a:t>    ],</a:t>
            </a:r>
          </a:p>
          <a:p xmlns:a="http://schemas.openxmlformats.org/drawingml/2006/main">
            <a:r>
              <a:t>    "transfers": [</a:t>
            </a:r>
          </a:p>
          <a:p xmlns:a="http://schemas.openxmlformats.org/drawingml/2006/main">
            <a:r>
              <a:t>      "학교급·질문",</a:t>
            </a:r>
          </a:p>
          <a:p xmlns:a="http://schemas.openxmlformats.org/drawingml/2006/main">
            <a:r>
              <a:t>      "관련 지침",</a:t>
            </a:r>
          </a:p>
          <a:p xmlns:a="http://schemas.openxmlformats.org/drawingml/2006/main">
            <a:r>
              <a:t>      "근거 페이지 답변",</a:t>
            </a:r>
          </a:p>
          <a:p xmlns:a="http://schemas.openxmlformats.org/drawingml/2006/main">
            <a:r>
              <a:t>      "검증·보완"</a:t>
            </a:r>
          </a:p>
          <a:p xmlns:a="http://schemas.openxmlformats.org/drawingml/2006/main">
            <a:r>
              <a:t>    ],</a:t>
            </a:r>
          </a:p>
          <a:p xmlns:a="http://schemas.openxmlformats.org/drawingml/2006/main">
            <a:r>
              <a:t>    "control": "학교급·연도·원문 페이지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교육행정 응대 AI PoC · 공공AI 사례집 222–223쪽 https://bigdata.dongjak.go.kr/board/viewArticle?articleNo=954&amp;boardId=4</a:t>
            </a:r>
          </a:p>
          <a:p xmlns:a="http://schemas.openxmlformats.org/drawingml/2006/main">
            <a:r>
              <a:t>홈페이지 https://heen1987-ops.github.io/TS-business-Plan-001/index.html?view=casebook&amp;case=AX26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"AX26",</a:t>
            </a:r>
          </a:p>
          <a:p xmlns:a="http://schemas.openxmlformats.org/drawingml/2006/main">
            <a:r>
              <a:t>    "title": "교육행정 응대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"학교급·지침 기반 RAG",</a:t>
            </a:r>
          </a:p>
          <a:p xmlns:a="http://schemas.openxmlformats.org/drawingml/2006/main">
            <a:r>
              <a:t>    "period": "2024 실증",</a:t>
            </a:r>
          </a:p>
          <a:p xmlns:a="http://schemas.openxmlformats.org/drawingml/2006/main">
            <a:r>
              <a:t>    "sources": [</a:t>
            </a:r>
          </a:p>
          <a:p xmlns:a="http://schemas.openxmlformats.org/drawingml/2006/main">
            <a:r>
              <a:t>      "S-AX26"</a:t>
            </a:r>
          </a:p>
          <a:p xmlns:a="http://schemas.openxmlformats.org/drawingml/2006/main">
            <a:r>
              <a:t>    ],</a:t>
            </a:r>
          </a:p>
          <a:p xmlns:a="http://schemas.openxmlformats.org/drawingml/2006/main">
            <a:r>
              <a:t>    "keywords": [</a:t>
            </a:r>
          </a:p>
          <a:p xmlns:a="http://schemas.openxmlformats.org/drawingml/2006/main">
            <a:r>
              <a:t>      "학교급",</a:t>
            </a:r>
          </a:p>
          <a:p xmlns:a="http://schemas.openxmlformats.org/drawingml/2006/main">
            <a:r>
              <a:t>      "지침 기반 RAG"</a:t>
            </a:r>
          </a:p>
          <a:p xmlns:a="http://schemas.openxmlformats.org/drawingml/2006/main">
            <a:r>
              <a:t>    ],</a:t>
            </a:r>
          </a:p>
          <a:p xmlns:a="http://schemas.openxmlformats.org/drawingml/2006/main">
            <a:r>
              <a:t>    "fact": "학교생활기록부 지침·질의응답 자료를 활용한 RAG와 원문 페이지 연결 실증",</a:t>
            </a:r>
          </a:p>
          <a:p xmlns:a="http://schemas.openxmlformats.org/drawingml/2006/main">
            <a:r>
              <a:t>    "limit": "선정 문서·업무 범위의 PoC · 전체 교육행정 자동화와 구분",</a:t>
            </a:r>
          </a:p>
          <a:p xmlns:a="http://schemas.openxmlformats.org/drawingml/2006/main">
            <a:r>
              <a:t>    "flow": [</a:t>
            </a:r>
          </a:p>
          <a:p xmlns:a="http://schemas.openxmlformats.org/drawingml/2006/main">
            <a:r>
              <a:t>      "학교급별 지침",</a:t>
            </a:r>
          </a:p>
          <a:p xmlns:a="http://schemas.openxmlformats.org/drawingml/2006/main">
            <a:r>
              <a:t>      "문서 전처리·RAG",</a:t>
            </a:r>
          </a:p>
          <a:p xmlns:a="http://schemas.openxmlformats.org/drawingml/2006/main">
            <a:r>
              <a:t>      "근거 페이지 답변",</a:t>
            </a:r>
          </a:p>
          <a:p xmlns:a="http://schemas.openxmlformats.org/drawingml/2006/main">
            <a:r>
              <a:t>      "교직원 검증"</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"동일 질문도 소속·업무 맥락별 지침 구분",</a:t>
            </a:r>
          </a:p>
          <a:p xmlns:a="http://schemas.openxmlformats.org/drawingml/2006/main">
            <a:r>
              <a:t>    "local": "TS 부서·직무별 규정 및 동일 요청 교차 평가",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검색 필터·출처 페이지·오류 피드백",</a:t>
            </a:r>
          </a:p>
          <a:p xmlns:a="http://schemas.openxmlformats.org/drawingml/2006/main">
            <a:r>
              <a:t>    "test": "부서·직무 변경 전후 검색 근거 대조",</a:t>
            </a:r>
          </a:p>
          <a:p xmlns:a="http://schemas.openxmlformats.org/drawingml/2006/main">
            <a:r>
              <a:t>    "metric": "근거 일치율 / 보완시간",</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"AX26",</a:t>
            </a:r>
          </a:p>
          <a:p xmlns:a="http://schemas.openxmlformats.org/drawingml/2006/main">
            <a:r>
              <a:t>    "canonicalId": "AX26",</a:t>
            </a:r>
          </a:p>
          <a:p xmlns:a="http://schemas.openxmlformats.org/drawingml/2006/main">
            <a:r>
              <a:t>    "purpose": "학교생활기록부 지침의 근거형 응대",</a:t>
            </a:r>
          </a:p>
          <a:p xmlns:a="http://schemas.openxmlformats.org/drawingml/2006/main">
            <a:r>
              <a:t>    "users": "학교·교육행정 담당자",</a:t>
            </a:r>
          </a:p>
          <a:p xmlns:a="http://schemas.openxmlformats.org/drawingml/2006/main">
            <a:r>
              <a:t>    "scope": [</a:t>
            </a:r>
          </a:p>
          <a:p xmlns:a="http://schemas.openxmlformats.org/drawingml/2006/main">
            <a:r>
              <a:t>      "지침 검색",</a:t>
            </a:r>
          </a:p>
          <a:p xmlns:a="http://schemas.openxmlformats.org/drawingml/2006/main">
            <a:r>
              <a:t>      "질의응답",</a:t>
            </a:r>
          </a:p>
          <a:p xmlns:a="http://schemas.openxmlformats.org/drawingml/2006/main">
            <a:r>
              <a:t>      "원문 페이지"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"교직원 질의",</a:t>
            </a:r>
          </a:p>
          <a:p xmlns:a="http://schemas.openxmlformats.org/drawingml/2006/main">
            <a:r>
              <a:t>        "detail": "학교급·학년도·업무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"지침 검색 / 질의응답 / 원문 페이지",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a:t>
            </a:r>
          </a:p>
          <a:p xmlns:a="http://schemas.openxmlformats.org/drawingml/2006/main">
            <a:r>
              <a:t>        "detail": "조건에 맞는 지침·질의응답 검색",</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"교직원 검토",</a:t>
            </a:r>
          </a:p>
          <a:p xmlns:a="http://schemas.openxmlformats.org/drawingml/2006/main">
            <a:r>
              <a:t>        "detail": "답변 근거와 원문 페이지를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"학교급별 지침",</a:t>
            </a:r>
          </a:p>
          <a:p xmlns:a="http://schemas.openxmlformats.org/drawingml/2006/main">
            <a:r>
              <a:t>        "detail": "지침 판본·학년도·원문 페이지별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"학년도 혼용·예외 조항 누락의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"학교급별 지침",</a:t>
            </a:r>
          </a:p>
          <a:p xmlns:a="http://schemas.openxmlformats.org/drawingml/2006/main">
            <a:r>
              <a:t>        "input": "학교급·학년도·업무 상황 확인",</a:t>
            </a:r>
          </a:p>
          <a:p xmlns:a="http://schemas.openxmlformats.org/drawingml/2006/main">
            <a:r>
              <a:t>        "process": "지침 판본·학년도·원문 페이지별 색인",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"title": "문서 전처리·RAG",</a:t>
            </a:r>
          </a:p>
          <a:p xmlns:a="http://schemas.openxmlformats.org/drawingml/2006/main">
            <a:r>
              <a:t>        "input": "학교급·질문",</a:t>
            </a:r>
          </a:p>
          <a:p xmlns:a="http://schemas.openxmlformats.org/drawingml/2006/main">
            <a:r>
              <a:t>        "process": "조건에 맞는 지침·질의응답 검색",</a:t>
            </a:r>
          </a:p>
          <a:p xmlns:a="http://schemas.openxmlformats.org/drawingml/2006/main">
            <a:r>
              <a:t>        "output": "관련 지침"</a:t>
            </a:r>
          </a:p>
          <a:p xmlns:a="http://schemas.openxmlformats.org/drawingml/2006/main">
            <a:r>
              <a:t>      },</a:t>
            </a:r>
          </a:p>
          <a:p xmlns:a="http://schemas.openxmlformats.org/drawingml/2006/main">
            <a:r>
              <a:t>      {</a:t>
            </a:r>
          </a:p>
          <a:p xmlns:a="http://schemas.openxmlformats.org/drawingml/2006/main">
            <a:r>
              <a:t>        "title": "근거 페이지 답변",</a:t>
            </a:r>
          </a:p>
          <a:p xmlns:a="http://schemas.openxmlformats.org/drawingml/2006/main">
            <a:r>
              <a:t>        "input": "관련 지침",</a:t>
            </a:r>
          </a:p>
          <a:p xmlns:a="http://schemas.openxmlformats.org/drawingml/2006/main">
            <a:r>
              <a:t>        "process": "학교급·연도·원문 페이지 대조",</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"title": "교직원 검증",</a:t>
            </a:r>
          </a:p>
          <a:p xmlns:a="http://schemas.openxmlformats.org/drawingml/2006/main">
            <a:r>
              <a:t>        "input": "근거 페이지 답변",</a:t>
            </a:r>
          </a:p>
          <a:p xmlns:a="http://schemas.openxmlformats.org/drawingml/2006/main">
            <a:r>
              <a:t>        "process":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"학년도·학교급에 맞는 생활기록부 지침 안내",</a:t>
            </a:r>
          </a:p>
          <a:p xmlns:a="http://schemas.openxmlformats.org/drawingml/2006/main">
            <a:r>
              <a:t>      "exception": "이전 학년도 혼입·예외 조건 누락·원문 페이지 변경",</a:t>
            </a:r>
          </a:p>
          <a:p xmlns:a="http://schemas.openxmlformats.org/drawingml/2006/main">
            <a:r>
              <a:t>      "evidence": "학년도별 정답·근거 페이지·예외 적용 대조표",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"학교·교육행정 담당자",</a:t>
            </a:r>
          </a:p>
          <a:p xmlns:a="http://schemas.openxmlformats.org/drawingml/2006/main">
            <a:r>
              <a:t>          "processing": "학교급·학년도·업무 상황 확인",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"학교급별 지침",</a:t>
            </a:r>
          </a:p>
          <a:p xmlns:a="http://schemas.openxmlformats.org/drawingml/2006/main">
            <a:r>
              <a:t>          "processing": "지침 판본·학년도·원문 페이지별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"학교급·질문",</a:t>
            </a:r>
          </a:p>
          <a:p xmlns:a="http://schemas.openxmlformats.org/drawingml/2006/main">
            <a:r>
              <a:t>          "processing": "조건에 맞는 지침·질의응답 검색",</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페이지 답변",</a:t>
            </a:r>
          </a:p>
          <a:p xmlns:a="http://schemas.openxmlformats.org/drawingml/2006/main">
            <a:r>
              <a:t>          "processing":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"학년도 혼용·예외 조항 누락의 평가",</a:t>
            </a:r>
          </a:p>
          <a:p xmlns:a="http://schemas.openxmlformats.org/drawingml/2006/main">
            <a:r>
              <a:t>          "output": "학년도별 정답·근거 페이지·예외 적용 대조표"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"학년도 혼용·예외 조항 누락의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"S-AX26",</a:t>
            </a:r>
          </a:p>
          <a:p xmlns:a="http://schemas.openxmlformats.org/drawingml/2006/main">
            <a:r>
              <a:t>        "title": "교육행정 응대 AI PoC · 공공AI 사례집 222–223쪽",</a:t>
            </a:r>
          </a:p>
          <a:p xmlns:a="http://schemas.openxmlformats.org/drawingml/2006/main">
            <a:r>
              <a:t>        "url": "https://bigdata.dongjak.go.kr/board/viewArticle?articleNo=954&amp;boardId=4",</a:t>
            </a:r>
          </a:p>
          <a:p xmlns:a="http://schemas.openxmlformats.org/drawingml/2006/main">
            <a:r>
              <a:t>        "published": "2024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"동일 질문도 소속·업무 맥락별 지침 구분",</a:t>
            </a:r>
          </a:p>
          <a:p xmlns:a="http://schemas.openxmlformats.org/drawingml/2006/main">
            <a:r>
              <a:t>    "local": "TS 부서·직무별 규정 및 동일 요청 교차 평가",</a:t>
            </a:r>
          </a:p>
          <a:p xmlns:a="http://schemas.openxmlformats.org/drawingml/2006/main">
            <a:r>
              <a:t>    "sourceDetail": null,</a:t>
            </a:r>
          </a:p>
          <a:p xmlns:a="http://schemas.openxmlformats.org/drawingml/2006/main">
            <a:r>
              <a:t>    "narrative": [</a:t>
            </a:r>
          </a:p>
          <a:p xmlns:a="http://schemas.openxmlformats.org/drawingml/2006/main">
            <a:r>
              <a:t>      "학교급·학년도별 학교생활기록부 지침을 교직원 질의에 연결하는 사례. 같은 질문이라도 적용 연도·학교급·업무 상황에 따라 근거가 달라지는 규정형 업무.",</a:t>
            </a:r>
          </a:p>
          <a:p xmlns:a="http://schemas.openxmlformats.org/drawingml/2006/main">
            <a:r>
              <a:t>      "질의 문맥을 확보한 뒤 해당 지침 판본과 페이지를 검색해 근거를 제공하는 재구성. 답변의 편집·검토 과정에서도 원문 페이지와 적용 조건을 함께 보존.",</a:t>
            </a:r>
          </a:p>
          <a:p xmlns:a="http://schemas.openxmlformats.org/drawingml/2006/main">
            <a:r>
              <a:t>      "TS 조직 네이티브 AI에서는 소속·직무뿐 아니라 업무 대상과 시행일을 검색 조건으로 추가하는 참고. 연도 혼용·학교급 혼용·예외 조항 누락에 해당하는 TS 도메인 시험셋의 별도 구성."</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"교직원 질의",</a:t>
            </a:r>
          </a:p>
          <a:p xmlns:a="http://schemas.openxmlformats.org/drawingml/2006/main">
            <a:r>
              <a:t>          "layer": "이용 접점",</a:t>
            </a:r>
          </a:p>
          <a:p xmlns:a="http://schemas.openxmlformats.org/drawingml/2006/main">
            <a:r>
              <a:t>          "detail": "학교·교육행정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"학교급·학년도",</a:t>
            </a:r>
          </a:p>
          <a:p xmlns:a="http://schemas.openxmlformats.org/drawingml/2006/main">
            <a:r>
              <a:t>          "layer": "업무 문맥",</a:t>
            </a:r>
          </a:p>
          <a:p xmlns:a="http://schemas.openxmlformats.org/drawingml/2006/main">
            <a:r>
              <a:t>          "detail": "학교급·학년도·업무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지침 검색",</a:t>
            </a:r>
          </a:p>
          <a:p xmlns:a="http://schemas.openxmlformats.org/drawingml/2006/main">
            <a:r>
              <a:t>          "layer": "자료 조회",</a:t>
            </a:r>
          </a:p>
          <a:p xmlns:a="http://schemas.openxmlformats.org/drawingml/2006/main">
            <a:r>
              <a:t>          "detail": "학교급·질문",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"조건에 맞는 지침·질의응답 검색",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"페이지·예외 대조",</a:t>
            </a:r>
          </a:p>
          <a:p xmlns:a="http://schemas.openxmlformats.org/drawingml/2006/main">
            <a:r>
              <a:t>          "layer": "결과 검증",</a:t>
            </a:r>
          </a:p>
          <a:p xmlns:a="http://schemas.openxmlformats.org/drawingml/2006/main">
            <a:r>
              <a:t>          "detail": "학교급·연도·원문 페이지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"교직원 원문 확인",</a:t>
            </a:r>
          </a:p>
          <a:p xmlns:a="http://schemas.openxmlformats.org/drawingml/2006/main">
            <a:r>
              <a:t>          "layer": "사람 확인",</a:t>
            </a:r>
          </a:p>
          <a:p xmlns:a="http://schemas.openxmlformats.org/drawingml/2006/main">
            <a:r>
              <a:t>          "detail": "학년도·학교급에 맞는 생활기록부 지침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"행정업무 적용",</a:t>
            </a:r>
          </a:p>
          <a:p xmlns:a="http://schemas.openxmlformats.org/drawingml/2006/main">
            <a:r>
              <a:t>          "layer": "업무 연결",</a:t>
            </a:r>
          </a:p>
          <a:p xmlns:a="http://schemas.openxmlformats.org/drawingml/2006/main">
            <a:r>
              <a:t>          "detail": "답변 근거와 원문 페이지를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"연도 혼용 검사",</a:t>
            </a:r>
          </a:p>
          <a:p xmlns:a="http://schemas.openxmlformats.org/drawingml/2006/main">
            <a:r>
              <a:t>          "layer": "운영 관측",</a:t>
            </a:r>
          </a:p>
          <a:p xmlns:a="http://schemas.openxmlformats.org/drawingml/2006/main">
            <a:r>
              <a:t>          "detail": "학년도 혼용·예외 조항 누락의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"지침·질의응답",</a:t>
            </a:r>
          </a:p>
          <a:p xmlns:a="http://schemas.openxmlformats.org/drawingml/2006/main">
            <a:r>
              <a:t>          "layer": "데이터 원천",</a:t>
            </a:r>
          </a:p>
          <a:p xmlns:a="http://schemas.openxmlformats.org/drawingml/2006/main">
            <a:r>
              <a:t>          "detail": "학교급별 지침",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"페이지·판본 색인",</a:t>
            </a:r>
          </a:p>
          <a:p xmlns:a="http://schemas.openxmlformats.org/drawingml/2006/main">
            <a:r>
              <a:t>          "layer": "준비·갱신",</a:t>
            </a:r>
          </a:p>
          <a:p xmlns:a="http://schemas.openxmlformats.org/drawingml/2006/main">
            <a:r>
              <a:t>          "detail": "지침 판본·학년도·원문 페이지별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"지침·평가셋",</a:t>
            </a:r>
          </a:p>
          <a:p xmlns:a="http://schemas.openxmlformats.org/drawingml/2006/main">
            <a:r>
              <a:t>          "layer": "상태·지식 저장",</a:t>
            </a:r>
          </a:p>
          <a:p xmlns:a="http://schemas.openxmlformats.org/drawingml/2006/main">
            <a:r>
              <a:t>          "detail": "학년도별 정답·근거 페이지·예외 적용 대조표",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"학교급별 경계",</a:t>
            </a:r>
          </a:p>
          <a:p xmlns:a="http://schemas.openxmlformats.org/drawingml/2006/main">
            <a:r>
              <a:t>          "layer": "권한·정책",</a:t>
            </a:r>
          </a:p>
          <a:p xmlns:a="http://schemas.openxmlformats.org/drawingml/2006/main">
            <a:r>
              <a:t>          "detail": "이전 학년도 혼입·예외 조건 누락·원문 페이지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"학교급별 지침 → 문서 전처리·RAG → 근거 페이지 답변 → 교직원 검증"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"학교급별 지침",</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"학교급·학년도·업무 상황 확인",</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"학년도별 정답·근거 페이지·예외 적용 대조표",</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지침",</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페이지 답변",</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"학교생활기록부 지침의 근거형 응대 / 지침 검색·질의응답·원문 페이지",</a:t>
            </a:r>
          </a:p>
          <a:p xmlns:a="http://schemas.openxmlformats.org/drawingml/2006/main">
            <a:r>
              <a:t>        "extension": "TS 부서·직무별 규정 및 동일 요청 교차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"이전 학년도 혼입·예외 조건 누락·원문 페이지 변경",</a:t>
            </a:r>
          </a:p>
          <a:p xmlns:a="http://schemas.openxmlformats.org/drawingml/2006/main">
            <a:r>
              <a:t>        "hold": "학교급·연도·원문 페이지 대조",</a:t>
            </a:r>
          </a:p>
          <a:p xmlns:a="http://schemas.openxmlformats.org/drawingml/2006/main">
            <a:r>
              <a:t>        "recovery": "학년도 혼용·예외 조항 누락의 평가",</a:t>
            </a:r>
          </a:p>
          <a:p xmlns:a="http://schemas.openxmlformats.org/drawingml/2006/main">
            <a:r>
              <a:t>        "evidence": "학년도별 정답·근거 페이지·예외 적용 대조표"</a:t>
            </a:r>
          </a:p>
          <a:p xmlns:a="http://schemas.openxmlformats.org/drawingml/2006/main">
            <a:r>
              <a:t>      },</a:t>
            </a:r>
          </a:p>
          <a:p xmlns:a="http://schemas.openxmlformats.org/drawingml/2006/main">
            <a:r>
              <a:t>      "data": {</a:t>
            </a:r>
          </a:p>
          <a:p xmlns:a="http://schemas.openxmlformats.org/drawingml/2006/main">
            <a:r>
              <a:t>        "source": "학교급별 지침",</a:t>
            </a:r>
          </a:p>
          <a:p xmlns:a="http://schemas.openxmlformats.org/drawingml/2006/main">
            <a:r>
              <a:t>        "prepare": "지침 판본·학년도·원문 페이지별 색인",</a:t>
            </a:r>
          </a:p>
          <a:p xmlns:a="http://schemas.openxmlformats.org/drawingml/2006/main">
            <a:r>
              <a:t>        "output": "학교급·질문",</a:t>
            </a:r>
          </a:p>
          <a:p xmlns:a="http://schemas.openxmlformats.org/drawingml/2006/main">
            <a:r>
              <a:t>        "refresh": "학년도 혼용·예외 조항 누락의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"AX26",</a:t>
            </a:r>
          </a:p>
          <a:p xmlns:a="http://schemas.openxmlformats.org/drawingml/2006/main">
            <a:r>
              <a:t>    "success": [</a:t>
            </a:r>
          </a:p>
          <a:p xmlns:a="http://schemas.openxmlformats.org/drawingml/2006/main">
            <a:r>
              <a:t>      "학교급별 지침의 분리",</a:t>
            </a:r>
          </a:p>
          <a:p xmlns:a="http://schemas.openxmlformats.org/drawingml/2006/main">
            <a:r>
              <a:t>      "답변과 원문 페이지의 연결"</a:t>
            </a:r>
          </a:p>
          <a:p xmlns:a="http://schemas.openxmlformats.org/drawingml/2006/main">
            <a:r>
              <a:t>    ],</a:t>
            </a:r>
          </a:p>
          <a:p xmlns:a="http://schemas.openxmlformats.org/drawingml/2006/main">
            <a:r>
              <a:t>    "risks": [</a:t>
            </a:r>
          </a:p>
          <a:p xmlns:a="http://schemas.openxmlformats.org/drawingml/2006/main">
            <a:r>
              <a:t>      "학교급·적용 연도 혼용",</a:t>
            </a:r>
          </a:p>
          <a:p xmlns:a="http://schemas.openxmlformats.org/drawingml/2006/main">
            <a:r>
              <a:t>      "유사 질문의 예외 답변 누락"</a:t>
            </a:r>
          </a:p>
          <a:p xmlns:a="http://schemas.openxmlformats.org/drawingml/2006/main">
            <a:r>
              <a:t>    ],</a:t>
            </a:r>
          </a:p>
          <a:p xmlns:a="http://schemas.openxmlformats.org/drawingml/2006/main">
            <a:r>
              <a:t>    "architecture": [</a:t>
            </a:r>
          </a:p>
          <a:p xmlns:a="http://schemas.openxmlformats.org/drawingml/2006/main">
            <a:r>
              <a:t>      "교직원 질의",</a:t>
            </a:r>
          </a:p>
          <a:p xmlns:a="http://schemas.openxmlformats.org/drawingml/2006/main">
            <a:r>
              <a:t>      "전처리·RAG",</a:t>
            </a:r>
          </a:p>
          <a:p xmlns:a="http://schemas.openxmlformats.org/drawingml/2006/main">
            <a:r>
              <a:t>      "학교급별 지침",</a:t>
            </a:r>
          </a:p>
          <a:p xmlns:a="http://schemas.openxmlformats.org/drawingml/2006/main">
            <a:r>
              <a:t>      "교직원 검토"</a:t>
            </a:r>
          </a:p>
          <a:p xmlns:a="http://schemas.openxmlformats.org/drawingml/2006/main">
            <a:r>
              <a:t>    ],</a:t>
            </a:r>
          </a:p>
          <a:p xmlns:a="http://schemas.openxmlformats.org/drawingml/2006/main">
            <a:r>
              <a:t>    "transfers": [</a:t>
            </a:r>
          </a:p>
          <a:p xmlns:a="http://schemas.openxmlformats.org/drawingml/2006/main">
            <a:r>
              <a:t>      "학교급·질문",</a:t>
            </a:r>
          </a:p>
          <a:p xmlns:a="http://schemas.openxmlformats.org/drawingml/2006/main">
            <a:r>
              <a:t>      "관련 지침",</a:t>
            </a:r>
          </a:p>
          <a:p xmlns:a="http://schemas.openxmlformats.org/drawingml/2006/main">
            <a:r>
              <a:t>      "근거 페이지 답변",</a:t>
            </a:r>
          </a:p>
          <a:p xmlns:a="http://schemas.openxmlformats.org/drawingml/2006/main">
            <a:r>
              <a:t>      "검증·보완"</a:t>
            </a:r>
          </a:p>
          <a:p xmlns:a="http://schemas.openxmlformats.org/drawingml/2006/main">
            <a:r>
              <a:t>    ],</a:t>
            </a:r>
          </a:p>
          <a:p xmlns:a="http://schemas.openxmlformats.org/drawingml/2006/main">
            <a:r>
              <a:t>    "control": "학교급·연도·원문 페이지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교육행정 응대 AI PoC · 공공AI 사례집 222–223쪽 https://bigdata.dongjak.go.kr/board/viewArticle?articleNo=954&amp;boardId=4</a:t>
            </a:r>
          </a:p>
          <a:p xmlns:a="http://schemas.openxmlformats.org/drawingml/2006/main">
            <a:r>
              <a:t>홈페이지 https://heen1987-ops.github.io/TS-business-Plan-001/index.html?view=casebook&amp;case=AX26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"ST-01",</a:t>
            </a:r>
          </a:p>
          <a:p xmlns:a="http://schemas.openxmlformats.org/drawingml/2006/main">
            <a:r>
              <a:t>  "number": 1,</a:t>
            </a:r>
          </a:p>
          <a:p xmlns:a="http://schemas.openxmlformats.org/drawingml/2006/main">
            <a:r>
              <a:t>  "direction": "무결점 교통안전체계 조성",</a:t>
            </a:r>
          </a:p>
          <a:p xmlns:a="http://schemas.openxmlformats.org/drawingml/2006/main">
            <a:r>
              <a:t>  "strategy": "사고취약 수단·계층 정밀 안전망 구축",</a:t>
            </a:r>
          </a:p>
          <a:p xmlns:a="http://schemas.openxmlformats.org/drawingml/2006/main">
            <a:r>
              <a:t>  "solution": "취약 교통안전 업무지원",</a:t>
            </a:r>
          </a:p>
          <a:p xmlns:a="http://schemas.openxmlformats.org/drawingml/2006/main">
            <a:r>
              <a:t>  "lawIds": [</a:t>
            </a:r>
          </a:p>
          <a:p xmlns:a="http://schemas.openxmlformats.org/drawingml/2006/main">
            <a:r>
              <a:t>    "L01",</a:t>
            </a:r>
          </a:p>
          <a:p xmlns:a="http://schemas.openxmlformats.org/drawingml/2006/main">
            <a:r>
              <a:t>    "L02",</a:t>
            </a:r>
          </a:p>
          <a:p xmlns:a="http://schemas.openxmlformats.org/drawingml/2006/main">
            <a:r>
              <a:t>    "L03",</a:t>
            </a:r>
          </a:p>
          <a:p xmlns:a="http://schemas.openxmlformats.org/drawingml/2006/main">
            <a:r>
              <a:t>    "L04",</a:t>
            </a:r>
          </a:p>
          <a:p xmlns:a="http://schemas.openxmlformats.org/drawingml/2006/main">
            <a:r>
              <a:t>    "L17"</a:t>
            </a:r>
          </a:p>
          <a:p xmlns:a="http://schemas.openxmlformats.org/drawingml/2006/main">
            <a:r>
              <a:t>  ],</a:t>
            </a:r>
          </a:p>
          <a:p xmlns:a="http://schemas.openxmlformats.org/drawingml/2006/main">
            <a:r>
              <a:t>  "codes": [</a:t>
            </a:r>
          </a:p>
          <a:p xmlns:a="http://schemas.openxmlformats.org/drawingml/2006/main">
            <a:r>
              <a:t>    "1022030",</a:t>
            </a:r>
          </a:p>
          <a:p xmlns:a="http://schemas.openxmlformats.org/drawingml/2006/main">
            <a:r>
              <a:t>    "1021030",</a:t>
            </a:r>
          </a:p>
          <a:p xmlns:a="http://schemas.openxmlformats.org/drawingml/2006/main">
            <a:r>
              <a:t>    "1019030",</a:t>
            </a:r>
          </a:p>
          <a:p xmlns:a="http://schemas.openxmlformats.org/drawingml/2006/main">
            <a:r>
              <a:t>    "1019020"</a:t>
            </a:r>
          </a:p>
          <a:p xmlns:a="http://schemas.openxmlformats.org/drawingml/2006/main">
            <a:r>
              <a:t>  ],</a:t>
            </a:r>
          </a:p>
          <a:p xmlns:a="http://schemas.openxmlformats.org/drawingml/2006/main">
            <a:r>
              <a:t>  "work": "지역별 위험 근거·현장점검·개선조치 관리",</a:t>
            </a:r>
          </a:p>
          <a:p xmlns:a="http://schemas.openxmlformats.org/drawingml/2006/main">
            <a:r>
              <a:t>  "features": [</a:t>
            </a:r>
          </a:p>
          <a:p xmlns:a="http://schemas.openxmlformats.org/drawingml/2006/main">
            <a:r>
              <a:t>    "관할·대상·점검 기준별 근거 묶음 구성",</a:t>
            </a:r>
          </a:p>
          <a:p xmlns:a="http://schemas.openxmlformats.org/drawingml/2006/main">
            <a:r>
              <a:t>    "개선과제·담당자·기한·현장 증빙 연결"</a:t>
            </a:r>
          </a:p>
          <a:p xmlns:a="http://schemas.openxmlformats.org/drawingml/2006/main">
            <a:r>
              <a:t>  ],</a:t>
            </a:r>
          </a:p>
          <a:p xmlns:a="http://schemas.openxmlformats.org/drawingml/2006/main">
            <a:r>
              <a:t>  "output": "위험 근거 묶음·미조치 목록",</a:t>
            </a:r>
          </a:p>
          <a:p xmlns:a="http://schemas.openxmlformats.org/drawingml/2006/main">
            <a:r>
              <a:t>  "acceptance": "관할·취약대상·점검판본별 근거와 조치 담당의 일치 확인",</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"GAI-T02",</a:t>
            </a:r>
          </a:p>
          <a:p xmlns:a="http://schemas.openxmlformats.org/drawingml/2006/main">
            <a:r>
              <a:t>    "GAI-T05",</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안전관리",</a:t>
            </a:r>
          </a:p>
          <a:p xmlns:a="http://schemas.openxmlformats.org/drawingml/2006/main">
            <a:r>
              <a:t>      "indices": [</a:t>
            </a:r>
          </a:p>
          <a:p xmlns:a="http://schemas.openxmlformats.org/drawingml/2006/main">
            <a:r>
              <a:t>        4,</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"5. 교통안전수단점검에 관한 업무 총괄",</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"교통시설·사각지대 점검",</a:t>
            </a:r>
          </a:p>
          <a:p xmlns:a="http://schemas.openxmlformats.org/drawingml/2006/main">
            <a:r>
              <a:t>      "indices": [</a:t>
            </a:r>
          </a:p>
          <a:p xmlns:a="http://schemas.openxmlformats.org/drawingml/2006/main">
            <a:r>
              <a:t>        6,</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"9. 교통안전 사각지대 교통안전점검에 관한 업무"</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"운행기록 분석",</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"5. 교통안전정보관리체계 운영에 관한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"교통약자 실태조사",</a:t>
            </a:r>
          </a:p>
          <a:p xmlns:a="http://schemas.openxmlformats.org/drawingml/2006/main">
            <a:r>
              <a:t>      "indices": [</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"AX02",</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"AX08",</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"지역·취약계층 안전조치 근거 지원",</a:t>
            </a:r>
          </a:p>
          <a:p xmlns:a="http://schemas.openxmlformats.org/drawingml/2006/main">
            <a:r>
              <a:t>  "delta": "관할·대상·현장 증거 연결",</a:t>
            </a:r>
          </a:p>
          <a:p xmlns:a="http://schemas.openxmlformats.org/drawingml/2006/main">
            <a:r>
              <a:t>  "kpi": "위험 검토시간 / 조치 이행률",</a:t>
            </a:r>
          </a:p>
          <a:p xmlns:a="http://schemas.openxmlformats.org/drawingml/2006/main">
            <a:r>
              <a:t>  "validation": "지역·기간별 원천 대조, 미조치 건 추적",</a:t>
            </a:r>
          </a:p>
          <a:p xmlns:a="http://schemas.openxmlformats.org/drawingml/2006/main">
            <a:r>
              <a:t>  "requirement": "BM-ST-01-R01",</a:t>
            </a:r>
          </a:p>
          <a:p xmlns:a="http://schemas.openxmlformats.org/drawingml/2006/main">
            <a:r>
              <a:t>  "test": "BM-ST-01-T01",</a:t>
            </a:r>
          </a:p>
          <a:p xmlns:a="http://schemas.openxmlformats.org/drawingml/2006/main">
            <a:r>
              <a:t>  "effectStatus": "기대 방향 · TS 실측 전",</a:t>
            </a:r>
          </a:p>
          <a:p xmlns:a="http://schemas.openxmlformats.org/drawingml/2006/main">
            <a:r>
              <a:t>  "effect": "위험 검토시간·조치 누락 감소",</a:t>
            </a:r>
          </a:p>
          <a:p xmlns:a="http://schemas.openxmlformats.org/drawingml/2006/main">
            <a:r>
              <a:t>  "reuse": "ON27-BASE / C27-COM + CCK 재사용 판정 기능",</a:t>
            </a:r>
          </a:p>
          <a:p xmlns:a="http://schemas.openxmlformats.org/drawingml/2006/main">
            <a:r>
              <a:t>  "input": "지역·대상별 사고 집계, 현장점검표, 개선조치 이력",</a:t>
            </a:r>
          </a:p>
          <a:p xmlns:a="http://schemas.openxmlformats.org/drawingml/2006/main">
            <a:r>
              <a:t>  "steps": [</a:t>
            </a:r>
          </a:p>
          <a:p xmlns:a="http://schemas.openxmlformats.org/drawingml/2006/main">
            <a:r>
              <a:t>    "관할·취약대상 분류",</a:t>
            </a:r>
          </a:p>
          <a:p xmlns:a="http://schemas.openxmlformats.org/drawingml/2006/main">
            <a:r>
              <a:t>    "현장 증거와 위험요인 대조",</a:t>
            </a:r>
          </a:p>
          <a:p xmlns:a="http://schemas.openxmlformats.org/drawingml/2006/main">
            <a:r>
              <a:t>    "조치 담당·기한 지정",</a:t>
            </a:r>
          </a:p>
          <a:p xmlns:a="http://schemas.openxmlformats.org/drawingml/2006/main">
            <a:r>
              <a:t>    "이행·재점검 확인"</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안전관리",</a:t>
            </a:r>
          </a:p>
          <a:p xmlns:a="http://schemas.openxmlformats.org/drawingml/2006/main">
            <a:r>
              <a:t>      "indices": [</a:t>
            </a:r>
          </a:p>
          <a:p xmlns:a="http://schemas.openxmlformats.org/drawingml/2006/main">
            <a:r>
              <a:t>        4,</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"5. 교통안전수단점검에 관한 업무 총괄",</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"RULEWORK-1022030-5",</a:t>
            </a:r>
          </a:p>
          <a:p xmlns:a="http://schemas.openxmlformats.org/drawingml/2006/main">
            <a:r>
              <a:t>          "text": "5. 교통안전수단점검에 관한 업무 총괄",</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"RULEWORK-1022030-5-R01",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"RULEWORK-1022030-5-T01",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"RULEWORK-1022030-5-R02",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"RULEWORK-1022030-5-T02",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"RULEWORK-1022030-7",</a:t>
            </a:r>
          </a:p>
          <a:p xmlns:a="http://schemas.openxmlformats.org/drawingml/2006/main">
            <a:r>
              <a:t>          "text": "7. 운수회사 안전관리 및 교통사고 예방사업",</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"RULEWORK-1022030-7-R01",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"RULEWORK-1022030-7-T01",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"RULEWORK-1022030-7-R02",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"RULEWORK-1022030-7-T02",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"교통시설·사각지대 점검",</a:t>
            </a:r>
          </a:p>
          <a:p xmlns:a="http://schemas.openxmlformats.org/drawingml/2006/main">
            <a:r>
              <a:t>      "indices": [</a:t>
            </a:r>
          </a:p>
          <a:p xmlns:a="http://schemas.openxmlformats.org/drawingml/2006/main">
            <a:r>
              <a:t>        6,</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"9. 교통안전 사각지대 교통안전점검에 관한 업무"</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"RULEWORK-1021030-7",</a:t>
            </a:r>
          </a:p>
          <a:p xmlns:a="http://schemas.openxmlformats.org/drawingml/2006/main">
            <a:r>
              <a:t>          "text": "7. 교통시설 안전진단ㆍ점검ㆍ평가에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"RULEWORK-1021030-7-R01",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"RULEWORK-1021030-7-T01",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"RULEWORK-1021030-7-R02",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"RULEWORK-1021030-7-T02",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"RULEWORK-1021030-9",</a:t>
            </a:r>
          </a:p>
          <a:p xmlns:a="http://schemas.openxmlformats.org/drawingml/2006/main">
            <a:r>
              <a:t>          "text": "9. 교통안전 사각지대 교통안전점검에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"RULEWORK-1021030-9-R01",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"RULEWORK-1021030-9-T01",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"RULEWORK-1021030-9-R02",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"RULEWORK-1021030-9-T02",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"RULEWORK-1021030-9-R03",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"RULEWORK-1021030-9-T03",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"운행기록 분석",</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"5. 교통안전정보관리체계 운영에 관한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"RULEWORK-1019030-3",</a:t>
            </a:r>
          </a:p>
          <a:p xmlns:a="http://schemas.openxmlformats.org/drawingml/2006/main">
            <a:r>
              <a:t>          "text": "3. 운행기록데이터 관리·분석·활용 및 정책지원",</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"RULEWORK-1019030-5",</a:t>
            </a:r>
          </a:p>
          <a:p xmlns:a="http://schemas.openxmlformats.org/drawingml/2006/main">
            <a:r>
              <a:t>          "text": "5. 교통안전정보관리체계 운영에 관한 업무",</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"RULEWORK-1019030-5-R01",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"RULEWORK-1019030-5-T01",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"RULEWORK-1019030-5-R02",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"RULEWORK-1019030-5-T02",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"RULEWORK-1019030-5-R03",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"교통약자 실태조사",</a:t>
            </a:r>
          </a:p>
          <a:p xmlns:a="http://schemas.openxmlformats.org/drawingml/2006/main">
            <a:r>
              <a:t>      "indices": [</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"RULEWORK-1019020-23",</a:t>
            </a:r>
          </a:p>
          <a:p xmlns:a="http://schemas.openxmlformats.org/drawingml/2006/main">
            <a:r>
              <a:t>          "text": "23. 교통약자 이동편의실태조사 및 자료관리",</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"RULEWORK-1019020-23-R01",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"RULEWORK-1019020-23-T01",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"RULEWORK-1019020-23-R02",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"RULEWORK-1019020-23-T02",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"RULEWORK-1019020-23-R03",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점검 기준 검색·요약"</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"Audin·JET의 증빙 검토·항목 구조화"</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"관할·대상 코드 사전",</a:t>
            </a:r>
          </a:p>
          <a:p xmlns:a="http://schemas.openxmlformats.org/drawingml/2006/main">
            <a:r>
              <a:t>    "점검항목–증거–조치 연결표"</a:t>
            </a:r>
          </a:p>
          <a:p xmlns:a="http://schemas.openxmlformats.org/drawingml/2006/main">
            <a:r>
              <a:t>  ],</a:t>
            </a:r>
          </a:p>
          <a:p xmlns:a="http://schemas.openxmlformats.org/drawingml/2006/main">
            <a:r>
              <a:t>  "acceptancePlan": {</a:t>
            </a:r>
          </a:p>
          <a:p xmlns:a="http://schemas.openxmlformats.org/drawingml/2006/main">
            <a:r>
              <a:t>    "sample": "기간·지역 불일치, 증빙 없는 완료 건 주입",</a:t>
            </a:r>
          </a:p>
          <a:p xmlns:a="http://schemas.openxmlformats.org/drawingml/2006/main">
            <a:r>
              <a:t>    "criterion": "원천 위치 표시·불일치 보류·미조치 유지",</a:t>
            </a:r>
          </a:p>
          <a:p xmlns:a="http://schemas.openxmlformats.org/drawingml/2006/main">
            <a:r>
              <a:t>    "evidence": "원천 대사표·누락 탐지 결과·검토 이력",</a:t>
            </a:r>
          </a:p>
          <a:p xmlns:a="http://schemas.openxmlformats.org/drawingml/2006/main">
            <a:r>
              <a:t>    "execution": "미실행"</a:t>
            </a:r>
          </a:p>
          <a:p xmlns:a="http://schemas.openxmlformats.org/drawingml/2006/main">
            <a:r>
              <a:t>  },</a:t>
            </a:r>
          </a:p>
          <a:p xmlns:a="http://schemas.openxmlformats.org/drawingml/2006/main">
            <a:r>
              <a:t>  "formula": "검토 완료시간 중앙값 / 미조치 탐지 건수 ÷ 실제 미조치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"ST-01",</a:t>
            </a:r>
          </a:p>
          <a:p xmlns:a="http://schemas.openxmlformats.org/drawingml/2006/main">
            <a:r>
              <a:t>  "number": 1,</a:t>
            </a:r>
          </a:p>
          <a:p xmlns:a="http://schemas.openxmlformats.org/drawingml/2006/main">
            <a:r>
              <a:t>  "direction": "무결점 교통안전체계 조성",</a:t>
            </a:r>
          </a:p>
          <a:p xmlns:a="http://schemas.openxmlformats.org/drawingml/2006/main">
            <a:r>
              <a:t>  "strategy": "사고취약 수단·계층 정밀 안전망 구축",</a:t>
            </a:r>
          </a:p>
          <a:p xmlns:a="http://schemas.openxmlformats.org/drawingml/2006/main">
            <a:r>
              <a:t>  "solution": "취약 교통안전 업무지원",</a:t>
            </a:r>
          </a:p>
          <a:p xmlns:a="http://schemas.openxmlformats.org/drawingml/2006/main">
            <a:r>
              <a:t>  "lawIds": [</a:t>
            </a:r>
          </a:p>
          <a:p xmlns:a="http://schemas.openxmlformats.org/drawingml/2006/main">
            <a:r>
              <a:t>    "L01",</a:t>
            </a:r>
          </a:p>
          <a:p xmlns:a="http://schemas.openxmlformats.org/drawingml/2006/main">
            <a:r>
              <a:t>    "L02",</a:t>
            </a:r>
          </a:p>
          <a:p xmlns:a="http://schemas.openxmlformats.org/drawingml/2006/main">
            <a:r>
              <a:t>    "L03",</a:t>
            </a:r>
          </a:p>
          <a:p xmlns:a="http://schemas.openxmlformats.org/drawingml/2006/main">
            <a:r>
              <a:t>    "L04",</a:t>
            </a:r>
          </a:p>
          <a:p xmlns:a="http://schemas.openxmlformats.org/drawingml/2006/main">
            <a:r>
              <a:t>    "L17"</a:t>
            </a:r>
          </a:p>
          <a:p xmlns:a="http://schemas.openxmlformats.org/drawingml/2006/main">
            <a:r>
              <a:t>  ],</a:t>
            </a:r>
          </a:p>
          <a:p xmlns:a="http://schemas.openxmlformats.org/drawingml/2006/main">
            <a:r>
              <a:t>  "codes": [</a:t>
            </a:r>
          </a:p>
          <a:p xmlns:a="http://schemas.openxmlformats.org/drawingml/2006/main">
            <a:r>
              <a:t>    "1022030",</a:t>
            </a:r>
          </a:p>
          <a:p xmlns:a="http://schemas.openxmlformats.org/drawingml/2006/main">
            <a:r>
              <a:t>    "1021030",</a:t>
            </a:r>
          </a:p>
          <a:p xmlns:a="http://schemas.openxmlformats.org/drawingml/2006/main">
            <a:r>
              <a:t>    "1019030",</a:t>
            </a:r>
          </a:p>
          <a:p xmlns:a="http://schemas.openxmlformats.org/drawingml/2006/main">
            <a:r>
              <a:t>    "1019020"</a:t>
            </a:r>
          </a:p>
          <a:p xmlns:a="http://schemas.openxmlformats.org/drawingml/2006/main">
            <a:r>
              <a:t>  ],</a:t>
            </a:r>
          </a:p>
          <a:p xmlns:a="http://schemas.openxmlformats.org/drawingml/2006/main">
            <a:r>
              <a:t>  "work": "지역별 위험 근거·현장점검·개선조치 관리",</a:t>
            </a:r>
          </a:p>
          <a:p xmlns:a="http://schemas.openxmlformats.org/drawingml/2006/main">
            <a:r>
              <a:t>  "features": [</a:t>
            </a:r>
          </a:p>
          <a:p xmlns:a="http://schemas.openxmlformats.org/drawingml/2006/main">
            <a:r>
              <a:t>    "관할·대상·점검 기준별 근거 묶음 구성",</a:t>
            </a:r>
          </a:p>
          <a:p xmlns:a="http://schemas.openxmlformats.org/drawingml/2006/main">
            <a:r>
              <a:t>    "개선과제·담당자·기한·현장 증빙 연결"</a:t>
            </a:r>
          </a:p>
          <a:p xmlns:a="http://schemas.openxmlformats.org/drawingml/2006/main">
            <a:r>
              <a:t>  ],</a:t>
            </a:r>
          </a:p>
          <a:p xmlns:a="http://schemas.openxmlformats.org/drawingml/2006/main">
            <a:r>
              <a:t>  "output": "위험 근거 묶음·미조치 목록",</a:t>
            </a:r>
          </a:p>
          <a:p xmlns:a="http://schemas.openxmlformats.org/drawingml/2006/main">
            <a:r>
              <a:t>  "acceptance": "관할·취약대상·점검판본별 근거와 조치 담당의 일치 확인",</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"GAI-T02",</a:t>
            </a:r>
          </a:p>
          <a:p xmlns:a="http://schemas.openxmlformats.org/drawingml/2006/main">
            <a:r>
              <a:t>    "GAI-T05",</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안전관리",</a:t>
            </a:r>
          </a:p>
          <a:p xmlns:a="http://schemas.openxmlformats.org/drawingml/2006/main">
            <a:r>
              <a:t>      "indices": [</a:t>
            </a:r>
          </a:p>
          <a:p xmlns:a="http://schemas.openxmlformats.org/drawingml/2006/main">
            <a:r>
              <a:t>        4,</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"5. 교통안전수단점검에 관한 업무 총괄",</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"교통시설·사각지대 점검",</a:t>
            </a:r>
          </a:p>
          <a:p xmlns:a="http://schemas.openxmlformats.org/drawingml/2006/main">
            <a:r>
              <a:t>      "indices": [</a:t>
            </a:r>
          </a:p>
          <a:p xmlns:a="http://schemas.openxmlformats.org/drawingml/2006/main">
            <a:r>
              <a:t>        6,</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"9. 교통안전 사각지대 교통안전점검에 관한 업무"</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"운행기록 분석",</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"5. 교통안전정보관리체계 운영에 관한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"교통약자 실태조사",</a:t>
            </a:r>
          </a:p>
          <a:p xmlns:a="http://schemas.openxmlformats.org/drawingml/2006/main">
            <a:r>
              <a:t>      "indices": [</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"AX02",</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"AX08",</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"지역·취약계층 안전조치 근거 지원",</a:t>
            </a:r>
          </a:p>
          <a:p xmlns:a="http://schemas.openxmlformats.org/drawingml/2006/main">
            <a:r>
              <a:t>  "delta": "관할·대상·현장 증거 연결",</a:t>
            </a:r>
          </a:p>
          <a:p xmlns:a="http://schemas.openxmlformats.org/drawingml/2006/main">
            <a:r>
              <a:t>  "kpi": "위험 검토시간 / 조치 이행률",</a:t>
            </a:r>
          </a:p>
          <a:p xmlns:a="http://schemas.openxmlformats.org/drawingml/2006/main">
            <a:r>
              <a:t>  "validation": "지역·기간별 원천 대조, 미조치 건 추적",</a:t>
            </a:r>
          </a:p>
          <a:p xmlns:a="http://schemas.openxmlformats.org/drawingml/2006/main">
            <a:r>
              <a:t>  "requirement": "BM-ST-01-R01",</a:t>
            </a:r>
          </a:p>
          <a:p xmlns:a="http://schemas.openxmlformats.org/drawingml/2006/main">
            <a:r>
              <a:t>  "test": "BM-ST-01-T01",</a:t>
            </a:r>
          </a:p>
          <a:p xmlns:a="http://schemas.openxmlformats.org/drawingml/2006/main">
            <a:r>
              <a:t>  "effectStatus": "기대 방향 · TS 실측 전",</a:t>
            </a:r>
          </a:p>
          <a:p xmlns:a="http://schemas.openxmlformats.org/drawingml/2006/main">
            <a:r>
              <a:t>  "effect": "위험 검토시간·조치 누락 감소",</a:t>
            </a:r>
          </a:p>
          <a:p xmlns:a="http://schemas.openxmlformats.org/drawingml/2006/main">
            <a:r>
              <a:t>  "reuse": "ON27-BASE / C27-COM + CCK 재사용 판정 기능",</a:t>
            </a:r>
          </a:p>
          <a:p xmlns:a="http://schemas.openxmlformats.org/drawingml/2006/main">
            <a:r>
              <a:t>  "input": "지역·대상별 사고 집계, 현장점검표, 개선조치 이력",</a:t>
            </a:r>
          </a:p>
          <a:p xmlns:a="http://schemas.openxmlformats.org/drawingml/2006/main">
            <a:r>
              <a:t>  "steps": [</a:t>
            </a:r>
          </a:p>
          <a:p xmlns:a="http://schemas.openxmlformats.org/drawingml/2006/main">
            <a:r>
              <a:t>    "관할·취약대상 분류",</a:t>
            </a:r>
          </a:p>
          <a:p xmlns:a="http://schemas.openxmlformats.org/drawingml/2006/main">
            <a:r>
              <a:t>    "현장 증거와 위험요인 대조",</a:t>
            </a:r>
          </a:p>
          <a:p xmlns:a="http://schemas.openxmlformats.org/drawingml/2006/main">
            <a:r>
              <a:t>    "조치 담당·기한 지정",</a:t>
            </a:r>
          </a:p>
          <a:p xmlns:a="http://schemas.openxmlformats.org/drawingml/2006/main">
            <a:r>
              <a:t>    "이행·재점검 확인"</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안전관리",</a:t>
            </a:r>
          </a:p>
          <a:p xmlns:a="http://schemas.openxmlformats.org/drawingml/2006/main">
            <a:r>
              <a:t>      "indices": [</a:t>
            </a:r>
          </a:p>
          <a:p xmlns:a="http://schemas.openxmlformats.org/drawingml/2006/main">
            <a:r>
              <a:t>        4,</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"5. 교통안전수단점검에 관한 업무 총괄",</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"RULEWORK-1022030-5",</a:t>
            </a:r>
          </a:p>
          <a:p xmlns:a="http://schemas.openxmlformats.org/drawingml/2006/main">
            <a:r>
              <a:t>          "text": "5. 교통안전수단점검에 관한 업무 총괄",</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"RULEWORK-1022030-5-R01",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"RULEWORK-1022030-5-T01",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"RULEWORK-1022030-5-R02",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"RULEWORK-1022030-5-T02",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"RULEWORK-1022030-7",</a:t>
            </a:r>
          </a:p>
          <a:p xmlns:a="http://schemas.openxmlformats.org/drawingml/2006/main">
            <a:r>
              <a:t>          "text": "7. 운수회사 안전관리 및 교통사고 예방사업",</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"RULEWORK-1022030-7-R01",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"RULEWORK-1022030-7-T01",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"RULEWORK-1022030-7-R02",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"RULEWORK-1022030-7-T02",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"교통시설·사각지대 점검",</a:t>
            </a:r>
          </a:p>
          <a:p xmlns:a="http://schemas.openxmlformats.org/drawingml/2006/main">
            <a:r>
              <a:t>      "indices": [</a:t>
            </a:r>
          </a:p>
          <a:p xmlns:a="http://schemas.openxmlformats.org/drawingml/2006/main">
            <a:r>
              <a:t>        6,</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"9. 교통안전 사각지대 교통안전점검에 관한 업무"</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"RULEWORK-1021030-7",</a:t>
            </a:r>
          </a:p>
          <a:p xmlns:a="http://schemas.openxmlformats.org/drawingml/2006/main">
            <a:r>
              <a:t>          "text": "7. 교통시설 안전진단ㆍ점검ㆍ평가에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"RULEWORK-1021030-7-R01",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"RULEWORK-1021030-7-T01",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"RULEWORK-1021030-7-R02",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"RULEWORK-1021030-7-T02",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"RULEWORK-1021030-9",</a:t>
            </a:r>
          </a:p>
          <a:p xmlns:a="http://schemas.openxmlformats.org/drawingml/2006/main">
            <a:r>
              <a:t>          "text": "9. 교통안전 사각지대 교통안전점검에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"RULEWORK-1021030-9-R01",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"RULEWORK-1021030-9-T01",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"RULEWORK-1021030-9-R02",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"RULEWORK-1021030-9-T02",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"RULEWORK-1021030-9-R03",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"RULEWORK-1021030-9-T03",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"운행기록 분석",</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"5. 교통안전정보관리체계 운영에 관한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"RULEWORK-1019030-3",</a:t>
            </a:r>
          </a:p>
          <a:p xmlns:a="http://schemas.openxmlformats.org/drawingml/2006/main">
            <a:r>
              <a:t>          "text": "3. 운행기록데이터 관리·분석·활용 및 정책지원",</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"RULEWORK-1019030-5",</a:t>
            </a:r>
          </a:p>
          <a:p xmlns:a="http://schemas.openxmlformats.org/drawingml/2006/main">
            <a:r>
              <a:t>          "text": "5. 교통안전정보관리체계 운영에 관한 업무",</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"RULEWORK-1019030-5-R01",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"RULEWORK-1019030-5-T01",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"RULEWORK-1019030-5-R02",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"RULEWORK-1019030-5-T02",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"RULEWORK-1019030-5-R03",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"교통약자 실태조사",</a:t>
            </a:r>
          </a:p>
          <a:p xmlns:a="http://schemas.openxmlformats.org/drawingml/2006/main">
            <a:r>
              <a:t>      "indices": [</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"RULEWORK-1019020-23",</a:t>
            </a:r>
          </a:p>
          <a:p xmlns:a="http://schemas.openxmlformats.org/drawingml/2006/main">
            <a:r>
              <a:t>          "text": "23. 교통약자 이동편의실태조사 및 자료관리",</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"RULEWORK-1019020-23-R01",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"RULEWORK-1019020-23-T01",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"RULEWORK-1019020-23-R02",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"RULEWORK-1019020-23-T02",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"RULEWORK-1019020-23-R03",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점검 기준 검색·요약"</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"Audin·JET의 증빙 검토·항목 구조화"</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"관할·대상 코드 사전",</a:t>
            </a:r>
          </a:p>
          <a:p xmlns:a="http://schemas.openxmlformats.org/drawingml/2006/main">
            <a:r>
              <a:t>    "점검항목–증거–조치 연결표"</a:t>
            </a:r>
          </a:p>
          <a:p xmlns:a="http://schemas.openxmlformats.org/drawingml/2006/main">
            <a:r>
              <a:t>  ],</a:t>
            </a:r>
          </a:p>
          <a:p xmlns:a="http://schemas.openxmlformats.org/drawingml/2006/main">
            <a:r>
              <a:t>  "acceptancePlan": {</a:t>
            </a:r>
          </a:p>
          <a:p xmlns:a="http://schemas.openxmlformats.org/drawingml/2006/main">
            <a:r>
              <a:t>    "sample": "기간·지역 불일치, 증빙 없는 완료 건 주입",</a:t>
            </a:r>
          </a:p>
          <a:p xmlns:a="http://schemas.openxmlformats.org/drawingml/2006/main">
            <a:r>
              <a:t>    "criterion": "원천 위치 표시·불일치 보류·미조치 유지",</a:t>
            </a:r>
          </a:p>
          <a:p xmlns:a="http://schemas.openxmlformats.org/drawingml/2006/main">
            <a:r>
              <a:t>    "evidence": "원천 대사표·누락 탐지 결과·검토 이력",</a:t>
            </a:r>
          </a:p>
          <a:p xmlns:a="http://schemas.openxmlformats.org/drawingml/2006/main">
            <a:r>
              <a:t>    "execution": "미실행"</a:t>
            </a:r>
          </a:p>
          <a:p xmlns:a="http://schemas.openxmlformats.org/drawingml/2006/main">
            <a:r>
              <a:t>  },</a:t>
            </a:r>
          </a:p>
          <a:p xmlns:a="http://schemas.openxmlformats.org/drawingml/2006/main">
            <a:r>
              <a:t>  "formula": "검토 완료시간 중앙값 / 미조치 탐지 건수 ÷ 실제 미조치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"ST-02",</a:t>
            </a:r>
          </a:p>
          <a:p xmlns:a="http://schemas.openxmlformats.org/drawingml/2006/main">
            <a:r>
              <a:t>  "number": 2,</a:t>
            </a:r>
          </a:p>
          <a:p xmlns:a="http://schemas.openxmlformats.org/drawingml/2006/main">
            <a:r>
              <a:t>  "direction": "무결점 교통안전체계 조성",</a:t>
            </a:r>
          </a:p>
          <a:p xmlns:a="http://schemas.openxmlformats.org/drawingml/2006/main">
            <a:r>
              <a:t>  "strategy": "자동차 안전관리 및 소비자 권익 강화",</a:t>
            </a:r>
          </a:p>
          <a:p xmlns:a="http://schemas.openxmlformats.org/drawingml/2006/main">
            <a:r>
              <a:t>  "solution": "자동차 안전·소비자 업무지원",</a:t>
            </a:r>
          </a:p>
          <a:p xmlns:a="http://schemas.openxmlformats.org/drawingml/2006/main">
            <a:r>
              <a:t>  "lawIds": [</a:t>
            </a:r>
          </a:p>
          <a:p xmlns:a="http://schemas.openxmlformats.org/drawingml/2006/main">
            <a:r>
              <a:t>    "L06",</a:t>
            </a:r>
          </a:p>
          <a:p xmlns:a="http://schemas.openxmlformats.org/drawingml/2006/main">
            <a:r>
              <a:t>    "L07",</a:t>
            </a:r>
          </a:p>
          <a:p xmlns:a="http://schemas.openxmlformats.org/drawingml/2006/main">
            <a:r>
              <a:t>    "L09",</a:t>
            </a:r>
          </a:p>
          <a:p xmlns:a="http://schemas.openxmlformats.org/drawingml/2006/main">
            <a:r>
              <a:t>    "L10"</a:t>
            </a:r>
          </a:p>
          <a:p xmlns:a="http://schemas.openxmlformats.org/drawingml/2006/main">
            <a:r>
              <a:t>  ],</a:t>
            </a:r>
          </a:p>
          <a:p xmlns:a="http://schemas.openxmlformats.org/drawingml/2006/main">
            <a:r>
              <a:t>  "codes": [</a:t>
            </a:r>
          </a:p>
          <a:p xmlns:a="http://schemas.openxmlformats.org/drawingml/2006/main">
            <a:r>
              <a:t>    "1028070",</a:t>
            </a:r>
          </a:p>
          <a:p xmlns:a="http://schemas.openxmlformats.org/drawingml/2006/main">
            <a:r>
              <a:t>    "1028075",</a:t>
            </a:r>
          </a:p>
          <a:p xmlns:a="http://schemas.openxmlformats.org/drawingml/2006/main">
            <a:r>
              <a:t>    "7000000",</a:t>
            </a:r>
          </a:p>
          <a:p xmlns:a="http://schemas.openxmlformats.org/drawingml/2006/main">
            <a:r>
              <a:t>    "1019400"</a:t>
            </a:r>
          </a:p>
          <a:p xmlns:a="http://schemas.openxmlformats.org/drawingml/2006/main">
            <a:r>
              <a:t>  ],</a:t>
            </a:r>
          </a:p>
          <a:p xmlns:a="http://schemas.openxmlformats.org/drawingml/2006/main">
            <a:r>
              <a:t>  "work": "검사·튜닝·결함조사·이력 정보의 업무별 검토",</a:t>
            </a:r>
          </a:p>
          <a:p xmlns:a="http://schemas.openxmlformats.org/drawingml/2006/main">
            <a:r>
              <a:t>  "features": [</a:t>
            </a:r>
          </a:p>
          <a:p xmlns:a="http://schemas.openxmlformats.org/drawingml/2006/main">
            <a:r>
              <a:t>    "차량·사건·신청 유형별 검토자료 정리",</a:t>
            </a:r>
          </a:p>
          <a:p xmlns:a="http://schemas.openxmlformats.org/drawingml/2006/main">
            <a:r>
              <a:t>    "검사·연구·민원 부서 간 증빙 인계"</a:t>
            </a:r>
          </a:p>
          <a:p xmlns:a="http://schemas.openxmlformats.org/drawingml/2006/main">
            <a:r>
              <a:t>  ],</a:t>
            </a:r>
          </a:p>
          <a:p xmlns:a="http://schemas.openxmlformats.org/drawingml/2006/main">
            <a:r>
              <a:t>  "output": "차량별 검토표·보완 요청 초안",</a:t>
            </a:r>
          </a:p>
          <a:p xmlns:a="http://schemas.openxmlformats.org/drawingml/2006/main">
            <a:r>
              <a:t>  "acceptance": "동일 차량의 검사·결함·민원 맥락 분리 및 승인된 안내 근거 추적",</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"GAI-T06",</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"1028070",</a:t>
            </a:r>
          </a:p>
          <a:p xmlns:a="http://schemas.openxmlformats.org/drawingml/2006/main">
            <a:r>
              <a:t>      "name": "검사기획처",</a:t>
            </a:r>
          </a:p>
          <a:p xmlns:a="http://schemas.openxmlformats.org/drawingml/2006/main">
            <a:r>
              <a:t>      "job": "검사제도·품질 관리",</a:t>
            </a:r>
          </a:p>
          <a:p xmlns:a="http://schemas.openxmlformats.org/drawingml/2006/main">
            <a:r>
              <a:t>      "indices": [</a:t>
            </a:r>
          </a:p>
          <a:p xmlns:a="http://schemas.openxmlformats.org/drawingml/2006/main">
            <a:r>
              <a:t>        9,</a:t>
            </a:r>
          </a:p>
          <a:p xmlns:a="http://schemas.openxmlformats.org/drawingml/2006/main">
            <a:r>
              <a:t>        20</a:t>
            </a:r>
          </a:p>
          <a:p xmlns:a="http://schemas.openxmlformats.org/drawingml/2006/main">
            <a:r>
              <a:t>      ],</a:t>
            </a:r>
          </a:p>
          <a:p xmlns:a="http://schemas.openxmlformats.org/drawingml/2006/main">
            <a:r>
              <a:t>      "duties": [</a:t>
            </a:r>
          </a:p>
          <a:p xmlns:a="http://schemas.openxmlformats.org/drawingml/2006/main">
            <a:r>
              <a:t>        "10. 자동차검사 품질강화 및 공공성 강화 관련 업무",</a:t>
            </a:r>
          </a:p>
          <a:p xmlns:a="http://schemas.openxmlformats.org/drawingml/2006/main">
            <a:r>
              <a:t>        "21. 검사표준서비스, 검사프로세스 개선‧관리"</a:t>
            </a:r>
          </a:p>
          <a:p xmlns:a="http://schemas.openxmlformats.org/drawingml/2006/main">
            <a:r>
              <a:t>      ],</a:t>
            </a:r>
          </a:p>
          <a:p xmlns:a="http://schemas.openxmlformats.org/drawingml/2006/main">
            <a:r>
              <a:t>      "locator": "별표4 · T42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"1028075",</a:t>
            </a:r>
          </a:p>
          <a:p xmlns:a="http://schemas.openxmlformats.org/drawingml/2006/main">
            <a:r>
              <a:t>      "name": "기술승인처",</a:t>
            </a:r>
          </a:p>
          <a:p xmlns:a="http://schemas.openxmlformats.org/drawingml/2006/main">
            <a:r>
              <a:t>      "job": "튜닝 승인·검사",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튜닝승인 및 튜닝검사, 안전검사 등에 관한 업무"</a:t>
            </a:r>
          </a:p>
          <a:p xmlns:a="http://schemas.openxmlformats.org/drawingml/2006/main">
            <a:r>
              <a:t>      ],</a:t>
            </a:r>
          </a:p>
          <a:p xmlns:a="http://schemas.openxmlformats.org/drawingml/2006/main">
            <a:r>
              <a:t>      "locator": "별표4 · T44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"제작결함 조사·안전도평가",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이력·정보 관리",</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"검사·소비자 권익 검토 지원",</a:t>
            </a:r>
          </a:p>
          <a:p xmlns:a="http://schemas.openxmlformats.org/drawingml/2006/main">
            <a:r>
              <a:t>  "delta": "검사 기준 판본·차량·증빙 대조",</a:t>
            </a:r>
          </a:p>
          <a:p xmlns:a="http://schemas.openxmlformats.org/drawingml/2006/main">
            <a:r>
              <a:t>  "kpi": "검토 누락률 / 보완 소요시간",</a:t>
            </a:r>
          </a:p>
          <a:p xmlns:a="http://schemas.openxmlformats.org/drawingml/2006/main">
            <a:r>
              <a:t>  "validation": "불완전 증빙의 자동 확정 차단",</a:t>
            </a:r>
          </a:p>
          <a:p xmlns:a="http://schemas.openxmlformats.org/drawingml/2006/main">
            <a:r>
              <a:t>  "requirement": "BM-ST-02-R01",</a:t>
            </a:r>
          </a:p>
          <a:p xmlns:a="http://schemas.openxmlformats.org/drawingml/2006/main">
            <a:r>
              <a:t>  "test": "BM-ST-02-T01",</a:t>
            </a:r>
          </a:p>
          <a:p xmlns:a="http://schemas.openxmlformats.org/drawingml/2006/main">
            <a:r>
              <a:t>  "effectStatus": "기대 방향 · TS 실측 전",</a:t>
            </a:r>
          </a:p>
          <a:p xmlns:a="http://schemas.openxmlformats.org/drawingml/2006/main">
            <a:r>
              <a:t>  "effect": "보완 반복·검토 누락 감소",</a:t>
            </a:r>
          </a:p>
          <a:p xmlns:a="http://schemas.openxmlformats.org/drawingml/2006/main">
            <a:r>
              <a:t>  "reuse": "ON27-BASE / C27-COM + CCK 재사용 판정 기능",</a:t>
            </a:r>
          </a:p>
          <a:p xmlns:a="http://schemas.openxmlformats.org/drawingml/2006/main">
            <a:r>
              <a:t>  "input": "차량·신청 ID, 검사·튜닝 기준 판본, 보완서류",</a:t>
            </a:r>
          </a:p>
          <a:p xmlns:a="http://schemas.openxmlformats.org/drawingml/2006/main">
            <a:r>
              <a:t>  "steps": [</a:t>
            </a:r>
          </a:p>
          <a:p xmlns:a="http://schemas.openxmlformats.org/drawingml/2006/main">
            <a:r>
              <a:t>    "업무 유형·차량 식별",</a:t>
            </a:r>
          </a:p>
          <a:p xmlns:a="http://schemas.openxmlformats.org/drawingml/2006/main">
            <a:r>
              <a:t>    "적용 기준 판본 선택",</a:t>
            </a:r>
          </a:p>
          <a:p xmlns:a="http://schemas.openxmlformats.org/drawingml/2006/main">
            <a:r>
              <a:t>    "필수 증빙 대조",</a:t>
            </a:r>
          </a:p>
          <a:p xmlns:a="http://schemas.openxmlformats.org/drawingml/2006/main">
            <a:r>
              <a:t>    "검사·민원 담당 인계"</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"1028070",</a:t>
            </a:r>
          </a:p>
          <a:p xmlns:a="http://schemas.openxmlformats.org/drawingml/2006/main">
            <a:r>
              <a:t>      "name": "검사기획처",</a:t>
            </a:r>
          </a:p>
          <a:p xmlns:a="http://schemas.openxmlformats.org/drawingml/2006/main">
            <a:r>
              <a:t>      "job": "검사제도·품질 관리",</a:t>
            </a:r>
          </a:p>
          <a:p xmlns:a="http://schemas.openxmlformats.org/drawingml/2006/main">
            <a:r>
              <a:t>      "indices": [</a:t>
            </a:r>
          </a:p>
          <a:p xmlns:a="http://schemas.openxmlformats.org/drawingml/2006/main">
            <a:r>
              <a:t>        9,</a:t>
            </a:r>
          </a:p>
          <a:p xmlns:a="http://schemas.openxmlformats.org/drawingml/2006/main">
            <a:r>
              <a:t>        20</a:t>
            </a:r>
          </a:p>
          <a:p xmlns:a="http://schemas.openxmlformats.org/drawingml/2006/main">
            <a:r>
              <a:t>      ],</a:t>
            </a:r>
          </a:p>
          <a:p xmlns:a="http://schemas.openxmlformats.org/drawingml/2006/main">
            <a:r>
              <a:t>      "duties": [</a:t>
            </a:r>
          </a:p>
          <a:p xmlns:a="http://schemas.openxmlformats.org/drawingml/2006/main">
            <a:r>
              <a:t>        "10. 자동차검사 품질강화 및 공공성 강화 관련 업무",</a:t>
            </a:r>
          </a:p>
          <a:p xmlns:a="http://schemas.openxmlformats.org/drawingml/2006/main">
            <a:r>
              <a:t>        "21. 검사표준서비스, 검사프로세스 개선‧관리"</a:t>
            </a:r>
          </a:p>
          <a:p xmlns:a="http://schemas.openxmlformats.org/drawingml/2006/main">
            <a:r>
              <a:t>      ],</a:t>
            </a:r>
          </a:p>
          <a:p xmlns:a="http://schemas.openxmlformats.org/drawingml/2006/main">
            <a:r>
              <a:t>      "locator": "별표4 · T42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"RULEWORK-1028070-10",</a:t>
            </a:r>
          </a:p>
          <a:p xmlns:a="http://schemas.openxmlformats.org/drawingml/2006/main">
            <a:r>
              <a:t>          "text": "10. 자동차검사 품질강화 및 공공성 강화 관련 업무",</a:t>
            </a:r>
          </a:p>
          <a:p xmlns:a="http://schemas.openxmlformats.org/drawingml/2006/main">
            <a:r>
              <a:t>          "locator": "별표4 · T42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"RULEWORK-1028070-10-R01",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"RULEWORK-1028070-10-T01",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"RULEWORK-1028070-10-R02",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"RULEWORK-1028070-10-T02",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"RULEWORK-1028070-10-R03",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"RULEWORK-1028070-10-T03",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"RULEWORK-1028070-21",</a:t>
            </a:r>
          </a:p>
          <a:p xmlns:a="http://schemas.openxmlformats.org/drawingml/2006/main">
            <a:r>
              <a:t>          "text": "21. 검사표준서비스, 검사프로세스 개선‧관리",</a:t>
            </a:r>
          </a:p>
          <a:p xmlns:a="http://schemas.openxmlformats.org/drawingml/2006/main">
            <a:r>
              <a:t>          "locator": "별표4 · T42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"RULEWORK-1028070-21-R01",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"RULEWORK-1028070-21-T01",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"RULEWORK-1028070-21-R02",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"RULEWORK-1028070-21-T02",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"RULEWORK-1028070-21-R03",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"RULEWORK-1028070-21-T03",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"1028075",</a:t>
            </a:r>
          </a:p>
          <a:p xmlns:a="http://schemas.openxmlformats.org/drawingml/2006/main">
            <a:r>
              <a:t>      "name": "기술승인처",</a:t>
            </a:r>
          </a:p>
          <a:p xmlns:a="http://schemas.openxmlformats.org/drawingml/2006/main">
            <a:r>
              <a:t>      "job": "튜닝 승인·검사",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튜닝승인 및 튜닝검사, 안전검사 등에 관한 업무"</a:t>
            </a:r>
          </a:p>
          <a:p xmlns:a="http://schemas.openxmlformats.org/drawingml/2006/main">
            <a:r>
              <a:t>      ],</a:t>
            </a:r>
          </a:p>
          <a:p xmlns:a="http://schemas.openxmlformats.org/drawingml/2006/main">
            <a:r>
              <a:t>      "locator": "별표4 · T44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"RULEWORK-1028075-2",</a:t>
            </a:r>
          </a:p>
          <a:p xmlns:a="http://schemas.openxmlformats.org/drawingml/2006/main">
            <a:r>
              <a:t>          "text": "2. 튜닝승인 및 튜닝검사, 안전검사 등에 관한 업무",</a:t>
            </a:r>
          </a:p>
          <a:p xmlns:a="http://schemas.openxmlformats.org/drawingml/2006/main">
            <a:r>
              <a:t>          "locator": "별표4 · T44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"RULEWORK-1028075-2-R01",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"RULEWORK-1028075-2-T01",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"RULEWORK-1028075-2-R02",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"RULEWORK-1028075-2-T02",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"RULEWORK-1028075-2-R03",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"RULEWORK-1028075-2-T03",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"제작결함 조사·안전도평가",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"workItems": []</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이력·정보 관리",</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"RULEWORK-1019400-3",</a:t>
            </a:r>
          </a:p>
          <a:p xmlns:a="http://schemas.openxmlformats.org/drawingml/2006/main">
            <a:r>
              <a:t>          "text": "3. 자동차토털이력관리시스템 운영",</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"RULEWORK-1019400-8",</a:t>
            </a:r>
          </a:p>
          <a:p xmlns:a="http://schemas.openxmlformats.org/drawingml/2006/main">
            <a:r>
              <a:t>          "text": "8. 자동차정보 통합서비스 제공 업무",</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기준 검색·서식 초안"</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"Audin·Foundry의 근거 검토·절차 구성"</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"차량–검사–민원 사건 연결 명세",</a:t>
            </a:r>
          </a:p>
          <a:p xmlns:a="http://schemas.openxmlformats.org/drawingml/2006/main">
            <a:r>
              <a:t>    "기준 개정·신청일 판정 규칙"</a:t>
            </a:r>
          </a:p>
          <a:p xmlns:a="http://schemas.openxmlformats.org/drawingml/2006/main">
            <a:r>
              <a:t>  ],</a:t>
            </a:r>
          </a:p>
          <a:p xmlns:a="http://schemas.openxmlformats.org/drawingml/2006/main">
            <a:r>
              <a:t>  "acceptancePlan": {</a:t>
            </a:r>
          </a:p>
          <a:p xmlns:a="http://schemas.openxmlformats.org/drawingml/2006/main">
            <a:r>
              <a:t>    "sample": "개정 전후 신청, 다른 차량 증빙, 누락서류 주입",</a:t>
            </a:r>
          </a:p>
          <a:p xmlns:a="http://schemas.openxmlformats.org/drawingml/2006/main">
            <a:r>
              <a:t>    "criterion": "해당 판본·차량 일치·불완전 건 승인 보류",</a:t>
            </a:r>
          </a:p>
          <a:p xmlns:a="http://schemas.openxmlformats.org/drawingml/2006/main">
            <a:r>
              <a:t>    "evidence": "판본 대조표·보완 목록·승인 차단 로그",</a:t>
            </a:r>
          </a:p>
          <a:p xmlns:a="http://schemas.openxmlformats.org/drawingml/2006/main">
            <a:r>
              <a:t>    "execution": "미실행"</a:t>
            </a:r>
          </a:p>
          <a:p xmlns:a="http://schemas.openxmlformats.org/drawingml/2006/main">
            <a:r>
              <a:t>  },</a:t>
            </a:r>
          </a:p>
          <a:p xmlns:a="http://schemas.openxmlformats.org/drawingml/2006/main">
            <a:r>
              <a:t>  "formula": "업무건당 보완 횟수 / 필수 증빙 누락 건수 ÷ 평가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"PF-R01"</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"ST-02",</a:t>
            </a:r>
          </a:p>
          <a:p xmlns:a="http://schemas.openxmlformats.org/drawingml/2006/main">
            <a:r>
              <a:t>  "number": 2,</a:t>
            </a:r>
          </a:p>
          <a:p xmlns:a="http://schemas.openxmlformats.org/drawingml/2006/main">
            <a:r>
              <a:t>  "direction": "무결점 교통안전체계 조성",</a:t>
            </a:r>
          </a:p>
          <a:p xmlns:a="http://schemas.openxmlformats.org/drawingml/2006/main">
            <a:r>
              <a:t>  "strategy": "자동차 안전관리 및 소비자 권익 강화",</a:t>
            </a:r>
          </a:p>
          <a:p xmlns:a="http://schemas.openxmlformats.org/drawingml/2006/main">
            <a:r>
              <a:t>  "solution": "자동차 안전·소비자 업무지원",</a:t>
            </a:r>
          </a:p>
          <a:p xmlns:a="http://schemas.openxmlformats.org/drawingml/2006/main">
            <a:r>
              <a:t>  "lawIds": [</a:t>
            </a:r>
          </a:p>
          <a:p xmlns:a="http://schemas.openxmlformats.org/drawingml/2006/main">
            <a:r>
              <a:t>    "L06",</a:t>
            </a:r>
          </a:p>
          <a:p xmlns:a="http://schemas.openxmlformats.org/drawingml/2006/main">
            <a:r>
              <a:t>    "L07",</a:t>
            </a:r>
          </a:p>
          <a:p xmlns:a="http://schemas.openxmlformats.org/drawingml/2006/main">
            <a:r>
              <a:t>    "L09",</a:t>
            </a:r>
          </a:p>
          <a:p xmlns:a="http://schemas.openxmlformats.org/drawingml/2006/main">
            <a:r>
              <a:t>    "L10"</a:t>
            </a:r>
          </a:p>
          <a:p xmlns:a="http://schemas.openxmlformats.org/drawingml/2006/main">
            <a:r>
              <a:t>  ],</a:t>
            </a:r>
          </a:p>
          <a:p xmlns:a="http://schemas.openxmlformats.org/drawingml/2006/main">
            <a:r>
              <a:t>  "codes": [</a:t>
            </a:r>
          </a:p>
          <a:p xmlns:a="http://schemas.openxmlformats.org/drawingml/2006/main">
            <a:r>
              <a:t>    "1028070",</a:t>
            </a:r>
          </a:p>
          <a:p xmlns:a="http://schemas.openxmlformats.org/drawingml/2006/main">
            <a:r>
              <a:t>    "1028075",</a:t>
            </a:r>
          </a:p>
          <a:p xmlns:a="http://schemas.openxmlformats.org/drawingml/2006/main">
            <a:r>
              <a:t>    "7000000",</a:t>
            </a:r>
          </a:p>
          <a:p xmlns:a="http://schemas.openxmlformats.org/drawingml/2006/main">
            <a:r>
              <a:t>    "1019400"</a:t>
            </a:r>
          </a:p>
          <a:p xmlns:a="http://schemas.openxmlformats.org/drawingml/2006/main">
            <a:r>
              <a:t>  ],</a:t>
            </a:r>
          </a:p>
          <a:p xmlns:a="http://schemas.openxmlformats.org/drawingml/2006/main">
            <a:r>
              <a:t>  "work": "검사·튜닝·결함조사·이력 정보의 업무별 검토",</a:t>
            </a:r>
          </a:p>
          <a:p xmlns:a="http://schemas.openxmlformats.org/drawingml/2006/main">
            <a:r>
              <a:t>  "features": [</a:t>
            </a:r>
          </a:p>
          <a:p xmlns:a="http://schemas.openxmlformats.org/drawingml/2006/main">
            <a:r>
              <a:t>    "차량·사건·신청 유형별 검토자료 정리",</a:t>
            </a:r>
          </a:p>
          <a:p xmlns:a="http://schemas.openxmlformats.org/drawingml/2006/main">
            <a:r>
              <a:t>    "검사·연구·민원 부서 간 증빙 인계"</a:t>
            </a:r>
          </a:p>
          <a:p xmlns:a="http://schemas.openxmlformats.org/drawingml/2006/main">
            <a:r>
              <a:t>  ],</a:t>
            </a:r>
          </a:p>
          <a:p xmlns:a="http://schemas.openxmlformats.org/drawingml/2006/main">
            <a:r>
              <a:t>  "output": "차량별 검토표·보완 요청 초안",</a:t>
            </a:r>
          </a:p>
          <a:p xmlns:a="http://schemas.openxmlformats.org/drawingml/2006/main">
            <a:r>
              <a:t>  "acceptance": "동일 차량의 검사·결함·민원 맥락 분리 및 승인된 안내 근거 추적",</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"GAI-T06",</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"1028070",</a:t>
            </a:r>
          </a:p>
          <a:p xmlns:a="http://schemas.openxmlformats.org/drawingml/2006/main">
            <a:r>
              <a:t>      "name": "검사기획처",</a:t>
            </a:r>
          </a:p>
          <a:p xmlns:a="http://schemas.openxmlformats.org/drawingml/2006/main">
            <a:r>
              <a:t>      "job": "검사제도·품질 관리",</a:t>
            </a:r>
          </a:p>
          <a:p xmlns:a="http://schemas.openxmlformats.org/drawingml/2006/main">
            <a:r>
              <a:t>      "indices": [</a:t>
            </a:r>
          </a:p>
          <a:p xmlns:a="http://schemas.openxmlformats.org/drawingml/2006/main">
            <a:r>
              <a:t>        9,</a:t>
            </a:r>
          </a:p>
          <a:p xmlns:a="http://schemas.openxmlformats.org/drawingml/2006/main">
            <a:r>
              <a:t>        20</a:t>
            </a:r>
          </a:p>
          <a:p xmlns:a="http://schemas.openxmlformats.org/drawingml/2006/main">
            <a:r>
              <a:t>      ],</a:t>
            </a:r>
          </a:p>
          <a:p xmlns:a="http://schemas.openxmlformats.org/drawingml/2006/main">
            <a:r>
              <a:t>      "duties": [</a:t>
            </a:r>
          </a:p>
          <a:p xmlns:a="http://schemas.openxmlformats.org/drawingml/2006/main">
            <a:r>
              <a:t>        "10. 자동차검사 품질강화 및 공공성 강화 관련 업무",</a:t>
            </a:r>
          </a:p>
          <a:p xmlns:a="http://schemas.openxmlformats.org/drawingml/2006/main">
            <a:r>
              <a:t>        "21. 검사표준서비스, 검사프로세스 개선‧관리"</a:t>
            </a:r>
          </a:p>
          <a:p xmlns:a="http://schemas.openxmlformats.org/drawingml/2006/main">
            <a:r>
              <a:t>      ],</a:t>
            </a:r>
          </a:p>
          <a:p xmlns:a="http://schemas.openxmlformats.org/drawingml/2006/main">
            <a:r>
              <a:t>      "locator": "별표4 · T42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"1028075",</a:t>
            </a:r>
          </a:p>
          <a:p xmlns:a="http://schemas.openxmlformats.org/drawingml/2006/main">
            <a:r>
              <a:t>      "name": "기술승인처",</a:t>
            </a:r>
          </a:p>
          <a:p xmlns:a="http://schemas.openxmlformats.org/drawingml/2006/main">
            <a:r>
              <a:t>      "job": "튜닝 승인·검사",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튜닝승인 및 튜닝검사, 안전검사 등에 관한 업무"</a:t>
            </a:r>
          </a:p>
          <a:p xmlns:a="http://schemas.openxmlformats.org/drawingml/2006/main">
            <a:r>
              <a:t>      ],</a:t>
            </a:r>
          </a:p>
          <a:p xmlns:a="http://schemas.openxmlformats.org/drawingml/2006/main">
            <a:r>
              <a:t>      "locator": "별표4 · T44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"제작결함 조사·안전도평가",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이력·정보 관리",</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"검사·소비자 권익 검토 지원",</a:t>
            </a:r>
          </a:p>
          <a:p xmlns:a="http://schemas.openxmlformats.org/drawingml/2006/main">
            <a:r>
              <a:t>  "delta": "검사 기준 판본·차량·증빙 대조",</a:t>
            </a:r>
          </a:p>
          <a:p xmlns:a="http://schemas.openxmlformats.org/drawingml/2006/main">
            <a:r>
              <a:t>  "kpi": "검토 누락률 / 보완 소요시간",</a:t>
            </a:r>
          </a:p>
          <a:p xmlns:a="http://schemas.openxmlformats.org/drawingml/2006/main">
            <a:r>
              <a:t>  "validation": "불완전 증빙의 자동 확정 차단",</a:t>
            </a:r>
          </a:p>
          <a:p xmlns:a="http://schemas.openxmlformats.org/drawingml/2006/main">
            <a:r>
              <a:t>  "requirement": "BM-ST-02-R01",</a:t>
            </a:r>
          </a:p>
          <a:p xmlns:a="http://schemas.openxmlformats.org/drawingml/2006/main">
            <a:r>
              <a:t>  "test": "BM-ST-02-T01",</a:t>
            </a:r>
          </a:p>
          <a:p xmlns:a="http://schemas.openxmlformats.org/drawingml/2006/main">
            <a:r>
              <a:t>  "effectStatus": "기대 방향 · TS 실측 전",</a:t>
            </a:r>
          </a:p>
          <a:p xmlns:a="http://schemas.openxmlformats.org/drawingml/2006/main">
            <a:r>
              <a:t>  "effect": "보완 반복·검토 누락 감소",</a:t>
            </a:r>
          </a:p>
          <a:p xmlns:a="http://schemas.openxmlformats.org/drawingml/2006/main">
            <a:r>
              <a:t>  "reuse": "ON27-BASE / C27-COM + CCK 재사용 판정 기능",</a:t>
            </a:r>
          </a:p>
          <a:p xmlns:a="http://schemas.openxmlformats.org/drawingml/2006/main">
            <a:r>
              <a:t>  "input": "차량·신청 ID, 검사·튜닝 기준 판본, 보완서류",</a:t>
            </a:r>
          </a:p>
          <a:p xmlns:a="http://schemas.openxmlformats.org/drawingml/2006/main">
            <a:r>
              <a:t>  "steps": [</a:t>
            </a:r>
          </a:p>
          <a:p xmlns:a="http://schemas.openxmlformats.org/drawingml/2006/main">
            <a:r>
              <a:t>    "업무 유형·차량 식별",</a:t>
            </a:r>
          </a:p>
          <a:p xmlns:a="http://schemas.openxmlformats.org/drawingml/2006/main">
            <a:r>
              <a:t>    "적용 기준 판본 선택",</a:t>
            </a:r>
          </a:p>
          <a:p xmlns:a="http://schemas.openxmlformats.org/drawingml/2006/main">
            <a:r>
              <a:t>    "필수 증빙 대조",</a:t>
            </a:r>
          </a:p>
          <a:p xmlns:a="http://schemas.openxmlformats.org/drawingml/2006/main">
            <a:r>
              <a:t>    "검사·민원 담당 인계"</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"1028070",</a:t>
            </a:r>
          </a:p>
          <a:p xmlns:a="http://schemas.openxmlformats.org/drawingml/2006/main">
            <a:r>
              <a:t>      "name": "검사기획처",</a:t>
            </a:r>
          </a:p>
          <a:p xmlns:a="http://schemas.openxmlformats.org/drawingml/2006/main">
            <a:r>
              <a:t>      "job": "검사제도·품질 관리",</a:t>
            </a:r>
          </a:p>
          <a:p xmlns:a="http://schemas.openxmlformats.org/drawingml/2006/main">
            <a:r>
              <a:t>      "indices": [</a:t>
            </a:r>
          </a:p>
          <a:p xmlns:a="http://schemas.openxmlformats.org/drawingml/2006/main">
            <a:r>
              <a:t>        9,</a:t>
            </a:r>
          </a:p>
          <a:p xmlns:a="http://schemas.openxmlformats.org/drawingml/2006/main">
            <a:r>
              <a:t>        20</a:t>
            </a:r>
          </a:p>
          <a:p xmlns:a="http://schemas.openxmlformats.org/drawingml/2006/main">
            <a:r>
              <a:t>      ],</a:t>
            </a:r>
          </a:p>
          <a:p xmlns:a="http://schemas.openxmlformats.org/drawingml/2006/main">
            <a:r>
              <a:t>      "duties": [</a:t>
            </a:r>
          </a:p>
          <a:p xmlns:a="http://schemas.openxmlformats.org/drawingml/2006/main">
            <a:r>
              <a:t>        "10. 자동차검사 품질강화 및 공공성 강화 관련 업무",</a:t>
            </a:r>
          </a:p>
          <a:p xmlns:a="http://schemas.openxmlformats.org/drawingml/2006/main">
            <a:r>
              <a:t>        "21. 검사표준서비스, 검사프로세스 개선‧관리"</a:t>
            </a:r>
          </a:p>
          <a:p xmlns:a="http://schemas.openxmlformats.org/drawingml/2006/main">
            <a:r>
              <a:t>      ],</a:t>
            </a:r>
          </a:p>
          <a:p xmlns:a="http://schemas.openxmlformats.org/drawingml/2006/main">
            <a:r>
              <a:t>      "locator": "별표4 · T42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"RULEWORK-1028070-10",</a:t>
            </a:r>
          </a:p>
          <a:p xmlns:a="http://schemas.openxmlformats.org/drawingml/2006/main">
            <a:r>
              <a:t>          "text": "10. 자동차검사 품질강화 및 공공성 강화 관련 업무",</a:t>
            </a:r>
          </a:p>
          <a:p xmlns:a="http://schemas.openxmlformats.org/drawingml/2006/main">
            <a:r>
              <a:t>          "locator": "별표4 · T42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"RULEWORK-1028070-10-R01",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"RULEWORK-1028070-10-T01",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"RULEWORK-1028070-10-R02",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"RULEWORK-1028070-10-T02",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"RULEWORK-1028070-10-R03",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"RULEWORK-1028070-10-T03",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"RULEWORK-1028070-21",</a:t>
            </a:r>
          </a:p>
          <a:p xmlns:a="http://schemas.openxmlformats.org/drawingml/2006/main">
            <a:r>
              <a:t>          "text": "21. 검사표준서비스, 검사프로세스 개선‧관리",</a:t>
            </a:r>
          </a:p>
          <a:p xmlns:a="http://schemas.openxmlformats.org/drawingml/2006/main">
            <a:r>
              <a:t>          "locator": "별표4 · T42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"RULEWORK-1028070-21-R01",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"RULEWORK-1028070-21-T01",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"RULEWORK-1028070-21-R02",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"RULEWORK-1028070-21-T02",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"RULEWORK-1028070-21-R03",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"RULEWORK-1028070-21-T03",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"1028075",</a:t>
            </a:r>
          </a:p>
          <a:p xmlns:a="http://schemas.openxmlformats.org/drawingml/2006/main">
            <a:r>
              <a:t>      "name": "기술승인처",</a:t>
            </a:r>
          </a:p>
          <a:p xmlns:a="http://schemas.openxmlformats.org/drawingml/2006/main">
            <a:r>
              <a:t>      "job": "튜닝 승인·검사",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튜닝승인 및 튜닝검사, 안전검사 등에 관한 업무"</a:t>
            </a:r>
          </a:p>
          <a:p xmlns:a="http://schemas.openxmlformats.org/drawingml/2006/main">
            <a:r>
              <a:t>      ],</a:t>
            </a:r>
          </a:p>
          <a:p xmlns:a="http://schemas.openxmlformats.org/drawingml/2006/main">
            <a:r>
              <a:t>      "locator": "별표4 · T44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"RULEWORK-1028075-2",</a:t>
            </a:r>
          </a:p>
          <a:p xmlns:a="http://schemas.openxmlformats.org/drawingml/2006/main">
            <a:r>
              <a:t>          "text": "2. 튜닝승인 및 튜닝검사, 안전검사 등에 관한 업무",</a:t>
            </a:r>
          </a:p>
          <a:p xmlns:a="http://schemas.openxmlformats.org/drawingml/2006/main">
            <a:r>
              <a:t>          "locator": "별표4 · T44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"RULEWORK-1028075-2-R01",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"RULEWORK-1028075-2-T01",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"RULEWORK-1028075-2-R02",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"RULEWORK-1028075-2-T02",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"RULEWORK-1028075-2-R03",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"RULEWORK-1028075-2-T03",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"제작결함 조사·안전도평가",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"workItems": []</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이력·정보 관리",</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"RULEWORK-1019400-3",</a:t>
            </a:r>
          </a:p>
          <a:p xmlns:a="http://schemas.openxmlformats.org/drawingml/2006/main">
            <a:r>
              <a:t>          "text": "3. 자동차토털이력관리시스템 운영",</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"RULEWORK-1019400-8",</a:t>
            </a:r>
          </a:p>
          <a:p xmlns:a="http://schemas.openxmlformats.org/drawingml/2006/main">
            <a:r>
              <a:t>          "text": "8. 자동차정보 통합서비스 제공 업무",</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기준 검색·서식 초안"</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"Audin·Foundry의 근거 검토·절차 구성"</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"차량–검사–민원 사건 연결 명세",</a:t>
            </a:r>
          </a:p>
          <a:p xmlns:a="http://schemas.openxmlformats.org/drawingml/2006/main">
            <a:r>
              <a:t>    "기준 개정·신청일 판정 규칙"</a:t>
            </a:r>
          </a:p>
          <a:p xmlns:a="http://schemas.openxmlformats.org/drawingml/2006/main">
            <a:r>
              <a:t>  ],</a:t>
            </a:r>
          </a:p>
          <a:p xmlns:a="http://schemas.openxmlformats.org/drawingml/2006/main">
            <a:r>
              <a:t>  "acceptancePlan": {</a:t>
            </a:r>
          </a:p>
          <a:p xmlns:a="http://schemas.openxmlformats.org/drawingml/2006/main">
            <a:r>
              <a:t>    "sample": "개정 전후 신청, 다른 차량 증빙, 누락서류 주입",</a:t>
            </a:r>
          </a:p>
          <a:p xmlns:a="http://schemas.openxmlformats.org/drawingml/2006/main">
            <a:r>
              <a:t>    "criterion": "해당 판본·차량 일치·불완전 건 승인 보류",</a:t>
            </a:r>
          </a:p>
          <a:p xmlns:a="http://schemas.openxmlformats.org/drawingml/2006/main">
            <a:r>
              <a:t>    "evidence": "판본 대조표·보완 목록·승인 차단 로그",</a:t>
            </a:r>
          </a:p>
          <a:p xmlns:a="http://schemas.openxmlformats.org/drawingml/2006/main">
            <a:r>
              <a:t>    "execution": "미실행"</a:t>
            </a:r>
          </a:p>
          <a:p xmlns:a="http://schemas.openxmlformats.org/drawingml/2006/main">
            <a:r>
              <a:t>  },</a:t>
            </a:r>
          </a:p>
          <a:p xmlns:a="http://schemas.openxmlformats.org/drawingml/2006/main">
            <a:r>
              <a:t>  "formula": "업무건당 보완 횟수 / 필수 증빙 누락 건수 ÷ 평가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"PF-R01"</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"ST-03",</a:t>
            </a:r>
          </a:p>
          <a:p xmlns:a="http://schemas.openxmlformats.org/drawingml/2006/main">
            <a:r>
              <a:t>  "number": 3,</a:t>
            </a:r>
          </a:p>
          <a:p xmlns:a="http://schemas.openxmlformats.org/drawingml/2006/main">
            <a:r>
              <a:t>  "direction": "무결점 교통안전체계 조성",</a:t>
            </a:r>
          </a:p>
          <a:p xmlns:a="http://schemas.openxmlformats.org/drawingml/2006/main">
            <a:r>
              <a:t>  "strategy": "중대사고 예방 능동적 안전관리체계 구축",</a:t>
            </a:r>
          </a:p>
          <a:p xmlns:a="http://schemas.openxmlformats.org/drawingml/2006/main">
            <a:r>
              <a:t>  "solution": "중대위험 조치·재발방지 지원",</a:t>
            </a:r>
          </a:p>
          <a:p xmlns:a="http://schemas.openxmlformats.org/drawingml/2006/main">
            <a:r>
              <a:t>  "lawIds": [</a:t>
            </a:r>
          </a:p>
          <a:p xmlns:a="http://schemas.openxmlformats.org/drawingml/2006/main">
            <a:r>
              <a:t>    "L01",</a:t>
            </a:r>
          </a:p>
          <a:p xmlns:a="http://schemas.openxmlformats.org/drawingml/2006/main">
            <a:r>
              <a:t>    "L02",</a:t>
            </a:r>
          </a:p>
          <a:p xmlns:a="http://schemas.openxmlformats.org/drawingml/2006/main">
            <a:r>
              <a:t>    "L25"</a:t>
            </a:r>
          </a:p>
          <a:p xmlns:a="http://schemas.openxmlformats.org/drawingml/2006/main">
            <a:r>
              <a:t>  ],</a:t>
            </a:r>
          </a:p>
          <a:p xmlns:a="http://schemas.openxmlformats.org/drawingml/2006/main">
            <a:r>
              <a:t>  "codes": [</a:t>
            </a:r>
          </a:p>
          <a:p xmlns:a="http://schemas.openxmlformats.org/drawingml/2006/main">
            <a:r>
              <a:t>    "1016043",</a:t>
            </a:r>
          </a:p>
          <a:p xmlns:a="http://schemas.openxmlformats.org/drawingml/2006/main">
            <a:r>
              <a:t>    "1022030",</a:t>
            </a:r>
          </a:p>
          <a:p xmlns:a="http://schemas.openxmlformats.org/drawingml/2006/main">
            <a:r>
              <a:t>    "1021030",</a:t>
            </a:r>
          </a:p>
          <a:p xmlns:a="http://schemas.openxmlformats.org/drawingml/2006/main">
            <a:r>
              <a:t>    "1211251",</a:t>
            </a:r>
          </a:p>
          <a:p xmlns:a="http://schemas.openxmlformats.org/drawingml/2006/main">
            <a:r>
              <a:t>    "1211250",</a:t>
            </a:r>
          </a:p>
          <a:p xmlns:a="http://schemas.openxmlformats.org/drawingml/2006/main">
            <a:r>
              <a:t>    "1211253",</a:t>
            </a:r>
          </a:p>
          <a:p xmlns:a="http://schemas.openxmlformats.org/drawingml/2006/main">
            <a:r>
              <a:t>    "1211280"</a:t>
            </a:r>
          </a:p>
          <a:p xmlns:a="http://schemas.openxmlformats.org/drawingml/2006/main">
            <a:r>
              <a:t>  ],</a:t>
            </a:r>
          </a:p>
          <a:p xmlns:a="http://schemas.openxmlformats.org/drawingml/2006/main">
            <a:r>
              <a:t>  "work": "분야별 안전점검·시정조치·재점검 관리",</a:t>
            </a:r>
          </a:p>
          <a:p xmlns:a="http://schemas.openxmlformats.org/drawingml/2006/main">
            <a:r>
              <a:t>  "features": [</a:t>
            </a:r>
          </a:p>
          <a:p xmlns:a="http://schemas.openxmlformats.org/drawingml/2006/main">
            <a:r>
              <a:t>    "위험 근거·유사사례·시정조치 이력 연결",</a:t>
            </a:r>
          </a:p>
          <a:p xmlns:a="http://schemas.openxmlformats.org/drawingml/2006/main">
            <a:r>
              <a:t>    "현장 조치·전문 검토·종결 승인 분리"</a:t>
            </a:r>
          </a:p>
          <a:p xmlns:a="http://schemas.openxmlformats.org/drawingml/2006/main">
            <a:r>
              <a:t>  ],</a:t>
            </a:r>
          </a:p>
          <a:p xmlns:a="http://schemas.openxmlformats.org/drawingml/2006/main">
            <a:r>
              <a:t>  "output": "사건 타임라인·위험 조치대장",</a:t>
            </a:r>
          </a:p>
          <a:p xmlns:a="http://schemas.openxmlformats.org/drawingml/2006/main">
            <a:r>
              <a:t>  "acceptance": "미완료 조치의 종결 차단·검토/승인 역할 구분·후속 확인 추적",</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"GAI-T07",</a:t>
            </a:r>
          </a:p>
          <a:p xmlns:a="http://schemas.openxmlformats.org/drawingml/2006/main">
            <a:r>
              <a:t>    "GAI-T08",</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"사업장 안전·재발방지",</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산업재해 신고, 사고대응 및 재발방지 조치",</a:t>
            </a:r>
          </a:p>
          <a:p xmlns:a="http://schemas.openxmlformats.org/drawingml/2006/main">
            <a:r>
              <a:t>        "6. 중대재해처벌법 안전보건의무 이행점검에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예방대책",</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교통사고예방대책 수립 및 교통안전사업 개발",</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 안전점검",</a:t>
            </a:r>
          </a:p>
          <a:p xmlns:a="http://schemas.openxmlformats.org/drawingml/2006/main">
            <a:r>
              <a:t>      "indices": [</a:t>
            </a:r>
          </a:p>
          <a:p xmlns:a="http://schemas.openxmlformats.org/drawingml/2006/main">
            <a:r>
              <a:t>        6,</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"10. 교통시설설치ㆍ관리자의 교통안전관리규정 적정성 및 이행여부 확인평가"</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"1211251",</a:t>
            </a:r>
          </a:p>
          <a:p xmlns:a="http://schemas.openxmlformats.org/drawingml/2006/main">
            <a:r>
              <a:t>      "name": "철도안전처",</a:t>
            </a:r>
          </a:p>
          <a:p xmlns:a="http://schemas.openxmlformats.org/drawingml/2006/main">
            <a:r>
              <a:t>      "job": "철도사고 분석",</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철도사고(철도준사고 포함) 자료 원인분석 및 정책자료 제공"</a:t>
            </a:r>
          </a:p>
          <a:p xmlns:a="http://schemas.openxmlformats.org/drawingml/2006/main">
            <a:r>
              <a:t>      ],</a:t>
            </a:r>
          </a:p>
          <a:p xmlns:a="http://schemas.openxmlformats.org/drawingml/2006/main">
            <a:r>
              <a:t>      "locator": "별표4 · T46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"1211250",</a:t>
            </a:r>
          </a:p>
          <a:p xmlns:a="http://schemas.openxmlformats.org/drawingml/2006/main">
            <a:r>
              <a:t>      "name": "철도승인처",</a:t>
            </a:r>
          </a:p>
          <a:p xmlns:a="http://schemas.openxmlformats.org/drawingml/2006/main">
            <a:r>
              <a:t>      "job": "철도 안전관리체계 승인",</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철도안전관리체계 승인업무(최초·변경) 시행",</a:t>
            </a:r>
          </a:p>
          <a:p xmlns:a="http://schemas.openxmlformats.org/drawingml/2006/main">
            <a:r>
              <a:t>        "3. 철도안전관리체계 기술기준 제·개정 및 관리"</a:t>
            </a:r>
          </a:p>
          <a:p xmlns:a="http://schemas.openxmlformats.org/drawingml/2006/main">
            <a:r>
              <a:t>      ],</a:t>
            </a:r>
          </a:p>
          <a:p xmlns:a="http://schemas.openxmlformats.org/drawingml/2006/main">
            <a:r>
              <a:t>      "locator": "별표4 · T46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"1211253",</a:t>
            </a:r>
          </a:p>
          <a:p xmlns:a="http://schemas.openxmlformats.org/drawingml/2006/main">
            <a:r>
              <a:t>      "name": "철도검사처",</a:t>
            </a:r>
          </a:p>
          <a:p xmlns:a="http://schemas.openxmlformats.org/drawingml/2006/main">
            <a:r>
              <a:t>      "job": "철도 안전관리체계 검사",</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철도안전관리체계 수시검사 시행",</a:t>
            </a:r>
          </a:p>
          <a:p xmlns:a="http://schemas.openxmlformats.org/drawingml/2006/main">
            <a:r>
              <a:t>        "2. 철도사고 및 운행장애 초기대응 점검 시행"</a:t>
            </a:r>
          </a:p>
          <a:p xmlns:a="http://schemas.openxmlformats.org/drawingml/2006/main">
            <a:r>
              <a:t>      ],</a:t>
            </a:r>
          </a:p>
          <a:p xmlns:a="http://schemas.openxmlformats.org/drawingml/2006/main">
            <a:r>
              <a:t>      "locator": "별표4 · T46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"1211280",</a:t>
            </a:r>
          </a:p>
          <a:p xmlns:a="http://schemas.openxmlformats.org/drawingml/2006/main">
            <a:r>
              <a:t>      "name": "항공안전처",</a:t>
            </a:r>
          </a:p>
          <a:p xmlns:a="http://schemas.openxmlformats.org/drawingml/2006/main">
            <a:r>
              <a:t>      "job": "항공안전·사고조사",</a:t>
            </a:r>
          </a:p>
          <a:p xmlns:a="http://schemas.openxmlformats.org/drawingml/2006/main">
            <a:r>
              <a:t>      "indices": [</a:t>
            </a:r>
          </a:p>
          <a:p xmlns:a="http://schemas.openxmlformats.org/drawingml/2006/main">
            <a:r>
              <a:t>        7,</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"8. 항공안전‧항공보안 자율보고의 접수·분석 및 전파업무",</a:t>
            </a:r>
          </a:p>
          <a:p xmlns:a="http://schemas.openxmlformats.org/drawingml/2006/main">
            <a:r>
              <a:t>        "13. 초경량비행장치 사고조사 업무"</a:t>
            </a:r>
          </a:p>
          <a:p xmlns:a="http://schemas.openxmlformats.org/drawingml/2006/main">
            <a:r>
              <a:t>      ],</a:t>
            </a:r>
          </a:p>
          <a:p xmlns:a="http://schemas.openxmlformats.org/drawingml/2006/main">
            <a:r>
              <a:t>      "locator": "별표4 · T45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"도로·철도 점검: 연결 법령 원장 / 사업장 안전·항공안전: 별표4 안전보건실·항공안전처 업무 / 분야별 법령·위탁범위 추가 대조",</a:t>
            </a:r>
          </a:p>
          <a:p xmlns:a="http://schemas.openxmlformats.org/drawingml/2006/main">
            <a:r>
              <a:t>  "caseRefs": [</a:t>
            </a:r>
          </a:p>
          <a:p xmlns:a="http://schemas.openxmlformats.org/drawingml/2006/main">
            <a:r>
              <a:t>    {</a:t>
            </a:r>
          </a:p>
          <a:p xmlns:a="http://schemas.openxmlformats.org/drawingml/2006/main">
            <a:r>
              <a:t>      "caseId": "AX08",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"중대사고 예방·보고 완전성",</a:t>
            </a:r>
          </a:p>
          <a:p xmlns:a="http://schemas.openxmlformats.org/drawingml/2006/main">
            <a:r>
              <a:t>  "delta": "사건 타임라인·필수 보고항목 검사",</a:t>
            </a:r>
          </a:p>
          <a:p xmlns:a="http://schemas.openxmlformats.org/drawingml/2006/main">
            <a:r>
              <a:t>  "kpi": "필수 사건 재현율 / 보고 누락률",</a:t>
            </a:r>
          </a:p>
          <a:p xmlns:a="http://schemas.openxmlformats.org/drawingml/2006/main">
            <a:r>
              <a:t>  "validation": "사고 증거 누락·시점 충돌 주입 시험",</a:t>
            </a:r>
          </a:p>
          <a:p xmlns:a="http://schemas.openxmlformats.org/drawingml/2006/main">
            <a:r>
              <a:t>  "requirement": "BM-ST-03-R01",</a:t>
            </a:r>
          </a:p>
          <a:p xmlns:a="http://schemas.openxmlformats.org/drawingml/2006/main">
            <a:r>
              <a:t>  "test": "BM-ST-03-T01",</a:t>
            </a:r>
          </a:p>
          <a:p xmlns:a="http://schemas.openxmlformats.org/drawingml/2006/main">
            <a:r>
              <a:t>  "effectStatus": "기대 방향 · TS 실측 전",</a:t>
            </a:r>
          </a:p>
          <a:p xmlns:a="http://schemas.openxmlformats.org/drawingml/2006/main">
            <a:r>
              <a:t>  "effect": "보고 누락·재점검 지연 감소",</a:t>
            </a:r>
          </a:p>
          <a:p xmlns:a="http://schemas.openxmlformats.org/drawingml/2006/main">
            <a:r>
              <a:t>  "reuse": "ON27-BASE / C27-COM + CCK 재사용 판정 기능",</a:t>
            </a:r>
          </a:p>
          <a:p xmlns:a="http://schemas.openxmlformats.org/drawingml/2006/main">
            <a:r>
              <a:t>  "input": "도로·철도·항공·사업장 점검자료, 사건별 영상·로그, 시정조치",</a:t>
            </a:r>
          </a:p>
          <a:p xmlns:a="http://schemas.openxmlformats.org/drawingml/2006/main">
            <a:r>
              <a:t>  "steps": [</a:t>
            </a:r>
          </a:p>
          <a:p xmlns:a="http://schemas.openxmlformats.org/drawingml/2006/main">
            <a:r>
              <a:t>    "분야·사건 ID 분류",</a:t>
            </a:r>
          </a:p>
          <a:p xmlns:a="http://schemas.openxmlformats.org/drawingml/2006/main">
            <a:r>
              <a:t>    "전·중·후 타임라인 대사",</a:t>
            </a:r>
          </a:p>
          <a:p xmlns:a="http://schemas.openxmlformats.org/drawingml/2006/main">
            <a:r>
              <a:t>    "필수 보고·조치 항목 점검",</a:t>
            </a:r>
          </a:p>
          <a:p xmlns:a="http://schemas.openxmlformats.org/drawingml/2006/main">
            <a:r>
              <a:t>    "재점검·종결 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"사업장 안전·재발방지",</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산업재해 신고, 사고대응 및 재발방지 조치",</a:t>
            </a:r>
          </a:p>
          <a:p xmlns:a="http://schemas.openxmlformats.org/drawingml/2006/main">
            <a:r>
              <a:t>        "6. 중대재해처벌법 안전보건의무 이행점검에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"RULEWORK-1016043-4",</a:t>
            </a:r>
          </a:p>
          <a:p xmlns:a="http://schemas.openxmlformats.org/drawingml/2006/main">
            <a:r>
              <a:t>          "text": "4. 산업재해 신고, 사고대응 및 재발방지 조치",</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"RULEWORK-1016043-4-R01",</a:t>
            </a:r>
          </a:p>
          <a:p xmlns:a="http://schemas.openxmlformats.org/drawingml/2006/main">
            <a:r>
              <a:t>              "title": "업무 맥락·전용 지식 구성",</a:t>
            </a:r>
          </a:p>
          <a:p xmlns:a="http://schemas.openxmlformats.org/drawingml/2006/main">
            <a:r>
              <a:t>              "development": "작업·위험 유형별 기준·증빙 분류",</a:t>
            </a:r>
          </a:p>
          <a:p xmlns:a="http://schemas.openxmlformats.org/drawingml/2006/main">
            <a:r>
              <a:t>              "output": "위험·예방조치·이행·재점검표",</a:t>
            </a:r>
          </a:p>
          <a:p xmlns:a="http://schemas.openxmlformats.org/drawingml/2006/main">
            <a:r>
              <a:t>              "testId": "RULEWORK-1016043-4-T01",</a:t>
            </a:r>
          </a:p>
          <a:p xmlns:a="http://schemas.openxmlformats.org/drawingml/2006/main">
            <a:r>
              <a:t>              "criterion": "중대 위험·미이행·반복 지적의 정답 대조"</a:t>
            </a:r>
          </a:p>
          <a:p xmlns:a="http://schemas.openxmlformats.org/drawingml/2006/main">
            <a:r>
              <a:t>            },</a:t>
            </a:r>
          </a:p>
          <a:p xmlns:a="http://schemas.openxmlformats.org/drawingml/2006/main">
            <a:r>
              <a:t>            {</a:t>
            </a:r>
          </a:p>
          <a:p xmlns:a="http://schemas.openxmlformats.org/drawingml/2006/main">
            <a:r>
              <a:t>              "id": "RULEWORK-1016043-4-R02",</a:t>
            </a:r>
          </a:p>
          <a:p xmlns:a="http://schemas.openxmlformats.org/drawingml/2006/main">
            <a:r>
              <a:t>              "title": "업무건·역할·시스템 연결",</a:t>
            </a:r>
          </a:p>
          <a:p xmlns:a="http://schemas.openxmlformats.org/drawingml/2006/main">
            <a:r>
              <a:t>              "development": "개선 책임·기한·이행·재확인 연결",</a:t>
            </a:r>
          </a:p>
          <a:p xmlns:a="http://schemas.openxmlformats.org/drawingml/2006/main">
            <a:r>
              <a:t>              "output": "업무건·원천·역할·변경 연결 명세",</a:t>
            </a:r>
          </a:p>
          <a:p xmlns:a="http://schemas.openxmlformats.org/drawingml/2006/main">
            <a:r>
              <a:t>              "testId": "RULEWORK-1016043-4-T02",</a:t>
            </a:r>
          </a:p>
          <a:p xmlns:a="http://schemas.openxmlformats.org/drawingml/2006/main">
            <a:r>
              <a:t>              "criterion": "필수 조치 미완료 건의 안전 확인 처리 차단"</a:t>
            </a:r>
          </a:p>
          <a:p xmlns:a="http://schemas.openxmlformats.org/drawingml/2006/main">
            <a:r>
              <a:t>            },</a:t>
            </a:r>
          </a:p>
          <a:p xmlns:a="http://schemas.openxmlformats.org/drawingml/2006/main">
            <a:r>
              <a:t>            {</a:t>
            </a:r>
          </a:p>
          <a:p xmlns:a="http://schemas.openxmlformats.org/drawingml/2006/main">
            <a:r>
              <a:t>              "id": "RULEWORK-1016043-4-R03",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"RULEWORK-1016043-7",</a:t>
            </a:r>
          </a:p>
          <a:p xmlns:a="http://schemas.openxmlformats.org/drawingml/2006/main">
            <a:r>
              <a:t>          "text": "6. 중대재해처벌법 안전보건의무 이행점검에 관한 업무",</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"RULEWORK-1016043-7-R01",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"RULEWORK-1016043-7-T01",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"RULEWORK-1016043-7-R02",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"RULEWORK-1016043-7-T02",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"RULEWORK-1016043-7-R03",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예방대책",</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교통사고예방대책 수립 및 교통안전사업 개발",</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"RULEWORK-1022030-4",</a:t>
            </a:r>
          </a:p>
          <a:p xmlns:a="http://schemas.openxmlformats.org/drawingml/2006/main">
            <a:r>
              <a:t>          "text": "4. 교통사고예방대책 수립 및 교통안전사업 개발",</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"RULEWORK-1022030-4-R01",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"RULEWORK-1022030-4-T01",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"RULEWORK-1022030-4-R02",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"RULEWORK-1022030-4-T02",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"RULEWORK-1022030-7",</a:t>
            </a:r>
          </a:p>
          <a:p xmlns:a="http://schemas.openxmlformats.org/drawingml/2006/main">
            <a:r>
              <a:t>          "text": "7. 운수회사 안전관리 및 교통사고 예방사업",</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"RULEWORK-1022030-7-R01",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"RULEWORK-1022030-7-T01",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"RULEWORK-1022030-7-R02",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"RULEWORK-1022030-7-T02",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 안전점검",</a:t>
            </a:r>
          </a:p>
          <a:p xmlns:a="http://schemas.openxmlformats.org/drawingml/2006/main">
            <a:r>
              <a:t>      "indices": [</a:t>
            </a:r>
          </a:p>
          <a:p xmlns:a="http://schemas.openxmlformats.org/drawingml/2006/main">
            <a:r>
              <a:t>        6,</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"10. 교통시설설치ㆍ관리자의 교통안전관리규정 적정성 및 이행여부 확인평가"</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"RULEWORK-1021030-7",</a:t>
            </a:r>
          </a:p>
          <a:p xmlns:a="http://schemas.openxmlformats.org/drawingml/2006/main">
            <a:r>
              <a:t>          "text": "7. 교통시설 안전진단ㆍ점검ㆍ평가에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"RULEWORK-1021030-7-R01",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"RULEWORK-1021030-7-T01",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"RULEWORK-1021030-7-R02",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"RULEWORK-1021030-7-T02",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"RULEWORK-1021030-10",</a:t>
            </a:r>
          </a:p>
          <a:p xmlns:a="http://schemas.openxmlformats.org/drawingml/2006/main">
            <a:r>
              <a:t>          "text": "10. 교통시설설치ㆍ관리자의 교통안전관리규정 적정성 및 이행여부 확인평가",</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"RULEWORK-1021030-10-R01",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"RULEWORK-1021030-10-T01",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"RULEWORK-1021030-10-R02",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"RULEWORK-1021030-10-T02",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"RULEWORK-1021030-10-R03",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"1211251",</a:t>
            </a:r>
          </a:p>
          <a:p xmlns:a="http://schemas.openxmlformats.org/drawingml/2006/main">
            <a:r>
              <a:t>      "name": "철도안전처",</a:t>
            </a:r>
          </a:p>
          <a:p xmlns:a="http://schemas.openxmlformats.org/drawingml/2006/main">
            <a:r>
              <a:t>      "job": "철도사고 분석",</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철도사고(철도준사고 포함) 자료 원인분석 및 정책자료 제공"</a:t>
            </a:r>
          </a:p>
          <a:p xmlns:a="http://schemas.openxmlformats.org/drawingml/2006/main">
            <a:r>
              <a:t>      ],</a:t>
            </a:r>
          </a:p>
          <a:p xmlns:a="http://schemas.openxmlformats.org/drawingml/2006/main">
            <a:r>
              <a:t>      "locator": "별표4 · T46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"RULEWORK-1211251-6",</a:t>
            </a:r>
          </a:p>
          <a:p xmlns:a="http://schemas.openxmlformats.org/drawingml/2006/main">
            <a:r>
              <a:t>          "text": "6. 철도사고(철도준사고 포함) 자료 원인분석 및 정책자료 제공",</a:t>
            </a:r>
          </a:p>
          <a:p xmlns:a="http://schemas.openxmlformats.org/drawingml/2006/main">
            <a:r>
              <a:t>          "locator": "별표4 · T46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"RULEWORK-1211251-6-R01",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"RULEWORK-1211251-6-T01",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"RULEWORK-1211251-6-R02",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"RULEWORK-1211251-6-T02",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"RULEWORK-1211251-6-R03",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"RULEWORK-1211251-6-T03",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"1211250",</a:t>
            </a:r>
          </a:p>
          <a:p xmlns:a="http://schemas.openxmlformats.org/drawingml/2006/main">
            <a:r>
              <a:t>      "name": "철도승인처",</a:t>
            </a:r>
          </a:p>
          <a:p xmlns:a="http://schemas.openxmlformats.org/drawingml/2006/main">
            <a:r>
              <a:t>      "job": "철도 안전관리체계 승인",</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철도안전관리체계 승인업무(최초·변경) 시행",</a:t>
            </a:r>
          </a:p>
          <a:p xmlns:a="http://schemas.openxmlformats.org/drawingml/2006/main">
            <a:r>
              <a:t>        "3. 철도안전관리체계 기술기준 제·개정 및 관리"</a:t>
            </a:r>
          </a:p>
          <a:p xmlns:a="http://schemas.openxmlformats.org/drawingml/2006/main">
            <a:r>
              <a:t>      ],</a:t>
            </a:r>
          </a:p>
          <a:p xmlns:a="http://schemas.openxmlformats.org/drawingml/2006/main">
            <a:r>
              <a:t>      "locator": "별표4 · T46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"RULEWORK-1211250-1",</a:t>
            </a:r>
          </a:p>
          <a:p xmlns:a="http://schemas.openxmlformats.org/drawingml/2006/main">
            <a:r>
              <a:t>          "text": "1. 철도안전관리체계 승인업무(최초·변경) 시행",</a:t>
            </a:r>
          </a:p>
          <a:p xmlns:a="http://schemas.openxmlformats.org/drawingml/2006/main">
            <a:r>
              <a:t>          "locator": "별표4 · T46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"RULEWORK-1211250-1-R01",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"RULEWORK-1211250-1-T01",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"RULEWORK-1211250-1-R02",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"RULEWORK-1211250-1-T02",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"RULEWORK-1211250-3",</a:t>
            </a:r>
          </a:p>
          <a:p xmlns:a="http://schemas.openxmlformats.org/drawingml/2006/main">
            <a:r>
              <a:t>          "text": "3. 철도안전관리체계 기술기준 제·개정 및 관리",</a:t>
            </a:r>
          </a:p>
          <a:p xmlns:a="http://schemas.openxmlformats.org/drawingml/2006/main">
            <a:r>
              <a:t>          "locator": "별표4 · T46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"RULEWORK-1211250-3-R01",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"RULEWORK-1211250-3-T01",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"RULEWORK-1211250-3-R02",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"RULEWORK-1211250-3-T02",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"1211253",</a:t>
            </a:r>
          </a:p>
          <a:p xmlns:a="http://schemas.openxmlformats.org/drawingml/2006/main">
            <a:r>
              <a:t>      "name": "철도검사처",</a:t>
            </a:r>
          </a:p>
          <a:p xmlns:a="http://schemas.openxmlformats.org/drawingml/2006/main">
            <a:r>
              <a:t>      "job": "철도 안전관리체계 검사",</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철도안전관리체계 수시검사 시행",</a:t>
            </a:r>
          </a:p>
          <a:p xmlns:a="http://schemas.openxmlformats.org/drawingml/2006/main">
            <a:r>
              <a:t>        "2. 철도사고 및 운행장애 초기대응 점검 시행"</a:t>
            </a:r>
          </a:p>
          <a:p xmlns:a="http://schemas.openxmlformats.org/drawingml/2006/main">
            <a:r>
              <a:t>      ],</a:t>
            </a:r>
          </a:p>
          <a:p xmlns:a="http://schemas.openxmlformats.org/drawingml/2006/main">
            <a:r>
              <a:t>      "locator": "별표4 · T46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"RULEWORK-1211253-1",</a:t>
            </a:r>
          </a:p>
          <a:p xmlns:a="http://schemas.openxmlformats.org/drawingml/2006/main">
            <a:r>
              <a:t>          "text": "1. 철도안전관리체계 수시검사 시행",</a:t>
            </a:r>
          </a:p>
          <a:p xmlns:a="http://schemas.openxmlformats.org/drawingml/2006/main">
            <a:r>
              <a:t>          "locator": "별표4 · T46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"RULEWORK-1211253-1-R01",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"RULEWORK-1211253-1-T01",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"RULEWORK-1211253-1-R02",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"RULEWORK-1211253-1-T02",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"RULEWORK-1211253-1-R03",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"RULEWORK-1211253-1-T03",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"RULEWORK-1211253-2",</a:t>
            </a:r>
          </a:p>
          <a:p xmlns:a="http://schemas.openxmlformats.org/drawingml/2006/main">
            <a:r>
              <a:t>          "text": "2. 철도사고 및 운행장애 초기대응 점검 시행",</a:t>
            </a:r>
          </a:p>
          <a:p xmlns:a="http://schemas.openxmlformats.org/drawingml/2006/main">
            <a:r>
              <a:t>          "locator": "별표4 · T46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"RULEWORK-1211253-2-R01",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"RULEWORK-1211253-2-T01",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"RULEWORK-1211253-2-R02",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"RULEWORK-1211253-2-T02",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"1211280",</a:t>
            </a:r>
          </a:p>
          <a:p xmlns:a="http://schemas.openxmlformats.org/drawingml/2006/main">
            <a:r>
              <a:t>      "name": "항공안전처",</a:t>
            </a:r>
          </a:p>
          <a:p xmlns:a="http://schemas.openxmlformats.org/drawingml/2006/main">
            <a:r>
              <a:t>      "job": "항공안전·사고조사",</a:t>
            </a:r>
          </a:p>
          <a:p xmlns:a="http://schemas.openxmlformats.org/drawingml/2006/main">
            <a:r>
              <a:t>      "indices": [</a:t>
            </a:r>
          </a:p>
          <a:p xmlns:a="http://schemas.openxmlformats.org/drawingml/2006/main">
            <a:r>
              <a:t>        7,</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"8. 항공안전‧항공보안 자율보고의 접수·분석 및 전파업무",</a:t>
            </a:r>
          </a:p>
          <a:p xmlns:a="http://schemas.openxmlformats.org/drawingml/2006/main">
            <a:r>
              <a:t>        "13. 초경량비행장치 사고조사 업무"</a:t>
            </a:r>
          </a:p>
          <a:p xmlns:a="http://schemas.openxmlformats.org/drawingml/2006/main">
            <a:r>
              <a:t>      ],</a:t>
            </a:r>
          </a:p>
          <a:p xmlns:a="http://schemas.openxmlformats.org/drawingml/2006/main">
            <a:r>
              <a:t>      "locator": "별표4 · T45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"RULEWORK-1211280-8",</a:t>
            </a:r>
          </a:p>
          <a:p xmlns:a="http://schemas.openxmlformats.org/drawingml/2006/main">
            <a:r>
              <a:t>          "text": "8. 항공안전‧항공보안 자율보고의 접수·분석 및 전파업무",</a:t>
            </a:r>
          </a:p>
          <a:p xmlns:a="http://schemas.openxmlformats.org/drawingml/2006/main">
            <a:r>
              <a:t>          "locator": "별표4 · T45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"RULEWORK-1211280-8-R01",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"RULEWORK-1211280-8-T01",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"RULEWORK-1211280-8-R02",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"RULEWORK-1211280-8-T02",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"RULEWORK-1211280-8-R03",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"RULEWORK-1211280-8-T03",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"RULEWORK-1211280-13",</a:t>
            </a:r>
          </a:p>
          <a:p xmlns:a="http://schemas.openxmlformats.org/drawingml/2006/main">
            <a:r>
              <a:t>          "text": "13. 초경량비행장치 사고조사 업무",</a:t>
            </a:r>
          </a:p>
          <a:p xmlns:a="http://schemas.openxmlformats.org/drawingml/2006/main">
            <a:r>
              <a:t>          "locator": "별표4 · T45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"RULEWORK-1211280-13-R01",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"RULEWORK-1211280-13-T01",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"RULEWORK-1211280-13-R02",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"RULEWORK-1211280-13-T02",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"RULEWORK-1211280-13-R03",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"RULEWORK-1211280-13-T03",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"CCK-02",</a:t>
            </a:r>
          </a:p>
          <a:p xmlns:a="http://schemas.openxmlformats.org/drawingml/2006/main">
            <a:r>
              <a:t>      "use": "Audin·JET의 증거·항목 검토"</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"분야별 보고 항목 사전",</a:t>
            </a:r>
          </a:p>
          <a:p xmlns:a="http://schemas.openxmlformats.org/drawingml/2006/main">
            <a:r>
              <a:t>    "원시 증거–사건–보고서 추적표"</a:t>
            </a:r>
          </a:p>
          <a:p xmlns:a="http://schemas.openxmlformats.org/drawingml/2006/main">
            <a:r>
              <a:t>  ],</a:t>
            </a:r>
          </a:p>
          <a:p xmlns:a="http://schemas.openxmlformats.org/drawingml/2006/main">
            <a:r>
              <a:t>  "acceptancePlan": {</a:t>
            </a:r>
          </a:p>
          <a:p xmlns:a="http://schemas.openxmlformats.org/drawingml/2006/main">
            <a:r>
              <a:t>    "sample": "사고 후 사건 삭제, 시각 충돌, 미이행 조치 주입",</a:t>
            </a:r>
          </a:p>
          <a:p xmlns:a="http://schemas.openxmlformats.org/drawingml/2006/main">
            <a:r>
              <a:t>    "criterion": "누락 경고·원시 근거 추적·종결 차단",</a:t>
            </a:r>
          </a:p>
          <a:p xmlns:a="http://schemas.openxmlformats.org/drawingml/2006/main">
            <a:r>
              <a:t>    "evidence": "사건별 정답표·탐지 결과·종결 시도 로그",</a:t>
            </a:r>
          </a:p>
          <a:p xmlns:a="http://schemas.openxmlformats.org/drawingml/2006/main">
            <a:r>
              <a:t>    "execution": "미실행"</a:t>
            </a:r>
          </a:p>
          <a:p xmlns:a="http://schemas.openxmlformats.org/drawingml/2006/main">
            <a:r>
              <a:t>  },</a:t>
            </a:r>
          </a:p>
          <a:p xmlns:a="http://schemas.openxmlformats.org/drawingml/2006/main">
            <a:r>
              <a:t>  "formula": "필수 사건 재현 건수 ÷ 정답 사건 수 / 재점검 기한 초과율",</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"PF-R04",</a:t>
            </a:r>
          </a:p>
          <a:p xmlns:a="http://schemas.openxmlformats.org/drawingml/2006/main">
            <a:r>
              <a:t>    "PF-R09",</a:t>
            </a:r>
          </a:p>
          <a:p xmlns:a="http://schemas.openxmlformats.org/drawingml/2006/main">
            <a:r>
              <a:t>    "PF02"</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"ST-03",</a:t>
            </a:r>
          </a:p>
          <a:p xmlns:a="http://schemas.openxmlformats.org/drawingml/2006/main">
            <a:r>
              <a:t>  "number": 3,</a:t>
            </a:r>
          </a:p>
          <a:p xmlns:a="http://schemas.openxmlformats.org/drawingml/2006/main">
            <a:r>
              <a:t>  "direction": "무결점 교통안전체계 조성",</a:t>
            </a:r>
          </a:p>
          <a:p xmlns:a="http://schemas.openxmlformats.org/drawingml/2006/main">
            <a:r>
              <a:t>  "strategy": "중대사고 예방 능동적 안전관리체계 구축",</a:t>
            </a:r>
          </a:p>
          <a:p xmlns:a="http://schemas.openxmlformats.org/drawingml/2006/main">
            <a:r>
              <a:t>  "solution": "중대위험 조치·재발방지 지원",</a:t>
            </a:r>
          </a:p>
          <a:p xmlns:a="http://schemas.openxmlformats.org/drawingml/2006/main">
            <a:r>
              <a:t>  "lawIds": [</a:t>
            </a:r>
          </a:p>
          <a:p xmlns:a="http://schemas.openxmlformats.org/drawingml/2006/main">
            <a:r>
              <a:t>    "L01",</a:t>
            </a:r>
          </a:p>
          <a:p xmlns:a="http://schemas.openxmlformats.org/drawingml/2006/main">
            <a:r>
              <a:t>    "L02",</a:t>
            </a:r>
          </a:p>
          <a:p xmlns:a="http://schemas.openxmlformats.org/drawingml/2006/main">
            <a:r>
              <a:t>    "L25"</a:t>
            </a:r>
          </a:p>
          <a:p xmlns:a="http://schemas.openxmlformats.org/drawingml/2006/main">
            <a:r>
              <a:t>  ],</a:t>
            </a:r>
          </a:p>
          <a:p xmlns:a="http://schemas.openxmlformats.org/drawingml/2006/main">
            <a:r>
              <a:t>  "codes": [</a:t>
            </a:r>
          </a:p>
          <a:p xmlns:a="http://schemas.openxmlformats.org/drawingml/2006/main">
            <a:r>
              <a:t>    "1016043",</a:t>
            </a:r>
          </a:p>
          <a:p xmlns:a="http://schemas.openxmlformats.org/drawingml/2006/main">
            <a:r>
              <a:t>    "1022030",</a:t>
            </a:r>
          </a:p>
          <a:p xmlns:a="http://schemas.openxmlformats.org/drawingml/2006/main">
            <a:r>
              <a:t>    "1021030",</a:t>
            </a:r>
          </a:p>
          <a:p xmlns:a="http://schemas.openxmlformats.org/drawingml/2006/main">
            <a:r>
              <a:t>    "1211251",</a:t>
            </a:r>
          </a:p>
          <a:p xmlns:a="http://schemas.openxmlformats.org/drawingml/2006/main">
            <a:r>
              <a:t>    "1211250",</a:t>
            </a:r>
          </a:p>
          <a:p xmlns:a="http://schemas.openxmlformats.org/drawingml/2006/main">
            <a:r>
              <a:t>    "1211253",</a:t>
            </a:r>
          </a:p>
          <a:p xmlns:a="http://schemas.openxmlformats.org/drawingml/2006/main">
            <a:r>
              <a:t>    "1211280"</a:t>
            </a:r>
          </a:p>
          <a:p xmlns:a="http://schemas.openxmlformats.org/drawingml/2006/main">
            <a:r>
              <a:t>  ],</a:t>
            </a:r>
          </a:p>
          <a:p xmlns:a="http://schemas.openxmlformats.org/drawingml/2006/main">
            <a:r>
              <a:t>  "work": "분야별 안전점검·시정조치·재점검 관리",</a:t>
            </a:r>
          </a:p>
          <a:p xmlns:a="http://schemas.openxmlformats.org/drawingml/2006/main">
            <a:r>
              <a:t>  "features": [</a:t>
            </a:r>
          </a:p>
          <a:p xmlns:a="http://schemas.openxmlformats.org/drawingml/2006/main">
            <a:r>
              <a:t>    "위험 근거·유사사례·시정조치 이력 연결",</a:t>
            </a:r>
          </a:p>
          <a:p xmlns:a="http://schemas.openxmlformats.org/drawingml/2006/main">
            <a:r>
              <a:t>    "현장 조치·전문 검토·종결 승인 분리"</a:t>
            </a:r>
          </a:p>
          <a:p xmlns:a="http://schemas.openxmlformats.org/drawingml/2006/main">
            <a:r>
              <a:t>  ],</a:t>
            </a:r>
          </a:p>
          <a:p xmlns:a="http://schemas.openxmlformats.org/drawingml/2006/main">
            <a:r>
              <a:t>  "output": "사건 타임라인·위험 조치대장",</a:t>
            </a:r>
          </a:p>
          <a:p xmlns:a="http://schemas.openxmlformats.org/drawingml/2006/main">
            <a:r>
              <a:t>  "acceptance": "미완료 조치의 종결 차단·검토/승인 역할 구분·후속 확인 추적",</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"GAI-T07",</a:t>
            </a:r>
          </a:p>
          <a:p xmlns:a="http://schemas.openxmlformats.org/drawingml/2006/main">
            <a:r>
              <a:t>    "GAI-T08",</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"사업장 안전·재발방지",</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산업재해 신고, 사고대응 및 재발방지 조치",</a:t>
            </a:r>
          </a:p>
          <a:p xmlns:a="http://schemas.openxmlformats.org/drawingml/2006/main">
            <a:r>
              <a:t>        "6. 중대재해처벌법 안전보건의무 이행점검에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예방대책",</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교통사고예방대책 수립 및 교통안전사업 개발",</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 안전점검",</a:t>
            </a:r>
          </a:p>
          <a:p xmlns:a="http://schemas.openxmlformats.org/drawingml/2006/main">
            <a:r>
              <a:t>      "indices": [</a:t>
            </a:r>
          </a:p>
          <a:p xmlns:a="http://schemas.openxmlformats.org/drawingml/2006/main">
            <a:r>
              <a:t>        6,</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"10. 교통시설설치ㆍ관리자의 교통안전관리규정 적정성 및 이행여부 확인평가"</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"1211251",</a:t>
            </a:r>
          </a:p>
          <a:p xmlns:a="http://schemas.openxmlformats.org/drawingml/2006/main">
            <a:r>
              <a:t>      "name": "철도안전처",</a:t>
            </a:r>
          </a:p>
          <a:p xmlns:a="http://schemas.openxmlformats.org/drawingml/2006/main">
            <a:r>
              <a:t>      "job": "철도사고 분석",</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철도사고(철도준사고 포함) 자료 원인분석 및 정책자료 제공"</a:t>
            </a:r>
          </a:p>
          <a:p xmlns:a="http://schemas.openxmlformats.org/drawingml/2006/main">
            <a:r>
              <a:t>      ],</a:t>
            </a:r>
          </a:p>
          <a:p xmlns:a="http://schemas.openxmlformats.org/drawingml/2006/main">
            <a:r>
              <a:t>      "locator": "별표4 · T46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"1211250",</a:t>
            </a:r>
          </a:p>
          <a:p xmlns:a="http://schemas.openxmlformats.org/drawingml/2006/main">
            <a:r>
              <a:t>      "name": "철도승인처",</a:t>
            </a:r>
          </a:p>
          <a:p xmlns:a="http://schemas.openxmlformats.org/drawingml/2006/main">
            <a:r>
              <a:t>      "job": "철도 안전관리체계 승인",</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철도안전관리체계 승인업무(최초·변경) 시행",</a:t>
            </a:r>
          </a:p>
          <a:p xmlns:a="http://schemas.openxmlformats.org/drawingml/2006/main">
            <a:r>
              <a:t>        "3. 철도안전관리체계 기술기준 제·개정 및 관리"</a:t>
            </a:r>
          </a:p>
          <a:p xmlns:a="http://schemas.openxmlformats.org/drawingml/2006/main">
            <a:r>
              <a:t>      ],</a:t>
            </a:r>
          </a:p>
          <a:p xmlns:a="http://schemas.openxmlformats.org/drawingml/2006/main">
            <a:r>
              <a:t>      "locator": "별표4 · T46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"1211253",</a:t>
            </a:r>
          </a:p>
          <a:p xmlns:a="http://schemas.openxmlformats.org/drawingml/2006/main">
            <a:r>
              <a:t>      "name": "철도검사처",</a:t>
            </a:r>
          </a:p>
          <a:p xmlns:a="http://schemas.openxmlformats.org/drawingml/2006/main">
            <a:r>
              <a:t>      "job": "철도 안전관리체계 검사",</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철도안전관리체계 수시검사 시행",</a:t>
            </a:r>
          </a:p>
          <a:p xmlns:a="http://schemas.openxmlformats.org/drawingml/2006/main">
            <a:r>
              <a:t>        "2. 철도사고 및 운행장애 초기대응 점검 시행"</a:t>
            </a:r>
          </a:p>
          <a:p xmlns:a="http://schemas.openxmlformats.org/drawingml/2006/main">
            <a:r>
              <a:t>      ],</a:t>
            </a:r>
          </a:p>
          <a:p xmlns:a="http://schemas.openxmlformats.org/drawingml/2006/main">
            <a:r>
              <a:t>      "locator": "별표4 · T46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"1211280",</a:t>
            </a:r>
          </a:p>
          <a:p xmlns:a="http://schemas.openxmlformats.org/drawingml/2006/main">
            <a:r>
              <a:t>      "name": "항공안전처",</a:t>
            </a:r>
          </a:p>
          <a:p xmlns:a="http://schemas.openxmlformats.org/drawingml/2006/main">
            <a:r>
              <a:t>      "job": "항공안전·사고조사",</a:t>
            </a:r>
          </a:p>
          <a:p xmlns:a="http://schemas.openxmlformats.org/drawingml/2006/main">
            <a:r>
              <a:t>      "indices": [</a:t>
            </a:r>
          </a:p>
          <a:p xmlns:a="http://schemas.openxmlformats.org/drawingml/2006/main">
            <a:r>
              <a:t>        7,</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"8. 항공안전‧항공보안 자율보고의 접수·분석 및 전파업무",</a:t>
            </a:r>
          </a:p>
          <a:p xmlns:a="http://schemas.openxmlformats.org/drawingml/2006/main">
            <a:r>
              <a:t>        "13. 초경량비행장치 사고조사 업무"</a:t>
            </a:r>
          </a:p>
          <a:p xmlns:a="http://schemas.openxmlformats.org/drawingml/2006/main">
            <a:r>
              <a:t>      ],</a:t>
            </a:r>
          </a:p>
          <a:p xmlns:a="http://schemas.openxmlformats.org/drawingml/2006/main">
            <a:r>
              <a:t>      "locator": "별표4 · T45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"도로·철도 점검: 연결 법령 원장 / 사업장 안전·항공안전: 별표4 안전보건실·항공안전처 업무 / 분야별 법령·위탁범위 추가 대조",</a:t>
            </a:r>
          </a:p>
          <a:p xmlns:a="http://schemas.openxmlformats.org/drawingml/2006/main">
            <a:r>
              <a:t>  "caseRefs": [</a:t>
            </a:r>
          </a:p>
          <a:p xmlns:a="http://schemas.openxmlformats.org/drawingml/2006/main">
            <a:r>
              <a:t>    {</a:t>
            </a:r>
          </a:p>
          <a:p xmlns:a="http://schemas.openxmlformats.org/drawingml/2006/main">
            <a:r>
              <a:t>      "caseId": "AX08",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"중대사고 예방·보고 완전성",</a:t>
            </a:r>
          </a:p>
          <a:p xmlns:a="http://schemas.openxmlformats.org/drawingml/2006/main">
            <a:r>
              <a:t>  "delta": "사건 타임라인·필수 보고항목 검사",</a:t>
            </a:r>
          </a:p>
          <a:p xmlns:a="http://schemas.openxmlformats.org/drawingml/2006/main">
            <a:r>
              <a:t>  "kpi": "필수 사건 재현율 / 보고 누락률",</a:t>
            </a:r>
          </a:p>
          <a:p xmlns:a="http://schemas.openxmlformats.org/drawingml/2006/main">
            <a:r>
              <a:t>  "validation": "사고 증거 누락·시점 충돌 주입 시험",</a:t>
            </a:r>
          </a:p>
          <a:p xmlns:a="http://schemas.openxmlformats.org/drawingml/2006/main">
            <a:r>
              <a:t>  "requirement": "BM-ST-03-R01",</a:t>
            </a:r>
          </a:p>
          <a:p xmlns:a="http://schemas.openxmlformats.org/drawingml/2006/main">
            <a:r>
              <a:t>  "test": "BM-ST-03-T01",</a:t>
            </a:r>
          </a:p>
          <a:p xmlns:a="http://schemas.openxmlformats.org/drawingml/2006/main">
            <a:r>
              <a:t>  "effectStatus": "기대 방향 · TS 실측 전",</a:t>
            </a:r>
          </a:p>
          <a:p xmlns:a="http://schemas.openxmlformats.org/drawingml/2006/main">
            <a:r>
              <a:t>  "effect": "보고 누락·재점검 지연 감소",</a:t>
            </a:r>
          </a:p>
          <a:p xmlns:a="http://schemas.openxmlformats.org/drawingml/2006/main">
            <a:r>
              <a:t>  "reuse": "ON27-BASE / C27-COM + CCK 재사용 판정 기능",</a:t>
            </a:r>
          </a:p>
          <a:p xmlns:a="http://schemas.openxmlformats.org/drawingml/2006/main">
            <a:r>
              <a:t>  "input": "도로·철도·항공·사업장 점검자료, 사건별 영상·로그, 시정조치",</a:t>
            </a:r>
          </a:p>
          <a:p xmlns:a="http://schemas.openxmlformats.org/drawingml/2006/main">
            <a:r>
              <a:t>  "steps": [</a:t>
            </a:r>
          </a:p>
          <a:p xmlns:a="http://schemas.openxmlformats.org/drawingml/2006/main">
            <a:r>
              <a:t>    "분야·사건 ID 분류",</a:t>
            </a:r>
          </a:p>
          <a:p xmlns:a="http://schemas.openxmlformats.org/drawingml/2006/main">
            <a:r>
              <a:t>    "전·중·후 타임라인 대사",</a:t>
            </a:r>
          </a:p>
          <a:p xmlns:a="http://schemas.openxmlformats.org/drawingml/2006/main">
            <a:r>
              <a:t>    "필수 보고·조치 항목 점검",</a:t>
            </a:r>
          </a:p>
          <a:p xmlns:a="http://schemas.openxmlformats.org/drawingml/2006/main">
            <a:r>
              <a:t>    "재점검·종결 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"사업장 안전·재발방지",</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산업재해 신고, 사고대응 및 재발방지 조치",</a:t>
            </a:r>
          </a:p>
          <a:p xmlns:a="http://schemas.openxmlformats.org/drawingml/2006/main">
            <a:r>
              <a:t>        "6. 중대재해처벌법 안전보건의무 이행점검에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"RULEWORK-1016043-4",</a:t>
            </a:r>
          </a:p>
          <a:p xmlns:a="http://schemas.openxmlformats.org/drawingml/2006/main">
            <a:r>
              <a:t>          "text": "4. 산업재해 신고, 사고대응 및 재발방지 조치",</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"RULEWORK-1016043-4-R01",</a:t>
            </a:r>
          </a:p>
          <a:p xmlns:a="http://schemas.openxmlformats.org/drawingml/2006/main">
            <a:r>
              <a:t>              "title": "업무 맥락·전용 지식 구성",</a:t>
            </a:r>
          </a:p>
          <a:p xmlns:a="http://schemas.openxmlformats.org/drawingml/2006/main">
            <a:r>
              <a:t>              "development": "작업·위험 유형별 기준·증빙 분류",</a:t>
            </a:r>
          </a:p>
          <a:p xmlns:a="http://schemas.openxmlformats.org/drawingml/2006/main">
            <a:r>
              <a:t>              "output": "위험·예방조치·이행·재점검표",</a:t>
            </a:r>
          </a:p>
          <a:p xmlns:a="http://schemas.openxmlformats.org/drawingml/2006/main">
            <a:r>
              <a:t>              "testId": "RULEWORK-1016043-4-T01",</a:t>
            </a:r>
          </a:p>
          <a:p xmlns:a="http://schemas.openxmlformats.org/drawingml/2006/main">
            <a:r>
              <a:t>              "criterion": "중대 위험·미이행·반복 지적의 정답 대조"</a:t>
            </a:r>
          </a:p>
          <a:p xmlns:a="http://schemas.openxmlformats.org/drawingml/2006/main">
            <a:r>
              <a:t>            },</a:t>
            </a:r>
          </a:p>
          <a:p xmlns:a="http://schemas.openxmlformats.org/drawingml/2006/main">
            <a:r>
              <a:t>            {</a:t>
            </a:r>
          </a:p>
          <a:p xmlns:a="http://schemas.openxmlformats.org/drawingml/2006/main">
            <a:r>
              <a:t>              "id": "RULEWORK-1016043-4-R02",</a:t>
            </a:r>
          </a:p>
          <a:p xmlns:a="http://schemas.openxmlformats.org/drawingml/2006/main">
            <a:r>
              <a:t>              "title": "업무건·역할·시스템 연결",</a:t>
            </a:r>
          </a:p>
          <a:p xmlns:a="http://schemas.openxmlformats.org/drawingml/2006/main">
            <a:r>
              <a:t>              "development": "개선 책임·기한·이행·재확인 연결",</a:t>
            </a:r>
          </a:p>
          <a:p xmlns:a="http://schemas.openxmlformats.org/drawingml/2006/main">
            <a:r>
              <a:t>              "output": "업무건·원천·역할·변경 연결 명세",</a:t>
            </a:r>
          </a:p>
          <a:p xmlns:a="http://schemas.openxmlformats.org/drawingml/2006/main">
            <a:r>
              <a:t>              "testId": "RULEWORK-1016043-4-T02",</a:t>
            </a:r>
          </a:p>
          <a:p xmlns:a="http://schemas.openxmlformats.org/drawingml/2006/main">
            <a:r>
              <a:t>              "criterion": "필수 조치 미완료 건의 안전 확인 처리 차단"</a:t>
            </a:r>
          </a:p>
          <a:p xmlns:a="http://schemas.openxmlformats.org/drawingml/2006/main">
            <a:r>
              <a:t>            },</a:t>
            </a:r>
          </a:p>
          <a:p xmlns:a="http://schemas.openxmlformats.org/drawingml/2006/main">
            <a:r>
              <a:t>            {</a:t>
            </a:r>
          </a:p>
          <a:p xmlns:a="http://schemas.openxmlformats.org/drawingml/2006/main">
            <a:r>
              <a:t>              "id": "RULEWORK-1016043-4-R03",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"RULEWORK-1016043-7",</a:t>
            </a:r>
          </a:p>
          <a:p xmlns:a="http://schemas.openxmlformats.org/drawingml/2006/main">
            <a:r>
              <a:t>          "text": "6. 중대재해처벌법 안전보건의무 이행점검에 관한 업무",</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"RULEWORK-1016043-7-R01",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"RULEWORK-1016043-7-T01",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"RULEWORK-1016043-7-R02",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"RULEWORK-1016043-7-T02",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"RULEWORK-1016043-7-R03",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예방대책",</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교통사고예방대책 수립 및 교통안전사업 개발",</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"RULEWORK-1022030-4",</a:t>
            </a:r>
          </a:p>
          <a:p xmlns:a="http://schemas.openxmlformats.org/drawingml/2006/main">
            <a:r>
              <a:t>          "text": "4. 교통사고예방대책 수립 및 교통안전사업 개발",</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"RULEWORK-1022030-4-R01",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"RULEWORK-1022030-4-T01",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"RULEWORK-1022030-4-R02",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"RULEWORK-1022030-4-T02",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"RULEWORK-1022030-7",</a:t>
            </a:r>
          </a:p>
          <a:p xmlns:a="http://schemas.openxmlformats.org/drawingml/2006/main">
            <a:r>
              <a:t>          "text": "7. 운수회사 안전관리 및 교통사고 예방사업",</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"RULEWORK-1022030-7-R01",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"RULEWORK-1022030-7-T01",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"RULEWORK-1022030-7-R02",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"RULEWORK-1022030-7-T02",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 안전점검",</a:t>
            </a:r>
          </a:p>
          <a:p xmlns:a="http://schemas.openxmlformats.org/drawingml/2006/main">
            <a:r>
              <a:t>      "indices": [</a:t>
            </a:r>
          </a:p>
          <a:p xmlns:a="http://schemas.openxmlformats.org/drawingml/2006/main">
            <a:r>
              <a:t>        6,</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"10. 교통시설설치ㆍ관리자의 교통안전관리규정 적정성 및 이행여부 확인평가"</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"RULEWORK-1021030-7",</a:t>
            </a:r>
          </a:p>
          <a:p xmlns:a="http://schemas.openxmlformats.org/drawingml/2006/main">
            <a:r>
              <a:t>          "text": "7. 교통시설 안전진단ㆍ점검ㆍ평가에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"RULEWORK-1021030-7-R01",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"RULEWORK-1021030-7-T01",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"RULEWORK-1021030-7-R02",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"RULEWORK-1021030-7-T02",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"RULEWORK-1021030-10",</a:t>
            </a:r>
          </a:p>
          <a:p xmlns:a="http://schemas.openxmlformats.org/drawingml/2006/main">
            <a:r>
              <a:t>          "text": "10. 교통시설설치ㆍ관리자의 교통안전관리규정 적정성 및 이행여부 확인평가",</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"RULEWORK-1021030-10-R01",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"RULEWORK-1021030-10-T01",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"RULEWORK-1021030-10-R02",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"RULEWORK-1021030-10-T02",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"RULEWORK-1021030-10-R03",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"1211251",</a:t>
            </a:r>
          </a:p>
          <a:p xmlns:a="http://schemas.openxmlformats.org/drawingml/2006/main">
            <a:r>
              <a:t>      "name": "철도안전처",</a:t>
            </a:r>
          </a:p>
          <a:p xmlns:a="http://schemas.openxmlformats.org/drawingml/2006/main">
            <a:r>
              <a:t>      "job": "철도사고 분석",</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철도사고(철도준사고 포함) 자료 원인분석 및 정책자료 제공"</a:t>
            </a:r>
          </a:p>
          <a:p xmlns:a="http://schemas.openxmlformats.org/drawingml/2006/main">
            <a:r>
              <a:t>      ],</a:t>
            </a:r>
          </a:p>
          <a:p xmlns:a="http://schemas.openxmlformats.org/drawingml/2006/main">
            <a:r>
              <a:t>      "locator": "별표4 · T46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"RULEWORK-1211251-6",</a:t>
            </a:r>
          </a:p>
          <a:p xmlns:a="http://schemas.openxmlformats.org/drawingml/2006/main">
            <a:r>
              <a:t>          "text": "6. 철도사고(철도준사고 포함) 자료 원인분석 및 정책자료 제공",</a:t>
            </a:r>
          </a:p>
          <a:p xmlns:a="http://schemas.openxmlformats.org/drawingml/2006/main">
            <a:r>
              <a:t>          "locator": "별표4 · T46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"RULEWORK-1211251-6-R01",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"RULEWORK-1211251-6-T01",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"RULEWORK-1211251-6-R02",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"RULEWORK-1211251-6-T02",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"RULEWORK-1211251-6-R03",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"RULEWORK-1211251-6-T03",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"1211250",</a:t>
            </a:r>
          </a:p>
          <a:p xmlns:a="http://schemas.openxmlformats.org/drawingml/2006/main">
            <a:r>
              <a:t>      "name": "철도승인처",</a:t>
            </a:r>
          </a:p>
          <a:p xmlns:a="http://schemas.openxmlformats.org/drawingml/2006/main">
            <a:r>
              <a:t>      "job": "철도 안전관리체계 승인",</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철도안전관리체계 승인업무(최초·변경) 시행",</a:t>
            </a:r>
          </a:p>
          <a:p xmlns:a="http://schemas.openxmlformats.org/drawingml/2006/main">
            <a:r>
              <a:t>        "3. 철도안전관리체계 기술기준 제·개정 및 관리"</a:t>
            </a:r>
          </a:p>
          <a:p xmlns:a="http://schemas.openxmlformats.org/drawingml/2006/main">
            <a:r>
              <a:t>      ],</a:t>
            </a:r>
          </a:p>
          <a:p xmlns:a="http://schemas.openxmlformats.org/drawingml/2006/main">
            <a:r>
              <a:t>      "locator": "별표4 · T46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"RULEWORK-1211250-1",</a:t>
            </a:r>
          </a:p>
          <a:p xmlns:a="http://schemas.openxmlformats.org/drawingml/2006/main">
            <a:r>
              <a:t>          "text": "1. 철도안전관리체계 승인업무(최초·변경) 시행",</a:t>
            </a:r>
          </a:p>
          <a:p xmlns:a="http://schemas.openxmlformats.org/drawingml/2006/main">
            <a:r>
              <a:t>          "locator": "별표4 · T46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"RULEWORK-1211250-1-R01",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"RULEWORK-1211250-1-T01",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"RULEWORK-1211250-1-R02",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"RULEWORK-1211250-1-T02",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"RULEWORK-1211250-3",</a:t>
            </a:r>
          </a:p>
          <a:p xmlns:a="http://schemas.openxmlformats.org/drawingml/2006/main">
            <a:r>
              <a:t>          "text": "3. 철도안전관리체계 기술기준 제·개정 및 관리",</a:t>
            </a:r>
          </a:p>
          <a:p xmlns:a="http://schemas.openxmlformats.org/drawingml/2006/main">
            <a:r>
              <a:t>          "locator": "별표4 · T46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"RULEWORK-1211250-3-R01",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"RULEWORK-1211250-3-T01",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"RULEWORK-1211250-3-R02",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"RULEWORK-1211250-3-T02",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"1211253",</a:t>
            </a:r>
          </a:p>
          <a:p xmlns:a="http://schemas.openxmlformats.org/drawingml/2006/main">
            <a:r>
              <a:t>      "name": "철도검사처",</a:t>
            </a:r>
          </a:p>
          <a:p xmlns:a="http://schemas.openxmlformats.org/drawingml/2006/main">
            <a:r>
              <a:t>      "job": "철도 안전관리체계 검사",</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철도안전관리체계 수시검사 시행",</a:t>
            </a:r>
          </a:p>
          <a:p xmlns:a="http://schemas.openxmlformats.org/drawingml/2006/main">
            <a:r>
              <a:t>        "2. 철도사고 및 운행장애 초기대응 점검 시행"</a:t>
            </a:r>
          </a:p>
          <a:p xmlns:a="http://schemas.openxmlformats.org/drawingml/2006/main">
            <a:r>
              <a:t>      ],</a:t>
            </a:r>
          </a:p>
          <a:p xmlns:a="http://schemas.openxmlformats.org/drawingml/2006/main">
            <a:r>
              <a:t>      "locator": "별표4 · T46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"RULEWORK-1211253-1",</a:t>
            </a:r>
          </a:p>
          <a:p xmlns:a="http://schemas.openxmlformats.org/drawingml/2006/main">
            <a:r>
              <a:t>          "text": "1. 철도안전관리체계 수시검사 시행",</a:t>
            </a:r>
          </a:p>
          <a:p xmlns:a="http://schemas.openxmlformats.org/drawingml/2006/main">
            <a:r>
              <a:t>          "locator": "별표4 · T46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"RULEWORK-1211253-1-R01",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"RULEWORK-1211253-1-T01",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"RULEWORK-1211253-1-R02",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"RULEWORK-1211253-1-T02",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"RULEWORK-1211253-1-R03",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"RULEWORK-1211253-1-T03",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"RULEWORK-1211253-2",</a:t>
            </a:r>
          </a:p>
          <a:p xmlns:a="http://schemas.openxmlformats.org/drawingml/2006/main">
            <a:r>
              <a:t>          "text": "2. 철도사고 및 운행장애 초기대응 점검 시행",</a:t>
            </a:r>
          </a:p>
          <a:p xmlns:a="http://schemas.openxmlformats.org/drawingml/2006/main">
            <a:r>
              <a:t>          "locator": "별표4 · T46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"RULEWORK-1211253-2-R01",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"RULEWORK-1211253-2-T01",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"RULEWORK-1211253-2-R02",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"RULEWORK-1211253-2-T02",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"1211280",</a:t>
            </a:r>
          </a:p>
          <a:p xmlns:a="http://schemas.openxmlformats.org/drawingml/2006/main">
            <a:r>
              <a:t>      "name": "항공안전처",</a:t>
            </a:r>
          </a:p>
          <a:p xmlns:a="http://schemas.openxmlformats.org/drawingml/2006/main">
            <a:r>
              <a:t>      "job": "항공안전·사고조사",</a:t>
            </a:r>
          </a:p>
          <a:p xmlns:a="http://schemas.openxmlformats.org/drawingml/2006/main">
            <a:r>
              <a:t>      "indices": [</a:t>
            </a:r>
          </a:p>
          <a:p xmlns:a="http://schemas.openxmlformats.org/drawingml/2006/main">
            <a:r>
              <a:t>        7,</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"8. 항공안전‧항공보안 자율보고의 접수·분석 및 전파업무",</a:t>
            </a:r>
          </a:p>
          <a:p xmlns:a="http://schemas.openxmlformats.org/drawingml/2006/main">
            <a:r>
              <a:t>        "13. 초경량비행장치 사고조사 업무"</a:t>
            </a:r>
          </a:p>
          <a:p xmlns:a="http://schemas.openxmlformats.org/drawingml/2006/main">
            <a:r>
              <a:t>      ],</a:t>
            </a:r>
          </a:p>
          <a:p xmlns:a="http://schemas.openxmlformats.org/drawingml/2006/main">
            <a:r>
              <a:t>      "locator": "별표4 · T45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"RULEWORK-1211280-8",</a:t>
            </a:r>
          </a:p>
          <a:p xmlns:a="http://schemas.openxmlformats.org/drawingml/2006/main">
            <a:r>
              <a:t>          "text": "8. 항공안전‧항공보안 자율보고의 접수·분석 및 전파업무",</a:t>
            </a:r>
          </a:p>
          <a:p xmlns:a="http://schemas.openxmlformats.org/drawingml/2006/main">
            <a:r>
              <a:t>          "locator": "별표4 · T45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"RULEWORK-1211280-8-R01",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"RULEWORK-1211280-8-T01",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"RULEWORK-1211280-8-R02",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"RULEWORK-1211280-8-T02",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"RULEWORK-1211280-8-R03",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"RULEWORK-1211280-8-T03",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"RULEWORK-1211280-13",</a:t>
            </a:r>
          </a:p>
          <a:p xmlns:a="http://schemas.openxmlformats.org/drawingml/2006/main">
            <a:r>
              <a:t>          "text": "13. 초경량비행장치 사고조사 업무",</a:t>
            </a:r>
          </a:p>
          <a:p xmlns:a="http://schemas.openxmlformats.org/drawingml/2006/main">
            <a:r>
              <a:t>          "locator": "별표4 · T45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"RULEWORK-1211280-13-R01",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"RULEWORK-1211280-13-T01",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"RULEWORK-1211280-13-R02",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"RULEWORK-1211280-13-T02",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"RULEWORK-1211280-13-R03",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"RULEWORK-1211280-13-T03",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"CCK-02",</a:t>
            </a:r>
          </a:p>
          <a:p xmlns:a="http://schemas.openxmlformats.org/drawingml/2006/main">
            <a:r>
              <a:t>      "use": "Audin·JET의 증거·항목 검토"</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"분야별 보고 항목 사전",</a:t>
            </a:r>
          </a:p>
          <a:p xmlns:a="http://schemas.openxmlformats.org/drawingml/2006/main">
            <a:r>
              <a:t>    "원시 증거–사건–보고서 추적표"</a:t>
            </a:r>
          </a:p>
          <a:p xmlns:a="http://schemas.openxmlformats.org/drawingml/2006/main">
            <a:r>
              <a:t>  ],</a:t>
            </a:r>
          </a:p>
          <a:p xmlns:a="http://schemas.openxmlformats.org/drawingml/2006/main">
            <a:r>
              <a:t>  "acceptancePlan": {</a:t>
            </a:r>
          </a:p>
          <a:p xmlns:a="http://schemas.openxmlformats.org/drawingml/2006/main">
            <a:r>
              <a:t>    "sample": "사고 후 사건 삭제, 시각 충돌, 미이행 조치 주입",</a:t>
            </a:r>
          </a:p>
          <a:p xmlns:a="http://schemas.openxmlformats.org/drawingml/2006/main">
            <a:r>
              <a:t>    "criterion": "누락 경고·원시 근거 추적·종결 차단",</a:t>
            </a:r>
          </a:p>
          <a:p xmlns:a="http://schemas.openxmlformats.org/drawingml/2006/main">
            <a:r>
              <a:t>    "evidence": "사건별 정답표·탐지 결과·종결 시도 로그",</a:t>
            </a:r>
          </a:p>
          <a:p xmlns:a="http://schemas.openxmlformats.org/drawingml/2006/main">
            <a:r>
              <a:t>    "execution": "미실행"</a:t>
            </a:r>
          </a:p>
          <a:p xmlns:a="http://schemas.openxmlformats.org/drawingml/2006/main">
            <a:r>
              <a:t>  },</a:t>
            </a:r>
          </a:p>
          <a:p xmlns:a="http://schemas.openxmlformats.org/drawingml/2006/main">
            <a:r>
              <a:t>  "formula": "필수 사건 재현 건수 ÷ 정답 사건 수 / 재점검 기한 초과율",</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"PF-R04",</a:t>
            </a:r>
          </a:p>
          <a:p xmlns:a="http://schemas.openxmlformats.org/drawingml/2006/main">
            <a:r>
              <a:t>    "PF-R09",</a:t>
            </a:r>
          </a:p>
          <a:p xmlns:a="http://schemas.openxmlformats.org/drawingml/2006/main">
            <a:r>
              <a:t>    "PF02"</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"ST-03",</a:t>
            </a:r>
          </a:p>
          <a:p xmlns:a="http://schemas.openxmlformats.org/drawingml/2006/main">
            <a:r>
              <a:t>  "number": 3,</a:t>
            </a:r>
          </a:p>
          <a:p xmlns:a="http://schemas.openxmlformats.org/drawingml/2006/main">
            <a:r>
              <a:t>  "direction": "무결점 교통안전체계 조성",</a:t>
            </a:r>
          </a:p>
          <a:p xmlns:a="http://schemas.openxmlformats.org/drawingml/2006/main">
            <a:r>
              <a:t>  "strategy": "중대사고 예방 능동적 안전관리체계 구축",</a:t>
            </a:r>
          </a:p>
          <a:p xmlns:a="http://schemas.openxmlformats.org/drawingml/2006/main">
            <a:r>
              <a:t>  "solution": "중대위험 조치·재발방지 지원",</a:t>
            </a:r>
          </a:p>
          <a:p xmlns:a="http://schemas.openxmlformats.org/drawingml/2006/main">
            <a:r>
              <a:t>  "lawIds": [</a:t>
            </a:r>
          </a:p>
          <a:p xmlns:a="http://schemas.openxmlformats.org/drawingml/2006/main">
            <a:r>
              <a:t>    "L01",</a:t>
            </a:r>
          </a:p>
          <a:p xmlns:a="http://schemas.openxmlformats.org/drawingml/2006/main">
            <a:r>
              <a:t>    "L02",</a:t>
            </a:r>
          </a:p>
          <a:p xmlns:a="http://schemas.openxmlformats.org/drawingml/2006/main">
            <a:r>
              <a:t>    "L25"</a:t>
            </a:r>
          </a:p>
          <a:p xmlns:a="http://schemas.openxmlformats.org/drawingml/2006/main">
            <a:r>
              <a:t>  ],</a:t>
            </a:r>
          </a:p>
          <a:p xmlns:a="http://schemas.openxmlformats.org/drawingml/2006/main">
            <a:r>
              <a:t>  "codes": [</a:t>
            </a:r>
          </a:p>
          <a:p xmlns:a="http://schemas.openxmlformats.org/drawingml/2006/main">
            <a:r>
              <a:t>    "1016043",</a:t>
            </a:r>
          </a:p>
          <a:p xmlns:a="http://schemas.openxmlformats.org/drawingml/2006/main">
            <a:r>
              <a:t>    "1022030",</a:t>
            </a:r>
          </a:p>
          <a:p xmlns:a="http://schemas.openxmlformats.org/drawingml/2006/main">
            <a:r>
              <a:t>    "1021030",</a:t>
            </a:r>
          </a:p>
          <a:p xmlns:a="http://schemas.openxmlformats.org/drawingml/2006/main">
            <a:r>
              <a:t>    "1211251",</a:t>
            </a:r>
          </a:p>
          <a:p xmlns:a="http://schemas.openxmlformats.org/drawingml/2006/main">
            <a:r>
              <a:t>    "1211250",</a:t>
            </a:r>
          </a:p>
          <a:p xmlns:a="http://schemas.openxmlformats.org/drawingml/2006/main">
            <a:r>
              <a:t>    "1211253",</a:t>
            </a:r>
          </a:p>
          <a:p xmlns:a="http://schemas.openxmlformats.org/drawingml/2006/main">
            <a:r>
              <a:t>    "1211280"</a:t>
            </a:r>
          </a:p>
          <a:p xmlns:a="http://schemas.openxmlformats.org/drawingml/2006/main">
            <a:r>
              <a:t>  ],</a:t>
            </a:r>
          </a:p>
          <a:p xmlns:a="http://schemas.openxmlformats.org/drawingml/2006/main">
            <a:r>
              <a:t>  "work": "분야별 안전점검·시정조치·재점검 관리",</a:t>
            </a:r>
          </a:p>
          <a:p xmlns:a="http://schemas.openxmlformats.org/drawingml/2006/main">
            <a:r>
              <a:t>  "features": [</a:t>
            </a:r>
          </a:p>
          <a:p xmlns:a="http://schemas.openxmlformats.org/drawingml/2006/main">
            <a:r>
              <a:t>    "위험 근거·유사사례·시정조치 이력 연결",</a:t>
            </a:r>
          </a:p>
          <a:p xmlns:a="http://schemas.openxmlformats.org/drawingml/2006/main">
            <a:r>
              <a:t>    "현장 조치·전문 검토·종결 승인 분리"</a:t>
            </a:r>
          </a:p>
          <a:p xmlns:a="http://schemas.openxmlformats.org/drawingml/2006/main">
            <a:r>
              <a:t>  ],</a:t>
            </a:r>
          </a:p>
          <a:p xmlns:a="http://schemas.openxmlformats.org/drawingml/2006/main">
            <a:r>
              <a:t>  "output": "사건 타임라인·위험 조치대장",</a:t>
            </a:r>
          </a:p>
          <a:p xmlns:a="http://schemas.openxmlformats.org/drawingml/2006/main">
            <a:r>
              <a:t>  "acceptance": "미완료 조치의 종결 차단·검토/승인 역할 구분·후속 확인 추적",</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"GAI-T07",</a:t>
            </a:r>
          </a:p>
          <a:p xmlns:a="http://schemas.openxmlformats.org/drawingml/2006/main">
            <a:r>
              <a:t>    "GAI-T08",</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"사업장 안전·재발방지",</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산업재해 신고, 사고대응 및 재발방지 조치",</a:t>
            </a:r>
          </a:p>
          <a:p xmlns:a="http://schemas.openxmlformats.org/drawingml/2006/main">
            <a:r>
              <a:t>        "6. 중대재해처벌법 안전보건의무 이행점검에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예방대책",</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교통사고예방대책 수립 및 교통안전사업 개발",</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 안전점검",</a:t>
            </a:r>
          </a:p>
          <a:p xmlns:a="http://schemas.openxmlformats.org/drawingml/2006/main">
            <a:r>
              <a:t>      "indices": [</a:t>
            </a:r>
          </a:p>
          <a:p xmlns:a="http://schemas.openxmlformats.org/drawingml/2006/main">
            <a:r>
              <a:t>        6,</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"10. 교통시설설치ㆍ관리자의 교통안전관리규정 적정성 및 이행여부 확인평가"</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"1211251",</a:t>
            </a:r>
          </a:p>
          <a:p xmlns:a="http://schemas.openxmlformats.org/drawingml/2006/main">
            <a:r>
              <a:t>      "name": "철도안전처",</a:t>
            </a:r>
          </a:p>
          <a:p xmlns:a="http://schemas.openxmlformats.org/drawingml/2006/main">
            <a:r>
              <a:t>      "job": "철도사고 분석",</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철도사고(철도준사고 포함) 자료 원인분석 및 정책자료 제공"</a:t>
            </a:r>
          </a:p>
          <a:p xmlns:a="http://schemas.openxmlformats.org/drawingml/2006/main">
            <a:r>
              <a:t>      ],</a:t>
            </a:r>
          </a:p>
          <a:p xmlns:a="http://schemas.openxmlformats.org/drawingml/2006/main">
            <a:r>
              <a:t>      "locator": "별표4 · T46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"1211250",</a:t>
            </a:r>
          </a:p>
          <a:p xmlns:a="http://schemas.openxmlformats.org/drawingml/2006/main">
            <a:r>
              <a:t>      "name": "철도승인처",</a:t>
            </a:r>
          </a:p>
          <a:p xmlns:a="http://schemas.openxmlformats.org/drawingml/2006/main">
            <a:r>
              <a:t>      "job": "철도 안전관리체계 승인",</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철도안전관리체계 승인업무(최초·변경) 시행",</a:t>
            </a:r>
          </a:p>
          <a:p xmlns:a="http://schemas.openxmlformats.org/drawingml/2006/main">
            <a:r>
              <a:t>        "3. 철도안전관리체계 기술기준 제·개정 및 관리"</a:t>
            </a:r>
          </a:p>
          <a:p xmlns:a="http://schemas.openxmlformats.org/drawingml/2006/main">
            <a:r>
              <a:t>      ],</a:t>
            </a:r>
          </a:p>
          <a:p xmlns:a="http://schemas.openxmlformats.org/drawingml/2006/main">
            <a:r>
              <a:t>      "locator": "별표4 · T46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"1211253",</a:t>
            </a:r>
          </a:p>
          <a:p xmlns:a="http://schemas.openxmlformats.org/drawingml/2006/main">
            <a:r>
              <a:t>      "name": "철도검사처",</a:t>
            </a:r>
          </a:p>
          <a:p xmlns:a="http://schemas.openxmlformats.org/drawingml/2006/main">
            <a:r>
              <a:t>      "job": "철도 안전관리체계 검사",</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철도안전관리체계 수시검사 시행",</a:t>
            </a:r>
          </a:p>
          <a:p xmlns:a="http://schemas.openxmlformats.org/drawingml/2006/main">
            <a:r>
              <a:t>        "2. 철도사고 및 운행장애 초기대응 점검 시행"</a:t>
            </a:r>
          </a:p>
          <a:p xmlns:a="http://schemas.openxmlformats.org/drawingml/2006/main">
            <a:r>
              <a:t>      ],</a:t>
            </a:r>
          </a:p>
          <a:p xmlns:a="http://schemas.openxmlformats.org/drawingml/2006/main">
            <a:r>
              <a:t>      "locator": "별표4 · T46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"1211280",</a:t>
            </a:r>
          </a:p>
          <a:p xmlns:a="http://schemas.openxmlformats.org/drawingml/2006/main">
            <a:r>
              <a:t>      "name": "항공안전처",</a:t>
            </a:r>
          </a:p>
          <a:p xmlns:a="http://schemas.openxmlformats.org/drawingml/2006/main">
            <a:r>
              <a:t>      "job": "항공안전·사고조사",</a:t>
            </a:r>
          </a:p>
          <a:p xmlns:a="http://schemas.openxmlformats.org/drawingml/2006/main">
            <a:r>
              <a:t>      "indices": [</a:t>
            </a:r>
          </a:p>
          <a:p xmlns:a="http://schemas.openxmlformats.org/drawingml/2006/main">
            <a:r>
              <a:t>        7,</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"8. 항공안전‧항공보안 자율보고의 접수·분석 및 전파업무",</a:t>
            </a:r>
          </a:p>
          <a:p xmlns:a="http://schemas.openxmlformats.org/drawingml/2006/main">
            <a:r>
              <a:t>        "13. 초경량비행장치 사고조사 업무"</a:t>
            </a:r>
          </a:p>
          <a:p xmlns:a="http://schemas.openxmlformats.org/drawingml/2006/main">
            <a:r>
              <a:t>      ],</a:t>
            </a:r>
          </a:p>
          <a:p xmlns:a="http://schemas.openxmlformats.org/drawingml/2006/main">
            <a:r>
              <a:t>      "locator": "별표4 · T45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"도로·철도 점검: 연결 법령 원장 / 사업장 안전·항공안전: 별표4 안전보건실·항공안전처 업무 / 분야별 법령·위탁범위 추가 대조",</a:t>
            </a:r>
          </a:p>
          <a:p xmlns:a="http://schemas.openxmlformats.org/drawingml/2006/main">
            <a:r>
              <a:t>  "caseRefs": [</a:t>
            </a:r>
          </a:p>
          <a:p xmlns:a="http://schemas.openxmlformats.org/drawingml/2006/main">
            <a:r>
              <a:t>    {</a:t>
            </a:r>
          </a:p>
          <a:p xmlns:a="http://schemas.openxmlformats.org/drawingml/2006/main">
            <a:r>
              <a:t>      "caseId": "AX08",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"중대사고 예방·보고 완전성",</a:t>
            </a:r>
          </a:p>
          <a:p xmlns:a="http://schemas.openxmlformats.org/drawingml/2006/main">
            <a:r>
              <a:t>  "delta": "사건 타임라인·필수 보고항목 검사",</a:t>
            </a:r>
          </a:p>
          <a:p xmlns:a="http://schemas.openxmlformats.org/drawingml/2006/main">
            <a:r>
              <a:t>  "kpi": "필수 사건 재현율 / 보고 누락률",</a:t>
            </a:r>
          </a:p>
          <a:p xmlns:a="http://schemas.openxmlformats.org/drawingml/2006/main">
            <a:r>
              <a:t>  "validation": "사고 증거 누락·시점 충돌 주입 시험",</a:t>
            </a:r>
          </a:p>
          <a:p xmlns:a="http://schemas.openxmlformats.org/drawingml/2006/main">
            <a:r>
              <a:t>  "requirement": "BM-ST-03-R01",</a:t>
            </a:r>
          </a:p>
          <a:p xmlns:a="http://schemas.openxmlformats.org/drawingml/2006/main">
            <a:r>
              <a:t>  "test": "BM-ST-03-T01",</a:t>
            </a:r>
          </a:p>
          <a:p xmlns:a="http://schemas.openxmlformats.org/drawingml/2006/main">
            <a:r>
              <a:t>  "effectStatus": "기대 방향 · TS 실측 전",</a:t>
            </a:r>
          </a:p>
          <a:p xmlns:a="http://schemas.openxmlformats.org/drawingml/2006/main">
            <a:r>
              <a:t>  "effect": "보고 누락·재점검 지연 감소",</a:t>
            </a:r>
          </a:p>
          <a:p xmlns:a="http://schemas.openxmlformats.org/drawingml/2006/main">
            <a:r>
              <a:t>  "reuse": "ON27-BASE / C27-COM + CCK 재사용 판정 기능",</a:t>
            </a:r>
          </a:p>
          <a:p xmlns:a="http://schemas.openxmlformats.org/drawingml/2006/main">
            <a:r>
              <a:t>  "input": "도로·철도·항공·사업장 점검자료, 사건별 영상·로그, 시정조치",</a:t>
            </a:r>
          </a:p>
          <a:p xmlns:a="http://schemas.openxmlformats.org/drawingml/2006/main">
            <a:r>
              <a:t>  "steps": [</a:t>
            </a:r>
          </a:p>
          <a:p xmlns:a="http://schemas.openxmlformats.org/drawingml/2006/main">
            <a:r>
              <a:t>    "분야·사건 ID 분류",</a:t>
            </a:r>
          </a:p>
          <a:p xmlns:a="http://schemas.openxmlformats.org/drawingml/2006/main">
            <a:r>
              <a:t>    "전·중·후 타임라인 대사",</a:t>
            </a:r>
          </a:p>
          <a:p xmlns:a="http://schemas.openxmlformats.org/drawingml/2006/main">
            <a:r>
              <a:t>    "필수 보고·조치 항목 점검",</a:t>
            </a:r>
          </a:p>
          <a:p xmlns:a="http://schemas.openxmlformats.org/drawingml/2006/main">
            <a:r>
              <a:t>    "재점검·종결 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"사업장 안전·재발방지",</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산업재해 신고, 사고대응 및 재발방지 조치",</a:t>
            </a:r>
          </a:p>
          <a:p xmlns:a="http://schemas.openxmlformats.org/drawingml/2006/main">
            <a:r>
              <a:t>        "6. 중대재해처벌법 안전보건의무 이행점검에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"RULEWORK-1016043-4",</a:t>
            </a:r>
          </a:p>
          <a:p xmlns:a="http://schemas.openxmlformats.org/drawingml/2006/main">
            <a:r>
              <a:t>          "text": "4. 산업재해 신고, 사고대응 및 재발방지 조치",</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"RULEWORK-1016043-4-R01",</a:t>
            </a:r>
          </a:p>
          <a:p xmlns:a="http://schemas.openxmlformats.org/drawingml/2006/main">
            <a:r>
              <a:t>              "title": "업무 맥락·전용 지식 구성",</a:t>
            </a:r>
          </a:p>
          <a:p xmlns:a="http://schemas.openxmlformats.org/drawingml/2006/main">
            <a:r>
              <a:t>              "development": "작업·위험 유형별 기준·증빙 분류",</a:t>
            </a:r>
          </a:p>
          <a:p xmlns:a="http://schemas.openxmlformats.org/drawingml/2006/main">
            <a:r>
              <a:t>              "output": "위험·예방조치·이행·재점검표",</a:t>
            </a:r>
          </a:p>
          <a:p xmlns:a="http://schemas.openxmlformats.org/drawingml/2006/main">
            <a:r>
              <a:t>              "testId": "RULEWORK-1016043-4-T01",</a:t>
            </a:r>
          </a:p>
          <a:p xmlns:a="http://schemas.openxmlformats.org/drawingml/2006/main">
            <a:r>
              <a:t>              "criterion": "중대 위험·미이행·반복 지적의 정답 대조"</a:t>
            </a:r>
          </a:p>
          <a:p xmlns:a="http://schemas.openxmlformats.org/drawingml/2006/main">
            <a:r>
              <a:t>            },</a:t>
            </a:r>
          </a:p>
          <a:p xmlns:a="http://schemas.openxmlformats.org/drawingml/2006/main">
            <a:r>
              <a:t>            {</a:t>
            </a:r>
          </a:p>
          <a:p xmlns:a="http://schemas.openxmlformats.org/drawingml/2006/main">
            <a:r>
              <a:t>              "id": "RULEWORK-1016043-4-R02",</a:t>
            </a:r>
          </a:p>
          <a:p xmlns:a="http://schemas.openxmlformats.org/drawingml/2006/main">
            <a:r>
              <a:t>              "title": "업무건·역할·시스템 연결",</a:t>
            </a:r>
          </a:p>
          <a:p xmlns:a="http://schemas.openxmlformats.org/drawingml/2006/main">
            <a:r>
              <a:t>              "development": "개선 책임·기한·이행·재확인 연결",</a:t>
            </a:r>
          </a:p>
          <a:p xmlns:a="http://schemas.openxmlformats.org/drawingml/2006/main">
            <a:r>
              <a:t>              "output": "업무건·원천·역할·변경 연결 명세",</a:t>
            </a:r>
          </a:p>
          <a:p xmlns:a="http://schemas.openxmlformats.org/drawingml/2006/main">
            <a:r>
              <a:t>              "testId": "RULEWORK-1016043-4-T02",</a:t>
            </a:r>
          </a:p>
          <a:p xmlns:a="http://schemas.openxmlformats.org/drawingml/2006/main">
            <a:r>
              <a:t>              "criterion": "필수 조치 미완료 건의 안전 확인 처리 차단"</a:t>
            </a:r>
          </a:p>
          <a:p xmlns:a="http://schemas.openxmlformats.org/drawingml/2006/main">
            <a:r>
              <a:t>            },</a:t>
            </a:r>
          </a:p>
          <a:p xmlns:a="http://schemas.openxmlformats.org/drawingml/2006/main">
            <a:r>
              <a:t>            {</a:t>
            </a:r>
          </a:p>
          <a:p xmlns:a="http://schemas.openxmlformats.org/drawingml/2006/main">
            <a:r>
              <a:t>              "id": "RULEWORK-1016043-4-R03",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"RULEWORK-1016043-7",</a:t>
            </a:r>
          </a:p>
          <a:p xmlns:a="http://schemas.openxmlformats.org/drawingml/2006/main">
            <a:r>
              <a:t>          "text": "6. 중대재해처벌법 안전보건의무 이행점검에 관한 업무",</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"RULEWORK-1016043-7-R01",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"RULEWORK-1016043-7-T01",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"RULEWORK-1016043-7-R02",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"RULEWORK-1016043-7-T02",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"RULEWORK-1016043-7-R03",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예방대책",</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교통사고예방대책 수립 및 교통안전사업 개발",</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"RULEWORK-1022030-4",</a:t>
            </a:r>
          </a:p>
          <a:p xmlns:a="http://schemas.openxmlformats.org/drawingml/2006/main">
            <a:r>
              <a:t>          "text": "4. 교통사고예방대책 수립 및 교통안전사업 개발",</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"RULEWORK-1022030-4-R01",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"RULEWORK-1022030-4-T01",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"RULEWORK-1022030-4-R02",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"RULEWORK-1022030-4-T02",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"RULEWORK-1022030-7",</a:t>
            </a:r>
          </a:p>
          <a:p xmlns:a="http://schemas.openxmlformats.org/drawingml/2006/main">
            <a:r>
              <a:t>          "text": "7. 운수회사 안전관리 및 교통사고 예방사업",</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"RULEWORK-1022030-7-R01",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"RULEWORK-1022030-7-T01",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"RULEWORK-1022030-7-R02",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"RULEWORK-1022030-7-T02",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 안전점검",</a:t>
            </a:r>
          </a:p>
          <a:p xmlns:a="http://schemas.openxmlformats.org/drawingml/2006/main">
            <a:r>
              <a:t>      "indices": [</a:t>
            </a:r>
          </a:p>
          <a:p xmlns:a="http://schemas.openxmlformats.org/drawingml/2006/main">
            <a:r>
              <a:t>        6,</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"10. 교통시설설치ㆍ관리자의 교통안전관리규정 적정성 및 이행여부 확인평가"</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"RULEWORK-1021030-7",</a:t>
            </a:r>
          </a:p>
          <a:p xmlns:a="http://schemas.openxmlformats.org/drawingml/2006/main">
            <a:r>
              <a:t>          "text": "7. 교통시설 안전진단ㆍ점검ㆍ평가에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"RULEWORK-1021030-7-R01",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"RULEWORK-1021030-7-T01",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"RULEWORK-1021030-7-R02",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"RULEWORK-1021030-7-T02",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"RULEWORK-1021030-10",</a:t>
            </a:r>
          </a:p>
          <a:p xmlns:a="http://schemas.openxmlformats.org/drawingml/2006/main">
            <a:r>
              <a:t>          "text": "10. 교통시설설치ㆍ관리자의 교통안전관리규정 적정성 및 이행여부 확인평가",</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"RULEWORK-1021030-10-R01",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"RULEWORK-1021030-10-T01",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"RULEWORK-1021030-10-R02",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"RULEWORK-1021030-10-T02",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"RULEWORK-1021030-10-R03",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"1211251",</a:t>
            </a:r>
          </a:p>
          <a:p xmlns:a="http://schemas.openxmlformats.org/drawingml/2006/main">
            <a:r>
              <a:t>      "name": "철도안전처",</a:t>
            </a:r>
          </a:p>
          <a:p xmlns:a="http://schemas.openxmlformats.org/drawingml/2006/main">
            <a:r>
              <a:t>      "job": "철도사고 분석",</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철도사고(철도준사고 포함) 자료 원인분석 및 정책자료 제공"</a:t>
            </a:r>
          </a:p>
          <a:p xmlns:a="http://schemas.openxmlformats.org/drawingml/2006/main">
            <a:r>
              <a:t>      ],</a:t>
            </a:r>
          </a:p>
          <a:p xmlns:a="http://schemas.openxmlformats.org/drawingml/2006/main">
            <a:r>
              <a:t>      "locator": "별표4 · T46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"RULEWORK-1211251-6",</a:t>
            </a:r>
          </a:p>
          <a:p xmlns:a="http://schemas.openxmlformats.org/drawingml/2006/main">
            <a:r>
              <a:t>          "text": "6. 철도사고(철도준사고 포함) 자료 원인분석 및 정책자료 제공",</a:t>
            </a:r>
          </a:p>
          <a:p xmlns:a="http://schemas.openxmlformats.org/drawingml/2006/main">
            <a:r>
              <a:t>          "locator": "별표4 · T46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"RULEWORK-1211251-6-R01",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"RULEWORK-1211251-6-T01",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"RULEWORK-1211251-6-R02",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"RULEWORK-1211251-6-T02",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"RULEWORK-1211251-6-R03",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"RULEWORK-1211251-6-T03",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"1211250",</a:t>
            </a:r>
          </a:p>
          <a:p xmlns:a="http://schemas.openxmlformats.org/drawingml/2006/main">
            <a:r>
              <a:t>      "name": "철도승인처",</a:t>
            </a:r>
          </a:p>
          <a:p xmlns:a="http://schemas.openxmlformats.org/drawingml/2006/main">
            <a:r>
              <a:t>      "job": "철도 안전관리체계 승인",</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철도안전관리체계 승인업무(최초·변경) 시행",</a:t>
            </a:r>
          </a:p>
          <a:p xmlns:a="http://schemas.openxmlformats.org/drawingml/2006/main">
            <a:r>
              <a:t>        "3. 철도안전관리체계 기술기준 제·개정 및 관리"</a:t>
            </a:r>
          </a:p>
          <a:p xmlns:a="http://schemas.openxmlformats.org/drawingml/2006/main">
            <a:r>
              <a:t>      ],</a:t>
            </a:r>
          </a:p>
          <a:p xmlns:a="http://schemas.openxmlformats.org/drawingml/2006/main">
            <a:r>
              <a:t>      "locator": "별표4 · T46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"RULEWORK-1211250-1",</a:t>
            </a:r>
          </a:p>
          <a:p xmlns:a="http://schemas.openxmlformats.org/drawingml/2006/main">
            <a:r>
              <a:t>          "text": "1. 철도안전관리체계 승인업무(최초·변경) 시행",</a:t>
            </a:r>
          </a:p>
          <a:p xmlns:a="http://schemas.openxmlformats.org/drawingml/2006/main">
            <a:r>
              <a:t>          "locator": "별표4 · T46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"RULEWORK-1211250-1-R01",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"RULEWORK-1211250-1-T01",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"RULEWORK-1211250-1-R02",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"RULEWORK-1211250-1-T02",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"RULEWORK-1211250-3",</a:t>
            </a:r>
          </a:p>
          <a:p xmlns:a="http://schemas.openxmlformats.org/drawingml/2006/main">
            <a:r>
              <a:t>          "text": "3. 철도안전관리체계 기술기준 제·개정 및 관리",</a:t>
            </a:r>
          </a:p>
          <a:p xmlns:a="http://schemas.openxmlformats.org/drawingml/2006/main">
            <a:r>
              <a:t>          "locator": "별표4 · T46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"RULEWORK-1211250-3-R01",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"RULEWORK-1211250-3-T01",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"RULEWORK-1211250-3-R02",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"RULEWORK-1211250-3-T02",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"1211253",</a:t>
            </a:r>
          </a:p>
          <a:p xmlns:a="http://schemas.openxmlformats.org/drawingml/2006/main">
            <a:r>
              <a:t>      "name": "철도검사처",</a:t>
            </a:r>
          </a:p>
          <a:p xmlns:a="http://schemas.openxmlformats.org/drawingml/2006/main">
            <a:r>
              <a:t>      "job": "철도 안전관리체계 검사",</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철도안전관리체계 수시검사 시행",</a:t>
            </a:r>
          </a:p>
          <a:p xmlns:a="http://schemas.openxmlformats.org/drawingml/2006/main">
            <a:r>
              <a:t>        "2. 철도사고 및 운행장애 초기대응 점검 시행"</a:t>
            </a:r>
          </a:p>
          <a:p xmlns:a="http://schemas.openxmlformats.org/drawingml/2006/main">
            <a:r>
              <a:t>      ],</a:t>
            </a:r>
          </a:p>
          <a:p xmlns:a="http://schemas.openxmlformats.org/drawingml/2006/main">
            <a:r>
              <a:t>      "locator": "별표4 · T46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"RULEWORK-1211253-1",</a:t>
            </a:r>
          </a:p>
          <a:p xmlns:a="http://schemas.openxmlformats.org/drawingml/2006/main">
            <a:r>
              <a:t>          "text": "1. 철도안전관리체계 수시검사 시행",</a:t>
            </a:r>
          </a:p>
          <a:p xmlns:a="http://schemas.openxmlformats.org/drawingml/2006/main">
            <a:r>
              <a:t>          "locator": "별표4 · T46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"RULEWORK-1211253-1-R01",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"RULEWORK-1211253-1-T01",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"RULEWORK-1211253-1-R02",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"RULEWORK-1211253-1-T02",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"RULEWORK-1211253-1-R03",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"RULEWORK-1211253-1-T03",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"RULEWORK-1211253-2",</a:t>
            </a:r>
          </a:p>
          <a:p xmlns:a="http://schemas.openxmlformats.org/drawingml/2006/main">
            <a:r>
              <a:t>          "text": "2. 철도사고 및 운행장애 초기대응 점검 시행",</a:t>
            </a:r>
          </a:p>
          <a:p xmlns:a="http://schemas.openxmlformats.org/drawingml/2006/main">
            <a:r>
              <a:t>          "locator": "별표4 · T46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"RULEWORK-1211253-2-R01",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"RULEWORK-1211253-2-T01",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"RULEWORK-1211253-2-R02",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"RULEWORK-1211253-2-T02",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"1211280",</a:t>
            </a:r>
          </a:p>
          <a:p xmlns:a="http://schemas.openxmlformats.org/drawingml/2006/main">
            <a:r>
              <a:t>      "name": "항공안전처",</a:t>
            </a:r>
          </a:p>
          <a:p xmlns:a="http://schemas.openxmlformats.org/drawingml/2006/main">
            <a:r>
              <a:t>      "job": "항공안전·사고조사",</a:t>
            </a:r>
          </a:p>
          <a:p xmlns:a="http://schemas.openxmlformats.org/drawingml/2006/main">
            <a:r>
              <a:t>      "indices": [</a:t>
            </a:r>
          </a:p>
          <a:p xmlns:a="http://schemas.openxmlformats.org/drawingml/2006/main">
            <a:r>
              <a:t>        7,</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"8. 항공안전‧항공보안 자율보고의 접수·분석 및 전파업무",</a:t>
            </a:r>
          </a:p>
          <a:p xmlns:a="http://schemas.openxmlformats.org/drawingml/2006/main">
            <a:r>
              <a:t>        "13. 초경량비행장치 사고조사 업무"</a:t>
            </a:r>
          </a:p>
          <a:p xmlns:a="http://schemas.openxmlformats.org/drawingml/2006/main">
            <a:r>
              <a:t>      ],</a:t>
            </a:r>
          </a:p>
          <a:p xmlns:a="http://schemas.openxmlformats.org/drawingml/2006/main">
            <a:r>
              <a:t>      "locator": "별표4 · T45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"RULEWORK-1211280-8",</a:t>
            </a:r>
          </a:p>
          <a:p xmlns:a="http://schemas.openxmlformats.org/drawingml/2006/main">
            <a:r>
              <a:t>          "text": "8. 항공안전‧항공보안 자율보고의 접수·분석 및 전파업무",</a:t>
            </a:r>
          </a:p>
          <a:p xmlns:a="http://schemas.openxmlformats.org/drawingml/2006/main">
            <a:r>
              <a:t>          "locator": "별표4 · T45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"RULEWORK-1211280-8-R01",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"RULEWORK-1211280-8-T01",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"RULEWORK-1211280-8-R02",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"RULEWORK-1211280-8-T02",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"RULEWORK-1211280-8-R03",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"RULEWORK-1211280-8-T03",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"RULEWORK-1211280-13",</a:t>
            </a:r>
          </a:p>
          <a:p xmlns:a="http://schemas.openxmlformats.org/drawingml/2006/main">
            <a:r>
              <a:t>          "text": "13. 초경량비행장치 사고조사 업무",</a:t>
            </a:r>
          </a:p>
          <a:p xmlns:a="http://schemas.openxmlformats.org/drawingml/2006/main">
            <a:r>
              <a:t>          "locator": "별표4 · T45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"RULEWORK-1211280-13-R01",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"RULEWORK-1211280-13-T01",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"RULEWORK-1211280-13-R02",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"RULEWORK-1211280-13-T02",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"RULEWORK-1211280-13-R03",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"RULEWORK-1211280-13-T03",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"CCK-02",</a:t>
            </a:r>
          </a:p>
          <a:p xmlns:a="http://schemas.openxmlformats.org/drawingml/2006/main">
            <a:r>
              <a:t>      "use": "Audin·JET의 증거·항목 검토"</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"분야별 보고 항목 사전",</a:t>
            </a:r>
          </a:p>
          <a:p xmlns:a="http://schemas.openxmlformats.org/drawingml/2006/main">
            <a:r>
              <a:t>    "원시 증거–사건–보고서 추적표"</a:t>
            </a:r>
          </a:p>
          <a:p xmlns:a="http://schemas.openxmlformats.org/drawingml/2006/main">
            <a:r>
              <a:t>  ],</a:t>
            </a:r>
          </a:p>
          <a:p xmlns:a="http://schemas.openxmlformats.org/drawingml/2006/main">
            <a:r>
              <a:t>  "acceptancePlan": {</a:t>
            </a:r>
          </a:p>
          <a:p xmlns:a="http://schemas.openxmlformats.org/drawingml/2006/main">
            <a:r>
              <a:t>    "sample": "사고 후 사건 삭제, 시각 충돌, 미이행 조치 주입",</a:t>
            </a:r>
          </a:p>
          <a:p xmlns:a="http://schemas.openxmlformats.org/drawingml/2006/main">
            <a:r>
              <a:t>    "criterion": "누락 경고·원시 근거 추적·종결 차단",</a:t>
            </a:r>
          </a:p>
          <a:p xmlns:a="http://schemas.openxmlformats.org/drawingml/2006/main">
            <a:r>
              <a:t>    "evidence": "사건별 정답표·탐지 결과·종결 시도 로그",</a:t>
            </a:r>
          </a:p>
          <a:p xmlns:a="http://schemas.openxmlformats.org/drawingml/2006/main">
            <a:r>
              <a:t>    "execution": "미실행"</a:t>
            </a:r>
          </a:p>
          <a:p xmlns:a="http://schemas.openxmlformats.org/drawingml/2006/main">
            <a:r>
              <a:t>  },</a:t>
            </a:r>
          </a:p>
          <a:p xmlns:a="http://schemas.openxmlformats.org/drawingml/2006/main">
            <a:r>
              <a:t>  "formula": "필수 사건 재현 건수 ÷ 정답 사건 수 / 재점검 기한 초과율",</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"PF-R04",</a:t>
            </a:r>
          </a:p>
          <a:p xmlns:a="http://schemas.openxmlformats.org/drawingml/2006/main">
            <a:r>
              <a:t>    "PF-R09",</a:t>
            </a:r>
          </a:p>
          <a:p xmlns:a="http://schemas.openxmlformats.org/drawingml/2006/main">
            <a:r>
              <a:t>    "PF02"</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"ST-04",</a:t>
            </a:r>
          </a:p>
          <a:p xmlns:a="http://schemas.openxmlformats.org/drawingml/2006/main">
            <a:r>
              <a:t>  "number": 4,</a:t>
            </a:r>
          </a:p>
          <a:p xmlns:a="http://schemas.openxmlformats.org/drawingml/2006/main">
            <a:r>
              <a:t>  "direction": "지능형 미래 모빌리티 혁신",</a:t>
            </a:r>
          </a:p>
          <a:p xmlns:a="http://schemas.openxmlformats.org/drawingml/2006/main">
            <a:r>
              <a:t>  "strategy": "교통안전체계 인공지능 대전환",</a:t>
            </a:r>
          </a:p>
          <a:p xmlns:a="http://schemas.openxmlformats.org/drawingml/2006/main">
            <a:r>
              <a:t>  "solution": "TS 조직 네이티브 AI 공통플랫폼",</a:t>
            </a:r>
          </a:p>
          <a:p xmlns:a="http://schemas.openxmlformats.org/drawingml/2006/main">
            <a:r>
              <a:t>  "lawIds": [],</a:t>
            </a:r>
          </a:p>
          <a:p xmlns:a="http://schemas.openxmlformats.org/drawingml/2006/main">
            <a:r>
              <a:t>  "codes": [</a:t>
            </a:r>
          </a:p>
          <a:p xmlns:a="http://schemas.openxmlformats.org/drawingml/2006/main">
            <a:r>
              <a:t>    "1010100",</a:t>
            </a:r>
          </a:p>
          <a:p xmlns:a="http://schemas.openxmlformats.org/drawingml/2006/main">
            <a:r>
              <a:t>    "1019600",</a:t>
            </a:r>
          </a:p>
          <a:p xmlns:a="http://schemas.openxmlformats.org/drawingml/2006/main">
            <a:r>
              <a:t>    "1019700",</a:t>
            </a:r>
          </a:p>
          <a:p xmlns:a="http://schemas.openxmlformats.org/drawingml/2006/main">
            <a:r>
              <a:t>    "1016050",</a:t>
            </a:r>
          </a:p>
          <a:p xmlns:a="http://schemas.openxmlformats.org/drawingml/2006/main">
            <a:r>
              <a:t>    "1018037",</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"공식 조직·직무·역할 기반의 사용자 인식 및 업무 맥락 분류",</a:t>
            </a:r>
          </a:p>
          <a:p xmlns:a="http://schemas.openxmlformats.org/drawingml/2006/main">
            <a:r>
              <a:t>  "features": [</a:t>
            </a:r>
          </a:p>
          <a:p xmlns:a="http://schemas.openxmlformats.org/drawingml/2006/main">
            <a:r>
              <a:t>    "로그인 ID·조직·담당업무·효력일 매핑",</a:t>
            </a:r>
          </a:p>
          <a:p xmlns:a="http://schemas.openxmlformats.org/drawingml/2006/main">
            <a:r>
              <a:t>    "업무별 지식·절차·서식 선택과 접근정책 집행"</a:t>
            </a:r>
          </a:p>
          <a:p xmlns:a="http://schemas.openxmlformats.org/drawingml/2006/main">
            <a:r>
              <a:t>  ],</a:t>
            </a:r>
          </a:p>
          <a:p xmlns:a="http://schemas.openxmlformats.org/drawingml/2006/main">
            <a:r>
              <a:t>  "output": "조직·업무 사전·정책표·기관 인수본",</a:t>
            </a:r>
          </a:p>
          <a:p xmlns:a="http://schemas.openxmlformats.org/drawingml/2006/main">
            <a:r>
              <a:t>  "acceptance": "GAI-R01~R12와 GAI-T01~T12의 독립 인수 기준 적용",</a:t>
            </a:r>
          </a:p>
          <a:p xmlns:a="http://schemas.openxmlformats.org/drawingml/2006/main">
            <a:r>
              <a:t>  "phase": "1차 공통 기반",</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"GAI-T01",</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"GAI-T05",</a:t>
            </a:r>
          </a:p>
          <a:p xmlns:a="http://schemas.openxmlformats.org/drawingml/2006/main">
            <a:r>
              <a:t>    "GAI-T06",</a:t>
            </a:r>
          </a:p>
          <a:p xmlns:a="http://schemas.openxmlformats.org/drawingml/2006/main">
            <a:r>
              <a:t>    "GAI-T07",</a:t>
            </a:r>
          </a:p>
          <a:p xmlns:a="http://schemas.openxmlformats.org/drawingml/2006/main">
            <a:r>
              <a:t>    "GAI-T08",</a:t>
            </a:r>
          </a:p>
          <a:p xmlns:a="http://schemas.openxmlformats.org/drawingml/2006/main">
            <a:r>
              <a:t>    "GAI-T09",</a:t>
            </a:r>
          </a:p>
          <a:p xmlns:a="http://schemas.openxmlformats.org/drawingml/2006/main">
            <a:r>
              <a:t>    "GAI-T10",</a:t>
            </a:r>
          </a:p>
          <a:p xmlns:a="http://schemas.openxmlformats.org/drawingml/2006/main">
            <a:r>
              <a:t>    "GAI-T11",</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네이티브 공통 기반",</a:t>
            </a:r>
          </a:p>
          <a:p xmlns:a="http://schemas.openxmlformats.org/drawingml/2006/main">
            <a:r>
              <a:t>  "delta": "공식 ID·효력일·역할·업무 분류·권한 집행",</a:t>
            </a:r>
          </a:p>
          <a:p xmlns:a="http://schemas.openxmlformats.org/drawingml/2006/main">
            <a:r>
              <a:t>  "kpi": "직무 분류 정확도 / 비인가 노출 건수",</a:t>
            </a:r>
          </a:p>
          <a:p xmlns:a="http://schemas.openxmlformats.org/drawingml/2006/main">
            <a:r>
              <a:t>  "validation": "인사이동·동명이인·권한 회수·동일 요청 교차 시험",</a:t>
            </a:r>
          </a:p>
          <a:p xmlns:a="http://schemas.openxmlformats.org/drawingml/2006/main">
            <a:r>
              <a:t>  "requirement": "BM-ST-04-R01",</a:t>
            </a:r>
          </a:p>
          <a:p xmlns:a="http://schemas.openxmlformats.org/drawingml/2006/main">
            <a:r>
              <a:t>  "test": "BM-ST-04-T01",</a:t>
            </a:r>
          </a:p>
          <a:p xmlns:a="http://schemas.openxmlformats.org/drawingml/2006/main">
            <a:r>
              <a:t>  "effectStatus": "기대 방향 · TS 실측 전",</a:t>
            </a:r>
          </a:p>
          <a:p xmlns:a="http://schemas.openxmlformats.org/drawingml/2006/main">
            <a:r>
              <a:t>  "effect": "반복 맥락 입력·부서 간 오인계 감소",</a:t>
            </a:r>
          </a:p>
          <a:p xmlns:a="http://schemas.openxmlformats.org/drawingml/2006/main">
            <a:r>
              <a:t>  "reuse": "ON27-BASE / C27-COM + CCK 재사용 판정 기능",</a:t>
            </a:r>
          </a:p>
          <a:p xmlns:a="http://schemas.openxmlformats.org/drawingml/2006/main">
            <a:r>
              <a:t>  "input": "공식 직원 ID, 조직도·업무분장, 효력일, 원천 접근정책",</a:t>
            </a:r>
          </a:p>
          <a:p xmlns:a="http://schemas.openxmlformats.org/drawingml/2006/main">
            <a:r>
              <a:t>  "steps": [</a:t>
            </a:r>
          </a:p>
          <a:p xmlns:a="http://schemas.openxmlformats.org/drawingml/2006/main">
            <a:r>
              <a:t>    "로그인 ID–조직 연결",</a:t>
            </a:r>
          </a:p>
          <a:p xmlns:a="http://schemas.openxmlformats.org/drawingml/2006/main">
            <a:r>
              <a:t>    "인물·부서·직무 관계 식별",</a:t>
            </a:r>
          </a:p>
          <a:p xmlns:a="http://schemas.openxmlformats.org/drawingml/2006/main">
            <a:r>
              <a:t>    "업무 맥락·지식·서식 선택",</a:t>
            </a:r>
          </a:p>
          <a:p xmlns:a="http://schemas.openxmlformats.org/drawingml/2006/main">
            <a:r>
              <a:t>    "권한 재검증·결과 근거 기록"</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"RULEWORK-1010100-4",</a:t>
            </a:r>
          </a:p>
          <a:p xmlns:a="http://schemas.openxmlformats.org/drawingml/2006/main">
            <a:r>
              <a:t>          "text": "4. 인공지능(AI) 전환 전략 수립․조정",</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"RULEWORK-1010100-4-R01",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"RULEWORK-1010100-4-T01",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"RULEWORK-1010100-4-R02",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"RULEWORK-1010100-4-T02",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"RULEWORK-1010100-6",</a:t>
            </a:r>
          </a:p>
          <a:p xmlns:a="http://schemas.openxmlformats.org/drawingml/2006/main">
            <a:r>
              <a:t>          "text": "6. 인공지능(AI) 제도 및 지침, 윤리기준 관리",</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"RULEWORK-1010100-6-R01",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"RULEWORK-1010100-6-T01",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"RULEWORK-1010100-6-R02",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"RULEWORK-1010100-6-T02",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"RULEWORK-1019600-1",</a:t>
            </a:r>
          </a:p>
          <a:p xmlns:a="http://schemas.openxmlformats.org/drawingml/2006/main">
            <a:r>
              <a:t>          "text": "1. 인공지능(AI) 활용 서비스 구축 지원 및 성과관리",</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"RULEWORK-1019600-1-T01",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"RULEWORK-1019600-1-R02",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"RULEWORK-1019600-1-T02",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"RULEWORK-1019600-1-R03",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"RULEWORK-1019700-1",</a:t>
            </a:r>
          </a:p>
          <a:p xmlns:a="http://schemas.openxmlformats.org/drawingml/2006/main">
            <a:r>
              <a:t>          "text": "1. 인공지능(AI) 공통플랫폼 구축․운영 인공지능(AI) 모델 고도화․품질관리",</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"RULEWORK-1019700-2",</a:t>
            </a:r>
          </a:p>
          <a:p xmlns:a="http://schemas.openxmlformats.org/drawingml/2006/main">
            <a:r>
              <a:t>          "text": "2. 인공지능(AI) 시범 서비스(PoC) 추진",</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"RULEWORK-1019700-2-R01",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"RULEWORK-1019700-2-T01",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"RULEWORK-1019700-2-R02",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"RULEWORK-1019700-2-T02",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"RULEWORK-1016050-8",</a:t>
            </a:r>
          </a:p>
          <a:p xmlns:a="http://schemas.openxmlformats.org/drawingml/2006/main">
            <a:r>
              <a:t>          "text": "8. 조직 및 정원관리 총괄",</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"RULEWORK-1016050-8-R01",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"RULEWORK-1016050-8-T01",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"RULEWORK-1016050-8-R02",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"RULEWORK-1016050-8-T02",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"RULEWORK-1016050-11",</a:t>
            </a:r>
          </a:p>
          <a:p xmlns:a="http://schemas.openxmlformats.org/drawingml/2006/main">
            <a:r>
              <a:t>          "text": "9. 위임전결에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"RULEWORK-1016050-11-R01",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"RULEWORK-1016050-11-T01",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"RULEWORK-1016050-11-R02",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"RULEWORK-1016050-11-T02",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"RULEWORK-1016050-12",</a:t>
            </a:r>
          </a:p>
          <a:p xmlns:a="http://schemas.openxmlformats.org/drawingml/2006/main">
            <a:r>
              <a:t>          "text": "10. 업무분장 조정‧관리",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"RULEWORK-1016050-12-R01",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"RULEWORK-1016050-12-T01",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"RULEWORK-1016050-12-R02",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"RULEWORK-1016050-12-T02",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"RULEWORK-1018037-6",</a:t>
            </a:r>
          </a:p>
          <a:p xmlns:a="http://schemas.openxmlformats.org/drawingml/2006/main">
            <a:r>
              <a:t>          "text": "6. 인사통계자료․인사정보 관리 및 인사 관련 제증명 발급",</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"RULEWORK-1018037-6-R01",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"RULEWORK-1018037-6-T01",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"RULEWORK-1018037-6-R02",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"RULEWORK-1018037-6-T02",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"RULEWORK-1019300-13",</a:t>
            </a:r>
          </a:p>
          <a:p xmlns:a="http://schemas.openxmlformats.org/drawingml/2006/main">
            <a:r>
              <a:t>          "text": "13. 정보화사업 사전검토(과업지시서 등) 및 시스템 구축 지원(기술분야)",</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"RULEWORK-1019300-13-R01",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"RULEWORK-1019300-13-T01",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"RULEWORK-1019300-13-R02",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"RULEWORK-1019300-13-T02",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"RULEWORK-1019300-13-R03",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"RULEWORK-1019500-1",</a:t>
            </a:r>
          </a:p>
          <a:p xmlns:a="http://schemas.openxmlformats.org/drawingml/2006/main">
            <a:r>
              <a:t>          "text": "1. 정보보안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대화·검색·서식·스킬"</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"사람–조직–직무–업무 관계·효력일 모델",</a:t>
            </a:r>
          </a:p>
          <a:p xmlns:a="http://schemas.openxmlformats.org/drawingml/2006/main">
            <a:r>
              <a:t>    "업무 분류기·검색 전 정책 집행 연결"</a:t>
            </a:r>
          </a:p>
          <a:p xmlns:a="http://schemas.openxmlformats.org/drawingml/2006/main">
            <a:r>
              <a:t>  ],</a:t>
            </a:r>
          </a:p>
          <a:p xmlns:a="http://schemas.openxmlformats.org/drawingml/2006/main">
            <a:r>
              <a:t>  "acceptancePlan": {</a:t>
            </a:r>
          </a:p>
          <a:p xmlns:a="http://schemas.openxmlformats.org/drawingml/2006/main">
            <a:r>
              <a:t>    "sample": "동명이인·겸직·전보·회수 전후 동일 요청",</a:t>
            </a:r>
          </a:p>
          <a:p xmlns:a="http://schemas.openxmlformats.org/drawingml/2006/main">
            <a:r>
              <a:t>    "criterion": "정답 조직·업무·서식 일치, 모호한 식별 보류, 비인가 노출·실행 0건 기준안",</a:t>
            </a:r>
          </a:p>
          <a:p xmlns:a="http://schemas.openxmlformats.org/drawingml/2006/main">
            <a:r>
              <a:t>    "evidence": "신원 매핑 정답셋·교차권한 결과·변경 전파·복구 기록",</a:t>
            </a:r>
          </a:p>
          <a:p xmlns:a="http://schemas.openxmlformats.org/drawingml/2006/main">
            <a:r>
              <a:t>    "execution": "미실행"</a:t>
            </a:r>
          </a:p>
          <a:p xmlns:a="http://schemas.openxmlformats.org/drawingml/2006/main">
            <a:r>
              <a:t>  },</a:t>
            </a:r>
          </a:p>
          <a:p xmlns:a="http://schemas.openxmlformats.org/drawingml/2006/main">
            <a:r>
              <a:t>  "formula": "직무·업무 분류 정답 건수 ÷ 평가 건수 / 변경 전파 지연 / 비인가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"PF-R03",</a:t>
            </a:r>
          </a:p>
          <a:p xmlns:a="http://schemas.openxmlformats.org/drawingml/2006/main">
            <a:r>
              <a:t>    "PF-R04",</a:t>
            </a:r>
          </a:p>
          <a:p xmlns:a="http://schemas.openxmlformats.org/drawingml/2006/main">
            <a:r>
              <a:t>    "PF-R09",</a:t>
            </a:r>
          </a:p>
          <a:p xmlns:a="http://schemas.openxmlformats.org/drawingml/2006/main">
            <a:r>
              <a:t>    "PF01",</a:t>
            </a:r>
          </a:p>
          <a:p xmlns:a="http://schemas.openxmlformats.org/drawingml/2006/main">
            <a:r>
              <a:t>    "PF-A03",</a:t>
            </a:r>
          </a:p>
          <a:p xmlns:a="http://schemas.openxmlformats.org/drawingml/2006/main">
            <a:r>
              <a:t>    "PF04",</a:t>
            </a:r>
          </a:p>
          <a:p xmlns:a="http://schemas.openxmlformats.org/drawingml/2006/main">
            <a:r>
              <a:t>    "PF-A06",</a:t>
            </a:r>
          </a:p>
          <a:p xmlns:a="http://schemas.openxmlformats.org/drawingml/2006/main">
            <a:r>
              <a:t>    "PF05",</a:t>
            </a:r>
          </a:p>
          <a:p xmlns:a="http://schemas.openxmlformats.org/drawingml/2006/main">
            <a:r>
              <a:t>    "PF-A08",</a:t>
            </a:r>
          </a:p>
          <a:p xmlns:a="http://schemas.openxmlformats.org/drawingml/2006/main">
            <a:r>
              <a:t>    "PF06",</a:t>
            </a:r>
          </a:p>
          <a:p xmlns:a="http://schemas.openxmlformats.org/drawingml/2006/main">
            <a:r>
              <a:t>    "PF-A16",</a:t>
            </a:r>
          </a:p>
          <a:p xmlns:a="http://schemas.openxmlformats.org/drawingml/2006/main">
            <a:r>
              <a:t>    "PF-A18",</a:t>
            </a:r>
          </a:p>
          <a:p xmlns:a="http://schemas.openxmlformats.org/drawingml/2006/main">
            <a:r>
              <a:t>    "PF-C01",</a:t>
            </a:r>
          </a:p>
          <a:p xmlns:a="http://schemas.openxmlformats.org/drawingml/2006/main">
            <a:r>
              <a:t>    "PF-C02",</a:t>
            </a:r>
          </a:p>
          <a:p xmlns:a="http://schemas.openxmlformats.org/drawingml/2006/main">
            <a:r>
              <a:t>    "PF31"</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"ST-04",</a:t>
            </a:r>
          </a:p>
          <a:p xmlns:a="http://schemas.openxmlformats.org/drawingml/2006/main">
            <a:r>
              <a:t>  "number": 4,</a:t>
            </a:r>
          </a:p>
          <a:p xmlns:a="http://schemas.openxmlformats.org/drawingml/2006/main">
            <a:r>
              <a:t>  "direction": "지능형 미래 모빌리티 혁신",</a:t>
            </a:r>
          </a:p>
          <a:p xmlns:a="http://schemas.openxmlformats.org/drawingml/2006/main">
            <a:r>
              <a:t>  "strategy": "교통안전체계 인공지능 대전환",</a:t>
            </a:r>
          </a:p>
          <a:p xmlns:a="http://schemas.openxmlformats.org/drawingml/2006/main">
            <a:r>
              <a:t>  "solution": "TS 조직 네이티브 AI 공통플랫폼",</a:t>
            </a:r>
          </a:p>
          <a:p xmlns:a="http://schemas.openxmlformats.org/drawingml/2006/main">
            <a:r>
              <a:t>  "lawIds": [],</a:t>
            </a:r>
          </a:p>
          <a:p xmlns:a="http://schemas.openxmlformats.org/drawingml/2006/main">
            <a:r>
              <a:t>  "codes": [</a:t>
            </a:r>
          </a:p>
          <a:p xmlns:a="http://schemas.openxmlformats.org/drawingml/2006/main">
            <a:r>
              <a:t>    "1010100",</a:t>
            </a:r>
          </a:p>
          <a:p xmlns:a="http://schemas.openxmlformats.org/drawingml/2006/main">
            <a:r>
              <a:t>    "1019600",</a:t>
            </a:r>
          </a:p>
          <a:p xmlns:a="http://schemas.openxmlformats.org/drawingml/2006/main">
            <a:r>
              <a:t>    "1019700",</a:t>
            </a:r>
          </a:p>
          <a:p xmlns:a="http://schemas.openxmlformats.org/drawingml/2006/main">
            <a:r>
              <a:t>    "1016050",</a:t>
            </a:r>
          </a:p>
          <a:p xmlns:a="http://schemas.openxmlformats.org/drawingml/2006/main">
            <a:r>
              <a:t>    "1018037",</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"공식 조직·직무·역할 기반의 사용자 인식 및 업무 맥락 분류",</a:t>
            </a:r>
          </a:p>
          <a:p xmlns:a="http://schemas.openxmlformats.org/drawingml/2006/main">
            <a:r>
              <a:t>  "features": [</a:t>
            </a:r>
          </a:p>
          <a:p xmlns:a="http://schemas.openxmlformats.org/drawingml/2006/main">
            <a:r>
              <a:t>    "로그인 ID·조직·담당업무·효력일 매핑",</a:t>
            </a:r>
          </a:p>
          <a:p xmlns:a="http://schemas.openxmlformats.org/drawingml/2006/main">
            <a:r>
              <a:t>    "업무별 지식·절차·서식 선택과 접근정책 집행"</a:t>
            </a:r>
          </a:p>
          <a:p xmlns:a="http://schemas.openxmlformats.org/drawingml/2006/main">
            <a:r>
              <a:t>  ],</a:t>
            </a:r>
          </a:p>
          <a:p xmlns:a="http://schemas.openxmlformats.org/drawingml/2006/main">
            <a:r>
              <a:t>  "output": "조직·업무 사전·정책표·기관 인수본",</a:t>
            </a:r>
          </a:p>
          <a:p xmlns:a="http://schemas.openxmlformats.org/drawingml/2006/main">
            <a:r>
              <a:t>  "acceptance": "GAI-R01~R12와 GAI-T01~T12의 독립 인수 기준 적용",</a:t>
            </a:r>
          </a:p>
          <a:p xmlns:a="http://schemas.openxmlformats.org/drawingml/2006/main">
            <a:r>
              <a:t>  "phase": "1차 공통 기반",</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"GAI-T01",</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"GAI-T05",</a:t>
            </a:r>
          </a:p>
          <a:p xmlns:a="http://schemas.openxmlformats.org/drawingml/2006/main">
            <a:r>
              <a:t>    "GAI-T06",</a:t>
            </a:r>
          </a:p>
          <a:p xmlns:a="http://schemas.openxmlformats.org/drawingml/2006/main">
            <a:r>
              <a:t>    "GAI-T07",</a:t>
            </a:r>
          </a:p>
          <a:p xmlns:a="http://schemas.openxmlformats.org/drawingml/2006/main">
            <a:r>
              <a:t>    "GAI-T08",</a:t>
            </a:r>
          </a:p>
          <a:p xmlns:a="http://schemas.openxmlformats.org/drawingml/2006/main">
            <a:r>
              <a:t>    "GAI-T09",</a:t>
            </a:r>
          </a:p>
          <a:p xmlns:a="http://schemas.openxmlformats.org/drawingml/2006/main">
            <a:r>
              <a:t>    "GAI-T10",</a:t>
            </a:r>
          </a:p>
          <a:p xmlns:a="http://schemas.openxmlformats.org/drawingml/2006/main">
            <a:r>
              <a:t>    "GAI-T11",</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네이티브 공통 기반",</a:t>
            </a:r>
          </a:p>
          <a:p xmlns:a="http://schemas.openxmlformats.org/drawingml/2006/main">
            <a:r>
              <a:t>  "delta": "공식 ID·효력일·역할·업무 분류·권한 집행",</a:t>
            </a:r>
          </a:p>
          <a:p xmlns:a="http://schemas.openxmlformats.org/drawingml/2006/main">
            <a:r>
              <a:t>  "kpi": "직무 분류 정확도 / 비인가 노출 건수",</a:t>
            </a:r>
          </a:p>
          <a:p xmlns:a="http://schemas.openxmlformats.org/drawingml/2006/main">
            <a:r>
              <a:t>  "validation": "인사이동·동명이인·권한 회수·동일 요청 교차 시험",</a:t>
            </a:r>
          </a:p>
          <a:p xmlns:a="http://schemas.openxmlformats.org/drawingml/2006/main">
            <a:r>
              <a:t>  "requirement": "BM-ST-04-R01",</a:t>
            </a:r>
          </a:p>
          <a:p xmlns:a="http://schemas.openxmlformats.org/drawingml/2006/main">
            <a:r>
              <a:t>  "test": "BM-ST-04-T01",</a:t>
            </a:r>
          </a:p>
          <a:p xmlns:a="http://schemas.openxmlformats.org/drawingml/2006/main">
            <a:r>
              <a:t>  "effectStatus": "기대 방향 · TS 실측 전",</a:t>
            </a:r>
          </a:p>
          <a:p xmlns:a="http://schemas.openxmlformats.org/drawingml/2006/main">
            <a:r>
              <a:t>  "effect": "반복 맥락 입력·부서 간 오인계 감소",</a:t>
            </a:r>
          </a:p>
          <a:p xmlns:a="http://schemas.openxmlformats.org/drawingml/2006/main">
            <a:r>
              <a:t>  "reuse": "ON27-BASE / C27-COM + CCK 재사용 판정 기능",</a:t>
            </a:r>
          </a:p>
          <a:p xmlns:a="http://schemas.openxmlformats.org/drawingml/2006/main">
            <a:r>
              <a:t>  "input": "공식 직원 ID, 조직도·업무분장, 효력일, 원천 접근정책",</a:t>
            </a:r>
          </a:p>
          <a:p xmlns:a="http://schemas.openxmlformats.org/drawingml/2006/main">
            <a:r>
              <a:t>  "steps": [</a:t>
            </a:r>
          </a:p>
          <a:p xmlns:a="http://schemas.openxmlformats.org/drawingml/2006/main">
            <a:r>
              <a:t>    "로그인 ID–조직 연결",</a:t>
            </a:r>
          </a:p>
          <a:p xmlns:a="http://schemas.openxmlformats.org/drawingml/2006/main">
            <a:r>
              <a:t>    "인물·부서·직무 관계 식별",</a:t>
            </a:r>
          </a:p>
          <a:p xmlns:a="http://schemas.openxmlformats.org/drawingml/2006/main">
            <a:r>
              <a:t>    "업무 맥락·지식·서식 선택",</a:t>
            </a:r>
          </a:p>
          <a:p xmlns:a="http://schemas.openxmlformats.org/drawingml/2006/main">
            <a:r>
              <a:t>    "권한 재검증·결과 근거 기록"</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"RULEWORK-1010100-4",</a:t>
            </a:r>
          </a:p>
          <a:p xmlns:a="http://schemas.openxmlformats.org/drawingml/2006/main">
            <a:r>
              <a:t>          "text": "4. 인공지능(AI) 전환 전략 수립․조정",</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"RULEWORK-1010100-4-R01",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"RULEWORK-1010100-4-T01",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"RULEWORK-1010100-4-R02",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"RULEWORK-1010100-4-T02",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"RULEWORK-1010100-6",</a:t>
            </a:r>
          </a:p>
          <a:p xmlns:a="http://schemas.openxmlformats.org/drawingml/2006/main">
            <a:r>
              <a:t>          "text": "6. 인공지능(AI) 제도 및 지침, 윤리기준 관리",</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"RULEWORK-1010100-6-R01",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"RULEWORK-1010100-6-T01",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"RULEWORK-1010100-6-R02",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"RULEWORK-1010100-6-T02",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"RULEWORK-1019600-1",</a:t>
            </a:r>
          </a:p>
          <a:p xmlns:a="http://schemas.openxmlformats.org/drawingml/2006/main">
            <a:r>
              <a:t>          "text": "1. 인공지능(AI) 활용 서비스 구축 지원 및 성과관리",</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"RULEWORK-1019600-1-T01",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"RULEWORK-1019600-1-R02",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"RULEWORK-1019600-1-T02",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"RULEWORK-1019600-1-R03",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"RULEWORK-1019700-1",</a:t>
            </a:r>
          </a:p>
          <a:p xmlns:a="http://schemas.openxmlformats.org/drawingml/2006/main">
            <a:r>
              <a:t>          "text": "1. 인공지능(AI) 공통플랫폼 구축․운영 인공지능(AI) 모델 고도화․품질관리",</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"RULEWORK-1019700-2",</a:t>
            </a:r>
          </a:p>
          <a:p xmlns:a="http://schemas.openxmlformats.org/drawingml/2006/main">
            <a:r>
              <a:t>          "text": "2. 인공지능(AI) 시범 서비스(PoC) 추진",</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"RULEWORK-1019700-2-R01",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"RULEWORK-1019700-2-T01",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"RULEWORK-1019700-2-R02",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"RULEWORK-1019700-2-T02",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"RULEWORK-1016050-8",</a:t>
            </a:r>
          </a:p>
          <a:p xmlns:a="http://schemas.openxmlformats.org/drawingml/2006/main">
            <a:r>
              <a:t>          "text": "8. 조직 및 정원관리 총괄",</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"RULEWORK-1016050-8-R01",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"RULEWORK-1016050-8-T01",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"RULEWORK-1016050-8-R02",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"RULEWORK-1016050-8-T02",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"RULEWORK-1016050-11",</a:t>
            </a:r>
          </a:p>
          <a:p xmlns:a="http://schemas.openxmlformats.org/drawingml/2006/main">
            <a:r>
              <a:t>          "text": "9. 위임전결에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"RULEWORK-1016050-11-R01",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"RULEWORK-1016050-11-T01",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"RULEWORK-1016050-11-R02",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"RULEWORK-1016050-11-T02",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"RULEWORK-1016050-12",</a:t>
            </a:r>
          </a:p>
          <a:p xmlns:a="http://schemas.openxmlformats.org/drawingml/2006/main">
            <a:r>
              <a:t>          "text": "10. 업무분장 조정‧관리",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"RULEWORK-1016050-12-R01",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"RULEWORK-1016050-12-T01",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"RULEWORK-1016050-12-R02",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"RULEWORK-1016050-12-T02",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"RULEWORK-1018037-6",</a:t>
            </a:r>
          </a:p>
          <a:p xmlns:a="http://schemas.openxmlformats.org/drawingml/2006/main">
            <a:r>
              <a:t>          "text": "6. 인사통계자료․인사정보 관리 및 인사 관련 제증명 발급",</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"RULEWORK-1018037-6-R01",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"RULEWORK-1018037-6-T01",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"RULEWORK-1018037-6-R02",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"RULEWORK-1018037-6-T02",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"RULEWORK-1019300-13",</a:t>
            </a:r>
          </a:p>
          <a:p xmlns:a="http://schemas.openxmlformats.org/drawingml/2006/main">
            <a:r>
              <a:t>          "text": "13. 정보화사업 사전검토(과업지시서 등) 및 시스템 구축 지원(기술분야)",</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"RULEWORK-1019300-13-R01",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"RULEWORK-1019300-13-T01",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"RULEWORK-1019300-13-R02",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"RULEWORK-1019300-13-T02",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"RULEWORK-1019300-13-R03",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"RULEWORK-1019500-1",</a:t>
            </a:r>
          </a:p>
          <a:p xmlns:a="http://schemas.openxmlformats.org/drawingml/2006/main">
            <a:r>
              <a:t>          "text": "1. 정보보안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대화·검색·서식·스킬"</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"사람–조직–직무–업무 관계·효력일 모델",</a:t>
            </a:r>
          </a:p>
          <a:p xmlns:a="http://schemas.openxmlformats.org/drawingml/2006/main">
            <a:r>
              <a:t>    "업무 분류기·검색 전 정책 집행 연결"</a:t>
            </a:r>
          </a:p>
          <a:p xmlns:a="http://schemas.openxmlformats.org/drawingml/2006/main">
            <a:r>
              <a:t>  ],</a:t>
            </a:r>
          </a:p>
          <a:p xmlns:a="http://schemas.openxmlformats.org/drawingml/2006/main">
            <a:r>
              <a:t>  "acceptancePlan": {</a:t>
            </a:r>
          </a:p>
          <a:p xmlns:a="http://schemas.openxmlformats.org/drawingml/2006/main">
            <a:r>
              <a:t>    "sample": "동명이인·겸직·전보·회수 전후 동일 요청",</a:t>
            </a:r>
          </a:p>
          <a:p xmlns:a="http://schemas.openxmlformats.org/drawingml/2006/main">
            <a:r>
              <a:t>    "criterion": "정답 조직·업무·서식 일치, 모호한 식별 보류, 비인가 노출·실행 0건 기준안",</a:t>
            </a:r>
          </a:p>
          <a:p xmlns:a="http://schemas.openxmlformats.org/drawingml/2006/main">
            <a:r>
              <a:t>    "evidence": "신원 매핑 정답셋·교차권한 결과·변경 전파·복구 기록",</a:t>
            </a:r>
          </a:p>
          <a:p xmlns:a="http://schemas.openxmlformats.org/drawingml/2006/main">
            <a:r>
              <a:t>    "execution": "미실행"</a:t>
            </a:r>
          </a:p>
          <a:p xmlns:a="http://schemas.openxmlformats.org/drawingml/2006/main">
            <a:r>
              <a:t>  },</a:t>
            </a:r>
          </a:p>
          <a:p xmlns:a="http://schemas.openxmlformats.org/drawingml/2006/main">
            <a:r>
              <a:t>  "formula": "직무·업무 분류 정답 건수 ÷ 평가 건수 / 변경 전파 지연 / 비인가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"PF-R03",</a:t>
            </a:r>
          </a:p>
          <a:p xmlns:a="http://schemas.openxmlformats.org/drawingml/2006/main">
            <a:r>
              <a:t>    "PF-R04",</a:t>
            </a:r>
          </a:p>
          <a:p xmlns:a="http://schemas.openxmlformats.org/drawingml/2006/main">
            <a:r>
              <a:t>    "PF-R09",</a:t>
            </a:r>
          </a:p>
          <a:p xmlns:a="http://schemas.openxmlformats.org/drawingml/2006/main">
            <a:r>
              <a:t>    "PF01",</a:t>
            </a:r>
          </a:p>
          <a:p xmlns:a="http://schemas.openxmlformats.org/drawingml/2006/main">
            <a:r>
              <a:t>    "PF-A03",</a:t>
            </a:r>
          </a:p>
          <a:p xmlns:a="http://schemas.openxmlformats.org/drawingml/2006/main">
            <a:r>
              <a:t>    "PF04",</a:t>
            </a:r>
          </a:p>
          <a:p xmlns:a="http://schemas.openxmlformats.org/drawingml/2006/main">
            <a:r>
              <a:t>    "PF-A06",</a:t>
            </a:r>
          </a:p>
          <a:p xmlns:a="http://schemas.openxmlformats.org/drawingml/2006/main">
            <a:r>
              <a:t>    "PF05",</a:t>
            </a:r>
          </a:p>
          <a:p xmlns:a="http://schemas.openxmlformats.org/drawingml/2006/main">
            <a:r>
              <a:t>    "PF-A08",</a:t>
            </a:r>
          </a:p>
          <a:p xmlns:a="http://schemas.openxmlformats.org/drawingml/2006/main">
            <a:r>
              <a:t>    "PF06",</a:t>
            </a:r>
          </a:p>
          <a:p xmlns:a="http://schemas.openxmlformats.org/drawingml/2006/main">
            <a:r>
              <a:t>    "PF-A16",</a:t>
            </a:r>
          </a:p>
          <a:p xmlns:a="http://schemas.openxmlformats.org/drawingml/2006/main">
            <a:r>
              <a:t>    "PF-A18",</a:t>
            </a:r>
          </a:p>
          <a:p xmlns:a="http://schemas.openxmlformats.org/drawingml/2006/main">
            <a:r>
              <a:t>    "PF-C01",</a:t>
            </a:r>
          </a:p>
          <a:p xmlns:a="http://schemas.openxmlformats.org/drawingml/2006/main">
            <a:r>
              <a:t>    "PF-C02",</a:t>
            </a:r>
          </a:p>
          <a:p xmlns:a="http://schemas.openxmlformats.org/drawingml/2006/main">
            <a:r>
              <a:t>    "PF31"</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"ST-04",</a:t>
            </a:r>
          </a:p>
          <a:p xmlns:a="http://schemas.openxmlformats.org/drawingml/2006/main">
            <a:r>
              <a:t>  "number": 4,</a:t>
            </a:r>
          </a:p>
          <a:p xmlns:a="http://schemas.openxmlformats.org/drawingml/2006/main">
            <a:r>
              <a:t>  "direction": "지능형 미래 모빌리티 혁신",</a:t>
            </a:r>
          </a:p>
          <a:p xmlns:a="http://schemas.openxmlformats.org/drawingml/2006/main">
            <a:r>
              <a:t>  "strategy": "교통안전체계 인공지능 대전환",</a:t>
            </a:r>
          </a:p>
          <a:p xmlns:a="http://schemas.openxmlformats.org/drawingml/2006/main">
            <a:r>
              <a:t>  "solution": "TS 조직 네이티브 AI 공통플랫폼",</a:t>
            </a:r>
          </a:p>
          <a:p xmlns:a="http://schemas.openxmlformats.org/drawingml/2006/main">
            <a:r>
              <a:t>  "lawIds": [],</a:t>
            </a:r>
          </a:p>
          <a:p xmlns:a="http://schemas.openxmlformats.org/drawingml/2006/main">
            <a:r>
              <a:t>  "codes": [</a:t>
            </a:r>
          </a:p>
          <a:p xmlns:a="http://schemas.openxmlformats.org/drawingml/2006/main">
            <a:r>
              <a:t>    "1010100",</a:t>
            </a:r>
          </a:p>
          <a:p xmlns:a="http://schemas.openxmlformats.org/drawingml/2006/main">
            <a:r>
              <a:t>    "1019600",</a:t>
            </a:r>
          </a:p>
          <a:p xmlns:a="http://schemas.openxmlformats.org/drawingml/2006/main">
            <a:r>
              <a:t>    "1019700",</a:t>
            </a:r>
          </a:p>
          <a:p xmlns:a="http://schemas.openxmlformats.org/drawingml/2006/main">
            <a:r>
              <a:t>    "1016050",</a:t>
            </a:r>
          </a:p>
          <a:p xmlns:a="http://schemas.openxmlformats.org/drawingml/2006/main">
            <a:r>
              <a:t>    "1018037",</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"공식 조직·직무·역할 기반의 사용자 인식 및 업무 맥락 분류",</a:t>
            </a:r>
          </a:p>
          <a:p xmlns:a="http://schemas.openxmlformats.org/drawingml/2006/main">
            <a:r>
              <a:t>  "features": [</a:t>
            </a:r>
          </a:p>
          <a:p xmlns:a="http://schemas.openxmlformats.org/drawingml/2006/main">
            <a:r>
              <a:t>    "로그인 ID·조직·담당업무·효력일 매핑",</a:t>
            </a:r>
          </a:p>
          <a:p xmlns:a="http://schemas.openxmlformats.org/drawingml/2006/main">
            <a:r>
              <a:t>    "업무별 지식·절차·서식 선택과 접근정책 집행"</a:t>
            </a:r>
          </a:p>
          <a:p xmlns:a="http://schemas.openxmlformats.org/drawingml/2006/main">
            <a:r>
              <a:t>  ],</a:t>
            </a:r>
          </a:p>
          <a:p xmlns:a="http://schemas.openxmlformats.org/drawingml/2006/main">
            <a:r>
              <a:t>  "output": "조직·업무 사전·정책표·기관 인수본",</a:t>
            </a:r>
          </a:p>
          <a:p xmlns:a="http://schemas.openxmlformats.org/drawingml/2006/main">
            <a:r>
              <a:t>  "acceptance": "GAI-R01~R12와 GAI-T01~T12의 독립 인수 기준 적용",</a:t>
            </a:r>
          </a:p>
          <a:p xmlns:a="http://schemas.openxmlformats.org/drawingml/2006/main">
            <a:r>
              <a:t>  "phase": "1차 공통 기반",</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"GAI-T01",</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"GAI-T05",</a:t>
            </a:r>
          </a:p>
          <a:p xmlns:a="http://schemas.openxmlformats.org/drawingml/2006/main">
            <a:r>
              <a:t>    "GAI-T06",</a:t>
            </a:r>
          </a:p>
          <a:p xmlns:a="http://schemas.openxmlformats.org/drawingml/2006/main">
            <a:r>
              <a:t>    "GAI-T07",</a:t>
            </a:r>
          </a:p>
          <a:p xmlns:a="http://schemas.openxmlformats.org/drawingml/2006/main">
            <a:r>
              <a:t>    "GAI-T08",</a:t>
            </a:r>
          </a:p>
          <a:p xmlns:a="http://schemas.openxmlformats.org/drawingml/2006/main">
            <a:r>
              <a:t>    "GAI-T09",</a:t>
            </a:r>
          </a:p>
          <a:p xmlns:a="http://schemas.openxmlformats.org/drawingml/2006/main">
            <a:r>
              <a:t>    "GAI-T10",</a:t>
            </a:r>
          </a:p>
          <a:p xmlns:a="http://schemas.openxmlformats.org/drawingml/2006/main">
            <a:r>
              <a:t>    "GAI-T11",</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네이티브 공통 기반",</a:t>
            </a:r>
          </a:p>
          <a:p xmlns:a="http://schemas.openxmlformats.org/drawingml/2006/main">
            <a:r>
              <a:t>  "delta": "공식 ID·효력일·역할·업무 분류·권한 집행",</a:t>
            </a:r>
          </a:p>
          <a:p xmlns:a="http://schemas.openxmlformats.org/drawingml/2006/main">
            <a:r>
              <a:t>  "kpi": "직무 분류 정확도 / 비인가 노출 건수",</a:t>
            </a:r>
          </a:p>
          <a:p xmlns:a="http://schemas.openxmlformats.org/drawingml/2006/main">
            <a:r>
              <a:t>  "validation": "인사이동·동명이인·권한 회수·동일 요청 교차 시험",</a:t>
            </a:r>
          </a:p>
          <a:p xmlns:a="http://schemas.openxmlformats.org/drawingml/2006/main">
            <a:r>
              <a:t>  "requirement": "BM-ST-04-R01",</a:t>
            </a:r>
          </a:p>
          <a:p xmlns:a="http://schemas.openxmlformats.org/drawingml/2006/main">
            <a:r>
              <a:t>  "test": "BM-ST-04-T01",</a:t>
            </a:r>
          </a:p>
          <a:p xmlns:a="http://schemas.openxmlformats.org/drawingml/2006/main">
            <a:r>
              <a:t>  "effectStatus": "기대 방향 · TS 실측 전",</a:t>
            </a:r>
          </a:p>
          <a:p xmlns:a="http://schemas.openxmlformats.org/drawingml/2006/main">
            <a:r>
              <a:t>  "effect": "반복 맥락 입력·부서 간 오인계 감소",</a:t>
            </a:r>
          </a:p>
          <a:p xmlns:a="http://schemas.openxmlformats.org/drawingml/2006/main">
            <a:r>
              <a:t>  "reuse": "ON27-BASE / C27-COM + CCK 재사용 판정 기능",</a:t>
            </a:r>
          </a:p>
          <a:p xmlns:a="http://schemas.openxmlformats.org/drawingml/2006/main">
            <a:r>
              <a:t>  "input": "공식 직원 ID, 조직도·업무분장, 효력일, 원천 접근정책",</a:t>
            </a:r>
          </a:p>
          <a:p xmlns:a="http://schemas.openxmlformats.org/drawingml/2006/main">
            <a:r>
              <a:t>  "steps": [</a:t>
            </a:r>
          </a:p>
          <a:p xmlns:a="http://schemas.openxmlformats.org/drawingml/2006/main">
            <a:r>
              <a:t>    "로그인 ID–조직 연결",</a:t>
            </a:r>
          </a:p>
          <a:p xmlns:a="http://schemas.openxmlformats.org/drawingml/2006/main">
            <a:r>
              <a:t>    "인물·부서·직무 관계 식별",</a:t>
            </a:r>
          </a:p>
          <a:p xmlns:a="http://schemas.openxmlformats.org/drawingml/2006/main">
            <a:r>
              <a:t>    "업무 맥락·지식·서식 선택",</a:t>
            </a:r>
          </a:p>
          <a:p xmlns:a="http://schemas.openxmlformats.org/drawingml/2006/main">
            <a:r>
              <a:t>    "권한 재검증·결과 근거 기록"</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"RULEWORK-1010100-4",</a:t>
            </a:r>
          </a:p>
          <a:p xmlns:a="http://schemas.openxmlformats.org/drawingml/2006/main">
            <a:r>
              <a:t>          "text": "4. 인공지능(AI) 전환 전략 수립․조정",</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"RULEWORK-1010100-4-R01",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"RULEWORK-1010100-4-T01",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"RULEWORK-1010100-4-R02",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"RULEWORK-1010100-4-T02",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"RULEWORK-1010100-6",</a:t>
            </a:r>
          </a:p>
          <a:p xmlns:a="http://schemas.openxmlformats.org/drawingml/2006/main">
            <a:r>
              <a:t>          "text": "6. 인공지능(AI) 제도 및 지침, 윤리기준 관리",</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"RULEWORK-1010100-6-R01",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"RULEWORK-1010100-6-T01",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"RULEWORK-1010100-6-R02",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"RULEWORK-1010100-6-T02",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"RULEWORK-1019600-1",</a:t>
            </a:r>
          </a:p>
          <a:p xmlns:a="http://schemas.openxmlformats.org/drawingml/2006/main">
            <a:r>
              <a:t>          "text": "1. 인공지능(AI) 활용 서비스 구축 지원 및 성과관리",</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"RULEWORK-1019600-1-T01",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"RULEWORK-1019600-1-R02",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"RULEWORK-1019600-1-T02",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"RULEWORK-1019600-1-R03",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"RULEWORK-1019700-1",</a:t>
            </a:r>
          </a:p>
          <a:p xmlns:a="http://schemas.openxmlformats.org/drawingml/2006/main">
            <a:r>
              <a:t>          "text": "1. 인공지능(AI) 공통플랫폼 구축․운영 인공지능(AI) 모델 고도화․품질관리",</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"RULEWORK-1019700-2",</a:t>
            </a:r>
          </a:p>
          <a:p xmlns:a="http://schemas.openxmlformats.org/drawingml/2006/main">
            <a:r>
              <a:t>          "text": "2. 인공지능(AI) 시범 서비스(PoC) 추진",</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"RULEWORK-1019700-2-R01",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"RULEWORK-1019700-2-T01",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"RULEWORK-1019700-2-R02",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"RULEWORK-1019700-2-T02",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"RULEWORK-1016050-8",</a:t>
            </a:r>
          </a:p>
          <a:p xmlns:a="http://schemas.openxmlformats.org/drawingml/2006/main">
            <a:r>
              <a:t>          "text": "8. 조직 및 정원관리 총괄",</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"RULEWORK-1016050-8-R01",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"RULEWORK-1016050-8-T01",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"RULEWORK-1016050-8-R02",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"RULEWORK-1016050-8-T02",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"RULEWORK-1016050-11",</a:t>
            </a:r>
          </a:p>
          <a:p xmlns:a="http://schemas.openxmlformats.org/drawingml/2006/main">
            <a:r>
              <a:t>          "text": "9. 위임전결에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"RULEWORK-1016050-11-R01",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"RULEWORK-1016050-11-T01",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"RULEWORK-1016050-11-R02",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"RULEWORK-1016050-11-T02",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"RULEWORK-1016050-12",</a:t>
            </a:r>
          </a:p>
          <a:p xmlns:a="http://schemas.openxmlformats.org/drawingml/2006/main">
            <a:r>
              <a:t>          "text": "10. 업무분장 조정‧관리",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"RULEWORK-1016050-12-R01",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"RULEWORK-1016050-12-T01",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"RULEWORK-1016050-12-R02",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"RULEWORK-1016050-12-T02",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"RULEWORK-1018037-6",</a:t>
            </a:r>
          </a:p>
          <a:p xmlns:a="http://schemas.openxmlformats.org/drawingml/2006/main">
            <a:r>
              <a:t>          "text": "6. 인사통계자료․인사정보 관리 및 인사 관련 제증명 발급",</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"RULEWORK-1018037-6-R01",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"RULEWORK-1018037-6-T01",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"RULEWORK-1018037-6-R02",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"RULEWORK-1018037-6-T02",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"RULEWORK-1019300-13",</a:t>
            </a:r>
          </a:p>
          <a:p xmlns:a="http://schemas.openxmlformats.org/drawingml/2006/main">
            <a:r>
              <a:t>          "text": "13. 정보화사업 사전검토(과업지시서 등) 및 시스템 구축 지원(기술분야)",</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"RULEWORK-1019300-13-R01",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"RULEWORK-1019300-13-T01",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"RULEWORK-1019300-13-R02",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"RULEWORK-1019300-13-T02",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"RULEWORK-1019300-13-R03",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"RULEWORK-1019500-1",</a:t>
            </a:r>
          </a:p>
          <a:p xmlns:a="http://schemas.openxmlformats.org/drawingml/2006/main">
            <a:r>
              <a:t>          "text": "1. 정보보안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대화·검색·서식·스킬"</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"사람–조직–직무–업무 관계·효력일 모델",</a:t>
            </a:r>
          </a:p>
          <a:p xmlns:a="http://schemas.openxmlformats.org/drawingml/2006/main">
            <a:r>
              <a:t>    "업무 분류기·검색 전 정책 집행 연결"</a:t>
            </a:r>
          </a:p>
          <a:p xmlns:a="http://schemas.openxmlformats.org/drawingml/2006/main">
            <a:r>
              <a:t>  ],</a:t>
            </a:r>
          </a:p>
          <a:p xmlns:a="http://schemas.openxmlformats.org/drawingml/2006/main">
            <a:r>
              <a:t>  "acceptancePlan": {</a:t>
            </a:r>
          </a:p>
          <a:p xmlns:a="http://schemas.openxmlformats.org/drawingml/2006/main">
            <a:r>
              <a:t>    "sample": "동명이인·겸직·전보·회수 전후 동일 요청",</a:t>
            </a:r>
          </a:p>
          <a:p xmlns:a="http://schemas.openxmlformats.org/drawingml/2006/main">
            <a:r>
              <a:t>    "criterion": "정답 조직·업무·서식 일치, 모호한 식별 보류, 비인가 노출·실행 0건 기준안",</a:t>
            </a:r>
          </a:p>
          <a:p xmlns:a="http://schemas.openxmlformats.org/drawingml/2006/main">
            <a:r>
              <a:t>    "evidence": "신원 매핑 정답셋·교차권한 결과·변경 전파·복구 기록",</a:t>
            </a:r>
          </a:p>
          <a:p xmlns:a="http://schemas.openxmlformats.org/drawingml/2006/main">
            <a:r>
              <a:t>    "execution": "미실행"</a:t>
            </a:r>
          </a:p>
          <a:p xmlns:a="http://schemas.openxmlformats.org/drawingml/2006/main">
            <a:r>
              <a:t>  },</a:t>
            </a:r>
          </a:p>
          <a:p xmlns:a="http://schemas.openxmlformats.org/drawingml/2006/main">
            <a:r>
              <a:t>  "formula": "직무·업무 분류 정답 건수 ÷ 평가 건수 / 변경 전파 지연 / 비인가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"PF-R03",</a:t>
            </a:r>
          </a:p>
          <a:p xmlns:a="http://schemas.openxmlformats.org/drawingml/2006/main">
            <a:r>
              <a:t>    "PF-R04",</a:t>
            </a:r>
          </a:p>
          <a:p xmlns:a="http://schemas.openxmlformats.org/drawingml/2006/main">
            <a:r>
              <a:t>    "PF-R09",</a:t>
            </a:r>
          </a:p>
          <a:p xmlns:a="http://schemas.openxmlformats.org/drawingml/2006/main">
            <a:r>
              <a:t>    "PF01",</a:t>
            </a:r>
          </a:p>
          <a:p xmlns:a="http://schemas.openxmlformats.org/drawingml/2006/main">
            <a:r>
              <a:t>    "PF-A03",</a:t>
            </a:r>
          </a:p>
          <a:p xmlns:a="http://schemas.openxmlformats.org/drawingml/2006/main">
            <a:r>
              <a:t>    "PF04",</a:t>
            </a:r>
          </a:p>
          <a:p xmlns:a="http://schemas.openxmlformats.org/drawingml/2006/main">
            <a:r>
              <a:t>    "PF-A06",</a:t>
            </a:r>
          </a:p>
          <a:p xmlns:a="http://schemas.openxmlformats.org/drawingml/2006/main">
            <a:r>
              <a:t>    "PF05",</a:t>
            </a:r>
          </a:p>
          <a:p xmlns:a="http://schemas.openxmlformats.org/drawingml/2006/main">
            <a:r>
              <a:t>    "PF-A08",</a:t>
            </a:r>
          </a:p>
          <a:p xmlns:a="http://schemas.openxmlformats.org/drawingml/2006/main">
            <a:r>
              <a:t>    "PF06",</a:t>
            </a:r>
          </a:p>
          <a:p xmlns:a="http://schemas.openxmlformats.org/drawingml/2006/main">
            <a:r>
              <a:t>    "PF-A16",</a:t>
            </a:r>
          </a:p>
          <a:p xmlns:a="http://schemas.openxmlformats.org/drawingml/2006/main">
            <a:r>
              <a:t>    "PF-A18",</a:t>
            </a:r>
          </a:p>
          <a:p xmlns:a="http://schemas.openxmlformats.org/drawingml/2006/main">
            <a:r>
              <a:t>    "PF-C01",</a:t>
            </a:r>
          </a:p>
          <a:p xmlns:a="http://schemas.openxmlformats.org/drawingml/2006/main">
            <a:r>
              <a:t>    "PF-C02",</a:t>
            </a:r>
          </a:p>
          <a:p xmlns:a="http://schemas.openxmlformats.org/drawingml/2006/main">
            <a:r>
              <a:t>    "PF31"</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"ST-05",</a:t>
            </a:r>
          </a:p>
          <a:p xmlns:a="http://schemas.openxmlformats.org/drawingml/2006/main">
            <a:r>
              <a:t>  "number": 5,</a:t>
            </a:r>
          </a:p>
          <a:p xmlns:a="http://schemas.openxmlformats.org/drawingml/2006/main">
            <a:r>
              <a:t>  "direction": "지능형 미래 모빌리티 혁신",</a:t>
            </a:r>
          </a:p>
          <a:p xmlns:a="http://schemas.openxmlformats.org/drawingml/2006/main">
            <a:r>
              <a:t>  "strategy": "K-AI 기반 안전한 미래 모빌리티 실현",</a:t>
            </a:r>
          </a:p>
          <a:p xmlns:a="http://schemas.openxmlformats.org/drawingml/2006/main">
            <a:r>
              <a:t>  "solution": "미래 모빌리티 검증·실증 지원",</a:t>
            </a:r>
          </a:p>
          <a:p xmlns:a="http://schemas.openxmlformats.org/drawingml/2006/main">
            <a:r>
              <a:t>  "lawIds": [</a:t>
            </a:r>
          </a:p>
          <a:p xmlns:a="http://schemas.openxmlformats.org/drawingml/2006/main">
            <a:r>
              <a:t>    "L09",</a:t>
            </a:r>
          </a:p>
          <a:p xmlns:a="http://schemas.openxmlformats.org/drawingml/2006/main">
            <a:r>
              <a:t>    "L18",</a:t>
            </a:r>
          </a:p>
          <a:p xmlns:a="http://schemas.openxmlformats.org/drawingml/2006/main">
            <a:r>
              <a:t>    "L19",</a:t>
            </a:r>
          </a:p>
          <a:p xmlns:a="http://schemas.openxmlformats.org/drawingml/2006/main">
            <a:r>
              <a:t>    "L27"</a:t>
            </a:r>
          </a:p>
          <a:p xmlns:a="http://schemas.openxmlformats.org/drawingml/2006/main">
            <a:r>
              <a:t>  ],</a:t>
            </a:r>
          </a:p>
          <a:p xmlns:a="http://schemas.openxmlformats.org/drawingml/2006/main">
            <a:r>
              <a:t>  "codes": [</a:t>
            </a:r>
          </a:p>
          <a:p xmlns:a="http://schemas.openxmlformats.org/drawingml/2006/main">
            <a:r>
              <a:t>    "7000000",</a:t>
            </a:r>
          </a:p>
          <a:p xmlns:a="http://schemas.openxmlformats.org/drawingml/2006/main">
            <a:r>
              <a:t>    "1029020",</a:t>
            </a:r>
          </a:p>
          <a:p xmlns:a="http://schemas.openxmlformats.org/drawingml/2006/main">
            <a:r>
              <a:t>    "1021020",</a:t>
            </a:r>
          </a:p>
          <a:p xmlns:a="http://schemas.openxmlformats.org/drawingml/2006/main">
            <a:r>
              <a:t>    "1021030",</a:t>
            </a:r>
          </a:p>
          <a:p xmlns:a="http://schemas.openxmlformats.org/drawingml/2006/main">
            <a:r>
              <a:t>    "1211290"</a:t>
            </a:r>
          </a:p>
          <a:p xmlns:a="http://schemas.openxmlformats.org/drawingml/2006/main">
            <a:r>
              <a:t>  ],</a:t>
            </a:r>
          </a:p>
          <a:p xmlns:a="http://schemas.openxmlformats.org/drawingml/2006/main">
            <a:r>
              <a:t>  "work": "미래차·드론·모빌리티 실증의 기준·시험·검토 업무",</a:t>
            </a:r>
          </a:p>
          <a:p xmlns:a="http://schemas.openxmlformats.org/drawingml/2006/main">
            <a:r>
              <a:t>  "features": [</a:t>
            </a:r>
          </a:p>
          <a:p xmlns:a="http://schemas.openxmlformats.org/drawingml/2006/main">
            <a:r>
              <a:t>    "기술유형별 요구조건·시험계획·증빙 구조화",</a:t>
            </a:r>
          </a:p>
          <a:p xmlns:a="http://schemas.openxmlformats.org/drawingml/2006/main">
            <a:r>
              <a:t>    "조건 변경에 따른 검증 항목 재구성"</a:t>
            </a:r>
          </a:p>
          <a:p xmlns:a="http://schemas.openxmlformats.org/drawingml/2006/main">
            <a:r>
              <a:t>  ],</a:t>
            </a:r>
          </a:p>
          <a:p xmlns:a="http://schemas.openxmlformats.org/drawingml/2006/main">
            <a:r>
              <a:t>  "output": "시험·실증 근거 패키지",</a:t>
            </a:r>
          </a:p>
          <a:p xmlns:a="http://schemas.openxmlformats.org/drawingml/2006/main">
            <a:r>
              <a:t>  "acceptance": "요구조건–시험–증거 추적과 변경 후 재검토 여부 확인",</a:t>
            </a:r>
          </a:p>
          <a:p xmlns:a="http://schemas.openxmlformats.org/drawingml/2006/main">
            <a:r>
              <a:t>  "phase": "공통 기반 인수 후 부서별 적용",</a:t>
            </a:r>
          </a:p>
          <a:p xmlns:a="http://schemas.openxmlformats.org/drawingml/2006/main">
            <a:r>
              <a:t>  "packages": [</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"GAI-T06",</a:t>
            </a:r>
          </a:p>
          <a:p xmlns:a="http://schemas.openxmlformats.org/drawingml/2006/main">
            <a:r>
              <a:t>    "GAI-T09",</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"미래차 안전 연구·평가",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a:t>
            </a:r>
          </a:p>
          <a:p xmlns:a="http://schemas.openxmlformats.org/drawingml/2006/main">
            <a:r>
              <a:t>    {</a:t>
            </a:r>
          </a:p>
          <a:p xmlns:a="http://schemas.openxmlformats.org/drawingml/2006/main">
            <a:r>
              <a:t>      "code": "1029020",</a:t>
            </a:r>
          </a:p>
          <a:p xmlns:a="http://schemas.openxmlformats.org/drawingml/2006/main">
            <a:r>
              <a:t>      "name": "첨단연구개발처",</a:t>
            </a:r>
          </a:p>
          <a:p xmlns:a="http://schemas.openxmlformats.org/drawingml/2006/main">
            <a:r>
              <a:t>      "job": "미래차 검사기술 연구",</a:t>
            </a:r>
          </a:p>
          <a:p xmlns:a="http://schemas.openxmlformats.org/drawingml/2006/main">
            <a:r>
              <a:t>      "indices": [</a:t>
            </a:r>
          </a:p>
          <a:p xmlns:a="http://schemas.openxmlformats.org/drawingml/2006/main">
            <a:r>
              <a:t>        4,</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"5. 검사기준 및 검사방법 개발에 관한 업무",</a:t>
            </a:r>
          </a:p>
          <a:p xmlns:a="http://schemas.openxmlformats.org/drawingml/2006/main">
            <a:r>
              <a:t>        "8. 자율주행자동차 등 검사기술 개발"</a:t>
            </a:r>
          </a:p>
          <a:p xmlns:a="http://schemas.openxmlformats.org/drawingml/2006/main">
            <a:r>
              <a:t>      ],</a:t>
            </a:r>
          </a:p>
          <a:p xmlns:a="http://schemas.openxmlformats.org/drawingml/2006/main">
            <a:r>
              <a:t>      "locator": "별표4 · T43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"실증특례 접수·승인 지원",</a:t>
            </a:r>
          </a:p>
          <a:p xmlns:a="http://schemas.openxmlformats.org/drawingml/2006/main">
            <a:r>
              <a:t>      "indices": [</a:t>
            </a:r>
          </a:p>
          <a:p xmlns:a="http://schemas.openxmlformats.org/drawingml/2006/main">
            <a:r>
              <a:t>        1,</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"8. 실증특례 통합검토위원회 구성, 운영"</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"특화도시·시범사업 지원",</a:t>
            </a:r>
          </a:p>
          <a:p xmlns:a="http://schemas.openxmlformats.org/drawingml/2006/main">
            <a:r>
              <a:t>      "indices": [</a:t>
            </a:r>
          </a:p>
          <a:p xmlns:a="http://schemas.openxmlformats.org/drawingml/2006/main">
            <a:r>
              <a:t>        0,</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"6. 첨단모빌리티 시범사업과 대상지역 지정요청 접수"</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"1211290",</a:t>
            </a:r>
          </a:p>
          <a:p xmlns:a="http://schemas.openxmlformats.org/drawingml/2006/main">
            <a:r>
              <a:t>      "name": "드론관리처",</a:t>
            </a:r>
          </a:p>
          <a:p xmlns:a="http://schemas.openxmlformats.org/drawingml/2006/main">
            <a:r>
              <a:t>      "job": "드론 안전관리·연구",</a:t>
            </a:r>
          </a:p>
          <a:p xmlns:a="http://schemas.openxmlformats.org/drawingml/2006/main">
            <a:r>
              <a:t>      "indices": [</a:t>
            </a:r>
          </a:p>
          <a:p xmlns:a="http://schemas.openxmlformats.org/drawingml/2006/main">
            <a:r>
              <a:t>        1,</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"2. 초경량비행장치 사용사업체 안전관리 및 지도점검",</a:t>
            </a:r>
          </a:p>
          <a:p xmlns:a="http://schemas.openxmlformats.org/drawingml/2006/main">
            <a:r>
              <a:t>        "5. 무인비행장치(드론) 관련 신규사업 개발 및 안전연구(UTM, 안티드론, 드론택시․택배 등)"</a:t>
            </a:r>
          </a:p>
          <a:p xmlns:a="http://schemas.openxmlformats.org/drawingml/2006/main">
            <a:r>
              <a:t>      ],</a:t>
            </a:r>
          </a:p>
          <a:p xmlns:a="http://schemas.openxmlformats.org/drawingml/2006/main">
            <a:r>
              <a:t>      "locator": "별표4 · T45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 원장의 결함조사·실증·드론 신고 업무 활용 / 시험·인증 권한과 연구원 세부 직제의 별도 확인",</a:t>
            </a:r>
          </a:p>
          <a:p xmlns:a="http://schemas.openxmlformats.org/drawingml/2006/main">
            <a:r>
              <a:t>  "caseRefs": [</a:t>
            </a:r>
          </a:p>
          <a:p xmlns:a="http://schemas.openxmlformats.org/drawingml/2006/main">
            <a:r>
              <a:t>    {</a:t>
            </a:r>
          </a:p>
          <a:p xmlns:a="http://schemas.openxmlformats.org/drawingml/2006/main">
            <a:r>
              <a:t>      "caseId": "AX08",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"모빌리티 실증 증거·안전 검증",</a:t>
            </a:r>
          </a:p>
          <a:p xmlns:a="http://schemas.openxmlformats.org/drawingml/2006/main">
            <a:r>
              <a:t>  "delta": "실증 데이터·시험조건·사건 보고의 근거 연결",</a:t>
            </a:r>
          </a:p>
          <a:p xmlns:a="http://schemas.openxmlformats.org/drawingml/2006/main">
            <a:r>
              <a:t>  "kpi": "시험 증거 누락률 / 재현 성공률",</a:t>
            </a:r>
          </a:p>
          <a:p xmlns:a="http://schemas.openxmlformats.org/drawingml/2006/main">
            <a:r>
              <a:t>  "validation": "실증 조건·원시 로그·보고서 불일치 탐지",</a:t>
            </a:r>
          </a:p>
          <a:p xmlns:a="http://schemas.openxmlformats.org/drawingml/2006/main">
            <a:r>
              <a:t>  "requirement": "BM-ST-05-R01",</a:t>
            </a:r>
          </a:p>
          <a:p xmlns:a="http://schemas.openxmlformats.org/drawingml/2006/main">
            <a:r>
              <a:t>  "test": "BM-ST-05-T01",</a:t>
            </a:r>
          </a:p>
          <a:p xmlns:a="http://schemas.openxmlformats.org/drawingml/2006/main">
            <a:r>
              <a:t>  "effectStatus": "기대 방향 · TS 실측 전",</a:t>
            </a:r>
          </a:p>
          <a:p xmlns:a="http://schemas.openxmlformats.org/drawingml/2006/main">
            <a:r>
              <a:t>  "effect": "실증 검토 재작업·시험 증거 누락 감소",</a:t>
            </a:r>
          </a:p>
          <a:p xmlns:a="http://schemas.openxmlformats.org/drawingml/2006/main">
            <a:r>
              <a:t>  "reuse": "ON27-BASE / C27-COM + CCK 재사용 판정 기능",</a:t>
            </a:r>
          </a:p>
          <a:p xmlns:a="http://schemas.openxmlformats.org/drawingml/2006/main">
            <a:r>
              <a:t>  "input": "실증계획, 기술유형·운행조건, 시험결과, 사고 원시자료",</a:t>
            </a:r>
          </a:p>
          <a:p xmlns:a="http://schemas.openxmlformats.org/drawingml/2006/main">
            <a:r>
              <a:t>  "steps": [</a:t>
            </a:r>
          </a:p>
          <a:p xmlns:a="http://schemas.openxmlformats.org/drawingml/2006/main">
            <a:r>
              <a:t>    "기술·실증조건 분류",</a:t>
            </a:r>
          </a:p>
          <a:p xmlns:a="http://schemas.openxmlformats.org/drawingml/2006/main">
            <a:r>
              <a:t>    "요구조건–시험 연결",</a:t>
            </a:r>
          </a:p>
          <a:p xmlns:a="http://schemas.openxmlformats.org/drawingml/2006/main">
            <a:r>
              <a:t>    "결과·증거 완전성 점검",</a:t>
            </a:r>
          </a:p>
          <a:p xmlns:a="http://schemas.openxmlformats.org/drawingml/2006/main">
            <a:r>
              <a:t>    "조건 변경 후 재검토"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"미래차 안전 연구·평가",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"workItems": []</a:t>
            </a:r>
          </a:p>
          <a:p xmlns:a="http://schemas.openxmlformats.org/drawingml/2006/main">
            <a:r>
              <a:t>    },</a:t>
            </a:r>
          </a:p>
          <a:p xmlns:a="http://schemas.openxmlformats.org/drawingml/2006/main">
            <a:r>
              <a:t>    {</a:t>
            </a:r>
          </a:p>
          <a:p xmlns:a="http://schemas.openxmlformats.org/drawingml/2006/main">
            <a:r>
              <a:t>      "code": "1029020",</a:t>
            </a:r>
          </a:p>
          <a:p xmlns:a="http://schemas.openxmlformats.org/drawingml/2006/main">
            <a:r>
              <a:t>      "name": "첨단연구개발처",</a:t>
            </a:r>
          </a:p>
          <a:p xmlns:a="http://schemas.openxmlformats.org/drawingml/2006/main">
            <a:r>
              <a:t>      "job": "미래차 검사기술 연구",</a:t>
            </a:r>
          </a:p>
          <a:p xmlns:a="http://schemas.openxmlformats.org/drawingml/2006/main">
            <a:r>
              <a:t>      "indices": [</a:t>
            </a:r>
          </a:p>
          <a:p xmlns:a="http://schemas.openxmlformats.org/drawingml/2006/main">
            <a:r>
              <a:t>        4,</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"5. 검사기준 및 검사방법 개발에 관한 업무",</a:t>
            </a:r>
          </a:p>
          <a:p xmlns:a="http://schemas.openxmlformats.org/drawingml/2006/main">
            <a:r>
              <a:t>        "8. 자율주행자동차 등 검사기술 개발"</a:t>
            </a:r>
          </a:p>
          <a:p xmlns:a="http://schemas.openxmlformats.org/drawingml/2006/main">
            <a:r>
              <a:t>      ],</a:t>
            </a:r>
          </a:p>
          <a:p xmlns:a="http://schemas.openxmlformats.org/drawingml/2006/main">
            <a:r>
              <a:t>      "locator": "별표4 · T43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"RULEWORK-1029020-5",</a:t>
            </a:r>
          </a:p>
          <a:p xmlns:a="http://schemas.openxmlformats.org/drawingml/2006/main">
            <a:r>
              <a:t>          "text": "5. 검사기준 및 검사방법 개발에 관한 업무",</a:t>
            </a:r>
          </a:p>
          <a:p xmlns:a="http://schemas.openxmlformats.org/drawingml/2006/main">
            <a:r>
              <a:t>          "locator": "별표4 · T43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"RULEWORK-1029020-5-R01",</a:t>
            </a:r>
          </a:p>
          <a:p xmlns:a="http://schemas.openxmlformats.org/drawingml/2006/main">
            <a:r>
              <a:t>              "title": "업무 맥락·전용 지식 구성",</a:t>
            </a:r>
          </a:p>
          <a:p xmlns:a="http://schemas.openxmlformats.org/drawingml/2006/main">
            <a:r>
              <a:t>              "development": "연구대상·가설·기준별 근거·시험항목 구성",</a:t>
            </a:r>
          </a:p>
          <a:p xmlns:a="http://schemas.openxmlformats.org/drawingml/2006/main">
            <a:r>
              <a:t>              "output": "기술 검토·시험 근거·연구 추적표",</a:t>
            </a:r>
          </a:p>
          <a:p xmlns:a="http://schemas.openxmlformats.org/drawingml/2006/main">
            <a:r>
              <a:t>              "testId": "RULEWORK-1029020-5-T01",</a:t>
            </a:r>
          </a:p>
          <a:p xmlns:a="http://schemas.openxmlformats.org/drawingml/2006/main">
            <a:r>
              <a:t>              "criterion": "인용 원문·시험 조건·계산·단위 대조"</a:t>
            </a:r>
          </a:p>
          <a:p xmlns:a="http://schemas.openxmlformats.org/drawingml/2006/main">
            <a:r>
              <a:t>            },</a:t>
            </a:r>
          </a:p>
          <a:p xmlns:a="http://schemas.openxmlformats.org/drawingml/2006/main">
            <a:r>
              <a:t>            {</a:t>
            </a:r>
          </a:p>
          <a:p xmlns:a="http://schemas.openxmlformats.org/drawingml/2006/main">
            <a:r>
              <a:t>              "id": "RULEWORK-1029020-5-R02",</a:t>
            </a:r>
          </a:p>
          <a:p xmlns:a="http://schemas.openxmlformats.org/drawingml/2006/main">
            <a:r>
              <a:t>              "title": "업무건·역할·시스템 연결",</a:t>
            </a:r>
          </a:p>
          <a:p xmlns:a="http://schemas.openxmlformats.org/drawingml/2006/main">
            <a:r>
              <a:t>              "development": "과제·실증 조건·시험자료·판본 추적",</a:t>
            </a:r>
          </a:p>
          <a:p xmlns:a="http://schemas.openxmlformats.org/drawingml/2006/main">
            <a:r>
              <a:t>              "output": "업무건·원천·역할·변경 연결 명세",</a:t>
            </a:r>
          </a:p>
          <a:p xmlns:a="http://schemas.openxmlformats.org/drawingml/2006/main">
            <a:r>
              <a:t>              "testId": "RULEWORK-1029020-5-T02",</a:t>
            </a:r>
          </a:p>
          <a:p xmlns:a="http://schemas.openxmlformats.org/drawingml/2006/main">
            <a:r>
              <a:t>              "criterion": "실험 미수행 결과·근거 없는 성능 확정 차단"</a:t>
            </a:r>
          </a:p>
          <a:p xmlns:a="http://schemas.openxmlformats.org/drawingml/2006/main">
            <a:r>
              <a:t>            },</a:t>
            </a:r>
          </a:p>
          <a:p xmlns:a="http://schemas.openxmlformats.org/drawingml/2006/main">
            <a:r>
              <a:t>            {</a:t>
            </a:r>
          </a:p>
          <a:p xmlns:a="http://schemas.openxmlformats.org/drawingml/2006/main">
            <a:r>
              <a:t>              "id": "RULEWORK-1029020-5-R03",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"RULEWORK-1029020-5-T03",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"RULEWORK-1029020-8",</a:t>
            </a:r>
          </a:p>
          <a:p xmlns:a="http://schemas.openxmlformats.org/drawingml/2006/main">
            <a:r>
              <a:t>          "text": "8. 자율주행자동차 등 검사기술 개발",</a:t>
            </a:r>
          </a:p>
          <a:p xmlns:a="http://schemas.openxmlformats.org/drawingml/2006/main">
            <a:r>
              <a:t>          "locator": "별표4 · T43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"RULEWORK-1029020-8-R01",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"RULEWORK-1029020-8-T01",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"RULEWORK-1029020-8-R02",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"RULEWORK-1029020-8-T02",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"RULEWORK-1029020-8-R03",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"RULEWORK-1029020-8-T03",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"실증특례 접수·승인 지원",</a:t>
            </a:r>
          </a:p>
          <a:p xmlns:a="http://schemas.openxmlformats.org/drawingml/2006/main">
            <a:r>
              <a:t>      "indices": [</a:t>
            </a:r>
          </a:p>
          <a:p xmlns:a="http://schemas.openxmlformats.org/drawingml/2006/main">
            <a:r>
              <a:t>        1,</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"8. 실증특례 통합검토위원회 구성, 운영"</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"RULEWORK-1021020-2",</a:t>
            </a:r>
          </a:p>
          <a:p xmlns:a="http://schemas.openxmlformats.org/drawingml/2006/main">
            <a:r>
              <a:t>          "text": "2. 모빌리티 실증특례 접수 및 승인 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"RULEWORK-1021020-8",</a:t>
            </a:r>
          </a:p>
          <a:p xmlns:a="http://schemas.openxmlformats.org/drawingml/2006/main">
            <a:r>
              <a:t>          "text": "8. 실증특례 통합검토위원회 구성, 운영",</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"RULEWORK-1021020-8-R01",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"RULEWORK-1021020-8-T01",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"RULEWORK-1021020-8-R02",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"RULEWORK-1021020-8-T02",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"특화도시·시범사업 지원",</a:t>
            </a:r>
          </a:p>
          <a:p xmlns:a="http://schemas.openxmlformats.org/drawingml/2006/main">
            <a:r>
              <a:t>      "indices": [</a:t>
            </a:r>
          </a:p>
          <a:p xmlns:a="http://schemas.openxmlformats.org/drawingml/2006/main">
            <a:r>
              <a:t>        0,</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"6. 첨단모빌리티 시범사업과 대상지역 지정요청 접수"</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"RULEWORK-1021030-1",</a:t>
            </a:r>
          </a:p>
          <a:p xmlns:a="http://schemas.openxmlformats.org/drawingml/2006/main">
            <a:r>
              <a:t>          "text": "1. 모빌리티 특화도시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"RULEWORK-1021030-1-T01",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"RULEWORK-1021030-1-R02",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"RULEWORK-1021030-1-T02",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"RULEWORK-1021030-6",</a:t>
            </a:r>
          </a:p>
          <a:p xmlns:a="http://schemas.openxmlformats.org/drawingml/2006/main">
            <a:r>
              <a:t>          "text": "6. 첨단모빌리티 시범사업과 대상지역 지정요청 접수",</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"RULEWORK-1021030-6-R01",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"RULEWORK-1021030-6-T01",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"RULEWORK-1021030-6-R02",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"RULEWORK-1021030-6-T02",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"1211290",</a:t>
            </a:r>
          </a:p>
          <a:p xmlns:a="http://schemas.openxmlformats.org/drawingml/2006/main">
            <a:r>
              <a:t>      "name": "드론관리처",</a:t>
            </a:r>
          </a:p>
          <a:p xmlns:a="http://schemas.openxmlformats.org/drawingml/2006/main">
            <a:r>
              <a:t>      "job": "드론 안전관리·연구",</a:t>
            </a:r>
          </a:p>
          <a:p xmlns:a="http://schemas.openxmlformats.org/drawingml/2006/main">
            <a:r>
              <a:t>      "indices": [</a:t>
            </a:r>
          </a:p>
          <a:p xmlns:a="http://schemas.openxmlformats.org/drawingml/2006/main">
            <a:r>
              <a:t>        1,</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"2. 초경량비행장치 사용사업체 안전관리 및 지도점검",</a:t>
            </a:r>
          </a:p>
          <a:p xmlns:a="http://schemas.openxmlformats.org/drawingml/2006/main">
            <a:r>
              <a:t>        "5. 무인비행장치(드론) 관련 신규사업 개발 및 안전연구(UTM, 안티드론, 드론택시․택배 등)"</a:t>
            </a:r>
          </a:p>
          <a:p xmlns:a="http://schemas.openxmlformats.org/drawingml/2006/main">
            <a:r>
              <a:t>      ],</a:t>
            </a:r>
          </a:p>
          <a:p xmlns:a="http://schemas.openxmlformats.org/drawingml/2006/main">
            <a:r>
              <a:t>      "locator": "별표4 · T45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"RULEWORK-1211290-2",</a:t>
            </a:r>
          </a:p>
          <a:p xmlns:a="http://schemas.openxmlformats.org/drawingml/2006/main">
            <a:r>
              <a:t>          "text": "2. 초경량비행장치 사용사업체 안전관리 및 지도점검",</a:t>
            </a:r>
          </a:p>
          <a:p xmlns:a="http://schemas.openxmlformats.org/drawingml/2006/main">
            <a:r>
              <a:t>          "locator": "별표4 · T45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"RULEWORK-1211290-2-R01",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"RULEWORK-1211290-2-T01",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"RULEWORK-1211290-2-R02",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"RULEWORK-1211290-2-T02",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"RULEWORK-1211290-2-R03",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"RULEWORK-1211290-2-T03",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"RULEWORK-1211290-5",</a:t>
            </a:r>
          </a:p>
          <a:p xmlns:a="http://schemas.openxmlformats.org/drawingml/2006/main">
            <a:r>
              <a:t>          "text": "5. 무인비행장치(드론) 관련 신규사업 개발 및 안전연구(UTM, 안티드론, 드론택시․택배 등)",</a:t>
            </a:r>
          </a:p>
          <a:p xmlns:a="http://schemas.openxmlformats.org/drawingml/2006/main">
            <a:r>
              <a:t>          "locator": "별표4 · T45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"RULEWORK-1211290-5-R01",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"RULEWORK-1211290-5-T01",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"RULEWORK-1211290-5-R02",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"RULEWORK-1211290-5-T02",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"RULEWORK-1211290-5-R03",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"RULEWORK-1211290-5-T03",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기술 기준 검색"</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"JET·Audin의 구조화 검토·증거 대사"</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"실증조건–요구조건–시험 ID 연결",</a:t>
            </a:r>
          </a:p>
          <a:p xmlns:a="http://schemas.openxmlformats.org/drawingml/2006/main">
            <a:r>
              <a:t>    "조건 변경 영향·재검증 목록"</a:t>
            </a:r>
          </a:p>
          <a:p xmlns:a="http://schemas.openxmlformats.org/drawingml/2006/main">
            <a:r>
              <a:t>  ],</a:t>
            </a:r>
          </a:p>
          <a:p xmlns:a="http://schemas.openxmlformats.org/drawingml/2006/main">
            <a:r>
              <a:t>  "acceptancePlan": {</a:t>
            </a:r>
          </a:p>
          <a:p xmlns:a="http://schemas.openxmlformats.org/drawingml/2006/main">
            <a:r>
              <a:t>    "sample": "운행조건 변경, 로그 누락, 시험판본 불일치",</a:t>
            </a:r>
          </a:p>
          <a:p xmlns:a="http://schemas.openxmlformats.org/drawingml/2006/main">
            <a:r>
              <a:t>    "criterion": "변경 영향 시험 재선정·증거 미비 보류",</a:t>
            </a:r>
          </a:p>
          <a:p xmlns:a="http://schemas.openxmlformats.org/drawingml/2006/main">
            <a:r>
              <a:t>    "evidence": "요구–시험–증거 추적표·재검증 결과",</a:t>
            </a:r>
          </a:p>
          <a:p xmlns:a="http://schemas.openxmlformats.org/drawingml/2006/main">
            <a:r>
              <a:t>    "execution": "미실행"</a:t>
            </a:r>
          </a:p>
          <a:p xmlns:a="http://schemas.openxmlformats.org/drawingml/2006/main">
            <a:r>
              <a:t>  },</a:t>
            </a:r>
          </a:p>
          <a:p xmlns:a="http://schemas.openxmlformats.org/drawingml/2006/main">
            <a:r>
              <a:t>  "formula": "증거 연결 완료 시험 수 ÷ 대상 시험 수 / 변경 후 재검토 소요시간",</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"ST-05",</a:t>
            </a:r>
          </a:p>
          <a:p xmlns:a="http://schemas.openxmlformats.org/drawingml/2006/main">
            <a:r>
              <a:t>  "number": 5,</a:t>
            </a:r>
          </a:p>
          <a:p xmlns:a="http://schemas.openxmlformats.org/drawingml/2006/main">
            <a:r>
              <a:t>  "direction": "지능형 미래 모빌리티 혁신",</a:t>
            </a:r>
          </a:p>
          <a:p xmlns:a="http://schemas.openxmlformats.org/drawingml/2006/main">
            <a:r>
              <a:t>  "strategy": "K-AI 기반 안전한 미래 모빌리티 실현",</a:t>
            </a:r>
          </a:p>
          <a:p xmlns:a="http://schemas.openxmlformats.org/drawingml/2006/main">
            <a:r>
              <a:t>  "solution": "미래 모빌리티 검증·실증 지원",</a:t>
            </a:r>
          </a:p>
          <a:p xmlns:a="http://schemas.openxmlformats.org/drawingml/2006/main">
            <a:r>
              <a:t>  "lawIds": [</a:t>
            </a:r>
          </a:p>
          <a:p xmlns:a="http://schemas.openxmlformats.org/drawingml/2006/main">
            <a:r>
              <a:t>    "L09",</a:t>
            </a:r>
          </a:p>
          <a:p xmlns:a="http://schemas.openxmlformats.org/drawingml/2006/main">
            <a:r>
              <a:t>    "L18",</a:t>
            </a:r>
          </a:p>
          <a:p xmlns:a="http://schemas.openxmlformats.org/drawingml/2006/main">
            <a:r>
              <a:t>    "L19",</a:t>
            </a:r>
          </a:p>
          <a:p xmlns:a="http://schemas.openxmlformats.org/drawingml/2006/main">
            <a:r>
              <a:t>    "L27"</a:t>
            </a:r>
          </a:p>
          <a:p xmlns:a="http://schemas.openxmlformats.org/drawingml/2006/main">
            <a:r>
              <a:t>  ],</a:t>
            </a:r>
          </a:p>
          <a:p xmlns:a="http://schemas.openxmlformats.org/drawingml/2006/main">
            <a:r>
              <a:t>  "codes": [</a:t>
            </a:r>
          </a:p>
          <a:p xmlns:a="http://schemas.openxmlformats.org/drawingml/2006/main">
            <a:r>
              <a:t>    "7000000",</a:t>
            </a:r>
          </a:p>
          <a:p xmlns:a="http://schemas.openxmlformats.org/drawingml/2006/main">
            <a:r>
              <a:t>    "1029020",</a:t>
            </a:r>
          </a:p>
          <a:p xmlns:a="http://schemas.openxmlformats.org/drawingml/2006/main">
            <a:r>
              <a:t>    "1021020",</a:t>
            </a:r>
          </a:p>
          <a:p xmlns:a="http://schemas.openxmlformats.org/drawingml/2006/main">
            <a:r>
              <a:t>    "1021030",</a:t>
            </a:r>
          </a:p>
          <a:p xmlns:a="http://schemas.openxmlformats.org/drawingml/2006/main">
            <a:r>
              <a:t>    "1211290"</a:t>
            </a:r>
          </a:p>
          <a:p xmlns:a="http://schemas.openxmlformats.org/drawingml/2006/main">
            <a:r>
              <a:t>  ],</a:t>
            </a:r>
          </a:p>
          <a:p xmlns:a="http://schemas.openxmlformats.org/drawingml/2006/main">
            <a:r>
              <a:t>  "work": "미래차·드론·모빌리티 실증의 기준·시험·검토 업무",</a:t>
            </a:r>
          </a:p>
          <a:p xmlns:a="http://schemas.openxmlformats.org/drawingml/2006/main">
            <a:r>
              <a:t>  "features": [</a:t>
            </a:r>
          </a:p>
          <a:p xmlns:a="http://schemas.openxmlformats.org/drawingml/2006/main">
            <a:r>
              <a:t>    "기술유형별 요구조건·시험계획·증빙 구조화",</a:t>
            </a:r>
          </a:p>
          <a:p xmlns:a="http://schemas.openxmlformats.org/drawingml/2006/main">
            <a:r>
              <a:t>    "조건 변경에 따른 검증 항목 재구성"</a:t>
            </a:r>
          </a:p>
          <a:p xmlns:a="http://schemas.openxmlformats.org/drawingml/2006/main">
            <a:r>
              <a:t>  ],</a:t>
            </a:r>
          </a:p>
          <a:p xmlns:a="http://schemas.openxmlformats.org/drawingml/2006/main">
            <a:r>
              <a:t>  "output": "시험·실증 근거 패키지",</a:t>
            </a:r>
          </a:p>
          <a:p xmlns:a="http://schemas.openxmlformats.org/drawingml/2006/main">
            <a:r>
              <a:t>  "acceptance": "요구조건–시험–증거 추적과 변경 후 재검토 여부 확인",</a:t>
            </a:r>
          </a:p>
          <a:p xmlns:a="http://schemas.openxmlformats.org/drawingml/2006/main">
            <a:r>
              <a:t>  "phase": "공통 기반 인수 후 부서별 적용",</a:t>
            </a:r>
          </a:p>
          <a:p xmlns:a="http://schemas.openxmlformats.org/drawingml/2006/main">
            <a:r>
              <a:t>  "packages": [</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"GAI-T06",</a:t>
            </a:r>
          </a:p>
          <a:p xmlns:a="http://schemas.openxmlformats.org/drawingml/2006/main">
            <a:r>
              <a:t>    "GAI-T09",</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"미래차 안전 연구·평가",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a:t>
            </a:r>
          </a:p>
          <a:p xmlns:a="http://schemas.openxmlformats.org/drawingml/2006/main">
            <a:r>
              <a:t>    {</a:t>
            </a:r>
          </a:p>
          <a:p xmlns:a="http://schemas.openxmlformats.org/drawingml/2006/main">
            <a:r>
              <a:t>      "code": "1029020",</a:t>
            </a:r>
          </a:p>
          <a:p xmlns:a="http://schemas.openxmlformats.org/drawingml/2006/main">
            <a:r>
              <a:t>      "name": "첨단연구개발처",</a:t>
            </a:r>
          </a:p>
          <a:p xmlns:a="http://schemas.openxmlformats.org/drawingml/2006/main">
            <a:r>
              <a:t>      "job": "미래차 검사기술 연구",</a:t>
            </a:r>
          </a:p>
          <a:p xmlns:a="http://schemas.openxmlformats.org/drawingml/2006/main">
            <a:r>
              <a:t>      "indices": [</a:t>
            </a:r>
          </a:p>
          <a:p xmlns:a="http://schemas.openxmlformats.org/drawingml/2006/main">
            <a:r>
              <a:t>        4,</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"5. 검사기준 및 검사방법 개발에 관한 업무",</a:t>
            </a:r>
          </a:p>
          <a:p xmlns:a="http://schemas.openxmlformats.org/drawingml/2006/main">
            <a:r>
              <a:t>        "8. 자율주행자동차 등 검사기술 개발"</a:t>
            </a:r>
          </a:p>
          <a:p xmlns:a="http://schemas.openxmlformats.org/drawingml/2006/main">
            <a:r>
              <a:t>      ],</a:t>
            </a:r>
          </a:p>
          <a:p xmlns:a="http://schemas.openxmlformats.org/drawingml/2006/main">
            <a:r>
              <a:t>      "locator": "별표4 · T43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"실증특례 접수·승인 지원",</a:t>
            </a:r>
          </a:p>
          <a:p xmlns:a="http://schemas.openxmlformats.org/drawingml/2006/main">
            <a:r>
              <a:t>      "indices": [</a:t>
            </a:r>
          </a:p>
          <a:p xmlns:a="http://schemas.openxmlformats.org/drawingml/2006/main">
            <a:r>
              <a:t>        1,</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"8. 실증특례 통합검토위원회 구성, 운영"</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"특화도시·시범사업 지원",</a:t>
            </a:r>
          </a:p>
          <a:p xmlns:a="http://schemas.openxmlformats.org/drawingml/2006/main">
            <a:r>
              <a:t>      "indices": [</a:t>
            </a:r>
          </a:p>
          <a:p xmlns:a="http://schemas.openxmlformats.org/drawingml/2006/main">
            <a:r>
              <a:t>        0,</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"6. 첨단모빌리티 시범사업과 대상지역 지정요청 접수"</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"1211290",</a:t>
            </a:r>
          </a:p>
          <a:p xmlns:a="http://schemas.openxmlformats.org/drawingml/2006/main">
            <a:r>
              <a:t>      "name": "드론관리처",</a:t>
            </a:r>
          </a:p>
          <a:p xmlns:a="http://schemas.openxmlformats.org/drawingml/2006/main">
            <a:r>
              <a:t>      "job": "드론 안전관리·연구",</a:t>
            </a:r>
          </a:p>
          <a:p xmlns:a="http://schemas.openxmlformats.org/drawingml/2006/main">
            <a:r>
              <a:t>      "indices": [</a:t>
            </a:r>
          </a:p>
          <a:p xmlns:a="http://schemas.openxmlformats.org/drawingml/2006/main">
            <a:r>
              <a:t>        1,</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"2. 초경량비행장치 사용사업체 안전관리 및 지도점검",</a:t>
            </a:r>
          </a:p>
          <a:p xmlns:a="http://schemas.openxmlformats.org/drawingml/2006/main">
            <a:r>
              <a:t>        "5. 무인비행장치(드론) 관련 신규사업 개발 및 안전연구(UTM, 안티드론, 드론택시․택배 등)"</a:t>
            </a:r>
          </a:p>
          <a:p xmlns:a="http://schemas.openxmlformats.org/drawingml/2006/main">
            <a:r>
              <a:t>      ],</a:t>
            </a:r>
          </a:p>
          <a:p xmlns:a="http://schemas.openxmlformats.org/drawingml/2006/main">
            <a:r>
              <a:t>      "locator": "별표4 · T45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 원장의 결함조사·실증·드론 신고 업무 활용 / 시험·인증 권한과 연구원 세부 직제의 별도 확인",</a:t>
            </a:r>
          </a:p>
          <a:p xmlns:a="http://schemas.openxmlformats.org/drawingml/2006/main">
            <a:r>
              <a:t>  "caseRefs": [</a:t>
            </a:r>
          </a:p>
          <a:p xmlns:a="http://schemas.openxmlformats.org/drawingml/2006/main">
            <a:r>
              <a:t>    {</a:t>
            </a:r>
          </a:p>
          <a:p xmlns:a="http://schemas.openxmlformats.org/drawingml/2006/main">
            <a:r>
              <a:t>      "caseId": "AX08",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"모빌리티 실증 증거·안전 검증",</a:t>
            </a:r>
          </a:p>
          <a:p xmlns:a="http://schemas.openxmlformats.org/drawingml/2006/main">
            <a:r>
              <a:t>  "delta": "실증 데이터·시험조건·사건 보고의 근거 연결",</a:t>
            </a:r>
          </a:p>
          <a:p xmlns:a="http://schemas.openxmlformats.org/drawingml/2006/main">
            <a:r>
              <a:t>  "kpi": "시험 증거 누락률 / 재현 성공률",</a:t>
            </a:r>
          </a:p>
          <a:p xmlns:a="http://schemas.openxmlformats.org/drawingml/2006/main">
            <a:r>
              <a:t>  "validation": "실증 조건·원시 로그·보고서 불일치 탐지",</a:t>
            </a:r>
          </a:p>
          <a:p xmlns:a="http://schemas.openxmlformats.org/drawingml/2006/main">
            <a:r>
              <a:t>  "requirement": "BM-ST-05-R01",</a:t>
            </a:r>
          </a:p>
          <a:p xmlns:a="http://schemas.openxmlformats.org/drawingml/2006/main">
            <a:r>
              <a:t>  "test": "BM-ST-05-T01",</a:t>
            </a:r>
          </a:p>
          <a:p xmlns:a="http://schemas.openxmlformats.org/drawingml/2006/main">
            <a:r>
              <a:t>  "effectStatus": "기대 방향 · TS 실측 전",</a:t>
            </a:r>
          </a:p>
          <a:p xmlns:a="http://schemas.openxmlformats.org/drawingml/2006/main">
            <a:r>
              <a:t>  "effect": "실증 검토 재작업·시험 증거 누락 감소",</a:t>
            </a:r>
          </a:p>
          <a:p xmlns:a="http://schemas.openxmlformats.org/drawingml/2006/main">
            <a:r>
              <a:t>  "reuse": "ON27-BASE / C27-COM + CCK 재사용 판정 기능",</a:t>
            </a:r>
          </a:p>
          <a:p xmlns:a="http://schemas.openxmlformats.org/drawingml/2006/main">
            <a:r>
              <a:t>  "input": "실증계획, 기술유형·운행조건, 시험결과, 사고 원시자료",</a:t>
            </a:r>
          </a:p>
          <a:p xmlns:a="http://schemas.openxmlformats.org/drawingml/2006/main">
            <a:r>
              <a:t>  "steps": [</a:t>
            </a:r>
          </a:p>
          <a:p xmlns:a="http://schemas.openxmlformats.org/drawingml/2006/main">
            <a:r>
              <a:t>    "기술·실증조건 분류",</a:t>
            </a:r>
          </a:p>
          <a:p xmlns:a="http://schemas.openxmlformats.org/drawingml/2006/main">
            <a:r>
              <a:t>    "요구조건–시험 연결",</a:t>
            </a:r>
          </a:p>
          <a:p xmlns:a="http://schemas.openxmlformats.org/drawingml/2006/main">
            <a:r>
              <a:t>    "결과·증거 완전성 점검",</a:t>
            </a:r>
          </a:p>
          <a:p xmlns:a="http://schemas.openxmlformats.org/drawingml/2006/main">
            <a:r>
              <a:t>    "조건 변경 후 재검토"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"미래차 안전 연구·평가",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"workItems": []</a:t>
            </a:r>
          </a:p>
          <a:p xmlns:a="http://schemas.openxmlformats.org/drawingml/2006/main">
            <a:r>
              <a:t>    },</a:t>
            </a:r>
          </a:p>
          <a:p xmlns:a="http://schemas.openxmlformats.org/drawingml/2006/main">
            <a:r>
              <a:t>    {</a:t>
            </a:r>
          </a:p>
          <a:p xmlns:a="http://schemas.openxmlformats.org/drawingml/2006/main">
            <a:r>
              <a:t>      "code": "1029020",</a:t>
            </a:r>
          </a:p>
          <a:p xmlns:a="http://schemas.openxmlformats.org/drawingml/2006/main">
            <a:r>
              <a:t>      "name": "첨단연구개발처",</a:t>
            </a:r>
          </a:p>
          <a:p xmlns:a="http://schemas.openxmlformats.org/drawingml/2006/main">
            <a:r>
              <a:t>      "job": "미래차 검사기술 연구",</a:t>
            </a:r>
          </a:p>
          <a:p xmlns:a="http://schemas.openxmlformats.org/drawingml/2006/main">
            <a:r>
              <a:t>      "indices": [</a:t>
            </a:r>
          </a:p>
          <a:p xmlns:a="http://schemas.openxmlformats.org/drawingml/2006/main">
            <a:r>
              <a:t>        4,</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"5. 검사기준 및 검사방법 개발에 관한 업무",</a:t>
            </a:r>
          </a:p>
          <a:p xmlns:a="http://schemas.openxmlformats.org/drawingml/2006/main">
            <a:r>
              <a:t>        "8. 자율주행자동차 등 검사기술 개발"</a:t>
            </a:r>
          </a:p>
          <a:p xmlns:a="http://schemas.openxmlformats.org/drawingml/2006/main">
            <a:r>
              <a:t>      ],</a:t>
            </a:r>
          </a:p>
          <a:p xmlns:a="http://schemas.openxmlformats.org/drawingml/2006/main">
            <a:r>
              <a:t>      "locator": "별표4 · T43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"RULEWORK-1029020-5",</a:t>
            </a:r>
          </a:p>
          <a:p xmlns:a="http://schemas.openxmlformats.org/drawingml/2006/main">
            <a:r>
              <a:t>          "text": "5. 검사기준 및 검사방법 개발에 관한 업무",</a:t>
            </a:r>
          </a:p>
          <a:p xmlns:a="http://schemas.openxmlformats.org/drawingml/2006/main">
            <a:r>
              <a:t>          "locator": "별표4 · T43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"RULEWORK-1029020-5-R01",</a:t>
            </a:r>
          </a:p>
          <a:p xmlns:a="http://schemas.openxmlformats.org/drawingml/2006/main">
            <a:r>
              <a:t>              "title": "업무 맥락·전용 지식 구성",</a:t>
            </a:r>
          </a:p>
          <a:p xmlns:a="http://schemas.openxmlformats.org/drawingml/2006/main">
            <a:r>
              <a:t>              "development": "연구대상·가설·기준별 근거·시험항목 구성",</a:t>
            </a:r>
          </a:p>
          <a:p xmlns:a="http://schemas.openxmlformats.org/drawingml/2006/main">
            <a:r>
              <a:t>              "output": "기술 검토·시험 근거·연구 추적표",</a:t>
            </a:r>
          </a:p>
          <a:p xmlns:a="http://schemas.openxmlformats.org/drawingml/2006/main">
            <a:r>
              <a:t>              "testId": "RULEWORK-1029020-5-T01",</a:t>
            </a:r>
          </a:p>
          <a:p xmlns:a="http://schemas.openxmlformats.org/drawingml/2006/main">
            <a:r>
              <a:t>              "criterion": "인용 원문·시험 조건·계산·단위 대조"</a:t>
            </a:r>
          </a:p>
          <a:p xmlns:a="http://schemas.openxmlformats.org/drawingml/2006/main">
            <a:r>
              <a:t>            },</a:t>
            </a:r>
          </a:p>
          <a:p xmlns:a="http://schemas.openxmlformats.org/drawingml/2006/main">
            <a:r>
              <a:t>            {</a:t>
            </a:r>
          </a:p>
          <a:p xmlns:a="http://schemas.openxmlformats.org/drawingml/2006/main">
            <a:r>
              <a:t>              "id": "RULEWORK-1029020-5-R02",</a:t>
            </a:r>
          </a:p>
          <a:p xmlns:a="http://schemas.openxmlformats.org/drawingml/2006/main">
            <a:r>
              <a:t>              "title": "업무건·역할·시스템 연결",</a:t>
            </a:r>
          </a:p>
          <a:p xmlns:a="http://schemas.openxmlformats.org/drawingml/2006/main">
            <a:r>
              <a:t>              "development": "과제·실증 조건·시험자료·판본 추적",</a:t>
            </a:r>
          </a:p>
          <a:p xmlns:a="http://schemas.openxmlformats.org/drawingml/2006/main">
            <a:r>
              <a:t>              "output": "업무건·원천·역할·변경 연결 명세",</a:t>
            </a:r>
          </a:p>
          <a:p xmlns:a="http://schemas.openxmlformats.org/drawingml/2006/main">
            <a:r>
              <a:t>              "testId": "RULEWORK-1029020-5-T02",</a:t>
            </a:r>
          </a:p>
          <a:p xmlns:a="http://schemas.openxmlformats.org/drawingml/2006/main">
            <a:r>
              <a:t>              "criterion": "실험 미수행 결과·근거 없는 성능 확정 차단"</a:t>
            </a:r>
          </a:p>
          <a:p xmlns:a="http://schemas.openxmlformats.org/drawingml/2006/main">
            <a:r>
              <a:t>            },</a:t>
            </a:r>
          </a:p>
          <a:p xmlns:a="http://schemas.openxmlformats.org/drawingml/2006/main">
            <a:r>
              <a:t>            {</a:t>
            </a:r>
          </a:p>
          <a:p xmlns:a="http://schemas.openxmlformats.org/drawingml/2006/main">
            <a:r>
              <a:t>              "id": "RULEWORK-1029020-5-R03",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"RULEWORK-1029020-5-T03",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"RULEWORK-1029020-8",</a:t>
            </a:r>
          </a:p>
          <a:p xmlns:a="http://schemas.openxmlformats.org/drawingml/2006/main">
            <a:r>
              <a:t>          "text": "8. 자율주행자동차 등 검사기술 개발",</a:t>
            </a:r>
          </a:p>
          <a:p xmlns:a="http://schemas.openxmlformats.org/drawingml/2006/main">
            <a:r>
              <a:t>          "locator": "별표4 · T43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"RULEWORK-1029020-8-R01",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"RULEWORK-1029020-8-T01",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"RULEWORK-1029020-8-R02",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"RULEWORK-1029020-8-T02",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"RULEWORK-1029020-8-R03",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"RULEWORK-1029020-8-T03",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"실증특례 접수·승인 지원",</a:t>
            </a:r>
          </a:p>
          <a:p xmlns:a="http://schemas.openxmlformats.org/drawingml/2006/main">
            <a:r>
              <a:t>      "indices": [</a:t>
            </a:r>
          </a:p>
          <a:p xmlns:a="http://schemas.openxmlformats.org/drawingml/2006/main">
            <a:r>
              <a:t>        1,</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"8. 실증특례 통합검토위원회 구성, 운영"</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"RULEWORK-1021020-2",</a:t>
            </a:r>
          </a:p>
          <a:p xmlns:a="http://schemas.openxmlformats.org/drawingml/2006/main">
            <a:r>
              <a:t>          "text": "2. 모빌리티 실증특례 접수 및 승인 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"RULEWORK-1021020-8",</a:t>
            </a:r>
          </a:p>
          <a:p xmlns:a="http://schemas.openxmlformats.org/drawingml/2006/main">
            <a:r>
              <a:t>          "text": "8. 실증특례 통합검토위원회 구성, 운영",</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"RULEWORK-1021020-8-R01",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"RULEWORK-1021020-8-T01",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"RULEWORK-1021020-8-R02",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"RULEWORK-1021020-8-T02",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"특화도시·시범사업 지원",</a:t>
            </a:r>
          </a:p>
          <a:p xmlns:a="http://schemas.openxmlformats.org/drawingml/2006/main">
            <a:r>
              <a:t>      "indices": [</a:t>
            </a:r>
          </a:p>
          <a:p xmlns:a="http://schemas.openxmlformats.org/drawingml/2006/main">
            <a:r>
              <a:t>        0,</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"6. 첨단모빌리티 시범사업과 대상지역 지정요청 접수"</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"RULEWORK-1021030-1",</a:t>
            </a:r>
          </a:p>
          <a:p xmlns:a="http://schemas.openxmlformats.org/drawingml/2006/main">
            <a:r>
              <a:t>          "text": "1. 모빌리티 특화도시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"RULEWORK-1021030-1-T01",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"RULEWORK-1021030-1-R02",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"RULEWORK-1021030-1-T02",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"RULEWORK-1021030-6",</a:t>
            </a:r>
          </a:p>
          <a:p xmlns:a="http://schemas.openxmlformats.org/drawingml/2006/main">
            <a:r>
              <a:t>          "text": "6. 첨단모빌리티 시범사업과 대상지역 지정요청 접수",</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"RULEWORK-1021030-6-R01",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"RULEWORK-1021030-6-T01",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"RULEWORK-1021030-6-R02",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"RULEWORK-1021030-6-T02",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"1211290",</a:t>
            </a:r>
          </a:p>
          <a:p xmlns:a="http://schemas.openxmlformats.org/drawingml/2006/main">
            <a:r>
              <a:t>      "name": "드론관리처",</a:t>
            </a:r>
          </a:p>
          <a:p xmlns:a="http://schemas.openxmlformats.org/drawingml/2006/main">
            <a:r>
              <a:t>      "job": "드론 안전관리·연구",</a:t>
            </a:r>
          </a:p>
          <a:p xmlns:a="http://schemas.openxmlformats.org/drawingml/2006/main">
            <a:r>
              <a:t>      "indices": [</a:t>
            </a:r>
          </a:p>
          <a:p xmlns:a="http://schemas.openxmlformats.org/drawingml/2006/main">
            <a:r>
              <a:t>        1,</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"2. 초경량비행장치 사용사업체 안전관리 및 지도점검",</a:t>
            </a:r>
          </a:p>
          <a:p xmlns:a="http://schemas.openxmlformats.org/drawingml/2006/main">
            <a:r>
              <a:t>        "5. 무인비행장치(드론) 관련 신규사업 개발 및 안전연구(UTM, 안티드론, 드론택시․택배 등)"</a:t>
            </a:r>
          </a:p>
          <a:p xmlns:a="http://schemas.openxmlformats.org/drawingml/2006/main">
            <a:r>
              <a:t>      ],</a:t>
            </a:r>
          </a:p>
          <a:p xmlns:a="http://schemas.openxmlformats.org/drawingml/2006/main">
            <a:r>
              <a:t>      "locator": "별표4 · T45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"RULEWORK-1211290-2",</a:t>
            </a:r>
          </a:p>
          <a:p xmlns:a="http://schemas.openxmlformats.org/drawingml/2006/main">
            <a:r>
              <a:t>          "text": "2. 초경량비행장치 사용사업체 안전관리 및 지도점검",</a:t>
            </a:r>
          </a:p>
          <a:p xmlns:a="http://schemas.openxmlformats.org/drawingml/2006/main">
            <a:r>
              <a:t>          "locator": "별표4 · T45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"RULEWORK-1211290-2-R01",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"RULEWORK-1211290-2-T01",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"RULEWORK-1211290-2-R02",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"RULEWORK-1211290-2-T02",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"RULEWORK-1211290-2-R03",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"RULEWORK-1211290-2-T03",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"RULEWORK-1211290-5",</a:t>
            </a:r>
          </a:p>
          <a:p xmlns:a="http://schemas.openxmlformats.org/drawingml/2006/main">
            <a:r>
              <a:t>          "text": "5. 무인비행장치(드론) 관련 신규사업 개발 및 안전연구(UTM, 안티드론, 드론택시․택배 등)",</a:t>
            </a:r>
          </a:p>
          <a:p xmlns:a="http://schemas.openxmlformats.org/drawingml/2006/main">
            <a:r>
              <a:t>          "locator": "별표4 · T45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"RULEWORK-1211290-5-R01",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"RULEWORK-1211290-5-T01",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"RULEWORK-1211290-5-R02",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"RULEWORK-1211290-5-T02",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"RULEWORK-1211290-5-R03",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"RULEWORK-1211290-5-T03",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기술 기준 검색"</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"JET·Audin의 구조화 검토·증거 대사"</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"실증조건–요구조건–시험 ID 연결",</a:t>
            </a:r>
          </a:p>
          <a:p xmlns:a="http://schemas.openxmlformats.org/drawingml/2006/main">
            <a:r>
              <a:t>    "조건 변경 영향·재검증 목록"</a:t>
            </a:r>
          </a:p>
          <a:p xmlns:a="http://schemas.openxmlformats.org/drawingml/2006/main">
            <a:r>
              <a:t>  ],</a:t>
            </a:r>
          </a:p>
          <a:p xmlns:a="http://schemas.openxmlformats.org/drawingml/2006/main">
            <a:r>
              <a:t>  "acceptancePlan": {</a:t>
            </a:r>
          </a:p>
          <a:p xmlns:a="http://schemas.openxmlformats.org/drawingml/2006/main">
            <a:r>
              <a:t>    "sample": "운행조건 변경, 로그 누락, 시험판본 불일치",</a:t>
            </a:r>
          </a:p>
          <a:p xmlns:a="http://schemas.openxmlformats.org/drawingml/2006/main">
            <a:r>
              <a:t>    "criterion": "변경 영향 시험 재선정·증거 미비 보류",</a:t>
            </a:r>
          </a:p>
          <a:p xmlns:a="http://schemas.openxmlformats.org/drawingml/2006/main">
            <a:r>
              <a:t>    "evidence": "요구–시험–증거 추적표·재검증 결과",</a:t>
            </a:r>
          </a:p>
          <a:p xmlns:a="http://schemas.openxmlformats.org/drawingml/2006/main">
            <a:r>
              <a:t>    "execution": "미실행"</a:t>
            </a:r>
          </a:p>
          <a:p xmlns:a="http://schemas.openxmlformats.org/drawingml/2006/main">
            <a:r>
              <a:t>  },</a:t>
            </a:r>
          </a:p>
          <a:p xmlns:a="http://schemas.openxmlformats.org/drawingml/2006/main">
            <a:r>
              <a:t>  "formula": "증거 연결 완료 시험 수 ÷ 대상 시험 수 / 변경 후 재검토 소요시간",</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"ST-05",</a:t>
            </a:r>
          </a:p>
          <a:p xmlns:a="http://schemas.openxmlformats.org/drawingml/2006/main">
            <a:r>
              <a:t>  "number": 5,</a:t>
            </a:r>
          </a:p>
          <a:p xmlns:a="http://schemas.openxmlformats.org/drawingml/2006/main">
            <a:r>
              <a:t>  "direction": "지능형 미래 모빌리티 혁신",</a:t>
            </a:r>
          </a:p>
          <a:p xmlns:a="http://schemas.openxmlformats.org/drawingml/2006/main">
            <a:r>
              <a:t>  "strategy": "K-AI 기반 안전한 미래 모빌리티 실현",</a:t>
            </a:r>
          </a:p>
          <a:p xmlns:a="http://schemas.openxmlformats.org/drawingml/2006/main">
            <a:r>
              <a:t>  "solution": "미래 모빌리티 검증·실증 지원",</a:t>
            </a:r>
          </a:p>
          <a:p xmlns:a="http://schemas.openxmlformats.org/drawingml/2006/main">
            <a:r>
              <a:t>  "lawIds": [</a:t>
            </a:r>
          </a:p>
          <a:p xmlns:a="http://schemas.openxmlformats.org/drawingml/2006/main">
            <a:r>
              <a:t>    "L09",</a:t>
            </a:r>
          </a:p>
          <a:p xmlns:a="http://schemas.openxmlformats.org/drawingml/2006/main">
            <a:r>
              <a:t>    "L18",</a:t>
            </a:r>
          </a:p>
          <a:p xmlns:a="http://schemas.openxmlformats.org/drawingml/2006/main">
            <a:r>
              <a:t>    "L19",</a:t>
            </a:r>
          </a:p>
          <a:p xmlns:a="http://schemas.openxmlformats.org/drawingml/2006/main">
            <a:r>
              <a:t>    "L27"</a:t>
            </a:r>
          </a:p>
          <a:p xmlns:a="http://schemas.openxmlformats.org/drawingml/2006/main">
            <a:r>
              <a:t>  ],</a:t>
            </a:r>
          </a:p>
          <a:p xmlns:a="http://schemas.openxmlformats.org/drawingml/2006/main">
            <a:r>
              <a:t>  "codes": [</a:t>
            </a:r>
          </a:p>
          <a:p xmlns:a="http://schemas.openxmlformats.org/drawingml/2006/main">
            <a:r>
              <a:t>    "7000000",</a:t>
            </a:r>
          </a:p>
          <a:p xmlns:a="http://schemas.openxmlformats.org/drawingml/2006/main">
            <a:r>
              <a:t>    "1029020",</a:t>
            </a:r>
          </a:p>
          <a:p xmlns:a="http://schemas.openxmlformats.org/drawingml/2006/main">
            <a:r>
              <a:t>    "1021020",</a:t>
            </a:r>
          </a:p>
          <a:p xmlns:a="http://schemas.openxmlformats.org/drawingml/2006/main">
            <a:r>
              <a:t>    "1021030",</a:t>
            </a:r>
          </a:p>
          <a:p xmlns:a="http://schemas.openxmlformats.org/drawingml/2006/main">
            <a:r>
              <a:t>    "1211290"</a:t>
            </a:r>
          </a:p>
          <a:p xmlns:a="http://schemas.openxmlformats.org/drawingml/2006/main">
            <a:r>
              <a:t>  ],</a:t>
            </a:r>
          </a:p>
          <a:p xmlns:a="http://schemas.openxmlformats.org/drawingml/2006/main">
            <a:r>
              <a:t>  "work": "미래차·드론·모빌리티 실증의 기준·시험·검토 업무",</a:t>
            </a:r>
          </a:p>
          <a:p xmlns:a="http://schemas.openxmlformats.org/drawingml/2006/main">
            <a:r>
              <a:t>  "features": [</a:t>
            </a:r>
          </a:p>
          <a:p xmlns:a="http://schemas.openxmlformats.org/drawingml/2006/main">
            <a:r>
              <a:t>    "기술유형별 요구조건·시험계획·증빙 구조화",</a:t>
            </a:r>
          </a:p>
          <a:p xmlns:a="http://schemas.openxmlformats.org/drawingml/2006/main">
            <a:r>
              <a:t>    "조건 변경에 따른 검증 항목 재구성"</a:t>
            </a:r>
          </a:p>
          <a:p xmlns:a="http://schemas.openxmlformats.org/drawingml/2006/main">
            <a:r>
              <a:t>  ],</a:t>
            </a:r>
          </a:p>
          <a:p xmlns:a="http://schemas.openxmlformats.org/drawingml/2006/main">
            <a:r>
              <a:t>  "output": "시험·실증 근거 패키지",</a:t>
            </a:r>
          </a:p>
          <a:p xmlns:a="http://schemas.openxmlformats.org/drawingml/2006/main">
            <a:r>
              <a:t>  "acceptance": "요구조건–시험–증거 추적과 변경 후 재검토 여부 확인",</a:t>
            </a:r>
          </a:p>
          <a:p xmlns:a="http://schemas.openxmlformats.org/drawingml/2006/main">
            <a:r>
              <a:t>  "phase": "공통 기반 인수 후 부서별 적용",</a:t>
            </a:r>
          </a:p>
          <a:p xmlns:a="http://schemas.openxmlformats.org/drawingml/2006/main">
            <a:r>
              <a:t>  "packages": [</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"GAI-T06",</a:t>
            </a:r>
          </a:p>
          <a:p xmlns:a="http://schemas.openxmlformats.org/drawingml/2006/main">
            <a:r>
              <a:t>    "GAI-T09",</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"미래차 안전 연구·평가",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a:t>
            </a:r>
          </a:p>
          <a:p xmlns:a="http://schemas.openxmlformats.org/drawingml/2006/main">
            <a:r>
              <a:t>    {</a:t>
            </a:r>
          </a:p>
          <a:p xmlns:a="http://schemas.openxmlformats.org/drawingml/2006/main">
            <a:r>
              <a:t>      "code": "1029020",</a:t>
            </a:r>
          </a:p>
          <a:p xmlns:a="http://schemas.openxmlformats.org/drawingml/2006/main">
            <a:r>
              <a:t>      "name": "첨단연구개발처",</a:t>
            </a:r>
          </a:p>
          <a:p xmlns:a="http://schemas.openxmlformats.org/drawingml/2006/main">
            <a:r>
              <a:t>      "job": "미래차 검사기술 연구",</a:t>
            </a:r>
          </a:p>
          <a:p xmlns:a="http://schemas.openxmlformats.org/drawingml/2006/main">
            <a:r>
              <a:t>      "indices": [</a:t>
            </a:r>
          </a:p>
          <a:p xmlns:a="http://schemas.openxmlformats.org/drawingml/2006/main">
            <a:r>
              <a:t>        4,</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"5. 검사기준 및 검사방법 개발에 관한 업무",</a:t>
            </a:r>
          </a:p>
          <a:p xmlns:a="http://schemas.openxmlformats.org/drawingml/2006/main">
            <a:r>
              <a:t>        "8. 자율주행자동차 등 검사기술 개발"</a:t>
            </a:r>
          </a:p>
          <a:p xmlns:a="http://schemas.openxmlformats.org/drawingml/2006/main">
            <a:r>
              <a:t>      ],</a:t>
            </a:r>
          </a:p>
          <a:p xmlns:a="http://schemas.openxmlformats.org/drawingml/2006/main">
            <a:r>
              <a:t>      "locator": "별표4 · T43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"실증특례 접수·승인 지원",</a:t>
            </a:r>
          </a:p>
          <a:p xmlns:a="http://schemas.openxmlformats.org/drawingml/2006/main">
            <a:r>
              <a:t>      "indices": [</a:t>
            </a:r>
          </a:p>
          <a:p xmlns:a="http://schemas.openxmlformats.org/drawingml/2006/main">
            <a:r>
              <a:t>        1,</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"8. 실증특례 통합검토위원회 구성, 운영"</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"특화도시·시범사업 지원",</a:t>
            </a:r>
          </a:p>
          <a:p xmlns:a="http://schemas.openxmlformats.org/drawingml/2006/main">
            <a:r>
              <a:t>      "indices": [</a:t>
            </a:r>
          </a:p>
          <a:p xmlns:a="http://schemas.openxmlformats.org/drawingml/2006/main">
            <a:r>
              <a:t>        0,</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"6. 첨단모빌리티 시범사업과 대상지역 지정요청 접수"</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"1211290",</a:t>
            </a:r>
          </a:p>
          <a:p xmlns:a="http://schemas.openxmlformats.org/drawingml/2006/main">
            <a:r>
              <a:t>      "name": "드론관리처",</a:t>
            </a:r>
          </a:p>
          <a:p xmlns:a="http://schemas.openxmlformats.org/drawingml/2006/main">
            <a:r>
              <a:t>      "job": "드론 안전관리·연구",</a:t>
            </a:r>
          </a:p>
          <a:p xmlns:a="http://schemas.openxmlformats.org/drawingml/2006/main">
            <a:r>
              <a:t>      "indices": [</a:t>
            </a:r>
          </a:p>
          <a:p xmlns:a="http://schemas.openxmlformats.org/drawingml/2006/main">
            <a:r>
              <a:t>        1,</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"2. 초경량비행장치 사용사업체 안전관리 및 지도점검",</a:t>
            </a:r>
          </a:p>
          <a:p xmlns:a="http://schemas.openxmlformats.org/drawingml/2006/main">
            <a:r>
              <a:t>        "5. 무인비행장치(드론) 관련 신규사업 개발 및 안전연구(UTM, 안티드론, 드론택시․택배 등)"</a:t>
            </a:r>
          </a:p>
          <a:p xmlns:a="http://schemas.openxmlformats.org/drawingml/2006/main">
            <a:r>
              <a:t>      ],</a:t>
            </a:r>
          </a:p>
          <a:p xmlns:a="http://schemas.openxmlformats.org/drawingml/2006/main">
            <a:r>
              <a:t>      "locator": "별표4 · T45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 원장의 결함조사·실증·드론 신고 업무 활용 / 시험·인증 권한과 연구원 세부 직제의 별도 확인",</a:t>
            </a:r>
          </a:p>
          <a:p xmlns:a="http://schemas.openxmlformats.org/drawingml/2006/main">
            <a:r>
              <a:t>  "caseRefs": [</a:t>
            </a:r>
          </a:p>
          <a:p xmlns:a="http://schemas.openxmlformats.org/drawingml/2006/main">
            <a:r>
              <a:t>    {</a:t>
            </a:r>
          </a:p>
          <a:p xmlns:a="http://schemas.openxmlformats.org/drawingml/2006/main">
            <a:r>
              <a:t>      "caseId": "AX08",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"모빌리티 실증 증거·안전 검증",</a:t>
            </a:r>
          </a:p>
          <a:p xmlns:a="http://schemas.openxmlformats.org/drawingml/2006/main">
            <a:r>
              <a:t>  "delta": "실증 데이터·시험조건·사건 보고의 근거 연결",</a:t>
            </a:r>
          </a:p>
          <a:p xmlns:a="http://schemas.openxmlformats.org/drawingml/2006/main">
            <a:r>
              <a:t>  "kpi": "시험 증거 누락률 / 재현 성공률",</a:t>
            </a:r>
          </a:p>
          <a:p xmlns:a="http://schemas.openxmlformats.org/drawingml/2006/main">
            <a:r>
              <a:t>  "validation": "실증 조건·원시 로그·보고서 불일치 탐지",</a:t>
            </a:r>
          </a:p>
          <a:p xmlns:a="http://schemas.openxmlformats.org/drawingml/2006/main">
            <a:r>
              <a:t>  "requirement": "BM-ST-05-R01",</a:t>
            </a:r>
          </a:p>
          <a:p xmlns:a="http://schemas.openxmlformats.org/drawingml/2006/main">
            <a:r>
              <a:t>  "test": "BM-ST-05-T01",</a:t>
            </a:r>
          </a:p>
          <a:p xmlns:a="http://schemas.openxmlformats.org/drawingml/2006/main">
            <a:r>
              <a:t>  "effectStatus": "기대 방향 · TS 실측 전",</a:t>
            </a:r>
          </a:p>
          <a:p xmlns:a="http://schemas.openxmlformats.org/drawingml/2006/main">
            <a:r>
              <a:t>  "effect": "실증 검토 재작업·시험 증거 누락 감소",</a:t>
            </a:r>
          </a:p>
          <a:p xmlns:a="http://schemas.openxmlformats.org/drawingml/2006/main">
            <a:r>
              <a:t>  "reuse": "ON27-BASE / C27-COM + CCK 재사용 판정 기능",</a:t>
            </a:r>
          </a:p>
          <a:p xmlns:a="http://schemas.openxmlformats.org/drawingml/2006/main">
            <a:r>
              <a:t>  "input": "실증계획, 기술유형·운행조건, 시험결과, 사고 원시자료",</a:t>
            </a:r>
          </a:p>
          <a:p xmlns:a="http://schemas.openxmlformats.org/drawingml/2006/main">
            <a:r>
              <a:t>  "steps": [</a:t>
            </a:r>
          </a:p>
          <a:p xmlns:a="http://schemas.openxmlformats.org/drawingml/2006/main">
            <a:r>
              <a:t>    "기술·실증조건 분류",</a:t>
            </a:r>
          </a:p>
          <a:p xmlns:a="http://schemas.openxmlformats.org/drawingml/2006/main">
            <a:r>
              <a:t>    "요구조건–시험 연결",</a:t>
            </a:r>
          </a:p>
          <a:p xmlns:a="http://schemas.openxmlformats.org/drawingml/2006/main">
            <a:r>
              <a:t>    "결과·증거 완전성 점검",</a:t>
            </a:r>
          </a:p>
          <a:p xmlns:a="http://schemas.openxmlformats.org/drawingml/2006/main">
            <a:r>
              <a:t>    "조건 변경 후 재검토"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"미래차 안전 연구·평가",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"workItems": []</a:t>
            </a:r>
          </a:p>
          <a:p xmlns:a="http://schemas.openxmlformats.org/drawingml/2006/main">
            <a:r>
              <a:t>    },</a:t>
            </a:r>
          </a:p>
          <a:p xmlns:a="http://schemas.openxmlformats.org/drawingml/2006/main">
            <a:r>
              <a:t>    {</a:t>
            </a:r>
          </a:p>
          <a:p xmlns:a="http://schemas.openxmlformats.org/drawingml/2006/main">
            <a:r>
              <a:t>      "code": "1029020",</a:t>
            </a:r>
          </a:p>
          <a:p xmlns:a="http://schemas.openxmlformats.org/drawingml/2006/main">
            <a:r>
              <a:t>      "name": "첨단연구개발처",</a:t>
            </a:r>
          </a:p>
          <a:p xmlns:a="http://schemas.openxmlformats.org/drawingml/2006/main">
            <a:r>
              <a:t>      "job": "미래차 검사기술 연구",</a:t>
            </a:r>
          </a:p>
          <a:p xmlns:a="http://schemas.openxmlformats.org/drawingml/2006/main">
            <a:r>
              <a:t>      "indices": [</a:t>
            </a:r>
          </a:p>
          <a:p xmlns:a="http://schemas.openxmlformats.org/drawingml/2006/main">
            <a:r>
              <a:t>        4,</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"5. 검사기준 및 검사방법 개발에 관한 업무",</a:t>
            </a:r>
          </a:p>
          <a:p xmlns:a="http://schemas.openxmlformats.org/drawingml/2006/main">
            <a:r>
              <a:t>        "8. 자율주행자동차 등 검사기술 개발"</a:t>
            </a:r>
          </a:p>
          <a:p xmlns:a="http://schemas.openxmlformats.org/drawingml/2006/main">
            <a:r>
              <a:t>      ],</a:t>
            </a:r>
          </a:p>
          <a:p xmlns:a="http://schemas.openxmlformats.org/drawingml/2006/main">
            <a:r>
              <a:t>      "locator": "별표4 · T43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"RULEWORK-1029020-5",</a:t>
            </a:r>
          </a:p>
          <a:p xmlns:a="http://schemas.openxmlformats.org/drawingml/2006/main">
            <a:r>
              <a:t>          "text": "5. 검사기준 및 검사방법 개발에 관한 업무",</a:t>
            </a:r>
          </a:p>
          <a:p xmlns:a="http://schemas.openxmlformats.org/drawingml/2006/main">
            <a:r>
              <a:t>          "locator": "별표4 · T43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"RULEWORK-1029020-5-R01",</a:t>
            </a:r>
          </a:p>
          <a:p xmlns:a="http://schemas.openxmlformats.org/drawingml/2006/main">
            <a:r>
              <a:t>              "title": "업무 맥락·전용 지식 구성",</a:t>
            </a:r>
          </a:p>
          <a:p xmlns:a="http://schemas.openxmlformats.org/drawingml/2006/main">
            <a:r>
              <a:t>              "development": "연구대상·가설·기준별 근거·시험항목 구성",</a:t>
            </a:r>
          </a:p>
          <a:p xmlns:a="http://schemas.openxmlformats.org/drawingml/2006/main">
            <a:r>
              <a:t>              "output": "기술 검토·시험 근거·연구 추적표",</a:t>
            </a:r>
          </a:p>
          <a:p xmlns:a="http://schemas.openxmlformats.org/drawingml/2006/main">
            <a:r>
              <a:t>              "testId": "RULEWORK-1029020-5-T01",</a:t>
            </a:r>
          </a:p>
          <a:p xmlns:a="http://schemas.openxmlformats.org/drawingml/2006/main">
            <a:r>
              <a:t>              "criterion": "인용 원문·시험 조건·계산·단위 대조"</a:t>
            </a:r>
          </a:p>
          <a:p xmlns:a="http://schemas.openxmlformats.org/drawingml/2006/main">
            <a:r>
              <a:t>            },</a:t>
            </a:r>
          </a:p>
          <a:p xmlns:a="http://schemas.openxmlformats.org/drawingml/2006/main">
            <a:r>
              <a:t>            {</a:t>
            </a:r>
          </a:p>
          <a:p xmlns:a="http://schemas.openxmlformats.org/drawingml/2006/main">
            <a:r>
              <a:t>              "id": "RULEWORK-1029020-5-R02",</a:t>
            </a:r>
          </a:p>
          <a:p xmlns:a="http://schemas.openxmlformats.org/drawingml/2006/main">
            <a:r>
              <a:t>              "title": "업무건·역할·시스템 연결",</a:t>
            </a:r>
          </a:p>
          <a:p xmlns:a="http://schemas.openxmlformats.org/drawingml/2006/main">
            <a:r>
              <a:t>              "development": "과제·실증 조건·시험자료·판본 추적",</a:t>
            </a:r>
          </a:p>
          <a:p xmlns:a="http://schemas.openxmlformats.org/drawingml/2006/main">
            <a:r>
              <a:t>              "output": "업무건·원천·역할·변경 연결 명세",</a:t>
            </a:r>
          </a:p>
          <a:p xmlns:a="http://schemas.openxmlformats.org/drawingml/2006/main">
            <a:r>
              <a:t>              "testId": "RULEWORK-1029020-5-T02",</a:t>
            </a:r>
          </a:p>
          <a:p xmlns:a="http://schemas.openxmlformats.org/drawingml/2006/main">
            <a:r>
              <a:t>              "criterion": "실험 미수행 결과·근거 없는 성능 확정 차단"</a:t>
            </a:r>
          </a:p>
          <a:p xmlns:a="http://schemas.openxmlformats.org/drawingml/2006/main">
            <a:r>
              <a:t>            },</a:t>
            </a:r>
          </a:p>
          <a:p xmlns:a="http://schemas.openxmlformats.org/drawingml/2006/main">
            <a:r>
              <a:t>            {</a:t>
            </a:r>
          </a:p>
          <a:p xmlns:a="http://schemas.openxmlformats.org/drawingml/2006/main">
            <a:r>
              <a:t>              "id": "RULEWORK-1029020-5-R03",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"RULEWORK-1029020-5-T03",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"RULEWORK-1029020-8",</a:t>
            </a:r>
          </a:p>
          <a:p xmlns:a="http://schemas.openxmlformats.org/drawingml/2006/main">
            <a:r>
              <a:t>          "text": "8. 자율주행자동차 등 검사기술 개발",</a:t>
            </a:r>
          </a:p>
          <a:p xmlns:a="http://schemas.openxmlformats.org/drawingml/2006/main">
            <a:r>
              <a:t>          "locator": "별표4 · T43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"RULEWORK-1029020-8-R01",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"RULEWORK-1029020-8-T01",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"RULEWORK-1029020-8-R02",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"RULEWORK-1029020-8-T02",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"RULEWORK-1029020-8-R03",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"RULEWORK-1029020-8-T03",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"실증특례 접수·승인 지원",</a:t>
            </a:r>
          </a:p>
          <a:p xmlns:a="http://schemas.openxmlformats.org/drawingml/2006/main">
            <a:r>
              <a:t>      "indices": [</a:t>
            </a:r>
          </a:p>
          <a:p xmlns:a="http://schemas.openxmlformats.org/drawingml/2006/main">
            <a:r>
              <a:t>        1,</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"8. 실증특례 통합검토위원회 구성, 운영"</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"RULEWORK-1021020-2",</a:t>
            </a:r>
          </a:p>
          <a:p xmlns:a="http://schemas.openxmlformats.org/drawingml/2006/main">
            <a:r>
              <a:t>          "text": "2. 모빌리티 실증특례 접수 및 승인 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"RULEWORK-1021020-8",</a:t>
            </a:r>
          </a:p>
          <a:p xmlns:a="http://schemas.openxmlformats.org/drawingml/2006/main">
            <a:r>
              <a:t>          "text": "8. 실증특례 통합검토위원회 구성, 운영",</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"RULEWORK-1021020-8-R01",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"RULEWORK-1021020-8-T01",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"RULEWORK-1021020-8-R02",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"RULEWORK-1021020-8-T02",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"특화도시·시범사업 지원",</a:t>
            </a:r>
          </a:p>
          <a:p xmlns:a="http://schemas.openxmlformats.org/drawingml/2006/main">
            <a:r>
              <a:t>      "indices": [</a:t>
            </a:r>
          </a:p>
          <a:p xmlns:a="http://schemas.openxmlformats.org/drawingml/2006/main">
            <a:r>
              <a:t>        0,</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"6. 첨단모빌리티 시범사업과 대상지역 지정요청 접수"</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"RULEWORK-1021030-1",</a:t>
            </a:r>
          </a:p>
          <a:p xmlns:a="http://schemas.openxmlformats.org/drawingml/2006/main">
            <a:r>
              <a:t>          "text": "1. 모빌리티 특화도시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"RULEWORK-1021030-1-T01",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"RULEWORK-1021030-1-R02",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"RULEWORK-1021030-1-T02",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"RULEWORK-1021030-6",</a:t>
            </a:r>
          </a:p>
          <a:p xmlns:a="http://schemas.openxmlformats.org/drawingml/2006/main">
            <a:r>
              <a:t>          "text": "6. 첨단모빌리티 시범사업과 대상지역 지정요청 접수",</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"RULEWORK-1021030-6-R01",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"RULEWORK-1021030-6-T01",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"RULEWORK-1021030-6-R02",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"RULEWORK-1021030-6-T02",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"1211290",</a:t>
            </a:r>
          </a:p>
          <a:p xmlns:a="http://schemas.openxmlformats.org/drawingml/2006/main">
            <a:r>
              <a:t>      "name": "드론관리처",</a:t>
            </a:r>
          </a:p>
          <a:p xmlns:a="http://schemas.openxmlformats.org/drawingml/2006/main">
            <a:r>
              <a:t>      "job": "드론 안전관리·연구",</a:t>
            </a:r>
          </a:p>
          <a:p xmlns:a="http://schemas.openxmlformats.org/drawingml/2006/main">
            <a:r>
              <a:t>      "indices": [</a:t>
            </a:r>
          </a:p>
          <a:p xmlns:a="http://schemas.openxmlformats.org/drawingml/2006/main">
            <a:r>
              <a:t>        1,</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"2. 초경량비행장치 사용사업체 안전관리 및 지도점검",</a:t>
            </a:r>
          </a:p>
          <a:p xmlns:a="http://schemas.openxmlformats.org/drawingml/2006/main">
            <a:r>
              <a:t>        "5. 무인비행장치(드론) 관련 신규사업 개발 및 안전연구(UTM, 안티드론, 드론택시․택배 등)"</a:t>
            </a:r>
          </a:p>
          <a:p xmlns:a="http://schemas.openxmlformats.org/drawingml/2006/main">
            <a:r>
              <a:t>      ],</a:t>
            </a:r>
          </a:p>
          <a:p xmlns:a="http://schemas.openxmlformats.org/drawingml/2006/main">
            <a:r>
              <a:t>      "locator": "별표4 · T45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"RULEWORK-1211290-2",</a:t>
            </a:r>
          </a:p>
          <a:p xmlns:a="http://schemas.openxmlformats.org/drawingml/2006/main">
            <a:r>
              <a:t>          "text": "2. 초경량비행장치 사용사업체 안전관리 및 지도점검",</a:t>
            </a:r>
          </a:p>
          <a:p xmlns:a="http://schemas.openxmlformats.org/drawingml/2006/main">
            <a:r>
              <a:t>          "locator": "별표4 · T45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"RULEWORK-1211290-2-R01",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"RULEWORK-1211290-2-T01",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"RULEWORK-1211290-2-R02",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"RULEWORK-1211290-2-T02",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"RULEWORK-1211290-2-R03",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"RULEWORK-1211290-2-T03",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"RULEWORK-1211290-5",</a:t>
            </a:r>
          </a:p>
          <a:p xmlns:a="http://schemas.openxmlformats.org/drawingml/2006/main">
            <a:r>
              <a:t>          "text": "5. 무인비행장치(드론) 관련 신규사업 개발 및 안전연구(UTM, 안티드론, 드론택시․택배 등)",</a:t>
            </a:r>
          </a:p>
          <a:p xmlns:a="http://schemas.openxmlformats.org/drawingml/2006/main">
            <a:r>
              <a:t>          "locator": "별표4 · T45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"RULEWORK-1211290-5-R01",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"RULEWORK-1211290-5-T01",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"RULEWORK-1211290-5-R02",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"RULEWORK-1211290-5-T02",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"RULEWORK-1211290-5-R03",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"RULEWORK-1211290-5-T03",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기술 기준 검색"</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"JET·Audin의 구조화 검토·증거 대사"</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"실증조건–요구조건–시험 ID 연결",</a:t>
            </a:r>
          </a:p>
          <a:p xmlns:a="http://schemas.openxmlformats.org/drawingml/2006/main">
            <a:r>
              <a:t>    "조건 변경 영향·재검증 목록"</a:t>
            </a:r>
          </a:p>
          <a:p xmlns:a="http://schemas.openxmlformats.org/drawingml/2006/main">
            <a:r>
              <a:t>  ],</a:t>
            </a:r>
          </a:p>
          <a:p xmlns:a="http://schemas.openxmlformats.org/drawingml/2006/main">
            <a:r>
              <a:t>  "acceptancePlan": {</a:t>
            </a:r>
          </a:p>
          <a:p xmlns:a="http://schemas.openxmlformats.org/drawingml/2006/main">
            <a:r>
              <a:t>    "sample": "운행조건 변경, 로그 누락, 시험판본 불일치",</a:t>
            </a:r>
          </a:p>
          <a:p xmlns:a="http://schemas.openxmlformats.org/drawingml/2006/main">
            <a:r>
              <a:t>    "criterion": "변경 영향 시험 재선정·증거 미비 보류",</a:t>
            </a:r>
          </a:p>
          <a:p xmlns:a="http://schemas.openxmlformats.org/drawingml/2006/main">
            <a:r>
              <a:t>    "evidence": "요구–시험–증거 추적표·재검증 결과",</a:t>
            </a:r>
          </a:p>
          <a:p xmlns:a="http://schemas.openxmlformats.org/drawingml/2006/main">
            <a:r>
              <a:t>    "execution": "미실행"</a:t>
            </a:r>
          </a:p>
          <a:p xmlns:a="http://schemas.openxmlformats.org/drawingml/2006/main">
            <a:r>
              <a:t>  },</a:t>
            </a:r>
          </a:p>
          <a:p xmlns:a="http://schemas.openxmlformats.org/drawingml/2006/main">
            <a:r>
              <a:t>  "formula": "증거 연결 완료 시험 수 ÷ 대상 시험 수 / 변경 후 재검토 소요시간",</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"ST-06",</a:t>
            </a:r>
          </a:p>
          <a:p xmlns:a="http://schemas.openxmlformats.org/drawingml/2006/main">
            <a:r>
              <a:t>  "number": 6,</a:t>
            </a:r>
          </a:p>
          <a:p xmlns:a="http://schemas.openxmlformats.org/drawingml/2006/main">
            <a:r>
              <a:t>  "direction": "지능형 미래 모빌리티 혁신",</a:t>
            </a:r>
          </a:p>
          <a:p xmlns:a="http://schemas.openxmlformats.org/drawingml/2006/main">
            <a:r>
              <a:t>  "strategy": "기후위기 대응 친환경 전환 가속화",</a:t>
            </a:r>
          </a:p>
          <a:p xmlns:a="http://schemas.openxmlformats.org/drawingml/2006/main">
            <a:r>
              <a:t>  "solution": "친환경 교통·탄소 업무지원",</a:t>
            </a:r>
          </a:p>
          <a:p xmlns:a="http://schemas.openxmlformats.org/drawingml/2006/main">
            <a:r>
              <a:t>  "lawIds": [</a:t>
            </a:r>
          </a:p>
          <a:p xmlns:a="http://schemas.openxmlformats.org/drawingml/2006/main">
            <a:r>
              <a:t>    "L13"</a:t>
            </a:r>
          </a:p>
          <a:p xmlns:a="http://schemas.openxmlformats.org/drawingml/2006/main">
            <a:r>
              <a:t>  ],</a:t>
            </a:r>
          </a:p>
          <a:p xmlns:a="http://schemas.openxmlformats.org/drawingml/2006/main">
            <a:r>
              <a:t>  "codes": [</a:t>
            </a:r>
          </a:p>
          <a:p xmlns:a="http://schemas.openxmlformats.org/drawingml/2006/main">
            <a:r>
              <a:t>    "1019040",</a:t>
            </a:r>
          </a:p>
          <a:p xmlns:a="http://schemas.openxmlformats.org/drawingml/2006/main">
            <a:r>
              <a:t>    "1019041",</a:t>
            </a:r>
          </a:p>
          <a:p xmlns:a="http://schemas.openxmlformats.org/drawingml/2006/main">
            <a:r>
              <a:t>    "1019030"</a:t>
            </a:r>
          </a:p>
          <a:p xmlns:a="http://schemas.openxmlformats.org/drawingml/2006/main">
            <a:r>
              <a:t>  ],</a:t>
            </a:r>
          </a:p>
          <a:p xmlns:a="http://schemas.openxmlformats.org/drawingml/2006/main">
            <a:r>
              <a:t>  "work": "교통물류·탄소중립 정책 및 친환경 전환 자료 관리",</a:t>
            </a:r>
          </a:p>
          <a:p xmlns:a="http://schemas.openxmlformats.org/drawingml/2006/main">
            <a:r>
              <a:t>  "features": [</a:t>
            </a:r>
          </a:p>
          <a:p xmlns:a="http://schemas.openxmlformats.org/drawingml/2006/main">
            <a:r>
              <a:t>    "활동자료·계수·산정기간·원천 판본 연결",</a:t>
            </a:r>
          </a:p>
          <a:p xmlns:a="http://schemas.openxmlformats.org/drawingml/2006/main">
            <a:r>
              <a:t>    "부서·사업별 실적 증빙과 보고서 작성 지원"</a:t>
            </a:r>
          </a:p>
          <a:p xmlns:a="http://schemas.openxmlformats.org/drawingml/2006/main">
            <a:r>
              <a:t>  ],</a:t>
            </a:r>
          </a:p>
          <a:p xmlns:a="http://schemas.openxmlformats.org/drawingml/2006/main">
            <a:r>
              <a:t>  "output": "탄소 산정 대사표·개선 권고 초안",</a:t>
            </a:r>
          </a:p>
          <a:p xmlns:a="http://schemas.openxmlformats.org/drawingml/2006/main">
            <a:r>
              <a:t>  "acceptance": "산정 입력·계수·기간의 재현성 및 누락 자료의 보류 처리",</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"GAI-T02",</a:t>
            </a:r>
          </a:p>
          <a:p xmlns:a="http://schemas.openxmlformats.org/drawingml/2006/main">
            <a:r>
              <a:t>    "GAI-T06",</a:t>
            </a:r>
          </a:p>
          <a:p xmlns:a="http://schemas.openxmlformats.org/drawingml/2006/main">
            <a:r>
              <a:t>    "GAI-T09"</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정책·실적 관리",</a:t>
            </a:r>
          </a:p>
          <a:p xmlns:a="http://schemas.openxmlformats.org/drawingml/2006/main">
            <a:r>
              <a:t>      "indices": [</a:t>
            </a:r>
          </a:p>
          <a:p xmlns:a="http://schemas.openxmlformats.org/drawingml/2006/main">
            <a:r>
              <a:t>        1,</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"2. 화물운송실적관리시스템 운영에 관한 업무",</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"1019041",</a:t>
            </a:r>
          </a:p>
          <a:p xmlns:a="http://schemas.openxmlformats.org/drawingml/2006/main">
            <a:r>
              <a:t>      "name": "탄소중립정책팀",</a:t>
            </a:r>
          </a:p>
          <a:p xmlns:a="http://schemas.openxmlformats.org/drawingml/2006/main">
            <a:r>
              <a:t>      "job": "온실가스 조사·감축지원",</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교통부문 온실가스 배출량 조사사업(배출량 조사, 계수개발, 목표관리제, KOTEMS 등) 운영 및 관리 업무",</a:t>
            </a:r>
          </a:p>
          <a:p xmlns:a="http://schemas.openxmlformats.org/drawingml/2006/main">
            <a:r>
              <a:t>        "3. 교통부문 온실가스 감축 추진 등을 위한 배출권거래제 외부사업, 국제항공탄소 상쇄제도 및 국제감축 등 감축지원 사업 발굴, 운영·관리 업무"</a:t>
            </a:r>
          </a:p>
          <a:p xmlns:a="http://schemas.openxmlformats.org/drawingml/2006/main">
            <a:r>
              <a:t>      ],</a:t>
            </a:r>
          </a:p>
          <a:p xmlns:a="http://schemas.openxmlformats.org/drawingml/2006/main">
            <a:r>
              <a:t>      "locator": "별표4 · T40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"친환경차 안전 정책",</a:t>
            </a:r>
          </a:p>
          <a:p xmlns:a="http://schemas.openxmlformats.org/drawingml/2006/main">
            <a:r>
              <a:t>      "indices": [</a:t>
            </a:r>
          </a:p>
          <a:p xmlns:a="http://schemas.openxmlformats.org/drawingml/2006/main">
            <a:r>
              <a:t>        17</a:t>
            </a:r>
          </a:p>
          <a:p xmlns:a="http://schemas.openxmlformats.org/drawingml/2006/main">
            <a:r>
              <a:t>      ],</a:t>
            </a:r>
          </a:p>
          <a:p xmlns:a="http://schemas.openxmlformats.org/drawingml/2006/main">
            <a:r>
              <a:t>      "duties": [</a:t>
            </a:r>
          </a:p>
          <a:p xmlns:a="http://schemas.openxmlformats.org/drawingml/2006/main">
            <a:r>
              <a:t>        "18. 사업부서 추진 중 친환경차 안전확보 업무에 대한 총괄 정책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"L13: 화물운송실적 업무에 한정 / 온실가스 조사·계수·감축지원: 별표4 T40 탄소중립정책팀 업무 / 탄소 산정 관련 개별 법령·기준 추가 대조",</a:t>
            </a:r>
          </a:p>
          <a:p xmlns:a="http://schemas.openxmlformats.org/drawingml/2006/main">
            <a:r>
              <a:t>  "caseRefs":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"친환경 운행·탄소 검증 지원",</a:t>
            </a:r>
          </a:p>
          <a:p xmlns:a="http://schemas.openxmlformats.org/drawingml/2006/main">
            <a:r>
              <a:t>  "delta": "활동량·계수·산식 검증과 개선 권고",</a:t>
            </a:r>
          </a:p>
          <a:p xmlns:a="http://schemas.openxmlformats.org/drawingml/2006/main">
            <a:r>
              <a:t>  "kpi": "활동량당 에너지 / 산식 오류율",</a:t>
            </a:r>
          </a:p>
          <a:p xmlns:a="http://schemas.openxmlformats.org/drawingml/2006/main">
            <a:r>
              <a:t>  "validation": "같은 계절·운행 조건 비교 및 계수 판본 재계산",</a:t>
            </a:r>
          </a:p>
          <a:p xmlns:a="http://schemas.openxmlformats.org/drawingml/2006/main">
            <a:r>
              <a:t>  "requirement": "BM-ST-06-R01",</a:t>
            </a:r>
          </a:p>
          <a:p xmlns:a="http://schemas.openxmlformats.org/drawingml/2006/main">
            <a:r>
              <a:t>  "test": "BM-ST-06-T01",</a:t>
            </a:r>
          </a:p>
          <a:p xmlns:a="http://schemas.openxmlformats.org/drawingml/2006/main">
            <a:r>
              <a:t>  "effectStatus": "기대 방향 · TS 실측 전",</a:t>
            </a:r>
          </a:p>
          <a:p xmlns:a="http://schemas.openxmlformats.org/drawingml/2006/main">
            <a:r>
              <a:t>  "effect": "보고 재계산·산식 오류 감소",</a:t>
            </a:r>
          </a:p>
          <a:p xmlns:a="http://schemas.openxmlformats.org/drawingml/2006/main">
            <a:r>
              <a:t>  "reuse": "ON27-BASE / C27-COM + CCK 재사용 판정 기능",</a:t>
            </a:r>
          </a:p>
          <a:p xmlns:a="http://schemas.openxmlformats.org/drawingml/2006/main">
            <a:r>
              <a:t>  "input": "운행·연료 등 활동량, 배출계수 판본, 산정기간·경계",</a:t>
            </a:r>
          </a:p>
          <a:p xmlns:a="http://schemas.openxmlformats.org/drawingml/2006/main">
            <a:r>
              <a:t>  "steps": [</a:t>
            </a:r>
          </a:p>
          <a:p xmlns:a="http://schemas.openxmlformats.org/drawingml/2006/main">
            <a:r>
              <a:t>    "단위·기간 정규화",</a:t>
            </a:r>
          </a:p>
          <a:p xmlns:a="http://schemas.openxmlformats.org/drawingml/2006/main">
            <a:r>
              <a:t>    "계수·산식 대조",</a:t>
            </a:r>
          </a:p>
          <a:p xmlns:a="http://schemas.openxmlformats.org/drawingml/2006/main">
            <a:r>
              <a:t>    "검증 계산·이상값 보류",</a:t>
            </a:r>
          </a:p>
          <a:p xmlns:a="http://schemas.openxmlformats.org/drawingml/2006/main">
            <a:r>
              <a:t>    "부서별 개선 권고 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정책·실적 관리",</a:t>
            </a:r>
          </a:p>
          <a:p xmlns:a="http://schemas.openxmlformats.org/drawingml/2006/main">
            <a:r>
              <a:t>      "indices": [</a:t>
            </a:r>
          </a:p>
          <a:p xmlns:a="http://schemas.openxmlformats.org/drawingml/2006/main">
            <a:r>
              <a:t>        1,</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"2. 화물운송실적관리시스템 운영에 관한 업무",</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"RULEWORK-1019040-2",</a:t>
            </a:r>
          </a:p>
          <a:p xmlns:a="http://schemas.openxmlformats.org/drawingml/2006/main">
            <a:r>
              <a:t>          "text": "2. 화물운송실적관리시스템 운영에 관한 업무",</a:t>
            </a:r>
          </a:p>
          <a:p xmlns:a="http://schemas.openxmlformats.org/drawingml/2006/main">
            <a:r>
              <a:t>          "locator": "별표4 · T40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"RULEWORK-1019040-2-R01",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"RULEWORK-1019040-2-T01",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"RULEWORK-1019040-2-R02",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"RULEWORK-1019040-2-T02",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"RULEWORK-1019040-6",</a:t>
            </a:r>
          </a:p>
          <a:p xmlns:a="http://schemas.openxmlformats.org/drawingml/2006/main">
            <a:r>
              <a:t>          "text": "6. 교통물류 정책관련 연구‧사업 업무",</a:t>
            </a:r>
          </a:p>
          <a:p xmlns:a="http://schemas.openxmlformats.org/drawingml/2006/main">
            <a:r>
              <a:t>          "locator": "별표4 · T40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"RULEWORK-1019040-6-R01",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"RULEWORK-1019040-6-T01",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"RULEWORK-1019040-6-R02",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"RULEWORK-1019040-6-T02",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"1019041",</a:t>
            </a:r>
          </a:p>
          <a:p xmlns:a="http://schemas.openxmlformats.org/drawingml/2006/main">
            <a:r>
              <a:t>      "name": "탄소중립정책팀",</a:t>
            </a:r>
          </a:p>
          <a:p xmlns:a="http://schemas.openxmlformats.org/drawingml/2006/main">
            <a:r>
              <a:t>      "job": "온실가스 조사·감축지원",</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교통부문 온실가스 배출량 조사사업(배출량 조사, 계수개발, 목표관리제, KOTEMS 등) 운영 및 관리 업무",</a:t>
            </a:r>
          </a:p>
          <a:p xmlns:a="http://schemas.openxmlformats.org/drawingml/2006/main">
            <a:r>
              <a:t>        "3. 교통부문 온실가스 감축 추진 등을 위한 배출권거래제 외부사업, 국제항공탄소 상쇄제도 및 국제감축 등 감축지원 사업 발굴, 운영·관리 업무"</a:t>
            </a:r>
          </a:p>
          <a:p xmlns:a="http://schemas.openxmlformats.org/drawingml/2006/main">
            <a:r>
              <a:t>      ],</a:t>
            </a:r>
          </a:p>
          <a:p xmlns:a="http://schemas.openxmlformats.org/drawingml/2006/main">
            <a:r>
              <a:t>      "locator": "별표4 · T40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"RULEWORK-1019041-1",</a:t>
            </a:r>
          </a:p>
          <a:p xmlns:a="http://schemas.openxmlformats.org/drawingml/2006/main">
            <a:r>
              <a:t>          "text": "1. 교통부문 온실가스 배출량 조사사업(배출량 조사, 계수개발, 목표관리제, KOTEMS 등) 운영 및 관리 업무",</a:t>
            </a:r>
          </a:p>
          <a:p xmlns:a="http://schemas.openxmlformats.org/drawingml/2006/main">
            <a:r>
              <a:t>          "locator": "별표4 · T40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"RULEWORK-1019041-1-R01",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"RULEWORK-1019041-1-T01",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"RULEWORK-1019041-1-R02",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"RULEWORK-1019041-1-T02",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"RULEWORK-1019041-3",</a:t>
            </a:r>
          </a:p>
          <a:p xmlns:a="http://schemas.openxmlformats.org/drawingml/2006/main">
            <a:r>
              <a:t>          "text": "3. 교통부문 온실가스 감축 추진 등을 위한 배출권거래제 외부사업, 국제항공탄소 상쇄제도 및 국제감축 등 감축지원 사업 발굴, 운영·관리 업무",</a:t>
            </a:r>
          </a:p>
          <a:p xmlns:a="http://schemas.openxmlformats.org/drawingml/2006/main">
            <a:r>
              <a:t>          "locator": "별표4 · T40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"RULEWORK-1019041-3-R01",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"RULEWORK-1019041-3-T01",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"RULEWORK-1019041-3-R02",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"RULEWORK-1019041-3-T02",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"친환경차 안전 정책",</a:t>
            </a:r>
          </a:p>
          <a:p xmlns:a="http://schemas.openxmlformats.org/drawingml/2006/main">
            <a:r>
              <a:t>      "indices": [</a:t>
            </a:r>
          </a:p>
          <a:p xmlns:a="http://schemas.openxmlformats.org/drawingml/2006/main">
            <a:r>
              <a:t>        17</a:t>
            </a:r>
          </a:p>
          <a:p xmlns:a="http://schemas.openxmlformats.org/drawingml/2006/main">
            <a:r>
              <a:t>      ],</a:t>
            </a:r>
          </a:p>
          <a:p xmlns:a="http://schemas.openxmlformats.org/drawingml/2006/main">
            <a:r>
              <a:t>      "duties": [</a:t>
            </a:r>
          </a:p>
          <a:p xmlns:a="http://schemas.openxmlformats.org/drawingml/2006/main">
            <a:r>
              <a:t>        "18. 사업부서 추진 중 친환경차 안전확보 업무에 대한 총괄 정책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"RULEWORK-1019030-18",</a:t>
            </a:r>
          </a:p>
          <a:p xmlns:a="http://schemas.openxmlformats.org/drawingml/2006/main">
            <a:r>
              <a:t>          "text": "18. 사업부서 추진 중 친환경차 안전확보 업무에 대한 총괄 정책 업무",</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"RULEWORK-1019030-18-R01",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"RULEWORK-1019030-18-T01",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"RULEWORK-1019030-18-R02",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"RULEWORK-1019030-18-T02",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"RULEWORK-1019030-18-R03",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"RULEWORK-1019030-18-T03",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근거 검색·보고 초안"</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"Audin·JET의 수치 근거 구조화"</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"활동량–계수–산식 버전 연결",</a:t>
            </a:r>
          </a:p>
          <a:p xmlns:a="http://schemas.openxmlformats.org/drawingml/2006/main">
            <a:r>
              <a:t>    "독립 재계산·결측 판정 모듈"</a:t>
            </a:r>
          </a:p>
          <a:p xmlns:a="http://schemas.openxmlformats.org/drawingml/2006/main">
            <a:r>
              <a:t>  ],</a:t>
            </a:r>
          </a:p>
          <a:p xmlns:a="http://schemas.openxmlformats.org/drawingml/2006/main">
            <a:r>
              <a:t>  "acceptancePlan": {</a:t>
            </a:r>
          </a:p>
          <a:p xmlns:a="http://schemas.openxmlformats.org/drawingml/2006/main">
            <a:r>
              <a:t>    "sample": "단위 변환 오류, 기간 중복, 계수 개정, 결측값",</a:t>
            </a:r>
          </a:p>
          <a:p xmlns:a="http://schemas.openxmlformats.org/drawingml/2006/main">
            <a:r>
              <a:t>    "criterion": "독립 계산 일치·누락/이상값 보류",</a:t>
            </a:r>
          </a:p>
          <a:p xmlns:a="http://schemas.openxmlformats.org/drawingml/2006/main">
            <a:r>
              <a:t>    "evidence": "입력·계수 판본표·계산 대사·검토 기록",</a:t>
            </a:r>
          </a:p>
          <a:p xmlns:a="http://schemas.openxmlformats.org/drawingml/2006/main">
            <a:r>
              <a:t>    "execution": "미실행"</a:t>
            </a:r>
          </a:p>
          <a:p xmlns:a="http://schemas.openxmlformats.org/drawingml/2006/main">
            <a:r>
              <a:t>  },</a:t>
            </a:r>
          </a:p>
          <a:p xmlns:a="http://schemas.openxmlformats.org/drawingml/2006/main">
            <a:r>
              <a:t>  "formula": "산식 오류 건수 ÷ 산정 건수 / 산정 검토시간; 에너지·탄소 효과는 별도 실측",</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"ST-06",</a:t>
            </a:r>
          </a:p>
          <a:p xmlns:a="http://schemas.openxmlformats.org/drawingml/2006/main">
            <a:r>
              <a:t>  "number": 6,</a:t>
            </a:r>
          </a:p>
          <a:p xmlns:a="http://schemas.openxmlformats.org/drawingml/2006/main">
            <a:r>
              <a:t>  "direction": "지능형 미래 모빌리티 혁신",</a:t>
            </a:r>
          </a:p>
          <a:p xmlns:a="http://schemas.openxmlformats.org/drawingml/2006/main">
            <a:r>
              <a:t>  "strategy": "기후위기 대응 친환경 전환 가속화",</a:t>
            </a:r>
          </a:p>
          <a:p xmlns:a="http://schemas.openxmlformats.org/drawingml/2006/main">
            <a:r>
              <a:t>  "solution": "친환경 교통·탄소 업무지원",</a:t>
            </a:r>
          </a:p>
          <a:p xmlns:a="http://schemas.openxmlformats.org/drawingml/2006/main">
            <a:r>
              <a:t>  "lawIds": [</a:t>
            </a:r>
          </a:p>
          <a:p xmlns:a="http://schemas.openxmlformats.org/drawingml/2006/main">
            <a:r>
              <a:t>    "L13"</a:t>
            </a:r>
          </a:p>
          <a:p xmlns:a="http://schemas.openxmlformats.org/drawingml/2006/main">
            <a:r>
              <a:t>  ],</a:t>
            </a:r>
          </a:p>
          <a:p xmlns:a="http://schemas.openxmlformats.org/drawingml/2006/main">
            <a:r>
              <a:t>  "codes": [</a:t>
            </a:r>
          </a:p>
          <a:p xmlns:a="http://schemas.openxmlformats.org/drawingml/2006/main">
            <a:r>
              <a:t>    "1019040",</a:t>
            </a:r>
          </a:p>
          <a:p xmlns:a="http://schemas.openxmlformats.org/drawingml/2006/main">
            <a:r>
              <a:t>    "1019041",</a:t>
            </a:r>
          </a:p>
          <a:p xmlns:a="http://schemas.openxmlformats.org/drawingml/2006/main">
            <a:r>
              <a:t>    "1019030"</a:t>
            </a:r>
          </a:p>
          <a:p xmlns:a="http://schemas.openxmlformats.org/drawingml/2006/main">
            <a:r>
              <a:t>  ],</a:t>
            </a:r>
          </a:p>
          <a:p xmlns:a="http://schemas.openxmlformats.org/drawingml/2006/main">
            <a:r>
              <a:t>  "work": "교통물류·탄소중립 정책 및 친환경 전환 자료 관리",</a:t>
            </a:r>
          </a:p>
          <a:p xmlns:a="http://schemas.openxmlformats.org/drawingml/2006/main">
            <a:r>
              <a:t>  "features": [</a:t>
            </a:r>
          </a:p>
          <a:p xmlns:a="http://schemas.openxmlformats.org/drawingml/2006/main">
            <a:r>
              <a:t>    "활동자료·계수·산정기간·원천 판본 연결",</a:t>
            </a:r>
          </a:p>
          <a:p xmlns:a="http://schemas.openxmlformats.org/drawingml/2006/main">
            <a:r>
              <a:t>    "부서·사업별 실적 증빙과 보고서 작성 지원"</a:t>
            </a:r>
          </a:p>
          <a:p xmlns:a="http://schemas.openxmlformats.org/drawingml/2006/main">
            <a:r>
              <a:t>  ],</a:t>
            </a:r>
          </a:p>
          <a:p xmlns:a="http://schemas.openxmlformats.org/drawingml/2006/main">
            <a:r>
              <a:t>  "output": "탄소 산정 대사표·개선 권고 초안",</a:t>
            </a:r>
          </a:p>
          <a:p xmlns:a="http://schemas.openxmlformats.org/drawingml/2006/main">
            <a:r>
              <a:t>  "acceptance": "산정 입력·계수·기간의 재현성 및 누락 자료의 보류 처리",</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"GAI-T02",</a:t>
            </a:r>
          </a:p>
          <a:p xmlns:a="http://schemas.openxmlformats.org/drawingml/2006/main">
            <a:r>
              <a:t>    "GAI-T06",</a:t>
            </a:r>
          </a:p>
          <a:p xmlns:a="http://schemas.openxmlformats.org/drawingml/2006/main">
            <a:r>
              <a:t>    "GAI-T09"</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정책·실적 관리",</a:t>
            </a:r>
          </a:p>
          <a:p xmlns:a="http://schemas.openxmlformats.org/drawingml/2006/main">
            <a:r>
              <a:t>      "indices": [</a:t>
            </a:r>
          </a:p>
          <a:p xmlns:a="http://schemas.openxmlformats.org/drawingml/2006/main">
            <a:r>
              <a:t>        1,</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"2. 화물운송실적관리시스템 운영에 관한 업무",</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"1019041",</a:t>
            </a:r>
          </a:p>
          <a:p xmlns:a="http://schemas.openxmlformats.org/drawingml/2006/main">
            <a:r>
              <a:t>      "name": "탄소중립정책팀",</a:t>
            </a:r>
          </a:p>
          <a:p xmlns:a="http://schemas.openxmlformats.org/drawingml/2006/main">
            <a:r>
              <a:t>      "job": "온실가스 조사·감축지원",</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교통부문 온실가스 배출량 조사사업(배출량 조사, 계수개발, 목표관리제, KOTEMS 등) 운영 및 관리 업무",</a:t>
            </a:r>
          </a:p>
          <a:p xmlns:a="http://schemas.openxmlformats.org/drawingml/2006/main">
            <a:r>
              <a:t>        "3. 교통부문 온실가스 감축 추진 등을 위한 배출권거래제 외부사업, 국제항공탄소 상쇄제도 및 국제감축 등 감축지원 사업 발굴, 운영·관리 업무"</a:t>
            </a:r>
          </a:p>
          <a:p xmlns:a="http://schemas.openxmlformats.org/drawingml/2006/main">
            <a:r>
              <a:t>      ],</a:t>
            </a:r>
          </a:p>
          <a:p xmlns:a="http://schemas.openxmlformats.org/drawingml/2006/main">
            <a:r>
              <a:t>      "locator": "별표4 · T40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"친환경차 안전 정책",</a:t>
            </a:r>
          </a:p>
          <a:p xmlns:a="http://schemas.openxmlformats.org/drawingml/2006/main">
            <a:r>
              <a:t>      "indices": [</a:t>
            </a:r>
          </a:p>
          <a:p xmlns:a="http://schemas.openxmlformats.org/drawingml/2006/main">
            <a:r>
              <a:t>        17</a:t>
            </a:r>
          </a:p>
          <a:p xmlns:a="http://schemas.openxmlformats.org/drawingml/2006/main">
            <a:r>
              <a:t>      ],</a:t>
            </a:r>
          </a:p>
          <a:p xmlns:a="http://schemas.openxmlformats.org/drawingml/2006/main">
            <a:r>
              <a:t>      "duties": [</a:t>
            </a:r>
          </a:p>
          <a:p xmlns:a="http://schemas.openxmlformats.org/drawingml/2006/main">
            <a:r>
              <a:t>        "18. 사업부서 추진 중 친환경차 안전확보 업무에 대한 총괄 정책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"L13: 화물운송실적 업무에 한정 / 온실가스 조사·계수·감축지원: 별표4 T40 탄소중립정책팀 업무 / 탄소 산정 관련 개별 법령·기준 추가 대조",</a:t>
            </a:r>
          </a:p>
          <a:p xmlns:a="http://schemas.openxmlformats.org/drawingml/2006/main">
            <a:r>
              <a:t>  "caseRefs":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"친환경 운행·탄소 검증 지원",</a:t>
            </a:r>
          </a:p>
          <a:p xmlns:a="http://schemas.openxmlformats.org/drawingml/2006/main">
            <a:r>
              <a:t>  "delta": "활동량·계수·산식 검증과 개선 권고",</a:t>
            </a:r>
          </a:p>
          <a:p xmlns:a="http://schemas.openxmlformats.org/drawingml/2006/main">
            <a:r>
              <a:t>  "kpi": "활동량당 에너지 / 산식 오류율",</a:t>
            </a:r>
          </a:p>
          <a:p xmlns:a="http://schemas.openxmlformats.org/drawingml/2006/main">
            <a:r>
              <a:t>  "validation": "같은 계절·운행 조건 비교 및 계수 판본 재계산",</a:t>
            </a:r>
          </a:p>
          <a:p xmlns:a="http://schemas.openxmlformats.org/drawingml/2006/main">
            <a:r>
              <a:t>  "requirement": "BM-ST-06-R01",</a:t>
            </a:r>
          </a:p>
          <a:p xmlns:a="http://schemas.openxmlformats.org/drawingml/2006/main">
            <a:r>
              <a:t>  "test": "BM-ST-06-T01",</a:t>
            </a:r>
          </a:p>
          <a:p xmlns:a="http://schemas.openxmlformats.org/drawingml/2006/main">
            <a:r>
              <a:t>  "effectStatus": "기대 방향 · TS 실측 전",</a:t>
            </a:r>
          </a:p>
          <a:p xmlns:a="http://schemas.openxmlformats.org/drawingml/2006/main">
            <a:r>
              <a:t>  "effect": "보고 재계산·산식 오류 감소",</a:t>
            </a:r>
          </a:p>
          <a:p xmlns:a="http://schemas.openxmlformats.org/drawingml/2006/main">
            <a:r>
              <a:t>  "reuse": "ON27-BASE / C27-COM + CCK 재사용 판정 기능",</a:t>
            </a:r>
          </a:p>
          <a:p xmlns:a="http://schemas.openxmlformats.org/drawingml/2006/main">
            <a:r>
              <a:t>  "input": "운행·연료 등 활동량, 배출계수 판본, 산정기간·경계",</a:t>
            </a:r>
          </a:p>
          <a:p xmlns:a="http://schemas.openxmlformats.org/drawingml/2006/main">
            <a:r>
              <a:t>  "steps": [</a:t>
            </a:r>
          </a:p>
          <a:p xmlns:a="http://schemas.openxmlformats.org/drawingml/2006/main">
            <a:r>
              <a:t>    "단위·기간 정규화",</a:t>
            </a:r>
          </a:p>
          <a:p xmlns:a="http://schemas.openxmlformats.org/drawingml/2006/main">
            <a:r>
              <a:t>    "계수·산식 대조",</a:t>
            </a:r>
          </a:p>
          <a:p xmlns:a="http://schemas.openxmlformats.org/drawingml/2006/main">
            <a:r>
              <a:t>    "검증 계산·이상값 보류",</a:t>
            </a:r>
          </a:p>
          <a:p xmlns:a="http://schemas.openxmlformats.org/drawingml/2006/main">
            <a:r>
              <a:t>    "부서별 개선 권고 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정책·실적 관리",</a:t>
            </a:r>
          </a:p>
          <a:p xmlns:a="http://schemas.openxmlformats.org/drawingml/2006/main">
            <a:r>
              <a:t>      "indices": [</a:t>
            </a:r>
          </a:p>
          <a:p xmlns:a="http://schemas.openxmlformats.org/drawingml/2006/main">
            <a:r>
              <a:t>        1,</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"2. 화물운송실적관리시스템 운영에 관한 업무",</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"RULEWORK-1019040-2",</a:t>
            </a:r>
          </a:p>
          <a:p xmlns:a="http://schemas.openxmlformats.org/drawingml/2006/main">
            <a:r>
              <a:t>          "text": "2. 화물운송실적관리시스템 운영에 관한 업무",</a:t>
            </a:r>
          </a:p>
          <a:p xmlns:a="http://schemas.openxmlformats.org/drawingml/2006/main">
            <a:r>
              <a:t>          "locator": "별표4 · T40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"RULEWORK-1019040-2-R01",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"RULEWORK-1019040-2-T01",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"RULEWORK-1019040-2-R02",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"RULEWORK-1019040-2-T02",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"RULEWORK-1019040-6",</a:t>
            </a:r>
          </a:p>
          <a:p xmlns:a="http://schemas.openxmlformats.org/drawingml/2006/main">
            <a:r>
              <a:t>          "text": "6. 교통물류 정책관련 연구‧사업 업무",</a:t>
            </a:r>
          </a:p>
          <a:p xmlns:a="http://schemas.openxmlformats.org/drawingml/2006/main">
            <a:r>
              <a:t>          "locator": "별표4 · T40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"RULEWORK-1019040-6-R01",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"RULEWORK-1019040-6-T01",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"RULEWORK-1019040-6-R02",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"RULEWORK-1019040-6-T02",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"1019041",</a:t>
            </a:r>
          </a:p>
          <a:p xmlns:a="http://schemas.openxmlformats.org/drawingml/2006/main">
            <a:r>
              <a:t>      "name": "탄소중립정책팀",</a:t>
            </a:r>
          </a:p>
          <a:p xmlns:a="http://schemas.openxmlformats.org/drawingml/2006/main">
            <a:r>
              <a:t>      "job": "온실가스 조사·감축지원",</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교통부문 온실가스 배출량 조사사업(배출량 조사, 계수개발, 목표관리제, KOTEMS 등) 운영 및 관리 업무",</a:t>
            </a:r>
          </a:p>
          <a:p xmlns:a="http://schemas.openxmlformats.org/drawingml/2006/main">
            <a:r>
              <a:t>        "3. 교통부문 온실가스 감축 추진 등을 위한 배출권거래제 외부사업, 국제항공탄소 상쇄제도 및 국제감축 등 감축지원 사업 발굴, 운영·관리 업무"</a:t>
            </a:r>
          </a:p>
          <a:p xmlns:a="http://schemas.openxmlformats.org/drawingml/2006/main">
            <a:r>
              <a:t>      ],</a:t>
            </a:r>
          </a:p>
          <a:p xmlns:a="http://schemas.openxmlformats.org/drawingml/2006/main">
            <a:r>
              <a:t>      "locator": "별표4 · T40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"RULEWORK-1019041-1",</a:t>
            </a:r>
          </a:p>
          <a:p xmlns:a="http://schemas.openxmlformats.org/drawingml/2006/main">
            <a:r>
              <a:t>          "text": "1. 교통부문 온실가스 배출량 조사사업(배출량 조사, 계수개발, 목표관리제, KOTEMS 등) 운영 및 관리 업무",</a:t>
            </a:r>
          </a:p>
          <a:p xmlns:a="http://schemas.openxmlformats.org/drawingml/2006/main">
            <a:r>
              <a:t>          "locator": "별표4 · T40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"RULEWORK-1019041-1-R01",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"RULEWORK-1019041-1-T01",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"RULEWORK-1019041-1-R02",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"RULEWORK-1019041-1-T02",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"RULEWORK-1019041-3",</a:t>
            </a:r>
          </a:p>
          <a:p xmlns:a="http://schemas.openxmlformats.org/drawingml/2006/main">
            <a:r>
              <a:t>          "text": "3. 교통부문 온실가스 감축 추진 등을 위한 배출권거래제 외부사업, 국제항공탄소 상쇄제도 및 국제감축 등 감축지원 사업 발굴, 운영·관리 업무",</a:t>
            </a:r>
          </a:p>
          <a:p xmlns:a="http://schemas.openxmlformats.org/drawingml/2006/main">
            <a:r>
              <a:t>          "locator": "별표4 · T40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"RULEWORK-1019041-3-R01",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"RULEWORK-1019041-3-T01",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"RULEWORK-1019041-3-R02",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"RULEWORK-1019041-3-T02",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"친환경차 안전 정책",</a:t>
            </a:r>
          </a:p>
          <a:p xmlns:a="http://schemas.openxmlformats.org/drawingml/2006/main">
            <a:r>
              <a:t>      "indices": [</a:t>
            </a:r>
          </a:p>
          <a:p xmlns:a="http://schemas.openxmlformats.org/drawingml/2006/main">
            <a:r>
              <a:t>        17</a:t>
            </a:r>
          </a:p>
          <a:p xmlns:a="http://schemas.openxmlformats.org/drawingml/2006/main">
            <a:r>
              <a:t>      ],</a:t>
            </a:r>
          </a:p>
          <a:p xmlns:a="http://schemas.openxmlformats.org/drawingml/2006/main">
            <a:r>
              <a:t>      "duties": [</a:t>
            </a:r>
          </a:p>
          <a:p xmlns:a="http://schemas.openxmlformats.org/drawingml/2006/main">
            <a:r>
              <a:t>        "18. 사업부서 추진 중 친환경차 안전확보 업무에 대한 총괄 정책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"RULEWORK-1019030-18",</a:t>
            </a:r>
          </a:p>
          <a:p xmlns:a="http://schemas.openxmlformats.org/drawingml/2006/main">
            <a:r>
              <a:t>          "text": "18. 사업부서 추진 중 친환경차 안전확보 업무에 대한 총괄 정책 업무",</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"RULEWORK-1019030-18-R01",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"RULEWORK-1019030-18-T01",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"RULEWORK-1019030-18-R02",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"RULEWORK-1019030-18-T02",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"RULEWORK-1019030-18-R03",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"RULEWORK-1019030-18-T03",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근거 검색·보고 초안"</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"Audin·JET의 수치 근거 구조화"</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"활동량–계수–산식 버전 연결",</a:t>
            </a:r>
          </a:p>
          <a:p xmlns:a="http://schemas.openxmlformats.org/drawingml/2006/main">
            <a:r>
              <a:t>    "독립 재계산·결측 판정 모듈"</a:t>
            </a:r>
          </a:p>
          <a:p xmlns:a="http://schemas.openxmlformats.org/drawingml/2006/main">
            <a:r>
              <a:t>  ],</a:t>
            </a:r>
          </a:p>
          <a:p xmlns:a="http://schemas.openxmlformats.org/drawingml/2006/main">
            <a:r>
              <a:t>  "acceptancePlan": {</a:t>
            </a:r>
          </a:p>
          <a:p xmlns:a="http://schemas.openxmlformats.org/drawingml/2006/main">
            <a:r>
              <a:t>    "sample": "단위 변환 오류, 기간 중복, 계수 개정, 결측값",</a:t>
            </a:r>
          </a:p>
          <a:p xmlns:a="http://schemas.openxmlformats.org/drawingml/2006/main">
            <a:r>
              <a:t>    "criterion": "독립 계산 일치·누락/이상값 보류",</a:t>
            </a:r>
          </a:p>
          <a:p xmlns:a="http://schemas.openxmlformats.org/drawingml/2006/main">
            <a:r>
              <a:t>    "evidence": "입력·계수 판본표·계산 대사·검토 기록",</a:t>
            </a:r>
          </a:p>
          <a:p xmlns:a="http://schemas.openxmlformats.org/drawingml/2006/main">
            <a:r>
              <a:t>    "execution": "미실행"</a:t>
            </a:r>
          </a:p>
          <a:p xmlns:a="http://schemas.openxmlformats.org/drawingml/2006/main">
            <a:r>
              <a:t>  },</a:t>
            </a:r>
          </a:p>
          <a:p xmlns:a="http://schemas.openxmlformats.org/drawingml/2006/main">
            <a:r>
              <a:t>  "formula": "산식 오류 건수 ÷ 산정 건수 / 산정 검토시간; 에너지·탄소 효과는 별도 실측",</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"ST-07",</a:t>
            </a:r>
          </a:p>
          <a:p xmlns:a="http://schemas.openxmlformats.org/drawingml/2006/main">
            <a:r>
              <a:t>  "number": 7,</a:t>
            </a:r>
          </a:p>
          <a:p xmlns:a="http://schemas.openxmlformats.org/drawingml/2006/main">
            <a:r>
              <a:t>  "direction": "균형있는 국민체감 서비스 실현",</a:t>
            </a:r>
          </a:p>
          <a:p xmlns:a="http://schemas.openxmlformats.org/drawingml/2006/main">
            <a:r>
              <a:t>  "strategy": "교통데이터 개방·연계 기반 서비스 편익 증대",</a:t>
            </a:r>
          </a:p>
          <a:p xmlns:a="http://schemas.openxmlformats.org/drawingml/2006/main">
            <a:r>
              <a:t>  "solution": "교통데이터 카탈로그·연계 지원",</a:t>
            </a:r>
          </a:p>
          <a:p xmlns:a="http://schemas.openxmlformats.org/drawingml/2006/main">
            <a:r>
              <a:t>  "lawIds": [</a:t>
            </a:r>
          </a:p>
          <a:p xmlns:a="http://schemas.openxmlformats.org/drawingml/2006/main">
            <a:r>
              <a:t>    "L04",</a:t>
            </a:r>
          </a:p>
          <a:p xmlns:a="http://schemas.openxmlformats.org/drawingml/2006/main">
            <a:r>
              <a:t>    "L10",</a:t>
            </a:r>
          </a:p>
          <a:p xmlns:a="http://schemas.openxmlformats.org/drawingml/2006/main">
            <a:r>
              <a:t>    "L15",</a:t>
            </a:r>
          </a:p>
          <a:p xmlns:a="http://schemas.openxmlformats.org/drawingml/2006/main">
            <a:r>
              <a:t>    "L16"</a:t>
            </a:r>
          </a:p>
          <a:p xmlns:a="http://schemas.openxmlformats.org/drawingml/2006/main">
            <a:r>
              <a:t>  ],</a:t>
            </a:r>
          </a:p>
          <a:p xmlns:a="http://schemas.openxmlformats.org/drawingml/2006/main">
            <a:r>
              <a:t>  "codes": [</a:t>
            </a:r>
          </a:p>
          <a:p xmlns:a="http://schemas.openxmlformats.org/drawingml/2006/main">
            <a:r>
              <a:t>    "1019600",</a:t>
            </a:r>
          </a:p>
          <a:p xmlns:a="http://schemas.openxmlformats.org/drawingml/2006/main">
            <a:r>
              <a:t>    "1019030",</a:t>
            </a:r>
          </a:p>
          <a:p xmlns:a="http://schemas.openxmlformats.org/drawingml/2006/main">
            <a:r>
              <a:t>    "1019400",</a:t>
            </a:r>
          </a:p>
          <a:p xmlns:a="http://schemas.openxmlformats.org/drawingml/2006/main">
            <a:r>
              <a:t>    "1019020",</a:t>
            </a:r>
          </a:p>
          <a:p xmlns:a="http://schemas.openxmlformats.org/drawingml/2006/main">
            <a:r>
              <a:t>    "1019010",</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"교통·차량 데이터의 소재·권리·품질·활용 관리",</a:t>
            </a:r>
          </a:p>
          <a:p xmlns:a="http://schemas.openxmlformats.org/drawingml/2006/main">
            <a:r>
              <a:t>  "features": [</a:t>
            </a:r>
          </a:p>
          <a:p xmlns:a="http://schemas.openxmlformats.org/drawingml/2006/main">
            <a:r>
              <a:t>    "데이터 정의·소유부서·용도·권한 카탈로그 구성",</a:t>
            </a:r>
          </a:p>
          <a:p xmlns:a="http://schemas.openxmlformats.org/drawingml/2006/main">
            <a:r>
              <a:t>    "기관 간 요청·승인·제공·결과 대사"</a:t>
            </a:r>
          </a:p>
          <a:p xmlns:a="http://schemas.openxmlformats.org/drawingml/2006/main">
            <a:r>
              <a:t>  ],</a:t>
            </a:r>
          </a:p>
          <a:p xmlns:a="http://schemas.openxmlformats.org/drawingml/2006/main">
            <a:r>
              <a:t>  "output": "데이터 카탈로그·제공 대사표",</a:t>
            </a:r>
          </a:p>
          <a:p xmlns:a="http://schemas.openxmlformats.org/drawingml/2006/main">
            <a:r>
              <a:t>  "acceptance": "권한별 검색 결과 분리·계약 필드 대사·회수 후 재접근 차단",</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"GAI-T06",</a:t>
            </a:r>
          </a:p>
          <a:p xmlns:a="http://schemas.openxmlformats.org/drawingml/2006/main">
            <a:r>
              <a:t>    "GAI-T09",</a:t>
            </a:r>
          </a:p>
          <a:p xmlns:a="http://schemas.openxmlformats.org/drawingml/2006/main">
            <a:r>
              <a:t>    "GAI-T11"</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"공공데이터 개방·표준",</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인공지능(AI) 데이터 표준화 및 데이터 스페이스 구축",</a:t>
            </a:r>
          </a:p>
          <a:p xmlns:a="http://schemas.openxmlformats.org/drawingml/2006/main">
            <a:r>
              <a:t>        "5. 공공데이터 개방 및 관련 시스템 구축․관리, 공공데이터 활용성과 평가 대응"</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"교통데이터 분석·결합",</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"8. 빅데이터 결합 ․분석․활용 및 교통 빅데이터 플랫폼 구축사업"</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통합정보 제공",</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"택시·대중교통 정보 운영",</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택시 운행정보 관리시스템 구축 및 운영",</a:t>
            </a:r>
          </a:p>
          <a:p xmlns:a="http://schemas.openxmlformats.org/drawingml/2006/main">
            <a:r>
              <a:t>        "10. 대중교통정보시스템(TAGO) 운영 등 ITS 관련 업무"</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"현황조사·데이터 관리",</a:t>
            </a:r>
          </a:p>
          <a:p xmlns:a="http://schemas.openxmlformats.org/drawingml/2006/main">
            <a:r>
              <a:t>      "indices":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"9. 첨단모빌리티 데이터 수집관리 지원"</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"데이터 품질관리",</a:t>
            </a:r>
          </a:p>
          <a:p xmlns:a="http://schemas.openxmlformats.org/drawingml/2006/main">
            <a:r>
              <a:t>      "indices": [</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"개인정보·접근 보안",</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정보보안 및 개인정보보호 관련 제도 및 지침관리",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"교통데이터 제공·연계 지원",</a:t>
            </a:r>
          </a:p>
          <a:p xmlns:a="http://schemas.openxmlformats.org/drawingml/2006/main">
            <a:r>
              <a:t>  "delta": "공개 가능 필드·데이터 사전·API 요청 연결",</a:t>
            </a:r>
          </a:p>
          <a:p xmlns:a="http://schemas.openxmlformats.org/drawingml/2006/main">
            <a:r>
              <a:t>  "kpi": "연계 성공률 / 목적 외 노출 건수",</a:t>
            </a:r>
          </a:p>
          <a:p xmlns:a="http://schemas.openxmlformats.org/drawingml/2006/main">
            <a:r>
              <a:t>  "validation": "공개·내부 필드 혼합과 재식별 위험 입력 검증",</a:t>
            </a:r>
          </a:p>
          <a:p xmlns:a="http://schemas.openxmlformats.org/drawingml/2006/main">
            <a:r>
              <a:t>  "requirement": "BM-ST-07-R01",</a:t>
            </a:r>
          </a:p>
          <a:p xmlns:a="http://schemas.openxmlformats.org/drawingml/2006/main">
            <a:r>
              <a:t>  "test": "BM-ST-07-T01",</a:t>
            </a:r>
          </a:p>
          <a:p xmlns:a="http://schemas.openxmlformats.org/drawingml/2006/main">
            <a:r>
              <a:t>  "effectStatus": "기대 방향 · TS 실측 전",</a:t>
            </a:r>
          </a:p>
          <a:p xmlns:a="http://schemas.openxmlformats.org/drawingml/2006/main">
            <a:r>
              <a:t>  "effect": "데이터 탐색·연계 보완시간 감소",</a:t>
            </a:r>
          </a:p>
          <a:p xmlns:a="http://schemas.openxmlformats.org/drawingml/2006/main">
            <a:r>
              <a:t>  "reuse": "ON27-BASE / C27-COM + CCK 재사용 판정 기능",</a:t>
            </a:r>
          </a:p>
          <a:p xmlns:a="http://schemas.openxmlformats.org/drawingml/2006/main">
            <a:r>
              <a:t>  "input": "데이터 정의·필드, 소유부서, 제공목적·권한, 연계 명세",</a:t>
            </a:r>
          </a:p>
          <a:p xmlns:a="http://schemas.openxmlformats.org/drawingml/2006/main">
            <a:r>
              <a:t>  "steps": [</a:t>
            </a:r>
          </a:p>
          <a:p xmlns:a="http://schemas.openxmlformats.org/drawingml/2006/main">
            <a:r>
              <a:t>    "요청 목적·소관 분류",</a:t>
            </a:r>
          </a:p>
          <a:p xmlns:a="http://schemas.openxmlformats.org/drawingml/2006/main">
            <a:r>
              <a:t>    "필드·품질·제공조건 대조",</a:t>
            </a:r>
          </a:p>
          <a:p xmlns:a="http://schemas.openxmlformats.org/drawingml/2006/main">
            <a:r>
              <a:t>    "승인된 제공경로 연결",</a:t>
            </a:r>
          </a:p>
          <a:p xmlns:a="http://schemas.openxmlformats.org/drawingml/2006/main">
            <a:r>
              <a:t>    "수신 대사·회수 반영"</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"공공데이터 개방·표준",</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인공지능(AI) 데이터 표준화 및 데이터 스페이스 구축",</a:t>
            </a:r>
          </a:p>
          <a:p xmlns:a="http://schemas.openxmlformats.org/drawingml/2006/main">
            <a:r>
              <a:t>        "5. 공공데이터 개방 및 관련 시스템 구축․관리, 공공데이터 활용성과 평가 대응"</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"RULEWORK-1019600-5",</a:t>
            </a:r>
          </a:p>
          <a:p xmlns:a="http://schemas.openxmlformats.org/drawingml/2006/main">
            <a:r>
              <a:t>          "text": "5. 공공데이터 개방 및 관련 시스템 구축․관리, 공공데이터 활용성과 평가 대응",</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"RULEWORK-1019600-5-R01",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"RULEWORK-1019600-5-T01",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"RULEWORK-1019600-5-R02",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"RULEWORK-1019600-5-T02",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"RULEWORK-1019600-5-R03",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"교통데이터 분석·결합",</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"8. 빅데이터 결합 ․분석․활용 및 교통 빅데이터 플랫폼 구축사업"</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"RULEWORK-1019030-3",</a:t>
            </a:r>
          </a:p>
          <a:p xmlns:a="http://schemas.openxmlformats.org/drawingml/2006/main">
            <a:r>
              <a:t>          "text": "3. 운행기록데이터 관리·분석·활용 및 정책지원",</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"RULEWORK-1019030-8",</a:t>
            </a:r>
          </a:p>
          <a:p xmlns:a="http://schemas.openxmlformats.org/drawingml/2006/main">
            <a:r>
              <a:t>          "text": "8. 빅데이터 결합 ․분석․활용 및 교통 빅데이터 플랫폼 구축사업",</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통합정보 제공",</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"RULEWORK-1019400-3",</a:t>
            </a:r>
          </a:p>
          <a:p xmlns:a="http://schemas.openxmlformats.org/drawingml/2006/main">
            <a:r>
              <a:t>          "text": "3. 자동차토털이력관리시스템 운영",</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"RULEWORK-1019400-8",</a:t>
            </a:r>
          </a:p>
          <a:p xmlns:a="http://schemas.openxmlformats.org/drawingml/2006/main">
            <a:r>
              <a:t>          "text": "8. 자동차정보 통합서비스 제공 업무",</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"택시·대중교통 정보 운영",</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택시 운행정보 관리시스템 구축 및 운영",</a:t>
            </a:r>
          </a:p>
          <a:p xmlns:a="http://schemas.openxmlformats.org/drawingml/2006/main">
            <a:r>
              <a:t>        "10. 대중교통정보시스템(TAGO) 운영 등 ITS 관련 업무"</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"RULEWORK-1019020-2",</a:t>
            </a:r>
          </a:p>
          <a:p xmlns:a="http://schemas.openxmlformats.org/drawingml/2006/main">
            <a:r>
              <a:t>          "text": "2. 택시 운행정보 관리시스템 구축 및 운영",</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"RULEWORK-1019020-2-T01",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"RULEWORK-1019020-2-R02",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"RULEWORK-1019020-2-T02",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"RULEWORK-1019020-10",</a:t>
            </a:r>
          </a:p>
          <a:p xmlns:a="http://schemas.openxmlformats.org/drawingml/2006/main">
            <a:r>
              <a:t>          "text": "10. 대중교통정보시스템(TAGO) 운영 등 ITS 관련 업무",</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"RULEWORK-1019020-10-R01",</a:t>
            </a:r>
          </a:p>
          <a:p xmlns:a="http://schemas.openxmlformats.org/drawingml/2006/main">
            <a:r>
              <a:t>              "title": "업무 맥락·전용 지식 구성",</a:t>
            </a:r>
          </a:p>
          <a:p xmlns:a="http://schemas.openxmlformats.org/drawingml/2006/main">
            <a:r>
              <a:t>              "development": "지역·시간·배차 제약과 요청 맥락 분류",</a:t>
            </a:r>
          </a:p>
          <a:p xmlns:a="http://schemas.openxmlformats.org/drawingml/2006/main">
            <a:r>
              <a:t>              "output": "조건·예외·변경 요청·결과 대사표",</a:t>
            </a:r>
          </a:p>
          <a:p xmlns:a="http://schemas.openxmlformats.org/drawingml/2006/main">
            <a:r>
              <a:t>              "testId": "RULEWORK-1019020-10-T01",</a:t>
            </a:r>
          </a:p>
          <a:p xmlns:a="http://schemas.openxmlformats.org/drawingml/2006/main">
            <a:r>
              <a:t>              "criterion": "운영 상태·조건별 가능한 후보와 예외 정답 대조"</a:t>
            </a:r>
          </a:p>
          <a:p xmlns:a="http://schemas.openxmlformats.org/drawingml/2006/main">
            <a:r>
              <a:t>            },</a:t>
            </a:r>
          </a:p>
          <a:p xmlns:a="http://schemas.openxmlformats.org/drawingml/2006/main">
            <a:r>
              <a:t>            {</a:t>
            </a:r>
          </a:p>
          <a:p xmlns:a="http://schemas.openxmlformats.org/drawingml/2006/main">
            <a:r>
              <a:t>              "id": "RULEWORK-1019020-10-R02",</a:t>
            </a:r>
          </a:p>
          <a:p xmlns:a="http://schemas.openxmlformats.org/drawingml/2006/main">
            <a:r>
              <a:t>              "title": "업무건·역할·시스템 연결",</a:t>
            </a:r>
          </a:p>
          <a:p xmlns:a="http://schemas.openxmlformats.org/drawingml/2006/main">
            <a:r>
              <a:t>              "development": "기존 운영시스템 조회·승인 후 변경 결과 대사",</a:t>
            </a:r>
          </a:p>
          <a:p xmlns:a="http://schemas.openxmlformats.org/drawingml/2006/main">
            <a:r>
              <a:t>              "output": "업무건·원천·역할·변경 연결 명세",</a:t>
            </a:r>
          </a:p>
          <a:p xmlns:a="http://schemas.openxmlformats.org/drawingml/2006/main">
            <a:r>
              <a:t>              "testId": "RULEWORK-1019020-10-T02",</a:t>
            </a:r>
          </a:p>
          <a:p xmlns:a="http://schemas.openxmlformats.org/drawingml/2006/main">
            <a:r>
              <a:t>              "criterion": "운영자 확인 전 변경 및 중복 배차 요청 차단"</a:t>
            </a:r>
          </a:p>
          <a:p xmlns:a="http://schemas.openxmlformats.org/drawingml/2006/main">
            <a:r>
              <a:t>            },</a:t>
            </a:r>
          </a:p>
          <a:p xmlns:a="http://schemas.openxmlformats.org/drawingml/2006/main">
            <a:r>
              <a:t>            {</a:t>
            </a:r>
          </a:p>
          <a:p xmlns:a="http://schemas.openxmlformats.org/drawingml/2006/main">
            <a:r>
              <a:t>              "id": "RULEWORK-1019020-10-R03",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"현황조사·데이터 관리",</a:t>
            </a:r>
          </a:p>
          <a:p xmlns:a="http://schemas.openxmlformats.org/drawingml/2006/main">
            <a:r>
              <a:t>      "indices":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"9. 첨단모빌리티 데이터 수집관리 지원"</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"RULEWORK-1019010-7",</a:t>
            </a:r>
          </a:p>
          <a:p xmlns:a="http://schemas.openxmlformats.org/drawingml/2006/main">
            <a:r>
              <a:t>          "text": "7. 대중교통 현황조사에 관한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"RULEWORK-1019010-7-R01",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"RULEWORK-1019010-7-T01",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"RULEWORK-1019010-7-R02",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"RULEWORK-1019010-7-T02",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"RULEWORK-1019010-8",</a:t>
            </a:r>
          </a:p>
          <a:p xmlns:a="http://schemas.openxmlformats.org/drawingml/2006/main">
            <a:r>
              <a:t>          "text": "9. 첨단모빌리티 데이터 수집관리 지원",</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"RULEWORK-1019010-8-R01",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"RULEWORK-1019010-8-T01",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"RULEWORK-1019010-8-R02",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"RULEWORK-1019010-8-T02",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"RULEWORK-1019010-8-R03",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"데이터 품질관리",</a:t>
            </a:r>
          </a:p>
          <a:p xmlns:a="http://schemas.openxmlformats.org/drawingml/2006/main">
            <a:r>
              <a:t>      "indices": [</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"개인정보·접근 보안",</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정보보안 및 개인정보보호 관련 제도 및 지침관리",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"RULEWORK-1019500-2",</a:t>
            </a:r>
          </a:p>
          <a:p xmlns:a="http://schemas.openxmlformats.org/drawingml/2006/main">
            <a:r>
              <a:t>          "text": "2. 정보보안 및 개인정보보호 관련 제도 및 지침관리",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"RULEWORK-1019500-2-R01",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"RULEWORK-1019500-2-T01",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"RULEWORK-1019500-2-R02",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"RULEWORK-1019500-2-T02",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자료 검색·질의 지원"</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"목적·필드별 정책 카탈로그",</a:t>
            </a:r>
          </a:p>
          <a:p xmlns:a="http://schemas.openxmlformats.org/drawingml/2006/main">
            <a:r>
              <a:t>    "요청–승인–제공–회수 연결 어댑터"</a:t>
            </a:r>
          </a:p>
          <a:p xmlns:a="http://schemas.openxmlformats.org/drawingml/2006/main">
            <a:r>
              <a:t>  ],</a:t>
            </a:r>
          </a:p>
          <a:p xmlns:a="http://schemas.openxmlformats.org/drawingml/2006/main">
            <a:r>
              <a:t>  "acceptancePlan": {</a:t>
            </a:r>
          </a:p>
          <a:p xmlns:a="http://schemas.openxmlformats.org/drawingml/2006/main">
            <a:r>
              <a:t>    "sample": "공개/내부 필드 혼합, 스키마 변경, 권한 회수",</a:t>
            </a:r>
          </a:p>
          <a:p xmlns:a="http://schemas.openxmlformats.org/drawingml/2006/main">
            <a:r>
              <a:t>    "criterion": "허용 필드만 제공·불일치 보류·회수 후 캐시 차단",</a:t>
            </a:r>
          </a:p>
          <a:p xmlns:a="http://schemas.openxmlformats.org/drawingml/2006/main">
            <a:r>
              <a:t>    "evidence": "필드 대사표·거부셋 결과·회수 로그",</a:t>
            </a:r>
          </a:p>
          <a:p xmlns:a="http://schemas.openxmlformats.org/drawingml/2006/main">
            <a:r>
              <a:t>    "execution": "미실행"</a:t>
            </a:r>
          </a:p>
          <a:p xmlns:a="http://schemas.openxmlformats.org/drawingml/2006/main">
            <a:r>
              <a:t>  },</a:t>
            </a:r>
          </a:p>
          <a:p xmlns:a="http://schemas.openxmlformats.org/drawingml/2006/main">
            <a:r>
              <a:t>  "formula": "승인 조건 충족 연계 수 ÷ 연계 시도 수 / 목적 외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"PF-R07",</a:t>
            </a:r>
          </a:p>
          <a:p xmlns:a="http://schemas.openxmlformats.org/drawingml/2006/main">
            <a:r>
              <a:t>    "PF-R08",</a:t>
            </a:r>
          </a:p>
          <a:p xmlns:a="http://schemas.openxmlformats.org/drawingml/2006/main">
            <a:r>
              <a:t>    "PF03",</a:t>
            </a:r>
          </a:p>
          <a:p xmlns:a="http://schemas.openxmlformats.org/drawingml/2006/main">
            <a:r>
              <a:t>    "PF06"</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"ST-07",</a:t>
            </a:r>
          </a:p>
          <a:p xmlns:a="http://schemas.openxmlformats.org/drawingml/2006/main">
            <a:r>
              <a:t>  "number": 7,</a:t>
            </a:r>
          </a:p>
          <a:p xmlns:a="http://schemas.openxmlformats.org/drawingml/2006/main">
            <a:r>
              <a:t>  "direction": "균형있는 국민체감 서비스 실현",</a:t>
            </a:r>
          </a:p>
          <a:p xmlns:a="http://schemas.openxmlformats.org/drawingml/2006/main">
            <a:r>
              <a:t>  "strategy": "교통데이터 개방·연계 기반 서비스 편익 증대",</a:t>
            </a:r>
          </a:p>
          <a:p xmlns:a="http://schemas.openxmlformats.org/drawingml/2006/main">
            <a:r>
              <a:t>  "solution": "교통데이터 카탈로그·연계 지원",</a:t>
            </a:r>
          </a:p>
          <a:p xmlns:a="http://schemas.openxmlformats.org/drawingml/2006/main">
            <a:r>
              <a:t>  "lawIds": [</a:t>
            </a:r>
          </a:p>
          <a:p xmlns:a="http://schemas.openxmlformats.org/drawingml/2006/main">
            <a:r>
              <a:t>    "L04",</a:t>
            </a:r>
          </a:p>
          <a:p xmlns:a="http://schemas.openxmlformats.org/drawingml/2006/main">
            <a:r>
              <a:t>    "L10",</a:t>
            </a:r>
          </a:p>
          <a:p xmlns:a="http://schemas.openxmlformats.org/drawingml/2006/main">
            <a:r>
              <a:t>    "L15",</a:t>
            </a:r>
          </a:p>
          <a:p xmlns:a="http://schemas.openxmlformats.org/drawingml/2006/main">
            <a:r>
              <a:t>    "L16"</a:t>
            </a:r>
          </a:p>
          <a:p xmlns:a="http://schemas.openxmlformats.org/drawingml/2006/main">
            <a:r>
              <a:t>  ],</a:t>
            </a:r>
          </a:p>
          <a:p xmlns:a="http://schemas.openxmlformats.org/drawingml/2006/main">
            <a:r>
              <a:t>  "codes": [</a:t>
            </a:r>
          </a:p>
          <a:p xmlns:a="http://schemas.openxmlformats.org/drawingml/2006/main">
            <a:r>
              <a:t>    "1019600",</a:t>
            </a:r>
          </a:p>
          <a:p xmlns:a="http://schemas.openxmlformats.org/drawingml/2006/main">
            <a:r>
              <a:t>    "1019030",</a:t>
            </a:r>
          </a:p>
          <a:p xmlns:a="http://schemas.openxmlformats.org/drawingml/2006/main">
            <a:r>
              <a:t>    "1019400",</a:t>
            </a:r>
          </a:p>
          <a:p xmlns:a="http://schemas.openxmlformats.org/drawingml/2006/main">
            <a:r>
              <a:t>    "1019020",</a:t>
            </a:r>
          </a:p>
          <a:p xmlns:a="http://schemas.openxmlformats.org/drawingml/2006/main">
            <a:r>
              <a:t>    "1019010",</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"교통·차량 데이터의 소재·권리·품질·활용 관리",</a:t>
            </a:r>
          </a:p>
          <a:p xmlns:a="http://schemas.openxmlformats.org/drawingml/2006/main">
            <a:r>
              <a:t>  "features": [</a:t>
            </a:r>
          </a:p>
          <a:p xmlns:a="http://schemas.openxmlformats.org/drawingml/2006/main">
            <a:r>
              <a:t>    "데이터 정의·소유부서·용도·권한 카탈로그 구성",</a:t>
            </a:r>
          </a:p>
          <a:p xmlns:a="http://schemas.openxmlformats.org/drawingml/2006/main">
            <a:r>
              <a:t>    "기관 간 요청·승인·제공·결과 대사"</a:t>
            </a:r>
          </a:p>
          <a:p xmlns:a="http://schemas.openxmlformats.org/drawingml/2006/main">
            <a:r>
              <a:t>  ],</a:t>
            </a:r>
          </a:p>
          <a:p xmlns:a="http://schemas.openxmlformats.org/drawingml/2006/main">
            <a:r>
              <a:t>  "output": "데이터 카탈로그·제공 대사표",</a:t>
            </a:r>
          </a:p>
          <a:p xmlns:a="http://schemas.openxmlformats.org/drawingml/2006/main">
            <a:r>
              <a:t>  "acceptance": "권한별 검색 결과 분리·계약 필드 대사·회수 후 재접근 차단",</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"GAI-T06",</a:t>
            </a:r>
          </a:p>
          <a:p xmlns:a="http://schemas.openxmlformats.org/drawingml/2006/main">
            <a:r>
              <a:t>    "GAI-T09",</a:t>
            </a:r>
          </a:p>
          <a:p xmlns:a="http://schemas.openxmlformats.org/drawingml/2006/main">
            <a:r>
              <a:t>    "GAI-T11"</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"공공데이터 개방·표준",</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인공지능(AI) 데이터 표준화 및 데이터 스페이스 구축",</a:t>
            </a:r>
          </a:p>
          <a:p xmlns:a="http://schemas.openxmlformats.org/drawingml/2006/main">
            <a:r>
              <a:t>        "5. 공공데이터 개방 및 관련 시스템 구축․관리, 공공데이터 활용성과 평가 대응"</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"교통데이터 분석·결합",</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"8. 빅데이터 결합 ․분석․활용 및 교통 빅데이터 플랫폼 구축사업"</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통합정보 제공",</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"택시·대중교통 정보 운영",</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택시 운행정보 관리시스템 구축 및 운영",</a:t>
            </a:r>
          </a:p>
          <a:p xmlns:a="http://schemas.openxmlformats.org/drawingml/2006/main">
            <a:r>
              <a:t>        "10. 대중교통정보시스템(TAGO) 운영 등 ITS 관련 업무"</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"현황조사·데이터 관리",</a:t>
            </a:r>
          </a:p>
          <a:p xmlns:a="http://schemas.openxmlformats.org/drawingml/2006/main">
            <a:r>
              <a:t>      "indices":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"9. 첨단모빌리티 데이터 수집관리 지원"</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"데이터 품질관리",</a:t>
            </a:r>
          </a:p>
          <a:p xmlns:a="http://schemas.openxmlformats.org/drawingml/2006/main">
            <a:r>
              <a:t>      "indices": [</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"개인정보·접근 보안",</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정보보안 및 개인정보보호 관련 제도 및 지침관리",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"교통데이터 제공·연계 지원",</a:t>
            </a:r>
          </a:p>
          <a:p xmlns:a="http://schemas.openxmlformats.org/drawingml/2006/main">
            <a:r>
              <a:t>  "delta": "공개 가능 필드·데이터 사전·API 요청 연결",</a:t>
            </a:r>
          </a:p>
          <a:p xmlns:a="http://schemas.openxmlformats.org/drawingml/2006/main">
            <a:r>
              <a:t>  "kpi": "연계 성공률 / 목적 외 노출 건수",</a:t>
            </a:r>
          </a:p>
          <a:p xmlns:a="http://schemas.openxmlformats.org/drawingml/2006/main">
            <a:r>
              <a:t>  "validation": "공개·내부 필드 혼합과 재식별 위험 입력 검증",</a:t>
            </a:r>
          </a:p>
          <a:p xmlns:a="http://schemas.openxmlformats.org/drawingml/2006/main">
            <a:r>
              <a:t>  "requirement": "BM-ST-07-R01",</a:t>
            </a:r>
          </a:p>
          <a:p xmlns:a="http://schemas.openxmlformats.org/drawingml/2006/main">
            <a:r>
              <a:t>  "test": "BM-ST-07-T01",</a:t>
            </a:r>
          </a:p>
          <a:p xmlns:a="http://schemas.openxmlformats.org/drawingml/2006/main">
            <a:r>
              <a:t>  "effectStatus": "기대 방향 · TS 실측 전",</a:t>
            </a:r>
          </a:p>
          <a:p xmlns:a="http://schemas.openxmlformats.org/drawingml/2006/main">
            <a:r>
              <a:t>  "effect": "데이터 탐색·연계 보완시간 감소",</a:t>
            </a:r>
          </a:p>
          <a:p xmlns:a="http://schemas.openxmlformats.org/drawingml/2006/main">
            <a:r>
              <a:t>  "reuse": "ON27-BASE / C27-COM + CCK 재사용 판정 기능",</a:t>
            </a:r>
          </a:p>
          <a:p xmlns:a="http://schemas.openxmlformats.org/drawingml/2006/main">
            <a:r>
              <a:t>  "input": "데이터 정의·필드, 소유부서, 제공목적·권한, 연계 명세",</a:t>
            </a:r>
          </a:p>
          <a:p xmlns:a="http://schemas.openxmlformats.org/drawingml/2006/main">
            <a:r>
              <a:t>  "steps": [</a:t>
            </a:r>
          </a:p>
          <a:p xmlns:a="http://schemas.openxmlformats.org/drawingml/2006/main">
            <a:r>
              <a:t>    "요청 목적·소관 분류",</a:t>
            </a:r>
          </a:p>
          <a:p xmlns:a="http://schemas.openxmlformats.org/drawingml/2006/main">
            <a:r>
              <a:t>    "필드·품질·제공조건 대조",</a:t>
            </a:r>
          </a:p>
          <a:p xmlns:a="http://schemas.openxmlformats.org/drawingml/2006/main">
            <a:r>
              <a:t>    "승인된 제공경로 연결",</a:t>
            </a:r>
          </a:p>
          <a:p xmlns:a="http://schemas.openxmlformats.org/drawingml/2006/main">
            <a:r>
              <a:t>    "수신 대사·회수 반영"</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"공공데이터 개방·표준",</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인공지능(AI) 데이터 표준화 및 데이터 스페이스 구축",</a:t>
            </a:r>
          </a:p>
          <a:p xmlns:a="http://schemas.openxmlformats.org/drawingml/2006/main">
            <a:r>
              <a:t>        "5. 공공데이터 개방 및 관련 시스템 구축․관리, 공공데이터 활용성과 평가 대응"</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"RULEWORK-1019600-5",</a:t>
            </a:r>
          </a:p>
          <a:p xmlns:a="http://schemas.openxmlformats.org/drawingml/2006/main">
            <a:r>
              <a:t>          "text": "5. 공공데이터 개방 및 관련 시스템 구축․관리, 공공데이터 활용성과 평가 대응",</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"RULEWORK-1019600-5-R01",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"RULEWORK-1019600-5-T01",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"RULEWORK-1019600-5-R02",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"RULEWORK-1019600-5-T02",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"RULEWORK-1019600-5-R03",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"교통데이터 분석·결합",</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"8. 빅데이터 결합 ․분석․활용 및 교통 빅데이터 플랫폼 구축사업"</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"RULEWORK-1019030-3",</a:t>
            </a:r>
          </a:p>
          <a:p xmlns:a="http://schemas.openxmlformats.org/drawingml/2006/main">
            <a:r>
              <a:t>          "text": "3. 운행기록데이터 관리·분석·활용 및 정책지원",</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"RULEWORK-1019030-8",</a:t>
            </a:r>
          </a:p>
          <a:p xmlns:a="http://schemas.openxmlformats.org/drawingml/2006/main">
            <a:r>
              <a:t>          "text": "8. 빅데이터 결합 ․분석․활용 및 교통 빅데이터 플랫폼 구축사업",</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통합정보 제공",</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"RULEWORK-1019400-3",</a:t>
            </a:r>
          </a:p>
          <a:p xmlns:a="http://schemas.openxmlformats.org/drawingml/2006/main">
            <a:r>
              <a:t>          "text": "3. 자동차토털이력관리시스템 운영",</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"RULEWORK-1019400-8",</a:t>
            </a:r>
          </a:p>
          <a:p xmlns:a="http://schemas.openxmlformats.org/drawingml/2006/main">
            <a:r>
              <a:t>          "text": "8. 자동차정보 통합서비스 제공 업무",</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"택시·대중교통 정보 운영",</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택시 운행정보 관리시스템 구축 및 운영",</a:t>
            </a:r>
          </a:p>
          <a:p xmlns:a="http://schemas.openxmlformats.org/drawingml/2006/main">
            <a:r>
              <a:t>        "10. 대중교통정보시스템(TAGO) 운영 등 ITS 관련 업무"</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"RULEWORK-1019020-2",</a:t>
            </a:r>
          </a:p>
          <a:p xmlns:a="http://schemas.openxmlformats.org/drawingml/2006/main">
            <a:r>
              <a:t>          "text": "2. 택시 운행정보 관리시스템 구축 및 운영",</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"RULEWORK-1019020-2-T01",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"RULEWORK-1019020-2-R02",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"RULEWORK-1019020-2-T02",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"RULEWORK-1019020-10",</a:t>
            </a:r>
          </a:p>
          <a:p xmlns:a="http://schemas.openxmlformats.org/drawingml/2006/main">
            <a:r>
              <a:t>          "text": "10. 대중교통정보시스템(TAGO) 운영 등 ITS 관련 업무",</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"RULEWORK-1019020-10-R01",</a:t>
            </a:r>
          </a:p>
          <a:p xmlns:a="http://schemas.openxmlformats.org/drawingml/2006/main">
            <a:r>
              <a:t>              "title": "업무 맥락·전용 지식 구성",</a:t>
            </a:r>
          </a:p>
          <a:p xmlns:a="http://schemas.openxmlformats.org/drawingml/2006/main">
            <a:r>
              <a:t>              "development": "지역·시간·배차 제약과 요청 맥락 분류",</a:t>
            </a:r>
          </a:p>
          <a:p xmlns:a="http://schemas.openxmlformats.org/drawingml/2006/main">
            <a:r>
              <a:t>              "output": "조건·예외·변경 요청·결과 대사표",</a:t>
            </a:r>
          </a:p>
          <a:p xmlns:a="http://schemas.openxmlformats.org/drawingml/2006/main">
            <a:r>
              <a:t>              "testId": "RULEWORK-1019020-10-T01",</a:t>
            </a:r>
          </a:p>
          <a:p xmlns:a="http://schemas.openxmlformats.org/drawingml/2006/main">
            <a:r>
              <a:t>              "criterion": "운영 상태·조건별 가능한 후보와 예외 정답 대조"</a:t>
            </a:r>
          </a:p>
          <a:p xmlns:a="http://schemas.openxmlformats.org/drawingml/2006/main">
            <a:r>
              <a:t>            },</a:t>
            </a:r>
          </a:p>
          <a:p xmlns:a="http://schemas.openxmlformats.org/drawingml/2006/main">
            <a:r>
              <a:t>            {</a:t>
            </a:r>
          </a:p>
          <a:p xmlns:a="http://schemas.openxmlformats.org/drawingml/2006/main">
            <a:r>
              <a:t>              "id": "RULEWORK-1019020-10-R02",</a:t>
            </a:r>
          </a:p>
          <a:p xmlns:a="http://schemas.openxmlformats.org/drawingml/2006/main">
            <a:r>
              <a:t>              "title": "업무건·역할·시스템 연결",</a:t>
            </a:r>
          </a:p>
          <a:p xmlns:a="http://schemas.openxmlformats.org/drawingml/2006/main">
            <a:r>
              <a:t>              "development": "기존 운영시스템 조회·승인 후 변경 결과 대사",</a:t>
            </a:r>
          </a:p>
          <a:p xmlns:a="http://schemas.openxmlformats.org/drawingml/2006/main">
            <a:r>
              <a:t>              "output": "업무건·원천·역할·변경 연결 명세",</a:t>
            </a:r>
          </a:p>
          <a:p xmlns:a="http://schemas.openxmlformats.org/drawingml/2006/main">
            <a:r>
              <a:t>              "testId": "RULEWORK-1019020-10-T02",</a:t>
            </a:r>
          </a:p>
          <a:p xmlns:a="http://schemas.openxmlformats.org/drawingml/2006/main">
            <a:r>
              <a:t>              "criterion": "운영자 확인 전 변경 및 중복 배차 요청 차단"</a:t>
            </a:r>
          </a:p>
          <a:p xmlns:a="http://schemas.openxmlformats.org/drawingml/2006/main">
            <a:r>
              <a:t>            },</a:t>
            </a:r>
          </a:p>
          <a:p xmlns:a="http://schemas.openxmlformats.org/drawingml/2006/main">
            <a:r>
              <a:t>            {</a:t>
            </a:r>
          </a:p>
          <a:p xmlns:a="http://schemas.openxmlformats.org/drawingml/2006/main">
            <a:r>
              <a:t>              "id": "RULEWORK-1019020-10-R03",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"현황조사·데이터 관리",</a:t>
            </a:r>
          </a:p>
          <a:p xmlns:a="http://schemas.openxmlformats.org/drawingml/2006/main">
            <a:r>
              <a:t>      "indices":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"9. 첨단모빌리티 데이터 수집관리 지원"</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"RULEWORK-1019010-7",</a:t>
            </a:r>
          </a:p>
          <a:p xmlns:a="http://schemas.openxmlformats.org/drawingml/2006/main">
            <a:r>
              <a:t>          "text": "7. 대중교통 현황조사에 관한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"RULEWORK-1019010-7-R01",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"RULEWORK-1019010-7-T01",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"RULEWORK-1019010-7-R02",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"RULEWORK-1019010-7-T02",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"RULEWORK-1019010-8",</a:t>
            </a:r>
          </a:p>
          <a:p xmlns:a="http://schemas.openxmlformats.org/drawingml/2006/main">
            <a:r>
              <a:t>          "text": "9. 첨단모빌리티 데이터 수집관리 지원",</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"RULEWORK-1019010-8-R01",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"RULEWORK-1019010-8-T01",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"RULEWORK-1019010-8-R02",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"RULEWORK-1019010-8-T02",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"RULEWORK-1019010-8-R03",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"데이터 품질관리",</a:t>
            </a:r>
          </a:p>
          <a:p xmlns:a="http://schemas.openxmlformats.org/drawingml/2006/main">
            <a:r>
              <a:t>      "indices": [</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"개인정보·접근 보안",</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정보보안 및 개인정보보호 관련 제도 및 지침관리",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"RULEWORK-1019500-2",</a:t>
            </a:r>
          </a:p>
          <a:p xmlns:a="http://schemas.openxmlformats.org/drawingml/2006/main">
            <a:r>
              <a:t>          "text": "2. 정보보안 및 개인정보보호 관련 제도 및 지침관리",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"RULEWORK-1019500-2-R01",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"RULEWORK-1019500-2-T01",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"RULEWORK-1019500-2-R02",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"RULEWORK-1019500-2-T02",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자료 검색·질의 지원"</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"목적·필드별 정책 카탈로그",</a:t>
            </a:r>
          </a:p>
          <a:p xmlns:a="http://schemas.openxmlformats.org/drawingml/2006/main">
            <a:r>
              <a:t>    "요청–승인–제공–회수 연결 어댑터"</a:t>
            </a:r>
          </a:p>
          <a:p xmlns:a="http://schemas.openxmlformats.org/drawingml/2006/main">
            <a:r>
              <a:t>  ],</a:t>
            </a:r>
          </a:p>
          <a:p xmlns:a="http://schemas.openxmlformats.org/drawingml/2006/main">
            <a:r>
              <a:t>  "acceptancePlan": {</a:t>
            </a:r>
          </a:p>
          <a:p xmlns:a="http://schemas.openxmlformats.org/drawingml/2006/main">
            <a:r>
              <a:t>    "sample": "공개/내부 필드 혼합, 스키마 변경, 권한 회수",</a:t>
            </a:r>
          </a:p>
          <a:p xmlns:a="http://schemas.openxmlformats.org/drawingml/2006/main">
            <a:r>
              <a:t>    "criterion": "허용 필드만 제공·불일치 보류·회수 후 캐시 차단",</a:t>
            </a:r>
          </a:p>
          <a:p xmlns:a="http://schemas.openxmlformats.org/drawingml/2006/main">
            <a:r>
              <a:t>    "evidence": "필드 대사표·거부셋 결과·회수 로그",</a:t>
            </a:r>
          </a:p>
          <a:p xmlns:a="http://schemas.openxmlformats.org/drawingml/2006/main">
            <a:r>
              <a:t>    "execution": "미실행"</a:t>
            </a:r>
          </a:p>
          <a:p xmlns:a="http://schemas.openxmlformats.org/drawingml/2006/main">
            <a:r>
              <a:t>  },</a:t>
            </a:r>
          </a:p>
          <a:p xmlns:a="http://schemas.openxmlformats.org/drawingml/2006/main">
            <a:r>
              <a:t>  "formula": "승인 조건 충족 연계 수 ÷ 연계 시도 수 / 목적 외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"PF-R07",</a:t>
            </a:r>
          </a:p>
          <a:p xmlns:a="http://schemas.openxmlformats.org/drawingml/2006/main">
            <a:r>
              <a:t>    "PF-R08",</a:t>
            </a:r>
          </a:p>
          <a:p xmlns:a="http://schemas.openxmlformats.org/drawingml/2006/main">
            <a:r>
              <a:t>    "PF03",</a:t>
            </a:r>
          </a:p>
          <a:p xmlns:a="http://schemas.openxmlformats.org/drawingml/2006/main">
            <a:r>
              <a:t>    "PF06"</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"ST-07",</a:t>
            </a:r>
          </a:p>
          <a:p xmlns:a="http://schemas.openxmlformats.org/drawingml/2006/main">
            <a:r>
              <a:t>  "number": 7,</a:t>
            </a:r>
          </a:p>
          <a:p xmlns:a="http://schemas.openxmlformats.org/drawingml/2006/main">
            <a:r>
              <a:t>  "direction": "균형있는 국민체감 서비스 실현",</a:t>
            </a:r>
          </a:p>
          <a:p xmlns:a="http://schemas.openxmlformats.org/drawingml/2006/main">
            <a:r>
              <a:t>  "strategy": "교통데이터 개방·연계 기반 서비스 편익 증대",</a:t>
            </a:r>
          </a:p>
          <a:p xmlns:a="http://schemas.openxmlformats.org/drawingml/2006/main">
            <a:r>
              <a:t>  "solution": "교통데이터 카탈로그·연계 지원",</a:t>
            </a:r>
          </a:p>
          <a:p xmlns:a="http://schemas.openxmlformats.org/drawingml/2006/main">
            <a:r>
              <a:t>  "lawIds": [</a:t>
            </a:r>
          </a:p>
          <a:p xmlns:a="http://schemas.openxmlformats.org/drawingml/2006/main">
            <a:r>
              <a:t>    "L04",</a:t>
            </a:r>
          </a:p>
          <a:p xmlns:a="http://schemas.openxmlformats.org/drawingml/2006/main">
            <a:r>
              <a:t>    "L10",</a:t>
            </a:r>
          </a:p>
          <a:p xmlns:a="http://schemas.openxmlformats.org/drawingml/2006/main">
            <a:r>
              <a:t>    "L15",</a:t>
            </a:r>
          </a:p>
          <a:p xmlns:a="http://schemas.openxmlformats.org/drawingml/2006/main">
            <a:r>
              <a:t>    "L16"</a:t>
            </a:r>
          </a:p>
          <a:p xmlns:a="http://schemas.openxmlformats.org/drawingml/2006/main">
            <a:r>
              <a:t>  ],</a:t>
            </a:r>
          </a:p>
          <a:p xmlns:a="http://schemas.openxmlformats.org/drawingml/2006/main">
            <a:r>
              <a:t>  "codes": [</a:t>
            </a:r>
          </a:p>
          <a:p xmlns:a="http://schemas.openxmlformats.org/drawingml/2006/main">
            <a:r>
              <a:t>    "1019600",</a:t>
            </a:r>
          </a:p>
          <a:p xmlns:a="http://schemas.openxmlformats.org/drawingml/2006/main">
            <a:r>
              <a:t>    "1019030",</a:t>
            </a:r>
          </a:p>
          <a:p xmlns:a="http://schemas.openxmlformats.org/drawingml/2006/main">
            <a:r>
              <a:t>    "1019400",</a:t>
            </a:r>
          </a:p>
          <a:p xmlns:a="http://schemas.openxmlformats.org/drawingml/2006/main">
            <a:r>
              <a:t>    "1019020",</a:t>
            </a:r>
          </a:p>
          <a:p xmlns:a="http://schemas.openxmlformats.org/drawingml/2006/main">
            <a:r>
              <a:t>    "1019010",</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"교통·차량 데이터의 소재·권리·품질·활용 관리",</a:t>
            </a:r>
          </a:p>
          <a:p xmlns:a="http://schemas.openxmlformats.org/drawingml/2006/main">
            <a:r>
              <a:t>  "features": [</a:t>
            </a:r>
          </a:p>
          <a:p xmlns:a="http://schemas.openxmlformats.org/drawingml/2006/main">
            <a:r>
              <a:t>    "데이터 정의·소유부서·용도·권한 카탈로그 구성",</a:t>
            </a:r>
          </a:p>
          <a:p xmlns:a="http://schemas.openxmlformats.org/drawingml/2006/main">
            <a:r>
              <a:t>    "기관 간 요청·승인·제공·결과 대사"</a:t>
            </a:r>
          </a:p>
          <a:p xmlns:a="http://schemas.openxmlformats.org/drawingml/2006/main">
            <a:r>
              <a:t>  ],</a:t>
            </a:r>
          </a:p>
          <a:p xmlns:a="http://schemas.openxmlformats.org/drawingml/2006/main">
            <a:r>
              <a:t>  "output": "데이터 카탈로그·제공 대사표",</a:t>
            </a:r>
          </a:p>
          <a:p xmlns:a="http://schemas.openxmlformats.org/drawingml/2006/main">
            <a:r>
              <a:t>  "acceptance": "권한별 검색 결과 분리·계약 필드 대사·회수 후 재접근 차단",</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"GAI-T06",</a:t>
            </a:r>
          </a:p>
          <a:p xmlns:a="http://schemas.openxmlformats.org/drawingml/2006/main">
            <a:r>
              <a:t>    "GAI-T09",</a:t>
            </a:r>
          </a:p>
          <a:p xmlns:a="http://schemas.openxmlformats.org/drawingml/2006/main">
            <a:r>
              <a:t>    "GAI-T11"</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"공공데이터 개방·표준",</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인공지능(AI) 데이터 표준화 및 데이터 스페이스 구축",</a:t>
            </a:r>
          </a:p>
          <a:p xmlns:a="http://schemas.openxmlformats.org/drawingml/2006/main">
            <a:r>
              <a:t>        "5. 공공데이터 개방 및 관련 시스템 구축․관리, 공공데이터 활용성과 평가 대응"</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"교통데이터 분석·결합",</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"8. 빅데이터 결합 ․분석․활용 및 교통 빅데이터 플랫폼 구축사업"</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통합정보 제공",</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"택시·대중교통 정보 운영",</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택시 운행정보 관리시스템 구축 및 운영",</a:t>
            </a:r>
          </a:p>
          <a:p xmlns:a="http://schemas.openxmlformats.org/drawingml/2006/main">
            <a:r>
              <a:t>        "10. 대중교통정보시스템(TAGO) 운영 등 ITS 관련 업무"</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"현황조사·데이터 관리",</a:t>
            </a:r>
          </a:p>
          <a:p xmlns:a="http://schemas.openxmlformats.org/drawingml/2006/main">
            <a:r>
              <a:t>      "indices":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"9. 첨단모빌리티 데이터 수집관리 지원"</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"데이터 품질관리",</a:t>
            </a:r>
          </a:p>
          <a:p xmlns:a="http://schemas.openxmlformats.org/drawingml/2006/main">
            <a:r>
              <a:t>      "indices": [</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"개인정보·접근 보안",</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정보보안 및 개인정보보호 관련 제도 및 지침관리",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"교통데이터 제공·연계 지원",</a:t>
            </a:r>
          </a:p>
          <a:p xmlns:a="http://schemas.openxmlformats.org/drawingml/2006/main">
            <a:r>
              <a:t>  "delta": "공개 가능 필드·데이터 사전·API 요청 연결",</a:t>
            </a:r>
          </a:p>
          <a:p xmlns:a="http://schemas.openxmlformats.org/drawingml/2006/main">
            <a:r>
              <a:t>  "kpi": "연계 성공률 / 목적 외 노출 건수",</a:t>
            </a:r>
          </a:p>
          <a:p xmlns:a="http://schemas.openxmlformats.org/drawingml/2006/main">
            <a:r>
              <a:t>  "validation": "공개·내부 필드 혼합과 재식별 위험 입력 검증",</a:t>
            </a:r>
          </a:p>
          <a:p xmlns:a="http://schemas.openxmlformats.org/drawingml/2006/main">
            <a:r>
              <a:t>  "requirement": "BM-ST-07-R01",</a:t>
            </a:r>
          </a:p>
          <a:p xmlns:a="http://schemas.openxmlformats.org/drawingml/2006/main">
            <a:r>
              <a:t>  "test": "BM-ST-07-T01",</a:t>
            </a:r>
          </a:p>
          <a:p xmlns:a="http://schemas.openxmlformats.org/drawingml/2006/main">
            <a:r>
              <a:t>  "effectStatus": "기대 방향 · TS 실측 전",</a:t>
            </a:r>
          </a:p>
          <a:p xmlns:a="http://schemas.openxmlformats.org/drawingml/2006/main">
            <a:r>
              <a:t>  "effect": "데이터 탐색·연계 보완시간 감소",</a:t>
            </a:r>
          </a:p>
          <a:p xmlns:a="http://schemas.openxmlformats.org/drawingml/2006/main">
            <a:r>
              <a:t>  "reuse": "ON27-BASE / C27-COM + CCK 재사용 판정 기능",</a:t>
            </a:r>
          </a:p>
          <a:p xmlns:a="http://schemas.openxmlformats.org/drawingml/2006/main">
            <a:r>
              <a:t>  "input": "데이터 정의·필드, 소유부서, 제공목적·권한, 연계 명세",</a:t>
            </a:r>
          </a:p>
          <a:p xmlns:a="http://schemas.openxmlformats.org/drawingml/2006/main">
            <a:r>
              <a:t>  "steps": [</a:t>
            </a:r>
          </a:p>
          <a:p xmlns:a="http://schemas.openxmlformats.org/drawingml/2006/main">
            <a:r>
              <a:t>    "요청 목적·소관 분류",</a:t>
            </a:r>
          </a:p>
          <a:p xmlns:a="http://schemas.openxmlformats.org/drawingml/2006/main">
            <a:r>
              <a:t>    "필드·품질·제공조건 대조",</a:t>
            </a:r>
          </a:p>
          <a:p xmlns:a="http://schemas.openxmlformats.org/drawingml/2006/main">
            <a:r>
              <a:t>    "승인된 제공경로 연결",</a:t>
            </a:r>
          </a:p>
          <a:p xmlns:a="http://schemas.openxmlformats.org/drawingml/2006/main">
            <a:r>
              <a:t>    "수신 대사·회수 반영"</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"공공데이터 개방·표준",</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인공지능(AI) 데이터 표준화 및 데이터 스페이스 구축",</a:t>
            </a:r>
          </a:p>
          <a:p xmlns:a="http://schemas.openxmlformats.org/drawingml/2006/main">
            <a:r>
              <a:t>        "5. 공공데이터 개방 및 관련 시스템 구축․관리, 공공데이터 활용성과 평가 대응"</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"RULEWORK-1019600-5",</a:t>
            </a:r>
          </a:p>
          <a:p xmlns:a="http://schemas.openxmlformats.org/drawingml/2006/main">
            <a:r>
              <a:t>          "text": "5. 공공데이터 개방 및 관련 시스템 구축․관리, 공공데이터 활용성과 평가 대응",</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"RULEWORK-1019600-5-R01",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"RULEWORK-1019600-5-T01",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"RULEWORK-1019600-5-R02",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"RULEWORK-1019600-5-T02",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"RULEWORK-1019600-5-R03",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"교통데이터 분석·결합",</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"8. 빅데이터 결합 ․분석․활용 및 교통 빅데이터 플랫폼 구축사업"</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"RULEWORK-1019030-3",</a:t>
            </a:r>
          </a:p>
          <a:p xmlns:a="http://schemas.openxmlformats.org/drawingml/2006/main">
            <a:r>
              <a:t>          "text": "3. 운행기록데이터 관리·분석·활용 및 정책지원",</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"RULEWORK-1019030-8",</a:t>
            </a:r>
          </a:p>
          <a:p xmlns:a="http://schemas.openxmlformats.org/drawingml/2006/main">
            <a:r>
              <a:t>          "text": "8. 빅데이터 결합 ․분석․활용 및 교통 빅데이터 플랫폼 구축사업",</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통합정보 제공",</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"RULEWORK-1019400-3",</a:t>
            </a:r>
          </a:p>
          <a:p xmlns:a="http://schemas.openxmlformats.org/drawingml/2006/main">
            <a:r>
              <a:t>          "text": "3. 자동차토털이력관리시스템 운영",</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"RULEWORK-1019400-8",</a:t>
            </a:r>
          </a:p>
          <a:p xmlns:a="http://schemas.openxmlformats.org/drawingml/2006/main">
            <a:r>
              <a:t>          "text": "8. 자동차정보 통합서비스 제공 업무",</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"택시·대중교통 정보 운영",</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택시 운행정보 관리시스템 구축 및 운영",</a:t>
            </a:r>
          </a:p>
          <a:p xmlns:a="http://schemas.openxmlformats.org/drawingml/2006/main">
            <a:r>
              <a:t>        "10. 대중교통정보시스템(TAGO) 운영 등 ITS 관련 업무"</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"RULEWORK-1019020-2",</a:t>
            </a:r>
          </a:p>
          <a:p xmlns:a="http://schemas.openxmlformats.org/drawingml/2006/main">
            <a:r>
              <a:t>          "text": "2. 택시 운행정보 관리시스템 구축 및 운영",</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"RULEWORK-1019020-2-T01",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"RULEWORK-1019020-2-R02",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"RULEWORK-1019020-2-T02",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"RULEWORK-1019020-10",</a:t>
            </a:r>
          </a:p>
          <a:p xmlns:a="http://schemas.openxmlformats.org/drawingml/2006/main">
            <a:r>
              <a:t>          "text": "10. 대중교통정보시스템(TAGO) 운영 등 ITS 관련 업무",</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"RULEWORK-1019020-10-R01",</a:t>
            </a:r>
          </a:p>
          <a:p xmlns:a="http://schemas.openxmlformats.org/drawingml/2006/main">
            <a:r>
              <a:t>              "title": "업무 맥락·전용 지식 구성",</a:t>
            </a:r>
          </a:p>
          <a:p xmlns:a="http://schemas.openxmlformats.org/drawingml/2006/main">
            <a:r>
              <a:t>              "development": "지역·시간·배차 제약과 요청 맥락 분류",</a:t>
            </a:r>
          </a:p>
          <a:p xmlns:a="http://schemas.openxmlformats.org/drawingml/2006/main">
            <a:r>
              <a:t>              "output": "조건·예외·변경 요청·결과 대사표",</a:t>
            </a:r>
          </a:p>
          <a:p xmlns:a="http://schemas.openxmlformats.org/drawingml/2006/main">
            <a:r>
              <a:t>              "testId": "RULEWORK-1019020-10-T01",</a:t>
            </a:r>
          </a:p>
          <a:p xmlns:a="http://schemas.openxmlformats.org/drawingml/2006/main">
            <a:r>
              <a:t>              "criterion": "운영 상태·조건별 가능한 후보와 예외 정답 대조"</a:t>
            </a:r>
          </a:p>
          <a:p xmlns:a="http://schemas.openxmlformats.org/drawingml/2006/main">
            <a:r>
              <a:t>            },</a:t>
            </a:r>
          </a:p>
          <a:p xmlns:a="http://schemas.openxmlformats.org/drawingml/2006/main">
            <a:r>
              <a:t>            {</a:t>
            </a:r>
          </a:p>
          <a:p xmlns:a="http://schemas.openxmlformats.org/drawingml/2006/main">
            <a:r>
              <a:t>              "id": "RULEWORK-1019020-10-R02",</a:t>
            </a:r>
          </a:p>
          <a:p xmlns:a="http://schemas.openxmlformats.org/drawingml/2006/main">
            <a:r>
              <a:t>              "title": "업무건·역할·시스템 연결",</a:t>
            </a:r>
          </a:p>
          <a:p xmlns:a="http://schemas.openxmlformats.org/drawingml/2006/main">
            <a:r>
              <a:t>              "development": "기존 운영시스템 조회·승인 후 변경 결과 대사",</a:t>
            </a:r>
          </a:p>
          <a:p xmlns:a="http://schemas.openxmlformats.org/drawingml/2006/main">
            <a:r>
              <a:t>              "output": "업무건·원천·역할·변경 연결 명세",</a:t>
            </a:r>
          </a:p>
          <a:p xmlns:a="http://schemas.openxmlformats.org/drawingml/2006/main">
            <a:r>
              <a:t>              "testId": "RULEWORK-1019020-10-T02",</a:t>
            </a:r>
          </a:p>
          <a:p xmlns:a="http://schemas.openxmlformats.org/drawingml/2006/main">
            <a:r>
              <a:t>              "criterion": "운영자 확인 전 변경 및 중복 배차 요청 차단"</a:t>
            </a:r>
          </a:p>
          <a:p xmlns:a="http://schemas.openxmlformats.org/drawingml/2006/main">
            <a:r>
              <a:t>            },</a:t>
            </a:r>
          </a:p>
          <a:p xmlns:a="http://schemas.openxmlformats.org/drawingml/2006/main">
            <a:r>
              <a:t>            {</a:t>
            </a:r>
          </a:p>
          <a:p xmlns:a="http://schemas.openxmlformats.org/drawingml/2006/main">
            <a:r>
              <a:t>              "id": "RULEWORK-1019020-10-R03",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"현황조사·데이터 관리",</a:t>
            </a:r>
          </a:p>
          <a:p xmlns:a="http://schemas.openxmlformats.org/drawingml/2006/main">
            <a:r>
              <a:t>      "indices":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"9. 첨단모빌리티 데이터 수집관리 지원"</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"RULEWORK-1019010-7",</a:t>
            </a:r>
          </a:p>
          <a:p xmlns:a="http://schemas.openxmlformats.org/drawingml/2006/main">
            <a:r>
              <a:t>          "text": "7. 대중교통 현황조사에 관한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"RULEWORK-1019010-7-R01",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"RULEWORK-1019010-7-T01",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"RULEWORK-1019010-7-R02",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"RULEWORK-1019010-7-T02",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"RULEWORK-1019010-8",</a:t>
            </a:r>
          </a:p>
          <a:p xmlns:a="http://schemas.openxmlformats.org/drawingml/2006/main">
            <a:r>
              <a:t>          "text": "9. 첨단모빌리티 데이터 수집관리 지원",</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"RULEWORK-1019010-8-R01",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"RULEWORK-1019010-8-T01",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"RULEWORK-1019010-8-R02",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"RULEWORK-1019010-8-T02",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"RULEWORK-1019010-8-R03",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"데이터 품질관리",</a:t>
            </a:r>
          </a:p>
          <a:p xmlns:a="http://schemas.openxmlformats.org/drawingml/2006/main">
            <a:r>
              <a:t>      "indices": [</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"개인정보·접근 보안",</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정보보안 및 개인정보보호 관련 제도 및 지침관리",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"RULEWORK-1019500-2",</a:t>
            </a:r>
          </a:p>
          <a:p xmlns:a="http://schemas.openxmlformats.org/drawingml/2006/main">
            <a:r>
              <a:t>          "text": "2. 정보보안 및 개인정보보호 관련 제도 및 지침관리",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"RULEWORK-1019500-2-R01",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"RULEWORK-1019500-2-T01",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"RULEWORK-1019500-2-R02",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"RULEWORK-1019500-2-T02",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자료 검색·질의 지원"</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"목적·필드별 정책 카탈로그",</a:t>
            </a:r>
          </a:p>
          <a:p xmlns:a="http://schemas.openxmlformats.org/drawingml/2006/main">
            <a:r>
              <a:t>    "요청–승인–제공–회수 연결 어댑터"</a:t>
            </a:r>
          </a:p>
          <a:p xmlns:a="http://schemas.openxmlformats.org/drawingml/2006/main">
            <a:r>
              <a:t>  ],</a:t>
            </a:r>
          </a:p>
          <a:p xmlns:a="http://schemas.openxmlformats.org/drawingml/2006/main">
            <a:r>
              <a:t>  "acceptancePlan": {</a:t>
            </a:r>
          </a:p>
          <a:p xmlns:a="http://schemas.openxmlformats.org/drawingml/2006/main">
            <a:r>
              <a:t>    "sample": "공개/내부 필드 혼합, 스키마 변경, 권한 회수",</a:t>
            </a:r>
          </a:p>
          <a:p xmlns:a="http://schemas.openxmlformats.org/drawingml/2006/main">
            <a:r>
              <a:t>    "criterion": "허용 필드만 제공·불일치 보류·회수 후 캐시 차단",</a:t>
            </a:r>
          </a:p>
          <a:p xmlns:a="http://schemas.openxmlformats.org/drawingml/2006/main">
            <a:r>
              <a:t>    "evidence": "필드 대사표·거부셋 결과·회수 로그",</a:t>
            </a:r>
          </a:p>
          <a:p xmlns:a="http://schemas.openxmlformats.org/drawingml/2006/main">
            <a:r>
              <a:t>    "execution": "미실행"</a:t>
            </a:r>
          </a:p>
          <a:p xmlns:a="http://schemas.openxmlformats.org/drawingml/2006/main">
            <a:r>
              <a:t>  },</a:t>
            </a:r>
          </a:p>
          <a:p xmlns:a="http://schemas.openxmlformats.org/drawingml/2006/main">
            <a:r>
              <a:t>  "formula": "승인 조건 충족 연계 수 ÷ 연계 시도 수 / 목적 외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"PF-R07",</a:t>
            </a:r>
          </a:p>
          <a:p xmlns:a="http://schemas.openxmlformats.org/drawingml/2006/main">
            <a:r>
              <a:t>    "PF-R08",</a:t>
            </a:r>
          </a:p>
          <a:p xmlns:a="http://schemas.openxmlformats.org/drawingml/2006/main">
            <a:r>
              <a:t>    "PF03",</a:t>
            </a:r>
          </a:p>
          <a:p xmlns:a="http://schemas.openxmlformats.org/drawingml/2006/main">
            <a:r>
              <a:t>    "PF06"</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"ST-08",</a:t>
            </a:r>
          </a:p>
          <a:p xmlns:a="http://schemas.openxmlformats.org/drawingml/2006/main">
            <a:r>
              <a:t>  "number": 8,</a:t>
            </a:r>
          </a:p>
          <a:p xmlns:a="http://schemas.openxmlformats.org/drawingml/2006/main">
            <a:r>
              <a:t>  "direction": "균형있는 국민체감 서비스 실현",</a:t>
            </a:r>
          </a:p>
          <a:p xmlns:a="http://schemas.openxmlformats.org/drawingml/2006/main">
            <a:r>
              <a:t>  "strategy": "생활 밀착형 이동 서비스 확대",</a:t>
            </a:r>
          </a:p>
          <a:p xmlns:a="http://schemas.openxmlformats.org/drawingml/2006/main">
            <a:r>
              <a:t>  "solution": "국민 이동·신청 절차 지원",</a:t>
            </a:r>
          </a:p>
          <a:p xmlns:a="http://schemas.openxmlformats.org/drawingml/2006/main">
            <a:r>
              <a:t>  "lawIds": [</a:t>
            </a:r>
          </a:p>
          <a:p xmlns:a="http://schemas.openxmlformats.org/drawingml/2006/main">
            <a:r>
              <a:t>    "L11",</a:t>
            </a:r>
          </a:p>
          <a:p xmlns:a="http://schemas.openxmlformats.org/drawingml/2006/main">
            <a:r>
              <a:t>    "L15",</a:t>
            </a:r>
          </a:p>
          <a:p xmlns:a="http://schemas.openxmlformats.org/drawingml/2006/main">
            <a:r>
              <a:t>    "L16",</a:t>
            </a:r>
          </a:p>
          <a:p xmlns:a="http://schemas.openxmlformats.org/drawingml/2006/main">
            <a:r>
              <a:t>    "L17"</a:t>
            </a:r>
          </a:p>
          <a:p xmlns:a="http://schemas.openxmlformats.org/drawingml/2006/main">
            <a:r>
              <a:t>  ],</a:t>
            </a:r>
          </a:p>
          <a:p xmlns:a="http://schemas.openxmlformats.org/drawingml/2006/main">
            <a:r>
              <a:t>  "codes": [</a:t>
            </a:r>
          </a:p>
          <a:p xmlns:a="http://schemas.openxmlformats.org/drawingml/2006/main">
            <a:r>
              <a:t>    "1019020",</a:t>
            </a:r>
          </a:p>
          <a:p xmlns:a="http://schemas.openxmlformats.org/drawingml/2006/main">
            <a:r>
              <a:t>    "1019010",</a:t>
            </a:r>
          </a:p>
          <a:p xmlns:a="http://schemas.openxmlformats.org/drawingml/2006/main">
            <a:r>
              <a:t>    "1022030",</a:t>
            </a:r>
          </a:p>
          <a:p xmlns:a="http://schemas.openxmlformats.org/drawingml/2006/main">
            <a:r>
              <a:t>    "1022010"</a:t>
            </a:r>
          </a:p>
          <a:p xmlns:a="http://schemas.openxmlformats.org/drawingml/2006/main">
            <a:r>
              <a:t>  ],</a:t>
            </a:r>
          </a:p>
          <a:p xmlns:a="http://schemas.openxmlformats.org/drawingml/2006/main">
            <a:r>
              <a:t>  "work": "이동정보·교통약자·자격·현장 서비스의 안내·인계",</a:t>
            </a:r>
          </a:p>
          <a:p xmlns:a="http://schemas.openxmlformats.org/drawingml/2006/main">
            <a:r>
              <a:t>  "features": [</a:t>
            </a:r>
          </a:p>
          <a:p xmlns:a="http://schemas.openxmlformats.org/drawingml/2006/main">
            <a:r>
              <a:t>    "이용 목적·지역별 절차·서류·담당 창구 구성",</a:t>
            </a:r>
          </a:p>
          <a:p xmlns:a="http://schemas.openxmlformats.org/drawingml/2006/main">
            <a:r>
              <a:t>    "국민 문의와 소관 부서 처리상태 연결"</a:t>
            </a:r>
          </a:p>
          <a:p xmlns:a="http://schemas.openxmlformats.org/drawingml/2006/main">
            <a:r>
              <a:t>  ],</a:t>
            </a:r>
          </a:p>
          <a:p xmlns:a="http://schemas.openxmlformats.org/drawingml/2006/main">
            <a:r>
              <a:t>  "output": "목적별 안내·필수서류·인계 기록",</a:t>
            </a:r>
          </a:p>
          <a:p xmlns:a="http://schemas.openxmlformats.org/drawingml/2006/main">
            <a:r>
              <a:t>  "acceptance": "공개 지식만 사용한 안내·기관 내부정보 차단·담당 창구 일치 확인",</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"GAI-T05",</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"이동정보·교통약자 조사",</a:t>
            </a:r>
          </a:p>
          <a:p xmlns:a="http://schemas.openxmlformats.org/drawingml/2006/main">
            <a:r>
              <a:t>      "indices": [</a:t>
            </a:r>
          </a:p>
          <a:p xmlns:a="http://schemas.openxmlformats.org/drawingml/2006/main">
            <a:r>
              <a:t>        2,</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"3. 수요응답형(DRT) 대중교통 시스템 구축 및 운영",</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"대중교통 현황조사",</a:t>
            </a:r>
          </a:p>
          <a:p xmlns:a="http://schemas.openxmlformats.org/drawingml/2006/main">
            <a:r>
              <a:t>      "indices": [</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"운수종사자 관리",</a:t>
            </a:r>
          </a:p>
          <a:p xmlns:a="http://schemas.openxmlformats.org/drawingml/2006/main">
            <a:r>
              <a:t>      "indices": [</a:t>
            </a:r>
          </a:p>
          <a:p xmlns:a="http://schemas.openxmlformats.org/drawingml/2006/main">
            <a:r>
              <a:t>        7,</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"8. 운수종사자 입․퇴사 정보, 교통사고정보 관리 및 부적격운전자 통보",</a:t>
            </a:r>
          </a:p>
          <a:p xmlns:a="http://schemas.openxmlformats.org/drawingml/2006/main">
            <a:r>
              <a:t>        "9. 운수종사자관리정보시스템 운영 및 관리"</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"1022010",</a:t>
            </a:r>
          </a:p>
          <a:p xmlns:a="http://schemas.openxmlformats.org/drawingml/2006/main">
            <a:r>
              <a:t>      "name": "자격교육처",</a:t>
            </a:r>
          </a:p>
          <a:p xmlns:a="http://schemas.openxmlformats.org/drawingml/2006/main">
            <a:r>
              <a:t>      "job": "자격·적성검사 운영",</a:t>
            </a:r>
          </a:p>
          <a:p xmlns:a="http://schemas.openxmlformats.org/drawingml/2006/main">
            <a:r>
              <a:t>      "indices": [</a:t>
            </a:r>
          </a:p>
          <a:p xmlns:a="http://schemas.openxmlformats.org/drawingml/2006/main">
            <a:r>
              <a:t>        20,</a:t>
            </a:r>
          </a:p>
          <a:p xmlns:a="http://schemas.openxmlformats.org/drawingml/2006/main">
            <a:r>
              <a:t>        31</a:t>
            </a:r>
          </a:p>
          <a:p xmlns:a="http://schemas.openxmlformats.org/drawingml/2006/main">
            <a:r>
              <a:t>      ],</a:t>
            </a:r>
          </a:p>
          <a:p xmlns:a="http://schemas.openxmlformats.org/drawingml/2006/main">
            <a:r>
              <a:t>      "duties": [</a:t>
            </a:r>
          </a:p>
          <a:p xmlns:a="http://schemas.openxmlformats.org/drawingml/2006/main">
            <a:r>
              <a:t>        "21. 운전적성정밀검사(신규, 특별, 버스‧택시‧화물 자격유지 등), 국가자격시험(버스, 화물, 택시, 교통안전관리자), 사업계획 수립 및 관련법령 개정 등 제도개선",</a:t>
            </a:r>
          </a:p>
          <a:p xmlns:a="http://schemas.openxmlformats.org/drawingml/2006/main">
            <a:r>
              <a:t>        "32. 화물․버스․택시 운전 및 교통안전관리자 자격증 발급 및 관리"</a:t>
            </a:r>
          </a:p>
          <a:p xmlns:a="http://schemas.openxmlformats.org/drawingml/2006/main">
            <a:r>
              <a:t>      ],</a:t>
            </a:r>
          </a:p>
          <a:p xmlns:a="http://schemas.openxmlformats.org/drawingml/2006/main">
            <a:r>
              <a:t>      "locator": "별표4 · T40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"법정 자격·조사·운행정보 업무의 안내·인계 지원 / 개별 지원사업 자격·지급 판정은 별도 과업",</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"AX02",</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"자연어·음성 이동 서비스 접점",</a:t>
            </a:r>
          </a:p>
          <a:p xmlns:a="http://schemas.openxmlformats.org/drawingml/2006/main">
            <a:r>
              <a:t>  "delta": "발화 정리·필수 항목 확인·소관 서비스 연결",</a:t>
            </a:r>
          </a:p>
          <a:p xmlns:a="http://schemas.openxmlformats.org/drawingml/2006/main">
            <a:r>
              <a:t>  "kpi": "정보약자 도달률 / 포기율",</a:t>
            </a:r>
          </a:p>
          <a:p xmlns:a="http://schemas.openxmlformats.org/drawingml/2006/main">
            <a:r>
              <a:t>  "validation": "기존 메뉴와 사용자군별 과업 비교·상담 전환",</a:t>
            </a:r>
          </a:p>
          <a:p xmlns:a="http://schemas.openxmlformats.org/drawingml/2006/main">
            <a:r>
              <a:t>  "requirement": "BM-ST-08-R01",</a:t>
            </a:r>
          </a:p>
          <a:p xmlns:a="http://schemas.openxmlformats.org/drawingml/2006/main">
            <a:r>
              <a:t>  "test": "BM-ST-08-T01",</a:t>
            </a:r>
          </a:p>
          <a:p xmlns:a="http://schemas.openxmlformats.org/drawingml/2006/main">
            <a:r>
              <a:t>  "effectStatus": "기대 방향 · TS 실측 전",</a:t>
            </a:r>
          </a:p>
          <a:p xmlns:a="http://schemas.openxmlformats.org/drawingml/2006/main">
            <a:r>
              <a:t>  "effect": "국민의 서비스 탐색·발화 재입력 감소",</a:t>
            </a:r>
          </a:p>
          <a:p xmlns:a="http://schemas.openxmlformats.org/drawingml/2006/main">
            <a:r>
              <a:t>  "reuse": "ON27-BASE / C27-COM + CCK 재사용 판정 기능",</a:t>
            </a:r>
          </a:p>
          <a:p xmlns:a="http://schemas.openxmlformats.org/drawingml/2006/main">
            <a:r>
              <a:t>  "input": "공개 서비스 목록, 지역·대상·필수서류, 텍스트·음성 요청",</a:t>
            </a:r>
          </a:p>
          <a:p xmlns:a="http://schemas.openxmlformats.org/drawingml/2006/main">
            <a:r>
              <a:t>  "steps": [</a:t>
            </a:r>
          </a:p>
          <a:p xmlns:a="http://schemas.openxmlformats.org/drawingml/2006/main">
            <a:r>
              <a:t>    "발화·업무 목적 정리",</a:t>
            </a:r>
          </a:p>
          <a:p xmlns:a="http://schemas.openxmlformats.org/drawingml/2006/main">
            <a:r>
              <a:t>    "이용자 필수 항목 확인",</a:t>
            </a:r>
          </a:p>
          <a:p xmlns:a="http://schemas.openxmlformats.org/drawingml/2006/main">
            <a:r>
              <a:t>    "소관·공식 서비스 연결",</a:t>
            </a:r>
          </a:p>
          <a:p xmlns:a="http://schemas.openxmlformats.org/drawingml/2006/main">
            <a:r>
              <a:t>    "인증·상담 인계·완료 확인"</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"이동정보·교통약자 조사",</a:t>
            </a:r>
          </a:p>
          <a:p xmlns:a="http://schemas.openxmlformats.org/drawingml/2006/main">
            <a:r>
              <a:t>      "indices": [</a:t>
            </a:r>
          </a:p>
          <a:p xmlns:a="http://schemas.openxmlformats.org/drawingml/2006/main">
            <a:r>
              <a:t>        2,</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"3. 수요응답형(DRT) 대중교통 시스템 구축 및 운영",</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"RULEWORK-1019020-3",</a:t>
            </a:r>
          </a:p>
          <a:p xmlns:a="http://schemas.openxmlformats.org/drawingml/2006/main">
            <a:r>
              <a:t>          "text": "3. 수요응답형(DRT) 대중교통 시스템 구축 및 운영",</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"RULEWORK-1019020-3-R01",</a:t>
            </a:r>
          </a:p>
          <a:p xmlns:a="http://schemas.openxmlformats.org/drawingml/2006/main">
            <a:r>
              <a:t>              "title": "업무 맥락·전용 지식 구성",</a:t>
            </a:r>
          </a:p>
          <a:p xmlns:a="http://schemas.openxmlformats.org/drawingml/2006/main">
            <a:r>
              <a:t>              "development": "지역·시간·배차 제약과 요청 맥락 분류",</a:t>
            </a:r>
          </a:p>
          <a:p xmlns:a="http://schemas.openxmlformats.org/drawingml/2006/main">
            <a:r>
              <a:t>              "output": "조건·예외·변경 요청·결과 대사표",</a:t>
            </a:r>
          </a:p>
          <a:p xmlns:a="http://schemas.openxmlformats.org/drawingml/2006/main">
            <a:r>
              <a:t>              "testId": "RULEWORK-1019020-3-T01",</a:t>
            </a:r>
          </a:p>
          <a:p xmlns:a="http://schemas.openxmlformats.org/drawingml/2006/main">
            <a:r>
              <a:t>              "criterion": "운영 상태·조건별 가능한 후보와 예외 정답 대조"</a:t>
            </a:r>
          </a:p>
          <a:p xmlns:a="http://schemas.openxmlformats.org/drawingml/2006/main">
            <a:r>
              <a:t>            },</a:t>
            </a:r>
          </a:p>
          <a:p xmlns:a="http://schemas.openxmlformats.org/drawingml/2006/main">
            <a:r>
              <a:t>            {</a:t>
            </a:r>
          </a:p>
          <a:p xmlns:a="http://schemas.openxmlformats.org/drawingml/2006/main">
            <a:r>
              <a:t>              "id": "RULEWORK-1019020-3-R02",</a:t>
            </a:r>
          </a:p>
          <a:p xmlns:a="http://schemas.openxmlformats.org/drawingml/2006/main">
            <a:r>
              <a:t>              "title": "업무건·역할·시스템 연결",</a:t>
            </a:r>
          </a:p>
          <a:p xmlns:a="http://schemas.openxmlformats.org/drawingml/2006/main">
            <a:r>
              <a:t>              "development": "기존 운영시스템 조회·승인 후 변경 결과 대사",</a:t>
            </a:r>
          </a:p>
          <a:p xmlns:a="http://schemas.openxmlformats.org/drawingml/2006/main">
            <a:r>
              <a:t>              "output": "업무건·원천·역할·변경 연결 명세",</a:t>
            </a:r>
          </a:p>
          <a:p xmlns:a="http://schemas.openxmlformats.org/drawingml/2006/main">
            <a:r>
              <a:t>              "testId": "RULEWORK-1019020-3-T02",</a:t>
            </a:r>
          </a:p>
          <a:p xmlns:a="http://schemas.openxmlformats.org/drawingml/2006/main">
            <a:r>
              <a:t>              "criterion": "운영자 확인 전 변경 및 중복 배차 요청 차단"</a:t>
            </a:r>
          </a:p>
          <a:p xmlns:a="http://schemas.openxmlformats.org/drawingml/2006/main">
            <a:r>
              <a:t>            },</a:t>
            </a:r>
          </a:p>
          <a:p xmlns:a="http://schemas.openxmlformats.org/drawingml/2006/main">
            <a:r>
              <a:t>            {</a:t>
            </a:r>
          </a:p>
          <a:p xmlns:a="http://schemas.openxmlformats.org/drawingml/2006/main">
            <a:r>
              <a:t>              "id": "RULEWORK-1019020-3-R03",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"RULEWORK-1019020-23",</a:t>
            </a:r>
          </a:p>
          <a:p xmlns:a="http://schemas.openxmlformats.org/drawingml/2006/main">
            <a:r>
              <a:t>          "text": "23. 교통약자 이동편의실태조사 및 자료관리",</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"RULEWORK-1019020-23-R01",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"RULEWORK-1019020-23-T01",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"RULEWORK-1019020-23-R02",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"RULEWORK-1019020-23-T02",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"RULEWORK-1019020-23-R03",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"대중교통 현황조사",</a:t>
            </a:r>
          </a:p>
          <a:p xmlns:a="http://schemas.openxmlformats.org/drawingml/2006/main">
            <a:r>
              <a:t>      "indices": [</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"RULEWORK-1019010-7",</a:t>
            </a:r>
          </a:p>
          <a:p xmlns:a="http://schemas.openxmlformats.org/drawingml/2006/main">
            <a:r>
              <a:t>          "text": "7. 대중교통 현황조사에 관한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"RULEWORK-1019010-7-R01",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"RULEWORK-1019010-7-T01",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"RULEWORK-1019010-7-R02",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"RULEWORK-1019010-7-T02",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"운수종사자 관리",</a:t>
            </a:r>
          </a:p>
          <a:p xmlns:a="http://schemas.openxmlformats.org/drawingml/2006/main">
            <a:r>
              <a:t>      "indices": [</a:t>
            </a:r>
          </a:p>
          <a:p xmlns:a="http://schemas.openxmlformats.org/drawingml/2006/main">
            <a:r>
              <a:t>        7,</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"8. 운수종사자 입․퇴사 정보, 교통사고정보 관리 및 부적격운전자 통보",</a:t>
            </a:r>
          </a:p>
          <a:p xmlns:a="http://schemas.openxmlformats.org/drawingml/2006/main">
            <a:r>
              <a:t>        "9. 운수종사자관리정보시스템 운영 및 관리"</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"RULEWORK-1022030-8",</a:t>
            </a:r>
          </a:p>
          <a:p xmlns:a="http://schemas.openxmlformats.org/drawingml/2006/main">
            <a:r>
              <a:t>          "text": "8. 운수종사자 입․퇴사 정보, 교통사고정보 관리 및 부적격운전자 통보",</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"RULEWORK-1022030-8-R01",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"RULEWORK-1022030-8-T01",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"RULEWORK-1022030-8-R02",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"RULEWORK-1022030-8-T02",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"RULEWORK-1022030-9",</a:t>
            </a:r>
          </a:p>
          <a:p xmlns:a="http://schemas.openxmlformats.org/drawingml/2006/main">
            <a:r>
              <a:t>          "text": "9. 운수종사자관리정보시스템 운영 및 관리",</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"RULEWORK-1022030-9-R01",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"RULEWORK-1022030-9-T01",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"RULEWORK-1022030-9-R02",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"RULEWORK-1022030-9-T02",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"RULEWORK-1022030-9-R03",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"RULEWORK-1022030-9-T03",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"1022010",</a:t>
            </a:r>
          </a:p>
          <a:p xmlns:a="http://schemas.openxmlformats.org/drawingml/2006/main">
            <a:r>
              <a:t>      "name": "자격교육처",</a:t>
            </a:r>
          </a:p>
          <a:p xmlns:a="http://schemas.openxmlformats.org/drawingml/2006/main">
            <a:r>
              <a:t>      "job": "자격·적성검사 운영",</a:t>
            </a:r>
          </a:p>
          <a:p xmlns:a="http://schemas.openxmlformats.org/drawingml/2006/main">
            <a:r>
              <a:t>      "indices": [</a:t>
            </a:r>
          </a:p>
          <a:p xmlns:a="http://schemas.openxmlformats.org/drawingml/2006/main">
            <a:r>
              <a:t>        20,</a:t>
            </a:r>
          </a:p>
          <a:p xmlns:a="http://schemas.openxmlformats.org/drawingml/2006/main">
            <a:r>
              <a:t>        31</a:t>
            </a:r>
          </a:p>
          <a:p xmlns:a="http://schemas.openxmlformats.org/drawingml/2006/main">
            <a:r>
              <a:t>      ],</a:t>
            </a:r>
          </a:p>
          <a:p xmlns:a="http://schemas.openxmlformats.org/drawingml/2006/main">
            <a:r>
              <a:t>      "duties": [</a:t>
            </a:r>
          </a:p>
          <a:p xmlns:a="http://schemas.openxmlformats.org/drawingml/2006/main">
            <a:r>
              <a:t>        "21. 운전적성정밀검사(신규, 특별, 버스‧택시‧화물 자격유지 등), 국가자격시험(버스, 화물, 택시, 교통안전관리자), 사업계획 수립 및 관련법령 개정 등 제도개선",</a:t>
            </a:r>
          </a:p>
          <a:p xmlns:a="http://schemas.openxmlformats.org/drawingml/2006/main">
            <a:r>
              <a:t>        "32. 화물․버스․택시 운전 및 교통안전관리자 자격증 발급 및 관리"</a:t>
            </a:r>
          </a:p>
          <a:p xmlns:a="http://schemas.openxmlformats.org/drawingml/2006/main">
            <a:r>
              <a:t>      ],</a:t>
            </a:r>
          </a:p>
          <a:p xmlns:a="http://schemas.openxmlformats.org/drawingml/2006/main">
            <a:r>
              <a:t>      "locator": "별표4 · T40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"RULEWORK-1022010-21",</a:t>
            </a:r>
          </a:p>
          <a:p xmlns:a="http://schemas.openxmlformats.org/drawingml/2006/main">
            <a:r>
              <a:t>          "text": "21. 운전적성정밀검사(신규, 특별, 버스‧택시‧화물 자격유지 등), 국가자격시험(버스, 화물, 택시, 교통안전관리자), 사업계획 수립 및 관련법령 개정 등 제도개선",</a:t>
            </a:r>
          </a:p>
          <a:p xmlns:a="http://schemas.openxmlformats.org/drawingml/2006/main">
            <a:r>
              <a:t>          "locator": "별표4 · T40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"RULEWORK-1022010-21-R01",</a:t>
            </a:r>
          </a:p>
          <a:p xmlns:a="http://schemas.openxmlformats.org/drawingml/2006/main">
            <a:r>
              <a:t>              "title": "업무 맥락·전용 지식 구성",</a:t>
            </a:r>
          </a:p>
          <a:p xmlns:a="http://schemas.openxmlformats.org/drawingml/2006/main">
            <a:r>
              <a:t>              "development": "종목·대상·기간별 요건·교육 안내 구성",</a:t>
            </a:r>
          </a:p>
          <a:p xmlns:a="http://schemas.openxmlformats.org/drawingml/2006/main">
            <a:r>
              <a:t>              "output": "요건·보완·일정·이수 확인표",</a:t>
            </a:r>
          </a:p>
          <a:p xmlns:a="http://schemas.openxmlformats.org/drawingml/2006/main">
            <a:r>
              <a:t>              "testId": "RULEWORK-1022010-21-T01",</a:t>
            </a:r>
          </a:p>
          <a:p xmlns:a="http://schemas.openxmlformats.org/drawingml/2006/main">
            <a:r>
              <a:t>              "criterion": "자격 요건·면제·기간·이수 기준 대조"</a:t>
            </a:r>
          </a:p>
          <a:p xmlns:a="http://schemas.openxmlformats.org/drawingml/2006/main">
            <a:r>
              <a:t>            },</a:t>
            </a:r>
          </a:p>
          <a:p xmlns:a="http://schemas.openxmlformats.org/drawingml/2006/main">
            <a:r>
              <a:t>            {</a:t>
            </a:r>
          </a:p>
          <a:p xmlns:a="http://schemas.openxmlformats.org/drawingml/2006/main">
            <a:r>
              <a:t>              "id": "RULEWORK-1022010-21-R02",</a:t>
            </a:r>
          </a:p>
          <a:p xmlns:a="http://schemas.openxmlformats.org/drawingml/2006/main">
            <a:r>
              <a:t>              "title": "업무건·역할·시스템 연결",</a:t>
            </a:r>
          </a:p>
          <a:p xmlns:a="http://schemas.openxmlformats.org/drawingml/2006/main">
            <a:r>
              <a:t>              "development": "접수–심사–시험–이수·발급 이력 연결",</a:t>
            </a:r>
          </a:p>
          <a:p xmlns:a="http://schemas.openxmlformats.org/drawingml/2006/main">
            <a:r>
              <a:t>              "output": "업무건·원천·역할·변경 연결 명세",</a:t>
            </a:r>
          </a:p>
          <a:p xmlns:a="http://schemas.openxmlformats.org/drawingml/2006/main">
            <a:r>
              <a:t>              "testId": "RULEWORK-1022010-21-T02",</a:t>
            </a:r>
          </a:p>
          <a:p xmlns:a="http://schemas.openxmlformats.org/drawingml/2006/main">
            <a:r>
              <a:t>              "criterion": "AI에 의한 응시 적격·성적·자격 발급 확정 차단"</a:t>
            </a:r>
          </a:p>
          <a:p xmlns:a="http://schemas.openxmlformats.org/drawingml/2006/main">
            <a:r>
              <a:t>            },</a:t>
            </a:r>
          </a:p>
          <a:p xmlns:a="http://schemas.openxmlformats.org/drawingml/2006/main">
            <a:r>
              <a:t>            {</a:t>
            </a:r>
          </a:p>
          <a:p xmlns:a="http://schemas.openxmlformats.org/drawingml/2006/main">
            <a:r>
              <a:t>              "id": "RULEWORK-1022010-21-R03",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"RULEWORK-1022010-21-T03",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"RULEWORK-1022010-32",</a:t>
            </a:r>
          </a:p>
          <a:p xmlns:a="http://schemas.openxmlformats.org/drawingml/2006/main">
            <a:r>
              <a:t>          "text": "32. 화물․버스․택시 운전 및 교통안전관리자 자격증 발급 및 관리",</a:t>
            </a:r>
          </a:p>
          <a:p xmlns:a="http://schemas.openxmlformats.org/drawingml/2006/main">
            <a:r>
              <a:t>          "locator": "별표4 · T40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"RULEWORK-1022010-32-R01",</a:t>
            </a:r>
          </a:p>
          <a:p xmlns:a="http://schemas.openxmlformats.org/drawingml/2006/main">
            <a:r>
              <a:t>              "title": "업무 맥락·전용 지식 구성",</a:t>
            </a:r>
          </a:p>
          <a:p xmlns:a="http://schemas.openxmlformats.org/drawingml/2006/main">
            <a:r>
              <a:t>              "development": "종목·대상·기간별 요건·교육 안내 구성",</a:t>
            </a:r>
          </a:p>
          <a:p xmlns:a="http://schemas.openxmlformats.org/drawingml/2006/main">
            <a:r>
              <a:t>              "output": "요건·보완·일정·이수 확인표",</a:t>
            </a:r>
          </a:p>
          <a:p xmlns:a="http://schemas.openxmlformats.org/drawingml/2006/main">
            <a:r>
              <a:t>              "testId": "RULEWORK-1022010-32-T01",</a:t>
            </a:r>
          </a:p>
          <a:p xmlns:a="http://schemas.openxmlformats.org/drawingml/2006/main">
            <a:r>
              <a:t>              "criterion": "자격 요건·면제·기간·이수 기준 대조"</a:t>
            </a:r>
          </a:p>
          <a:p xmlns:a="http://schemas.openxmlformats.org/drawingml/2006/main">
            <a:r>
              <a:t>            },</a:t>
            </a:r>
          </a:p>
          <a:p xmlns:a="http://schemas.openxmlformats.org/drawingml/2006/main">
            <a:r>
              <a:t>            {</a:t>
            </a:r>
          </a:p>
          <a:p xmlns:a="http://schemas.openxmlformats.org/drawingml/2006/main">
            <a:r>
              <a:t>              "id": "RULEWORK-1022010-32-R02",</a:t>
            </a:r>
          </a:p>
          <a:p xmlns:a="http://schemas.openxmlformats.org/drawingml/2006/main">
            <a:r>
              <a:t>              "title": "업무건·역할·시스템 연결",</a:t>
            </a:r>
          </a:p>
          <a:p xmlns:a="http://schemas.openxmlformats.org/drawingml/2006/main">
            <a:r>
              <a:t>              "development": "접수–심사–시험–이수·발급 이력 연결",</a:t>
            </a:r>
          </a:p>
          <a:p xmlns:a="http://schemas.openxmlformats.org/drawingml/2006/main">
            <a:r>
              <a:t>              "output": "업무건·원천·역할·변경 연결 명세",</a:t>
            </a:r>
          </a:p>
          <a:p xmlns:a="http://schemas.openxmlformats.org/drawingml/2006/main">
            <a:r>
              <a:t>              "testId": "RULEWORK-1022010-32-T02",</a:t>
            </a:r>
          </a:p>
          <a:p xmlns:a="http://schemas.openxmlformats.org/drawingml/2006/main">
            <a:r>
              <a:t>              "criterion": "AI에 의한 응시 적격·성적·자격 발급 확정 차단"</a:t>
            </a:r>
          </a:p>
          <a:p xmlns:a="http://schemas.openxmlformats.org/drawingml/2006/main">
            <a:r>
              <a:t>            },</a:t>
            </a:r>
          </a:p>
          <a:p xmlns:a="http://schemas.openxmlformats.org/drawingml/2006/main">
            <a:r>
              <a:t>            {</a:t>
            </a:r>
          </a:p>
          <a:p xmlns:a="http://schemas.openxmlformats.org/drawingml/2006/main">
            <a:r>
              <a:t>              "id": "RULEWORK-1022010-32-R03",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"RULEWORK-1022010-32-T03",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공개지식 검색·대화"</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"JET·Foundry의 필수 입력·절차 설계"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"음성 입력·발화 정리 연계",</a:t>
            </a:r>
          </a:p>
          <a:p xmlns:a="http://schemas.openxmlformats.org/drawingml/2006/main">
            <a:r>
              <a:t>    "서비스 라우터·메뉴/상담 복귀 경로"</a:t>
            </a:r>
          </a:p>
          <a:p xmlns:a="http://schemas.openxmlformats.org/drawingml/2006/main">
            <a:r>
              <a:t>  ],</a:t>
            </a:r>
          </a:p>
          <a:p xmlns:a="http://schemas.openxmlformats.org/drawingml/2006/main">
            <a:r>
              <a:t>  "acceptancePlan": {</a:t>
            </a:r>
          </a:p>
          <a:p xmlns:a="http://schemas.openxmlformats.org/drawingml/2006/main">
            <a:r>
              <a:t>    "sample": "고령·방언·소음·범위 밖 요청과 일반 사용자 과업",</a:t>
            </a:r>
          </a:p>
          <a:p xmlns:a="http://schemas.openxmlformats.org/drawingml/2006/main">
            <a:r>
              <a:t>    "criterion": "정확한 창구 연결·사용자 확인·내부자료 차단·상담 전환",</a:t>
            </a:r>
          </a:p>
          <a:p xmlns:a="http://schemas.openxmlformats.org/drawingml/2006/main">
            <a:r>
              <a:t>    "evidence": "사용자군별 과업 기록·도달률·오인계 결과",</a:t>
            </a:r>
          </a:p>
          <a:p xmlns:a="http://schemas.openxmlformats.org/drawingml/2006/main">
            <a:r>
              <a:t>    "execution": "미실행"</a:t>
            </a:r>
          </a:p>
          <a:p xmlns:a="http://schemas.openxmlformats.org/drawingml/2006/main">
            <a:r>
              <a:t>  },</a:t>
            </a:r>
          </a:p>
          <a:p xmlns:a="http://schemas.openxmlformats.org/drawingml/2006/main">
            <a:r>
              <a:t>  "formula": "정확한 서비스 도달 수 ÷ 전체 시도 수 / 사용자군별 완료시간·포기율",</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"PF-R02",</a:t>
            </a:r>
          </a:p>
          <a:p xmlns:a="http://schemas.openxmlformats.org/drawingml/2006/main">
            <a:r>
              <a:t>    "PF-R05",</a:t>
            </a:r>
          </a:p>
          <a:p xmlns:a="http://schemas.openxmlformats.org/drawingml/2006/main">
            <a:r>
              <a:t>    "PF-R07",</a:t>
            </a:r>
          </a:p>
          <a:p xmlns:a="http://schemas.openxmlformats.org/drawingml/2006/main">
            <a:r>
              <a:t>    "PF03",</a:t>
            </a:r>
          </a:p>
          <a:p xmlns:a="http://schemas.openxmlformats.org/drawingml/2006/main">
            <a:r>
              <a:t>    "PF07",</a:t>
            </a:r>
          </a:p>
          <a:p xmlns:a="http://schemas.openxmlformats.org/drawingml/2006/main">
            <a:r>
              <a:t>    "PF-A12",</a:t>
            </a:r>
          </a:p>
          <a:p xmlns:a="http://schemas.openxmlformats.org/drawingml/2006/main">
            <a:r>
              <a:t>    "PF31"</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"ST-08",</a:t>
            </a:r>
          </a:p>
          <a:p xmlns:a="http://schemas.openxmlformats.org/drawingml/2006/main">
            <a:r>
              <a:t>  "number": 8,</a:t>
            </a:r>
          </a:p>
          <a:p xmlns:a="http://schemas.openxmlformats.org/drawingml/2006/main">
            <a:r>
              <a:t>  "direction": "균형있는 국민체감 서비스 실현",</a:t>
            </a:r>
          </a:p>
          <a:p xmlns:a="http://schemas.openxmlformats.org/drawingml/2006/main">
            <a:r>
              <a:t>  "strategy": "생활 밀착형 이동 서비스 확대",</a:t>
            </a:r>
          </a:p>
          <a:p xmlns:a="http://schemas.openxmlformats.org/drawingml/2006/main">
            <a:r>
              <a:t>  "solution": "국민 이동·신청 절차 지원",</a:t>
            </a:r>
          </a:p>
          <a:p xmlns:a="http://schemas.openxmlformats.org/drawingml/2006/main">
            <a:r>
              <a:t>  "lawIds": [</a:t>
            </a:r>
          </a:p>
          <a:p xmlns:a="http://schemas.openxmlformats.org/drawingml/2006/main">
            <a:r>
              <a:t>    "L11",</a:t>
            </a:r>
          </a:p>
          <a:p xmlns:a="http://schemas.openxmlformats.org/drawingml/2006/main">
            <a:r>
              <a:t>    "L15",</a:t>
            </a:r>
          </a:p>
          <a:p xmlns:a="http://schemas.openxmlformats.org/drawingml/2006/main">
            <a:r>
              <a:t>    "L16",</a:t>
            </a:r>
          </a:p>
          <a:p xmlns:a="http://schemas.openxmlformats.org/drawingml/2006/main">
            <a:r>
              <a:t>    "L17"</a:t>
            </a:r>
          </a:p>
          <a:p xmlns:a="http://schemas.openxmlformats.org/drawingml/2006/main">
            <a:r>
              <a:t>  ],</a:t>
            </a:r>
          </a:p>
          <a:p xmlns:a="http://schemas.openxmlformats.org/drawingml/2006/main">
            <a:r>
              <a:t>  "codes": [</a:t>
            </a:r>
          </a:p>
          <a:p xmlns:a="http://schemas.openxmlformats.org/drawingml/2006/main">
            <a:r>
              <a:t>    "1019020",</a:t>
            </a:r>
          </a:p>
          <a:p xmlns:a="http://schemas.openxmlformats.org/drawingml/2006/main">
            <a:r>
              <a:t>    "1019010",</a:t>
            </a:r>
          </a:p>
          <a:p xmlns:a="http://schemas.openxmlformats.org/drawingml/2006/main">
            <a:r>
              <a:t>    "1022030",</a:t>
            </a:r>
          </a:p>
          <a:p xmlns:a="http://schemas.openxmlformats.org/drawingml/2006/main">
            <a:r>
              <a:t>    "1022010"</a:t>
            </a:r>
          </a:p>
          <a:p xmlns:a="http://schemas.openxmlformats.org/drawingml/2006/main">
            <a:r>
              <a:t>  ],</a:t>
            </a:r>
          </a:p>
          <a:p xmlns:a="http://schemas.openxmlformats.org/drawingml/2006/main">
            <a:r>
              <a:t>  "work": "이동정보·교통약자·자격·현장 서비스의 안내·인계",</a:t>
            </a:r>
          </a:p>
          <a:p xmlns:a="http://schemas.openxmlformats.org/drawingml/2006/main">
            <a:r>
              <a:t>  "features": [</a:t>
            </a:r>
          </a:p>
          <a:p xmlns:a="http://schemas.openxmlformats.org/drawingml/2006/main">
            <a:r>
              <a:t>    "이용 목적·지역별 절차·서류·담당 창구 구성",</a:t>
            </a:r>
          </a:p>
          <a:p xmlns:a="http://schemas.openxmlformats.org/drawingml/2006/main">
            <a:r>
              <a:t>    "국민 문의와 소관 부서 처리상태 연결"</a:t>
            </a:r>
          </a:p>
          <a:p xmlns:a="http://schemas.openxmlformats.org/drawingml/2006/main">
            <a:r>
              <a:t>  ],</a:t>
            </a:r>
          </a:p>
          <a:p xmlns:a="http://schemas.openxmlformats.org/drawingml/2006/main">
            <a:r>
              <a:t>  "output": "목적별 안내·필수서류·인계 기록",</a:t>
            </a:r>
          </a:p>
          <a:p xmlns:a="http://schemas.openxmlformats.org/drawingml/2006/main">
            <a:r>
              <a:t>  "acceptance": "공개 지식만 사용한 안내·기관 내부정보 차단·담당 창구 일치 확인",</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"GAI-T05",</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"이동정보·교통약자 조사",</a:t>
            </a:r>
          </a:p>
          <a:p xmlns:a="http://schemas.openxmlformats.org/drawingml/2006/main">
            <a:r>
              <a:t>      "indices": [</a:t>
            </a:r>
          </a:p>
          <a:p xmlns:a="http://schemas.openxmlformats.org/drawingml/2006/main">
            <a:r>
              <a:t>        2,</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"3. 수요응답형(DRT) 대중교통 시스템 구축 및 운영",</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"대중교통 현황조사",</a:t>
            </a:r>
          </a:p>
          <a:p xmlns:a="http://schemas.openxmlformats.org/drawingml/2006/main">
            <a:r>
              <a:t>      "indices": [</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"운수종사자 관리",</a:t>
            </a:r>
          </a:p>
          <a:p xmlns:a="http://schemas.openxmlformats.org/drawingml/2006/main">
            <a:r>
              <a:t>      "indices": [</a:t>
            </a:r>
          </a:p>
          <a:p xmlns:a="http://schemas.openxmlformats.org/drawingml/2006/main">
            <a:r>
              <a:t>        7,</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"8. 운수종사자 입․퇴사 정보, 교통사고정보 관리 및 부적격운전자 통보",</a:t>
            </a:r>
          </a:p>
          <a:p xmlns:a="http://schemas.openxmlformats.org/drawingml/2006/main">
            <a:r>
              <a:t>        "9. 운수종사자관리정보시스템 운영 및 관리"</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"1022010",</a:t>
            </a:r>
          </a:p>
          <a:p xmlns:a="http://schemas.openxmlformats.org/drawingml/2006/main">
            <a:r>
              <a:t>      "name": "자격교육처",</a:t>
            </a:r>
          </a:p>
          <a:p xmlns:a="http://schemas.openxmlformats.org/drawingml/2006/main">
            <a:r>
              <a:t>      "job": "자격·적성검사 운영",</a:t>
            </a:r>
          </a:p>
          <a:p xmlns:a="http://schemas.openxmlformats.org/drawingml/2006/main">
            <a:r>
              <a:t>      "indices": [</a:t>
            </a:r>
          </a:p>
          <a:p xmlns:a="http://schemas.openxmlformats.org/drawingml/2006/main">
            <a:r>
              <a:t>        20,</a:t>
            </a:r>
          </a:p>
          <a:p xmlns:a="http://schemas.openxmlformats.org/drawingml/2006/main">
            <a:r>
              <a:t>        31</a:t>
            </a:r>
          </a:p>
          <a:p xmlns:a="http://schemas.openxmlformats.org/drawingml/2006/main">
            <a:r>
              <a:t>      ],</a:t>
            </a:r>
          </a:p>
          <a:p xmlns:a="http://schemas.openxmlformats.org/drawingml/2006/main">
            <a:r>
              <a:t>      "duties": [</a:t>
            </a:r>
          </a:p>
          <a:p xmlns:a="http://schemas.openxmlformats.org/drawingml/2006/main">
            <a:r>
              <a:t>        "21. 운전적성정밀검사(신규, 특별, 버스‧택시‧화물 자격유지 등), 국가자격시험(버스, 화물, 택시, 교통안전관리자), 사업계획 수립 및 관련법령 개정 등 제도개선",</a:t>
            </a:r>
          </a:p>
          <a:p xmlns:a="http://schemas.openxmlformats.org/drawingml/2006/main">
            <a:r>
              <a:t>        "32. 화물․버스․택시 운전 및 교통안전관리자 자격증 발급 및 관리"</a:t>
            </a:r>
          </a:p>
          <a:p xmlns:a="http://schemas.openxmlformats.org/drawingml/2006/main">
            <a:r>
              <a:t>      ],</a:t>
            </a:r>
          </a:p>
          <a:p xmlns:a="http://schemas.openxmlformats.org/drawingml/2006/main">
            <a:r>
              <a:t>      "locator": "별표4 · T40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"법정 자격·조사·운행정보 업무의 안내·인계 지원 / 개별 지원사업 자격·지급 판정은 별도 과업",</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"AX02",</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"자연어·음성 이동 서비스 접점",</a:t>
            </a:r>
          </a:p>
          <a:p xmlns:a="http://schemas.openxmlformats.org/drawingml/2006/main">
            <a:r>
              <a:t>  "delta": "발화 정리·필수 항목 확인·소관 서비스 연결",</a:t>
            </a:r>
          </a:p>
          <a:p xmlns:a="http://schemas.openxmlformats.org/drawingml/2006/main">
            <a:r>
              <a:t>  "kpi": "정보약자 도달률 / 포기율",</a:t>
            </a:r>
          </a:p>
          <a:p xmlns:a="http://schemas.openxmlformats.org/drawingml/2006/main">
            <a:r>
              <a:t>  "validation": "기존 메뉴와 사용자군별 과업 비교·상담 전환",</a:t>
            </a:r>
          </a:p>
          <a:p xmlns:a="http://schemas.openxmlformats.org/drawingml/2006/main">
            <a:r>
              <a:t>  "requirement": "BM-ST-08-R01",</a:t>
            </a:r>
          </a:p>
          <a:p xmlns:a="http://schemas.openxmlformats.org/drawingml/2006/main">
            <a:r>
              <a:t>  "test": "BM-ST-08-T01",</a:t>
            </a:r>
          </a:p>
          <a:p xmlns:a="http://schemas.openxmlformats.org/drawingml/2006/main">
            <a:r>
              <a:t>  "effectStatus": "기대 방향 · TS 실측 전",</a:t>
            </a:r>
          </a:p>
          <a:p xmlns:a="http://schemas.openxmlformats.org/drawingml/2006/main">
            <a:r>
              <a:t>  "effect": "국민의 서비스 탐색·발화 재입력 감소",</a:t>
            </a:r>
          </a:p>
          <a:p xmlns:a="http://schemas.openxmlformats.org/drawingml/2006/main">
            <a:r>
              <a:t>  "reuse": "ON27-BASE / C27-COM + CCK 재사용 판정 기능",</a:t>
            </a:r>
          </a:p>
          <a:p xmlns:a="http://schemas.openxmlformats.org/drawingml/2006/main">
            <a:r>
              <a:t>  "input": "공개 서비스 목록, 지역·대상·필수서류, 텍스트·음성 요청",</a:t>
            </a:r>
          </a:p>
          <a:p xmlns:a="http://schemas.openxmlformats.org/drawingml/2006/main">
            <a:r>
              <a:t>  "steps": [</a:t>
            </a:r>
          </a:p>
          <a:p xmlns:a="http://schemas.openxmlformats.org/drawingml/2006/main">
            <a:r>
              <a:t>    "발화·업무 목적 정리",</a:t>
            </a:r>
          </a:p>
          <a:p xmlns:a="http://schemas.openxmlformats.org/drawingml/2006/main">
            <a:r>
              <a:t>    "이용자 필수 항목 확인",</a:t>
            </a:r>
          </a:p>
          <a:p xmlns:a="http://schemas.openxmlformats.org/drawingml/2006/main">
            <a:r>
              <a:t>    "소관·공식 서비스 연결",</a:t>
            </a:r>
          </a:p>
          <a:p xmlns:a="http://schemas.openxmlformats.org/drawingml/2006/main">
            <a:r>
              <a:t>    "인증·상담 인계·완료 확인"</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"이동정보·교통약자 조사",</a:t>
            </a:r>
          </a:p>
          <a:p xmlns:a="http://schemas.openxmlformats.org/drawingml/2006/main">
            <a:r>
              <a:t>      "indices": [</a:t>
            </a:r>
          </a:p>
          <a:p xmlns:a="http://schemas.openxmlformats.org/drawingml/2006/main">
            <a:r>
              <a:t>        2,</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"3. 수요응답형(DRT) 대중교통 시스템 구축 및 운영",</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"RULEWORK-1019020-3",</a:t>
            </a:r>
          </a:p>
          <a:p xmlns:a="http://schemas.openxmlformats.org/drawingml/2006/main">
            <a:r>
              <a:t>          "text": "3. 수요응답형(DRT) 대중교통 시스템 구축 및 운영",</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"RULEWORK-1019020-3-R01",</a:t>
            </a:r>
          </a:p>
          <a:p xmlns:a="http://schemas.openxmlformats.org/drawingml/2006/main">
            <a:r>
              <a:t>              "title": "업무 맥락·전용 지식 구성",</a:t>
            </a:r>
          </a:p>
          <a:p xmlns:a="http://schemas.openxmlformats.org/drawingml/2006/main">
            <a:r>
              <a:t>              "development": "지역·시간·배차 제약과 요청 맥락 분류",</a:t>
            </a:r>
          </a:p>
          <a:p xmlns:a="http://schemas.openxmlformats.org/drawingml/2006/main">
            <a:r>
              <a:t>              "output": "조건·예외·변경 요청·결과 대사표",</a:t>
            </a:r>
          </a:p>
          <a:p xmlns:a="http://schemas.openxmlformats.org/drawingml/2006/main">
            <a:r>
              <a:t>              "testId": "RULEWORK-1019020-3-T01",</a:t>
            </a:r>
          </a:p>
          <a:p xmlns:a="http://schemas.openxmlformats.org/drawingml/2006/main">
            <a:r>
              <a:t>              "criterion": "운영 상태·조건별 가능한 후보와 예외 정답 대조"</a:t>
            </a:r>
          </a:p>
          <a:p xmlns:a="http://schemas.openxmlformats.org/drawingml/2006/main">
            <a:r>
              <a:t>            },</a:t>
            </a:r>
          </a:p>
          <a:p xmlns:a="http://schemas.openxmlformats.org/drawingml/2006/main">
            <a:r>
              <a:t>            {</a:t>
            </a:r>
          </a:p>
          <a:p xmlns:a="http://schemas.openxmlformats.org/drawingml/2006/main">
            <a:r>
              <a:t>              "id": "RULEWORK-1019020-3-R02",</a:t>
            </a:r>
          </a:p>
          <a:p xmlns:a="http://schemas.openxmlformats.org/drawingml/2006/main">
            <a:r>
              <a:t>              "title": "업무건·역할·시스템 연결",</a:t>
            </a:r>
          </a:p>
          <a:p xmlns:a="http://schemas.openxmlformats.org/drawingml/2006/main">
            <a:r>
              <a:t>              "development": "기존 운영시스템 조회·승인 후 변경 결과 대사",</a:t>
            </a:r>
          </a:p>
          <a:p xmlns:a="http://schemas.openxmlformats.org/drawingml/2006/main">
            <a:r>
              <a:t>              "output": "업무건·원천·역할·변경 연결 명세",</a:t>
            </a:r>
          </a:p>
          <a:p xmlns:a="http://schemas.openxmlformats.org/drawingml/2006/main">
            <a:r>
              <a:t>              "testId": "RULEWORK-1019020-3-T02",</a:t>
            </a:r>
          </a:p>
          <a:p xmlns:a="http://schemas.openxmlformats.org/drawingml/2006/main">
            <a:r>
              <a:t>              "criterion": "운영자 확인 전 변경 및 중복 배차 요청 차단"</a:t>
            </a:r>
          </a:p>
          <a:p xmlns:a="http://schemas.openxmlformats.org/drawingml/2006/main">
            <a:r>
              <a:t>            },</a:t>
            </a:r>
          </a:p>
          <a:p xmlns:a="http://schemas.openxmlformats.org/drawingml/2006/main">
            <a:r>
              <a:t>            {</a:t>
            </a:r>
          </a:p>
          <a:p xmlns:a="http://schemas.openxmlformats.org/drawingml/2006/main">
            <a:r>
              <a:t>              "id": "RULEWORK-1019020-3-R03",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"RULEWORK-1019020-23",</a:t>
            </a:r>
          </a:p>
          <a:p xmlns:a="http://schemas.openxmlformats.org/drawingml/2006/main">
            <a:r>
              <a:t>          "text": "23. 교통약자 이동편의실태조사 및 자료관리",</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"RULEWORK-1019020-23-R01",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"RULEWORK-1019020-23-T01",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"RULEWORK-1019020-23-R02",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"RULEWORK-1019020-23-T02",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"RULEWORK-1019020-23-R03",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"대중교통 현황조사",</a:t>
            </a:r>
          </a:p>
          <a:p xmlns:a="http://schemas.openxmlformats.org/drawingml/2006/main">
            <a:r>
              <a:t>      "indices": [</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"RULEWORK-1019010-7",</a:t>
            </a:r>
          </a:p>
          <a:p xmlns:a="http://schemas.openxmlformats.org/drawingml/2006/main">
            <a:r>
              <a:t>          "text": "7. 대중교통 현황조사에 관한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"RULEWORK-1019010-7-R01",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"RULEWORK-1019010-7-T01",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"RULEWORK-1019010-7-R02",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"RULEWORK-1019010-7-T02",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"운수종사자 관리",</a:t>
            </a:r>
          </a:p>
          <a:p xmlns:a="http://schemas.openxmlformats.org/drawingml/2006/main">
            <a:r>
              <a:t>      "indices": [</a:t>
            </a:r>
          </a:p>
          <a:p xmlns:a="http://schemas.openxmlformats.org/drawingml/2006/main">
            <a:r>
              <a:t>        7,</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"8. 운수종사자 입․퇴사 정보, 교통사고정보 관리 및 부적격운전자 통보",</a:t>
            </a:r>
          </a:p>
          <a:p xmlns:a="http://schemas.openxmlformats.org/drawingml/2006/main">
            <a:r>
              <a:t>        "9. 운수종사자관리정보시스템 운영 및 관리"</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"RULEWORK-1022030-8",</a:t>
            </a:r>
          </a:p>
          <a:p xmlns:a="http://schemas.openxmlformats.org/drawingml/2006/main">
            <a:r>
              <a:t>          "text": "8. 운수종사자 입․퇴사 정보, 교통사고정보 관리 및 부적격운전자 통보",</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"RULEWORK-1022030-8-R01",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"RULEWORK-1022030-8-T01",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"RULEWORK-1022030-8-R02",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"RULEWORK-1022030-8-T02",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"RULEWORK-1022030-9",</a:t>
            </a:r>
          </a:p>
          <a:p xmlns:a="http://schemas.openxmlformats.org/drawingml/2006/main">
            <a:r>
              <a:t>          "text": "9. 운수종사자관리정보시스템 운영 및 관리",</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"RULEWORK-1022030-9-R01",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"RULEWORK-1022030-9-T01",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"RULEWORK-1022030-9-R02",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"RULEWORK-1022030-9-T02",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"RULEWORK-1022030-9-R03",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"RULEWORK-1022030-9-T03",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"1022010",</a:t>
            </a:r>
          </a:p>
          <a:p xmlns:a="http://schemas.openxmlformats.org/drawingml/2006/main">
            <a:r>
              <a:t>      "name": "자격교육처",</a:t>
            </a:r>
          </a:p>
          <a:p xmlns:a="http://schemas.openxmlformats.org/drawingml/2006/main">
            <a:r>
              <a:t>      "job": "자격·적성검사 운영",</a:t>
            </a:r>
          </a:p>
          <a:p xmlns:a="http://schemas.openxmlformats.org/drawingml/2006/main">
            <a:r>
              <a:t>      "indices": [</a:t>
            </a:r>
          </a:p>
          <a:p xmlns:a="http://schemas.openxmlformats.org/drawingml/2006/main">
            <a:r>
              <a:t>        20,</a:t>
            </a:r>
          </a:p>
          <a:p xmlns:a="http://schemas.openxmlformats.org/drawingml/2006/main">
            <a:r>
              <a:t>        31</a:t>
            </a:r>
          </a:p>
          <a:p xmlns:a="http://schemas.openxmlformats.org/drawingml/2006/main">
            <a:r>
              <a:t>      ],</a:t>
            </a:r>
          </a:p>
          <a:p xmlns:a="http://schemas.openxmlformats.org/drawingml/2006/main">
            <a:r>
              <a:t>      "duties": [</a:t>
            </a:r>
          </a:p>
          <a:p xmlns:a="http://schemas.openxmlformats.org/drawingml/2006/main">
            <a:r>
              <a:t>        "21. 운전적성정밀검사(신규, 특별, 버스‧택시‧화물 자격유지 등), 국가자격시험(버스, 화물, 택시, 교통안전관리자), 사업계획 수립 및 관련법령 개정 등 제도개선",</a:t>
            </a:r>
          </a:p>
          <a:p xmlns:a="http://schemas.openxmlformats.org/drawingml/2006/main">
            <a:r>
              <a:t>        "32. 화물․버스․택시 운전 및 교통안전관리자 자격증 발급 및 관리"</a:t>
            </a:r>
          </a:p>
          <a:p xmlns:a="http://schemas.openxmlformats.org/drawingml/2006/main">
            <a:r>
              <a:t>      ],</a:t>
            </a:r>
          </a:p>
          <a:p xmlns:a="http://schemas.openxmlformats.org/drawingml/2006/main">
            <a:r>
              <a:t>      "locator": "별표4 · T40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"RULEWORK-1022010-21",</a:t>
            </a:r>
          </a:p>
          <a:p xmlns:a="http://schemas.openxmlformats.org/drawingml/2006/main">
            <a:r>
              <a:t>          "text": "21. 운전적성정밀검사(신규, 특별, 버스‧택시‧화물 자격유지 등), 국가자격시험(버스, 화물, 택시, 교통안전관리자), 사업계획 수립 및 관련법령 개정 등 제도개선",</a:t>
            </a:r>
          </a:p>
          <a:p xmlns:a="http://schemas.openxmlformats.org/drawingml/2006/main">
            <a:r>
              <a:t>          "locator": "별표4 · T40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"RULEWORK-1022010-21-R01",</a:t>
            </a:r>
          </a:p>
          <a:p xmlns:a="http://schemas.openxmlformats.org/drawingml/2006/main">
            <a:r>
              <a:t>              "title": "업무 맥락·전용 지식 구성",</a:t>
            </a:r>
          </a:p>
          <a:p xmlns:a="http://schemas.openxmlformats.org/drawingml/2006/main">
            <a:r>
              <a:t>              "development": "종목·대상·기간별 요건·교육 안내 구성",</a:t>
            </a:r>
          </a:p>
          <a:p xmlns:a="http://schemas.openxmlformats.org/drawingml/2006/main">
            <a:r>
              <a:t>              "output": "요건·보완·일정·이수 확인표",</a:t>
            </a:r>
          </a:p>
          <a:p xmlns:a="http://schemas.openxmlformats.org/drawingml/2006/main">
            <a:r>
              <a:t>              "testId": "RULEWORK-1022010-21-T01",</a:t>
            </a:r>
          </a:p>
          <a:p xmlns:a="http://schemas.openxmlformats.org/drawingml/2006/main">
            <a:r>
              <a:t>              "criterion": "자격 요건·면제·기간·이수 기준 대조"</a:t>
            </a:r>
          </a:p>
          <a:p xmlns:a="http://schemas.openxmlformats.org/drawingml/2006/main">
            <a:r>
              <a:t>            },</a:t>
            </a:r>
          </a:p>
          <a:p xmlns:a="http://schemas.openxmlformats.org/drawingml/2006/main">
            <a:r>
              <a:t>            {</a:t>
            </a:r>
          </a:p>
          <a:p xmlns:a="http://schemas.openxmlformats.org/drawingml/2006/main">
            <a:r>
              <a:t>              "id": "RULEWORK-1022010-21-R02",</a:t>
            </a:r>
          </a:p>
          <a:p xmlns:a="http://schemas.openxmlformats.org/drawingml/2006/main">
            <a:r>
              <a:t>              "title": "업무건·역할·시스템 연결",</a:t>
            </a:r>
          </a:p>
          <a:p xmlns:a="http://schemas.openxmlformats.org/drawingml/2006/main">
            <a:r>
              <a:t>              "development": "접수–심사–시험–이수·발급 이력 연결",</a:t>
            </a:r>
          </a:p>
          <a:p xmlns:a="http://schemas.openxmlformats.org/drawingml/2006/main">
            <a:r>
              <a:t>              "output": "업무건·원천·역할·변경 연결 명세",</a:t>
            </a:r>
          </a:p>
          <a:p xmlns:a="http://schemas.openxmlformats.org/drawingml/2006/main">
            <a:r>
              <a:t>              "testId": "RULEWORK-1022010-21-T02",</a:t>
            </a:r>
          </a:p>
          <a:p xmlns:a="http://schemas.openxmlformats.org/drawingml/2006/main">
            <a:r>
              <a:t>              "criterion": "AI에 의한 응시 적격·성적·자격 발급 확정 차단"</a:t>
            </a:r>
          </a:p>
          <a:p xmlns:a="http://schemas.openxmlformats.org/drawingml/2006/main">
            <a:r>
              <a:t>            },</a:t>
            </a:r>
          </a:p>
          <a:p xmlns:a="http://schemas.openxmlformats.org/drawingml/2006/main">
            <a:r>
              <a:t>            {</a:t>
            </a:r>
          </a:p>
          <a:p xmlns:a="http://schemas.openxmlformats.org/drawingml/2006/main">
            <a:r>
              <a:t>              "id": "RULEWORK-1022010-21-R03",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"RULEWORK-1022010-21-T03",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"RULEWORK-1022010-32",</a:t>
            </a:r>
          </a:p>
          <a:p xmlns:a="http://schemas.openxmlformats.org/drawingml/2006/main">
            <a:r>
              <a:t>          "text": "32. 화물․버스․택시 운전 및 교통안전관리자 자격증 발급 및 관리",</a:t>
            </a:r>
          </a:p>
          <a:p xmlns:a="http://schemas.openxmlformats.org/drawingml/2006/main">
            <a:r>
              <a:t>          "locator": "별표4 · T40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"RULEWORK-1022010-32-R01",</a:t>
            </a:r>
          </a:p>
          <a:p xmlns:a="http://schemas.openxmlformats.org/drawingml/2006/main">
            <a:r>
              <a:t>              "title": "업무 맥락·전용 지식 구성",</a:t>
            </a:r>
          </a:p>
          <a:p xmlns:a="http://schemas.openxmlformats.org/drawingml/2006/main">
            <a:r>
              <a:t>              "development": "종목·대상·기간별 요건·교육 안내 구성",</a:t>
            </a:r>
          </a:p>
          <a:p xmlns:a="http://schemas.openxmlformats.org/drawingml/2006/main">
            <a:r>
              <a:t>              "output": "요건·보완·일정·이수 확인표",</a:t>
            </a:r>
          </a:p>
          <a:p xmlns:a="http://schemas.openxmlformats.org/drawingml/2006/main">
            <a:r>
              <a:t>              "testId": "RULEWORK-1022010-32-T01",</a:t>
            </a:r>
          </a:p>
          <a:p xmlns:a="http://schemas.openxmlformats.org/drawingml/2006/main">
            <a:r>
              <a:t>              "criterion": "자격 요건·면제·기간·이수 기준 대조"</a:t>
            </a:r>
          </a:p>
          <a:p xmlns:a="http://schemas.openxmlformats.org/drawingml/2006/main">
            <a:r>
              <a:t>            },</a:t>
            </a:r>
          </a:p>
          <a:p xmlns:a="http://schemas.openxmlformats.org/drawingml/2006/main">
            <a:r>
              <a:t>            {</a:t>
            </a:r>
          </a:p>
          <a:p xmlns:a="http://schemas.openxmlformats.org/drawingml/2006/main">
            <a:r>
              <a:t>              "id": "RULEWORK-1022010-32-R02",</a:t>
            </a:r>
          </a:p>
          <a:p xmlns:a="http://schemas.openxmlformats.org/drawingml/2006/main">
            <a:r>
              <a:t>              "title": "업무건·역할·시스템 연결",</a:t>
            </a:r>
          </a:p>
          <a:p xmlns:a="http://schemas.openxmlformats.org/drawingml/2006/main">
            <a:r>
              <a:t>              "development": "접수–심사–시험–이수·발급 이력 연결",</a:t>
            </a:r>
          </a:p>
          <a:p xmlns:a="http://schemas.openxmlformats.org/drawingml/2006/main">
            <a:r>
              <a:t>              "output": "업무건·원천·역할·변경 연결 명세",</a:t>
            </a:r>
          </a:p>
          <a:p xmlns:a="http://schemas.openxmlformats.org/drawingml/2006/main">
            <a:r>
              <a:t>              "testId": "RULEWORK-1022010-32-T02",</a:t>
            </a:r>
          </a:p>
          <a:p xmlns:a="http://schemas.openxmlformats.org/drawingml/2006/main">
            <a:r>
              <a:t>              "criterion": "AI에 의한 응시 적격·성적·자격 발급 확정 차단"</a:t>
            </a:r>
          </a:p>
          <a:p xmlns:a="http://schemas.openxmlformats.org/drawingml/2006/main">
            <a:r>
              <a:t>            },</a:t>
            </a:r>
          </a:p>
          <a:p xmlns:a="http://schemas.openxmlformats.org/drawingml/2006/main">
            <a:r>
              <a:t>            {</a:t>
            </a:r>
          </a:p>
          <a:p xmlns:a="http://schemas.openxmlformats.org/drawingml/2006/main">
            <a:r>
              <a:t>              "id": "RULEWORK-1022010-32-R03",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"RULEWORK-1022010-32-T03",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공개지식 검색·대화"</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"JET·Foundry의 필수 입력·절차 설계"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"음성 입력·발화 정리 연계",</a:t>
            </a:r>
          </a:p>
          <a:p xmlns:a="http://schemas.openxmlformats.org/drawingml/2006/main">
            <a:r>
              <a:t>    "서비스 라우터·메뉴/상담 복귀 경로"</a:t>
            </a:r>
          </a:p>
          <a:p xmlns:a="http://schemas.openxmlformats.org/drawingml/2006/main">
            <a:r>
              <a:t>  ],</a:t>
            </a:r>
          </a:p>
          <a:p xmlns:a="http://schemas.openxmlformats.org/drawingml/2006/main">
            <a:r>
              <a:t>  "acceptancePlan": {</a:t>
            </a:r>
          </a:p>
          <a:p xmlns:a="http://schemas.openxmlformats.org/drawingml/2006/main">
            <a:r>
              <a:t>    "sample": "고령·방언·소음·범위 밖 요청과 일반 사용자 과업",</a:t>
            </a:r>
          </a:p>
          <a:p xmlns:a="http://schemas.openxmlformats.org/drawingml/2006/main">
            <a:r>
              <a:t>    "criterion": "정확한 창구 연결·사용자 확인·내부자료 차단·상담 전환",</a:t>
            </a:r>
          </a:p>
          <a:p xmlns:a="http://schemas.openxmlformats.org/drawingml/2006/main">
            <a:r>
              <a:t>    "evidence": "사용자군별 과업 기록·도달률·오인계 결과",</a:t>
            </a:r>
          </a:p>
          <a:p xmlns:a="http://schemas.openxmlformats.org/drawingml/2006/main">
            <a:r>
              <a:t>    "execution": "미실행"</a:t>
            </a:r>
          </a:p>
          <a:p xmlns:a="http://schemas.openxmlformats.org/drawingml/2006/main">
            <a:r>
              <a:t>  },</a:t>
            </a:r>
          </a:p>
          <a:p xmlns:a="http://schemas.openxmlformats.org/drawingml/2006/main">
            <a:r>
              <a:t>  "formula": "정확한 서비스 도달 수 ÷ 전체 시도 수 / 사용자군별 완료시간·포기율",</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"PF-R02",</a:t>
            </a:r>
          </a:p>
          <a:p xmlns:a="http://schemas.openxmlformats.org/drawingml/2006/main">
            <a:r>
              <a:t>    "PF-R05",</a:t>
            </a:r>
          </a:p>
          <a:p xmlns:a="http://schemas.openxmlformats.org/drawingml/2006/main">
            <a:r>
              <a:t>    "PF-R07",</a:t>
            </a:r>
          </a:p>
          <a:p xmlns:a="http://schemas.openxmlformats.org/drawingml/2006/main">
            <a:r>
              <a:t>    "PF03",</a:t>
            </a:r>
          </a:p>
          <a:p xmlns:a="http://schemas.openxmlformats.org/drawingml/2006/main">
            <a:r>
              <a:t>    "PF07",</a:t>
            </a:r>
          </a:p>
          <a:p xmlns:a="http://schemas.openxmlformats.org/drawingml/2006/main">
            <a:r>
              <a:t>    "PF-A12",</a:t>
            </a:r>
          </a:p>
          <a:p xmlns:a="http://schemas.openxmlformats.org/drawingml/2006/main">
            <a:r>
              <a:t>    "PF31"</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"ST-09",</a:t>
            </a:r>
          </a:p>
          <a:p xmlns:a="http://schemas.openxmlformats.org/drawingml/2006/main">
            <a:r>
              <a:t>  "number": 9,</a:t>
            </a:r>
          </a:p>
          <a:p xmlns:a="http://schemas.openxmlformats.org/drawingml/2006/main">
            <a:r>
              <a:t>  "direction": "균형있는 국민체감 서비스 실현",</a:t>
            </a:r>
          </a:p>
          <a:p xmlns:a="http://schemas.openxmlformats.org/drawingml/2006/main">
            <a:r>
              <a:t>  "strategy": "민간·지역·산업 균형 성장 역동성 지원",</a:t>
            </a:r>
          </a:p>
          <a:p xmlns:a="http://schemas.openxmlformats.org/drawingml/2006/main">
            <a:r>
              <a:t>  "solution": "기업·지역 모빌리티 사업지원",</a:t>
            </a:r>
          </a:p>
          <a:p xmlns:a="http://schemas.openxmlformats.org/drawingml/2006/main">
            <a:r>
              <a:t>  "lawIds": [</a:t>
            </a:r>
          </a:p>
          <a:p xmlns:a="http://schemas.openxmlformats.org/drawingml/2006/main">
            <a:r>
              <a:t>    "L18",</a:t>
            </a:r>
          </a:p>
          <a:p xmlns:a="http://schemas.openxmlformats.org/drawingml/2006/main">
            <a:r>
              <a:t>    "L19"</a:t>
            </a:r>
          </a:p>
          <a:p xmlns:a="http://schemas.openxmlformats.org/drawingml/2006/main">
            <a:r>
              <a:t>  ],</a:t>
            </a:r>
          </a:p>
          <a:p xmlns:a="http://schemas.openxmlformats.org/drawingml/2006/main">
            <a:r>
              <a:t>  "codes": [</a:t>
            </a:r>
          </a:p>
          <a:p xmlns:a="http://schemas.openxmlformats.org/drawingml/2006/main">
            <a:r>
              <a:t>    "1019010",</a:t>
            </a:r>
          </a:p>
          <a:p xmlns:a="http://schemas.openxmlformats.org/drawingml/2006/main">
            <a:r>
              <a:t>    "1021020",</a:t>
            </a:r>
          </a:p>
          <a:p xmlns:a="http://schemas.openxmlformats.org/drawingml/2006/main">
            <a:r>
              <a:t>    "1021030"</a:t>
            </a:r>
          </a:p>
          <a:p xmlns:a="http://schemas.openxmlformats.org/drawingml/2006/main">
            <a:r>
              <a:t>  ],</a:t>
            </a:r>
          </a:p>
          <a:p xmlns:a="http://schemas.openxmlformats.org/drawingml/2006/main">
            <a:r>
              <a:t>  "work": "기업·지자체의 모빌리티 정책·규제특례·실증 지원",</a:t>
            </a:r>
          </a:p>
          <a:p xmlns:a="http://schemas.openxmlformats.org/drawingml/2006/main">
            <a:r>
              <a:t>  "features": [</a:t>
            </a:r>
          </a:p>
          <a:p xmlns:a="http://schemas.openxmlformats.org/drawingml/2006/main">
            <a:r>
              <a:t>    "사업유형별 신청요건·절차·증빙 점검",</a:t>
            </a:r>
          </a:p>
          <a:p xmlns:a="http://schemas.openxmlformats.org/drawingml/2006/main">
            <a:r>
              <a:t>    "기업·지역·본사 간 보완·검토·인계 추적"</a:t>
            </a:r>
          </a:p>
          <a:p xmlns:a="http://schemas.openxmlformats.org/drawingml/2006/main">
            <a:r>
              <a:t>  ],</a:t>
            </a:r>
          </a:p>
          <a:p xmlns:a="http://schemas.openxmlformats.org/drawingml/2006/main">
            <a:r>
              <a:t>  "output": "사업 준비·특례 검토 패키지",</a:t>
            </a:r>
          </a:p>
          <a:p xmlns:a="http://schemas.openxmlformats.org/drawingml/2006/main">
            <a:r>
              <a:t>  "acceptance": "기업·지역·사업별 제출요건 분류와 검토/승인 분리 확인",</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"GAI-T07",</a:t>
            </a:r>
          </a:p>
          <a:p xmlns:a="http://schemas.openxmlformats.org/drawingml/2006/main">
            <a:r>
              <a:t>    "GAI-T08"</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"모빌리티 정책·산업 지원",</a:t>
            </a:r>
          </a:p>
          <a:p xmlns:a="http://schemas.openxmlformats.org/drawingml/2006/main">
            <a:r>
              <a:t>      "indices":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"3. 모빌리티 정책지원 및 연구수행",</a:t>
            </a:r>
          </a:p>
          <a:p xmlns:a="http://schemas.openxmlformats.org/drawingml/2006/main">
            <a:r>
              <a:t>        "11. 모빌리티 산업활성화 지원 관련 협력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"기업 실증특례 지원",</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"10. 모빌리티 실증특례 사업지원"</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"지역 특화·시범사업 지원",</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"2. 모빌리티 시범도시 사업지원"</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"AX24",</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"지역·산업 지원 검토 근거",</a:t>
            </a:r>
          </a:p>
          <a:p xmlns:a="http://schemas.openxmlformats.org/drawingml/2006/main">
            <a:r>
              <a:t>  "delta": "지역 수요·지원 조건·실증 증빙 매핑",</a:t>
            </a:r>
          </a:p>
          <a:p xmlns:a="http://schemas.openxmlformats.org/drawingml/2006/main">
            <a:r>
              <a:t>  "kpi": "검토시간 / 근거 누락률",</a:t>
            </a:r>
          </a:p>
          <a:p xmlns:a="http://schemas.openxmlformats.org/drawingml/2006/main">
            <a:r>
              <a:t>  "validation": "지역별 기준·지원조건 차이와 보류 처리 검증",</a:t>
            </a:r>
          </a:p>
          <a:p xmlns:a="http://schemas.openxmlformats.org/drawingml/2006/main">
            <a:r>
              <a:t>  "requirement": "BM-ST-09-R01",</a:t>
            </a:r>
          </a:p>
          <a:p xmlns:a="http://schemas.openxmlformats.org/drawingml/2006/main">
            <a:r>
              <a:t>  "test": "BM-ST-09-T01",</a:t>
            </a:r>
          </a:p>
          <a:p xmlns:a="http://schemas.openxmlformats.org/drawingml/2006/main">
            <a:r>
              <a:t>  "effectStatus": "기대 방향 · TS 실측 전",</a:t>
            </a:r>
          </a:p>
          <a:p xmlns:a="http://schemas.openxmlformats.org/drawingml/2006/main">
            <a:r>
              <a:t>  "effect": "신청 보완 반복·지원 검토시간 감소",</a:t>
            </a:r>
          </a:p>
          <a:p xmlns:a="http://schemas.openxmlformats.org/drawingml/2006/main">
            <a:r>
              <a:t>  "reuse": "ON27-BASE / C27-COM + CCK 재사용 판정 기능",</a:t>
            </a:r>
          </a:p>
          <a:p xmlns:a="http://schemas.openxmlformats.org/drawingml/2006/main">
            <a:r>
              <a:t>  "input": "지역·기업 신청자료, 규제특례 조건, 실증계획·보완 이력",</a:t>
            </a:r>
          </a:p>
          <a:p xmlns:a="http://schemas.openxmlformats.org/drawingml/2006/main">
            <a:r>
              <a:t>  "steps": [</a:t>
            </a:r>
          </a:p>
          <a:p xmlns:a="http://schemas.openxmlformats.org/drawingml/2006/main">
            <a:r>
              <a:t>    "지역·사업 유형 분류",</a:t>
            </a:r>
          </a:p>
          <a:p xmlns:a="http://schemas.openxmlformats.org/drawingml/2006/main">
            <a:r>
              <a:t>    "해당 신청요건 대조",</a:t>
            </a:r>
          </a:p>
          <a:p xmlns:a="http://schemas.openxmlformats.org/drawingml/2006/main">
            <a:r>
              <a:t>    "누락·조건 충돌 확인",</a:t>
            </a:r>
          </a:p>
          <a:p xmlns:a="http://schemas.openxmlformats.org/drawingml/2006/main">
            <a:r>
              <a:t>    "담당 검토·보완 인계"</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"모빌리티 정책·산업 지원",</a:t>
            </a:r>
          </a:p>
          <a:p xmlns:a="http://schemas.openxmlformats.org/drawingml/2006/main">
            <a:r>
              <a:t>      "indices":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"3. 모빌리티 정책지원 및 연구수행",</a:t>
            </a:r>
          </a:p>
          <a:p xmlns:a="http://schemas.openxmlformats.org/drawingml/2006/main">
            <a:r>
              <a:t>        "11. 모빌리티 산업활성화 지원 관련 협력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"RULEWORK-1019010-3",</a:t>
            </a:r>
          </a:p>
          <a:p xmlns:a="http://schemas.openxmlformats.org/drawingml/2006/main">
            <a:r>
              <a:t>          "text": "3. 모빌리티 정책지원 및 연구수행",</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"RULEWORK-1019010-3-R01",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"RULEWORK-1019010-3-T01",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"RULEWORK-1019010-3-R02",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"RULEWORK-1019010-3-T02",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"RULEWORK-1019010-10",</a:t>
            </a:r>
          </a:p>
          <a:p xmlns:a="http://schemas.openxmlformats.org/drawingml/2006/main">
            <a:r>
              <a:t>          "text": "11. 모빌리티 산업활성화 지원 관련 협력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"RULEWORK-1019010-10-R01",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"RULEWORK-1019010-10-T01",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"RULEWORK-1019010-10-R02",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"RULEWORK-1019010-10-T02",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"RULEWORK-1019010-10-R03",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"기업 실증특례 지원",</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"10. 모빌리티 실증특례 사업지원"</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"RULEWORK-1021020-2",</a:t>
            </a:r>
          </a:p>
          <a:p xmlns:a="http://schemas.openxmlformats.org/drawingml/2006/main">
            <a:r>
              <a:t>          "text": "2. 모빌리티 실증특례 접수 및 승인 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"RULEWORK-1021020-10",</a:t>
            </a:r>
          </a:p>
          <a:p xmlns:a="http://schemas.openxmlformats.org/drawingml/2006/main">
            <a:r>
              <a:t>          "text": "10. 모빌리티 실증특례 사업지원",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"RULEWORK-1021020-10-R01",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"RULEWORK-1021020-10-T01",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"RULEWORK-1021020-10-R02",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"RULEWORK-1021020-10-T02",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"지역 특화·시범사업 지원",</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"2. 모빌리티 시범도시 사업지원"</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"RULEWORK-1021030-1",</a:t>
            </a:r>
          </a:p>
          <a:p xmlns:a="http://schemas.openxmlformats.org/drawingml/2006/main">
            <a:r>
              <a:t>          "text": "1. 모빌리티 특화도시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"RULEWORK-1021030-1-T01",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"RULEWORK-1021030-1-R02",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"RULEWORK-1021030-1-T02",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"RULEWORK-1021030-2",</a:t>
            </a:r>
          </a:p>
          <a:p xmlns:a="http://schemas.openxmlformats.org/drawingml/2006/main">
            <a:r>
              <a:t>          "text": "2. 모빌리티 시범도시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요건 검색·서식 초안"</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"Audin·Foundry의 증빙·절차 검토"</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"지역·사업별 적용요건 사전",</a:t>
            </a:r>
          </a:p>
          <a:p xmlns:a="http://schemas.openxmlformats.org/drawingml/2006/main">
            <a:r>
              <a:t>    "신청–보완–검토 사건 연결"</a:t>
            </a:r>
          </a:p>
          <a:p xmlns:a="http://schemas.openxmlformats.org/drawingml/2006/main">
            <a:r>
              <a:t>  ],</a:t>
            </a:r>
          </a:p>
          <a:p xmlns:a="http://schemas.openxmlformats.org/drawingml/2006/main">
            <a:r>
              <a:t>  "acceptancePlan": {</a:t>
            </a:r>
          </a:p>
          <a:p xmlns:a="http://schemas.openxmlformats.org/drawingml/2006/main">
            <a:r>
              <a:t>    "sample": "다른 지역 요건, 만료 특례, 누락 실증자료",</a:t>
            </a:r>
          </a:p>
          <a:p xmlns:a="http://schemas.openxmlformats.org/drawingml/2006/main">
            <a:r>
              <a:t>    "criterion": "해당 조건만 적용·근거 제시·판정 보류",</a:t>
            </a:r>
          </a:p>
          <a:p xmlns:a="http://schemas.openxmlformats.org/drawingml/2006/main">
            <a:r>
              <a:t>    "evidence": "요건 대조표·보완 이력·검토자 기록",</a:t>
            </a:r>
          </a:p>
          <a:p xmlns:a="http://schemas.openxmlformats.org/drawingml/2006/main">
            <a:r>
              <a:t>    "execution": "미실행"</a:t>
            </a:r>
          </a:p>
          <a:p xmlns:a="http://schemas.openxmlformats.org/drawingml/2006/main">
            <a:r>
              <a:t>  },</a:t>
            </a:r>
          </a:p>
          <a:p xmlns:a="http://schemas.openxmlformats.org/drawingml/2006/main">
            <a:r>
              <a:t>  "formula": "신청건당 보완 횟수 / 검토 완료시간; 지역경제 효과는 별도 평가",</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"PF-R05",</a:t>
            </a:r>
          </a:p>
          <a:p xmlns:a="http://schemas.openxmlformats.org/drawingml/2006/main">
            <a:r>
              <a:t>    "PF-A03",</a:t>
            </a:r>
          </a:p>
          <a:p xmlns:a="http://schemas.openxmlformats.org/drawingml/2006/main">
            <a:r>
              <a:t>    "PF-A14"</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"ST-09",</a:t>
            </a:r>
          </a:p>
          <a:p xmlns:a="http://schemas.openxmlformats.org/drawingml/2006/main">
            <a:r>
              <a:t>  "number": 9,</a:t>
            </a:r>
          </a:p>
          <a:p xmlns:a="http://schemas.openxmlformats.org/drawingml/2006/main">
            <a:r>
              <a:t>  "direction": "균형있는 국민체감 서비스 실현",</a:t>
            </a:r>
          </a:p>
          <a:p xmlns:a="http://schemas.openxmlformats.org/drawingml/2006/main">
            <a:r>
              <a:t>  "strategy": "민간·지역·산업 균형 성장 역동성 지원",</a:t>
            </a:r>
          </a:p>
          <a:p xmlns:a="http://schemas.openxmlformats.org/drawingml/2006/main">
            <a:r>
              <a:t>  "solution": "기업·지역 모빌리티 사업지원",</a:t>
            </a:r>
          </a:p>
          <a:p xmlns:a="http://schemas.openxmlformats.org/drawingml/2006/main">
            <a:r>
              <a:t>  "lawIds": [</a:t>
            </a:r>
          </a:p>
          <a:p xmlns:a="http://schemas.openxmlformats.org/drawingml/2006/main">
            <a:r>
              <a:t>    "L18",</a:t>
            </a:r>
          </a:p>
          <a:p xmlns:a="http://schemas.openxmlformats.org/drawingml/2006/main">
            <a:r>
              <a:t>    "L19"</a:t>
            </a:r>
          </a:p>
          <a:p xmlns:a="http://schemas.openxmlformats.org/drawingml/2006/main">
            <a:r>
              <a:t>  ],</a:t>
            </a:r>
          </a:p>
          <a:p xmlns:a="http://schemas.openxmlformats.org/drawingml/2006/main">
            <a:r>
              <a:t>  "codes": [</a:t>
            </a:r>
          </a:p>
          <a:p xmlns:a="http://schemas.openxmlformats.org/drawingml/2006/main">
            <a:r>
              <a:t>    "1019010",</a:t>
            </a:r>
          </a:p>
          <a:p xmlns:a="http://schemas.openxmlformats.org/drawingml/2006/main">
            <a:r>
              <a:t>    "1021020",</a:t>
            </a:r>
          </a:p>
          <a:p xmlns:a="http://schemas.openxmlformats.org/drawingml/2006/main">
            <a:r>
              <a:t>    "1021030"</a:t>
            </a:r>
          </a:p>
          <a:p xmlns:a="http://schemas.openxmlformats.org/drawingml/2006/main">
            <a:r>
              <a:t>  ],</a:t>
            </a:r>
          </a:p>
          <a:p xmlns:a="http://schemas.openxmlformats.org/drawingml/2006/main">
            <a:r>
              <a:t>  "work": "기업·지자체의 모빌리티 정책·규제특례·실증 지원",</a:t>
            </a:r>
          </a:p>
          <a:p xmlns:a="http://schemas.openxmlformats.org/drawingml/2006/main">
            <a:r>
              <a:t>  "features": [</a:t>
            </a:r>
          </a:p>
          <a:p xmlns:a="http://schemas.openxmlformats.org/drawingml/2006/main">
            <a:r>
              <a:t>    "사업유형별 신청요건·절차·증빙 점검",</a:t>
            </a:r>
          </a:p>
          <a:p xmlns:a="http://schemas.openxmlformats.org/drawingml/2006/main">
            <a:r>
              <a:t>    "기업·지역·본사 간 보완·검토·인계 추적"</a:t>
            </a:r>
          </a:p>
          <a:p xmlns:a="http://schemas.openxmlformats.org/drawingml/2006/main">
            <a:r>
              <a:t>  ],</a:t>
            </a:r>
          </a:p>
          <a:p xmlns:a="http://schemas.openxmlformats.org/drawingml/2006/main">
            <a:r>
              <a:t>  "output": "사업 준비·특례 검토 패키지",</a:t>
            </a:r>
          </a:p>
          <a:p xmlns:a="http://schemas.openxmlformats.org/drawingml/2006/main">
            <a:r>
              <a:t>  "acceptance": "기업·지역·사업별 제출요건 분류와 검토/승인 분리 확인",</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"GAI-T07",</a:t>
            </a:r>
          </a:p>
          <a:p xmlns:a="http://schemas.openxmlformats.org/drawingml/2006/main">
            <a:r>
              <a:t>    "GAI-T08"</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"모빌리티 정책·산업 지원",</a:t>
            </a:r>
          </a:p>
          <a:p xmlns:a="http://schemas.openxmlformats.org/drawingml/2006/main">
            <a:r>
              <a:t>      "indices":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"3. 모빌리티 정책지원 및 연구수행",</a:t>
            </a:r>
          </a:p>
          <a:p xmlns:a="http://schemas.openxmlformats.org/drawingml/2006/main">
            <a:r>
              <a:t>        "11. 모빌리티 산업활성화 지원 관련 협력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"기업 실증특례 지원",</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"10. 모빌리티 실증특례 사업지원"</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"지역 특화·시범사업 지원",</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"2. 모빌리티 시범도시 사업지원"</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"AX24",</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"지역·산업 지원 검토 근거",</a:t>
            </a:r>
          </a:p>
          <a:p xmlns:a="http://schemas.openxmlformats.org/drawingml/2006/main">
            <a:r>
              <a:t>  "delta": "지역 수요·지원 조건·실증 증빙 매핑",</a:t>
            </a:r>
          </a:p>
          <a:p xmlns:a="http://schemas.openxmlformats.org/drawingml/2006/main">
            <a:r>
              <a:t>  "kpi": "검토시간 / 근거 누락률",</a:t>
            </a:r>
          </a:p>
          <a:p xmlns:a="http://schemas.openxmlformats.org/drawingml/2006/main">
            <a:r>
              <a:t>  "validation": "지역별 기준·지원조건 차이와 보류 처리 검증",</a:t>
            </a:r>
          </a:p>
          <a:p xmlns:a="http://schemas.openxmlformats.org/drawingml/2006/main">
            <a:r>
              <a:t>  "requirement": "BM-ST-09-R01",</a:t>
            </a:r>
          </a:p>
          <a:p xmlns:a="http://schemas.openxmlformats.org/drawingml/2006/main">
            <a:r>
              <a:t>  "test": "BM-ST-09-T01",</a:t>
            </a:r>
          </a:p>
          <a:p xmlns:a="http://schemas.openxmlformats.org/drawingml/2006/main">
            <a:r>
              <a:t>  "effectStatus": "기대 방향 · TS 실측 전",</a:t>
            </a:r>
          </a:p>
          <a:p xmlns:a="http://schemas.openxmlformats.org/drawingml/2006/main">
            <a:r>
              <a:t>  "effect": "신청 보완 반복·지원 검토시간 감소",</a:t>
            </a:r>
          </a:p>
          <a:p xmlns:a="http://schemas.openxmlformats.org/drawingml/2006/main">
            <a:r>
              <a:t>  "reuse": "ON27-BASE / C27-COM + CCK 재사용 판정 기능",</a:t>
            </a:r>
          </a:p>
          <a:p xmlns:a="http://schemas.openxmlformats.org/drawingml/2006/main">
            <a:r>
              <a:t>  "input": "지역·기업 신청자료, 규제특례 조건, 실증계획·보완 이력",</a:t>
            </a:r>
          </a:p>
          <a:p xmlns:a="http://schemas.openxmlformats.org/drawingml/2006/main">
            <a:r>
              <a:t>  "steps": [</a:t>
            </a:r>
          </a:p>
          <a:p xmlns:a="http://schemas.openxmlformats.org/drawingml/2006/main">
            <a:r>
              <a:t>    "지역·사업 유형 분류",</a:t>
            </a:r>
          </a:p>
          <a:p xmlns:a="http://schemas.openxmlformats.org/drawingml/2006/main">
            <a:r>
              <a:t>    "해당 신청요건 대조",</a:t>
            </a:r>
          </a:p>
          <a:p xmlns:a="http://schemas.openxmlformats.org/drawingml/2006/main">
            <a:r>
              <a:t>    "누락·조건 충돌 확인",</a:t>
            </a:r>
          </a:p>
          <a:p xmlns:a="http://schemas.openxmlformats.org/drawingml/2006/main">
            <a:r>
              <a:t>    "담당 검토·보완 인계"</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"모빌리티 정책·산업 지원",</a:t>
            </a:r>
          </a:p>
          <a:p xmlns:a="http://schemas.openxmlformats.org/drawingml/2006/main">
            <a:r>
              <a:t>      "indices":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"3. 모빌리티 정책지원 및 연구수행",</a:t>
            </a:r>
          </a:p>
          <a:p xmlns:a="http://schemas.openxmlformats.org/drawingml/2006/main">
            <a:r>
              <a:t>        "11. 모빌리티 산업활성화 지원 관련 협력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"RULEWORK-1019010-3",</a:t>
            </a:r>
          </a:p>
          <a:p xmlns:a="http://schemas.openxmlformats.org/drawingml/2006/main">
            <a:r>
              <a:t>          "text": "3. 모빌리티 정책지원 및 연구수행",</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"RULEWORK-1019010-3-R01",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"RULEWORK-1019010-3-T01",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"RULEWORK-1019010-3-R02",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"RULEWORK-1019010-3-T02",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"RULEWORK-1019010-10",</a:t>
            </a:r>
          </a:p>
          <a:p xmlns:a="http://schemas.openxmlformats.org/drawingml/2006/main">
            <a:r>
              <a:t>          "text": "11. 모빌리티 산업활성화 지원 관련 협력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"RULEWORK-1019010-10-R01",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"RULEWORK-1019010-10-T01",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"RULEWORK-1019010-10-R02",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"RULEWORK-1019010-10-T02",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"RULEWORK-1019010-10-R03",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"기업 실증특례 지원",</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"10. 모빌리티 실증특례 사업지원"</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"RULEWORK-1021020-2",</a:t>
            </a:r>
          </a:p>
          <a:p xmlns:a="http://schemas.openxmlformats.org/drawingml/2006/main">
            <a:r>
              <a:t>          "text": "2. 모빌리티 실증특례 접수 및 승인 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"RULEWORK-1021020-10",</a:t>
            </a:r>
          </a:p>
          <a:p xmlns:a="http://schemas.openxmlformats.org/drawingml/2006/main">
            <a:r>
              <a:t>          "text": "10. 모빌리티 실증특례 사업지원",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"RULEWORK-1021020-10-R01",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"RULEWORK-1021020-10-T01",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"RULEWORK-1021020-10-R02",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"RULEWORK-1021020-10-T02",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"지역 특화·시범사업 지원",</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"2. 모빌리티 시범도시 사업지원"</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"RULEWORK-1021030-1",</a:t>
            </a:r>
          </a:p>
          <a:p xmlns:a="http://schemas.openxmlformats.org/drawingml/2006/main">
            <a:r>
              <a:t>          "text": "1. 모빌리티 특화도시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"RULEWORK-1021030-1-T01",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"RULEWORK-1021030-1-R02",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"RULEWORK-1021030-1-T02",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"RULEWORK-1021030-2",</a:t>
            </a:r>
          </a:p>
          <a:p xmlns:a="http://schemas.openxmlformats.org/drawingml/2006/main">
            <a:r>
              <a:t>          "text": "2. 모빌리티 시범도시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요건 검색·서식 초안"</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"Audin·Foundry의 증빙·절차 검토"</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"지역·사업별 적용요건 사전",</a:t>
            </a:r>
          </a:p>
          <a:p xmlns:a="http://schemas.openxmlformats.org/drawingml/2006/main">
            <a:r>
              <a:t>    "신청–보완–검토 사건 연결"</a:t>
            </a:r>
          </a:p>
          <a:p xmlns:a="http://schemas.openxmlformats.org/drawingml/2006/main">
            <a:r>
              <a:t>  ],</a:t>
            </a:r>
          </a:p>
          <a:p xmlns:a="http://schemas.openxmlformats.org/drawingml/2006/main">
            <a:r>
              <a:t>  "acceptancePlan": {</a:t>
            </a:r>
          </a:p>
          <a:p xmlns:a="http://schemas.openxmlformats.org/drawingml/2006/main">
            <a:r>
              <a:t>    "sample": "다른 지역 요건, 만료 특례, 누락 실증자료",</a:t>
            </a:r>
          </a:p>
          <a:p xmlns:a="http://schemas.openxmlformats.org/drawingml/2006/main">
            <a:r>
              <a:t>    "criterion": "해당 조건만 적용·근거 제시·판정 보류",</a:t>
            </a:r>
          </a:p>
          <a:p xmlns:a="http://schemas.openxmlformats.org/drawingml/2006/main">
            <a:r>
              <a:t>    "evidence": "요건 대조표·보완 이력·검토자 기록",</a:t>
            </a:r>
          </a:p>
          <a:p xmlns:a="http://schemas.openxmlformats.org/drawingml/2006/main">
            <a:r>
              <a:t>    "execution": "미실행"</a:t>
            </a:r>
          </a:p>
          <a:p xmlns:a="http://schemas.openxmlformats.org/drawingml/2006/main">
            <a:r>
              <a:t>  },</a:t>
            </a:r>
          </a:p>
          <a:p xmlns:a="http://schemas.openxmlformats.org/drawingml/2006/main">
            <a:r>
              <a:t>  "formula": "신청건당 보완 횟수 / 검토 완료시간; 지역경제 효과는 별도 평가",</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"PF-R05",</a:t>
            </a:r>
          </a:p>
          <a:p xmlns:a="http://schemas.openxmlformats.org/drawingml/2006/main">
            <a:r>
              <a:t>    "PF-A03",</a:t>
            </a:r>
          </a:p>
          <a:p xmlns:a="http://schemas.openxmlformats.org/drawingml/2006/main">
            <a:r>
              <a:t>    "PF-A14"</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"ST-10",</a:t>
            </a:r>
          </a:p>
          <a:p xmlns:a="http://schemas.openxmlformats.org/drawingml/2006/main">
            <a:r>
              <a:t>  "number": 10,</a:t>
            </a:r>
          </a:p>
          <a:p xmlns:a="http://schemas.openxmlformats.org/drawingml/2006/main">
            <a:r>
              <a:t>  "direction": "지속가능 책임경영 이행",</a:t>
            </a:r>
          </a:p>
          <a:p xmlns:a="http://schemas.openxmlformats.org/drawingml/2006/main">
            <a:r>
              <a:t>  "strategy": "실용·성과·효율 지향 경영체계 구축",</a:t>
            </a:r>
          </a:p>
          <a:p xmlns:a="http://schemas.openxmlformats.org/drawingml/2006/main">
            <a:r>
              <a:t>  "solution": "계획·예산·성과 업무지원",</a:t>
            </a:r>
          </a:p>
          <a:p xmlns:a="http://schemas.openxmlformats.org/drawingml/2006/main">
            <a:r>
              <a:t>  "lawIds": [],</a:t>
            </a:r>
          </a:p>
          <a:p xmlns:a="http://schemas.openxmlformats.org/drawingml/2006/main">
            <a:r>
              <a:t>  "codes": [</a:t>
            </a:r>
          </a:p>
          <a:p xmlns:a="http://schemas.openxmlformats.org/drawingml/2006/main">
            <a:r>
              <a:t>    "1016050",</a:t>
            </a:r>
          </a:p>
          <a:p xmlns:a="http://schemas.openxmlformats.org/drawingml/2006/main">
            <a:r>
              <a:t>    "1016042",</a:t>
            </a:r>
          </a:p>
          <a:p xmlns:a="http://schemas.openxmlformats.org/drawingml/2006/main">
            <a:r>
              <a:t>    "1018034",</a:t>
            </a:r>
          </a:p>
          <a:p xmlns:a="http://schemas.openxmlformats.org/drawingml/2006/main">
            <a:r>
              <a:t>    "1018030"</a:t>
            </a:r>
          </a:p>
          <a:p xmlns:a="http://schemas.openxmlformats.org/drawingml/2006/main">
            <a:r>
              <a:t>  ],</a:t>
            </a:r>
          </a:p>
          <a:p xmlns:a="http://schemas.openxmlformats.org/drawingml/2006/main">
            <a:r>
              <a:t>  "work": "부서별 계획·예산·계약·성과 증빙 관리",</a:t>
            </a:r>
          </a:p>
          <a:p xmlns:a="http://schemas.openxmlformats.org/drawingml/2006/main">
            <a:r>
              <a:t>  "features": [</a:t>
            </a:r>
          </a:p>
          <a:p xmlns:a="http://schemas.openxmlformats.org/drawingml/2006/main">
            <a:r>
              <a:t>    "계획–예산–집행–성과의 업무건 연결",</a:t>
            </a:r>
          </a:p>
          <a:p xmlns:a="http://schemas.openxmlformats.org/drawingml/2006/main">
            <a:r>
              <a:t>    "작성·검토·전결·결산 역할별 자료 구성"</a:t>
            </a:r>
          </a:p>
          <a:p xmlns:a="http://schemas.openxmlformats.org/drawingml/2006/main">
            <a:r>
              <a:t>  ],</a:t>
            </a:r>
          </a:p>
          <a:p xmlns:a="http://schemas.openxmlformats.org/drawingml/2006/main">
            <a:r>
              <a:t>  "output": "성과 근거표·경영 검토자료",</a:t>
            </a:r>
          </a:p>
          <a:p xmlns:a="http://schemas.openxmlformats.org/drawingml/2006/main">
            <a:r>
              <a:t>  "acceptance": "예산·집행·성과 원천 대사 및 전결·위임에 따른 접근/승인 확인",</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"GAI-T08",</a:t>
            </a:r>
          </a:p>
          <a:p xmlns:a="http://schemas.openxmlformats.org/drawingml/2006/main">
            <a:r>
              <a:t>    "GAI-T09"</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"예산 편성·집행 분석",</a:t>
            </a:r>
          </a:p>
          <a:p xmlns:a="http://schemas.openxmlformats.org/drawingml/2006/main">
            <a:r>
              <a:t>      "indices":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"3. 예산의 편성‧집행‧운영 관리",</a:t>
            </a:r>
          </a:p>
          <a:p xmlns:a="http://schemas.openxmlformats.org/drawingml/2006/main">
            <a:r>
              <a:t>        "4. 예산집행실적 및 차이분석에 관한 사항"</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"1016042",</a:t>
            </a:r>
          </a:p>
          <a:p xmlns:a="http://schemas.openxmlformats.org/drawingml/2006/main">
            <a:r>
              <a:t>      "name": "혁신성과처",</a:t>
            </a:r>
          </a:p>
          <a:p xmlns:a="http://schemas.openxmlformats.org/drawingml/2006/main">
            <a:r>
              <a:t>      "job": "기관·부서 성과평가",</a:t>
            </a:r>
          </a:p>
          <a:p xmlns:a="http://schemas.openxmlformats.org/drawingml/2006/main">
            <a:r>
              <a:t>      "indices":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"내부경영평가(BSC, MBO)에 관한 업무",</a:t>
            </a:r>
          </a:p>
          <a:p xmlns:a="http://schemas.openxmlformats.org/drawingml/2006/main">
            <a:r>
              <a:t>        "4. 임원, 부서장 경영계약 및 이행실적 평가에 관한 업무"</a:t>
            </a:r>
          </a:p>
          <a:p xmlns:a="http://schemas.openxmlformats.org/drawingml/2006/main">
            <a:r>
              <a:t>      ],</a:t>
            </a:r>
          </a:p>
          <a:p xmlns:a="http://schemas.openxmlformats.org/drawingml/2006/main">
            <a:r>
              <a:t>      "locator": "별표4 · T36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"계약·결산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"5. 구매․공사 및 용역 등의 계약에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"문서·정보공개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"5. 정보공개제도의 운영 및 관리"</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"AX24",</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"성과·경영 문서 검토 지원",</a:t>
            </a:r>
          </a:p>
          <a:p xmlns:a="http://schemas.openxmlformats.org/drawingml/2006/main">
            <a:r>
              <a:t>  "delta": "근거 자료·산식·업무 수행시간 계측",</a:t>
            </a:r>
          </a:p>
          <a:p xmlns:a="http://schemas.openxmlformats.org/drawingml/2006/main">
            <a:r>
              <a:t>  "kpi": "완료시간 / 재작업률 / 업무당 비용",</a:t>
            </a:r>
          </a:p>
          <a:p xmlns:a="http://schemas.openxmlformats.org/drawingml/2006/main">
            <a:r>
              <a:t>  "validation": "동일 난도 비교군·검토시간 포함 평가",</a:t>
            </a:r>
          </a:p>
          <a:p xmlns:a="http://schemas.openxmlformats.org/drawingml/2006/main">
            <a:r>
              <a:t>  "requirement": "BM-ST-10-R01",</a:t>
            </a:r>
          </a:p>
          <a:p xmlns:a="http://schemas.openxmlformats.org/drawingml/2006/main">
            <a:r>
              <a:t>  "test": "BM-ST-10-T01",</a:t>
            </a:r>
          </a:p>
          <a:p xmlns:a="http://schemas.openxmlformats.org/drawingml/2006/main">
            <a:r>
              <a:t>  "effectStatus": "기대 방향 · TS 실측 전",</a:t>
            </a:r>
          </a:p>
          <a:p xmlns:a="http://schemas.openxmlformats.org/drawingml/2006/main">
            <a:r>
              <a:t>  "effect": "검토·재작업을 포함한 업무시간 감소",</a:t>
            </a:r>
          </a:p>
          <a:p xmlns:a="http://schemas.openxmlformats.org/drawingml/2006/main">
            <a:r>
              <a:t>  "reuse": "ON27-BASE / C27-COM + CCK 재사용 판정 기능",</a:t>
            </a:r>
          </a:p>
          <a:p xmlns:a="http://schemas.openxmlformats.org/drawingml/2006/main">
            <a:r>
              <a:t>  "input": "계획·예산·집행·계약·성과 자료, 지표 산식, 전결표",</a:t>
            </a:r>
          </a:p>
          <a:p xmlns:a="http://schemas.openxmlformats.org/drawingml/2006/main">
            <a:r>
              <a:t>  "steps": [</a:t>
            </a:r>
          </a:p>
          <a:p xmlns:a="http://schemas.openxmlformats.org/drawingml/2006/main">
            <a:r>
              <a:t>    "사업·업무건 식별",</a:t>
            </a:r>
          </a:p>
          <a:p xmlns:a="http://schemas.openxmlformats.org/drawingml/2006/main">
            <a:r>
              <a:t>    "계획–집행–성과 원천 대사",</a:t>
            </a:r>
          </a:p>
          <a:p xmlns:a="http://schemas.openxmlformats.org/drawingml/2006/main">
            <a:r>
              <a:t>    "산식·판본·전결 검토",</a:t>
            </a:r>
          </a:p>
          <a:p xmlns:a="http://schemas.openxmlformats.org/drawingml/2006/main">
            <a:r>
              <a:t>    "검토자료 작성·보완"</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"예산 편성·집행 분석",</a:t>
            </a:r>
          </a:p>
          <a:p xmlns:a="http://schemas.openxmlformats.org/drawingml/2006/main">
            <a:r>
              <a:t>      "indices":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"3. 예산의 편성‧집행‧운영 관리",</a:t>
            </a:r>
          </a:p>
          <a:p xmlns:a="http://schemas.openxmlformats.org/drawingml/2006/main">
            <a:r>
              <a:t>        "4. 예산집행실적 및 차이분석에 관한 사항"</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"RULEWORK-1016050-3",</a:t>
            </a:r>
          </a:p>
          <a:p xmlns:a="http://schemas.openxmlformats.org/drawingml/2006/main">
            <a:r>
              <a:t>          "text": "3. 예산의 편성‧집행‧운영 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"RULEWORK-1016050-3-R01",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"RULEWORK-1016050-3-T01",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"RULEWORK-1016050-3-R02",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"RULEWORK-1016050-3-T02",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"RULEWORK-1016050-3-R03",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"RULEWORK-1016050-4",</a:t>
            </a:r>
          </a:p>
          <a:p xmlns:a="http://schemas.openxmlformats.org/drawingml/2006/main">
            <a:r>
              <a:t>          "text": "4. 예산집행실적 및 차이분석에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"RULEWORK-1016050-4-T01",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"RULEWORK-1016050-4-R02",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"RULEWORK-1016050-4-T02",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"RULEWORK-1016050-4-R03",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"1016042",</a:t>
            </a:r>
          </a:p>
          <a:p xmlns:a="http://schemas.openxmlformats.org/drawingml/2006/main">
            <a:r>
              <a:t>      "name": "혁신성과처",</a:t>
            </a:r>
          </a:p>
          <a:p xmlns:a="http://schemas.openxmlformats.org/drawingml/2006/main">
            <a:r>
              <a:t>      "job": "기관·부서 성과평가",</a:t>
            </a:r>
          </a:p>
          <a:p xmlns:a="http://schemas.openxmlformats.org/drawingml/2006/main">
            <a:r>
              <a:t>      "indices":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"내부경영평가(BSC, MBO)에 관한 업무",</a:t>
            </a:r>
          </a:p>
          <a:p xmlns:a="http://schemas.openxmlformats.org/drawingml/2006/main">
            <a:r>
              <a:t>        "4. 임원, 부서장 경영계약 및 이행실적 평가에 관한 업무"</a:t>
            </a:r>
          </a:p>
          <a:p xmlns:a="http://schemas.openxmlformats.org/drawingml/2006/main">
            <a:r>
              <a:t>      ],</a:t>
            </a:r>
          </a:p>
          <a:p xmlns:a="http://schemas.openxmlformats.org/drawingml/2006/main">
            <a:r>
              <a:t>      "locator": "별표4 · T36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"RULEWORK-1016042-2",</a:t>
            </a:r>
          </a:p>
          <a:p xmlns:a="http://schemas.openxmlformats.org/drawingml/2006/main">
            <a:r>
              <a:t>          "text": "내부경영평가(BSC, MBO)에 관한 업무",</a:t>
            </a:r>
          </a:p>
          <a:p xmlns:a="http://schemas.openxmlformats.org/drawingml/2006/main">
            <a:r>
              <a:t>          "locator": "별표4 · T36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"RULEWORK-1016042-2-R01",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"RULEWORK-1016042-2-T01",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"RULEWORK-1016042-2-R02",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"RULEWORK-1016042-2-T02",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"RULEWORK-1016042-2-R03",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"RULEWORK-1016042-2-T03",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"RULEWORK-1016042-4",</a:t>
            </a:r>
          </a:p>
          <a:p xmlns:a="http://schemas.openxmlformats.org/drawingml/2006/main">
            <a:r>
              <a:t>          "text": "4. 임원, 부서장 경영계약 및 이행실적 평가에 관한 업무",</a:t>
            </a:r>
          </a:p>
          <a:p xmlns:a="http://schemas.openxmlformats.org/drawingml/2006/main">
            <a:r>
              <a:t>          "locator": "별표4 · T36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"RULEWORK-1016042-4-R01",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"RULEWORK-1016042-4-T01",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"RULEWORK-1016042-4-R02",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"RULEWORK-1016042-4-T02",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"RULEWORK-1016042-4-R03",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"RULEWORK-1016042-4-T03",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"계약·결산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"5. 구매․공사 및 용역 등의 계약에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"RULEWORK-1018034-4",</a:t>
            </a:r>
          </a:p>
          <a:p xmlns:a="http://schemas.openxmlformats.org/drawingml/2006/main">
            <a:r>
              <a:t>          "text": "4. 연간·월간 회계결산 및 연차 결산보고서 작성 보고",</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"RULEWORK-1018034-5",</a:t>
            </a:r>
          </a:p>
          <a:p xmlns:a="http://schemas.openxmlformats.org/drawingml/2006/main">
            <a:r>
              <a:t>          "text": "5. 구매․공사 및 용역 등의 계약에 관한 사항",</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"RULEWORK-1018034-5-R01",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"RULEWORK-1018034-5-T01",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"RULEWORK-1018034-5-R02",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"RULEWORK-1018034-5-T02",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"문서·정보공개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"5. 정보공개제도의 운영 및 관리"</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"RULEWORK-1018030-4",</a:t>
            </a:r>
          </a:p>
          <a:p xmlns:a="http://schemas.openxmlformats.org/drawingml/2006/main">
            <a:r>
              <a:t>          "text": "4. 문서의 접수·분류·수발·처리 및 보존관리",</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"RULEWORK-1018030-4-R01",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"RULEWORK-1018030-4-T01",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"RULEWORK-1018030-4-R02",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"RULEWORK-1018030-4-T02",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"RULEWORK-1018030-4-R03",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"RULEWORK-1018030-5",</a:t>
            </a:r>
          </a:p>
          <a:p xmlns:a="http://schemas.openxmlformats.org/drawingml/2006/main">
            <a:r>
              <a:t>          "text": "5. 정보공개제도의 운영 및 관리",</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"RULEWORK-1018030-5-R01",</a:t>
            </a:r>
          </a:p>
          <a:p xmlns:a="http://schemas.openxmlformats.org/drawingml/2006/main">
            <a:r>
              <a:t>              "title": "업무 맥락·전용 지식 구성",</a:t>
            </a:r>
          </a:p>
          <a:p xmlns:a="http://schemas.openxmlformats.org/drawingml/2006/main">
            <a:r>
              <a:t>              "development": "문의 유형별 지식·소관·안내 서식 선택",</a:t>
            </a:r>
          </a:p>
          <a:p xmlns:a="http://schemas.openxmlformats.org/drawingml/2006/main">
            <a:r>
              <a:t>              "output": "분류·근거 답변·이관·처리 기록",</a:t>
            </a:r>
          </a:p>
          <a:p xmlns:a="http://schemas.openxmlformats.org/drawingml/2006/main">
            <a:r>
              <a:t>              "testId": "RULEWORK-1018030-5-T01",</a:t>
            </a:r>
          </a:p>
          <a:p xmlns:a="http://schemas.openxmlformats.org/drawingml/2006/main">
            <a:r>
              <a:t>              "criterion": "소관·기한·근거·안내 내용 정답 대조"</a:t>
            </a:r>
          </a:p>
          <a:p xmlns:a="http://schemas.openxmlformats.org/drawingml/2006/main">
            <a:r>
              <a:t>            },</a:t>
            </a:r>
          </a:p>
          <a:p xmlns:a="http://schemas.openxmlformats.org/drawingml/2006/main">
            <a:r>
              <a:t>            {</a:t>
            </a:r>
          </a:p>
          <a:p xmlns:a="http://schemas.openxmlformats.org/drawingml/2006/main">
            <a:r>
              <a:t>              "id": "RULEWORK-1018030-5-R02",</a:t>
            </a:r>
          </a:p>
          <a:p xmlns:a="http://schemas.openxmlformats.org/drawingml/2006/main">
            <a:r>
              <a:t>              "title": "업무건·역할·시스템 연결",</a:t>
            </a:r>
          </a:p>
          <a:p xmlns:a="http://schemas.openxmlformats.org/drawingml/2006/main">
            <a:r>
              <a:t>              "development": "접수–이관–수락–답변·민감정보 제한 연결",</a:t>
            </a:r>
          </a:p>
          <a:p xmlns:a="http://schemas.openxmlformats.org/drawingml/2006/main">
            <a:r>
              <a:t>              "output": "업무건·원천·역할·변경 연결 명세",</a:t>
            </a:r>
          </a:p>
          <a:p xmlns:a="http://schemas.openxmlformats.org/drawingml/2006/main">
            <a:r>
              <a:t>              "testId": "RULEWORK-1018030-5-T02",</a:t>
            </a:r>
          </a:p>
          <a:p xmlns:a="http://schemas.openxmlformats.org/drawingml/2006/main">
            <a:r>
              <a:t>              "criterion": "민감 원문 노출·무권한 약속·처분 확정 차단"</a:t>
            </a:r>
          </a:p>
          <a:p xmlns:a="http://schemas.openxmlformats.org/drawingml/2006/main">
            <a:r>
              <a:t>            },</a:t>
            </a:r>
          </a:p>
          <a:p xmlns:a="http://schemas.openxmlformats.org/drawingml/2006/main">
            <a:r>
              <a:t>            {</a:t>
            </a:r>
          </a:p>
          <a:p xmlns:a="http://schemas.openxmlformats.org/drawingml/2006/main">
            <a:r>
              <a:t>              "id": "RULEWORK-1018030-5-R03",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문서 검색·요약·서식"</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"Audin·JET의 증빙 검토·구조화"</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"사업–예산–성과 연결표",</a:t>
            </a:r>
          </a:p>
          <a:p xmlns:a="http://schemas.openxmlformats.org/drawingml/2006/main">
            <a:r>
              <a:t>    "지표 산식 검증·검토시간 계측"</a:t>
            </a:r>
          </a:p>
          <a:p xmlns:a="http://schemas.openxmlformats.org/drawingml/2006/main">
            <a:r>
              <a:t>  ],</a:t>
            </a:r>
          </a:p>
          <a:p xmlns:a="http://schemas.openxmlformats.org/drawingml/2006/main">
            <a:r>
              <a:t>  "acceptancePlan": {</a:t>
            </a:r>
          </a:p>
          <a:p xmlns:a="http://schemas.openxmlformats.org/drawingml/2006/main">
            <a:r>
              <a:t>    "sample": "집행 중복, 다른 보고기간, 산식 오류, 전결권 부재",</a:t>
            </a:r>
          </a:p>
          <a:p xmlns:a="http://schemas.openxmlformats.org/drawingml/2006/main">
            <a:r>
              <a:t>    "criterion": "원천 합계 일치·오류 보류·권한별 결과 분리",</a:t>
            </a:r>
          </a:p>
          <a:p xmlns:a="http://schemas.openxmlformats.org/drawingml/2006/main">
            <a:r>
              <a:t>    "evidence": "원천 대사표·업무시간 기록·보완 결과",</a:t>
            </a:r>
          </a:p>
          <a:p xmlns:a="http://schemas.openxmlformats.org/drawingml/2006/main">
            <a:r>
              <a:t>    "execution": "미실행"</a:t>
            </a:r>
          </a:p>
          <a:p xmlns:a="http://schemas.openxmlformats.org/drawingml/2006/main">
            <a:r>
              <a:t>  },</a:t>
            </a:r>
          </a:p>
          <a:p xmlns:a="http://schemas.openxmlformats.org/drawingml/2006/main">
            <a:r>
              <a:t>  "formula": "최종 검토까지 소요시간 중앙값 / 재작업 건수 ÷ 완료 건수 / 업무당 비용",</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"PF-R01",</a:t>
            </a:r>
          </a:p>
          <a:p xmlns:a="http://schemas.openxmlformats.org/drawingml/2006/main">
            <a:r>
              <a:t>    "PF-R03",</a:t>
            </a:r>
          </a:p>
          <a:p xmlns:a="http://schemas.openxmlformats.org/drawingml/2006/main">
            <a:r>
              <a:t>    "PF-R06",</a:t>
            </a:r>
          </a:p>
          <a:p xmlns:a="http://schemas.openxmlformats.org/drawingml/2006/main">
            <a:r>
              <a:t>    "PF-R08",</a:t>
            </a:r>
          </a:p>
          <a:p xmlns:a="http://schemas.openxmlformats.org/drawingml/2006/main">
            <a:r>
              <a:t>    "PF01",</a:t>
            </a:r>
          </a:p>
          <a:p xmlns:a="http://schemas.openxmlformats.org/drawingml/2006/main">
            <a:r>
              <a:t>    "PF02",</a:t>
            </a:r>
          </a:p>
          <a:p xmlns:a="http://schemas.openxmlformats.org/drawingml/2006/main">
            <a:r>
              <a:t>    "PF04",</a:t>
            </a:r>
          </a:p>
          <a:p xmlns:a="http://schemas.openxmlformats.org/drawingml/2006/main">
            <a:r>
              <a:t>    "PF-A09",</a:t>
            </a:r>
          </a:p>
          <a:p xmlns:a="http://schemas.openxmlformats.org/drawingml/2006/main">
            <a:r>
              <a:t>    "PF-A13",</a:t>
            </a:r>
          </a:p>
          <a:p xmlns:a="http://schemas.openxmlformats.org/drawingml/2006/main">
            <a:r>
              <a:t>    "PF-A15",</a:t>
            </a:r>
          </a:p>
          <a:p xmlns:a="http://schemas.openxmlformats.org/drawingml/2006/main">
            <a:r>
              <a:t>    "PF-A16",</a:t>
            </a:r>
          </a:p>
          <a:p xmlns:a="http://schemas.openxmlformats.org/drawingml/2006/main">
            <a:r>
              <a:t>    "PF08",</a:t>
            </a:r>
          </a:p>
          <a:p xmlns:a="http://schemas.openxmlformats.org/drawingml/2006/main">
            <a:r>
              <a:t>    "PF-A18",</a:t>
            </a:r>
          </a:p>
          <a:p xmlns:a="http://schemas.openxmlformats.org/drawingml/2006/main">
            <a:r>
              <a:t>    "PF-C03"</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"ST-10",</a:t>
            </a:r>
          </a:p>
          <a:p xmlns:a="http://schemas.openxmlformats.org/drawingml/2006/main">
            <a:r>
              <a:t>  "number": 10,</a:t>
            </a:r>
          </a:p>
          <a:p xmlns:a="http://schemas.openxmlformats.org/drawingml/2006/main">
            <a:r>
              <a:t>  "direction": "지속가능 책임경영 이행",</a:t>
            </a:r>
          </a:p>
          <a:p xmlns:a="http://schemas.openxmlformats.org/drawingml/2006/main">
            <a:r>
              <a:t>  "strategy": "실용·성과·효율 지향 경영체계 구축",</a:t>
            </a:r>
          </a:p>
          <a:p xmlns:a="http://schemas.openxmlformats.org/drawingml/2006/main">
            <a:r>
              <a:t>  "solution": "계획·예산·성과 업무지원",</a:t>
            </a:r>
          </a:p>
          <a:p xmlns:a="http://schemas.openxmlformats.org/drawingml/2006/main">
            <a:r>
              <a:t>  "lawIds": [],</a:t>
            </a:r>
          </a:p>
          <a:p xmlns:a="http://schemas.openxmlformats.org/drawingml/2006/main">
            <a:r>
              <a:t>  "codes": [</a:t>
            </a:r>
          </a:p>
          <a:p xmlns:a="http://schemas.openxmlformats.org/drawingml/2006/main">
            <a:r>
              <a:t>    "1016050",</a:t>
            </a:r>
          </a:p>
          <a:p xmlns:a="http://schemas.openxmlformats.org/drawingml/2006/main">
            <a:r>
              <a:t>    "1016042",</a:t>
            </a:r>
          </a:p>
          <a:p xmlns:a="http://schemas.openxmlformats.org/drawingml/2006/main">
            <a:r>
              <a:t>    "1018034",</a:t>
            </a:r>
          </a:p>
          <a:p xmlns:a="http://schemas.openxmlformats.org/drawingml/2006/main">
            <a:r>
              <a:t>    "1018030"</a:t>
            </a:r>
          </a:p>
          <a:p xmlns:a="http://schemas.openxmlformats.org/drawingml/2006/main">
            <a:r>
              <a:t>  ],</a:t>
            </a:r>
          </a:p>
          <a:p xmlns:a="http://schemas.openxmlformats.org/drawingml/2006/main">
            <a:r>
              <a:t>  "work": "부서별 계획·예산·계약·성과 증빙 관리",</a:t>
            </a:r>
          </a:p>
          <a:p xmlns:a="http://schemas.openxmlformats.org/drawingml/2006/main">
            <a:r>
              <a:t>  "features": [</a:t>
            </a:r>
          </a:p>
          <a:p xmlns:a="http://schemas.openxmlformats.org/drawingml/2006/main">
            <a:r>
              <a:t>    "계획–예산–집행–성과의 업무건 연결",</a:t>
            </a:r>
          </a:p>
          <a:p xmlns:a="http://schemas.openxmlformats.org/drawingml/2006/main">
            <a:r>
              <a:t>    "작성·검토·전결·결산 역할별 자료 구성"</a:t>
            </a:r>
          </a:p>
          <a:p xmlns:a="http://schemas.openxmlformats.org/drawingml/2006/main">
            <a:r>
              <a:t>  ],</a:t>
            </a:r>
          </a:p>
          <a:p xmlns:a="http://schemas.openxmlformats.org/drawingml/2006/main">
            <a:r>
              <a:t>  "output": "성과 근거표·경영 검토자료",</a:t>
            </a:r>
          </a:p>
          <a:p xmlns:a="http://schemas.openxmlformats.org/drawingml/2006/main">
            <a:r>
              <a:t>  "acceptance": "예산·집행·성과 원천 대사 및 전결·위임에 따른 접근/승인 확인",</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"GAI-T08",</a:t>
            </a:r>
          </a:p>
          <a:p xmlns:a="http://schemas.openxmlformats.org/drawingml/2006/main">
            <a:r>
              <a:t>    "GAI-T09"</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"예산 편성·집행 분석",</a:t>
            </a:r>
          </a:p>
          <a:p xmlns:a="http://schemas.openxmlformats.org/drawingml/2006/main">
            <a:r>
              <a:t>      "indices":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"3. 예산의 편성‧집행‧운영 관리",</a:t>
            </a:r>
          </a:p>
          <a:p xmlns:a="http://schemas.openxmlformats.org/drawingml/2006/main">
            <a:r>
              <a:t>        "4. 예산집행실적 및 차이분석에 관한 사항"</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"1016042",</a:t>
            </a:r>
          </a:p>
          <a:p xmlns:a="http://schemas.openxmlformats.org/drawingml/2006/main">
            <a:r>
              <a:t>      "name": "혁신성과처",</a:t>
            </a:r>
          </a:p>
          <a:p xmlns:a="http://schemas.openxmlformats.org/drawingml/2006/main">
            <a:r>
              <a:t>      "job": "기관·부서 성과평가",</a:t>
            </a:r>
          </a:p>
          <a:p xmlns:a="http://schemas.openxmlformats.org/drawingml/2006/main">
            <a:r>
              <a:t>      "indices":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"내부경영평가(BSC, MBO)에 관한 업무",</a:t>
            </a:r>
          </a:p>
          <a:p xmlns:a="http://schemas.openxmlformats.org/drawingml/2006/main">
            <a:r>
              <a:t>        "4. 임원, 부서장 경영계약 및 이행실적 평가에 관한 업무"</a:t>
            </a:r>
          </a:p>
          <a:p xmlns:a="http://schemas.openxmlformats.org/drawingml/2006/main">
            <a:r>
              <a:t>      ],</a:t>
            </a:r>
          </a:p>
          <a:p xmlns:a="http://schemas.openxmlformats.org/drawingml/2006/main">
            <a:r>
              <a:t>      "locator": "별표4 · T36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"계약·결산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"5. 구매․공사 및 용역 등의 계약에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"문서·정보공개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"5. 정보공개제도의 운영 및 관리"</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"AX24",</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"성과·경영 문서 검토 지원",</a:t>
            </a:r>
          </a:p>
          <a:p xmlns:a="http://schemas.openxmlformats.org/drawingml/2006/main">
            <a:r>
              <a:t>  "delta": "근거 자료·산식·업무 수행시간 계측",</a:t>
            </a:r>
          </a:p>
          <a:p xmlns:a="http://schemas.openxmlformats.org/drawingml/2006/main">
            <a:r>
              <a:t>  "kpi": "완료시간 / 재작업률 / 업무당 비용",</a:t>
            </a:r>
          </a:p>
          <a:p xmlns:a="http://schemas.openxmlformats.org/drawingml/2006/main">
            <a:r>
              <a:t>  "validation": "동일 난도 비교군·검토시간 포함 평가",</a:t>
            </a:r>
          </a:p>
          <a:p xmlns:a="http://schemas.openxmlformats.org/drawingml/2006/main">
            <a:r>
              <a:t>  "requirement": "BM-ST-10-R01",</a:t>
            </a:r>
          </a:p>
          <a:p xmlns:a="http://schemas.openxmlformats.org/drawingml/2006/main">
            <a:r>
              <a:t>  "test": "BM-ST-10-T01",</a:t>
            </a:r>
          </a:p>
          <a:p xmlns:a="http://schemas.openxmlformats.org/drawingml/2006/main">
            <a:r>
              <a:t>  "effectStatus": "기대 방향 · TS 실측 전",</a:t>
            </a:r>
          </a:p>
          <a:p xmlns:a="http://schemas.openxmlformats.org/drawingml/2006/main">
            <a:r>
              <a:t>  "effect": "검토·재작업을 포함한 업무시간 감소",</a:t>
            </a:r>
          </a:p>
          <a:p xmlns:a="http://schemas.openxmlformats.org/drawingml/2006/main">
            <a:r>
              <a:t>  "reuse": "ON27-BASE / C27-COM + CCK 재사용 판정 기능",</a:t>
            </a:r>
          </a:p>
          <a:p xmlns:a="http://schemas.openxmlformats.org/drawingml/2006/main">
            <a:r>
              <a:t>  "input": "계획·예산·집행·계약·성과 자료, 지표 산식, 전결표",</a:t>
            </a:r>
          </a:p>
          <a:p xmlns:a="http://schemas.openxmlformats.org/drawingml/2006/main">
            <a:r>
              <a:t>  "steps": [</a:t>
            </a:r>
          </a:p>
          <a:p xmlns:a="http://schemas.openxmlformats.org/drawingml/2006/main">
            <a:r>
              <a:t>    "사업·업무건 식별",</a:t>
            </a:r>
          </a:p>
          <a:p xmlns:a="http://schemas.openxmlformats.org/drawingml/2006/main">
            <a:r>
              <a:t>    "계획–집행–성과 원천 대사",</a:t>
            </a:r>
          </a:p>
          <a:p xmlns:a="http://schemas.openxmlformats.org/drawingml/2006/main">
            <a:r>
              <a:t>    "산식·판본·전결 검토",</a:t>
            </a:r>
          </a:p>
          <a:p xmlns:a="http://schemas.openxmlformats.org/drawingml/2006/main">
            <a:r>
              <a:t>    "검토자료 작성·보완"</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"예산 편성·집행 분석",</a:t>
            </a:r>
          </a:p>
          <a:p xmlns:a="http://schemas.openxmlformats.org/drawingml/2006/main">
            <a:r>
              <a:t>      "indices":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"3. 예산의 편성‧집행‧운영 관리",</a:t>
            </a:r>
          </a:p>
          <a:p xmlns:a="http://schemas.openxmlformats.org/drawingml/2006/main">
            <a:r>
              <a:t>        "4. 예산집행실적 및 차이분석에 관한 사항"</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"RULEWORK-1016050-3",</a:t>
            </a:r>
          </a:p>
          <a:p xmlns:a="http://schemas.openxmlformats.org/drawingml/2006/main">
            <a:r>
              <a:t>          "text": "3. 예산의 편성‧집행‧운영 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"RULEWORK-1016050-3-R01",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"RULEWORK-1016050-3-T01",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"RULEWORK-1016050-3-R02",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"RULEWORK-1016050-3-T02",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"RULEWORK-1016050-3-R03",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"RULEWORK-1016050-4",</a:t>
            </a:r>
          </a:p>
          <a:p xmlns:a="http://schemas.openxmlformats.org/drawingml/2006/main">
            <a:r>
              <a:t>          "text": "4. 예산집행실적 및 차이분석에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"RULEWORK-1016050-4-T01",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"RULEWORK-1016050-4-R02",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"RULEWORK-1016050-4-T02",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"RULEWORK-1016050-4-R03",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"1016042",</a:t>
            </a:r>
          </a:p>
          <a:p xmlns:a="http://schemas.openxmlformats.org/drawingml/2006/main">
            <a:r>
              <a:t>      "name": "혁신성과처",</a:t>
            </a:r>
          </a:p>
          <a:p xmlns:a="http://schemas.openxmlformats.org/drawingml/2006/main">
            <a:r>
              <a:t>      "job": "기관·부서 성과평가",</a:t>
            </a:r>
          </a:p>
          <a:p xmlns:a="http://schemas.openxmlformats.org/drawingml/2006/main">
            <a:r>
              <a:t>      "indices":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"내부경영평가(BSC, MBO)에 관한 업무",</a:t>
            </a:r>
          </a:p>
          <a:p xmlns:a="http://schemas.openxmlformats.org/drawingml/2006/main">
            <a:r>
              <a:t>        "4. 임원, 부서장 경영계약 및 이행실적 평가에 관한 업무"</a:t>
            </a:r>
          </a:p>
          <a:p xmlns:a="http://schemas.openxmlformats.org/drawingml/2006/main">
            <a:r>
              <a:t>      ],</a:t>
            </a:r>
          </a:p>
          <a:p xmlns:a="http://schemas.openxmlformats.org/drawingml/2006/main">
            <a:r>
              <a:t>      "locator": "별표4 · T36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"RULEWORK-1016042-2",</a:t>
            </a:r>
          </a:p>
          <a:p xmlns:a="http://schemas.openxmlformats.org/drawingml/2006/main">
            <a:r>
              <a:t>          "text": "내부경영평가(BSC, MBO)에 관한 업무",</a:t>
            </a:r>
          </a:p>
          <a:p xmlns:a="http://schemas.openxmlformats.org/drawingml/2006/main">
            <a:r>
              <a:t>          "locator": "별표4 · T36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"RULEWORK-1016042-2-R01",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"RULEWORK-1016042-2-T01",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"RULEWORK-1016042-2-R02",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"RULEWORK-1016042-2-T02",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"RULEWORK-1016042-2-R03",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"RULEWORK-1016042-2-T03",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"RULEWORK-1016042-4",</a:t>
            </a:r>
          </a:p>
          <a:p xmlns:a="http://schemas.openxmlformats.org/drawingml/2006/main">
            <a:r>
              <a:t>          "text": "4. 임원, 부서장 경영계약 및 이행실적 평가에 관한 업무",</a:t>
            </a:r>
          </a:p>
          <a:p xmlns:a="http://schemas.openxmlformats.org/drawingml/2006/main">
            <a:r>
              <a:t>          "locator": "별표4 · T36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"RULEWORK-1016042-4-R01",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"RULEWORK-1016042-4-T01",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"RULEWORK-1016042-4-R02",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"RULEWORK-1016042-4-T02",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"RULEWORK-1016042-4-R03",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"RULEWORK-1016042-4-T03",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"계약·결산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"5. 구매․공사 및 용역 등의 계약에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"RULEWORK-1018034-4",</a:t>
            </a:r>
          </a:p>
          <a:p xmlns:a="http://schemas.openxmlformats.org/drawingml/2006/main">
            <a:r>
              <a:t>          "text": "4. 연간·월간 회계결산 및 연차 결산보고서 작성 보고",</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"RULEWORK-1018034-5",</a:t>
            </a:r>
          </a:p>
          <a:p xmlns:a="http://schemas.openxmlformats.org/drawingml/2006/main">
            <a:r>
              <a:t>          "text": "5. 구매․공사 및 용역 등의 계약에 관한 사항",</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"RULEWORK-1018034-5-R01",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"RULEWORK-1018034-5-T01",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"RULEWORK-1018034-5-R02",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"RULEWORK-1018034-5-T02",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"문서·정보공개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"5. 정보공개제도의 운영 및 관리"</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"RULEWORK-1018030-4",</a:t>
            </a:r>
          </a:p>
          <a:p xmlns:a="http://schemas.openxmlformats.org/drawingml/2006/main">
            <a:r>
              <a:t>          "text": "4. 문서의 접수·분류·수발·처리 및 보존관리",</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"RULEWORK-1018030-4-R01",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"RULEWORK-1018030-4-T01",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"RULEWORK-1018030-4-R02",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"RULEWORK-1018030-4-T02",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"RULEWORK-1018030-4-R03",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"RULEWORK-1018030-5",</a:t>
            </a:r>
          </a:p>
          <a:p xmlns:a="http://schemas.openxmlformats.org/drawingml/2006/main">
            <a:r>
              <a:t>          "text": "5. 정보공개제도의 운영 및 관리",</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"RULEWORK-1018030-5-R01",</a:t>
            </a:r>
          </a:p>
          <a:p xmlns:a="http://schemas.openxmlformats.org/drawingml/2006/main">
            <a:r>
              <a:t>              "title": "업무 맥락·전용 지식 구성",</a:t>
            </a:r>
          </a:p>
          <a:p xmlns:a="http://schemas.openxmlformats.org/drawingml/2006/main">
            <a:r>
              <a:t>              "development": "문의 유형별 지식·소관·안내 서식 선택",</a:t>
            </a:r>
          </a:p>
          <a:p xmlns:a="http://schemas.openxmlformats.org/drawingml/2006/main">
            <a:r>
              <a:t>              "output": "분류·근거 답변·이관·처리 기록",</a:t>
            </a:r>
          </a:p>
          <a:p xmlns:a="http://schemas.openxmlformats.org/drawingml/2006/main">
            <a:r>
              <a:t>              "testId": "RULEWORK-1018030-5-T01",</a:t>
            </a:r>
          </a:p>
          <a:p xmlns:a="http://schemas.openxmlformats.org/drawingml/2006/main">
            <a:r>
              <a:t>              "criterion": "소관·기한·근거·안내 내용 정답 대조"</a:t>
            </a:r>
          </a:p>
          <a:p xmlns:a="http://schemas.openxmlformats.org/drawingml/2006/main">
            <a:r>
              <a:t>            },</a:t>
            </a:r>
          </a:p>
          <a:p xmlns:a="http://schemas.openxmlformats.org/drawingml/2006/main">
            <a:r>
              <a:t>            {</a:t>
            </a:r>
          </a:p>
          <a:p xmlns:a="http://schemas.openxmlformats.org/drawingml/2006/main">
            <a:r>
              <a:t>              "id": "RULEWORK-1018030-5-R02",</a:t>
            </a:r>
          </a:p>
          <a:p xmlns:a="http://schemas.openxmlformats.org/drawingml/2006/main">
            <a:r>
              <a:t>              "title": "업무건·역할·시스템 연결",</a:t>
            </a:r>
          </a:p>
          <a:p xmlns:a="http://schemas.openxmlformats.org/drawingml/2006/main">
            <a:r>
              <a:t>              "development": "접수–이관–수락–답변·민감정보 제한 연결",</a:t>
            </a:r>
          </a:p>
          <a:p xmlns:a="http://schemas.openxmlformats.org/drawingml/2006/main">
            <a:r>
              <a:t>              "output": "업무건·원천·역할·변경 연결 명세",</a:t>
            </a:r>
          </a:p>
          <a:p xmlns:a="http://schemas.openxmlformats.org/drawingml/2006/main">
            <a:r>
              <a:t>              "testId": "RULEWORK-1018030-5-T02",</a:t>
            </a:r>
          </a:p>
          <a:p xmlns:a="http://schemas.openxmlformats.org/drawingml/2006/main">
            <a:r>
              <a:t>              "criterion": "민감 원문 노출·무권한 약속·처분 확정 차단"</a:t>
            </a:r>
          </a:p>
          <a:p xmlns:a="http://schemas.openxmlformats.org/drawingml/2006/main">
            <a:r>
              <a:t>            },</a:t>
            </a:r>
          </a:p>
          <a:p xmlns:a="http://schemas.openxmlformats.org/drawingml/2006/main">
            <a:r>
              <a:t>            {</a:t>
            </a:r>
          </a:p>
          <a:p xmlns:a="http://schemas.openxmlformats.org/drawingml/2006/main">
            <a:r>
              <a:t>              "id": "RULEWORK-1018030-5-R03",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문서 검색·요약·서식"</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"Audin·JET의 증빙 검토·구조화"</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"사업–예산–성과 연결표",</a:t>
            </a:r>
          </a:p>
          <a:p xmlns:a="http://schemas.openxmlformats.org/drawingml/2006/main">
            <a:r>
              <a:t>    "지표 산식 검증·검토시간 계측"</a:t>
            </a:r>
          </a:p>
          <a:p xmlns:a="http://schemas.openxmlformats.org/drawingml/2006/main">
            <a:r>
              <a:t>  ],</a:t>
            </a:r>
          </a:p>
          <a:p xmlns:a="http://schemas.openxmlformats.org/drawingml/2006/main">
            <a:r>
              <a:t>  "acceptancePlan": {</a:t>
            </a:r>
          </a:p>
          <a:p xmlns:a="http://schemas.openxmlformats.org/drawingml/2006/main">
            <a:r>
              <a:t>    "sample": "집행 중복, 다른 보고기간, 산식 오류, 전결권 부재",</a:t>
            </a:r>
          </a:p>
          <a:p xmlns:a="http://schemas.openxmlformats.org/drawingml/2006/main">
            <a:r>
              <a:t>    "criterion": "원천 합계 일치·오류 보류·권한별 결과 분리",</a:t>
            </a:r>
          </a:p>
          <a:p xmlns:a="http://schemas.openxmlformats.org/drawingml/2006/main">
            <a:r>
              <a:t>    "evidence": "원천 대사표·업무시간 기록·보완 결과",</a:t>
            </a:r>
          </a:p>
          <a:p xmlns:a="http://schemas.openxmlformats.org/drawingml/2006/main">
            <a:r>
              <a:t>    "execution": "미실행"</a:t>
            </a:r>
          </a:p>
          <a:p xmlns:a="http://schemas.openxmlformats.org/drawingml/2006/main">
            <a:r>
              <a:t>  },</a:t>
            </a:r>
          </a:p>
          <a:p xmlns:a="http://schemas.openxmlformats.org/drawingml/2006/main">
            <a:r>
              <a:t>  "formula": "최종 검토까지 소요시간 중앙값 / 재작업 건수 ÷ 완료 건수 / 업무당 비용",</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"PF-R01",</a:t>
            </a:r>
          </a:p>
          <a:p xmlns:a="http://schemas.openxmlformats.org/drawingml/2006/main">
            <a:r>
              <a:t>    "PF-R03",</a:t>
            </a:r>
          </a:p>
          <a:p xmlns:a="http://schemas.openxmlformats.org/drawingml/2006/main">
            <a:r>
              <a:t>    "PF-R06",</a:t>
            </a:r>
          </a:p>
          <a:p xmlns:a="http://schemas.openxmlformats.org/drawingml/2006/main">
            <a:r>
              <a:t>    "PF-R08",</a:t>
            </a:r>
          </a:p>
          <a:p xmlns:a="http://schemas.openxmlformats.org/drawingml/2006/main">
            <a:r>
              <a:t>    "PF01",</a:t>
            </a:r>
          </a:p>
          <a:p xmlns:a="http://schemas.openxmlformats.org/drawingml/2006/main">
            <a:r>
              <a:t>    "PF02",</a:t>
            </a:r>
          </a:p>
          <a:p xmlns:a="http://schemas.openxmlformats.org/drawingml/2006/main">
            <a:r>
              <a:t>    "PF04",</a:t>
            </a:r>
          </a:p>
          <a:p xmlns:a="http://schemas.openxmlformats.org/drawingml/2006/main">
            <a:r>
              <a:t>    "PF-A09",</a:t>
            </a:r>
          </a:p>
          <a:p xmlns:a="http://schemas.openxmlformats.org/drawingml/2006/main">
            <a:r>
              <a:t>    "PF-A13",</a:t>
            </a:r>
          </a:p>
          <a:p xmlns:a="http://schemas.openxmlformats.org/drawingml/2006/main">
            <a:r>
              <a:t>    "PF-A15",</a:t>
            </a:r>
          </a:p>
          <a:p xmlns:a="http://schemas.openxmlformats.org/drawingml/2006/main">
            <a:r>
              <a:t>    "PF-A16",</a:t>
            </a:r>
          </a:p>
          <a:p xmlns:a="http://schemas.openxmlformats.org/drawingml/2006/main">
            <a:r>
              <a:t>    "PF08",</a:t>
            </a:r>
          </a:p>
          <a:p xmlns:a="http://schemas.openxmlformats.org/drawingml/2006/main">
            <a:r>
              <a:t>    "PF-A18",</a:t>
            </a:r>
          </a:p>
          <a:p xmlns:a="http://schemas.openxmlformats.org/drawingml/2006/main">
            <a:r>
              <a:t>    "PF-C03"</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"ST-11",</a:t>
            </a:r>
          </a:p>
          <a:p xmlns:a="http://schemas.openxmlformats.org/drawingml/2006/main">
            <a:r>
              <a:t>  "number": 11,</a:t>
            </a:r>
          </a:p>
          <a:p xmlns:a="http://schemas.openxmlformats.org/drawingml/2006/main">
            <a:r>
              <a:t>  "direction": "지속가능 책임경영 이행",</a:t>
            </a:r>
          </a:p>
          <a:p xmlns:a="http://schemas.openxmlformats.org/drawingml/2006/main">
            <a:r>
              <a:t>  "strategy": "지속가능 ESG 경영성과 실현",</a:t>
            </a:r>
          </a:p>
          <a:p xmlns:a="http://schemas.openxmlformats.org/drawingml/2006/main">
            <a:r>
              <a:t>  "solution": "ESG 이행·증빙 관리",</a:t>
            </a:r>
          </a:p>
          <a:p xmlns:a="http://schemas.openxmlformats.org/drawingml/2006/main">
            <a:r>
              <a:t>  "lawIds": [],</a:t>
            </a:r>
          </a:p>
          <a:p xmlns:a="http://schemas.openxmlformats.org/drawingml/2006/main">
            <a:r>
              <a:t>  "codes": [</a:t>
            </a:r>
          </a:p>
          <a:p xmlns:a="http://schemas.openxmlformats.org/drawingml/2006/main">
            <a:r>
              <a:t>    "1016047",</a:t>
            </a:r>
          </a:p>
          <a:p xmlns:a="http://schemas.openxmlformats.org/drawingml/2006/main">
            <a:r>
              <a:t>    "1016043",</a:t>
            </a:r>
          </a:p>
          <a:p xmlns:a="http://schemas.openxmlformats.org/drawingml/2006/main">
            <a:r>
              <a:t>    "1019040",</a:t>
            </a:r>
          </a:p>
          <a:p xmlns:a="http://schemas.openxmlformats.org/drawingml/2006/main">
            <a:r>
              <a:t>    "1018034"</a:t>
            </a:r>
          </a:p>
          <a:p xmlns:a="http://schemas.openxmlformats.org/drawingml/2006/main">
            <a:r>
              <a:t>  ],</a:t>
            </a:r>
          </a:p>
          <a:p xmlns:a="http://schemas.openxmlformats.org/drawingml/2006/main">
            <a:r>
              <a:t>  "work": "ESG·사회가치·안전보건·환경 실적의 부서 협업",</a:t>
            </a:r>
          </a:p>
          <a:p xmlns:a="http://schemas.openxmlformats.org/drawingml/2006/main">
            <a:r>
              <a:t>  "features": [</a:t>
            </a:r>
          </a:p>
          <a:p xmlns:a="http://schemas.openxmlformats.org/drawingml/2006/main">
            <a:r>
              <a:t>    "지표별 정의·보고기간·증빙·책임자 연결",</a:t>
            </a:r>
          </a:p>
          <a:p xmlns:a="http://schemas.openxmlformats.org/drawingml/2006/main">
            <a:r>
              <a:t>    "이행과제·공시 항목·검토 이력 정리"</a:t>
            </a:r>
          </a:p>
          <a:p xmlns:a="http://schemas.openxmlformats.org/drawingml/2006/main">
            <a:r>
              <a:t>  ],</a:t>
            </a:r>
          </a:p>
          <a:p xmlns:a="http://schemas.openxmlformats.org/drawingml/2006/main">
            <a:r>
              <a:t>  "output": "ESG 증빙대장·공시 검토 초안",</a:t>
            </a:r>
          </a:p>
          <a:p xmlns:a="http://schemas.openxmlformats.org/drawingml/2006/main">
            <a:r>
              <a:t>  "acceptance": "공시 수치의 원천·판본 추적 및 누락/중복 증빙 식별",</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"GAI-T06",</a:t>
            </a:r>
          </a:p>
          <a:p xmlns:a="http://schemas.openxmlformats.org/drawingml/2006/main">
            <a:r>
              <a:t>    "GAI-T07",</a:t>
            </a:r>
          </a:p>
          <a:p xmlns:a="http://schemas.openxmlformats.org/drawingml/2006/main">
            <a:r>
              <a:t>    "GAI-T11"</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"ESG 총괄·보고서",</a:t>
            </a:r>
          </a:p>
          <a:p xmlns:a="http://schemas.openxmlformats.org/drawingml/2006/main">
            <a:r>
              <a:t>      "indices": [</a:t>
            </a:r>
          </a:p>
          <a:p xmlns:a="http://schemas.openxmlformats.org/drawingml/2006/main">
            <a:r>
              <a:t>        0,</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"1. ESG․지속가능․윤리․인권경영에 관한 업무 총괄",</a:t>
            </a:r>
          </a:p>
          <a:p xmlns:a="http://schemas.openxmlformats.org/drawingml/2006/main">
            <a:r>
              <a:t>        "10. 지속가능경영보고서(ESG보고서) 발간에 관한 업무"</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"안전경영 성과관리",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안전경영 성과관리 및 안전촉진 활동에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정책자료",</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"회계·계약 증빙",</a:t>
            </a:r>
          </a:p>
          <a:p xmlns:a="http://schemas.openxmlformats.org/drawingml/2006/main">
            <a:r>
              <a:t>      "indices": [</a:t>
            </a:r>
          </a:p>
          <a:p xmlns:a="http://schemas.openxmlformats.org/drawingml/2006/main">
            <a:r>
              <a:t>        3,</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"10. 회계․계약관련 제도개선 및 회계감사·세무조사에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"AX08",</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"ESG 증빙·공시 검토 지원",</a:t>
            </a:r>
          </a:p>
          <a:p xmlns:a="http://schemas.openxmlformats.org/drawingml/2006/main">
            <a:r>
              <a:t>  "delta": "지표별 산식·원천·검토자·변경 이력 연결",</a:t>
            </a:r>
          </a:p>
          <a:p xmlns:a="http://schemas.openxmlformats.org/drawingml/2006/main">
            <a:r>
              <a:t>  "kpi": "증빙 누락률 / 공시 검토시간",</a:t>
            </a:r>
          </a:p>
          <a:p xmlns:a="http://schemas.openxmlformats.org/drawingml/2006/main">
            <a:r>
              <a:t>  "validation": "산식·원문 불일치와 보고 누락 주입 시험",</a:t>
            </a:r>
          </a:p>
          <a:p xmlns:a="http://schemas.openxmlformats.org/drawingml/2006/main">
            <a:r>
              <a:t>  "requirement": "BM-ST-11-R01",</a:t>
            </a:r>
          </a:p>
          <a:p xmlns:a="http://schemas.openxmlformats.org/drawingml/2006/main">
            <a:r>
              <a:t>  "test": "BM-ST-11-T01",</a:t>
            </a:r>
          </a:p>
          <a:p xmlns:a="http://schemas.openxmlformats.org/drawingml/2006/main">
            <a:r>
              <a:t>  "effectStatus": "기대 방향 · TS 실측 전",</a:t>
            </a:r>
          </a:p>
          <a:p xmlns:a="http://schemas.openxmlformats.org/drawingml/2006/main">
            <a:r>
              <a:t>  "effect": "공시 근거 누락·검토시간 감소",</a:t>
            </a:r>
          </a:p>
          <a:p xmlns:a="http://schemas.openxmlformats.org/drawingml/2006/main">
            <a:r>
              <a:t>  "reuse": "ON27-BASE / C27-COM + CCK 재사용 판정 기능",</a:t>
            </a:r>
          </a:p>
          <a:p xmlns:a="http://schemas.openxmlformats.org/drawingml/2006/main">
            <a:r>
              <a:t>  "input": "ESG 지표 정의, 환경·안전·사회가치 실적, 공시 근거",</a:t>
            </a:r>
          </a:p>
          <a:p xmlns:a="http://schemas.openxmlformats.org/drawingml/2006/main">
            <a:r>
              <a:t>  "steps": [</a:t>
            </a:r>
          </a:p>
          <a:p xmlns:a="http://schemas.openxmlformats.org/drawingml/2006/main">
            <a:r>
              <a:t>    "지표·기간·담당 연결",</a:t>
            </a:r>
          </a:p>
          <a:p xmlns:a="http://schemas.openxmlformats.org/drawingml/2006/main">
            <a:r>
              <a:t>    "원천 증빙 수집",</a:t>
            </a:r>
          </a:p>
          <a:p xmlns:a="http://schemas.openxmlformats.org/drawingml/2006/main">
            <a:r>
              <a:t>    "중복·산식 대사",</a:t>
            </a:r>
          </a:p>
          <a:p xmlns:a="http://schemas.openxmlformats.org/drawingml/2006/main">
            <a:r>
              <a:t>    "검토·공시 판본 관리"</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"ESG 총괄·보고서",</a:t>
            </a:r>
          </a:p>
          <a:p xmlns:a="http://schemas.openxmlformats.org/drawingml/2006/main">
            <a:r>
              <a:t>      "indices": [</a:t>
            </a:r>
          </a:p>
          <a:p xmlns:a="http://schemas.openxmlformats.org/drawingml/2006/main">
            <a:r>
              <a:t>        0,</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"1. ESG․지속가능․윤리․인권경영에 관한 업무 총괄",</a:t>
            </a:r>
          </a:p>
          <a:p xmlns:a="http://schemas.openxmlformats.org/drawingml/2006/main">
            <a:r>
              <a:t>        "10. 지속가능경영보고서(ESG보고서) 발간에 관한 업무"</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"RULEWORK-1016047-1",</a:t>
            </a:r>
          </a:p>
          <a:p xmlns:a="http://schemas.openxmlformats.org/drawingml/2006/main">
            <a:r>
              <a:t>          "text": "1. ESG․지속가능․윤리․인권경영에 관한 업무 총괄",</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"RULEWORK-1016047-1-R01",</a:t>
            </a:r>
          </a:p>
          <a:p xmlns:a="http://schemas.openxmlformats.org/drawingml/2006/main">
            <a:r>
              <a:t>              "title": "업무 맥락·전용 지식 구성",</a:t>
            </a:r>
          </a:p>
          <a:p xmlns:a="http://schemas.openxmlformats.org/drawingml/2006/main">
            <a:r>
              <a:t>              "development": "지표 정의·기간별 실적·증빙 분류",</a:t>
            </a:r>
          </a:p>
          <a:p xmlns:a="http://schemas.openxmlformats.org/drawingml/2006/main">
            <a:r>
              <a:t>              "output": "지표·누락·개선·공시 검토자료",</a:t>
            </a:r>
          </a:p>
          <a:p xmlns:a="http://schemas.openxmlformats.org/drawingml/2006/main">
            <a:r>
              <a:t>              "testId": "RULEWORK-1016047-1-T01",</a:t>
            </a:r>
          </a:p>
          <a:p xmlns:a="http://schemas.openxmlformats.org/drawingml/2006/main">
            <a:r>
              <a:t>              "criterion": "분모·기간·중복 실적·주장별 증빙 대조"</a:t>
            </a:r>
          </a:p>
          <a:p xmlns:a="http://schemas.openxmlformats.org/drawingml/2006/main">
            <a:r>
              <a:t>            },</a:t>
            </a:r>
          </a:p>
          <a:p xmlns:a="http://schemas.openxmlformats.org/drawingml/2006/main">
            <a:r>
              <a:t>            {</a:t>
            </a:r>
          </a:p>
          <a:p xmlns:a="http://schemas.openxmlformats.org/drawingml/2006/main">
            <a:r>
              <a:t>              "id": "RULEWORK-1016047-1-R02",</a:t>
            </a:r>
          </a:p>
          <a:p xmlns:a="http://schemas.openxmlformats.org/drawingml/2006/main">
            <a:r>
              <a:t>              "title": "업무건·역할·시스템 연결",</a:t>
            </a:r>
          </a:p>
          <a:p xmlns:a="http://schemas.openxmlformats.org/drawingml/2006/main">
            <a:r>
              <a:t>              "development": "활동–성과–공시 근거·승인 판본 연결",</a:t>
            </a:r>
          </a:p>
          <a:p xmlns:a="http://schemas.openxmlformats.org/drawingml/2006/main">
            <a:r>
              <a:t>              "output": "업무건·원천·역할·변경 연결 명세",</a:t>
            </a:r>
          </a:p>
          <a:p xmlns:a="http://schemas.openxmlformats.org/drawingml/2006/main">
            <a:r>
              <a:t>              "testId": "RULEWORK-1016047-1-T02",</a:t>
            </a:r>
          </a:p>
          <a:p xmlns:a="http://schemas.openxmlformats.org/drawingml/2006/main">
            <a:r>
              <a:t>              "criterion": "미입증 성과·공시 수치의 확정 처리 차단"</a:t>
            </a:r>
          </a:p>
          <a:p xmlns:a="http://schemas.openxmlformats.org/drawingml/2006/main">
            <a:r>
              <a:t>            },</a:t>
            </a:r>
          </a:p>
          <a:p xmlns:a="http://schemas.openxmlformats.org/drawingml/2006/main">
            <a:r>
              <a:t>            {</a:t>
            </a:r>
          </a:p>
          <a:p xmlns:a="http://schemas.openxmlformats.org/drawingml/2006/main">
            <a:r>
              <a:t>              "id": "RULEWORK-1016047-1-R03",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"RULEWORK-1016047-13",</a:t>
            </a:r>
          </a:p>
          <a:p xmlns:a="http://schemas.openxmlformats.org/drawingml/2006/main">
            <a:r>
              <a:t>          "text": "10. 지속가능경영보고서(ESG보고서) 발간에 관한 업무",</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"RULEWORK-1016047-13-R01",</a:t>
            </a:r>
          </a:p>
          <a:p xmlns:a="http://schemas.openxmlformats.org/drawingml/2006/main">
            <a:r>
              <a:t>              "title": "업무 맥락·전용 지식 구성",</a:t>
            </a:r>
          </a:p>
          <a:p xmlns:a="http://schemas.openxmlformats.org/drawingml/2006/main">
            <a:r>
              <a:t>              "development": "지표 정의·기간별 실적·증빙 분류",</a:t>
            </a:r>
          </a:p>
          <a:p xmlns:a="http://schemas.openxmlformats.org/drawingml/2006/main">
            <a:r>
              <a:t>              "output": "지표·누락·개선·공시 검토자료",</a:t>
            </a:r>
          </a:p>
          <a:p xmlns:a="http://schemas.openxmlformats.org/drawingml/2006/main">
            <a:r>
              <a:t>              "testId": "RULEWORK-1016047-13-T01",</a:t>
            </a:r>
          </a:p>
          <a:p xmlns:a="http://schemas.openxmlformats.org/drawingml/2006/main">
            <a:r>
              <a:t>              "criterion": "분모·기간·중복 실적·주장별 증빙 대조"</a:t>
            </a:r>
          </a:p>
          <a:p xmlns:a="http://schemas.openxmlformats.org/drawingml/2006/main">
            <a:r>
              <a:t>            },</a:t>
            </a:r>
          </a:p>
          <a:p xmlns:a="http://schemas.openxmlformats.org/drawingml/2006/main">
            <a:r>
              <a:t>            {</a:t>
            </a:r>
          </a:p>
          <a:p xmlns:a="http://schemas.openxmlformats.org/drawingml/2006/main">
            <a:r>
              <a:t>              "id": "RULEWORK-1016047-13-R02",</a:t>
            </a:r>
          </a:p>
          <a:p xmlns:a="http://schemas.openxmlformats.org/drawingml/2006/main">
            <a:r>
              <a:t>              "title": "업무건·역할·시스템 연결",</a:t>
            </a:r>
          </a:p>
          <a:p xmlns:a="http://schemas.openxmlformats.org/drawingml/2006/main">
            <a:r>
              <a:t>              "development": "활동–성과–공시 근거·승인 판본 연결",</a:t>
            </a:r>
          </a:p>
          <a:p xmlns:a="http://schemas.openxmlformats.org/drawingml/2006/main">
            <a:r>
              <a:t>              "output": "업무건·원천·역할·변경 연결 명세",</a:t>
            </a:r>
          </a:p>
          <a:p xmlns:a="http://schemas.openxmlformats.org/drawingml/2006/main">
            <a:r>
              <a:t>              "testId": "RULEWORK-1016047-13-T02",</a:t>
            </a:r>
          </a:p>
          <a:p xmlns:a="http://schemas.openxmlformats.org/drawingml/2006/main">
            <a:r>
              <a:t>              "criterion": "미입증 성과·공시 수치의 확정 처리 차단"</a:t>
            </a:r>
          </a:p>
          <a:p xmlns:a="http://schemas.openxmlformats.org/drawingml/2006/main">
            <a:r>
              <a:t>            },</a:t>
            </a:r>
          </a:p>
          <a:p xmlns:a="http://schemas.openxmlformats.org/drawingml/2006/main">
            <a:r>
              <a:t>            {</a:t>
            </a:r>
          </a:p>
          <a:p xmlns:a="http://schemas.openxmlformats.org/drawingml/2006/main">
            <a:r>
              <a:t>              "id": "RULEWORK-1016047-13-R03",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"안전경영 성과관리",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안전경영 성과관리 및 안전촉진 활동에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"RULEWORK-1016043-2",</a:t>
            </a:r>
          </a:p>
          <a:p xmlns:a="http://schemas.openxmlformats.org/drawingml/2006/main">
            <a:r>
              <a:t>          "text": "2. 안전경영 성과관리 및 안전촉진 활동에 관한 업무",</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"RULEWORK-1016043-2-R01",</a:t>
            </a:r>
          </a:p>
          <a:p xmlns:a="http://schemas.openxmlformats.org/drawingml/2006/main">
            <a:r>
              <a:t>              "title": "업무 맥락·전용 지식 구성",</a:t>
            </a:r>
          </a:p>
          <a:p xmlns:a="http://schemas.openxmlformats.org/drawingml/2006/main">
            <a:r>
              <a:t>              "development": "작업·위험 유형별 기준·증빙 분류",</a:t>
            </a:r>
          </a:p>
          <a:p xmlns:a="http://schemas.openxmlformats.org/drawingml/2006/main">
            <a:r>
              <a:t>              "output": "위험·예방조치·이행·재점검표",</a:t>
            </a:r>
          </a:p>
          <a:p xmlns:a="http://schemas.openxmlformats.org/drawingml/2006/main">
            <a:r>
              <a:t>              "testId": "RULEWORK-1016043-2-T01",</a:t>
            </a:r>
          </a:p>
          <a:p xmlns:a="http://schemas.openxmlformats.org/drawingml/2006/main">
            <a:r>
              <a:t>              "criterion": "중대 위험·미이행·반복 지적의 정답 대조"</a:t>
            </a:r>
          </a:p>
          <a:p xmlns:a="http://schemas.openxmlformats.org/drawingml/2006/main">
            <a:r>
              <a:t>            },</a:t>
            </a:r>
          </a:p>
          <a:p xmlns:a="http://schemas.openxmlformats.org/drawingml/2006/main">
            <a:r>
              <a:t>            {</a:t>
            </a:r>
          </a:p>
          <a:p xmlns:a="http://schemas.openxmlformats.org/drawingml/2006/main">
            <a:r>
              <a:t>              "id": "RULEWORK-1016043-2-R02",</a:t>
            </a:r>
          </a:p>
          <a:p xmlns:a="http://schemas.openxmlformats.org/drawingml/2006/main">
            <a:r>
              <a:t>              "title": "업무건·역할·시스템 연결",</a:t>
            </a:r>
          </a:p>
          <a:p xmlns:a="http://schemas.openxmlformats.org/drawingml/2006/main">
            <a:r>
              <a:t>              "development": "개선 책임·기한·이행·재확인 연결",</a:t>
            </a:r>
          </a:p>
          <a:p xmlns:a="http://schemas.openxmlformats.org/drawingml/2006/main">
            <a:r>
              <a:t>              "output": "업무건·원천·역할·변경 연결 명세",</a:t>
            </a:r>
          </a:p>
          <a:p xmlns:a="http://schemas.openxmlformats.org/drawingml/2006/main">
            <a:r>
              <a:t>              "testId": "RULEWORK-1016043-2-T02",</a:t>
            </a:r>
          </a:p>
          <a:p xmlns:a="http://schemas.openxmlformats.org/drawingml/2006/main">
            <a:r>
              <a:t>              "criterion": "필수 조치 미완료 건의 안전 확인 처리 차단"</a:t>
            </a:r>
          </a:p>
          <a:p xmlns:a="http://schemas.openxmlformats.org/drawingml/2006/main">
            <a:r>
              <a:t>            },</a:t>
            </a:r>
          </a:p>
          <a:p xmlns:a="http://schemas.openxmlformats.org/drawingml/2006/main">
            <a:r>
              <a:t>            {</a:t>
            </a:r>
          </a:p>
          <a:p xmlns:a="http://schemas.openxmlformats.org/drawingml/2006/main">
            <a:r>
              <a:t>              "id": "RULEWORK-1016043-2-R03",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정책자료",</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"RULEWORK-1019040-6",</a:t>
            </a:r>
          </a:p>
          <a:p xmlns:a="http://schemas.openxmlformats.org/drawingml/2006/main">
            <a:r>
              <a:t>          "text": "6. 교통물류 정책관련 연구‧사업 업무",</a:t>
            </a:r>
          </a:p>
          <a:p xmlns:a="http://schemas.openxmlformats.org/drawingml/2006/main">
            <a:r>
              <a:t>          "locator": "별표4 · T40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"RULEWORK-1019040-6-R01",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"RULEWORK-1019040-6-T01",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"RULEWORK-1019040-6-R02",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"RULEWORK-1019040-6-T02",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"회계·계약 증빙",</a:t>
            </a:r>
          </a:p>
          <a:p xmlns:a="http://schemas.openxmlformats.org/drawingml/2006/main">
            <a:r>
              <a:t>      "indices": [</a:t>
            </a:r>
          </a:p>
          <a:p xmlns:a="http://schemas.openxmlformats.org/drawingml/2006/main">
            <a:r>
              <a:t>        3,</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"10. 회계․계약관련 제도개선 및 회계감사·세무조사에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"RULEWORK-1018034-4",</a:t>
            </a:r>
          </a:p>
          <a:p xmlns:a="http://schemas.openxmlformats.org/drawingml/2006/main">
            <a:r>
              <a:t>          "text": "4. 연간·월간 회계결산 및 연차 결산보고서 작성 보고",</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"RULEWORK-1018034-10",</a:t>
            </a:r>
          </a:p>
          <a:p xmlns:a="http://schemas.openxmlformats.org/drawingml/2006/main">
            <a:r>
              <a:t>          "text": "10. 회계․계약관련 제도개선 및 회계감사·세무조사에 관한 사항",</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"RULEWORK-1018034-10-R01",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"RULEWORK-1018034-10-T01",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"RULEWORK-1018034-10-R02",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"RULEWORK-1018034-10-T02",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공시 초안·근거 검색"</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"Audin·Torus의 증빙·검토 기록"</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"지표–원천–검토자 연결표",</a:t>
            </a:r>
          </a:p>
          <a:p xmlns:a="http://schemas.openxmlformats.org/drawingml/2006/main">
            <a:r>
              <a:t>    "중복 증빙·산식·공시 판본 검증"</a:t>
            </a:r>
          </a:p>
          <a:p xmlns:a="http://schemas.openxmlformats.org/drawingml/2006/main">
            <a:r>
              <a:t>  ],</a:t>
            </a:r>
          </a:p>
          <a:p xmlns:a="http://schemas.openxmlformats.org/drawingml/2006/main">
            <a:r>
              <a:t>  "acceptancePlan": {</a:t>
            </a:r>
          </a:p>
          <a:p xmlns:a="http://schemas.openxmlformats.org/drawingml/2006/main">
            <a:r>
              <a:t>    "sample": "중복 실적, 다른 기간 증빙, 근거 없는 수치",</a:t>
            </a:r>
          </a:p>
          <a:p xmlns:a="http://schemas.openxmlformats.org/drawingml/2006/main">
            <a:r>
              <a:t>    "criterion": "중복 제외·원천 재현·미비 공시 보류",</a:t>
            </a:r>
          </a:p>
          <a:p xmlns:a="http://schemas.openxmlformats.org/drawingml/2006/main">
            <a:r>
              <a:t>    "evidence": "지표별 증빙대장·계산 대사·검토 이력",</a:t>
            </a:r>
          </a:p>
          <a:p xmlns:a="http://schemas.openxmlformats.org/drawingml/2006/main">
            <a:r>
              <a:t>    "execution": "미실행"</a:t>
            </a:r>
          </a:p>
          <a:p xmlns:a="http://schemas.openxmlformats.org/drawingml/2006/main">
            <a:r>
              <a:t>  },</a:t>
            </a:r>
          </a:p>
          <a:p xmlns:a="http://schemas.openxmlformats.org/drawingml/2006/main">
            <a:r>
              <a:t>  "formula": "근거 추적 가능 지표 수 ÷ 대상 지표 수 / 공시 검토 소요시간",</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"ST-11",</a:t>
            </a:r>
          </a:p>
          <a:p xmlns:a="http://schemas.openxmlformats.org/drawingml/2006/main">
            <a:r>
              <a:t>  "number": 11,</a:t>
            </a:r>
          </a:p>
          <a:p xmlns:a="http://schemas.openxmlformats.org/drawingml/2006/main">
            <a:r>
              <a:t>  "direction": "지속가능 책임경영 이행",</a:t>
            </a:r>
          </a:p>
          <a:p xmlns:a="http://schemas.openxmlformats.org/drawingml/2006/main">
            <a:r>
              <a:t>  "strategy": "지속가능 ESG 경영성과 실현",</a:t>
            </a:r>
          </a:p>
          <a:p xmlns:a="http://schemas.openxmlformats.org/drawingml/2006/main">
            <a:r>
              <a:t>  "solution": "ESG 이행·증빙 관리",</a:t>
            </a:r>
          </a:p>
          <a:p xmlns:a="http://schemas.openxmlformats.org/drawingml/2006/main">
            <a:r>
              <a:t>  "lawIds": [],</a:t>
            </a:r>
          </a:p>
          <a:p xmlns:a="http://schemas.openxmlformats.org/drawingml/2006/main">
            <a:r>
              <a:t>  "codes": [</a:t>
            </a:r>
          </a:p>
          <a:p xmlns:a="http://schemas.openxmlformats.org/drawingml/2006/main">
            <a:r>
              <a:t>    "1016047",</a:t>
            </a:r>
          </a:p>
          <a:p xmlns:a="http://schemas.openxmlformats.org/drawingml/2006/main">
            <a:r>
              <a:t>    "1016043",</a:t>
            </a:r>
          </a:p>
          <a:p xmlns:a="http://schemas.openxmlformats.org/drawingml/2006/main">
            <a:r>
              <a:t>    "1019040",</a:t>
            </a:r>
          </a:p>
          <a:p xmlns:a="http://schemas.openxmlformats.org/drawingml/2006/main">
            <a:r>
              <a:t>    "1018034"</a:t>
            </a:r>
          </a:p>
          <a:p xmlns:a="http://schemas.openxmlformats.org/drawingml/2006/main">
            <a:r>
              <a:t>  ],</a:t>
            </a:r>
          </a:p>
          <a:p xmlns:a="http://schemas.openxmlformats.org/drawingml/2006/main">
            <a:r>
              <a:t>  "work": "ESG·사회가치·안전보건·환경 실적의 부서 협업",</a:t>
            </a:r>
          </a:p>
          <a:p xmlns:a="http://schemas.openxmlformats.org/drawingml/2006/main">
            <a:r>
              <a:t>  "features": [</a:t>
            </a:r>
          </a:p>
          <a:p xmlns:a="http://schemas.openxmlformats.org/drawingml/2006/main">
            <a:r>
              <a:t>    "지표별 정의·보고기간·증빙·책임자 연결",</a:t>
            </a:r>
          </a:p>
          <a:p xmlns:a="http://schemas.openxmlformats.org/drawingml/2006/main">
            <a:r>
              <a:t>    "이행과제·공시 항목·검토 이력 정리"</a:t>
            </a:r>
          </a:p>
          <a:p xmlns:a="http://schemas.openxmlformats.org/drawingml/2006/main">
            <a:r>
              <a:t>  ],</a:t>
            </a:r>
          </a:p>
          <a:p xmlns:a="http://schemas.openxmlformats.org/drawingml/2006/main">
            <a:r>
              <a:t>  "output": "ESG 증빙대장·공시 검토 초안",</a:t>
            </a:r>
          </a:p>
          <a:p xmlns:a="http://schemas.openxmlformats.org/drawingml/2006/main">
            <a:r>
              <a:t>  "acceptance": "공시 수치의 원천·판본 추적 및 누락/중복 증빙 식별",</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"GAI-T06",</a:t>
            </a:r>
          </a:p>
          <a:p xmlns:a="http://schemas.openxmlformats.org/drawingml/2006/main">
            <a:r>
              <a:t>    "GAI-T07",</a:t>
            </a:r>
          </a:p>
          <a:p xmlns:a="http://schemas.openxmlformats.org/drawingml/2006/main">
            <a:r>
              <a:t>    "GAI-T11"</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"ESG 총괄·보고서",</a:t>
            </a:r>
          </a:p>
          <a:p xmlns:a="http://schemas.openxmlformats.org/drawingml/2006/main">
            <a:r>
              <a:t>      "indices": [</a:t>
            </a:r>
          </a:p>
          <a:p xmlns:a="http://schemas.openxmlformats.org/drawingml/2006/main">
            <a:r>
              <a:t>        0,</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"1. ESG․지속가능․윤리․인권경영에 관한 업무 총괄",</a:t>
            </a:r>
          </a:p>
          <a:p xmlns:a="http://schemas.openxmlformats.org/drawingml/2006/main">
            <a:r>
              <a:t>        "10. 지속가능경영보고서(ESG보고서) 발간에 관한 업무"</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"안전경영 성과관리",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안전경영 성과관리 및 안전촉진 활동에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정책자료",</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"회계·계약 증빙",</a:t>
            </a:r>
          </a:p>
          <a:p xmlns:a="http://schemas.openxmlformats.org/drawingml/2006/main">
            <a:r>
              <a:t>      "indices": [</a:t>
            </a:r>
          </a:p>
          <a:p xmlns:a="http://schemas.openxmlformats.org/drawingml/2006/main">
            <a:r>
              <a:t>        3,</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"10. 회계․계약관련 제도개선 및 회계감사·세무조사에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"AX08",</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"ESG 증빙·공시 검토 지원",</a:t>
            </a:r>
          </a:p>
          <a:p xmlns:a="http://schemas.openxmlformats.org/drawingml/2006/main">
            <a:r>
              <a:t>  "delta": "지표별 산식·원천·검토자·변경 이력 연결",</a:t>
            </a:r>
          </a:p>
          <a:p xmlns:a="http://schemas.openxmlformats.org/drawingml/2006/main">
            <a:r>
              <a:t>  "kpi": "증빙 누락률 / 공시 검토시간",</a:t>
            </a:r>
          </a:p>
          <a:p xmlns:a="http://schemas.openxmlformats.org/drawingml/2006/main">
            <a:r>
              <a:t>  "validation": "산식·원문 불일치와 보고 누락 주입 시험",</a:t>
            </a:r>
          </a:p>
          <a:p xmlns:a="http://schemas.openxmlformats.org/drawingml/2006/main">
            <a:r>
              <a:t>  "requirement": "BM-ST-11-R01",</a:t>
            </a:r>
          </a:p>
          <a:p xmlns:a="http://schemas.openxmlformats.org/drawingml/2006/main">
            <a:r>
              <a:t>  "test": "BM-ST-11-T01",</a:t>
            </a:r>
          </a:p>
          <a:p xmlns:a="http://schemas.openxmlformats.org/drawingml/2006/main">
            <a:r>
              <a:t>  "effectStatus": "기대 방향 · TS 실측 전",</a:t>
            </a:r>
          </a:p>
          <a:p xmlns:a="http://schemas.openxmlformats.org/drawingml/2006/main">
            <a:r>
              <a:t>  "effect": "공시 근거 누락·검토시간 감소",</a:t>
            </a:r>
          </a:p>
          <a:p xmlns:a="http://schemas.openxmlformats.org/drawingml/2006/main">
            <a:r>
              <a:t>  "reuse": "ON27-BASE / C27-COM + CCK 재사용 판정 기능",</a:t>
            </a:r>
          </a:p>
          <a:p xmlns:a="http://schemas.openxmlformats.org/drawingml/2006/main">
            <a:r>
              <a:t>  "input": "ESG 지표 정의, 환경·안전·사회가치 실적, 공시 근거",</a:t>
            </a:r>
          </a:p>
          <a:p xmlns:a="http://schemas.openxmlformats.org/drawingml/2006/main">
            <a:r>
              <a:t>  "steps": [</a:t>
            </a:r>
          </a:p>
          <a:p xmlns:a="http://schemas.openxmlformats.org/drawingml/2006/main">
            <a:r>
              <a:t>    "지표·기간·담당 연결",</a:t>
            </a:r>
          </a:p>
          <a:p xmlns:a="http://schemas.openxmlformats.org/drawingml/2006/main">
            <a:r>
              <a:t>    "원천 증빙 수집",</a:t>
            </a:r>
          </a:p>
          <a:p xmlns:a="http://schemas.openxmlformats.org/drawingml/2006/main">
            <a:r>
              <a:t>    "중복·산식 대사",</a:t>
            </a:r>
          </a:p>
          <a:p xmlns:a="http://schemas.openxmlformats.org/drawingml/2006/main">
            <a:r>
              <a:t>    "검토·공시 판본 관리"</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"ESG 총괄·보고서",</a:t>
            </a:r>
          </a:p>
          <a:p xmlns:a="http://schemas.openxmlformats.org/drawingml/2006/main">
            <a:r>
              <a:t>      "indices": [</a:t>
            </a:r>
          </a:p>
          <a:p xmlns:a="http://schemas.openxmlformats.org/drawingml/2006/main">
            <a:r>
              <a:t>        0,</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"1. ESG․지속가능․윤리․인권경영에 관한 업무 총괄",</a:t>
            </a:r>
          </a:p>
          <a:p xmlns:a="http://schemas.openxmlformats.org/drawingml/2006/main">
            <a:r>
              <a:t>        "10. 지속가능경영보고서(ESG보고서) 발간에 관한 업무"</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"RULEWORK-1016047-1",</a:t>
            </a:r>
          </a:p>
          <a:p xmlns:a="http://schemas.openxmlformats.org/drawingml/2006/main">
            <a:r>
              <a:t>          "text": "1. ESG․지속가능․윤리․인권경영에 관한 업무 총괄",</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"RULEWORK-1016047-1-R01",</a:t>
            </a:r>
          </a:p>
          <a:p xmlns:a="http://schemas.openxmlformats.org/drawingml/2006/main">
            <a:r>
              <a:t>              "title": "업무 맥락·전용 지식 구성",</a:t>
            </a:r>
          </a:p>
          <a:p xmlns:a="http://schemas.openxmlformats.org/drawingml/2006/main">
            <a:r>
              <a:t>              "development": "지표 정의·기간별 실적·증빙 분류",</a:t>
            </a:r>
          </a:p>
          <a:p xmlns:a="http://schemas.openxmlformats.org/drawingml/2006/main">
            <a:r>
              <a:t>              "output": "지표·누락·개선·공시 검토자료",</a:t>
            </a:r>
          </a:p>
          <a:p xmlns:a="http://schemas.openxmlformats.org/drawingml/2006/main">
            <a:r>
              <a:t>              "testId": "RULEWORK-1016047-1-T01",</a:t>
            </a:r>
          </a:p>
          <a:p xmlns:a="http://schemas.openxmlformats.org/drawingml/2006/main">
            <a:r>
              <a:t>              "criterion": "분모·기간·중복 실적·주장별 증빙 대조"</a:t>
            </a:r>
          </a:p>
          <a:p xmlns:a="http://schemas.openxmlformats.org/drawingml/2006/main">
            <a:r>
              <a:t>            },</a:t>
            </a:r>
          </a:p>
          <a:p xmlns:a="http://schemas.openxmlformats.org/drawingml/2006/main">
            <a:r>
              <a:t>            {</a:t>
            </a:r>
          </a:p>
          <a:p xmlns:a="http://schemas.openxmlformats.org/drawingml/2006/main">
            <a:r>
              <a:t>              "id": "RULEWORK-1016047-1-R02",</a:t>
            </a:r>
          </a:p>
          <a:p xmlns:a="http://schemas.openxmlformats.org/drawingml/2006/main">
            <a:r>
              <a:t>              "title": "업무건·역할·시스템 연결",</a:t>
            </a:r>
          </a:p>
          <a:p xmlns:a="http://schemas.openxmlformats.org/drawingml/2006/main">
            <a:r>
              <a:t>              "development": "활동–성과–공시 근거·승인 판본 연결",</a:t>
            </a:r>
          </a:p>
          <a:p xmlns:a="http://schemas.openxmlformats.org/drawingml/2006/main">
            <a:r>
              <a:t>              "output": "업무건·원천·역할·변경 연결 명세",</a:t>
            </a:r>
          </a:p>
          <a:p xmlns:a="http://schemas.openxmlformats.org/drawingml/2006/main">
            <a:r>
              <a:t>              "testId": "RULEWORK-1016047-1-T02",</a:t>
            </a:r>
          </a:p>
          <a:p xmlns:a="http://schemas.openxmlformats.org/drawingml/2006/main">
            <a:r>
              <a:t>              "criterion": "미입증 성과·공시 수치의 확정 처리 차단"</a:t>
            </a:r>
          </a:p>
          <a:p xmlns:a="http://schemas.openxmlformats.org/drawingml/2006/main">
            <a:r>
              <a:t>            },</a:t>
            </a:r>
          </a:p>
          <a:p xmlns:a="http://schemas.openxmlformats.org/drawingml/2006/main">
            <a:r>
              <a:t>            {</a:t>
            </a:r>
          </a:p>
          <a:p xmlns:a="http://schemas.openxmlformats.org/drawingml/2006/main">
            <a:r>
              <a:t>              "id": "RULEWORK-1016047-1-R03",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"RULEWORK-1016047-13",</a:t>
            </a:r>
          </a:p>
          <a:p xmlns:a="http://schemas.openxmlformats.org/drawingml/2006/main">
            <a:r>
              <a:t>          "text": "10. 지속가능경영보고서(ESG보고서) 발간에 관한 업무",</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"RULEWORK-1016047-13-R01",</a:t>
            </a:r>
          </a:p>
          <a:p xmlns:a="http://schemas.openxmlformats.org/drawingml/2006/main">
            <a:r>
              <a:t>              "title": "업무 맥락·전용 지식 구성",</a:t>
            </a:r>
          </a:p>
          <a:p xmlns:a="http://schemas.openxmlformats.org/drawingml/2006/main">
            <a:r>
              <a:t>              "development": "지표 정의·기간별 실적·증빙 분류",</a:t>
            </a:r>
          </a:p>
          <a:p xmlns:a="http://schemas.openxmlformats.org/drawingml/2006/main">
            <a:r>
              <a:t>              "output": "지표·누락·개선·공시 검토자료",</a:t>
            </a:r>
          </a:p>
          <a:p xmlns:a="http://schemas.openxmlformats.org/drawingml/2006/main">
            <a:r>
              <a:t>              "testId": "RULEWORK-1016047-13-T01",</a:t>
            </a:r>
          </a:p>
          <a:p xmlns:a="http://schemas.openxmlformats.org/drawingml/2006/main">
            <a:r>
              <a:t>              "criterion": "분모·기간·중복 실적·주장별 증빙 대조"</a:t>
            </a:r>
          </a:p>
          <a:p xmlns:a="http://schemas.openxmlformats.org/drawingml/2006/main">
            <a:r>
              <a:t>            },</a:t>
            </a:r>
          </a:p>
          <a:p xmlns:a="http://schemas.openxmlformats.org/drawingml/2006/main">
            <a:r>
              <a:t>            {</a:t>
            </a:r>
          </a:p>
          <a:p xmlns:a="http://schemas.openxmlformats.org/drawingml/2006/main">
            <a:r>
              <a:t>              "id": "RULEWORK-1016047-13-R02",</a:t>
            </a:r>
          </a:p>
          <a:p xmlns:a="http://schemas.openxmlformats.org/drawingml/2006/main">
            <a:r>
              <a:t>              "title": "업무건·역할·시스템 연결",</a:t>
            </a:r>
          </a:p>
          <a:p xmlns:a="http://schemas.openxmlformats.org/drawingml/2006/main">
            <a:r>
              <a:t>              "development": "활동–성과–공시 근거·승인 판본 연결",</a:t>
            </a:r>
          </a:p>
          <a:p xmlns:a="http://schemas.openxmlformats.org/drawingml/2006/main">
            <a:r>
              <a:t>              "output": "업무건·원천·역할·변경 연결 명세",</a:t>
            </a:r>
          </a:p>
          <a:p xmlns:a="http://schemas.openxmlformats.org/drawingml/2006/main">
            <a:r>
              <a:t>              "testId": "RULEWORK-1016047-13-T02",</a:t>
            </a:r>
          </a:p>
          <a:p xmlns:a="http://schemas.openxmlformats.org/drawingml/2006/main">
            <a:r>
              <a:t>              "criterion": "미입증 성과·공시 수치의 확정 처리 차단"</a:t>
            </a:r>
          </a:p>
          <a:p xmlns:a="http://schemas.openxmlformats.org/drawingml/2006/main">
            <a:r>
              <a:t>            },</a:t>
            </a:r>
          </a:p>
          <a:p xmlns:a="http://schemas.openxmlformats.org/drawingml/2006/main">
            <a:r>
              <a:t>            {</a:t>
            </a:r>
          </a:p>
          <a:p xmlns:a="http://schemas.openxmlformats.org/drawingml/2006/main">
            <a:r>
              <a:t>              "id": "RULEWORK-1016047-13-R03",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"안전경영 성과관리",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안전경영 성과관리 및 안전촉진 활동에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"RULEWORK-1016043-2",</a:t>
            </a:r>
          </a:p>
          <a:p xmlns:a="http://schemas.openxmlformats.org/drawingml/2006/main">
            <a:r>
              <a:t>          "text": "2. 안전경영 성과관리 및 안전촉진 활동에 관한 업무",</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"RULEWORK-1016043-2-R01",</a:t>
            </a:r>
          </a:p>
          <a:p xmlns:a="http://schemas.openxmlformats.org/drawingml/2006/main">
            <a:r>
              <a:t>              "title": "업무 맥락·전용 지식 구성",</a:t>
            </a:r>
          </a:p>
          <a:p xmlns:a="http://schemas.openxmlformats.org/drawingml/2006/main">
            <a:r>
              <a:t>              "development": "작업·위험 유형별 기준·증빙 분류",</a:t>
            </a:r>
          </a:p>
          <a:p xmlns:a="http://schemas.openxmlformats.org/drawingml/2006/main">
            <a:r>
              <a:t>              "output": "위험·예방조치·이행·재점검표",</a:t>
            </a:r>
          </a:p>
          <a:p xmlns:a="http://schemas.openxmlformats.org/drawingml/2006/main">
            <a:r>
              <a:t>              "testId": "RULEWORK-1016043-2-T01",</a:t>
            </a:r>
          </a:p>
          <a:p xmlns:a="http://schemas.openxmlformats.org/drawingml/2006/main">
            <a:r>
              <a:t>              "criterion": "중대 위험·미이행·반복 지적의 정답 대조"</a:t>
            </a:r>
          </a:p>
          <a:p xmlns:a="http://schemas.openxmlformats.org/drawingml/2006/main">
            <a:r>
              <a:t>            },</a:t>
            </a:r>
          </a:p>
          <a:p xmlns:a="http://schemas.openxmlformats.org/drawingml/2006/main">
            <a:r>
              <a:t>            {</a:t>
            </a:r>
          </a:p>
          <a:p xmlns:a="http://schemas.openxmlformats.org/drawingml/2006/main">
            <a:r>
              <a:t>              "id": "RULEWORK-1016043-2-R02",</a:t>
            </a:r>
          </a:p>
          <a:p xmlns:a="http://schemas.openxmlformats.org/drawingml/2006/main">
            <a:r>
              <a:t>              "title": "업무건·역할·시스템 연결",</a:t>
            </a:r>
          </a:p>
          <a:p xmlns:a="http://schemas.openxmlformats.org/drawingml/2006/main">
            <a:r>
              <a:t>              "development": "개선 책임·기한·이행·재확인 연결",</a:t>
            </a:r>
          </a:p>
          <a:p xmlns:a="http://schemas.openxmlformats.org/drawingml/2006/main">
            <a:r>
              <a:t>              "output": "업무건·원천·역할·변경 연결 명세",</a:t>
            </a:r>
          </a:p>
          <a:p xmlns:a="http://schemas.openxmlformats.org/drawingml/2006/main">
            <a:r>
              <a:t>              "testId": "RULEWORK-1016043-2-T02",</a:t>
            </a:r>
          </a:p>
          <a:p xmlns:a="http://schemas.openxmlformats.org/drawingml/2006/main">
            <a:r>
              <a:t>              "criterion": "필수 조치 미완료 건의 안전 확인 처리 차단"</a:t>
            </a:r>
          </a:p>
          <a:p xmlns:a="http://schemas.openxmlformats.org/drawingml/2006/main">
            <a:r>
              <a:t>            },</a:t>
            </a:r>
          </a:p>
          <a:p xmlns:a="http://schemas.openxmlformats.org/drawingml/2006/main">
            <a:r>
              <a:t>            {</a:t>
            </a:r>
          </a:p>
          <a:p xmlns:a="http://schemas.openxmlformats.org/drawingml/2006/main">
            <a:r>
              <a:t>              "id": "RULEWORK-1016043-2-R03",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정책자료",</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"RULEWORK-1019040-6",</a:t>
            </a:r>
          </a:p>
          <a:p xmlns:a="http://schemas.openxmlformats.org/drawingml/2006/main">
            <a:r>
              <a:t>          "text": "6. 교통물류 정책관련 연구‧사업 업무",</a:t>
            </a:r>
          </a:p>
          <a:p xmlns:a="http://schemas.openxmlformats.org/drawingml/2006/main">
            <a:r>
              <a:t>          "locator": "별표4 · T40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"RULEWORK-1019040-6-R01",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"RULEWORK-1019040-6-T01",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"RULEWORK-1019040-6-R02",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"RULEWORK-1019040-6-T02",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"회계·계약 증빙",</a:t>
            </a:r>
          </a:p>
          <a:p xmlns:a="http://schemas.openxmlformats.org/drawingml/2006/main">
            <a:r>
              <a:t>      "indices": [</a:t>
            </a:r>
          </a:p>
          <a:p xmlns:a="http://schemas.openxmlformats.org/drawingml/2006/main">
            <a:r>
              <a:t>        3,</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"10. 회계․계약관련 제도개선 및 회계감사·세무조사에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"RULEWORK-1018034-4",</a:t>
            </a:r>
          </a:p>
          <a:p xmlns:a="http://schemas.openxmlformats.org/drawingml/2006/main">
            <a:r>
              <a:t>          "text": "4. 연간·월간 회계결산 및 연차 결산보고서 작성 보고",</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"RULEWORK-1018034-10",</a:t>
            </a:r>
          </a:p>
          <a:p xmlns:a="http://schemas.openxmlformats.org/drawingml/2006/main">
            <a:r>
              <a:t>          "text": "10. 회계․계약관련 제도개선 및 회계감사·세무조사에 관한 사항",</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"RULEWORK-1018034-10-R01",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"RULEWORK-1018034-10-T01",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"RULEWORK-1018034-10-R02",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"RULEWORK-1018034-10-T02",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공시 초안·근거 검색"</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"Audin·Torus의 증빙·검토 기록"</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"지표–원천–검토자 연결표",</a:t>
            </a:r>
          </a:p>
          <a:p xmlns:a="http://schemas.openxmlformats.org/drawingml/2006/main">
            <a:r>
              <a:t>    "중복 증빙·산식·공시 판본 검증"</a:t>
            </a:r>
          </a:p>
          <a:p xmlns:a="http://schemas.openxmlformats.org/drawingml/2006/main">
            <a:r>
              <a:t>  ],</a:t>
            </a:r>
          </a:p>
          <a:p xmlns:a="http://schemas.openxmlformats.org/drawingml/2006/main">
            <a:r>
              <a:t>  "acceptancePlan": {</a:t>
            </a:r>
          </a:p>
          <a:p xmlns:a="http://schemas.openxmlformats.org/drawingml/2006/main">
            <a:r>
              <a:t>    "sample": "중복 실적, 다른 기간 증빙, 근거 없는 수치",</a:t>
            </a:r>
          </a:p>
          <a:p xmlns:a="http://schemas.openxmlformats.org/drawingml/2006/main">
            <a:r>
              <a:t>    "criterion": "중복 제외·원천 재현·미비 공시 보류",</a:t>
            </a:r>
          </a:p>
          <a:p xmlns:a="http://schemas.openxmlformats.org/drawingml/2006/main">
            <a:r>
              <a:t>    "evidence": "지표별 증빙대장·계산 대사·검토 이력",</a:t>
            </a:r>
          </a:p>
          <a:p xmlns:a="http://schemas.openxmlformats.org/drawingml/2006/main">
            <a:r>
              <a:t>    "execution": "미실행"</a:t>
            </a:r>
          </a:p>
          <a:p xmlns:a="http://schemas.openxmlformats.org/drawingml/2006/main">
            <a:r>
              <a:t>  },</a:t>
            </a:r>
          </a:p>
          <a:p xmlns:a="http://schemas.openxmlformats.org/drawingml/2006/main">
            <a:r>
              <a:t>  "formula": "근거 추적 가능 지표 수 ÷ 대상 지표 수 / 공시 검토 소요시간",</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"ST-12",</a:t>
            </a:r>
          </a:p>
          <a:p xmlns:a="http://schemas.openxmlformats.org/drawingml/2006/main">
            <a:r>
              <a:t>  "number": 12,</a:t>
            </a:r>
          </a:p>
          <a:p xmlns:a="http://schemas.openxmlformats.org/drawingml/2006/main">
            <a:r>
              <a:t>  "direction": "지속가능 책임경영 이행",</a:t>
            </a:r>
          </a:p>
          <a:p xmlns:a="http://schemas.openxmlformats.org/drawingml/2006/main">
            <a:r>
              <a:t>  "strategy": "자율·참여·소통·공정 조직문화 조성",</a:t>
            </a:r>
          </a:p>
          <a:p xmlns:a="http://schemas.openxmlformats.org/drawingml/2006/main">
            <a:r>
              <a:t>  "solution": "조직 협업·인수인계 지원",</a:t>
            </a:r>
          </a:p>
          <a:p xmlns:a="http://schemas.openxmlformats.org/drawingml/2006/main">
            <a:r>
              <a:t>  "lawIds": [],</a:t>
            </a:r>
          </a:p>
          <a:p xmlns:a="http://schemas.openxmlformats.org/drawingml/2006/main">
            <a:r>
              <a:t>  "codes": [</a:t>
            </a:r>
          </a:p>
          <a:p xmlns:a="http://schemas.openxmlformats.org/drawingml/2006/main">
            <a:r>
              <a:t>    "1018037",</a:t>
            </a:r>
          </a:p>
          <a:p xmlns:a="http://schemas.openxmlformats.org/drawingml/2006/main">
            <a:r>
              <a:t>    "1018030",</a:t>
            </a:r>
          </a:p>
          <a:p xmlns:a="http://schemas.openxmlformats.org/drawingml/2006/main">
            <a:r>
              <a:t>    "1016047",</a:t>
            </a:r>
          </a:p>
          <a:p xmlns:a="http://schemas.openxmlformats.org/drawingml/2006/main">
            <a:r>
              <a:t>    "1019600"</a:t>
            </a:r>
          </a:p>
          <a:p xmlns:a="http://schemas.openxmlformats.org/drawingml/2006/main">
            <a:r>
              <a:t>  ],</a:t>
            </a:r>
          </a:p>
          <a:p xmlns:a="http://schemas.openxmlformats.org/drawingml/2006/main">
            <a:r>
              <a:t>  "work": "업무분장·담당자 탐색·인수인계·조직 지식 공유",</a:t>
            </a:r>
          </a:p>
          <a:p xmlns:a="http://schemas.openxmlformats.org/drawingml/2006/main">
            <a:r>
              <a:t>  "features": [</a:t>
            </a:r>
          </a:p>
          <a:p xmlns:a="http://schemas.openxmlformats.org/drawingml/2006/main">
            <a:r>
              <a:t>    "소속·직무·겸직에 따른 업무 지식 연결",</a:t>
            </a:r>
          </a:p>
          <a:p xmlns:a="http://schemas.openxmlformats.org/drawingml/2006/main">
            <a:r>
              <a:t>    "이동·대행·협업 요청의 인계·수락 관리"</a:t>
            </a:r>
          </a:p>
          <a:p xmlns:a="http://schemas.openxmlformats.org/drawingml/2006/main">
            <a:r>
              <a:t>  ],</a:t>
            </a:r>
          </a:p>
          <a:p xmlns:a="http://schemas.openxmlformats.org/drawingml/2006/main">
            <a:r>
              <a:t>  "output": "직무별 안내·인수인계 묶음",</a:t>
            </a:r>
          </a:p>
          <a:p xmlns:a="http://schemas.openxmlformats.org/drawingml/2006/main">
            <a:r>
              <a:t>  "acceptance": "인사이동 후 소속/권한 회수·겸직 맥락 확인·민감정보 최소수집 검증",</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"인사·직무교육",</a:t>
            </a:r>
          </a:p>
          <a:p xmlns:a="http://schemas.openxmlformats.org/drawingml/2006/main">
            <a:r>
              <a:t>      "indices": [</a:t>
            </a:r>
          </a:p>
          <a:p xmlns:a="http://schemas.openxmlformats.org/drawingml/2006/main">
            <a:r>
              <a:t>        2,</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"9. 직무교육, 계층교육, 자기계발교육 등 교육훈련 업무 총괄"</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"문서·노사관계",</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"6. 임금․단체협약 등 노사관계 업무에 관한 사항"</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"기업문화·내부 소통",</a:t>
            </a:r>
          </a:p>
          <a:p xmlns:a="http://schemas.openxmlformats.org/drawingml/2006/main">
            <a:r>
              <a:t>      "indices":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"duties": [</a:t>
            </a:r>
          </a:p>
          <a:p xmlns:a="http://schemas.openxmlformats.org/drawingml/2006/main">
            <a:r>
              <a:t>        "8. 기업문화에 관한 업무",</a:t>
            </a:r>
          </a:p>
          <a:p xmlns:a="http://schemas.openxmlformats.org/drawingml/2006/main">
            <a:r>
              <a:t>        "- 내부 소통 채널 운영"</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역량강화",</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임직원 인공지능(AI) 역량강화 교육 및 역량진단"</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"AX02",</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협업·참여·공정성 지원",</a:t>
            </a:r>
          </a:p>
          <a:p xmlns:a="http://schemas.openxmlformats.org/drawingml/2006/main">
            <a:r>
              <a:t>  "delta": "역할별 인계·평가 피드백·이의제기 보호",</a:t>
            </a:r>
          </a:p>
          <a:p xmlns:a="http://schemas.openxmlformats.org/drawingml/2006/main">
            <a:r>
              <a:t>  "kpi": "인계 완료시간 / 부서별 오류율 편차",</a:t>
            </a:r>
          </a:p>
          <a:p xmlns:a="http://schemas.openxmlformats.org/drawingml/2006/main">
            <a:r>
              <a:t>  "validation": "겸직·대행·전보·접근 회수·의견 보호 시험",</a:t>
            </a:r>
          </a:p>
          <a:p xmlns:a="http://schemas.openxmlformats.org/drawingml/2006/main">
            <a:r>
              <a:t>  "requirement": "BM-ST-12-R01",</a:t>
            </a:r>
          </a:p>
          <a:p xmlns:a="http://schemas.openxmlformats.org/drawingml/2006/main">
            <a:r>
              <a:t>  "test": "BM-ST-12-T01",</a:t>
            </a:r>
          </a:p>
          <a:p xmlns:a="http://schemas.openxmlformats.org/drawingml/2006/main">
            <a:r>
              <a:t>  "effectStatus": "기대 방향 · TS 실측 전",</a:t>
            </a:r>
          </a:p>
          <a:p xmlns:a="http://schemas.openxmlformats.org/drawingml/2006/main">
            <a:r>
              <a:t>  "effect": "인계 누락·담당자 탐색시간 감소",</a:t>
            </a:r>
          </a:p>
          <a:p xmlns:a="http://schemas.openxmlformats.org/drawingml/2006/main">
            <a:r>
              <a:t>  "reuse": "ON27-BASE / C27-COM + CCK 재사용 판정 기능",</a:t>
            </a:r>
          </a:p>
          <a:p xmlns:a="http://schemas.openxmlformats.org/drawingml/2006/main">
            <a:r>
              <a:t>  "input": "직무분장·인사변경, 인계 대상 업무, 교육·참여 기록",</a:t>
            </a:r>
          </a:p>
          <a:p xmlns:a="http://schemas.openxmlformats.org/drawingml/2006/main">
            <a:r>
              <a:t>  "steps": [</a:t>
            </a:r>
          </a:p>
          <a:p xmlns:a="http://schemas.openxmlformats.org/drawingml/2006/main">
            <a:r>
              <a:t>    "직무·역할·변경일 확인",</a:t>
            </a:r>
          </a:p>
          <a:p xmlns:a="http://schemas.openxmlformats.org/drawingml/2006/main">
            <a:r>
              <a:t>    "허용 인계자료 구성",</a:t>
            </a:r>
          </a:p>
          <a:p xmlns:a="http://schemas.openxmlformats.org/drawingml/2006/main">
            <a:r>
              <a:t>    "협업 요청·수락 추적",</a:t>
            </a:r>
          </a:p>
          <a:p xmlns:a="http://schemas.openxmlformats.org/drawingml/2006/main">
            <a:r>
              <a:t>    "권한 회수·이의 확인"</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"인사·직무교육",</a:t>
            </a:r>
          </a:p>
          <a:p xmlns:a="http://schemas.openxmlformats.org/drawingml/2006/main">
            <a:r>
              <a:t>      "indices": [</a:t>
            </a:r>
          </a:p>
          <a:p xmlns:a="http://schemas.openxmlformats.org/drawingml/2006/main">
            <a:r>
              <a:t>        2,</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"9. 직무교육, 계층교육, 자기계발교육 등 교육훈련 업무 총괄"</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"RULEWORK-1018037-9",</a:t>
            </a:r>
          </a:p>
          <a:p xmlns:a="http://schemas.openxmlformats.org/drawingml/2006/main">
            <a:r>
              <a:t>          "text": "9. 직무교육, 계층교육, 자기계발교육 등 교육훈련 업무 총괄",</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"RULEWORK-1018037-9-R01",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"RULEWORK-1018037-9-T01",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"RULEWORK-1018037-9-R02",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"RULEWORK-1018037-9-T02",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"RULEWORK-1018037-9-R03",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"RULEWORK-1018037-9-T03",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"문서·노사관계",</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"6. 임금․단체협약 등 노사관계 업무에 관한 사항"</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"RULEWORK-1018030-4",</a:t>
            </a:r>
          </a:p>
          <a:p xmlns:a="http://schemas.openxmlformats.org/drawingml/2006/main">
            <a:r>
              <a:t>          "text": "4. 문서의 접수·분류·수발·처리 및 보존관리",</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"RULEWORK-1018030-4-R01",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"RULEWORK-1018030-4-T01",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"RULEWORK-1018030-4-R02",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"RULEWORK-1018030-4-T02",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"RULEWORK-1018030-4-R03",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"RULEWORK-1018030-6",</a:t>
            </a:r>
          </a:p>
          <a:p xmlns:a="http://schemas.openxmlformats.org/drawingml/2006/main">
            <a:r>
              <a:t>          "text": "6. 임금․단체협약 등 노사관계 업무에 관한 사항",</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"RULEWORK-1018030-6-R01",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"RULEWORK-1018030-6-T01",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"RULEWORK-1018030-6-R02",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"RULEWORK-1018030-6-T02",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"RULEWORK-1018030-6-R03",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"기업문화·내부 소통",</a:t>
            </a:r>
          </a:p>
          <a:p xmlns:a="http://schemas.openxmlformats.org/drawingml/2006/main">
            <a:r>
              <a:t>      "indices":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"duties": [</a:t>
            </a:r>
          </a:p>
          <a:p xmlns:a="http://schemas.openxmlformats.org/drawingml/2006/main">
            <a:r>
              <a:t>        "8. 기업문화에 관한 업무",</a:t>
            </a:r>
          </a:p>
          <a:p xmlns:a="http://schemas.openxmlformats.org/drawingml/2006/main">
            <a:r>
              <a:t>        "- 내부 소통 채널 운영"</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"RULEWORK-1016047-10",</a:t>
            </a:r>
          </a:p>
          <a:p xmlns:a="http://schemas.openxmlformats.org/drawingml/2006/main">
            <a:r>
              <a:t>          "text": "8. 기업문화에 관한 업무",</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"RULEWORK-1016047-10-R01",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"RULEWORK-1016047-10-T01",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"RULEWORK-1016047-10-R02",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"RULEWORK-1016047-10-T02",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"RULEWORK-1016047-10-R03",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"RULEWORK-1016047-11",</a:t>
            </a:r>
          </a:p>
          <a:p xmlns:a="http://schemas.openxmlformats.org/drawingml/2006/main">
            <a:r>
              <a:t>          "text": "- 내부 소통 채널 운영",</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"RULEWORK-1016047-11-R01",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"RULEWORK-1016047-11-T01",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"RULEWORK-1016047-11-R02",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"RULEWORK-1016047-11-T02",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"RULEWORK-1016047-11-R03",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역량강화",</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임직원 인공지능(AI) 역량강화 교육 및 역량진단"</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"RULEWORK-1019600-6",</a:t>
            </a:r>
          </a:p>
          <a:p xmlns:a="http://schemas.openxmlformats.org/drawingml/2006/main">
            <a:r>
              <a:t>          "text": "6. 임직원 인공지능(AI) 역량강화 교육 및 역량진단",</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"RULEWORK-1019600-6-R01",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"RULEWORK-1019600-6-T01",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"RULEWORK-1019600-6-R02",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"RULEWORK-1019600-6-T02",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"RULEWORK-1019600-6-R03",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직무 지식 검색·요약"</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"Foundry·Torus의 인계 절차·기록 명세"</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"겸직·대행·전보별 인계 규칙",</a:t>
            </a:r>
          </a:p>
          <a:p xmlns:a="http://schemas.openxmlformats.org/drawingml/2006/main">
            <a:r>
              <a:t>    "민감 의견 분리·수락/회수 추적"</a:t>
            </a:r>
          </a:p>
          <a:p xmlns:a="http://schemas.openxmlformats.org/drawingml/2006/main">
            <a:r>
              <a:t>  ],</a:t>
            </a:r>
          </a:p>
          <a:p xmlns:a="http://schemas.openxmlformats.org/drawingml/2006/main">
            <a:r>
              <a:t>  "acceptancePlan": {</a:t>
            </a:r>
          </a:p>
          <a:p xmlns:a="http://schemas.openxmlformats.org/drawingml/2006/main">
            <a:r>
              <a:t>    "sample": "전보 당일, 기간 만료 대행, 민감 의견, 미수락 인계",</a:t>
            </a:r>
          </a:p>
          <a:p xmlns:a="http://schemas.openxmlformats.org/drawingml/2006/main">
            <a:r>
              <a:t>    "criterion": "전임 접근 회수·겸직 맥락 확인·의견 비노출·미수락 유지",</a:t>
            </a:r>
          </a:p>
          <a:p xmlns:a="http://schemas.openxmlformats.org/drawingml/2006/main">
            <a:r>
              <a:t>    "evidence": "변경 전후 권한표·인계 수락 기록·거부셋 결과",</a:t>
            </a:r>
          </a:p>
          <a:p xmlns:a="http://schemas.openxmlformats.org/drawingml/2006/main">
            <a:r>
              <a:t>    "execution": "미실행"</a:t>
            </a:r>
          </a:p>
          <a:p xmlns:a="http://schemas.openxmlformats.org/drawingml/2006/main">
            <a:r>
              <a:t>  },</a:t>
            </a:r>
          </a:p>
          <a:p xmlns:a="http://schemas.openxmlformats.org/drawingml/2006/main">
            <a:r>
              <a:t>  "formula": "인계 수락까지 소요시간 / 누락 업무 수 ÷ 대상 업무 수 / 부서별 오류율 차이",</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"PF-R02",</a:t>
            </a:r>
          </a:p>
          <a:p xmlns:a="http://schemas.openxmlformats.org/drawingml/2006/main">
            <a:r>
              <a:t>    "PF-R06",</a:t>
            </a:r>
          </a:p>
          <a:p xmlns:a="http://schemas.openxmlformats.org/drawingml/2006/main">
            <a:r>
              <a:t>    "PF05",</a:t>
            </a:r>
          </a:p>
          <a:p xmlns:a="http://schemas.openxmlformats.org/drawingml/2006/main">
            <a:r>
              <a:t>    "PF-A08",</a:t>
            </a:r>
          </a:p>
          <a:p xmlns:a="http://schemas.openxmlformats.org/drawingml/2006/main">
            <a:r>
              <a:t>    "PF-A09",</a:t>
            </a:r>
          </a:p>
          <a:p xmlns:a="http://schemas.openxmlformats.org/drawingml/2006/main">
            <a:r>
              <a:t>    "PF-A13",</a:t>
            </a:r>
          </a:p>
          <a:p xmlns:a="http://schemas.openxmlformats.org/drawingml/2006/main">
            <a:r>
              <a:t>    "PF-A14",</a:t>
            </a:r>
          </a:p>
          <a:p xmlns:a="http://schemas.openxmlformats.org/drawingml/2006/main">
            <a:r>
              <a:t>    "PF-A15",</a:t>
            </a:r>
          </a:p>
          <a:p xmlns:a="http://schemas.openxmlformats.org/drawingml/2006/main">
            <a:r>
              <a:t>    "PF08",</a:t>
            </a:r>
          </a:p>
          <a:p xmlns:a="http://schemas.openxmlformats.org/drawingml/2006/main">
            <a:r>
              <a:t>    "PF-C01",</a:t>
            </a:r>
          </a:p>
          <a:p xmlns:a="http://schemas.openxmlformats.org/drawingml/2006/main">
            <a:r>
              <a:t>    "PF-C02",</a:t>
            </a:r>
          </a:p>
          <a:p xmlns:a="http://schemas.openxmlformats.org/drawingml/2006/main">
            <a:r>
              <a:t>    "PF-C03"</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"ST-12",</a:t>
            </a:r>
          </a:p>
          <a:p xmlns:a="http://schemas.openxmlformats.org/drawingml/2006/main">
            <a:r>
              <a:t>  "number": 12,</a:t>
            </a:r>
          </a:p>
          <a:p xmlns:a="http://schemas.openxmlformats.org/drawingml/2006/main">
            <a:r>
              <a:t>  "direction": "지속가능 책임경영 이행",</a:t>
            </a:r>
          </a:p>
          <a:p xmlns:a="http://schemas.openxmlformats.org/drawingml/2006/main">
            <a:r>
              <a:t>  "strategy": "자율·참여·소통·공정 조직문화 조성",</a:t>
            </a:r>
          </a:p>
          <a:p xmlns:a="http://schemas.openxmlformats.org/drawingml/2006/main">
            <a:r>
              <a:t>  "solution": "조직 협업·인수인계 지원",</a:t>
            </a:r>
          </a:p>
          <a:p xmlns:a="http://schemas.openxmlformats.org/drawingml/2006/main">
            <a:r>
              <a:t>  "lawIds": [],</a:t>
            </a:r>
          </a:p>
          <a:p xmlns:a="http://schemas.openxmlformats.org/drawingml/2006/main">
            <a:r>
              <a:t>  "codes": [</a:t>
            </a:r>
          </a:p>
          <a:p xmlns:a="http://schemas.openxmlformats.org/drawingml/2006/main">
            <a:r>
              <a:t>    "1018037",</a:t>
            </a:r>
          </a:p>
          <a:p xmlns:a="http://schemas.openxmlformats.org/drawingml/2006/main">
            <a:r>
              <a:t>    "1018030",</a:t>
            </a:r>
          </a:p>
          <a:p xmlns:a="http://schemas.openxmlformats.org/drawingml/2006/main">
            <a:r>
              <a:t>    "1016047",</a:t>
            </a:r>
          </a:p>
          <a:p xmlns:a="http://schemas.openxmlformats.org/drawingml/2006/main">
            <a:r>
              <a:t>    "1019600"</a:t>
            </a:r>
          </a:p>
          <a:p xmlns:a="http://schemas.openxmlformats.org/drawingml/2006/main">
            <a:r>
              <a:t>  ],</a:t>
            </a:r>
          </a:p>
          <a:p xmlns:a="http://schemas.openxmlformats.org/drawingml/2006/main">
            <a:r>
              <a:t>  "work": "업무분장·담당자 탐색·인수인계·조직 지식 공유",</a:t>
            </a:r>
          </a:p>
          <a:p xmlns:a="http://schemas.openxmlformats.org/drawingml/2006/main">
            <a:r>
              <a:t>  "features": [</a:t>
            </a:r>
          </a:p>
          <a:p xmlns:a="http://schemas.openxmlformats.org/drawingml/2006/main">
            <a:r>
              <a:t>    "소속·직무·겸직에 따른 업무 지식 연결",</a:t>
            </a:r>
          </a:p>
          <a:p xmlns:a="http://schemas.openxmlformats.org/drawingml/2006/main">
            <a:r>
              <a:t>    "이동·대행·협업 요청의 인계·수락 관리"</a:t>
            </a:r>
          </a:p>
          <a:p xmlns:a="http://schemas.openxmlformats.org/drawingml/2006/main">
            <a:r>
              <a:t>  ],</a:t>
            </a:r>
          </a:p>
          <a:p xmlns:a="http://schemas.openxmlformats.org/drawingml/2006/main">
            <a:r>
              <a:t>  "output": "직무별 안내·인수인계 묶음",</a:t>
            </a:r>
          </a:p>
          <a:p xmlns:a="http://schemas.openxmlformats.org/drawingml/2006/main">
            <a:r>
              <a:t>  "acceptance": "인사이동 후 소속/권한 회수·겸직 맥락 확인·민감정보 최소수집 검증",</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"인사·직무교육",</a:t>
            </a:r>
          </a:p>
          <a:p xmlns:a="http://schemas.openxmlformats.org/drawingml/2006/main">
            <a:r>
              <a:t>      "indices": [</a:t>
            </a:r>
          </a:p>
          <a:p xmlns:a="http://schemas.openxmlformats.org/drawingml/2006/main">
            <a:r>
              <a:t>        2,</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"9. 직무교육, 계층교육, 자기계발교육 등 교육훈련 업무 총괄"</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"문서·노사관계",</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"6. 임금․단체협약 등 노사관계 업무에 관한 사항"</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"기업문화·내부 소통",</a:t>
            </a:r>
          </a:p>
          <a:p xmlns:a="http://schemas.openxmlformats.org/drawingml/2006/main">
            <a:r>
              <a:t>      "indices":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"duties": [</a:t>
            </a:r>
          </a:p>
          <a:p xmlns:a="http://schemas.openxmlformats.org/drawingml/2006/main">
            <a:r>
              <a:t>        "8. 기업문화에 관한 업무",</a:t>
            </a:r>
          </a:p>
          <a:p xmlns:a="http://schemas.openxmlformats.org/drawingml/2006/main">
            <a:r>
              <a:t>        "- 내부 소통 채널 운영"</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역량강화",</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임직원 인공지능(AI) 역량강화 교육 및 역량진단"</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"AX02",</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협업·참여·공정성 지원",</a:t>
            </a:r>
          </a:p>
          <a:p xmlns:a="http://schemas.openxmlformats.org/drawingml/2006/main">
            <a:r>
              <a:t>  "delta": "역할별 인계·평가 피드백·이의제기 보호",</a:t>
            </a:r>
          </a:p>
          <a:p xmlns:a="http://schemas.openxmlformats.org/drawingml/2006/main">
            <a:r>
              <a:t>  "kpi": "인계 완료시간 / 부서별 오류율 편차",</a:t>
            </a:r>
          </a:p>
          <a:p xmlns:a="http://schemas.openxmlformats.org/drawingml/2006/main">
            <a:r>
              <a:t>  "validation": "겸직·대행·전보·접근 회수·의견 보호 시험",</a:t>
            </a:r>
          </a:p>
          <a:p xmlns:a="http://schemas.openxmlformats.org/drawingml/2006/main">
            <a:r>
              <a:t>  "requirement": "BM-ST-12-R01",</a:t>
            </a:r>
          </a:p>
          <a:p xmlns:a="http://schemas.openxmlformats.org/drawingml/2006/main">
            <a:r>
              <a:t>  "test": "BM-ST-12-T01",</a:t>
            </a:r>
          </a:p>
          <a:p xmlns:a="http://schemas.openxmlformats.org/drawingml/2006/main">
            <a:r>
              <a:t>  "effectStatus": "기대 방향 · TS 실측 전",</a:t>
            </a:r>
          </a:p>
          <a:p xmlns:a="http://schemas.openxmlformats.org/drawingml/2006/main">
            <a:r>
              <a:t>  "effect": "인계 누락·담당자 탐색시간 감소",</a:t>
            </a:r>
          </a:p>
          <a:p xmlns:a="http://schemas.openxmlformats.org/drawingml/2006/main">
            <a:r>
              <a:t>  "reuse": "ON27-BASE / C27-COM + CCK 재사용 판정 기능",</a:t>
            </a:r>
          </a:p>
          <a:p xmlns:a="http://schemas.openxmlformats.org/drawingml/2006/main">
            <a:r>
              <a:t>  "input": "직무분장·인사변경, 인계 대상 업무, 교육·참여 기록",</a:t>
            </a:r>
          </a:p>
          <a:p xmlns:a="http://schemas.openxmlformats.org/drawingml/2006/main">
            <a:r>
              <a:t>  "steps": [</a:t>
            </a:r>
          </a:p>
          <a:p xmlns:a="http://schemas.openxmlformats.org/drawingml/2006/main">
            <a:r>
              <a:t>    "직무·역할·변경일 확인",</a:t>
            </a:r>
          </a:p>
          <a:p xmlns:a="http://schemas.openxmlformats.org/drawingml/2006/main">
            <a:r>
              <a:t>    "허용 인계자료 구성",</a:t>
            </a:r>
          </a:p>
          <a:p xmlns:a="http://schemas.openxmlformats.org/drawingml/2006/main">
            <a:r>
              <a:t>    "협업 요청·수락 추적",</a:t>
            </a:r>
          </a:p>
          <a:p xmlns:a="http://schemas.openxmlformats.org/drawingml/2006/main">
            <a:r>
              <a:t>    "권한 회수·이의 확인"</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"인사·직무교육",</a:t>
            </a:r>
          </a:p>
          <a:p xmlns:a="http://schemas.openxmlformats.org/drawingml/2006/main">
            <a:r>
              <a:t>      "indices": [</a:t>
            </a:r>
          </a:p>
          <a:p xmlns:a="http://schemas.openxmlformats.org/drawingml/2006/main">
            <a:r>
              <a:t>        2,</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"9. 직무교육, 계층교육, 자기계발교육 등 교육훈련 업무 총괄"</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"RULEWORK-1018037-9",</a:t>
            </a:r>
          </a:p>
          <a:p xmlns:a="http://schemas.openxmlformats.org/drawingml/2006/main">
            <a:r>
              <a:t>          "text": "9. 직무교육, 계층교육, 자기계발교육 등 교육훈련 업무 총괄",</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"RULEWORK-1018037-9-R01",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"RULEWORK-1018037-9-T01",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"RULEWORK-1018037-9-R02",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"RULEWORK-1018037-9-T02",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"RULEWORK-1018037-9-R03",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"RULEWORK-1018037-9-T03",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"문서·노사관계",</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"6. 임금․단체협약 등 노사관계 업무에 관한 사항"</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"RULEWORK-1018030-4",</a:t>
            </a:r>
          </a:p>
          <a:p xmlns:a="http://schemas.openxmlformats.org/drawingml/2006/main">
            <a:r>
              <a:t>          "text": "4. 문서의 접수·분류·수발·처리 및 보존관리",</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"RULEWORK-1018030-4-R01",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"RULEWORK-1018030-4-T01",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"RULEWORK-1018030-4-R02",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"RULEWORK-1018030-4-T02",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"RULEWORK-1018030-4-R03",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"RULEWORK-1018030-6",</a:t>
            </a:r>
          </a:p>
          <a:p xmlns:a="http://schemas.openxmlformats.org/drawingml/2006/main">
            <a:r>
              <a:t>          "text": "6. 임금․단체협약 등 노사관계 업무에 관한 사항",</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"RULEWORK-1018030-6-R01",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"RULEWORK-1018030-6-T01",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"RULEWORK-1018030-6-R02",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"RULEWORK-1018030-6-T02",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"RULEWORK-1018030-6-R03",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"기업문화·내부 소통",</a:t>
            </a:r>
          </a:p>
          <a:p xmlns:a="http://schemas.openxmlformats.org/drawingml/2006/main">
            <a:r>
              <a:t>      "indices":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"duties": [</a:t>
            </a:r>
          </a:p>
          <a:p xmlns:a="http://schemas.openxmlformats.org/drawingml/2006/main">
            <a:r>
              <a:t>        "8. 기업문화에 관한 업무",</a:t>
            </a:r>
          </a:p>
          <a:p xmlns:a="http://schemas.openxmlformats.org/drawingml/2006/main">
            <a:r>
              <a:t>        "- 내부 소통 채널 운영"</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"RULEWORK-1016047-10",</a:t>
            </a:r>
          </a:p>
          <a:p xmlns:a="http://schemas.openxmlformats.org/drawingml/2006/main">
            <a:r>
              <a:t>          "text": "8. 기업문화에 관한 업무",</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"RULEWORK-1016047-10-R01",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"RULEWORK-1016047-10-T01",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"RULEWORK-1016047-10-R02",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"RULEWORK-1016047-10-T02",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"RULEWORK-1016047-10-R03",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"RULEWORK-1016047-11",</a:t>
            </a:r>
          </a:p>
          <a:p xmlns:a="http://schemas.openxmlformats.org/drawingml/2006/main">
            <a:r>
              <a:t>          "text": "- 내부 소통 채널 운영",</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"RULEWORK-1016047-11-R01",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"RULEWORK-1016047-11-T01",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"RULEWORK-1016047-11-R02",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"RULEWORK-1016047-11-T02",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"RULEWORK-1016047-11-R03",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역량강화",</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임직원 인공지능(AI) 역량강화 교육 및 역량진단"</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"RULEWORK-1019600-6",</a:t>
            </a:r>
          </a:p>
          <a:p xmlns:a="http://schemas.openxmlformats.org/drawingml/2006/main">
            <a:r>
              <a:t>          "text": "6. 임직원 인공지능(AI) 역량강화 교육 및 역량진단",</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"RULEWORK-1019600-6-R01",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"RULEWORK-1019600-6-T01",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"RULEWORK-1019600-6-R02",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"RULEWORK-1019600-6-T02",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"RULEWORK-1019600-6-R03",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직무 지식 검색·요약"</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"Foundry·Torus의 인계 절차·기록 명세"</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"겸직·대행·전보별 인계 규칙",</a:t>
            </a:r>
          </a:p>
          <a:p xmlns:a="http://schemas.openxmlformats.org/drawingml/2006/main">
            <a:r>
              <a:t>    "민감 의견 분리·수락/회수 추적"</a:t>
            </a:r>
          </a:p>
          <a:p xmlns:a="http://schemas.openxmlformats.org/drawingml/2006/main">
            <a:r>
              <a:t>  ],</a:t>
            </a:r>
          </a:p>
          <a:p xmlns:a="http://schemas.openxmlformats.org/drawingml/2006/main">
            <a:r>
              <a:t>  "acceptancePlan": {</a:t>
            </a:r>
          </a:p>
          <a:p xmlns:a="http://schemas.openxmlformats.org/drawingml/2006/main">
            <a:r>
              <a:t>    "sample": "전보 당일, 기간 만료 대행, 민감 의견, 미수락 인계",</a:t>
            </a:r>
          </a:p>
          <a:p xmlns:a="http://schemas.openxmlformats.org/drawingml/2006/main">
            <a:r>
              <a:t>    "criterion": "전임 접근 회수·겸직 맥락 확인·의견 비노출·미수락 유지",</a:t>
            </a:r>
          </a:p>
          <a:p xmlns:a="http://schemas.openxmlformats.org/drawingml/2006/main">
            <a:r>
              <a:t>    "evidence": "변경 전후 권한표·인계 수락 기록·거부셋 결과",</a:t>
            </a:r>
          </a:p>
          <a:p xmlns:a="http://schemas.openxmlformats.org/drawingml/2006/main">
            <a:r>
              <a:t>    "execution": "미실행"</a:t>
            </a:r>
          </a:p>
          <a:p xmlns:a="http://schemas.openxmlformats.org/drawingml/2006/main">
            <a:r>
              <a:t>  },</a:t>
            </a:r>
          </a:p>
          <a:p xmlns:a="http://schemas.openxmlformats.org/drawingml/2006/main">
            <a:r>
              <a:t>  "formula": "인계 수락까지 소요시간 / 누락 업무 수 ÷ 대상 업무 수 / 부서별 오류율 차이",</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"PF-R02",</a:t>
            </a:r>
          </a:p>
          <a:p xmlns:a="http://schemas.openxmlformats.org/drawingml/2006/main">
            <a:r>
              <a:t>    "PF-R06",</a:t>
            </a:r>
          </a:p>
          <a:p xmlns:a="http://schemas.openxmlformats.org/drawingml/2006/main">
            <a:r>
              <a:t>    "PF05",</a:t>
            </a:r>
          </a:p>
          <a:p xmlns:a="http://schemas.openxmlformats.org/drawingml/2006/main">
            <a:r>
              <a:t>    "PF-A08",</a:t>
            </a:r>
          </a:p>
          <a:p xmlns:a="http://schemas.openxmlformats.org/drawingml/2006/main">
            <a:r>
              <a:t>    "PF-A09",</a:t>
            </a:r>
          </a:p>
          <a:p xmlns:a="http://schemas.openxmlformats.org/drawingml/2006/main">
            <a:r>
              <a:t>    "PF-A13",</a:t>
            </a:r>
          </a:p>
          <a:p xmlns:a="http://schemas.openxmlformats.org/drawingml/2006/main">
            <a:r>
              <a:t>    "PF-A14",</a:t>
            </a:r>
          </a:p>
          <a:p xmlns:a="http://schemas.openxmlformats.org/drawingml/2006/main">
            <a:r>
              <a:t>    "PF-A15",</a:t>
            </a:r>
          </a:p>
          <a:p xmlns:a="http://schemas.openxmlformats.org/drawingml/2006/main">
            <a:r>
              <a:t>    "PF08",</a:t>
            </a:r>
          </a:p>
          <a:p xmlns:a="http://schemas.openxmlformats.org/drawingml/2006/main">
            <a:r>
              <a:t>    "PF-C01",</a:t>
            </a:r>
          </a:p>
          <a:p xmlns:a="http://schemas.openxmlformats.org/drawingml/2006/main">
            <a:r>
              <a:t>    "PF-C02",</a:t>
            </a:r>
          </a:p>
          <a:p xmlns:a="http://schemas.openxmlformats.org/drawingml/2006/main">
            <a:r>
              <a:t>    "PF-C03"</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9a2cc1c992f41c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faeb483a5924a1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6857ac8c4c4445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9d5bc43866348a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771ec1d161447c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a396c7404ba4b8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8CE828-980F-4BCD-A71D-AE841EC8E56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7FBF7B6-CA8A-40BB-83F4-AB01CEEB1D3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3863B4F-C0E8-4D7F-A1B0-CB425C44F5E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ECF3E60-64BC-4084-AB66-16394F0EC4A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AED7873-4B86-44F8-9FEF-D7F2CE23B30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E718976-D330-451B-A5DB-3EC187FBAA5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2A70890-41CF-4DB8-BBD8-9CEC208C749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A962EB0-690D-47E9-95F7-FDE50BAE989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3CA87E-C453-40C3-967A-45F1F2D4FFA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E53691C-3B27-4B09-A6DE-61572E644EC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a26d913db34e95" /><Relationship Type="http://schemas.openxmlformats.org/officeDocument/2006/relationships/slideLayout" Target="/ppt/slideLayouts/slideLayout1.xml" Id="R68dea945668d4fb3" /><Relationship Type="http://schemas.openxmlformats.org/officeDocument/2006/relationships/slideLayout" Target="/ppt/slideLayouts/slideLayout2.xml" Id="R23dfb5fbd5654a27" /><Relationship Type="http://schemas.openxmlformats.org/officeDocument/2006/relationships/slideLayout" Target="/ppt/slideLayouts/slideLayout3.xml" Id="Raf7f3af2a00347cb" /><Relationship Type="http://schemas.openxmlformats.org/officeDocument/2006/relationships/slideLayout" Target="/ppt/slideLayouts/slideLayout4.xml" Id="R17a0ae48b7c34cd1" /><Relationship Type="http://schemas.openxmlformats.org/officeDocument/2006/relationships/slideLayout" Target="/ppt/slideLayouts/slideLayout5.xml" Id="R28e3ff717b4845c1" /><Relationship Type="http://schemas.openxmlformats.org/officeDocument/2006/relationships/slideLayout" Target="/ppt/slideLayouts/slideLayout6.xml" Id="Rfbb96fe9fa8e49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8dea945668d4fb3"/>
    <p:sldLayoutId xmlns:r="http://schemas.openxmlformats.org/officeDocument/2006/relationships" id="2147483650" r:id="R23dfb5fbd5654a27"/>
    <p:sldLayoutId xmlns:r="http://schemas.openxmlformats.org/officeDocument/2006/relationships" id="2147483651" r:id="Raf7f3af2a00347cb"/>
    <p:sldLayoutId xmlns:r="http://schemas.openxmlformats.org/officeDocument/2006/relationships" id="2147483652" r:id="R17a0ae48b7c34cd1"/>
    <p:sldLayoutId xmlns:r="http://schemas.openxmlformats.org/officeDocument/2006/relationships" id="2147483653" r:id="R28e3ff717b4845c1"/>
    <p:sldLayoutId xmlns:r="http://schemas.openxmlformats.org/officeDocument/2006/relationships" id="2147483654" r:id="Rfbb96fe9fa8e49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6d813b6cf6c4b07" /><Relationship Type="http://schemas.openxmlformats.org/officeDocument/2006/relationships/notesSlide" Target="/ppt/notesSlides/notesSlide1.xml" Id="Re60f9c1b3dc541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7e9671709014757" /><Relationship Type="http://schemas.openxmlformats.org/officeDocument/2006/relationships/notesSlide" Target="/ppt/notesSlides/notesSlide2.xml" Id="R7656a6547b4e4a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f16bd270e604f52" /><Relationship Type="http://schemas.openxmlformats.org/officeDocument/2006/relationships/notesSlide" Target="/ppt/notesSlides/notesSlide3.xml" Id="R1c9233e7e7e34e0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a71dfe4d18841ef" /><Relationship Type="http://schemas.openxmlformats.org/officeDocument/2006/relationships/notesSlide" Target="/ppt/notesSlides/notesSlide4.xml" Id="R7fca2227da214c5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804a2c443c14896" /><Relationship Type="http://schemas.openxmlformats.org/officeDocument/2006/relationships/notesSlide" Target="/ppt/notesSlides/notesSlide5.xml" Id="R7d382d30a73b49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dda16cb92c34ec7" /><Relationship Type="http://schemas.openxmlformats.org/officeDocument/2006/relationships/notesSlide" Target="/ppt/notesSlides/notesSlide6.xml" Id="R679c387a66784f2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bf02f989c0849fd" /><Relationship Type="http://schemas.openxmlformats.org/officeDocument/2006/relationships/notesSlide" Target="/ppt/notesSlides/notesSlide7.xml" Id="R46ba55d0b9c14cf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2252e8eaee94943" /><Relationship Type="http://schemas.openxmlformats.org/officeDocument/2006/relationships/notesSlide" Target="/ppt/notesSlides/notesSlide8.xml" Id="R8e58383405dc4f2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d4218919b80431d" /><Relationship Type="http://schemas.openxmlformats.org/officeDocument/2006/relationships/notesSlide" Target="/ppt/notesSlides/notesSlide9.xml" Id="R4653cfd9c77246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dd273183ac44e60" /><Relationship Type="http://schemas.openxmlformats.org/officeDocument/2006/relationships/notesSlide" Target="/ppt/notesSlides/notesSlide10.xml" Id="R705c95f2d608457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73178d192964efe" /><Relationship Type="http://schemas.openxmlformats.org/officeDocument/2006/relationships/notesSlide" Target="/ppt/notesSlides/notesSlide11.xml" Id="Rada034a1e13f498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15195ea05c04a34" /><Relationship Type="http://schemas.openxmlformats.org/officeDocument/2006/relationships/notesSlide" Target="/ppt/notesSlides/notesSlide12.xml" Id="Rdb910e730ab047a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79947d50a0f4d03" /><Relationship Type="http://schemas.openxmlformats.org/officeDocument/2006/relationships/notesSlide" Target="/ppt/notesSlides/notesSlide13.xml" Id="R7255e0c9834d491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735cb6f79714483" /><Relationship Type="http://schemas.openxmlformats.org/officeDocument/2006/relationships/notesSlide" Target="/ppt/notesSlides/notesSlide14.xml" Id="Ra83489fec6024da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a3c3d7b0c3446d7" /><Relationship Type="http://schemas.openxmlformats.org/officeDocument/2006/relationships/notesSlide" Target="/ppt/notesSlides/notesSlide15.xml" Id="R842a27425c6f4d2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f27d7a997524040" /><Relationship Type="http://schemas.openxmlformats.org/officeDocument/2006/relationships/notesSlide" Target="/ppt/notesSlides/notesSlide16.xml" Id="R387381c9fe7d41a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702736db8124edb" /><Relationship Type="http://schemas.openxmlformats.org/officeDocument/2006/relationships/notesSlide" Target="/ppt/notesSlides/notesSlide17.xml" Id="R0a55fa622ed7490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e37e72239d641ba" /><Relationship Type="http://schemas.openxmlformats.org/officeDocument/2006/relationships/notesSlide" Target="/ppt/notesSlides/notesSlide18.xml" Id="Rfa210b0734d4416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e014260c2ee4a41" /><Relationship Type="http://schemas.openxmlformats.org/officeDocument/2006/relationships/image" Target="/ppt/media/image.png" Id="Rc12303444889410c" /><Relationship Type="http://schemas.openxmlformats.org/officeDocument/2006/relationships/notesSlide" Target="/ppt/notesSlides/notesSlide19.xml" Id="Re422ebe46b6c47f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7425d9148524ad4" /><Relationship Type="http://schemas.openxmlformats.org/officeDocument/2006/relationships/image" Target="/ppt/media/image2.png" Id="R04da6c2fcdf44199" /><Relationship Type="http://schemas.openxmlformats.org/officeDocument/2006/relationships/notesSlide" Target="/ppt/notesSlides/notesSlide20.xml" Id="Rfa061bbb5216484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6be630f0b1f4d1b" /><Relationship Type="http://schemas.openxmlformats.org/officeDocument/2006/relationships/image" Target="/ppt/media/image3.png" Id="Rcf37c47ccbb94518" /><Relationship Type="http://schemas.openxmlformats.org/officeDocument/2006/relationships/notesSlide" Target="/ppt/notesSlides/notesSlide21.xml" Id="R561812f0094a426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442d2dab1c14332" /><Relationship Type="http://schemas.openxmlformats.org/officeDocument/2006/relationships/image" Target="/ppt/media/image4.png" Id="R46ac00b0f4e84d3d" /><Relationship Type="http://schemas.openxmlformats.org/officeDocument/2006/relationships/notesSlide" Target="/ppt/notesSlides/notesSlide22.xml" Id="Re10297855b7a494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0f516ffb3c44d1c" /><Relationship Type="http://schemas.openxmlformats.org/officeDocument/2006/relationships/notesSlide" Target="/ppt/notesSlides/notesSlide23.xml" Id="R658ab1ecefc24c8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154b9a4137a4a55" /><Relationship Type="http://schemas.openxmlformats.org/officeDocument/2006/relationships/notesSlide" Target="/ppt/notesSlides/notesSlide24.xml" Id="Rd12165690190474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bf7a2a93f9941e1" /><Relationship Type="http://schemas.openxmlformats.org/officeDocument/2006/relationships/notesSlide" Target="/ppt/notesSlides/notesSlide25.xml" Id="R10b8fa50ecd0421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29cb588b3dd4c71" /><Relationship Type="http://schemas.openxmlformats.org/officeDocument/2006/relationships/notesSlide" Target="/ppt/notesSlides/notesSlide26.xml" Id="Rbb6d6741262e4de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9201d00e7f547f7" /><Relationship Type="http://schemas.openxmlformats.org/officeDocument/2006/relationships/image" Target="/ppt/media/image5.png" Id="R0e7f1bddd3334b24" /><Relationship Type="http://schemas.openxmlformats.org/officeDocument/2006/relationships/notesSlide" Target="/ppt/notesSlides/notesSlide27.xml" Id="Rdd0ead2b87ab46e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74c276a842a4d29" /><Relationship Type="http://schemas.openxmlformats.org/officeDocument/2006/relationships/image" Target="/ppt/media/image6.png" Id="Re435214012484f9f" /><Relationship Type="http://schemas.openxmlformats.org/officeDocument/2006/relationships/notesSlide" Target="/ppt/notesSlides/notesSlide28.xml" Id="Ra6551580fb304ea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c112abe3cfe4909" /><Relationship Type="http://schemas.openxmlformats.org/officeDocument/2006/relationships/notesSlide" Target="/ppt/notesSlides/notesSlide29.xml" Id="R64ed1722c095427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9d0c9cee59e49f0" /><Relationship Type="http://schemas.openxmlformats.org/officeDocument/2006/relationships/notesSlide" Target="/ppt/notesSlides/notesSlide30.xml" Id="R201593b6043c49d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cba2d0ab67b499f" /><Relationship Type="http://schemas.openxmlformats.org/officeDocument/2006/relationships/notesSlide" Target="/ppt/notesSlides/notesSlide31.xml" Id="R0fe86f08ff4547d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21308d7764e4771" /><Relationship Type="http://schemas.openxmlformats.org/officeDocument/2006/relationships/notesSlide" Target="/ppt/notesSlides/notesSlide32.xml" Id="Re912a1cee5354ba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16e33bfd2114a12" /><Relationship Type="http://schemas.openxmlformats.org/officeDocument/2006/relationships/notesSlide" Target="/ppt/notesSlides/notesSlide33.xml" Id="R5342ec91604d43d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718da117478349cd" /><Relationship Type="http://schemas.openxmlformats.org/officeDocument/2006/relationships/notesSlide" Target="/ppt/notesSlides/notesSlide34.xml" Id="R68429a6c309148d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16dccf945824ad2" /><Relationship Type="http://schemas.openxmlformats.org/officeDocument/2006/relationships/notesSlide" Target="/ppt/notesSlides/notesSlide35.xml" Id="R801f6ed4399f44f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c8bffd4eaa8b49ff" /><Relationship Type="http://schemas.openxmlformats.org/officeDocument/2006/relationships/notesSlide" Target="/ppt/notesSlides/notesSlide36.xml" Id="Rac932d868ac147f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0f29ee390ec4999" /><Relationship Type="http://schemas.openxmlformats.org/officeDocument/2006/relationships/notesSlide" Target="/ppt/notesSlides/notesSlide37.xml" Id="Rd4b2acf6c4f1407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6238d20e917460d" /><Relationship Type="http://schemas.openxmlformats.org/officeDocument/2006/relationships/notesSlide" Target="/ppt/notesSlides/notesSlide38.xml" Id="R37f9cdcee08b484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e93dd979a814510" /><Relationship Type="http://schemas.openxmlformats.org/officeDocument/2006/relationships/notesSlide" Target="/ppt/notesSlides/notesSlide39.xml" Id="R69a4a334ef9b450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097e864f1eb4f79" /><Relationship Type="http://schemas.openxmlformats.org/officeDocument/2006/relationships/notesSlide" Target="/ppt/notesSlides/notesSlide40.xml" Id="Re103514f6ef94ca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a530cac2a3e48e1" /><Relationship Type="http://schemas.openxmlformats.org/officeDocument/2006/relationships/notesSlide" Target="/ppt/notesSlides/notesSlide41.xml" Id="Rff1c39f04c00495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b203ed63bbb4e14" /><Relationship Type="http://schemas.openxmlformats.org/officeDocument/2006/relationships/notesSlide" Target="/ppt/notesSlides/notesSlide42.xml" Id="R57bdc3d6b38a4e0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06014c457603416a" /><Relationship Type="http://schemas.openxmlformats.org/officeDocument/2006/relationships/notesSlide" Target="/ppt/notesSlides/notesSlide43.xml" Id="Rd6401d962b11472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94fbf85869184424" /><Relationship Type="http://schemas.openxmlformats.org/officeDocument/2006/relationships/notesSlide" Target="/ppt/notesSlides/notesSlide44.xml" Id="R98db93760d75498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edd20065825419b" /><Relationship Type="http://schemas.openxmlformats.org/officeDocument/2006/relationships/notesSlide" Target="/ppt/notesSlides/notesSlide45.xml" Id="R60f06c6c131741b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9db41f35710463d" /><Relationship Type="http://schemas.openxmlformats.org/officeDocument/2006/relationships/notesSlide" Target="/ppt/notesSlides/notesSlide46.xml" Id="R80fa52314c35481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be2ed2c375bc420a" /><Relationship Type="http://schemas.openxmlformats.org/officeDocument/2006/relationships/notesSlide" Target="/ppt/notesSlides/notesSlide47.xml" Id="Raf5c6ac38521499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13c270557b014478" /><Relationship Type="http://schemas.openxmlformats.org/officeDocument/2006/relationships/notesSlide" Target="/ppt/notesSlides/notesSlide48.xml" Id="Rf65fafb952ea4e8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c962c066c9b94f7a" /><Relationship Type="http://schemas.openxmlformats.org/officeDocument/2006/relationships/notesSlide" Target="/ppt/notesSlides/notesSlide49.xml" Id="Re0818f2b404f468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97aec99b904d4df0" /><Relationship Type="http://schemas.openxmlformats.org/officeDocument/2006/relationships/notesSlide" Target="/ppt/notesSlides/notesSlide50.xml" Id="Rce0121ff61f74094"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371f6a6dbe9b4aa9" /><Relationship Type="http://schemas.openxmlformats.org/officeDocument/2006/relationships/notesSlide" Target="/ppt/notesSlides/notesSlide51.xml" Id="R2280ecc04368422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d429a44656e94204" /><Relationship Type="http://schemas.openxmlformats.org/officeDocument/2006/relationships/notesSlide" Target="/ppt/notesSlides/notesSlide52.xml" Id="R450e08ff43114caa"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0af1e7366cae408e" /><Relationship Type="http://schemas.openxmlformats.org/officeDocument/2006/relationships/notesSlide" Target="/ppt/notesSlides/notesSlide53.xml" Id="Rdc809dc573d7421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3d120b9f4bee446c" /><Relationship Type="http://schemas.openxmlformats.org/officeDocument/2006/relationships/notesSlide" Target="/ppt/notesSlides/notesSlide54.xml" Id="Ra8db1fc48fad46f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08472ce727a4433e" /><Relationship Type="http://schemas.openxmlformats.org/officeDocument/2006/relationships/notesSlide" Target="/ppt/notesSlides/notesSlide55.xml" Id="R47aa6fcbcb404c2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f33f7e3db90947e1" /><Relationship Type="http://schemas.openxmlformats.org/officeDocument/2006/relationships/notesSlide" Target="/ppt/notesSlides/notesSlide56.xml" Id="R73fa478834f54e56"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a745e7bb0e844a2a" /><Relationship Type="http://schemas.openxmlformats.org/officeDocument/2006/relationships/notesSlide" Target="/ppt/notesSlides/notesSlide57.xml" Id="R592e403fe086400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6d8c42dd5a8a430f" /><Relationship Type="http://schemas.openxmlformats.org/officeDocument/2006/relationships/notesSlide" Target="/ppt/notesSlides/notesSlide58.xml" Id="Rdae4788c4cfa463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c4131a1db3404943" /><Relationship Type="http://schemas.openxmlformats.org/officeDocument/2006/relationships/notesSlide" Target="/ppt/notesSlides/notesSlide59.xml" Id="R453302b260c24e7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2e6e50ce025249bd" /><Relationship Type="http://schemas.openxmlformats.org/officeDocument/2006/relationships/notesSlide" Target="/ppt/notesSlides/notesSlide60.xml" Id="Ra6c333bc2e544c9a"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37e596e7841a484e" /><Relationship Type="http://schemas.openxmlformats.org/officeDocument/2006/relationships/notesSlide" Target="/ppt/notesSlides/notesSlide61.xml" Id="Re81c9b8fe2ee40a6"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c33af1102ad446d5" /><Relationship Type="http://schemas.openxmlformats.org/officeDocument/2006/relationships/notesSlide" Target="/ppt/notesSlides/notesSlide62.xml" Id="Rbcb0190e8b44450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1f19be26443a45ea" /><Relationship Type="http://schemas.openxmlformats.org/officeDocument/2006/relationships/notesSlide" Target="/ppt/notesSlides/notesSlide63.xml" Id="R8c96fc82c068454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77475586ecdd4059" /><Relationship Type="http://schemas.openxmlformats.org/officeDocument/2006/relationships/notesSlide" Target="/ppt/notesSlides/notesSlide64.xml" Id="R2bac7536f680463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edd52ee429164fe2" /><Relationship Type="http://schemas.openxmlformats.org/officeDocument/2006/relationships/notesSlide" Target="/ppt/notesSlides/notesSlide65.xml" Id="R58b99e97144e49b6"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fbf5138e7f244786" /><Relationship Type="http://schemas.openxmlformats.org/officeDocument/2006/relationships/notesSlide" Target="/ppt/notesSlides/notesSlide66.xml" Id="R501fb9a773f6403a"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30d63eb7d8c44aa2" /><Relationship Type="http://schemas.openxmlformats.org/officeDocument/2006/relationships/notesSlide" Target="/ppt/notesSlides/notesSlide67.xml" Id="R14a09405802645c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3247a0c6a6c7403b" /><Relationship Type="http://schemas.openxmlformats.org/officeDocument/2006/relationships/notesSlide" Target="/ppt/notesSlides/notesSlide68.xml" Id="Rda944dd5095c4f0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6487a725023d4e8a" /><Relationship Type="http://schemas.openxmlformats.org/officeDocument/2006/relationships/notesSlide" Target="/ppt/notesSlides/notesSlide69.xml" Id="R63a27cc8b8b545f5"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eb5f2d9f18c54780" /><Relationship Type="http://schemas.openxmlformats.org/officeDocument/2006/relationships/notesSlide" Target="/ppt/notesSlides/notesSlide70.xml" Id="R7cd6ba1c57e54f14"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138d7b1d8a124c91" /><Relationship Type="http://schemas.openxmlformats.org/officeDocument/2006/relationships/notesSlide" Target="/ppt/notesSlides/notesSlide71.xml" Id="R7bbe550fc0a7416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7e6e36da03b14333" /><Relationship Type="http://schemas.openxmlformats.org/officeDocument/2006/relationships/notesSlide" Target="/ppt/notesSlides/notesSlide72.xml" Id="Re8411ec9c76f4b6c"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cd73e4d43f0c48bf" /><Relationship Type="http://schemas.openxmlformats.org/officeDocument/2006/relationships/notesSlide" Target="/ppt/notesSlides/notesSlide73.xml" Id="Re1672e66d0e44c4c"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0b2e8dbac49d48ce" /><Relationship Type="http://schemas.openxmlformats.org/officeDocument/2006/relationships/notesSlide" Target="/ppt/notesSlides/notesSlide74.xml" Id="R7fd878f3d0d443ab"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cb7f45705fdc4630" /><Relationship Type="http://schemas.openxmlformats.org/officeDocument/2006/relationships/notesSlide" Target="/ppt/notesSlides/notesSlide75.xml" Id="R9824d087753f4f1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84aa537481d44e9b" /><Relationship Type="http://schemas.openxmlformats.org/officeDocument/2006/relationships/notesSlide" Target="/ppt/notesSlides/notesSlide76.xml" Id="R4c56dc607c43425f"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089476f0a0424f1c" /><Relationship Type="http://schemas.openxmlformats.org/officeDocument/2006/relationships/notesSlide" Target="/ppt/notesSlides/notesSlide77.xml" Id="Rb2c1da079b5b4fb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b7b7eb7a73d44c18" /><Relationship Type="http://schemas.openxmlformats.org/officeDocument/2006/relationships/notesSlide" Target="/ppt/notesSlides/notesSlide78.xml" Id="R746649b22d52495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cb5c375fe2dc4fe4" /><Relationship Type="http://schemas.openxmlformats.org/officeDocument/2006/relationships/notesSlide" Target="/ppt/notesSlides/notesSlide79.xml" Id="R5c957d26ec1d4462"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921c173aab7b49c4" /><Relationship Type="http://schemas.openxmlformats.org/officeDocument/2006/relationships/notesSlide" Target="/ppt/notesSlides/notesSlide80.xml" Id="R8ee27df995054435"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98a3443341a547fe" /><Relationship Type="http://schemas.openxmlformats.org/officeDocument/2006/relationships/notesSlide" Target="/ppt/notesSlides/notesSlide81.xml" Id="R43c68a30ba2347a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e37de42bc4264058" /><Relationship Type="http://schemas.openxmlformats.org/officeDocument/2006/relationships/notesSlide" Target="/ppt/notesSlides/notesSlide82.xml" Id="R32e66c6d7953459f"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ba62209dc3324a8c" /><Relationship Type="http://schemas.openxmlformats.org/officeDocument/2006/relationships/notesSlide" Target="/ppt/notesSlides/notesSlide83.xml" Id="R9f0824279a674d33"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5dec4163305242e9" /><Relationship Type="http://schemas.openxmlformats.org/officeDocument/2006/relationships/notesSlide" Target="/ppt/notesSlides/notesSlide84.xml" Id="R974d5833ed7c4c70"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bf9c2cf2eeb14a97" /><Relationship Type="http://schemas.openxmlformats.org/officeDocument/2006/relationships/notesSlide" Target="/ppt/notesSlides/notesSlide85.xml" Id="R28fb3093b05642f6"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d10371f4cd0b4cb5" /><Relationship Type="http://schemas.openxmlformats.org/officeDocument/2006/relationships/notesSlide" Target="/ppt/notesSlides/notesSlide86.xml" Id="R47a9842cdd7b411e"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44ebbd807c6f4319" /><Relationship Type="http://schemas.openxmlformats.org/officeDocument/2006/relationships/notesSlide" Target="/ppt/notesSlides/notesSlide87.xml" Id="R25eade74b5d54d6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93115477e4ad4735" /><Relationship Type="http://schemas.openxmlformats.org/officeDocument/2006/relationships/notesSlide" Target="/ppt/notesSlides/notesSlide88.xml" Id="R3c95fdf8e2e64916"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b76d9d1f6f504545" /><Relationship Type="http://schemas.openxmlformats.org/officeDocument/2006/relationships/notesSlide" Target="/ppt/notesSlides/notesSlide89.xml" Id="Re570a8d2fc004d42"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7753e2273a25412f" /><Relationship Type="http://schemas.openxmlformats.org/officeDocument/2006/relationships/notesSlide" Target="/ppt/notesSlides/notesSlide90.xml" Id="R2953c37134aa48ea"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dbaa5d3aa88e4b35" /><Relationship Type="http://schemas.openxmlformats.org/officeDocument/2006/relationships/notesSlide" Target="/ppt/notesSlides/notesSlide91.xml" Id="Rfe55e508ccaf4ea6"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ad4121b728a74ef7" /><Relationship Type="http://schemas.openxmlformats.org/officeDocument/2006/relationships/notesSlide" Target="/ppt/notesSlides/notesSlide92.xml" Id="Reb220693843343b0"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896242c99a834025" /><Relationship Type="http://schemas.openxmlformats.org/officeDocument/2006/relationships/notesSlide" Target="/ppt/notesSlides/notesSlide93.xml" Id="R9620685d1ac244b8"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fa729403d5814bed" /><Relationship Type="http://schemas.openxmlformats.org/officeDocument/2006/relationships/notesSlide" Target="/ppt/notesSlides/notesSlide94.xml" Id="R24a75b13544d4e1b"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09ae68d701a54c9c" /><Relationship Type="http://schemas.openxmlformats.org/officeDocument/2006/relationships/notesSlide" Target="/ppt/notesSlides/notesSlide95.xml" Id="Ra0fb942653324937"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28321d056e974fb4" /><Relationship Type="http://schemas.openxmlformats.org/officeDocument/2006/relationships/notesSlide" Target="/ppt/notesSlides/notesSlide96.xml" Id="R4188e84c08ce4c71"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8e8477abccfa4efd" /><Relationship Type="http://schemas.openxmlformats.org/officeDocument/2006/relationships/notesSlide" Target="/ppt/notesSlides/notesSlide97.xml" Id="R4b82ec8f65a04769"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5d23f2fb18cb4910" /><Relationship Type="http://schemas.openxmlformats.org/officeDocument/2006/relationships/notesSlide" Target="/ppt/notesSlides/notesSlide98.xml" Id="Rcc565274376a4df5"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3368f6f49d2345b1" /><Relationship Type="http://schemas.openxmlformats.org/officeDocument/2006/relationships/notesSlide" Target="/ppt/notesSlides/notesSlide99.xml" Id="R39253b6737824fc4"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9fc967527054440c" /><Relationship Type="http://schemas.openxmlformats.org/officeDocument/2006/relationships/notesSlide" Target="/ppt/notesSlides/notesSlide100.xml" Id="Reae1982b06184c75"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c895a3d475754762" /><Relationship Type="http://schemas.openxmlformats.org/officeDocument/2006/relationships/notesSlide" Target="/ppt/notesSlides/notesSlide101.xml" Id="Rd429c3072949426b"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8d4ca8c2f8364220" /><Relationship Type="http://schemas.openxmlformats.org/officeDocument/2006/relationships/notesSlide" Target="/ppt/notesSlides/notesSlide102.xml" Id="Rbd3b26361b5a4960"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3eb0622661d34310" /><Relationship Type="http://schemas.openxmlformats.org/officeDocument/2006/relationships/notesSlide" Target="/ppt/notesSlides/notesSlide103.xml" Id="R6dc195d04e0d4029"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dd23d9f084e441db" /><Relationship Type="http://schemas.openxmlformats.org/officeDocument/2006/relationships/notesSlide" Target="/ppt/notesSlides/notesSlide104.xml" Id="R4cd08e593e8544d5"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082852cec70546c5" /><Relationship Type="http://schemas.openxmlformats.org/officeDocument/2006/relationships/notesSlide" Target="/ppt/notesSlides/notesSlide105.xml" Id="R7085d97a024b413e"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85b6bcbe2f4c4492" /><Relationship Type="http://schemas.openxmlformats.org/officeDocument/2006/relationships/notesSlide" Target="/ppt/notesSlides/notesSlide106.xml" Id="R2411bb2a0ca24307"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02a65b45e14c4a69" /><Relationship Type="http://schemas.openxmlformats.org/officeDocument/2006/relationships/notesSlide" Target="/ppt/notesSlides/notesSlide107.xml" Id="R7ea1cc1a388844bd"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bd0873676e654935" /><Relationship Type="http://schemas.openxmlformats.org/officeDocument/2006/relationships/notesSlide" Target="/ppt/notesSlides/notesSlide108.xml" Id="R52f3ba99b3844909"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6.xml" Id="R87a7589ccf59434b" /><Relationship Type="http://schemas.openxmlformats.org/officeDocument/2006/relationships/notesSlide" Target="/ppt/notesSlides/notesSlide109.xml" Id="Raad8183554934315"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6.xml" Id="R0e16439b1c654234" /><Relationship Type="http://schemas.openxmlformats.org/officeDocument/2006/relationships/notesSlide" Target="/ppt/notesSlides/notesSlide110.xml" Id="R84cf03466ebf4624"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6.xml" Id="R53d9f551377c4d7d" /><Relationship Type="http://schemas.openxmlformats.org/officeDocument/2006/relationships/notesSlide" Target="/ppt/notesSlides/notesSlide111.xml" Id="Ra90c2e1ea02e48d6"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6.xml" Id="Re488b28489054d0c" /><Relationship Type="http://schemas.openxmlformats.org/officeDocument/2006/relationships/notesSlide" Target="/ppt/notesSlides/notesSlide112.xml" Id="R739042cee1c147e7"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6.xml" Id="R19ad20e893f24cda" /><Relationship Type="http://schemas.openxmlformats.org/officeDocument/2006/relationships/notesSlide" Target="/ppt/notesSlides/notesSlide113.xml" Id="Rd3ae4ecd5d544c07"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6.xml" Id="R130e49ce972c404d" /><Relationship Type="http://schemas.openxmlformats.org/officeDocument/2006/relationships/notesSlide" Target="/ppt/notesSlides/notesSlide114.xml" Id="Rb99b73e6c7f04613"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6.xml" Id="R91ef8e1a01124a57" /><Relationship Type="http://schemas.openxmlformats.org/officeDocument/2006/relationships/notesSlide" Target="/ppt/notesSlides/notesSlide115.xml" Id="R7a5ea766160e4a5b"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6.xml" Id="R9c1475e9a5da45c6" /><Relationship Type="http://schemas.openxmlformats.org/officeDocument/2006/relationships/notesSlide" Target="/ppt/notesSlides/notesSlide116.xml" Id="Re299fcc6a9a24669"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6.xml" Id="R6c6073491fcd4723" /><Relationship Type="http://schemas.openxmlformats.org/officeDocument/2006/relationships/notesSlide" Target="/ppt/notesSlides/notesSlide117.xml" Id="R51725bdc679b4485"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6.xml" Id="Rc6bfb4f238a240b1" /><Relationship Type="http://schemas.openxmlformats.org/officeDocument/2006/relationships/notesSlide" Target="/ppt/notesSlides/notesSlide118.xml" Id="Re57326bd75cf4f04"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6.xml" Id="Rc7d8ab87f57843f3" /><Relationship Type="http://schemas.openxmlformats.org/officeDocument/2006/relationships/notesSlide" Target="/ppt/notesSlides/notesSlide119.xml" Id="Rab445bf7614c459e"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6.xml" Id="R427d0f5a24ff4b53" /><Relationship Type="http://schemas.openxmlformats.org/officeDocument/2006/relationships/notesSlide" Target="/ppt/notesSlides/notesSlide120.xml" Id="R8ba91040e487418f"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6.xml" Id="R95cfff8285c94e73" /><Relationship Type="http://schemas.openxmlformats.org/officeDocument/2006/relationships/notesSlide" Target="/ppt/notesSlides/notesSlide121.xml" Id="R3f6a864d6573410c"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6.xml" Id="R95eeb96831d84835" /><Relationship Type="http://schemas.openxmlformats.org/officeDocument/2006/relationships/notesSlide" Target="/ppt/notesSlides/notesSlide122.xml" Id="R66127344310b4d2c"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6.xml" Id="Rd5166129ad3945f8" /><Relationship Type="http://schemas.openxmlformats.org/officeDocument/2006/relationships/notesSlide" Target="/ppt/notesSlides/notesSlide123.xml" Id="R2d4b1077b58d46fc"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6.xml" Id="R75f80ac9fa1a483a" /><Relationship Type="http://schemas.openxmlformats.org/officeDocument/2006/relationships/notesSlide" Target="/ppt/notesSlides/notesSlide124.xml" Id="R8689bcc2c1584a62"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6.xml" Id="Reeb334173b1549c8" /><Relationship Type="http://schemas.openxmlformats.org/officeDocument/2006/relationships/notesSlide" Target="/ppt/notesSlides/notesSlide125.xml" Id="Rdffc89d432cb4509"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6.xml" Id="R46ae4148785f4b60" /><Relationship Type="http://schemas.openxmlformats.org/officeDocument/2006/relationships/notesSlide" Target="/ppt/notesSlides/notesSlide126.xml" Id="Re429810b381f43ba"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6.xml" Id="Rdd67a58e359d48c6" /><Relationship Type="http://schemas.openxmlformats.org/officeDocument/2006/relationships/notesSlide" Target="/ppt/notesSlides/notesSlide127.xml" Id="Rdb12bf9ab8c74acf"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6.xml" Id="R24750f4eb493485c" /><Relationship Type="http://schemas.openxmlformats.org/officeDocument/2006/relationships/notesSlide" Target="/ppt/notesSlides/notesSlide128.xml" Id="R31d5711467cf46f2"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6.xml" Id="R9f70360b1a8f48aa" /><Relationship Type="http://schemas.openxmlformats.org/officeDocument/2006/relationships/notesSlide" Target="/ppt/notesSlides/notesSlide129.xml" Id="R7285d6db20134aa4"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6.xml" Id="Ra9c4114c8f134643" /><Relationship Type="http://schemas.openxmlformats.org/officeDocument/2006/relationships/notesSlide" Target="/ppt/notesSlides/notesSlide130.xml" Id="R0588a9d5f9284328"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6.xml" Id="Re9de49a4b5424667" /><Relationship Type="http://schemas.openxmlformats.org/officeDocument/2006/relationships/notesSlide" Target="/ppt/notesSlides/notesSlide131.xml" Id="R965553abafd74026"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6.xml" Id="Rd1d0d708b4154b9e" /><Relationship Type="http://schemas.openxmlformats.org/officeDocument/2006/relationships/notesSlide" Target="/ppt/notesSlides/notesSlide132.xml" Id="Rd1fd5d4df02d471b"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6.xml" Id="Ra4b7905da0364b8c" /><Relationship Type="http://schemas.openxmlformats.org/officeDocument/2006/relationships/notesSlide" Target="/ppt/notesSlides/notesSlide133.xml" Id="Rf7a7c783a51a42ee"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6.xml" Id="R82729ddadbcf4544" /><Relationship Type="http://schemas.openxmlformats.org/officeDocument/2006/relationships/notesSlide" Target="/ppt/notesSlides/notesSlide134.xml" Id="Rce46696e840444e8"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6.xml" Id="R6af0e8bcf5c44b62" /><Relationship Type="http://schemas.openxmlformats.org/officeDocument/2006/relationships/notesSlide" Target="/ppt/notesSlides/notesSlide135.xml" Id="R6ae2b69a584d4541"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6.xml" Id="Rdcfb327baa2b4d7d" /><Relationship Type="http://schemas.openxmlformats.org/officeDocument/2006/relationships/notesSlide" Target="/ppt/notesSlides/notesSlide136.xml" Id="R9ac0e012fe2749d5"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6.xml" Id="R05b224e4cdd942a0" /><Relationship Type="http://schemas.openxmlformats.org/officeDocument/2006/relationships/notesSlide" Target="/ppt/notesSlides/notesSlide137.xml" Id="Rd7514e60730f451f"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6.xml" Id="R73314bdb30174b06" /><Relationship Type="http://schemas.openxmlformats.org/officeDocument/2006/relationships/notesSlide" Target="/ppt/notesSlides/notesSlide138.xml" Id="Rca52f4a57e94429b"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6.xml" Id="R211dc304ce214e9e" /><Relationship Type="http://schemas.openxmlformats.org/officeDocument/2006/relationships/notesSlide" Target="/ppt/notesSlides/notesSlide139.xml" Id="Rde59417673e34121" /></Relationships>
</file>

<file path=ppt/slides/slide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BC967B-A3B2-4D20-9AA8-7C7ACDEE5B2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GROWTH AI / TS ORGANIZATION-NATIVE AI</a:t>
            </a:r>
          </a:p>
        </p:txBody>
      </p:sp>
      <p:sp>
        <p:nvSpPr>
          <p:cNvPr id="2" name="">
            <a:extLst xmlns:a="http://schemas.openxmlformats.org/drawingml/2006/main">
              <a:ext uri="{FF2B5EF4-FFF2-40B4-BE49-F238E27FC236}">
                <a16:creationId xmlns:a16="http://schemas.microsoft.com/office/drawing/2014/main" id="{3F924DF4-DA7D-4499-AC5D-410F599366C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12대 전략과제 AX 사례집</a:t>
            </a:r>
          </a:p>
        </p:txBody>
      </p:sp>
      <p:sp>
        <p:nvSpPr>
          <p:cNvPr id="3" name="">
            <a:extLst xmlns:a="http://schemas.openxmlformats.org/drawingml/2006/main">
              <a:ext uri="{FF2B5EF4-FFF2-40B4-BE49-F238E27FC236}">
                <a16:creationId xmlns:a16="http://schemas.microsoft.com/office/drawing/2014/main" id="{32AFA9C8-9D1A-493E-82EA-9C991A508E5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4E9C9A8-AFD6-4BC3-8350-6DA438E852D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842730A2-76EC-4915-A643-8FD9AC7FCAC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01</a:t>
            </a:r>
          </a:p>
        </p:txBody>
      </p:sp>
      <p:sp>
        <p:nvSpPr>
          <p:cNvPr id="6" name="">
            <a:extLst xmlns:a="http://schemas.openxmlformats.org/drawingml/2006/main">
              <a:ext uri="{FF2B5EF4-FFF2-40B4-BE49-F238E27FC236}">
                <a16:creationId xmlns:a16="http://schemas.microsoft.com/office/drawing/2014/main" id="{E04A0593-5576-4D11-870A-09DC120EB792}"/>
              </a:ext>
            </a:extLst>
          </p:cNvPr>
          <p:cNvSpPr>
            <a:spLocks xmlns:a="http://schemas.openxmlformats.org/drawingml/2006/main" noGrp="1"/>
          </p:cNvSpPr>
          <p:nvPr/>
        </p:nvSpPr>
        <p:spPr>
          <a:xfrm xmlns:a="http://schemas.openxmlformats.org/drawingml/2006/main">
            <a:off x="571500" y="24765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42634B"/>
                </a:solidFill>
                <a:latin typeface="Pretendard"/>
                <a:ea typeface="Pretendard"/>
                <a:cs typeface="Pretendard"/>
              </a:defRPr>
            </a:defPPr>
          </a:lstStyle>
          <a:p xmlns:a="http://schemas.openxmlformats.org/drawingml/2006/main">
            <a:pPr>
              <a:defRPr sz="3000" b="1">
                <a:solidFill>
                  <a:srgbClr val="42634B"/>
                </a:solidFill>
                <a:latin typeface="Pretendard"/>
                <a:ea typeface="Pretendard"/>
                <a:cs typeface="Pretendard"/>
              </a:defRPr>
            </a:pPr>
            <a:r>
              <a:rPr sz="3000" b="1">
                <a:solidFill>
                  <a:srgbClr val="42634B"/>
                </a:solidFill>
                <a:latin typeface="Pretendard"/>
                <a:ea typeface="Pretendard"/>
                <a:cs typeface="Pretendard"/>
              </a:rPr>
              <a:t>부서·업무에 연결한 후속 적용계획</a:t>
            </a:r>
          </a:p>
        </p:txBody>
      </p:sp>
      <p:sp>
        <p:nvSpPr>
          <p:cNvPr id="7" name="">
            <a:extLst xmlns:a="http://schemas.openxmlformats.org/drawingml/2006/main">
              <a:ext uri="{FF2B5EF4-FFF2-40B4-BE49-F238E27FC236}">
                <a16:creationId xmlns:a16="http://schemas.microsoft.com/office/drawing/2014/main" id="{0398DC2B-BA6B-45EF-A5CC-99E26839E7C2}"/>
              </a:ext>
            </a:extLst>
          </p:cNvPr>
          <p:cNvSpPr>
            <a:spLocks xmlns:a="http://schemas.openxmlformats.org/drawingml/2006/main" noGrp="1"/>
          </p:cNvSpPr>
          <p:nvPr/>
        </p:nvSpPr>
        <p:spPr>
          <a:xfrm xmlns:a="http://schemas.openxmlformats.org/drawingml/2006/main">
            <a:off x="571500" y="4000500"/>
            <a:ext cx="11049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8352B"/>
                </a:solidFill>
                <a:latin typeface="Pretendard"/>
                <a:ea typeface="Pretendard"/>
                <a:cs typeface="Pretendard"/>
              </a:defRPr>
            </a:defPPr>
          </a:lstStyle>
          <a:p xmlns:a="http://schemas.openxmlformats.org/drawingml/2006/main">
            <a:pPr>
              <a:defRPr sz="2025" b="0">
                <a:solidFill>
                  <a:srgbClr val="28352B"/>
                </a:solidFill>
                <a:latin typeface="Pretendard"/>
                <a:ea typeface="Pretendard"/>
                <a:cs typeface="Pretendard"/>
              </a:defRPr>
            </a:pPr>
            <a:r>
              <a:rPr sz="2025" b="0">
                <a:solidFill>
                  <a:srgbClr val="28352B"/>
                </a:solidFill>
                <a:latin typeface="Pretendard"/>
                <a:ea typeface="Pretendard"/>
                <a:cs typeface="Pretendard"/>
              </a:rPr>
              <a:t>26개 상세 사례 / 12개 전략 후속계획</a:t>
            </a:r>
          </a:p>
          <a:p xmlns:a="http://schemas.openxmlformats.org/drawingml/2006/main">
            <a:pPr>
              <a:defRPr sz="2025" b="0">
                <a:solidFill>
                  <a:srgbClr val="28352B"/>
                </a:solidFill>
                <a:latin typeface="Pretendard"/>
                <a:ea typeface="Pretendard"/>
                <a:cs typeface="Pretendard"/>
              </a:defRPr>
            </a:pPr>
            <a:r>
              <a:rPr sz="2025" b="0">
                <a:solidFill>
                  <a:srgbClr val="28352B"/>
                </a:solidFill>
                <a:latin typeface="Pretendard"/>
                <a:ea typeface="Pretendard"/>
                <a:cs typeface="Pretendard"/>
              </a:rPr>
              <a:t>원문 자료 6개 / 개발·검수·효과</a:t>
            </a:r>
          </a:p>
        </p:txBody>
      </p:sp>
      <p:sp>
        <p:nvSpPr>
          <p:cNvPr id="8" name="">
            <a:extLst xmlns:a="http://schemas.openxmlformats.org/drawingml/2006/main">
              <a:ext uri="{FF2B5EF4-FFF2-40B4-BE49-F238E27FC236}">
                <a16:creationId xmlns:a16="http://schemas.microsoft.com/office/drawing/2014/main" id="{839F8B6C-1257-40DB-A669-7748CC8E6AEC}"/>
              </a:ext>
            </a:extLst>
          </p:cNvPr>
          <p:cNvSpPr>
            <a:spLocks xmlns:a="http://schemas.openxmlformats.org/drawingml/2006/main" noGrp="1"/>
          </p:cNvSpPr>
          <p:nvPr/>
        </p:nvSpPr>
        <p:spPr>
          <a:xfrm xmlns:a="http://schemas.openxmlformats.org/drawingml/2006/main">
            <a:off x="571500" y="5562600"/>
            <a:ext cx="1104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687369"/>
                </a:solidFill>
                <a:latin typeface="Pretendard"/>
                <a:ea typeface="Pretendard"/>
                <a:cs typeface="Pretendard"/>
              </a:defRPr>
            </a:defPPr>
          </a:lstStyle>
          <a:p xmlns:a="http://schemas.openxmlformats.org/drawingml/2006/main">
            <a:pPr>
              <a:defRPr sz="1575" b="0">
                <a:solidFill>
                  <a:srgbClr val="687369"/>
                </a:solidFill>
                <a:latin typeface="Pretendard"/>
                <a:ea typeface="Pretendard"/>
                <a:cs typeface="Pretendard"/>
              </a:defRPr>
            </a:pPr>
            <a:r>
              <a:rPr sz="1575" b="0">
                <a:solidFill>
                  <a:srgbClr val="687369"/>
                </a:solidFill>
                <a:latin typeface="Pretendard"/>
                <a:ea typeface="Pretendard"/>
                <a:cs typeface="Pretendard"/>
              </a:rPr>
              <a:t>공개자료·RFP 기반 CCK 분석 및 적용 설계</a:t>
            </a:r>
          </a:p>
        </p:txBody>
      </p:sp>
    </p:spTree>
    <p:extLst>
      <p:ext uri="{BB962C8B-B14F-4D97-AF65-F5344CB8AC3E}">
        <p14:creationId xmlns:p14="http://schemas.microsoft.com/office/powerpoint/2010/main" val="1380412023"/>
      </p:ext>
    </p:extLst>
  </p:cSld>
</p:sld>
</file>

<file path=ppt/slides/slide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3EFCDC3-DC34-430F-867B-B6B152F521C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AX01 / 성공 / 국내</a:t>
            </a:r>
          </a:p>
        </p:txBody>
      </p:sp>
      <p:sp>
        <p:nvSpPr>
          <p:cNvPr id="2" name="">
            <a:extLst xmlns:a="http://schemas.openxmlformats.org/drawingml/2006/main">
              <a:ext uri="{FF2B5EF4-FFF2-40B4-BE49-F238E27FC236}">
                <a16:creationId xmlns:a16="http://schemas.microsoft.com/office/drawing/2014/main" id="{D7DB0EED-B967-4462-879F-0E5CEC1B1FB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서울 올빼미버스</a:t>
            </a:r>
          </a:p>
        </p:txBody>
      </p:sp>
      <p:sp>
        <p:nvSpPr>
          <p:cNvPr id="3" name="">
            <a:extLst xmlns:a="http://schemas.openxmlformats.org/drawingml/2006/main">
              <a:ext uri="{FF2B5EF4-FFF2-40B4-BE49-F238E27FC236}">
                <a16:creationId xmlns:a16="http://schemas.microsoft.com/office/drawing/2014/main" id="{908E3C16-BC0F-4F98-92F8-4D36E408E3E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5DD8F9-4302-4795-B5A3-6FCC788BDDC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16AB82E-9F29-4BD0-8A86-68C00F656DF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02</a:t>
            </a:r>
          </a:p>
        </p:txBody>
      </p:sp>
      <p:sp>
        <p:nvSpPr>
          <p:cNvPr id="6" name="">
            <a:extLst xmlns:a="http://schemas.openxmlformats.org/drawingml/2006/main">
              <a:ext uri="{FF2B5EF4-FFF2-40B4-BE49-F238E27FC236}">
                <a16:creationId xmlns:a16="http://schemas.microsoft.com/office/drawing/2014/main" id="{3E4331D8-153A-4596-A966-B899F9EE7EC7}"/>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91350EFD-770C-4D49-81F6-0D4F52DBE789}"/>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심야 교통 수요를 실제 노선 결정에 연결한 데이터 기반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정책 사례. 기존 노선·운행계획을 검토하는 담당자가 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간대·지역별 잠재 수요를 함께 비교하는 업무 변화.</a:t>
            </a:r>
          </a:p>
        </p:txBody>
      </p:sp>
      <p:sp>
        <p:nvSpPr>
          <p:cNvPr id="8" name="">
            <a:extLst xmlns:a="http://schemas.openxmlformats.org/drawingml/2006/main">
              <a:ext uri="{FF2B5EF4-FFF2-40B4-BE49-F238E27FC236}">
                <a16:creationId xmlns:a16="http://schemas.microsoft.com/office/drawing/2014/main" id="{59A7E108-5B6E-4C6E-B7B4-C3C5D45EE394}"/>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93DA46F7-B8EE-48DA-99C1-D6B210DF6EE6}"/>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통신 이동량과 노선 정보를 공통 공간 단위로 정리한 뒤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수요 분포와 노선 후보를 비교하는 분석 흐름의 재구성.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CCK 적용 시 분석 결과를 담당 관할·교통약자 지원 업</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무·노선 검토자료로 변환하는 단계의 분리.</a:t>
            </a:r>
          </a:p>
        </p:txBody>
      </p:sp>
      <p:sp>
        <p:nvSpPr>
          <p:cNvPr id="10" name="">
            <a:extLst xmlns:a="http://schemas.openxmlformats.org/drawingml/2006/main">
              <a:ext uri="{FF2B5EF4-FFF2-40B4-BE49-F238E27FC236}">
                <a16:creationId xmlns:a16="http://schemas.microsoft.com/office/drawing/2014/main" id="{28B7B859-D4ED-4559-B508-27C5C6C69EFC}"/>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92665543-23EE-47F9-A464-412BEAE6AD68}"/>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운영 노선 확대 실적과 안전·지역경제 효과의 구분. 통신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자료의 대표성, 시간대별 집계 재현성, 실제 승차 수요와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의 차이를 확인한 후 TS 업무 검토시간·근거 누락률로 평</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가할 대상.</a:t>
            </a:r>
          </a:p>
        </p:txBody>
      </p:sp>
      <p:sp>
        <p:nvSpPr>
          <p:cNvPr id="12" name="">
            <a:extLst xmlns:a="http://schemas.openxmlformats.org/drawingml/2006/main">
              <a:ext uri="{FF2B5EF4-FFF2-40B4-BE49-F238E27FC236}">
                <a16:creationId xmlns:a16="http://schemas.microsoft.com/office/drawing/2014/main" id="{ED78CF04-496D-4BF0-B355-BB3FC12273F5}"/>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ABBB4514-838B-4B7D-A8E9-7DED46A21F64}"/>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지역·시간·관할 코드 정규화 / 집계 통계와 현장 근거 대조</a:t>
            </a:r>
          </a:p>
        </p:txBody>
      </p:sp>
      <p:sp>
        <p:nvSpPr>
          <p:cNvPr id="14" name="">
            <a:extLst xmlns:a="http://schemas.openxmlformats.org/drawingml/2006/main">
              <a:ext uri="{FF2B5EF4-FFF2-40B4-BE49-F238E27FC236}">
                <a16:creationId xmlns:a16="http://schemas.microsoft.com/office/drawing/2014/main" id="{F0C5007E-CFD2-4DA6-8134-B54C0B5A0429}"/>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F9E8409B-E04C-4240-B390-6F2E97C81F2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지역·기간의 원천 집계 재현 및 담당 부서 매핑 대조</a:t>
            </a:r>
          </a:p>
        </p:txBody>
      </p:sp>
      <p:sp>
        <p:nvSpPr>
          <p:cNvPr id="16" name="">
            <a:extLst xmlns:a="http://schemas.openxmlformats.org/drawingml/2006/main">
              <a:ext uri="{FF2B5EF4-FFF2-40B4-BE49-F238E27FC236}">
                <a16:creationId xmlns:a16="http://schemas.microsoft.com/office/drawing/2014/main" id="{486C1254-78B2-42C8-BB33-FF5D614BDB19}"/>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BB867B5F-FE13-41ED-B8E9-E49D5E41E6DC}"/>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수요 검토 소요시간 / 근거 누락률</a:t>
            </a:r>
          </a:p>
        </p:txBody>
      </p:sp>
      <p:sp>
        <p:nvSpPr>
          <p:cNvPr id="18" name="">
            <a:extLst xmlns:a="http://schemas.openxmlformats.org/drawingml/2006/main">
              <a:ext uri="{FF2B5EF4-FFF2-40B4-BE49-F238E27FC236}">
                <a16:creationId xmlns:a16="http://schemas.microsoft.com/office/drawing/2014/main" id="{A7D65560-700D-402E-A00B-B7C3B21F0857}"/>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운영기관 발표 · 생성형 AI 사례 아님 · 사고 감소·지역경제 인과효과 별도</a:t>
            </a:r>
          </a:p>
        </p:txBody>
      </p:sp>
    </p:spTree>
    <p:extLst>
      <p:ext uri="{BB962C8B-B14F-4D97-AF65-F5344CB8AC3E}">
        <p14:creationId xmlns:p14="http://schemas.microsoft.com/office/powerpoint/2010/main" val="1912821183"/>
      </p:ext>
    </p:extLst>
  </p:cSld>
</p:sld>
</file>

<file path=ppt/slides/slide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38" name="">
            <a:extLst xmlns:a="http://schemas.openxmlformats.org/drawingml/2006/main">
              <a:ext uri="{FF2B5EF4-FFF2-40B4-BE49-F238E27FC236}">
                <a16:creationId xmlns:a16="http://schemas.microsoft.com/office/drawing/2014/main" id="{5D8F5AD0-B756-4639-8F55-11AB4C8B27A8}"/>
              </a:ext>
            </a:extLst>
          </p:cNvPr>
          <p:cNvCxnSpPr>
            <a:stCxn xmlns:a="http://schemas.openxmlformats.org/drawingml/2006/main" id="28" idx="0"/>
            <a:endCxn xmlns:a="http://schemas.openxmlformats.org/drawingml/2006/main" id="13" idx="2"/>
          </p:cNvCxnSpPr>
          <p:nvPr/>
        </p:nvCxnSpPr>
        <p:spPr>
          <a:xfrm xmlns:a="http://schemas.openxmlformats.org/drawingml/2006/main" flipV="1">
            <a:off x="10620375" y="2905125"/>
            <a:ext cx="0" cy="13716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37" name="">
            <a:extLst xmlns:a="http://schemas.openxmlformats.org/drawingml/2006/main">
              <a:ext uri="{FF2B5EF4-FFF2-40B4-BE49-F238E27FC236}">
                <a16:creationId xmlns:a16="http://schemas.microsoft.com/office/drawing/2014/main" id="{FAFF562B-8DC5-445B-80ED-40BDB4F60D58}"/>
              </a:ext>
            </a:extLst>
          </p:cNvPr>
          <p:cNvCxnSpPr>
            <a:stCxn xmlns:a="http://schemas.openxmlformats.org/drawingml/2006/main" id="25" idx="3"/>
            <a:endCxn xmlns:a="http://schemas.openxmlformats.org/drawingml/2006/main" id="28" idx="1"/>
          </p:cNvCxnSpPr>
          <p:nvPr/>
        </p:nvCxnSpPr>
        <p:spPr>
          <a:xfrm xmlns:a="http://schemas.openxmlformats.org/drawingml/2006/main">
            <a:off x="9358313" y="48291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6" name="">
            <a:extLst xmlns:a="http://schemas.openxmlformats.org/drawingml/2006/main">
              <a:ext uri="{FF2B5EF4-FFF2-40B4-BE49-F238E27FC236}">
                <a16:creationId xmlns:a16="http://schemas.microsoft.com/office/drawing/2014/main" id="{510E8423-614E-46F3-81B4-C82E4A5811BB}"/>
              </a:ext>
            </a:extLst>
          </p:cNvPr>
          <p:cNvCxnSpPr>
            <a:stCxn xmlns:a="http://schemas.openxmlformats.org/drawingml/2006/main" id="22" idx="3"/>
            <a:endCxn xmlns:a="http://schemas.openxmlformats.org/drawingml/2006/main" id="25" idx="1"/>
          </p:cNvCxnSpPr>
          <p:nvPr/>
        </p:nvCxnSpPr>
        <p:spPr>
          <a:xfrm xmlns:a="http://schemas.openxmlformats.org/drawingml/2006/main">
            <a:off x="7096125"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5" name="">
            <a:extLst xmlns:a="http://schemas.openxmlformats.org/drawingml/2006/main">
              <a:ext uri="{FF2B5EF4-FFF2-40B4-BE49-F238E27FC236}">
                <a16:creationId xmlns:a16="http://schemas.microsoft.com/office/drawing/2014/main" id="{BD580F9E-88E3-4F9B-B08B-81B297EC525B}"/>
              </a:ext>
            </a:extLst>
          </p:cNvPr>
          <p:cNvCxnSpPr>
            <a:stCxn xmlns:a="http://schemas.openxmlformats.org/drawingml/2006/main" id="19" idx="3"/>
            <a:endCxn xmlns:a="http://schemas.openxmlformats.org/drawingml/2006/main" id="22" idx="1"/>
          </p:cNvCxnSpPr>
          <p:nvPr/>
        </p:nvCxnSpPr>
        <p:spPr>
          <a:xfrm xmlns:a="http://schemas.openxmlformats.org/drawingml/2006/main">
            <a:off x="4833938" y="4829175"/>
            <a:ext cx="261937"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4" name="">
            <a:extLst xmlns:a="http://schemas.openxmlformats.org/drawingml/2006/main">
              <a:ext uri="{FF2B5EF4-FFF2-40B4-BE49-F238E27FC236}">
                <a16:creationId xmlns:a16="http://schemas.microsoft.com/office/drawing/2014/main" id="{F01480C9-69CE-4853-B524-2217E3EEE187}"/>
              </a:ext>
            </a:extLst>
          </p:cNvPr>
          <p:cNvCxnSpPr>
            <a:stCxn xmlns:a="http://schemas.openxmlformats.org/drawingml/2006/main" id="16" idx="3"/>
            <a:endCxn xmlns:a="http://schemas.openxmlformats.org/drawingml/2006/main" id="19"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3" name="">
            <a:extLst xmlns:a="http://schemas.openxmlformats.org/drawingml/2006/main">
              <a:ext uri="{FF2B5EF4-FFF2-40B4-BE49-F238E27FC236}">
                <a16:creationId xmlns:a16="http://schemas.microsoft.com/office/drawing/2014/main" id="{C7AAD875-69C6-4FAD-BEAD-6F9BD1B3AE2D}"/>
              </a:ext>
            </a:extLst>
          </p:cNvPr>
          <p:cNvCxnSpPr>
            <a:stCxn xmlns:a="http://schemas.openxmlformats.org/drawingml/2006/main" id="13" idx="1"/>
            <a:endCxn xmlns:a="http://schemas.openxmlformats.org/drawingml/2006/main" id="16" idx="3"/>
          </p:cNvCxnSpPr>
          <p:nvPr/>
        </p:nvCxnSpPr>
        <p:spPr>
          <a:xfrm xmlns:a="http://schemas.openxmlformats.org/drawingml/2006/main" flipH="1">
            <a:off x="2571750" y="2352675"/>
            <a:ext cx="7048500" cy="24765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2" name="">
            <a:extLst xmlns:a="http://schemas.openxmlformats.org/drawingml/2006/main">
              <a:ext uri="{FF2B5EF4-FFF2-40B4-BE49-F238E27FC236}">
                <a16:creationId xmlns:a16="http://schemas.microsoft.com/office/drawing/2014/main" id="{5ACFD2EF-71CA-4B89-AD4B-3394E4D25D77}"/>
              </a:ext>
            </a:extLst>
          </p:cNvPr>
          <p:cNvCxnSpPr>
            <a:stCxn xmlns:a="http://schemas.openxmlformats.org/drawingml/2006/main" id="10" idx="3"/>
            <a:endCxn xmlns:a="http://schemas.openxmlformats.org/drawingml/2006/main" id="13" idx="1"/>
          </p:cNvCxnSpPr>
          <p:nvPr/>
        </p:nvCxnSpPr>
        <p:spPr>
          <a:xfrm xmlns:a="http://schemas.openxmlformats.org/drawingml/2006/main">
            <a:off x="7096125" y="2352675"/>
            <a:ext cx="2524125"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1" name="">
            <a:extLst xmlns:a="http://schemas.openxmlformats.org/drawingml/2006/main">
              <a:ext uri="{FF2B5EF4-FFF2-40B4-BE49-F238E27FC236}">
                <a16:creationId xmlns:a16="http://schemas.microsoft.com/office/drawing/2014/main" id="{863B1BE9-BFA4-4A8D-8184-0C4A6E62BD91}"/>
              </a:ext>
            </a:extLst>
          </p:cNvPr>
          <p:cNvCxnSpPr>
            <a:stCxn xmlns:a="http://schemas.openxmlformats.org/drawingml/2006/main" id="7" idx="3"/>
            <a:endCxn xmlns:a="http://schemas.openxmlformats.org/drawingml/2006/main" id="13" idx="1"/>
          </p:cNvCxnSpPr>
          <p:nvPr/>
        </p:nvCxnSpPr>
        <p:spPr>
          <a:xfrm xmlns:a="http://schemas.openxmlformats.org/drawingml/2006/main">
            <a:off x="2571750" y="2352675"/>
            <a:ext cx="70485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0" name="">
            <a:extLst xmlns:a="http://schemas.openxmlformats.org/drawingml/2006/main">
              <a:ext uri="{FF2B5EF4-FFF2-40B4-BE49-F238E27FC236}">
                <a16:creationId xmlns:a16="http://schemas.microsoft.com/office/drawing/2014/main" id="{1E95F0FA-9EFF-4980-9F7E-FAAED5C515C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AX01 / 복수 자료 결합·분석·검토·평가</a:t>
            </a:r>
          </a:p>
        </p:txBody>
      </p:sp>
      <p:sp>
        <p:nvSpPr>
          <p:cNvPr id="2" name="">
            <a:extLst xmlns:a="http://schemas.openxmlformats.org/drawingml/2006/main">
              <a:ext uri="{FF2B5EF4-FFF2-40B4-BE49-F238E27FC236}">
                <a16:creationId xmlns:a16="http://schemas.microsoft.com/office/drawing/2014/main" id="{5AE65FEC-A67E-410D-A513-F01A402CDE6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서울 올빼미버스 · 세부 서비스 구조</a:t>
            </a:r>
          </a:p>
        </p:txBody>
      </p:sp>
      <p:sp>
        <p:nvSpPr>
          <p:cNvPr id="3" name="">
            <a:extLst xmlns:a="http://schemas.openxmlformats.org/drawingml/2006/main">
              <a:ext uri="{FF2B5EF4-FFF2-40B4-BE49-F238E27FC236}">
                <a16:creationId xmlns:a16="http://schemas.microsoft.com/office/drawing/2014/main" id="{D5F93714-97C8-46FD-96DE-D6C12A18824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567B0A8-7015-4424-903B-298C67C8E85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193F6EC-16A9-4B4B-BCDC-68F8CE901B6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03</a:t>
            </a:r>
          </a:p>
        </p:txBody>
      </p:sp>
      <p:sp>
        <p:nvSpPr>
          <p:cNvPr id="6" name="">
            <a:extLst xmlns:a="http://schemas.openxmlformats.org/drawingml/2006/main">
              <a:ext uri="{FF2B5EF4-FFF2-40B4-BE49-F238E27FC236}">
                <a16:creationId xmlns:a16="http://schemas.microsoft.com/office/drawing/2014/main" id="{83970CC8-615C-48B6-A3C3-BEED852C91FD}"/>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통신 이동 수요 → 시간·지역 분석 → 노선 선정 → 심야버스 운영</a:t>
            </a:r>
          </a:p>
        </p:txBody>
      </p:sp>
      <p:sp>
        <p:nvSpPr>
          <p:cNvPr id="7" name="">
            <a:extLst xmlns:a="http://schemas.openxmlformats.org/drawingml/2006/main">
              <a:ext uri="{FF2B5EF4-FFF2-40B4-BE49-F238E27FC236}">
                <a16:creationId xmlns:a16="http://schemas.microsoft.com/office/drawing/2014/main" id="{F2D1B776-59A9-4C96-9869-4F98306B3B84}"/>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36106E61-40D7-4DDB-991D-F1D1B584BD8E}"/>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CA27918B-739E-4E83-BDB3-4C55A68E0DAC}"/>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통신·노선 자료</a:t>
            </a:r>
          </a:p>
        </p:txBody>
      </p:sp>
      <p:sp>
        <p:nvSpPr>
          <p:cNvPr id="10" name="">
            <a:extLst xmlns:a="http://schemas.openxmlformats.org/drawingml/2006/main">
              <a:ext uri="{FF2B5EF4-FFF2-40B4-BE49-F238E27FC236}">
                <a16:creationId xmlns:a16="http://schemas.microsoft.com/office/drawing/2014/main" id="{3D8207D0-B4BB-4024-BA7A-97266E8CC4FE}"/>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A81A73DD-4BCB-4358-8200-D4233A268617}"/>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2" name="">
            <a:extLst xmlns:a="http://schemas.openxmlformats.org/drawingml/2006/main">
              <a:ext uri="{FF2B5EF4-FFF2-40B4-BE49-F238E27FC236}">
                <a16:creationId xmlns:a16="http://schemas.microsoft.com/office/drawing/2014/main" id="{2F97E365-AAA1-4A12-8D99-CA9549003B04}"/>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수요 집계 조회</a:t>
            </a:r>
          </a:p>
        </p:txBody>
      </p:sp>
      <p:sp>
        <p:nvSpPr>
          <p:cNvPr id="13" name="">
            <a:extLst xmlns:a="http://schemas.openxmlformats.org/drawingml/2006/main">
              <a:ext uri="{FF2B5EF4-FFF2-40B4-BE49-F238E27FC236}">
                <a16:creationId xmlns:a16="http://schemas.microsoft.com/office/drawing/2014/main" id="{9F6E29DD-9C3A-463D-9B88-19F6DA0E310D}"/>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EF45E45F-1DBE-4EB8-919F-4B60E7114D6A}"/>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5" name="">
            <a:extLst xmlns:a="http://schemas.openxmlformats.org/drawingml/2006/main">
              <a:ext uri="{FF2B5EF4-FFF2-40B4-BE49-F238E27FC236}">
                <a16:creationId xmlns:a16="http://schemas.microsoft.com/office/drawing/2014/main" id="{EE97D5BB-5F90-4143-82B3-8866C52AB324}"/>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공간 단위 정합화</a:t>
            </a:r>
          </a:p>
        </p:txBody>
      </p:sp>
      <p:sp>
        <p:nvSpPr>
          <p:cNvPr id="16" name="">
            <a:extLst xmlns:a="http://schemas.openxmlformats.org/drawingml/2006/main">
              <a:ext uri="{FF2B5EF4-FFF2-40B4-BE49-F238E27FC236}">
                <a16:creationId xmlns:a16="http://schemas.microsoft.com/office/drawing/2014/main" id="{0F9AFDE9-1270-48FF-8304-92BBA399A4C0}"/>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46F4546-481F-4270-A0FF-5B1001C1BEC5}"/>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8" name="">
            <a:extLst xmlns:a="http://schemas.openxmlformats.org/drawingml/2006/main">
              <a:ext uri="{FF2B5EF4-FFF2-40B4-BE49-F238E27FC236}">
                <a16:creationId xmlns:a16="http://schemas.microsoft.com/office/drawing/2014/main" id="{6EDEEBD7-F506-4012-9A8D-DE13F8FCA432}"/>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노선 후보 분석</a:t>
            </a:r>
          </a:p>
        </p:txBody>
      </p:sp>
      <p:sp>
        <p:nvSpPr>
          <p:cNvPr id="19" name="">
            <a:extLst xmlns:a="http://schemas.openxmlformats.org/drawingml/2006/main">
              <a:ext uri="{FF2B5EF4-FFF2-40B4-BE49-F238E27FC236}">
                <a16:creationId xmlns:a16="http://schemas.microsoft.com/office/drawing/2014/main" id="{634C077A-2628-4F39-8F76-E0725B2B74EA}"/>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2CE32F07-B4B1-4241-8B59-7CAD7EB06295}"/>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21" name="">
            <a:extLst xmlns:a="http://schemas.openxmlformats.org/drawingml/2006/main">
              <a:ext uri="{FF2B5EF4-FFF2-40B4-BE49-F238E27FC236}">
                <a16:creationId xmlns:a16="http://schemas.microsoft.com/office/drawing/2014/main" id="{3DFE1C69-8929-49E1-9707-F18D48328AB5}"/>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대표성·집계 검증</a:t>
            </a:r>
          </a:p>
        </p:txBody>
      </p:sp>
      <p:sp>
        <p:nvSpPr>
          <p:cNvPr id="22" name="">
            <a:extLst xmlns:a="http://schemas.openxmlformats.org/drawingml/2006/main">
              <a:ext uri="{FF2B5EF4-FFF2-40B4-BE49-F238E27FC236}">
                <a16:creationId xmlns:a16="http://schemas.microsoft.com/office/drawing/2014/main" id="{5C5BD761-ABF2-4787-9131-19D99BD5793C}"/>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C9980488-FD1F-4764-B910-A9890D0621D5}"/>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4" name="">
            <a:extLst xmlns:a="http://schemas.openxmlformats.org/drawingml/2006/main">
              <a:ext uri="{FF2B5EF4-FFF2-40B4-BE49-F238E27FC236}">
                <a16:creationId xmlns:a16="http://schemas.microsoft.com/office/drawing/2014/main" id="{714E84A0-A37F-4E00-9D38-0FA432F69107}"/>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교통정책 검토</a:t>
            </a:r>
          </a:p>
        </p:txBody>
      </p:sp>
      <p:sp>
        <p:nvSpPr>
          <p:cNvPr id="25" name="">
            <a:extLst xmlns:a="http://schemas.openxmlformats.org/drawingml/2006/main">
              <a:ext uri="{FF2B5EF4-FFF2-40B4-BE49-F238E27FC236}">
                <a16:creationId xmlns:a16="http://schemas.microsoft.com/office/drawing/2014/main" id="{FB5E710C-EC06-47A1-8A84-A50781CA0FCA}"/>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5DDCEF3E-85C8-4588-A289-9C8D4A09097B}"/>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7" name="">
            <a:extLst xmlns:a="http://schemas.openxmlformats.org/drawingml/2006/main">
              <a:ext uri="{FF2B5EF4-FFF2-40B4-BE49-F238E27FC236}">
                <a16:creationId xmlns:a16="http://schemas.microsoft.com/office/drawing/2014/main" id="{0332B4A8-7E34-456D-B827-650AEA82EFA6}"/>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노선 운영계획</a:t>
            </a:r>
          </a:p>
        </p:txBody>
      </p:sp>
      <p:sp>
        <p:nvSpPr>
          <p:cNvPr id="28" name="">
            <a:extLst xmlns:a="http://schemas.openxmlformats.org/drawingml/2006/main">
              <a:ext uri="{FF2B5EF4-FFF2-40B4-BE49-F238E27FC236}">
                <a16:creationId xmlns:a16="http://schemas.microsoft.com/office/drawing/2014/main" id="{53811CAB-FFBF-46C3-BD2C-85E535F487B4}"/>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22BC8B45-64AE-4940-87D1-6A37A4C8D904}"/>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0" name="">
            <a:extLst xmlns:a="http://schemas.openxmlformats.org/drawingml/2006/main">
              <a:ext uri="{FF2B5EF4-FFF2-40B4-BE49-F238E27FC236}">
                <a16:creationId xmlns:a16="http://schemas.microsoft.com/office/drawing/2014/main" id="{A0B19ACF-94A6-4B35-9D97-6B41D76B881C}"/>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운행 수요 비교</a:t>
            </a:r>
          </a:p>
        </p:txBody>
      </p:sp>
      <p:sp>
        <p:nvSpPr>
          <p:cNvPr id="39" name="">
            <a:extLst xmlns:a="http://schemas.openxmlformats.org/drawingml/2006/main">
              <a:ext uri="{FF2B5EF4-FFF2-40B4-BE49-F238E27FC236}">
                <a16:creationId xmlns:a16="http://schemas.microsoft.com/office/drawing/2014/main" id="{CF212FF3-F674-4193-972C-F108650DB1B0}"/>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098332353"/>
      </p:ext>
    </p:extLst>
  </p:cSld>
</p:sld>
</file>

<file path=ppt/slides/slide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55D05DA-761A-48B0-91AB-640DC608623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AX01 / 논리 인터페이스·복구 설계</a:t>
            </a:r>
          </a:p>
        </p:txBody>
      </p:sp>
      <p:sp>
        <p:nvSpPr>
          <p:cNvPr id="2" name="">
            <a:extLst xmlns:a="http://schemas.openxmlformats.org/drawingml/2006/main">
              <a:ext uri="{FF2B5EF4-FFF2-40B4-BE49-F238E27FC236}">
                <a16:creationId xmlns:a16="http://schemas.microsoft.com/office/drawing/2014/main" id="{D0444C85-7020-42C9-8828-A31A8BC6B80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서울 올빼미버스 · 데이터와 예외 처리</a:t>
            </a:r>
          </a:p>
        </p:txBody>
      </p:sp>
      <p:sp>
        <p:nvSpPr>
          <p:cNvPr id="3" name="">
            <a:extLst xmlns:a="http://schemas.openxmlformats.org/drawingml/2006/main">
              <a:ext uri="{FF2B5EF4-FFF2-40B4-BE49-F238E27FC236}">
                <a16:creationId xmlns:a16="http://schemas.microsoft.com/office/drawing/2014/main" id="{4C121E68-CB71-42A9-82C8-6CCD6FF4A6E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3E4940C-F62E-4AFA-9991-4933DFC2310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0225AF6-D883-48C4-B6B3-852830236FD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04</a:t>
            </a:r>
          </a:p>
        </p:txBody>
      </p:sp>
      <p:sp>
        <p:nvSpPr>
          <p:cNvPr id="6" name="">
            <a:extLst xmlns:a="http://schemas.openxmlformats.org/drawingml/2006/main">
              <a:ext uri="{FF2B5EF4-FFF2-40B4-BE49-F238E27FC236}">
                <a16:creationId xmlns:a16="http://schemas.microsoft.com/office/drawing/2014/main" id="{B1243137-CCDF-4F78-BA8D-5DD632539033}"/>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8D55183-62EB-4BBB-B29D-AF3E57851F6D}"/>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5030AC9D-C4AC-4930-9873-022A5A5D09B6}"/>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자료</a:t>
            </a:r>
          </a:p>
        </p:txBody>
      </p:sp>
      <p:sp>
        <p:nvSpPr>
          <p:cNvPr id="9" name="">
            <a:extLst xmlns:a="http://schemas.openxmlformats.org/drawingml/2006/main">
              <a:ext uri="{FF2B5EF4-FFF2-40B4-BE49-F238E27FC236}">
                <a16:creationId xmlns:a16="http://schemas.microsoft.com/office/drawing/2014/main" id="{E2E61E6B-5B88-4332-AF2E-C660C413D5C3}"/>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수요·노선 자료</a:t>
            </a:r>
          </a:p>
        </p:txBody>
      </p:sp>
      <p:sp>
        <p:nvSpPr>
          <p:cNvPr id="10" name="">
            <a:extLst xmlns:a="http://schemas.openxmlformats.org/drawingml/2006/main">
              <a:ext uri="{FF2B5EF4-FFF2-40B4-BE49-F238E27FC236}">
                <a16:creationId xmlns:a16="http://schemas.microsoft.com/office/drawing/2014/main" id="{3904DCB0-D999-4E33-AE9E-D8E69FA57AAF}"/>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216E1C0-98F4-46B6-ABA4-D9EB7B035FB1}"/>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비교 자료</a:t>
            </a:r>
          </a:p>
        </p:txBody>
      </p:sp>
      <p:sp>
        <p:nvSpPr>
          <p:cNvPr id="12" name="">
            <a:extLst xmlns:a="http://schemas.openxmlformats.org/drawingml/2006/main">
              <a:ext uri="{FF2B5EF4-FFF2-40B4-BE49-F238E27FC236}">
                <a16:creationId xmlns:a16="http://schemas.microsoft.com/office/drawing/2014/main" id="{72BDF224-A6B8-41DC-B921-9DD592CF75ED}"/>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지역별 수요 분포</a:t>
            </a:r>
          </a:p>
        </p:txBody>
      </p:sp>
      <p:sp>
        <p:nvSpPr>
          <p:cNvPr id="13" name="">
            <a:extLst xmlns:a="http://schemas.openxmlformats.org/drawingml/2006/main">
              <a:ext uri="{FF2B5EF4-FFF2-40B4-BE49-F238E27FC236}">
                <a16:creationId xmlns:a16="http://schemas.microsoft.com/office/drawing/2014/main" id="{2127E4AC-B1AC-4032-BB96-40AD2B573531}"/>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15D4979-8E08-4991-A466-4C544C49A43C}"/>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정합화 특징</a:t>
            </a:r>
          </a:p>
        </p:txBody>
      </p:sp>
      <p:sp>
        <p:nvSpPr>
          <p:cNvPr id="15" name="">
            <a:extLst xmlns:a="http://schemas.openxmlformats.org/drawingml/2006/main">
              <a:ext uri="{FF2B5EF4-FFF2-40B4-BE49-F238E27FC236}">
                <a16:creationId xmlns:a16="http://schemas.microsoft.com/office/drawing/2014/main" id="{3D8EDD9C-8C66-426F-84A7-60E9CCC3EACD}"/>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6" name="">
            <a:extLst xmlns:a="http://schemas.openxmlformats.org/drawingml/2006/main">
              <a:ext uri="{FF2B5EF4-FFF2-40B4-BE49-F238E27FC236}">
                <a16:creationId xmlns:a16="http://schemas.microsoft.com/office/drawing/2014/main" id="{DF241EAF-00D7-4D56-9D6F-F7107C8C6E4E}"/>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47A206C-D756-44B8-9B83-96D9BC5DE70D}"/>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예측·분류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결과</a:t>
            </a:r>
          </a:p>
        </p:txBody>
      </p:sp>
      <p:sp>
        <p:nvSpPr>
          <p:cNvPr id="18" name="">
            <a:extLst xmlns:a="http://schemas.openxmlformats.org/drawingml/2006/main">
              <a:ext uri="{FF2B5EF4-FFF2-40B4-BE49-F238E27FC236}">
                <a16:creationId xmlns:a16="http://schemas.microsoft.com/office/drawing/2014/main" id="{9C37975D-E263-452D-878D-CD7C327D8CFF}"/>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노선 후보</a:t>
            </a:r>
          </a:p>
        </p:txBody>
      </p:sp>
      <p:sp>
        <p:nvSpPr>
          <p:cNvPr id="19" name="">
            <a:extLst xmlns:a="http://schemas.openxmlformats.org/drawingml/2006/main">
              <a:ext uri="{FF2B5EF4-FFF2-40B4-BE49-F238E27FC236}">
                <a16:creationId xmlns:a16="http://schemas.microsoft.com/office/drawing/2014/main" id="{622D0A15-74DD-4E39-B3F0-FBE4B3A7EF19}"/>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BB86098-70E6-451E-9CA3-1A0C842325A9}"/>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오차·편향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확인</a:t>
            </a:r>
          </a:p>
        </p:txBody>
      </p:sp>
      <p:sp>
        <p:nvSpPr>
          <p:cNvPr id="21" name="">
            <a:extLst xmlns:a="http://schemas.openxmlformats.org/drawingml/2006/main">
              <a:ext uri="{FF2B5EF4-FFF2-40B4-BE49-F238E27FC236}">
                <a16:creationId xmlns:a16="http://schemas.microsoft.com/office/drawing/2014/main" id="{03F7D23B-ECAA-460F-9BE1-98611D6BFA3A}"/>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노선 후보</a:t>
            </a:r>
          </a:p>
        </p:txBody>
      </p:sp>
      <p:sp>
        <p:nvSpPr>
          <p:cNvPr id="22" name="">
            <a:extLst xmlns:a="http://schemas.openxmlformats.org/drawingml/2006/main">
              <a:ext uri="{FF2B5EF4-FFF2-40B4-BE49-F238E27FC236}">
                <a16:creationId xmlns:a16="http://schemas.microsoft.com/office/drawing/2014/main" id="{9A304C2D-8A45-46AC-81EA-0E0DE8F26B30}"/>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27BC255-879D-450C-90A9-58B330C3FC58}"/>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적용 결과</a:t>
            </a:r>
          </a:p>
        </p:txBody>
      </p:sp>
      <p:sp>
        <p:nvSpPr>
          <p:cNvPr id="24" name="">
            <a:extLst xmlns:a="http://schemas.openxmlformats.org/drawingml/2006/main">
              <a:ext uri="{FF2B5EF4-FFF2-40B4-BE49-F238E27FC236}">
                <a16:creationId xmlns:a16="http://schemas.microsoft.com/office/drawing/2014/main" id="{D6FAC836-EAC1-4916-B7E3-C62E3B9B09C5}"/>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운영 노선</a:t>
            </a:r>
          </a:p>
        </p:txBody>
      </p:sp>
      <p:sp>
        <p:nvSpPr>
          <p:cNvPr id="25" name="">
            <a:extLst xmlns:a="http://schemas.openxmlformats.org/drawingml/2006/main">
              <a:ext uri="{FF2B5EF4-FFF2-40B4-BE49-F238E27FC236}">
                <a16:creationId xmlns:a16="http://schemas.microsoft.com/office/drawing/2014/main" id="{AD6E0DC2-80CD-41D2-ABF5-BDC8EF5F094C}"/>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A581DE78-B379-4859-808B-285C119A197C}"/>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지역별 통신 표본 비율 차이·관측기간 불일치</a:t>
            </a:r>
          </a:p>
        </p:txBody>
      </p:sp>
      <p:sp>
        <p:nvSpPr>
          <p:cNvPr id="27" name="">
            <a:extLst xmlns:a="http://schemas.openxmlformats.org/drawingml/2006/main">
              <a:ext uri="{FF2B5EF4-FFF2-40B4-BE49-F238E27FC236}">
                <a16:creationId xmlns:a16="http://schemas.microsoft.com/office/drawing/2014/main" id="{88DCDE1B-B916-461B-9A05-DAEA485AD6D5}"/>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F1209665-CF26-478C-9AAF-95A451D26F77}"/>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집계 단위·관측기간 대조</a:t>
            </a:r>
          </a:p>
        </p:txBody>
      </p:sp>
      <p:sp>
        <p:nvSpPr>
          <p:cNvPr id="29" name="">
            <a:extLst xmlns:a="http://schemas.openxmlformats.org/drawingml/2006/main">
              <a:ext uri="{FF2B5EF4-FFF2-40B4-BE49-F238E27FC236}">
                <a16:creationId xmlns:a16="http://schemas.microsoft.com/office/drawing/2014/main" id="{B9986FAC-F26B-4E42-A393-EC8195D76299}"/>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BCC47ED7-BC0A-42EA-9F1A-9EA858AAA3F1}"/>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운행 후 수요 차이를 차기 노선 검토에 반영</a:t>
            </a:r>
          </a:p>
        </p:txBody>
      </p:sp>
      <p:sp>
        <p:nvSpPr>
          <p:cNvPr id="31" name="">
            <a:extLst xmlns:a="http://schemas.openxmlformats.org/drawingml/2006/main">
              <a:ext uri="{FF2B5EF4-FFF2-40B4-BE49-F238E27FC236}">
                <a16:creationId xmlns:a16="http://schemas.microsoft.com/office/drawing/2014/main" id="{E98F2F97-AD78-4962-B0CC-5140CEF64265}"/>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8F4603ED-BCDF-420E-A48A-3EFA196956F5}"/>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지역·시간 단위 원천 집계 대사표와 노선 후보 선정 사유</a:t>
            </a:r>
          </a:p>
        </p:txBody>
      </p:sp>
    </p:spTree>
    <p:extLst>
      <p:ext uri="{BB962C8B-B14F-4D97-AF65-F5344CB8AC3E}">
        <p14:creationId xmlns:p14="http://schemas.microsoft.com/office/powerpoint/2010/main" val="1737092009"/>
      </p:ext>
    </p:extLst>
  </p:cSld>
</p:sld>
</file>

<file path=ppt/slides/slide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C232F36-1A96-4D21-91C6-F5A5043D19E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AX01 / CCK 비교·재현 시험 설계</a:t>
            </a:r>
          </a:p>
        </p:txBody>
      </p:sp>
      <p:sp>
        <p:nvSpPr>
          <p:cNvPr id="2" name="">
            <a:extLst xmlns:a="http://schemas.openxmlformats.org/drawingml/2006/main">
              <a:ext uri="{FF2B5EF4-FFF2-40B4-BE49-F238E27FC236}">
                <a16:creationId xmlns:a16="http://schemas.microsoft.com/office/drawing/2014/main" id="{8AB739C6-3DE1-48A2-8506-008B0C7F824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서울 올빼미버스 · 벤치마킹</a:t>
            </a:r>
          </a:p>
        </p:txBody>
      </p:sp>
      <p:sp>
        <p:nvSpPr>
          <p:cNvPr id="3" name="">
            <a:extLst xmlns:a="http://schemas.openxmlformats.org/drawingml/2006/main">
              <a:ext uri="{FF2B5EF4-FFF2-40B4-BE49-F238E27FC236}">
                <a16:creationId xmlns:a16="http://schemas.microsoft.com/office/drawing/2014/main" id="{402BD49D-18FA-4C91-9A42-AE4D86CF703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77173B0-4E1C-4B64-9D30-006A619AB48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54212F1-2B0B-4046-8A1E-F65B0305077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05</a:t>
            </a:r>
          </a:p>
        </p:txBody>
      </p:sp>
      <p:sp>
        <p:nvSpPr>
          <p:cNvPr id="6" name="">
            <a:extLst xmlns:a="http://schemas.openxmlformats.org/drawingml/2006/main">
              <a:ext uri="{FF2B5EF4-FFF2-40B4-BE49-F238E27FC236}">
                <a16:creationId xmlns:a16="http://schemas.microsoft.com/office/drawing/2014/main" id="{3C968934-DAE3-42CE-B1E8-1DE08F1C5091}"/>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A96081F9-121E-47E1-8B4C-F9DD7CE87570}"/>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통신 수요와 실제 노선의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심야 시간·지역 단위의 수요 구분</a:t>
            </a:r>
          </a:p>
        </p:txBody>
      </p:sp>
      <p:sp>
        <p:nvSpPr>
          <p:cNvPr id="8" name="">
            <a:extLst xmlns:a="http://schemas.openxmlformats.org/drawingml/2006/main">
              <a:ext uri="{FF2B5EF4-FFF2-40B4-BE49-F238E27FC236}">
                <a16:creationId xmlns:a16="http://schemas.microsoft.com/office/drawing/2014/main" id="{852FB0BE-C6F8-4503-A1AF-DCE3F2482EBD}"/>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42DEAD44-87D3-4039-8462-1BC9969B2A92}"/>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휴대전화 자료의 이용자 대표성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노선 확대와 사고 감소의 인과관계 분리</a:t>
            </a:r>
          </a:p>
        </p:txBody>
      </p:sp>
      <p:sp>
        <p:nvSpPr>
          <p:cNvPr id="10" name="">
            <a:extLst xmlns:a="http://schemas.openxmlformats.org/drawingml/2006/main">
              <a:ext uri="{FF2B5EF4-FFF2-40B4-BE49-F238E27FC236}">
                <a16:creationId xmlns:a16="http://schemas.microsoft.com/office/drawing/2014/main" id="{EC83AE89-7F6E-478A-BE32-F4E50861F8ED}"/>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133B0EF2-B989-45AD-9865-0E169E013D81}"/>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집계 단위·관측기간 대조</a:t>
            </a:r>
          </a:p>
        </p:txBody>
      </p:sp>
      <p:sp>
        <p:nvSpPr>
          <p:cNvPr id="12" name="">
            <a:extLst xmlns:a="http://schemas.openxmlformats.org/drawingml/2006/main">
              <a:ext uri="{FF2B5EF4-FFF2-40B4-BE49-F238E27FC236}">
                <a16:creationId xmlns:a16="http://schemas.microsoft.com/office/drawing/2014/main" id="{9FF40A8E-585C-46EC-81F3-E0D007846112}"/>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97BDB314-F1A8-4BBC-A799-967545005883}"/>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심야 시간대별 이동 수요를 기존 노선과 대조해 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충족 구간 선정</a:t>
            </a:r>
          </a:p>
        </p:txBody>
      </p:sp>
      <p:sp>
        <p:nvSpPr>
          <p:cNvPr id="14" name="">
            <a:extLst xmlns:a="http://schemas.openxmlformats.org/drawingml/2006/main">
              <a:ext uri="{FF2B5EF4-FFF2-40B4-BE49-F238E27FC236}">
                <a16:creationId xmlns:a16="http://schemas.microsoft.com/office/drawing/2014/main" id="{05A18C3D-E2E3-4717-ABFE-42EC7465AFC4}"/>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4E4EE1BE-1155-4BB8-91D1-436EE3535E2A}"/>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지역별 통신 표본 비율 차이·관측기간 불일치</a:t>
            </a:r>
          </a:p>
        </p:txBody>
      </p:sp>
      <p:sp>
        <p:nvSpPr>
          <p:cNvPr id="16" name="">
            <a:extLst xmlns:a="http://schemas.openxmlformats.org/drawingml/2006/main">
              <a:ext uri="{FF2B5EF4-FFF2-40B4-BE49-F238E27FC236}">
                <a16:creationId xmlns:a16="http://schemas.microsoft.com/office/drawing/2014/main" id="{84247960-2DAB-4429-AFCE-86F844FBB59E}"/>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E746BB1B-0AA1-4318-B4FC-2CBC86A4CB21}"/>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지역·시간 단위 원천 집계 대사표와 노선 후보 선정</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 사유</a:t>
            </a:r>
          </a:p>
        </p:txBody>
      </p:sp>
    </p:spTree>
    <p:extLst>
      <p:ext uri="{BB962C8B-B14F-4D97-AF65-F5344CB8AC3E}">
        <p14:creationId xmlns:p14="http://schemas.microsoft.com/office/powerpoint/2010/main" val="462993018"/>
      </p:ext>
    </p:extLst>
  </p:cSld>
</p:sld>
</file>

<file path=ppt/slides/slide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AD87FE9-74C7-4E51-A162-9AFC38AA83B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AX02 / 혼합 / 국내</a:t>
            </a:r>
          </a:p>
        </p:txBody>
      </p:sp>
      <p:sp>
        <p:nvSpPr>
          <p:cNvPr id="2" name="">
            <a:extLst xmlns:a="http://schemas.openxmlformats.org/drawingml/2006/main">
              <a:ext uri="{FF2B5EF4-FFF2-40B4-BE49-F238E27FC236}">
                <a16:creationId xmlns:a16="http://schemas.microsoft.com/office/drawing/2014/main" id="{1FA45B43-4E7B-44CE-B60B-C78892FD09C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CLOVA CareCall</a:t>
            </a:r>
          </a:p>
        </p:txBody>
      </p:sp>
      <p:sp>
        <p:nvSpPr>
          <p:cNvPr id="3" name="">
            <a:extLst xmlns:a="http://schemas.openxmlformats.org/drawingml/2006/main">
              <a:ext uri="{FF2B5EF4-FFF2-40B4-BE49-F238E27FC236}">
                <a16:creationId xmlns:a16="http://schemas.microsoft.com/office/drawing/2014/main" id="{14F021B0-DCFC-44A8-A2AA-C03BCD4BC96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0125492-84A4-468B-B0FB-69B714E889C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B1AAB0C-0509-48CA-A70F-677982932FD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06</a:t>
            </a:r>
          </a:p>
        </p:txBody>
      </p:sp>
      <p:sp>
        <p:nvSpPr>
          <p:cNvPr id="6" name="">
            <a:extLst xmlns:a="http://schemas.openxmlformats.org/drawingml/2006/main">
              <a:ext uri="{FF2B5EF4-FFF2-40B4-BE49-F238E27FC236}">
                <a16:creationId xmlns:a16="http://schemas.microsoft.com/office/drawing/2014/main" id="{52822578-6BB6-41D5-BBE7-BA1A432CF1C4}"/>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CB28FBBB-EC28-48CA-898E-B6530B9DCAAC}"/>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자유 발화 중심의 안부전화와 복지 담당자의 후속 대응</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결합한 서비스. 통화 자체의 자동화보다 대상자의 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황을 파악해 필요한 확인·방문 업무로 인계하는 연결이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핵심.</a:t>
            </a:r>
          </a:p>
        </p:txBody>
      </p:sp>
      <p:sp>
        <p:nvSpPr>
          <p:cNvPr id="8" name="">
            <a:extLst xmlns:a="http://schemas.openxmlformats.org/drawingml/2006/main">
              <a:ext uri="{FF2B5EF4-FFF2-40B4-BE49-F238E27FC236}">
                <a16:creationId xmlns:a16="http://schemas.microsoft.com/office/drawing/2014/main" id="{90968A5F-A9F2-4EEE-A3A7-3F2834F1BCCC}"/>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7D62CB03-6219-433E-9C9F-DF9DF457BE37}"/>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음성 대화 기록에서 상태와 확인할 내용을 정리하고 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당자가 대응 여부를 검토하는 흐름. TS 적용 설계에서는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민원 발화를 신청 목적·대상·지역 등 필수 항목으로 정</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리한 뒤 사용자 확인과 상담원 인계를 구성.</a:t>
            </a:r>
          </a:p>
        </p:txBody>
      </p:sp>
      <p:sp>
        <p:nvSpPr>
          <p:cNvPr id="10" name="">
            <a:extLst xmlns:a="http://schemas.openxmlformats.org/drawingml/2006/main">
              <a:ext uri="{FF2B5EF4-FFF2-40B4-BE49-F238E27FC236}">
                <a16:creationId xmlns:a16="http://schemas.microsoft.com/office/drawing/2014/main" id="{C37A0CAA-FB99-4020-95F1-E080E7D4EAD2}"/>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426B6065-C57D-4B88-8327-D8E3A29E6E84}"/>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인터뷰에서 보고된 부담 완화와 임상·복지 성과의 구분.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소음·방언·고령 발화의 인식 오류, 위험 신호의 미탐, 상담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원이 실제 인계받았는지를 별도로 측정할 필요.</a:t>
            </a:r>
          </a:p>
        </p:txBody>
      </p:sp>
      <p:sp>
        <p:nvSpPr>
          <p:cNvPr id="12" name="">
            <a:extLst xmlns:a="http://schemas.openxmlformats.org/drawingml/2006/main">
              <a:ext uri="{FF2B5EF4-FFF2-40B4-BE49-F238E27FC236}">
                <a16:creationId xmlns:a16="http://schemas.microsoft.com/office/drawing/2014/main" id="{61787803-9240-43E0-92BF-E5C5654DEDC1}"/>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621FB79E-63AF-4330-A101-4F80489D644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한국어 음성 연계 / 발화 정리 / 필수 항목 검증 / 상담 전환</a:t>
            </a:r>
          </a:p>
        </p:txBody>
      </p:sp>
      <p:sp>
        <p:nvSpPr>
          <p:cNvPr id="14" name="">
            <a:extLst xmlns:a="http://schemas.openxmlformats.org/drawingml/2006/main">
              <a:ext uri="{FF2B5EF4-FFF2-40B4-BE49-F238E27FC236}">
                <a16:creationId xmlns:a16="http://schemas.microsoft.com/office/drawing/2014/main" id="{864BAA2E-1F75-412B-A655-9F3B840DED66}"/>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526B8BB6-7CFE-44F2-8F14-20F680F1AFC6}"/>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고령·소음·방언 표본의 필수 항목 정확도 및 상담 전환 성</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공률</a:t>
            </a:r>
          </a:p>
        </p:txBody>
      </p:sp>
      <p:sp>
        <p:nvSpPr>
          <p:cNvPr id="16" name="">
            <a:extLst xmlns:a="http://schemas.openxmlformats.org/drawingml/2006/main">
              <a:ext uri="{FF2B5EF4-FFF2-40B4-BE49-F238E27FC236}">
                <a16:creationId xmlns:a16="http://schemas.microsoft.com/office/drawing/2014/main" id="{71F57671-A148-4DD7-A680-572122CAA1D5}"/>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EA157716-E838-45BF-9AFE-3E86A875A798}"/>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서비스 도달률 / 발화 재입력률 / 집단별 완료시간</a:t>
            </a:r>
          </a:p>
        </p:txBody>
      </p:sp>
      <p:sp>
        <p:nvSpPr>
          <p:cNvPr id="18" name="">
            <a:extLst xmlns:a="http://schemas.openxmlformats.org/drawingml/2006/main">
              <a:ext uri="{FF2B5EF4-FFF2-40B4-BE49-F238E27FC236}">
                <a16:creationId xmlns:a16="http://schemas.microsoft.com/office/drawing/2014/main" id="{CB600528-4C31-4650-8688-591AA70A9365}"/>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소규모 질적 연구 · 부적절 발화 통제와 지자체별 요구 반영의 난점 · 임상 효과 근거 아님</a:t>
            </a:r>
          </a:p>
        </p:txBody>
      </p:sp>
    </p:spTree>
    <p:extLst>
      <p:ext uri="{BB962C8B-B14F-4D97-AF65-F5344CB8AC3E}">
        <p14:creationId xmlns:p14="http://schemas.microsoft.com/office/powerpoint/2010/main" val="1646168891"/>
      </p:ext>
    </p:extLst>
  </p:cSld>
</p:sld>
</file>

<file path=ppt/slides/slide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4E41D205-5C54-437F-996E-908BFCAF4D26}"/>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218B6EE1-42DF-4CFE-89F6-F6F94235148B}"/>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5A1A1839-2FC2-4A4C-9FDE-C71B4EA619EC}"/>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96ADAFD3-BF77-4B59-822B-0839EA38BB05}"/>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D9ADE7D5-EA2B-4A73-B62C-E5E47844158D}"/>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CAFAFBEC-6358-4F94-A9D2-9B24E9258FCB}"/>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CDAFC7E6-ED29-4B3D-B3B5-F0FA3FFA9CF7}"/>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DD1717DD-0FB2-4510-9A43-8029C3D230A7}"/>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0EF4E98D-2B6D-4702-B9C3-6E0A16039601}"/>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D0C0649A-0AD2-4921-A9A0-61082F21C8B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AX02 / 입력 구조화·확인·업무시스템 처리</a:t>
            </a:r>
          </a:p>
        </p:txBody>
      </p:sp>
      <p:sp>
        <p:nvSpPr>
          <p:cNvPr id="2" name="">
            <a:extLst xmlns:a="http://schemas.openxmlformats.org/drawingml/2006/main">
              <a:ext uri="{FF2B5EF4-FFF2-40B4-BE49-F238E27FC236}">
                <a16:creationId xmlns:a16="http://schemas.microsoft.com/office/drawing/2014/main" id="{86C875AB-8BCA-45ED-991D-F653FF3F281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CLOVA CareCall · 세부 서비스 구조</a:t>
            </a:r>
          </a:p>
        </p:txBody>
      </p:sp>
      <p:sp>
        <p:nvSpPr>
          <p:cNvPr id="3" name="">
            <a:extLst xmlns:a="http://schemas.openxmlformats.org/drawingml/2006/main">
              <a:ext uri="{FF2B5EF4-FFF2-40B4-BE49-F238E27FC236}">
                <a16:creationId xmlns:a16="http://schemas.microsoft.com/office/drawing/2014/main" id="{A5E7D376-C431-43BF-9064-871E52BD7E9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CB5941F-D900-4B81-BAE9-915E1A96079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1CA35C1-6228-4668-9357-8B170ABE3AC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07</a:t>
            </a:r>
          </a:p>
        </p:txBody>
      </p:sp>
      <p:sp>
        <p:nvSpPr>
          <p:cNvPr id="6" name="">
            <a:extLst xmlns:a="http://schemas.openxmlformats.org/drawingml/2006/main">
              <a:ext uri="{FF2B5EF4-FFF2-40B4-BE49-F238E27FC236}">
                <a16:creationId xmlns:a16="http://schemas.microsoft.com/office/drawing/2014/main" id="{09204C07-16CF-46EE-B408-7A54ECA6F41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안부전화 → LLM 대화 → 내역 열람·분석 → 복지 담당자 대응</a:t>
            </a:r>
          </a:p>
        </p:txBody>
      </p:sp>
      <p:sp>
        <p:nvSpPr>
          <p:cNvPr id="7" name="">
            <a:extLst xmlns:a="http://schemas.openxmlformats.org/drawingml/2006/main">
              <a:ext uri="{FF2B5EF4-FFF2-40B4-BE49-F238E27FC236}">
                <a16:creationId xmlns:a16="http://schemas.microsoft.com/office/drawing/2014/main" id="{81E23E43-56FC-47A7-A7AF-0F6AA8C863A9}"/>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C60D32D7-0DA1-4642-AFDA-B43E1BA65F95}"/>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F0156C8B-E024-4B36-BF20-9734EF348C72}"/>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안부전화 접점</a:t>
            </a:r>
          </a:p>
        </p:txBody>
      </p:sp>
      <p:sp>
        <p:nvSpPr>
          <p:cNvPr id="10" name="">
            <a:extLst xmlns:a="http://schemas.openxmlformats.org/drawingml/2006/main">
              <a:ext uri="{FF2B5EF4-FFF2-40B4-BE49-F238E27FC236}">
                <a16:creationId xmlns:a16="http://schemas.microsoft.com/office/drawing/2014/main" id="{4204F5FF-9934-47CF-ADA4-71ACFC3AEF9F}"/>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F1D86BAB-83B2-41DB-8869-AE2CA9EB21F6}"/>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95E4B49C-6B2A-498E-9C54-0AF2548ADD85}"/>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대상·대화 맥락</a:t>
            </a:r>
          </a:p>
        </p:txBody>
      </p:sp>
      <p:sp>
        <p:nvSpPr>
          <p:cNvPr id="13" name="">
            <a:extLst xmlns:a="http://schemas.openxmlformats.org/drawingml/2006/main">
              <a:ext uri="{FF2B5EF4-FFF2-40B4-BE49-F238E27FC236}">
                <a16:creationId xmlns:a16="http://schemas.microsoft.com/office/drawing/2014/main" id="{450730A4-637E-4DE4-BA00-52B0BF339E0D}"/>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4363AF1F-BEC0-4485-95D0-E12D8210C2C0}"/>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C7993516-DB8A-4EAA-A456-B86AFD33A067}"/>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대화·상태 요약</a:t>
            </a:r>
          </a:p>
        </p:txBody>
      </p:sp>
      <p:sp>
        <p:nvSpPr>
          <p:cNvPr id="16" name="">
            <a:extLst xmlns:a="http://schemas.openxmlformats.org/drawingml/2006/main">
              <a:ext uri="{FF2B5EF4-FFF2-40B4-BE49-F238E27FC236}">
                <a16:creationId xmlns:a16="http://schemas.microsoft.com/office/drawing/2014/main" id="{4723878E-89B0-402A-8263-B13AF60D6881}"/>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8DEFBBBF-B518-4A97-8EC6-143470F3158E}"/>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D5737208-C2F8-448F-B4D4-30D3EBCDC118}"/>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위험 발화 확인</a:t>
            </a:r>
          </a:p>
        </p:txBody>
      </p:sp>
      <p:sp>
        <p:nvSpPr>
          <p:cNvPr id="19" name="">
            <a:extLst xmlns:a="http://schemas.openxmlformats.org/drawingml/2006/main">
              <a:ext uri="{FF2B5EF4-FFF2-40B4-BE49-F238E27FC236}">
                <a16:creationId xmlns:a16="http://schemas.microsoft.com/office/drawing/2014/main" id="{BD15736E-A3AA-4364-A7B4-8BE7E7907008}"/>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7673AE3A-481C-4E34-AC48-BE17F2A4F039}"/>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B719912A-3217-45E2-9DCC-89078455D12B}"/>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복지 담당 확인</a:t>
            </a:r>
          </a:p>
        </p:txBody>
      </p:sp>
      <p:sp>
        <p:nvSpPr>
          <p:cNvPr id="22" name="">
            <a:extLst xmlns:a="http://schemas.openxmlformats.org/drawingml/2006/main">
              <a:ext uri="{FF2B5EF4-FFF2-40B4-BE49-F238E27FC236}">
                <a16:creationId xmlns:a16="http://schemas.microsoft.com/office/drawing/2014/main" id="{05F5678D-5212-43FB-B139-92AAE2C338E4}"/>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58E45A2F-49BF-4EED-8067-D926747633FD}"/>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5F2DACB4-4542-4448-BFFD-F3C6D23C70F3}"/>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상담·방문 인계</a:t>
            </a:r>
          </a:p>
        </p:txBody>
      </p:sp>
      <p:sp>
        <p:nvSpPr>
          <p:cNvPr id="25" name="">
            <a:extLst xmlns:a="http://schemas.openxmlformats.org/drawingml/2006/main">
              <a:ext uri="{FF2B5EF4-FFF2-40B4-BE49-F238E27FC236}">
                <a16:creationId xmlns:a16="http://schemas.microsoft.com/office/drawing/2014/main" id="{B4A0EC40-F92A-4405-96E3-A13931BB7DFA}"/>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EE90EB79-B9CB-405A-B3C4-C7B905721186}"/>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05EAAB43-F13C-4D25-BEFC-0D885BEC9E46}"/>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동의받은 대화</a:t>
            </a:r>
          </a:p>
        </p:txBody>
      </p:sp>
      <p:sp>
        <p:nvSpPr>
          <p:cNvPr id="28" name="">
            <a:extLst xmlns:a="http://schemas.openxmlformats.org/drawingml/2006/main">
              <a:ext uri="{FF2B5EF4-FFF2-40B4-BE49-F238E27FC236}">
                <a16:creationId xmlns:a16="http://schemas.microsoft.com/office/drawing/2014/main" id="{DDB05D55-A7B5-4DB1-8F01-F29DEB732CE7}"/>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1EF13D9E-D4B0-4ABE-B94E-2EC063A4C820}"/>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E2E63B52-4202-4F11-A64A-9F168CA1B8EA}"/>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이전 대응 조회</a:t>
            </a:r>
          </a:p>
        </p:txBody>
      </p:sp>
      <p:sp>
        <p:nvSpPr>
          <p:cNvPr id="31" name="">
            <a:extLst xmlns:a="http://schemas.openxmlformats.org/drawingml/2006/main">
              <a:ext uri="{FF2B5EF4-FFF2-40B4-BE49-F238E27FC236}">
                <a16:creationId xmlns:a16="http://schemas.microsoft.com/office/drawing/2014/main" id="{52F28AD5-C039-4E9A-99E1-9A0C55CAD297}"/>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2F0EA677-6D08-47DB-B033-C3653D05C8FE}"/>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47142E76-9F41-4909-9EAC-3F88E41640D5}"/>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대화·대응 이력</a:t>
            </a:r>
          </a:p>
        </p:txBody>
      </p:sp>
      <p:sp>
        <p:nvSpPr>
          <p:cNvPr id="34" name="">
            <a:extLst xmlns:a="http://schemas.openxmlformats.org/drawingml/2006/main">
              <a:ext uri="{FF2B5EF4-FFF2-40B4-BE49-F238E27FC236}">
                <a16:creationId xmlns:a16="http://schemas.microsoft.com/office/drawing/2014/main" id="{5912E542-4DAE-4B20-9DAC-E90DC5C0A213}"/>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2C42AF7E-8963-42BB-852B-8B9BE94B66FD}"/>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8A9F53B8-F9BC-4E3A-AE5C-7D1F939D443F}"/>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조치 완료 추적</a:t>
            </a:r>
          </a:p>
        </p:txBody>
      </p:sp>
      <p:sp>
        <p:nvSpPr>
          <p:cNvPr id="46" name="">
            <a:extLst xmlns:a="http://schemas.openxmlformats.org/drawingml/2006/main">
              <a:ext uri="{FF2B5EF4-FFF2-40B4-BE49-F238E27FC236}">
                <a16:creationId xmlns:a16="http://schemas.microsoft.com/office/drawing/2014/main" id="{A1A7CEC6-311E-4830-9FB8-74800F703D87}"/>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697761592"/>
      </p:ext>
    </p:extLst>
  </p:cSld>
</p:sld>
</file>

<file path=ppt/slides/slide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93B730B-D637-4459-BAE2-65A5C6D3C95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AX02 / 논리 인터페이스·복구 설계</a:t>
            </a:r>
          </a:p>
        </p:txBody>
      </p:sp>
      <p:sp>
        <p:nvSpPr>
          <p:cNvPr id="2" name="">
            <a:extLst xmlns:a="http://schemas.openxmlformats.org/drawingml/2006/main">
              <a:ext uri="{FF2B5EF4-FFF2-40B4-BE49-F238E27FC236}">
                <a16:creationId xmlns:a16="http://schemas.microsoft.com/office/drawing/2014/main" id="{5EC42A8E-FC8F-415E-B7B8-8F6A7B68893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CLOVA CareCall · 데이터와 예외 처리</a:t>
            </a:r>
          </a:p>
        </p:txBody>
      </p:sp>
      <p:sp>
        <p:nvSpPr>
          <p:cNvPr id="3" name="">
            <a:extLst xmlns:a="http://schemas.openxmlformats.org/drawingml/2006/main">
              <a:ext uri="{FF2B5EF4-FFF2-40B4-BE49-F238E27FC236}">
                <a16:creationId xmlns:a16="http://schemas.microsoft.com/office/drawing/2014/main" id="{A273A98F-A39B-4C57-8619-0D5AA41E22C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92B9DB9-9009-4E79-9956-349A04AC1AE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E30B0F9-AB13-476F-8945-1BBA9D36C73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08</a:t>
            </a:r>
          </a:p>
        </p:txBody>
      </p:sp>
      <p:sp>
        <p:nvSpPr>
          <p:cNvPr id="6" name="">
            <a:extLst xmlns:a="http://schemas.openxmlformats.org/drawingml/2006/main">
              <a:ext uri="{FF2B5EF4-FFF2-40B4-BE49-F238E27FC236}">
                <a16:creationId xmlns:a16="http://schemas.microsoft.com/office/drawing/2014/main" id="{E25F15B2-B35C-443C-97D5-EDFC23876780}"/>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6608CFDE-AD23-4675-80D8-A9F5F1EB486F}"/>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C3AB5D29-3DA8-4E31-801B-C7ED7BE3189E}"/>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A413D741-C6B2-4745-9821-4DF5BE1EB9F8}"/>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전화 대상·대화 문맥의 구분</a:t>
            </a:r>
          </a:p>
        </p:txBody>
      </p:sp>
      <p:sp>
        <p:nvSpPr>
          <p:cNvPr id="10" name="">
            <a:extLst xmlns:a="http://schemas.openxmlformats.org/drawingml/2006/main">
              <a:ext uri="{FF2B5EF4-FFF2-40B4-BE49-F238E27FC236}">
                <a16:creationId xmlns:a16="http://schemas.microsoft.com/office/drawing/2014/main" id="{5E814C0F-57E7-444A-9676-4B359A3097EE}"/>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B41BB31-B574-4C14-BBB5-CAEEE7E5653E}"/>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C4E0B999-ABF1-4FA7-AD6C-CB3951EF70F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동의받은 발화</a:t>
            </a:r>
          </a:p>
        </p:txBody>
      </p:sp>
      <p:sp>
        <p:nvSpPr>
          <p:cNvPr id="13" name="">
            <a:extLst xmlns:a="http://schemas.openxmlformats.org/drawingml/2006/main">
              <a:ext uri="{FF2B5EF4-FFF2-40B4-BE49-F238E27FC236}">
                <a16:creationId xmlns:a16="http://schemas.microsoft.com/office/drawing/2014/main" id="{58FE8716-86B6-4D09-ACEE-A784D7820E68}"/>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8BABE1B-3B4D-4977-82D9-228CA8F66DA6}"/>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B67EF249-731C-452B-AD3D-EE2A718675B7}"/>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대화·후속 대응 기록</a:t>
            </a:r>
          </a:p>
        </p:txBody>
      </p:sp>
      <p:sp>
        <p:nvSpPr>
          <p:cNvPr id="16" name="">
            <a:extLst xmlns:a="http://schemas.openxmlformats.org/drawingml/2006/main">
              <a:ext uri="{FF2B5EF4-FFF2-40B4-BE49-F238E27FC236}">
                <a16:creationId xmlns:a16="http://schemas.microsoft.com/office/drawing/2014/main" id="{B69FFAAE-D937-48E7-A980-BB758520AC83}"/>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B9A153C-FC3E-44B7-9562-CBCAB46AAC6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C3A86DC9-5720-464E-B20A-51224CEFDE06}"/>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확인 필요 대상</a:t>
            </a:r>
          </a:p>
        </p:txBody>
      </p:sp>
      <p:sp>
        <p:nvSpPr>
          <p:cNvPr id="19" name="">
            <a:extLst xmlns:a="http://schemas.openxmlformats.org/drawingml/2006/main">
              <a:ext uri="{FF2B5EF4-FFF2-40B4-BE49-F238E27FC236}">
                <a16:creationId xmlns:a16="http://schemas.microsoft.com/office/drawing/2014/main" id="{65A2B4BA-21A9-4F0A-86EA-9BCB94DB5212}"/>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6DEC4CE-533C-42E1-8892-F49AE8ECA8C7}"/>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9EA2C756-9E17-4D6D-BB43-9E6E75C8FC26}"/>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담당자 대응 기록</a:t>
            </a:r>
          </a:p>
        </p:txBody>
      </p:sp>
      <p:sp>
        <p:nvSpPr>
          <p:cNvPr id="22" name="">
            <a:extLst xmlns:a="http://schemas.openxmlformats.org/drawingml/2006/main">
              <a:ext uri="{FF2B5EF4-FFF2-40B4-BE49-F238E27FC236}">
                <a16:creationId xmlns:a16="http://schemas.microsoft.com/office/drawing/2014/main" id="{EB7EF20F-C897-4984-8D0F-0C8725D287A3}"/>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6D0D8B4-C5BF-4C7A-AAB7-550D47418D19}"/>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CC180F2F-5A13-471A-8601-D1A2B401D0E2}"/>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담당자 대응 기록</a:t>
            </a:r>
          </a:p>
        </p:txBody>
      </p:sp>
      <p:sp>
        <p:nvSpPr>
          <p:cNvPr id="25" name="">
            <a:extLst xmlns:a="http://schemas.openxmlformats.org/drawingml/2006/main">
              <a:ext uri="{FF2B5EF4-FFF2-40B4-BE49-F238E27FC236}">
                <a16:creationId xmlns:a16="http://schemas.microsoft.com/office/drawing/2014/main" id="{A99151B9-8493-4E25-80DE-B25ABE9DB044}"/>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0C02599D-7E9F-42A2-9B56-02361FCB1749}"/>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방언·침묵·통화 중단·위험 발화의 부정문</a:t>
            </a:r>
          </a:p>
        </p:txBody>
      </p:sp>
      <p:sp>
        <p:nvSpPr>
          <p:cNvPr id="27" name="">
            <a:extLst xmlns:a="http://schemas.openxmlformats.org/drawingml/2006/main">
              <a:ext uri="{FF2B5EF4-FFF2-40B4-BE49-F238E27FC236}">
                <a16:creationId xmlns:a16="http://schemas.microsoft.com/office/drawing/2014/main" id="{4BAF0D74-6E4B-4606-84C2-559BD07500AC}"/>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B73DAB94-42BD-4A02-AADA-7FB34822A5E2}"/>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위험 신호의 사람 확인·상담 인계</a:t>
            </a:r>
          </a:p>
        </p:txBody>
      </p:sp>
      <p:sp>
        <p:nvSpPr>
          <p:cNvPr id="29" name="">
            <a:extLst xmlns:a="http://schemas.openxmlformats.org/drawingml/2006/main">
              <a:ext uri="{FF2B5EF4-FFF2-40B4-BE49-F238E27FC236}">
                <a16:creationId xmlns:a16="http://schemas.microsoft.com/office/drawing/2014/main" id="{CC0D285A-4D47-4371-8549-6A60315E4758}"/>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644A5C48-C930-4493-90F4-78765686FA1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오인식·부적절 발화와 실제 대응 결과 검토</a:t>
            </a:r>
          </a:p>
        </p:txBody>
      </p:sp>
      <p:sp>
        <p:nvSpPr>
          <p:cNvPr id="31" name="">
            <a:extLst xmlns:a="http://schemas.openxmlformats.org/drawingml/2006/main">
              <a:ext uri="{FF2B5EF4-FFF2-40B4-BE49-F238E27FC236}">
                <a16:creationId xmlns:a16="http://schemas.microsoft.com/office/drawing/2014/main" id="{D7CF95D9-5434-4221-A243-6D8ECE89568E}"/>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4E544CE8-18D6-4192-82E6-8C64CBC06DD1}"/>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 발화 대비 상태·위험 신호 추출표와 상담 인계 수신 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록</a:t>
            </a:r>
          </a:p>
        </p:txBody>
      </p:sp>
    </p:spTree>
    <p:extLst>
      <p:ext uri="{BB962C8B-B14F-4D97-AF65-F5344CB8AC3E}">
        <p14:creationId xmlns:p14="http://schemas.microsoft.com/office/powerpoint/2010/main" val="4930062"/>
      </p:ext>
    </p:extLst>
  </p:cSld>
</p:sld>
</file>

<file path=ppt/slides/slide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B837B4C-DAE6-447E-A422-83E711BDF06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AX02 / CCK 비교·재현 시험 설계</a:t>
            </a:r>
          </a:p>
        </p:txBody>
      </p:sp>
      <p:sp>
        <p:nvSpPr>
          <p:cNvPr id="2" name="">
            <a:extLst xmlns:a="http://schemas.openxmlformats.org/drawingml/2006/main">
              <a:ext uri="{FF2B5EF4-FFF2-40B4-BE49-F238E27FC236}">
                <a16:creationId xmlns:a16="http://schemas.microsoft.com/office/drawing/2014/main" id="{75237AEE-E881-4F50-A889-B0B4D0BD9AC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CLOVA CareCall · 벤치마킹</a:t>
            </a:r>
          </a:p>
        </p:txBody>
      </p:sp>
      <p:sp>
        <p:nvSpPr>
          <p:cNvPr id="3" name="">
            <a:extLst xmlns:a="http://schemas.openxmlformats.org/drawingml/2006/main">
              <a:ext uri="{FF2B5EF4-FFF2-40B4-BE49-F238E27FC236}">
                <a16:creationId xmlns:a16="http://schemas.microsoft.com/office/drawing/2014/main" id="{FB91DB74-F661-4F37-975C-1E19B212314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24CA7BE-699B-4332-887B-E8F812A9F3B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AABB66D-4CAD-4EC5-A424-DD029B68DEB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09</a:t>
            </a:r>
          </a:p>
        </p:txBody>
      </p:sp>
      <p:sp>
        <p:nvSpPr>
          <p:cNvPr id="6" name="">
            <a:extLst xmlns:a="http://schemas.openxmlformats.org/drawingml/2006/main">
              <a:ext uri="{FF2B5EF4-FFF2-40B4-BE49-F238E27FC236}">
                <a16:creationId xmlns:a16="http://schemas.microsoft.com/office/drawing/2014/main" id="{0A8B1CE9-702A-40FA-ABCA-AD00FB4324D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48C41658-F8AB-44B5-A17B-F5A51D6E4A67}"/>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전화 접점과 담당자 후속 대응의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이용자 상황을 반영한 대화</a:t>
            </a:r>
          </a:p>
        </p:txBody>
      </p:sp>
      <p:sp>
        <p:nvSpPr>
          <p:cNvPr id="8" name="">
            <a:extLst xmlns:a="http://schemas.openxmlformats.org/drawingml/2006/main">
              <a:ext uri="{FF2B5EF4-FFF2-40B4-BE49-F238E27FC236}">
                <a16:creationId xmlns:a16="http://schemas.microsoft.com/office/drawing/2014/main" id="{60B01528-BBA8-4397-B2E1-5795FF635B59}"/>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18A3A883-00D1-45E6-959B-229153E23455}"/>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위험 발화의 오해·미탐 가능성</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대화 종료와 실제 복지 조치의 혼동</a:t>
            </a:r>
          </a:p>
        </p:txBody>
      </p:sp>
      <p:sp>
        <p:nvSpPr>
          <p:cNvPr id="10" name="">
            <a:extLst xmlns:a="http://schemas.openxmlformats.org/drawingml/2006/main">
              <a:ext uri="{FF2B5EF4-FFF2-40B4-BE49-F238E27FC236}">
                <a16:creationId xmlns:a16="http://schemas.microsoft.com/office/drawing/2014/main" id="{BB0B4FA0-8F02-4A2C-97BF-088678780403}"/>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C1D9BFE7-1025-453C-82E1-55233C057C18}"/>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위험 신호의 사람 확인·상담 인계</a:t>
            </a:r>
          </a:p>
        </p:txBody>
      </p:sp>
      <p:sp>
        <p:nvSpPr>
          <p:cNvPr id="12" name="">
            <a:extLst xmlns:a="http://schemas.openxmlformats.org/drawingml/2006/main">
              <a:ext uri="{FF2B5EF4-FFF2-40B4-BE49-F238E27FC236}">
                <a16:creationId xmlns:a16="http://schemas.microsoft.com/office/drawing/2014/main" id="{C5455DB8-E200-49AB-90DF-CE397A0BBC72}"/>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01475503-CBA3-49AB-9238-736F76F9288F}"/>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통화에서 식사·수면·불편 사항을 파악하고 담당자</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가 후속 확인</a:t>
            </a:r>
          </a:p>
        </p:txBody>
      </p:sp>
      <p:sp>
        <p:nvSpPr>
          <p:cNvPr id="14" name="">
            <a:extLst xmlns:a="http://schemas.openxmlformats.org/drawingml/2006/main">
              <a:ext uri="{FF2B5EF4-FFF2-40B4-BE49-F238E27FC236}">
                <a16:creationId xmlns:a16="http://schemas.microsoft.com/office/drawing/2014/main" id="{F9014978-ABE5-43CC-BC59-AF2CDADBA346}"/>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F8E46987-6A0F-40D1-915C-5EE219A9D9F1}"/>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방언·침묵·통화 중단·위험 발화의 부정문</a:t>
            </a:r>
          </a:p>
        </p:txBody>
      </p:sp>
      <p:sp>
        <p:nvSpPr>
          <p:cNvPr id="16" name="">
            <a:extLst xmlns:a="http://schemas.openxmlformats.org/drawingml/2006/main">
              <a:ext uri="{FF2B5EF4-FFF2-40B4-BE49-F238E27FC236}">
                <a16:creationId xmlns:a16="http://schemas.microsoft.com/office/drawing/2014/main" id="{9373E68B-BB33-455F-A0D3-0402D32D952F}"/>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E033A9EA-C11F-44A1-A0BA-3F9FF19D9D09}"/>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 발화 대비 상태·위험 신호 추출표와 상담 인계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수신 기록</a:t>
            </a:r>
          </a:p>
        </p:txBody>
      </p:sp>
    </p:spTree>
    <p:extLst>
      <p:ext uri="{BB962C8B-B14F-4D97-AF65-F5344CB8AC3E}">
        <p14:creationId xmlns:p14="http://schemas.microsoft.com/office/powerpoint/2010/main" val="1256634206"/>
      </p:ext>
    </p:extLst>
  </p:cSld>
</p:sld>
</file>

<file path=ppt/slides/slide1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B1C2C87-734A-4195-82A9-24B426D21CF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AX03 / 실패 / 국내</a:t>
            </a:r>
          </a:p>
        </p:txBody>
      </p:sp>
      <p:sp>
        <p:nvSpPr>
          <p:cNvPr id="2" name="">
            <a:extLst xmlns:a="http://schemas.openxmlformats.org/drawingml/2006/main">
              <a:ext uri="{FF2B5EF4-FFF2-40B4-BE49-F238E27FC236}">
                <a16:creationId xmlns:a16="http://schemas.microsoft.com/office/drawing/2014/main" id="{95105E86-4DAD-4345-A816-852752A25A3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이루다 개인정보 처리</a:t>
            </a:r>
          </a:p>
        </p:txBody>
      </p:sp>
      <p:sp>
        <p:nvSpPr>
          <p:cNvPr id="3" name="">
            <a:extLst xmlns:a="http://schemas.openxmlformats.org/drawingml/2006/main">
              <a:ext uri="{FF2B5EF4-FFF2-40B4-BE49-F238E27FC236}">
                <a16:creationId xmlns:a16="http://schemas.microsoft.com/office/drawing/2014/main" id="{5E66C2B6-0A2E-446F-B03D-AACBE2EE353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44ABDA2-C6E5-4A89-97F5-5FF25FDA564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105F78A-6657-4D9F-8B6F-9D533B81F8A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a:t>
            </a:r>
          </a:p>
        </p:txBody>
      </p:sp>
      <p:sp>
        <p:nvSpPr>
          <p:cNvPr id="6" name="">
            <a:extLst xmlns:a="http://schemas.openxmlformats.org/drawingml/2006/main">
              <a:ext uri="{FF2B5EF4-FFF2-40B4-BE49-F238E27FC236}">
                <a16:creationId xmlns:a16="http://schemas.microsoft.com/office/drawing/2014/main" id="{CE5B6D1F-27A8-44C2-89B8-66CB4619B2F4}"/>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EB4CE119-9A60-4901-9C85-341DBC7C253B}"/>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다른 서비스에서 수집한 대화를 AI 학습·운영에 활용하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과정의 개인정보 통제 실패 사례. 자료를 보유한다는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사실과 해당 목적의 AI 이용 권한이 일치하지 않는 문제.</a:t>
            </a:r>
          </a:p>
        </p:txBody>
      </p:sp>
      <p:sp>
        <p:nvSpPr>
          <p:cNvPr id="8" name="">
            <a:extLst xmlns:a="http://schemas.openxmlformats.org/drawingml/2006/main">
              <a:ext uri="{FF2B5EF4-FFF2-40B4-BE49-F238E27FC236}">
                <a16:creationId xmlns:a16="http://schemas.microsoft.com/office/drawing/2014/main" id="{CFB2B84C-64B7-4E1D-BEC9-9AFDCB03CCA3}"/>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FD8830DB-2EA4-4B1A-AE55-194C26D25889}"/>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 수집 목적·동의 범위·보유기간을 데이터에 연결하고,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학습용·검색용·출력용 경로마다 허용 여부를 판정하는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CCK 재발 방지 설계. 삭제 요청은 원본뿐 아니라 색인·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캐시·복제본까지 추적하는 구조.</a:t>
            </a:r>
          </a:p>
        </p:txBody>
      </p:sp>
      <p:sp>
        <p:nvSpPr>
          <p:cNvPr id="10" name="">
            <a:extLst xmlns:a="http://schemas.openxmlformats.org/drawingml/2006/main">
              <a:ext uri="{FF2B5EF4-FFF2-40B4-BE49-F238E27FC236}">
                <a16:creationId xmlns:a16="http://schemas.microsoft.com/office/drawing/2014/main" id="{1FEEFEFC-EAAE-4775-99C5-6942F98EA22F}"/>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1C8CD6BE-B7A2-4448-91E4-9E2B22BA6885}"/>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인사·민원 데이터의 연결 시 업무 권한과 AI 재사용 목</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적을 별도 속성으로 관리할 근거. 민감정보를 포함한 실제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사용자 데이터를 시험에 노출하지 않고 비허용 목적·회수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상황을 합성 자료로 재현하는 검수.</a:t>
            </a:r>
          </a:p>
        </p:txBody>
      </p:sp>
      <p:sp>
        <p:nvSpPr>
          <p:cNvPr id="12" name="">
            <a:extLst xmlns:a="http://schemas.openxmlformats.org/drawingml/2006/main">
              <a:ext uri="{FF2B5EF4-FFF2-40B4-BE49-F238E27FC236}">
                <a16:creationId xmlns:a16="http://schemas.microsoft.com/office/drawing/2014/main" id="{F965DB25-6DD5-41C1-AB71-5987F5F07C9F}"/>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B0E1AE9F-56CE-4CAD-8084-F57CE47CA5D1}"/>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수집 목적 태그 / 학습·검색·출력별 정책 / 삭제·회수 전파</a:t>
            </a:r>
          </a:p>
        </p:txBody>
      </p:sp>
      <p:sp>
        <p:nvSpPr>
          <p:cNvPr id="14" name="">
            <a:extLst xmlns:a="http://schemas.openxmlformats.org/drawingml/2006/main">
              <a:ext uri="{FF2B5EF4-FFF2-40B4-BE49-F238E27FC236}">
                <a16:creationId xmlns:a16="http://schemas.microsoft.com/office/drawing/2014/main" id="{A6F8218A-D903-444E-BFDD-5476E9819029}"/>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D149C0C4-6071-4870-A950-44533C8DF393}"/>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목적 외 입력 거부·권한 회수 후 검색 및 캐시 노출 차단</a:t>
            </a:r>
          </a:p>
        </p:txBody>
      </p:sp>
      <p:sp>
        <p:nvSpPr>
          <p:cNvPr id="16" name="">
            <a:extLst xmlns:a="http://schemas.openxmlformats.org/drawingml/2006/main">
              <a:ext uri="{FF2B5EF4-FFF2-40B4-BE49-F238E27FC236}">
                <a16:creationId xmlns:a16="http://schemas.microsoft.com/office/drawing/2014/main" id="{EB9FCB13-075C-40EE-A14D-8A8EE8143645}"/>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40AC8C0F-2EDB-4C32-A5A4-29B8943A0B2F}"/>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필수 거부셋 노출 건수 / 삭제 전파 지연</a:t>
            </a:r>
          </a:p>
        </p:txBody>
      </p:sp>
      <p:sp>
        <p:nvSpPr>
          <p:cNvPr id="18" name="">
            <a:extLst xmlns:a="http://schemas.openxmlformats.org/drawingml/2006/main">
              <a:ext uri="{FF2B5EF4-FFF2-40B4-BE49-F238E27FC236}">
                <a16:creationId xmlns:a16="http://schemas.microsoft.com/office/drawing/2014/main" id="{22820438-500C-4F22-88A2-80063DBFDB89}"/>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2021년 조사 대상 행위 기준 · 후속 서비스 전체에 대한 평가 아님</a:t>
            </a:r>
          </a:p>
        </p:txBody>
      </p:sp>
    </p:spTree>
    <p:extLst>
      <p:ext uri="{BB962C8B-B14F-4D97-AF65-F5344CB8AC3E}">
        <p14:creationId xmlns:p14="http://schemas.microsoft.com/office/powerpoint/2010/main" val="779851465"/>
      </p:ext>
    </p:extLst>
  </p:cSld>
</p:sld>
</file>

<file path=ppt/slides/slide1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FF2BED46-DD81-4B76-9991-05691FD2288A}"/>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A56B003B-104B-48D1-9A59-76819AA4428F}"/>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861B4ABE-DAE7-436B-96AF-67EF3E894A6C}"/>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7ECDE033-E8FA-440A-8C86-C69C1BA34B09}"/>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08AB5E82-4736-40B9-9DAB-61F14728C153}"/>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0EDC29BA-78DA-4493-9BA6-05C5CFD00CC0}"/>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C392E3D0-CA96-4C97-AD83-6ADC441F528C}"/>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0677985C-D77C-4FAC-A67A-19E03DA9CF4E}"/>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A976775E-050B-4A82-96B9-B198BD16A08D}"/>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3FF9DDA8-0C00-499C-B2F3-A32711DCAAC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AX03 / 권한·목적 판정 후 허용·차단 분기</a:t>
            </a:r>
          </a:p>
        </p:txBody>
      </p:sp>
      <p:sp>
        <p:nvSpPr>
          <p:cNvPr id="2" name="">
            <a:extLst xmlns:a="http://schemas.openxmlformats.org/drawingml/2006/main">
              <a:ext uri="{FF2B5EF4-FFF2-40B4-BE49-F238E27FC236}">
                <a16:creationId xmlns:a16="http://schemas.microsoft.com/office/drawing/2014/main" id="{162749EA-7410-4CD0-A838-6028DF684AF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이루다 개인정보 처리 · 세부 서비스 구조</a:t>
            </a:r>
          </a:p>
        </p:txBody>
      </p:sp>
      <p:sp>
        <p:nvSpPr>
          <p:cNvPr id="3" name="">
            <a:extLst xmlns:a="http://schemas.openxmlformats.org/drawingml/2006/main">
              <a:ext uri="{FF2B5EF4-FFF2-40B4-BE49-F238E27FC236}">
                <a16:creationId xmlns:a16="http://schemas.microsoft.com/office/drawing/2014/main" id="{5C9EA8D8-78DA-4DC6-B5C4-E56623C46E2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EC511FA-BA7F-4FF8-B59B-B03E8E81F87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6F87568-F93E-40F7-B8EC-53C04B1A6D9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a:t>
            </a:r>
          </a:p>
        </p:txBody>
      </p:sp>
      <p:sp>
        <p:nvSpPr>
          <p:cNvPr id="6" name="">
            <a:extLst xmlns:a="http://schemas.openxmlformats.org/drawingml/2006/main">
              <a:ext uri="{FF2B5EF4-FFF2-40B4-BE49-F238E27FC236}">
                <a16:creationId xmlns:a16="http://schemas.microsoft.com/office/drawing/2014/main" id="{D89DBB6F-5182-4BA1-9C0A-292BE6E6C609}"/>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원 서비스 대화 → 목적 외 재사용 → 학습·응답 DB → 이루다 발화</a:t>
            </a:r>
          </a:p>
        </p:txBody>
      </p:sp>
      <p:sp>
        <p:nvSpPr>
          <p:cNvPr id="7" name="">
            <a:extLst xmlns:a="http://schemas.openxmlformats.org/drawingml/2006/main">
              <a:ext uri="{FF2B5EF4-FFF2-40B4-BE49-F238E27FC236}">
                <a16:creationId xmlns:a16="http://schemas.microsoft.com/office/drawing/2014/main" id="{14C97F97-1D79-4359-B4B9-E4DFF7576343}"/>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90680AEA-884D-4F7F-8143-30A3DBF0C5FB}"/>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5DA12B9E-C1C6-4723-B6F9-ACB0537FAC0B}"/>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재사용 요청</a:t>
            </a:r>
          </a:p>
        </p:txBody>
      </p:sp>
      <p:sp>
        <p:nvSpPr>
          <p:cNvPr id="10" name="">
            <a:extLst xmlns:a="http://schemas.openxmlformats.org/drawingml/2006/main">
              <a:ext uri="{FF2B5EF4-FFF2-40B4-BE49-F238E27FC236}">
                <a16:creationId xmlns:a16="http://schemas.microsoft.com/office/drawing/2014/main" id="{1DB508B9-5688-4366-8856-F17C5BA023A4}"/>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E538BD7F-8C1C-4CCD-A384-8F6AF73E9BE0}"/>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2A8D13B2-A5A5-4224-8396-62574A7F6F9D}"/>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목적·동의 범위</a:t>
            </a:r>
          </a:p>
        </p:txBody>
      </p:sp>
      <p:sp>
        <p:nvSpPr>
          <p:cNvPr id="13" name="">
            <a:extLst xmlns:a="http://schemas.openxmlformats.org/drawingml/2006/main">
              <a:ext uri="{FF2B5EF4-FFF2-40B4-BE49-F238E27FC236}">
                <a16:creationId xmlns:a16="http://schemas.microsoft.com/office/drawing/2014/main" id="{1CA09DFB-F693-4E25-BD1B-666DF21728B4}"/>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0F591975-7C41-4A3C-A160-E8F9FFB2B514}"/>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3049A09B-8C5E-4388-8CF5-EAD182C7A986}"/>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삭제·보유정책</a:t>
            </a:r>
          </a:p>
        </p:txBody>
      </p:sp>
      <p:sp>
        <p:nvSpPr>
          <p:cNvPr id="16" name="">
            <a:extLst xmlns:a="http://schemas.openxmlformats.org/drawingml/2006/main">
              <a:ext uri="{FF2B5EF4-FFF2-40B4-BE49-F238E27FC236}">
                <a16:creationId xmlns:a16="http://schemas.microsoft.com/office/drawing/2014/main" id="{AD0C62A5-15A8-4517-A284-73F46E37D506}"/>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9111CDE5-341E-4990-9753-4933EEF3CF87}"/>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798BAD3C-70FC-468E-9356-45AAD995046A}"/>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목적 외 이용 차단</a:t>
            </a:r>
          </a:p>
        </p:txBody>
      </p:sp>
      <p:sp>
        <p:nvSpPr>
          <p:cNvPr id="19" name="">
            <a:extLst xmlns:a="http://schemas.openxmlformats.org/drawingml/2006/main">
              <a:ext uri="{FF2B5EF4-FFF2-40B4-BE49-F238E27FC236}">
                <a16:creationId xmlns:a16="http://schemas.microsoft.com/office/drawing/2014/main" id="{DC1268FB-6327-48DC-8E8F-DF05012C4248}"/>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23B5E5C3-664B-4071-AAA8-F6FF5ED44134}"/>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6D7A4D52-6B22-4232-8D0C-4B1CD65F7509}"/>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 서비스 대화</a:t>
            </a:r>
          </a:p>
        </p:txBody>
      </p:sp>
      <p:sp>
        <p:nvSpPr>
          <p:cNvPr id="22" name="">
            <a:extLst xmlns:a="http://schemas.openxmlformats.org/drawingml/2006/main">
              <a:ext uri="{FF2B5EF4-FFF2-40B4-BE49-F238E27FC236}">
                <a16:creationId xmlns:a16="http://schemas.microsoft.com/office/drawing/2014/main" id="{D09D3291-16AB-4C99-AA2F-982A78C39AAC}"/>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2534FBB-A22C-41ED-AC3E-FFD98AC10499}"/>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9AAA5A2C-2741-4B8F-9DF3-9C6B6FEC3593}"/>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학습·응답 분리</a:t>
            </a:r>
          </a:p>
        </p:txBody>
      </p:sp>
      <p:sp>
        <p:nvSpPr>
          <p:cNvPr id="25" name="">
            <a:extLst xmlns:a="http://schemas.openxmlformats.org/drawingml/2006/main">
              <a:ext uri="{FF2B5EF4-FFF2-40B4-BE49-F238E27FC236}">
                <a16:creationId xmlns:a16="http://schemas.microsoft.com/office/drawing/2014/main" id="{4E8F27FC-959F-4522-8088-ED16F41B11F7}"/>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655EF7E0-9DF6-4D92-9D56-D34F7B778A68}"/>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F8F40880-AB78-40C1-8203-57F69612F05C}"/>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자료 관리자 심사</a:t>
            </a:r>
          </a:p>
        </p:txBody>
      </p:sp>
      <p:sp>
        <p:nvSpPr>
          <p:cNvPr id="28" name="">
            <a:extLst xmlns:a="http://schemas.openxmlformats.org/drawingml/2006/main">
              <a:ext uri="{FF2B5EF4-FFF2-40B4-BE49-F238E27FC236}">
                <a16:creationId xmlns:a16="http://schemas.microsoft.com/office/drawing/2014/main" id="{53B16BBB-E6D2-43E7-A166-8FDFCD8783F9}"/>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F854DBB7-CC70-4B2C-B5E1-564B9EC7B8F8}"/>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0CDF7AD3-6C93-4C9C-A161-19716753FFD4}"/>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허용본·회수 처리</a:t>
            </a:r>
          </a:p>
        </p:txBody>
      </p:sp>
      <p:sp>
        <p:nvSpPr>
          <p:cNvPr id="31" name="">
            <a:extLst xmlns:a="http://schemas.openxmlformats.org/drawingml/2006/main">
              <a:ext uri="{FF2B5EF4-FFF2-40B4-BE49-F238E27FC236}">
                <a16:creationId xmlns:a16="http://schemas.microsoft.com/office/drawing/2014/main" id="{3158F9A0-FA7A-44E0-A4C4-228A6EAE7E19}"/>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B77EFF8B-D03E-401D-82F8-9B114AB328B8}"/>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DC4E0188-D417-4C2F-A7F3-8C2F403C7960}"/>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잔존 데이터 검사</a:t>
            </a:r>
          </a:p>
        </p:txBody>
      </p:sp>
      <p:sp>
        <p:nvSpPr>
          <p:cNvPr id="34" name="">
            <a:extLst xmlns:a="http://schemas.openxmlformats.org/drawingml/2006/main">
              <a:ext uri="{FF2B5EF4-FFF2-40B4-BE49-F238E27FC236}">
                <a16:creationId xmlns:a16="http://schemas.microsoft.com/office/drawing/2014/main" id="{75E7B5EA-511F-4059-9F97-F3E5F2257B2E}"/>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DD306DDB-978B-44EF-9DA6-5AA85EECB308}"/>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B47BE144-7D0F-495A-B6EC-9DDB27E341F9}"/>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복제본·판본 목록</a:t>
            </a:r>
          </a:p>
        </p:txBody>
      </p:sp>
      <p:sp>
        <p:nvSpPr>
          <p:cNvPr id="46" name="">
            <a:extLst xmlns:a="http://schemas.openxmlformats.org/drawingml/2006/main">
              <a:ext uri="{FF2B5EF4-FFF2-40B4-BE49-F238E27FC236}">
                <a16:creationId xmlns:a16="http://schemas.microsoft.com/office/drawing/2014/main" id="{40706BF3-F7DF-4652-84F9-E71F82D8F787}"/>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358333923"/>
      </p:ext>
    </p:extLst>
  </p:cSld>
</p:sld>
</file>

<file path=ppt/slides/slide1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513A38D-4CDD-4450-A274-DA1839D96C0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AX03 / 논리 인터페이스·복구 설계</a:t>
            </a:r>
          </a:p>
        </p:txBody>
      </p:sp>
      <p:sp>
        <p:nvSpPr>
          <p:cNvPr id="2" name="">
            <a:extLst xmlns:a="http://schemas.openxmlformats.org/drawingml/2006/main">
              <a:ext uri="{FF2B5EF4-FFF2-40B4-BE49-F238E27FC236}">
                <a16:creationId xmlns:a16="http://schemas.microsoft.com/office/drawing/2014/main" id="{1732962C-5D50-41BE-BB0B-4113B7ECBE5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이루다 개인정보 처리 · 데이터와 예외 처리</a:t>
            </a:r>
          </a:p>
        </p:txBody>
      </p:sp>
      <p:sp>
        <p:nvSpPr>
          <p:cNvPr id="3" name="">
            <a:extLst xmlns:a="http://schemas.openxmlformats.org/drawingml/2006/main">
              <a:ext uri="{FF2B5EF4-FFF2-40B4-BE49-F238E27FC236}">
                <a16:creationId xmlns:a16="http://schemas.microsoft.com/office/drawing/2014/main" id="{E041590D-198F-4284-94CF-BE406D7BFED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BAE3BA9-D7AD-4A81-BC14-2EAA679F55C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F8F333C-B92D-4061-9248-3733C0C0DDF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a:t>
            </a:r>
          </a:p>
        </p:txBody>
      </p:sp>
      <p:sp>
        <p:nvSpPr>
          <p:cNvPr id="6" name="">
            <a:extLst xmlns:a="http://schemas.openxmlformats.org/drawingml/2006/main">
              <a:ext uri="{FF2B5EF4-FFF2-40B4-BE49-F238E27FC236}">
                <a16:creationId xmlns:a16="http://schemas.microsoft.com/office/drawing/2014/main" id="{E1A0DF68-5977-482E-B4FD-D636C94B4940}"/>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7C949DF0-0D41-4789-B442-90FC3B09B9EF}"/>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B2D75DFA-81DC-435B-AA6F-091435C0A5F6}"/>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04115DF9-54D6-4C6B-A302-CB01AD0F82B1}"/>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원 서비스 동의와 재사용 목적의 대조</a:t>
            </a:r>
          </a:p>
        </p:txBody>
      </p:sp>
      <p:sp>
        <p:nvSpPr>
          <p:cNvPr id="10" name="">
            <a:extLst xmlns:a="http://schemas.openxmlformats.org/drawingml/2006/main">
              <a:ext uri="{FF2B5EF4-FFF2-40B4-BE49-F238E27FC236}">
                <a16:creationId xmlns:a16="http://schemas.microsoft.com/office/drawing/2014/main" id="{640B02FA-8743-43BD-946B-AE7B3ED678E2}"/>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F8B558B-26CE-4F81-803A-A075B3F89CE9}"/>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E60C8EC6-E0BD-43B4-B0DE-9E92D3814F61}"/>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대화 원문</a:t>
            </a:r>
          </a:p>
        </p:txBody>
      </p:sp>
      <p:sp>
        <p:nvSpPr>
          <p:cNvPr id="13" name="">
            <a:extLst xmlns:a="http://schemas.openxmlformats.org/drawingml/2006/main">
              <a:ext uri="{FF2B5EF4-FFF2-40B4-BE49-F238E27FC236}">
                <a16:creationId xmlns:a16="http://schemas.microsoft.com/office/drawing/2014/main" id="{A3F8223A-34E3-470C-B83E-3DFD232BA7C9}"/>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C6D36FF-FEA5-4807-BDE4-05B5C2F48F45}"/>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D89D9D3B-C162-4A3A-B990-F66A659F0118}"/>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삭제·보유정책</a:t>
            </a:r>
          </a:p>
        </p:txBody>
      </p:sp>
      <p:sp>
        <p:nvSpPr>
          <p:cNvPr id="16" name="">
            <a:extLst xmlns:a="http://schemas.openxmlformats.org/drawingml/2006/main">
              <a:ext uri="{FF2B5EF4-FFF2-40B4-BE49-F238E27FC236}">
                <a16:creationId xmlns:a16="http://schemas.microsoft.com/office/drawing/2014/main" id="{BC8129A0-E628-428D-93D0-0656A1802AB2}"/>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3A435A4-033B-4C53-B90D-51AD5FC6C9CE}"/>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49D83E7E-5234-4CF4-B4E2-1523ED8099CA}"/>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학습·응답 자료</a:t>
            </a:r>
          </a:p>
        </p:txBody>
      </p:sp>
      <p:sp>
        <p:nvSpPr>
          <p:cNvPr id="19" name="">
            <a:extLst xmlns:a="http://schemas.openxmlformats.org/drawingml/2006/main">
              <a:ext uri="{FF2B5EF4-FFF2-40B4-BE49-F238E27FC236}">
                <a16:creationId xmlns:a16="http://schemas.microsoft.com/office/drawing/2014/main" id="{57D4C320-3F41-4DF2-88D6-2CC43832166B}"/>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0A78BE8-6869-416F-94B4-86D48E9815AD}"/>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4A3791F5-786C-450D-9234-B2180F42893D}"/>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학습·응답 자료</a:t>
            </a:r>
          </a:p>
        </p:txBody>
      </p:sp>
      <p:sp>
        <p:nvSpPr>
          <p:cNvPr id="22" name="">
            <a:extLst xmlns:a="http://schemas.openxmlformats.org/drawingml/2006/main">
              <a:ext uri="{FF2B5EF4-FFF2-40B4-BE49-F238E27FC236}">
                <a16:creationId xmlns:a16="http://schemas.microsoft.com/office/drawing/2014/main" id="{C0AB7D58-C3EC-45F5-8001-CE4DCD03869F}"/>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0A4FE21-25C7-4742-B8BA-ED9F78E43582}"/>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228BE89E-F4AA-4222-8145-8FBD4CAFCE87}"/>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생성 발화</a:t>
            </a:r>
          </a:p>
        </p:txBody>
      </p:sp>
      <p:sp>
        <p:nvSpPr>
          <p:cNvPr id="25" name="">
            <a:extLst xmlns:a="http://schemas.openxmlformats.org/drawingml/2006/main">
              <a:ext uri="{FF2B5EF4-FFF2-40B4-BE49-F238E27FC236}">
                <a16:creationId xmlns:a16="http://schemas.microsoft.com/office/drawing/2014/main" id="{BAF081F1-BC3A-4596-AD8C-CED6EC83589E}"/>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F091A7D3-1C40-4537-84F2-C517899ED218}"/>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동의 철회·다른 서비스 자료·복제된 삭제 대상</a:t>
            </a:r>
          </a:p>
        </p:txBody>
      </p:sp>
      <p:sp>
        <p:nvSpPr>
          <p:cNvPr id="27" name="">
            <a:extLst xmlns:a="http://schemas.openxmlformats.org/drawingml/2006/main">
              <a:ext uri="{FF2B5EF4-FFF2-40B4-BE49-F238E27FC236}">
                <a16:creationId xmlns:a16="http://schemas.microsoft.com/office/drawing/2014/main" id="{20CA8419-8400-4714-B072-0070F3B6BA4D}"/>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B903570-9915-4A83-A595-BF309C095F0A}"/>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목적·동의 범위 대사와 삭제 전파</a:t>
            </a:r>
          </a:p>
        </p:txBody>
      </p:sp>
      <p:sp>
        <p:nvSpPr>
          <p:cNvPr id="29" name="">
            <a:extLst xmlns:a="http://schemas.openxmlformats.org/drawingml/2006/main">
              <a:ext uri="{FF2B5EF4-FFF2-40B4-BE49-F238E27FC236}">
                <a16:creationId xmlns:a16="http://schemas.microsoft.com/office/drawing/2014/main" id="{62D4DA8B-8935-4A48-952E-0A9A749F2EF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4529351D-E4CB-422A-9755-E7B0FF18052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삭제 이후 학습·검색·출력 경로의 잔존 검사</a:t>
            </a:r>
          </a:p>
        </p:txBody>
      </p:sp>
      <p:sp>
        <p:nvSpPr>
          <p:cNvPr id="31" name="">
            <a:extLst xmlns:a="http://schemas.openxmlformats.org/drawingml/2006/main">
              <a:ext uri="{FF2B5EF4-FFF2-40B4-BE49-F238E27FC236}">
                <a16:creationId xmlns:a16="http://schemas.microsoft.com/office/drawing/2014/main" id="{769DC4E6-5FF6-4FA9-9931-DB1157EDD254}"/>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A80FEA63-D9A9-442E-AD7E-A3C2D6BC6238}"/>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목적별 허용/차단 결과와 원천·색인·캐시 삭제 대사</a:t>
            </a:r>
          </a:p>
        </p:txBody>
      </p:sp>
    </p:spTree>
    <p:extLst>
      <p:ext uri="{BB962C8B-B14F-4D97-AF65-F5344CB8AC3E}">
        <p14:creationId xmlns:p14="http://schemas.microsoft.com/office/powerpoint/2010/main" val="555949619"/>
      </p:ext>
    </p:extLst>
  </p:cSld>
</p:sld>
</file>

<file path=ppt/slides/slide1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94E0CC1-105A-46EC-A2FD-83F7BDAB885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AX03 / CCK 비교·재현 시험 설계</a:t>
            </a:r>
          </a:p>
        </p:txBody>
      </p:sp>
      <p:sp>
        <p:nvSpPr>
          <p:cNvPr id="2" name="">
            <a:extLst xmlns:a="http://schemas.openxmlformats.org/drawingml/2006/main">
              <a:ext uri="{FF2B5EF4-FFF2-40B4-BE49-F238E27FC236}">
                <a16:creationId xmlns:a16="http://schemas.microsoft.com/office/drawing/2014/main" id="{A401589C-ABD8-43C0-AB75-70FEDC9B364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이루다 개인정보 처리 · 벤치마킹</a:t>
            </a:r>
          </a:p>
        </p:txBody>
      </p:sp>
      <p:sp>
        <p:nvSpPr>
          <p:cNvPr id="3" name="">
            <a:extLst xmlns:a="http://schemas.openxmlformats.org/drawingml/2006/main">
              <a:ext uri="{FF2B5EF4-FFF2-40B4-BE49-F238E27FC236}">
                <a16:creationId xmlns:a16="http://schemas.microsoft.com/office/drawing/2014/main" id="{4A712D50-413C-4682-81EB-27EB140BB73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20BBF32-AFFD-4573-8062-91176ACDB13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296AA11-815C-4F4B-A483-F57DFEC7950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a:t>
            </a:r>
          </a:p>
        </p:txBody>
      </p:sp>
      <p:sp>
        <p:nvSpPr>
          <p:cNvPr id="6" name="">
            <a:extLst xmlns:a="http://schemas.openxmlformats.org/drawingml/2006/main">
              <a:ext uri="{FF2B5EF4-FFF2-40B4-BE49-F238E27FC236}">
                <a16:creationId xmlns:a16="http://schemas.microsoft.com/office/drawing/2014/main" id="{BBD4FF81-A27C-4F38-8B7C-DF9EE36F2DC2}"/>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재발 방지 조건</a:t>
            </a:r>
          </a:p>
        </p:txBody>
      </p:sp>
      <p:sp>
        <p:nvSpPr>
          <p:cNvPr id="7" name="">
            <a:extLst xmlns:a="http://schemas.openxmlformats.org/drawingml/2006/main">
              <a:ext uri="{FF2B5EF4-FFF2-40B4-BE49-F238E27FC236}">
                <a16:creationId xmlns:a16="http://schemas.microsoft.com/office/drawing/2014/main" id="{CB4AF7AD-61C3-49E3-96B6-D7D77C9059E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수집 목적별 데이터 분리</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이용 동의·삭제 요청의 재사용 경로 반영</a:t>
            </a:r>
          </a:p>
        </p:txBody>
      </p:sp>
      <p:sp>
        <p:nvSpPr>
          <p:cNvPr id="8" name="">
            <a:extLst xmlns:a="http://schemas.openxmlformats.org/drawingml/2006/main">
              <a:ext uri="{FF2B5EF4-FFF2-40B4-BE49-F238E27FC236}">
                <a16:creationId xmlns:a16="http://schemas.microsoft.com/office/drawing/2014/main" id="{778DF4DD-3A23-40AA-8D16-CE3820A25F1B}"/>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요인·시정 쟁점</a:t>
            </a:r>
          </a:p>
        </p:txBody>
      </p:sp>
      <p:sp>
        <p:nvSpPr>
          <p:cNvPr id="9" name="">
            <a:extLst xmlns:a="http://schemas.openxmlformats.org/drawingml/2006/main">
              <a:ext uri="{FF2B5EF4-FFF2-40B4-BE49-F238E27FC236}">
                <a16:creationId xmlns:a16="http://schemas.microsoft.com/office/drawing/2014/main" id="{02068A00-1919-4BC3-8318-57D91239AE10}"/>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서비스 대화의 목적 외 이용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학습·응답 경로의 개인정보 통제 부족</a:t>
            </a:r>
          </a:p>
        </p:txBody>
      </p:sp>
      <p:sp>
        <p:nvSpPr>
          <p:cNvPr id="10" name="">
            <a:extLst xmlns:a="http://schemas.openxmlformats.org/drawingml/2006/main">
              <a:ext uri="{FF2B5EF4-FFF2-40B4-BE49-F238E27FC236}">
                <a16:creationId xmlns:a16="http://schemas.microsoft.com/office/drawing/2014/main" id="{DD3B997D-28B5-4D08-BD91-9A36B6F15892}"/>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8F1EEC9D-BE47-409E-BABE-F1A3D1C9FAE8}"/>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목적·동의 범위 대사와 삭제 전파</a:t>
            </a:r>
          </a:p>
        </p:txBody>
      </p:sp>
      <p:sp>
        <p:nvSpPr>
          <p:cNvPr id="12" name="">
            <a:extLst xmlns:a="http://schemas.openxmlformats.org/drawingml/2006/main">
              <a:ext uri="{FF2B5EF4-FFF2-40B4-BE49-F238E27FC236}">
                <a16:creationId xmlns:a16="http://schemas.microsoft.com/office/drawing/2014/main" id="{72BD986D-9D8B-476E-8343-176E5D490B19}"/>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4B288EC9-CC56-4B10-A2C6-E850CC02CA85}"/>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명시된 목적에 맞는 대화만 학습·검색·응답 경로에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제공</a:t>
            </a:r>
          </a:p>
        </p:txBody>
      </p:sp>
      <p:sp>
        <p:nvSpPr>
          <p:cNvPr id="14" name="">
            <a:extLst xmlns:a="http://schemas.openxmlformats.org/drawingml/2006/main">
              <a:ext uri="{FF2B5EF4-FFF2-40B4-BE49-F238E27FC236}">
                <a16:creationId xmlns:a16="http://schemas.microsoft.com/office/drawing/2014/main" id="{F83EEF8E-9F20-41D7-B7E7-8A6F34E51268}"/>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5FB7DAD2-263A-4D21-AC9D-EF49DA4B6278}"/>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동의 철회·다른 서비스 자료·복제된 삭제 대상</a:t>
            </a:r>
          </a:p>
        </p:txBody>
      </p:sp>
      <p:sp>
        <p:nvSpPr>
          <p:cNvPr id="16" name="">
            <a:extLst xmlns:a="http://schemas.openxmlformats.org/drawingml/2006/main">
              <a:ext uri="{FF2B5EF4-FFF2-40B4-BE49-F238E27FC236}">
                <a16:creationId xmlns:a16="http://schemas.microsoft.com/office/drawing/2014/main" id="{4E055DA8-883F-49CF-BADE-0D272B5706EB}"/>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C053D23C-A8DB-48F0-B7D6-4CFED7E266F6}"/>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목적별 허용/차단 결과와 원천·색인·캐시 삭제 대사</a:t>
            </a:r>
          </a:p>
        </p:txBody>
      </p:sp>
    </p:spTree>
    <p:extLst>
      <p:ext uri="{BB962C8B-B14F-4D97-AF65-F5344CB8AC3E}">
        <p14:creationId xmlns:p14="http://schemas.microsoft.com/office/powerpoint/2010/main" val="144843897"/>
      </p:ext>
    </p:extLst>
  </p:cSld>
</p:sld>
</file>

<file path=ppt/slides/slide1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788B6E2-CA4A-481D-9C9A-78A331FCEB4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AX04 / 혼합 / 해외</a:t>
            </a:r>
          </a:p>
        </p:txBody>
      </p:sp>
      <p:sp>
        <p:nvSpPr>
          <p:cNvPr id="2" name="">
            <a:extLst xmlns:a="http://schemas.openxmlformats.org/drawingml/2006/main">
              <a:ext uri="{FF2B5EF4-FFF2-40B4-BE49-F238E27FC236}">
                <a16:creationId xmlns:a16="http://schemas.microsoft.com/office/drawing/2014/main" id="{83652B69-D245-45AB-9497-D33B2D5D5BE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M365 Copilot</a:t>
            </a:r>
          </a:p>
        </p:txBody>
      </p:sp>
      <p:sp>
        <p:nvSpPr>
          <p:cNvPr id="3" name="">
            <a:extLst xmlns:a="http://schemas.openxmlformats.org/drawingml/2006/main">
              <a:ext uri="{FF2B5EF4-FFF2-40B4-BE49-F238E27FC236}">
                <a16:creationId xmlns:a16="http://schemas.microsoft.com/office/drawing/2014/main" id="{7B4D67F8-A766-4156-BC64-E7A49CCFF8E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C38CECA-D298-4E5C-B467-7C0C248048E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52FAC91-0325-4F4F-9E68-37339200015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a:t>
            </a:r>
          </a:p>
        </p:txBody>
      </p:sp>
      <p:sp>
        <p:nvSpPr>
          <p:cNvPr id="6" name="">
            <a:extLst xmlns:a="http://schemas.openxmlformats.org/drawingml/2006/main">
              <a:ext uri="{FF2B5EF4-FFF2-40B4-BE49-F238E27FC236}">
                <a16:creationId xmlns:a16="http://schemas.microsoft.com/office/drawing/2014/main" id="{5FFEE222-47C6-4F53-9E13-A83EBCF6F532}"/>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D9160A0D-4C7C-413A-9F56-498EED4D5E69}"/>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M365 문서·회의 접점에서 공무원의 작성·검색·요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약을 지원한 실험. 새 업무 시스템 구축보다 직원이 이미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접근하는 자료와 협업 도구 안에 AI를 배치한 유형.</a:t>
            </a:r>
          </a:p>
        </p:txBody>
      </p:sp>
      <p:sp>
        <p:nvSpPr>
          <p:cNvPr id="8" name="">
            <a:extLst xmlns:a="http://schemas.openxmlformats.org/drawingml/2006/main">
              <a:ext uri="{FF2B5EF4-FFF2-40B4-BE49-F238E27FC236}">
                <a16:creationId xmlns:a16="http://schemas.microsoft.com/office/drawing/2014/main" id="{ED56DF2B-CD82-41A3-8B95-D9A37953E8F9}"/>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B01EA374-597C-401A-BDBC-6C9FF70BB398}"/>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자료 접근권한을 전제로 요청 문맥을 만들고 검색·생성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결과를 직원이 검토하는 흐름. 조직·직무별 동일 과업을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정의한 뒤 AI 사용 전후의 초안 작성, 사실 확인, 수정 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간을 함께 기록하는 CCK 비교 설계.</a:t>
            </a:r>
          </a:p>
        </p:txBody>
      </p:sp>
      <p:sp>
        <p:nvSpPr>
          <p:cNvPr id="10" name="">
            <a:extLst xmlns:a="http://schemas.openxmlformats.org/drawingml/2006/main">
              <a:ext uri="{FF2B5EF4-FFF2-40B4-BE49-F238E27FC236}">
                <a16:creationId xmlns:a16="http://schemas.microsoft.com/office/drawing/2014/main" id="{D8C1028F-6D77-46A9-9D2F-FABB8A1D4854}"/>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3871CCFA-C049-4AA2-B873-F58C5232BF3C}"/>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설문 자기보고 절감시간을 TS의 예상 절감률로 직접 전환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하지 않는 평가. 과다공유 문서, 복잡한 질의, 숙련도 차이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와 재작업을 포함해 부서별 완료시간·오류율을 산정할 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a:t>
            </a:r>
          </a:p>
        </p:txBody>
      </p:sp>
      <p:sp>
        <p:nvSpPr>
          <p:cNvPr id="12" name="">
            <a:extLst xmlns:a="http://schemas.openxmlformats.org/drawingml/2006/main">
              <a:ext uri="{FF2B5EF4-FFF2-40B4-BE49-F238E27FC236}">
                <a16:creationId xmlns:a16="http://schemas.microsoft.com/office/drawing/2014/main" id="{728A155B-9702-4BAF-A110-D7E89B6C2FB4}"/>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B064E4B0-5708-4825-AA60-DF62FD9DE40F}"/>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로그인 ID–조직 연결 / 직무별 검색·서식 / 검토시간 포함 계측</a:t>
            </a:r>
          </a:p>
        </p:txBody>
      </p:sp>
      <p:sp>
        <p:nvSpPr>
          <p:cNvPr id="14" name="">
            <a:extLst xmlns:a="http://schemas.openxmlformats.org/drawingml/2006/main">
              <a:ext uri="{FF2B5EF4-FFF2-40B4-BE49-F238E27FC236}">
                <a16:creationId xmlns:a16="http://schemas.microsoft.com/office/drawing/2014/main" id="{9E76BC7F-2ED0-4105-9FD0-91318683D11A}"/>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D413B9AB-53EE-4DFC-BDFE-704C19C36F17}"/>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 교차 시험과 동일 난도 업무의 전후·비교군 평가</a:t>
            </a:r>
          </a:p>
        </p:txBody>
      </p:sp>
      <p:sp>
        <p:nvSpPr>
          <p:cNvPr id="16" name="">
            <a:extLst xmlns:a="http://schemas.openxmlformats.org/drawingml/2006/main">
              <a:ext uri="{FF2B5EF4-FFF2-40B4-BE49-F238E27FC236}">
                <a16:creationId xmlns:a16="http://schemas.microsoft.com/office/drawing/2014/main" id="{FC8B5E5C-30FA-4A32-9DB3-B31271FD914A}"/>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D07C6338-1B99-4AE7-A582-573D32407850}"/>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검토·재작업 포함 완료시간 / 오류율</a:t>
            </a:r>
          </a:p>
        </p:txBody>
      </p:sp>
      <p:sp>
        <p:nvSpPr>
          <p:cNvPr id="18" name="">
            <a:extLst xmlns:a="http://schemas.openxmlformats.org/drawingml/2006/main">
              <a:ext uri="{FF2B5EF4-FFF2-40B4-BE49-F238E27FC236}">
                <a16:creationId xmlns:a16="http://schemas.microsoft.com/office/drawing/2014/main" id="{24783DA5-298A-448B-A006-ABEFE8D1EAF2}"/>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실측 인과효과 아님 · 복잡한 맥락·데이터 업무 한계 · 기존 자료 과다공유 위험</a:t>
            </a:r>
          </a:p>
        </p:txBody>
      </p:sp>
    </p:spTree>
    <p:extLst>
      <p:ext uri="{BB962C8B-B14F-4D97-AF65-F5344CB8AC3E}">
        <p14:creationId xmlns:p14="http://schemas.microsoft.com/office/powerpoint/2010/main" val="1084808401"/>
      </p:ext>
    </p:extLst>
  </p:cSld>
</p:sld>
</file>

<file path=ppt/slides/slide1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95011A0A-4B76-431A-B57A-CF8A12E47CAB}"/>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27564044-EF2B-4C6C-A9C6-B609FBD46B3C}"/>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9E2B9603-1448-439C-A15D-3A0E52E2AE70}"/>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2E39E4DB-3C83-4800-AF23-B36D1FA48836}"/>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C1C4AF71-1D5B-40AA-9957-895F3CD5F9BF}"/>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A44C1AF1-A2FA-4747-87D9-46DB6C738D62}"/>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B099CEBD-2AAD-41AD-BE65-4914EE6BC3AB}"/>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189EDF1B-79FA-41FB-8956-F5380210A8AC}"/>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70D3F1CB-97D7-4B4B-8ACE-4990F9B43DF7}"/>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4A07A9A3-A5FE-4CE7-9749-D1EB43729D7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AX04 / 권한·목적 판정 후 허용·차단 분기</a:t>
            </a:r>
          </a:p>
        </p:txBody>
      </p:sp>
      <p:sp>
        <p:nvSpPr>
          <p:cNvPr id="2" name="">
            <a:extLst xmlns:a="http://schemas.openxmlformats.org/drawingml/2006/main">
              <a:ext uri="{FF2B5EF4-FFF2-40B4-BE49-F238E27FC236}">
                <a16:creationId xmlns:a16="http://schemas.microsoft.com/office/drawing/2014/main" id="{342F274A-51F4-491C-A3D1-FF392BAC695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M365 Copilot · 세부 서비스 구조</a:t>
            </a:r>
          </a:p>
        </p:txBody>
      </p:sp>
      <p:sp>
        <p:nvSpPr>
          <p:cNvPr id="3" name="">
            <a:extLst xmlns:a="http://schemas.openxmlformats.org/drawingml/2006/main">
              <a:ext uri="{FF2B5EF4-FFF2-40B4-BE49-F238E27FC236}">
                <a16:creationId xmlns:a16="http://schemas.microsoft.com/office/drawing/2014/main" id="{2EC208F5-D51E-4220-A4BE-53FEBBEB606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534FCB5-3204-4841-A081-09CE761C057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7A3E6AA-9FC4-46BA-9B8D-7C772809B61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a:t>
            </a:r>
          </a:p>
        </p:txBody>
      </p:sp>
      <p:sp>
        <p:nvSpPr>
          <p:cNvPr id="6" name="">
            <a:extLst xmlns:a="http://schemas.openxmlformats.org/drawingml/2006/main">
              <a:ext uri="{FF2B5EF4-FFF2-40B4-BE49-F238E27FC236}">
                <a16:creationId xmlns:a16="http://schemas.microsoft.com/office/drawing/2014/main" id="{52A38313-4913-4673-96A8-3BDF6A0AA339}"/>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직원 요청 → 기존 접근권한 → 업무 자료 검색 → 초안·직원 검토</a:t>
            </a:r>
          </a:p>
        </p:txBody>
      </p:sp>
      <p:sp>
        <p:nvSpPr>
          <p:cNvPr id="7" name="">
            <a:extLst xmlns:a="http://schemas.openxmlformats.org/drawingml/2006/main">
              <a:ext uri="{FF2B5EF4-FFF2-40B4-BE49-F238E27FC236}">
                <a16:creationId xmlns:a16="http://schemas.microsoft.com/office/drawing/2014/main" id="{F73E04C0-2C75-484A-980C-28FA8ADCA227}"/>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A35401C5-6EB7-45C5-AEED-A3AE5E15C0E5}"/>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7F428234-8571-4100-9C0E-DB3AE9ED711B}"/>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M365 업무 요청</a:t>
            </a:r>
          </a:p>
        </p:txBody>
      </p:sp>
      <p:sp>
        <p:nvSpPr>
          <p:cNvPr id="10" name="">
            <a:extLst xmlns:a="http://schemas.openxmlformats.org/drawingml/2006/main">
              <a:ext uri="{FF2B5EF4-FFF2-40B4-BE49-F238E27FC236}">
                <a16:creationId xmlns:a16="http://schemas.microsoft.com/office/drawing/2014/main" id="{B33484D5-8DBD-469D-BFCF-321F741255F6}"/>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FD6B923D-9FF5-48ED-87D3-CED1FFD9149E}"/>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960F9EC0-52F0-4863-BB7A-E3AD2C8674A9}"/>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직원·과업 맥락</a:t>
            </a:r>
          </a:p>
        </p:txBody>
      </p:sp>
      <p:sp>
        <p:nvSpPr>
          <p:cNvPr id="13" name="">
            <a:extLst xmlns:a="http://schemas.openxmlformats.org/drawingml/2006/main">
              <a:ext uri="{FF2B5EF4-FFF2-40B4-BE49-F238E27FC236}">
                <a16:creationId xmlns:a16="http://schemas.microsoft.com/office/drawing/2014/main" id="{F034307A-C6A2-488C-AA58-2B7DB758A94E}"/>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7DB19DAB-6A5F-4562-BB00-5B135694C1A3}"/>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7C4E9BF4-DC2E-4E14-ABB5-9AC1F57D3B67}"/>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 접근정책</a:t>
            </a:r>
          </a:p>
        </p:txBody>
      </p:sp>
      <p:sp>
        <p:nvSpPr>
          <p:cNvPr id="16" name="">
            <a:extLst xmlns:a="http://schemas.openxmlformats.org/drawingml/2006/main">
              <a:ext uri="{FF2B5EF4-FFF2-40B4-BE49-F238E27FC236}">
                <a16:creationId xmlns:a16="http://schemas.microsoft.com/office/drawing/2014/main" id="{A7194584-681B-40E4-A86C-B96C5D625282}"/>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2CE73D86-6BEE-4201-B051-6580B68D28AA}"/>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BA6487E0-60A6-4BEC-A151-249431AC3B93}"/>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근거·사실 대조</a:t>
            </a:r>
          </a:p>
        </p:txBody>
      </p:sp>
      <p:sp>
        <p:nvSpPr>
          <p:cNvPr id="19" name="">
            <a:extLst xmlns:a="http://schemas.openxmlformats.org/drawingml/2006/main">
              <a:ext uri="{FF2B5EF4-FFF2-40B4-BE49-F238E27FC236}">
                <a16:creationId xmlns:a16="http://schemas.microsoft.com/office/drawing/2014/main" id="{FAD8C83B-C5E6-4824-BF9A-9BAFB3456E24}"/>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8D2F50E9-1E20-46E8-8589-3A9BFFB7ABD8}"/>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C9F980AD-C3DB-461E-A8E6-7FF23D8EBE59}"/>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문서·회의 자료</a:t>
            </a:r>
          </a:p>
        </p:txBody>
      </p:sp>
      <p:sp>
        <p:nvSpPr>
          <p:cNvPr id="22" name="">
            <a:extLst xmlns:a="http://schemas.openxmlformats.org/drawingml/2006/main">
              <a:ext uri="{FF2B5EF4-FFF2-40B4-BE49-F238E27FC236}">
                <a16:creationId xmlns:a16="http://schemas.microsoft.com/office/drawing/2014/main" id="{92DF73DC-BE41-43E3-A0C8-6430DAAE9496}"/>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806A78E5-DBD2-4F37-80B3-DF802E221443}"/>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7976A2F7-1C61-46C8-AD28-A928F3EA6CB2}"/>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검색·요약·작성</a:t>
            </a:r>
          </a:p>
        </p:txBody>
      </p:sp>
      <p:sp>
        <p:nvSpPr>
          <p:cNvPr id="25" name="">
            <a:extLst xmlns:a="http://schemas.openxmlformats.org/drawingml/2006/main">
              <a:ext uri="{FF2B5EF4-FFF2-40B4-BE49-F238E27FC236}">
                <a16:creationId xmlns:a16="http://schemas.microsoft.com/office/drawing/2014/main" id="{69CE1C21-0352-4E82-AB74-6DEC4F6C2E89}"/>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E1846FA6-6F4E-4A4F-B60D-E4155713ADC3}"/>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137D1AA5-E98D-42D5-936F-37C05E7AB6A9}"/>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 편집·확인</a:t>
            </a:r>
          </a:p>
        </p:txBody>
      </p:sp>
      <p:sp>
        <p:nvSpPr>
          <p:cNvPr id="28" name="">
            <a:extLst xmlns:a="http://schemas.openxmlformats.org/drawingml/2006/main">
              <a:ext uri="{FF2B5EF4-FFF2-40B4-BE49-F238E27FC236}">
                <a16:creationId xmlns:a16="http://schemas.microsoft.com/office/drawing/2014/main" id="{6A176339-8673-4501-88A6-6593DCDEB831}"/>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AAC06808-2AFE-4283-BBCB-26AF200A8B1D}"/>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B0785395-6E1A-4616-BFBB-A0FA224BEC5A}"/>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문서·회의 후속업</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무</a:t>
            </a:r>
          </a:p>
        </p:txBody>
      </p:sp>
      <p:sp>
        <p:nvSpPr>
          <p:cNvPr id="31" name="">
            <a:extLst xmlns:a="http://schemas.openxmlformats.org/drawingml/2006/main">
              <a:ext uri="{FF2B5EF4-FFF2-40B4-BE49-F238E27FC236}">
                <a16:creationId xmlns:a16="http://schemas.microsoft.com/office/drawing/2014/main" id="{4B798B6E-96FC-4975-AA93-F742F8F5AF94}"/>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FA3F5F78-59E4-4B34-9408-EE19CD28A599}"/>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B8829FF8-6006-4FD6-9D34-CF2FEF65EA59}"/>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검토시간 비교</a:t>
            </a:r>
          </a:p>
        </p:txBody>
      </p:sp>
      <p:sp>
        <p:nvSpPr>
          <p:cNvPr id="34" name="">
            <a:extLst xmlns:a="http://schemas.openxmlformats.org/drawingml/2006/main">
              <a:ext uri="{FF2B5EF4-FFF2-40B4-BE49-F238E27FC236}">
                <a16:creationId xmlns:a16="http://schemas.microsoft.com/office/drawing/2014/main" id="{F9AE0AE4-593E-4965-B844-F7D3F85804F4}"/>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96E08806-5D6C-4237-9CD1-C56830F0D5BB}"/>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9B8CA87C-0901-42F4-9A08-A3BFBF895DAA}"/>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업무·평가 기록</a:t>
            </a:r>
          </a:p>
        </p:txBody>
      </p:sp>
      <p:sp>
        <p:nvSpPr>
          <p:cNvPr id="46" name="">
            <a:extLst xmlns:a="http://schemas.openxmlformats.org/drawingml/2006/main">
              <a:ext uri="{FF2B5EF4-FFF2-40B4-BE49-F238E27FC236}">
                <a16:creationId xmlns:a16="http://schemas.microsoft.com/office/drawing/2014/main" id="{CEF36A7B-714C-424F-B8AD-3DA2F083E30D}"/>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838344010"/>
      </p:ext>
    </p:extLst>
  </p:cSld>
</p:sld>
</file>

<file path=ppt/slides/slide1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4D788D6-BC01-4B92-A83D-6897D397630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AX04 / 논리 인터페이스·복구 설계</a:t>
            </a:r>
          </a:p>
        </p:txBody>
      </p:sp>
      <p:sp>
        <p:nvSpPr>
          <p:cNvPr id="2" name="">
            <a:extLst xmlns:a="http://schemas.openxmlformats.org/drawingml/2006/main">
              <a:ext uri="{FF2B5EF4-FFF2-40B4-BE49-F238E27FC236}">
                <a16:creationId xmlns:a16="http://schemas.microsoft.com/office/drawing/2014/main" id="{34EEDA02-9E5F-4BA9-BAE5-9B79D53F714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M365 Copilot · 데이터와 예외 처리</a:t>
            </a:r>
          </a:p>
        </p:txBody>
      </p:sp>
      <p:sp>
        <p:nvSpPr>
          <p:cNvPr id="3" name="">
            <a:extLst xmlns:a="http://schemas.openxmlformats.org/drawingml/2006/main">
              <a:ext uri="{FF2B5EF4-FFF2-40B4-BE49-F238E27FC236}">
                <a16:creationId xmlns:a16="http://schemas.microsoft.com/office/drawing/2014/main" id="{DE43C39F-FC8E-4654-AD89-43E5E8836F1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8A1254B-E8D2-49E7-AF44-F588D1BD279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C2E0CC6-D5D1-4928-BDD8-E44778C4798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a:t>
            </a:r>
          </a:p>
        </p:txBody>
      </p:sp>
      <p:sp>
        <p:nvSpPr>
          <p:cNvPr id="6" name="">
            <a:extLst xmlns:a="http://schemas.openxmlformats.org/drawingml/2006/main">
              <a:ext uri="{FF2B5EF4-FFF2-40B4-BE49-F238E27FC236}">
                <a16:creationId xmlns:a16="http://schemas.microsoft.com/office/drawing/2014/main" id="{A0D28C5A-3FE5-4474-A5DE-D2E481B626A2}"/>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BB689421-7F32-40D0-B78B-AC7CA2177729}"/>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4A6041BB-348E-491C-869A-15CA0621B3F8}"/>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8DEF294C-C49F-4BC2-9D73-8A7B0C583C28}"/>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 계정과 과업별 접근 문맥</a:t>
            </a:r>
          </a:p>
        </p:txBody>
      </p:sp>
      <p:sp>
        <p:nvSpPr>
          <p:cNvPr id="10" name="">
            <a:extLst xmlns:a="http://schemas.openxmlformats.org/drawingml/2006/main">
              <a:ext uri="{FF2B5EF4-FFF2-40B4-BE49-F238E27FC236}">
                <a16:creationId xmlns:a16="http://schemas.microsoft.com/office/drawing/2014/main" id="{4E6E541B-F782-42AB-ABF3-DBDE8AA11D92}"/>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C59B1E-C4EF-4271-BC72-1A4036210BED}"/>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AF0F4DF6-51E8-4CD3-9930-384B4D5A1CA4}"/>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요청</a:t>
            </a:r>
          </a:p>
        </p:txBody>
      </p:sp>
      <p:sp>
        <p:nvSpPr>
          <p:cNvPr id="13" name="">
            <a:extLst xmlns:a="http://schemas.openxmlformats.org/drawingml/2006/main">
              <a:ext uri="{FF2B5EF4-FFF2-40B4-BE49-F238E27FC236}">
                <a16:creationId xmlns:a16="http://schemas.microsoft.com/office/drawing/2014/main" id="{9C838FCA-1C56-4C6E-8922-DE445858CF88}"/>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BA373BB-AAF6-4F5B-9FDE-F6D203BCF260}"/>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A2454DB4-AA0F-4657-9064-EA2997CD38AC}"/>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 접근정책</a:t>
            </a:r>
          </a:p>
        </p:txBody>
      </p:sp>
      <p:sp>
        <p:nvSpPr>
          <p:cNvPr id="16" name="">
            <a:extLst xmlns:a="http://schemas.openxmlformats.org/drawingml/2006/main">
              <a:ext uri="{FF2B5EF4-FFF2-40B4-BE49-F238E27FC236}">
                <a16:creationId xmlns:a16="http://schemas.microsoft.com/office/drawing/2014/main" id="{EAEDB5A0-748D-4177-9525-851752279622}"/>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88ED3D3-FC57-4007-BBFA-095735BD2AF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5B80562C-6638-413D-B3CB-CDACBA4EC4F6}"/>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문서·회의 초안</a:t>
            </a:r>
          </a:p>
        </p:txBody>
      </p:sp>
      <p:sp>
        <p:nvSpPr>
          <p:cNvPr id="19" name="">
            <a:extLst xmlns:a="http://schemas.openxmlformats.org/drawingml/2006/main">
              <a:ext uri="{FF2B5EF4-FFF2-40B4-BE49-F238E27FC236}">
                <a16:creationId xmlns:a16="http://schemas.microsoft.com/office/drawing/2014/main" id="{7E34279F-E0A1-4778-BC11-FA42D966284A}"/>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3E1DA8C-AA23-49D0-9C8F-D46BA314385F}"/>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BD35B8DF-926F-4E03-9446-F705DBBE4344}"/>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문서·회의 초안</a:t>
            </a:r>
          </a:p>
        </p:txBody>
      </p:sp>
      <p:sp>
        <p:nvSpPr>
          <p:cNvPr id="22" name="">
            <a:extLst xmlns:a="http://schemas.openxmlformats.org/drawingml/2006/main">
              <a:ext uri="{FF2B5EF4-FFF2-40B4-BE49-F238E27FC236}">
                <a16:creationId xmlns:a16="http://schemas.microsoft.com/office/drawing/2014/main" id="{C1FD7FAC-9F3C-4746-8833-4298E87B1BAF}"/>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0F54F9F-1D66-4AA9-87EF-7E55A9AC1991}"/>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4DAA1333-B654-4A71-84BA-35638A3DAE8B}"/>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결과</a:t>
            </a:r>
          </a:p>
        </p:txBody>
      </p:sp>
      <p:sp>
        <p:nvSpPr>
          <p:cNvPr id="25" name="">
            <a:extLst xmlns:a="http://schemas.openxmlformats.org/drawingml/2006/main">
              <a:ext uri="{FF2B5EF4-FFF2-40B4-BE49-F238E27FC236}">
                <a16:creationId xmlns:a16="http://schemas.microsoft.com/office/drawing/2014/main" id="{EC493D49-B3D2-4439-AF06-80DA6B5009FB}"/>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C8145CA4-832C-4FBE-A053-A37F827792DE}"/>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다른 부서 공유문서·누락된 발언·잘못된 할일 배정</a:t>
            </a:r>
          </a:p>
        </p:txBody>
      </p:sp>
      <p:sp>
        <p:nvSpPr>
          <p:cNvPr id="27" name="">
            <a:extLst xmlns:a="http://schemas.openxmlformats.org/drawingml/2006/main">
              <a:ext uri="{FF2B5EF4-FFF2-40B4-BE49-F238E27FC236}">
                <a16:creationId xmlns:a16="http://schemas.microsoft.com/office/drawing/2014/main" id="{B1E1C51A-91DE-4149-BCCB-174C0FC0F73F}"/>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04040B1-DEC8-4694-B55A-ADFB93D6861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정답·검토시간을 포함한 비교 평가</a:t>
            </a:r>
          </a:p>
        </p:txBody>
      </p:sp>
      <p:sp>
        <p:nvSpPr>
          <p:cNvPr id="29" name="">
            <a:extLst xmlns:a="http://schemas.openxmlformats.org/drawingml/2006/main">
              <a:ext uri="{FF2B5EF4-FFF2-40B4-BE49-F238E27FC236}">
                <a16:creationId xmlns:a16="http://schemas.microsoft.com/office/drawing/2014/main" id="{AD07D00B-3FAF-44A5-9CDE-61821B547728}"/>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D6DF508A-2A44-4076-BC28-9FB4A4802697}"/>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검토·재작업 시간과 사용 로그의 과업별 비교</a:t>
            </a:r>
          </a:p>
        </p:txBody>
      </p:sp>
      <p:sp>
        <p:nvSpPr>
          <p:cNvPr id="31" name="">
            <a:extLst xmlns:a="http://schemas.openxmlformats.org/drawingml/2006/main">
              <a:ext uri="{FF2B5EF4-FFF2-40B4-BE49-F238E27FC236}">
                <a16:creationId xmlns:a16="http://schemas.microsoft.com/office/drawing/2014/main" id="{55C941B0-C168-4B20-B6D8-24A86BC398F4}"/>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F3E52FF-FBEA-41CF-9C85-3EF6A16731F0}"/>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권한별 결과와 검토·재작업을 포함한 과업 완료시간</a:t>
            </a:r>
          </a:p>
        </p:txBody>
      </p:sp>
    </p:spTree>
    <p:extLst>
      <p:ext uri="{BB962C8B-B14F-4D97-AF65-F5344CB8AC3E}">
        <p14:creationId xmlns:p14="http://schemas.microsoft.com/office/powerpoint/2010/main" val="1616093082"/>
      </p:ext>
    </p:extLst>
  </p:cSld>
</p:sld>
</file>

<file path=ppt/slides/slide1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E151079-5F24-41D9-8B33-C0FC6BDD98C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AX04 / CCK 비교·재현 시험 설계</a:t>
            </a:r>
          </a:p>
        </p:txBody>
      </p:sp>
      <p:sp>
        <p:nvSpPr>
          <p:cNvPr id="2" name="">
            <a:extLst xmlns:a="http://schemas.openxmlformats.org/drawingml/2006/main">
              <a:ext uri="{FF2B5EF4-FFF2-40B4-BE49-F238E27FC236}">
                <a16:creationId xmlns:a16="http://schemas.microsoft.com/office/drawing/2014/main" id="{126416F9-D609-4D9D-BB89-FCD527D94C0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M365 Copilot · 벤치마킹</a:t>
            </a:r>
          </a:p>
        </p:txBody>
      </p:sp>
      <p:sp>
        <p:nvSpPr>
          <p:cNvPr id="3" name="">
            <a:extLst xmlns:a="http://schemas.openxmlformats.org/drawingml/2006/main">
              <a:ext uri="{FF2B5EF4-FFF2-40B4-BE49-F238E27FC236}">
                <a16:creationId xmlns:a16="http://schemas.microsoft.com/office/drawing/2014/main" id="{89B3D7E9-9153-4763-A8DA-471854F4A8C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8ED5CC7-1EE7-4102-A68D-D49F3916C68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2252C27-D6CE-4C7D-90AA-51CA12B6C2F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a:t>
            </a:r>
          </a:p>
        </p:txBody>
      </p:sp>
      <p:sp>
        <p:nvSpPr>
          <p:cNvPr id="6" name="">
            <a:extLst xmlns:a="http://schemas.openxmlformats.org/drawingml/2006/main">
              <a:ext uri="{FF2B5EF4-FFF2-40B4-BE49-F238E27FC236}">
                <a16:creationId xmlns:a16="http://schemas.microsoft.com/office/drawing/2014/main" id="{40407A3F-EFEF-4972-8BFD-67E451EEA1DB}"/>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2C275962-35AF-429C-8EFE-FFEA630C672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문서·회의 도구 안의 지원</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실제 직원의 활용·피드백 수집</a:t>
            </a:r>
          </a:p>
        </p:txBody>
      </p:sp>
      <p:sp>
        <p:nvSpPr>
          <p:cNvPr id="8" name="">
            <a:extLst xmlns:a="http://schemas.openxmlformats.org/drawingml/2006/main">
              <a:ext uri="{FF2B5EF4-FFF2-40B4-BE49-F238E27FC236}">
                <a16:creationId xmlns:a16="http://schemas.microsoft.com/office/drawing/2014/main" id="{40BDA79A-9503-42BF-9B60-373C80EEA4FA}"/>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C55DE649-0BB7-45A9-BFBD-16E12C45C2E2}"/>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업무별 효과 편차</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자기보고 절감시간과 실측시간의 차이</a:t>
            </a:r>
          </a:p>
        </p:txBody>
      </p:sp>
      <p:sp>
        <p:nvSpPr>
          <p:cNvPr id="10" name="">
            <a:extLst xmlns:a="http://schemas.openxmlformats.org/drawingml/2006/main">
              <a:ext uri="{FF2B5EF4-FFF2-40B4-BE49-F238E27FC236}">
                <a16:creationId xmlns:a16="http://schemas.microsoft.com/office/drawing/2014/main" id="{8A2789AB-4E1A-4F08-869F-BD9F75D99A74}"/>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4E899C88-F827-4914-9B4E-8435A086843F}"/>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정답·검토시간을 포함한 비교 평가</a:t>
            </a:r>
          </a:p>
        </p:txBody>
      </p:sp>
      <p:sp>
        <p:nvSpPr>
          <p:cNvPr id="12" name="">
            <a:extLst xmlns:a="http://schemas.openxmlformats.org/drawingml/2006/main">
              <a:ext uri="{FF2B5EF4-FFF2-40B4-BE49-F238E27FC236}">
                <a16:creationId xmlns:a16="http://schemas.microsoft.com/office/drawing/2014/main" id="{35FC6FD3-0DD3-4C18-9097-8829493B02C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3A6D8184-DE41-4C8B-BA6B-2375BC4BE2C7}"/>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같은 회의자료로 회의록 초안을 작성하고 직원이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수정·확정</a:t>
            </a:r>
          </a:p>
        </p:txBody>
      </p:sp>
      <p:sp>
        <p:nvSpPr>
          <p:cNvPr id="14" name="">
            <a:extLst xmlns:a="http://schemas.openxmlformats.org/drawingml/2006/main">
              <a:ext uri="{FF2B5EF4-FFF2-40B4-BE49-F238E27FC236}">
                <a16:creationId xmlns:a16="http://schemas.microsoft.com/office/drawing/2014/main" id="{E3ECEE51-5C6D-432C-BFE5-87759C62087D}"/>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E5D29844-B020-44E4-AE48-77648EF0198A}"/>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부서 공유문서·누락된 발언·잘못된 할일 배정</a:t>
            </a:r>
          </a:p>
        </p:txBody>
      </p:sp>
      <p:sp>
        <p:nvSpPr>
          <p:cNvPr id="16" name="">
            <a:extLst xmlns:a="http://schemas.openxmlformats.org/drawingml/2006/main">
              <a:ext uri="{FF2B5EF4-FFF2-40B4-BE49-F238E27FC236}">
                <a16:creationId xmlns:a16="http://schemas.microsoft.com/office/drawing/2014/main" id="{AAD6999B-60AD-4D83-9689-3E30A7B684E3}"/>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4BBBC9BE-37CE-491D-8663-9E271FEB865A}"/>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권한별 결과와 검토·재작업을 포함한 과업 완료시</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간</a:t>
            </a:r>
          </a:p>
        </p:txBody>
      </p:sp>
    </p:spTree>
    <p:extLst>
      <p:ext uri="{BB962C8B-B14F-4D97-AF65-F5344CB8AC3E}">
        <p14:creationId xmlns:p14="http://schemas.microsoft.com/office/powerpoint/2010/main" val="1912344311"/>
      </p:ext>
    </p:extLst>
  </p:cSld>
</p:sld>
</file>

<file path=ppt/slides/slide1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ECB7CEB-F20A-45EF-8E29-ED5638AAE38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성공 / 해외</a:t>
            </a:r>
          </a:p>
        </p:txBody>
      </p:sp>
      <p:sp>
        <p:nvSpPr>
          <p:cNvPr id="2" name="">
            <a:extLst xmlns:a="http://schemas.openxmlformats.org/drawingml/2006/main">
              <a:ext uri="{FF2B5EF4-FFF2-40B4-BE49-F238E27FC236}">
                <a16:creationId xmlns:a16="http://schemas.microsoft.com/office/drawing/2014/main" id="{CBD2BE9A-EFA2-42ED-89D3-1A267CF9773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데이터센터 냉각</a:t>
            </a:r>
          </a:p>
        </p:txBody>
      </p:sp>
      <p:sp>
        <p:nvSpPr>
          <p:cNvPr id="3" name="">
            <a:extLst xmlns:a="http://schemas.openxmlformats.org/drawingml/2006/main">
              <a:ext uri="{FF2B5EF4-FFF2-40B4-BE49-F238E27FC236}">
                <a16:creationId xmlns:a16="http://schemas.microsoft.com/office/drawing/2014/main" id="{7A5F74EA-2091-47FB-B1A1-0D6F9568979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CE82DE8-6DA5-43ED-9D9A-939C57DFDCA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293E7B7-77FA-4F8F-BECA-1C26CD9E984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a:t>
            </a:r>
          </a:p>
        </p:txBody>
      </p:sp>
      <p:sp>
        <p:nvSpPr>
          <p:cNvPr id="6" name="">
            <a:extLst xmlns:a="http://schemas.openxmlformats.org/drawingml/2006/main">
              <a:ext uri="{FF2B5EF4-FFF2-40B4-BE49-F238E27FC236}">
                <a16:creationId xmlns:a16="http://schemas.microsoft.com/office/drawing/2014/main" id="{EA222388-4FC2-4236-AD34-D1EF42EC6094}"/>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A9EE884C-240C-4900-8B4B-208790A707C7}"/>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데이터센터 냉각의 전력 효율과 설비 안전을 함께 다룬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제어 사례. 예측 결과를 화면에 보여주는 단계에서 실제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제어에 연결할 때 필요한 독립 안전검증이 핵심.</a:t>
            </a:r>
          </a:p>
        </p:txBody>
      </p:sp>
      <p:sp>
        <p:nvSpPr>
          <p:cNvPr id="8" name="">
            <a:extLst xmlns:a="http://schemas.openxmlformats.org/drawingml/2006/main">
              <a:ext uri="{FF2B5EF4-FFF2-40B4-BE49-F238E27FC236}">
                <a16:creationId xmlns:a16="http://schemas.microsoft.com/office/drawing/2014/main" id="{2067ECA3-72B9-4B03-B032-E413BF4780F0}"/>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64C56BF3-7ACF-40E5-8CE3-00399AD7E34D}"/>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센서 상태에서 제어 후보를 예측한 뒤 클라우드 측 검증</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과 현장 제어계 검증을 거쳐 실행하는 공개 구조. 운영자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수동 전환과 허용 경계를 별도 계층으로 유지하고 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행 결과를 다음 주기 입력에 반영.</a:t>
            </a:r>
          </a:p>
        </p:txBody>
      </p:sp>
      <p:sp>
        <p:nvSpPr>
          <p:cNvPr id="10" name="">
            <a:extLst xmlns:a="http://schemas.openxmlformats.org/drawingml/2006/main">
              <a:ext uri="{FF2B5EF4-FFF2-40B4-BE49-F238E27FC236}">
                <a16:creationId xmlns:a16="http://schemas.microsoft.com/office/drawing/2014/main" id="{0C9708AA-91CF-4973-94DD-C08206F1B2D6}"/>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20F28F3F-03BC-45F8-8A32-942A9644A318}"/>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시설·장비 업무에 적용할 경우 AI 권고와 현장 실행 승</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인을 분리할 근거. 에너지 기준선은 계절·부하로 나누고,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센서 누락·경계 초과·통신 장애 시 안전 상태와 수동 복귀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를 먼저 검수할 필요.</a:t>
            </a:r>
          </a:p>
        </p:txBody>
      </p:sp>
      <p:sp>
        <p:nvSpPr>
          <p:cNvPr id="12" name="">
            <a:extLst xmlns:a="http://schemas.openxmlformats.org/drawingml/2006/main">
              <a:ext uri="{FF2B5EF4-FFF2-40B4-BE49-F238E27FC236}">
                <a16:creationId xmlns:a16="http://schemas.microsoft.com/office/drawing/2014/main" id="{13215B36-46AD-4E9E-BF25-68BA47108E60}"/>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2B8C070F-973B-4313-83BB-DE2B3F50ED1E}"/>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원천·배출계수 판본 대사 / 계산 검증 / 권고 승인 / 계측</a:t>
            </a:r>
          </a:p>
        </p:txBody>
      </p:sp>
      <p:sp>
        <p:nvSpPr>
          <p:cNvPr id="14" name="">
            <a:extLst xmlns:a="http://schemas.openxmlformats.org/drawingml/2006/main">
              <a:ext uri="{FF2B5EF4-FFF2-40B4-BE49-F238E27FC236}">
                <a16:creationId xmlns:a16="http://schemas.microsoft.com/office/drawing/2014/main" id="{98DD6F8B-7404-44B3-A2EA-C15D24AF9BAA}"/>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586285E0-13DA-4193-878D-0957548C9F67}"/>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계수·단위·경계조건별 재계산 및 이상 입력 시 권고 보류</a:t>
            </a:r>
          </a:p>
        </p:txBody>
      </p:sp>
      <p:sp>
        <p:nvSpPr>
          <p:cNvPr id="16" name="">
            <a:extLst xmlns:a="http://schemas.openxmlformats.org/drawingml/2006/main">
              <a:ext uri="{FF2B5EF4-FFF2-40B4-BE49-F238E27FC236}">
                <a16:creationId xmlns:a16="http://schemas.microsoft.com/office/drawing/2014/main" id="{A2B90BBC-96B8-492A-8C76-4DFA01E830D7}"/>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74EE256D-8F29-4DE6-B6CC-314F4F6CF390}"/>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검증된 활동량당 에너지 / 산식 오류율</a:t>
            </a:r>
          </a:p>
        </p:txBody>
      </p:sp>
      <p:sp>
        <p:nvSpPr>
          <p:cNvPr id="18" name="">
            <a:extLst xmlns:a="http://schemas.openxmlformats.org/drawingml/2006/main">
              <a:ext uri="{FF2B5EF4-FFF2-40B4-BE49-F238E27FC236}">
                <a16:creationId xmlns:a16="http://schemas.microsoft.com/office/drawing/2014/main" id="{E1585D16-CBB4-4914-9934-94F1B79DDDA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데이터센터 냉각 한정 · 총 전력·탄소·TS 절감률과 구분</a:t>
            </a:r>
          </a:p>
        </p:txBody>
      </p:sp>
    </p:spTree>
    <p:extLst>
      <p:ext uri="{BB962C8B-B14F-4D97-AF65-F5344CB8AC3E}">
        <p14:creationId xmlns:p14="http://schemas.microsoft.com/office/powerpoint/2010/main" val="597102692"/>
      </p:ext>
    </p:extLst>
  </p:cSld>
</p:sld>
</file>

<file path=ppt/slides/slide1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F1840DB-D5F7-4238-86B2-60B846A5E9D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DeepMind 공식 단계 그림 1/4 / 공식 웹 원본</a:t>
            </a:r>
          </a:p>
        </p:txBody>
      </p:sp>
      <p:sp>
        <p:nvSpPr>
          <p:cNvPr id="2" name="">
            <a:extLst xmlns:a="http://schemas.openxmlformats.org/drawingml/2006/main">
              <a:ext uri="{FF2B5EF4-FFF2-40B4-BE49-F238E27FC236}">
                <a16:creationId xmlns:a16="http://schemas.microsoft.com/office/drawing/2014/main" id="{E77B0218-AFBF-4B9B-8E98-DA95E2BD06D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냉각 설비 센서 상태 수집</a:t>
            </a:r>
          </a:p>
        </p:txBody>
      </p:sp>
      <p:sp>
        <p:nvSpPr>
          <p:cNvPr id="3" name="">
            <a:extLst xmlns:a="http://schemas.openxmlformats.org/drawingml/2006/main">
              <a:ext uri="{FF2B5EF4-FFF2-40B4-BE49-F238E27FC236}">
                <a16:creationId xmlns:a16="http://schemas.microsoft.com/office/drawing/2014/main" id="{9E3D7780-0458-4548-B22F-C3B42744B2D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6E3A17E-4F0E-4387-BDB5-8EF47F83636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8D4555C-B963-4998-B5FA-BB6F04BF058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a:t>
            </a:r>
          </a:p>
        </p:txBody>
      </p:sp>
      <p:pic>
        <p:nvPicPr>
          <p:cNvPr id="6" name="">
            <a:extLst xmlns:a="http://schemas.openxmlformats.org/drawingml/2006/main">
              <a:ext uri="{FF2B5EF4-FFF2-40B4-BE49-F238E27FC236}">
                <a16:creationId xmlns:a16="http://schemas.microsoft.com/office/drawing/2014/main" id="{939A52E8-1800-4286-8B96-FB33FD1D32B0}"/>
              </a:ext>
            </a:extLst>
          </p:cNvPr>
          <p:cNvPicPr>
            <a:picLocks xmlns:a="http://schemas.openxmlformats.org/drawingml/2006/main" noChangeAspect="1"/>
          </p:cNvPicPr>
          <p:nvPr/>
        </p:nvPicPr>
        <p:blipFill>
          <a:blip xmlns:r="http://schemas.openxmlformats.org/officeDocument/2006/relationships" xmlns:a="http://schemas.openxmlformats.org/drawingml/2006/main" r:embed="Rc12303444889410c"/>
          <a:stretch xmlns:a="http://schemas.openxmlformats.org/drawingml/2006/main"/>
        </p:blipFill>
        <p:spPr>
          <a:xfrm xmlns:a="http://schemas.openxmlformats.org/drawingml/2006/main">
            <a:off x="2368051" y="1657350"/>
            <a:ext cx="7455899"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6DA1AA0-7FB8-41A7-A6D1-33477632DCD7}"/>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5분마다 현장 센서의 냉각 상태 스냅샷 수집</a:t>
            </a:r>
          </a:p>
        </p:txBody>
      </p:sp>
    </p:spTree>
    <p:extLst>
      <p:ext uri="{BB962C8B-B14F-4D97-AF65-F5344CB8AC3E}">
        <p14:creationId xmlns:p14="http://schemas.microsoft.com/office/powerpoint/2010/main" val="604415212"/>
      </p:ext>
    </p:extLst>
  </p:cSld>
</p:sld>
</file>

<file path=ppt/slides/slide2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63F746-D0B9-41C5-9187-2429C1E80AD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DeepMind 공식 단계 그림 2/4 / 공식 웹 원본</a:t>
            </a:r>
          </a:p>
        </p:txBody>
      </p:sp>
      <p:sp>
        <p:nvSpPr>
          <p:cNvPr id="2" name="">
            <a:extLst xmlns:a="http://schemas.openxmlformats.org/drawingml/2006/main">
              <a:ext uri="{FF2B5EF4-FFF2-40B4-BE49-F238E27FC236}">
                <a16:creationId xmlns:a16="http://schemas.microsoft.com/office/drawing/2014/main" id="{568A8AC5-F36D-4F1C-AC51-8A941626648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신경망 예측 단계</a:t>
            </a:r>
          </a:p>
        </p:txBody>
      </p:sp>
      <p:sp>
        <p:nvSpPr>
          <p:cNvPr id="3" name="">
            <a:extLst xmlns:a="http://schemas.openxmlformats.org/drawingml/2006/main">
              <a:ext uri="{FF2B5EF4-FFF2-40B4-BE49-F238E27FC236}">
                <a16:creationId xmlns:a16="http://schemas.microsoft.com/office/drawing/2014/main" id="{D460D2E2-0C56-46CF-8391-8E7AAB1606F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B3CC05F-0395-418C-A4F7-BEE9AB51542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BE76A26-834B-4547-A0F8-F04B8059322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20</a:t>
            </a:r>
          </a:p>
        </p:txBody>
      </p:sp>
      <p:pic>
        <p:nvPicPr>
          <p:cNvPr id="6" name="">
            <a:extLst xmlns:a="http://schemas.openxmlformats.org/drawingml/2006/main">
              <a:ext uri="{FF2B5EF4-FFF2-40B4-BE49-F238E27FC236}">
                <a16:creationId xmlns:a16="http://schemas.microsoft.com/office/drawing/2014/main" id="{0A8617DA-399D-4544-AF43-E0B2F145D2F6}"/>
              </a:ext>
            </a:extLst>
          </p:cNvPr>
          <p:cNvPicPr>
            <a:picLocks xmlns:a="http://schemas.openxmlformats.org/drawingml/2006/main" noChangeAspect="1"/>
          </p:cNvPicPr>
          <p:nvPr/>
        </p:nvPicPr>
        <p:blipFill>
          <a:blip xmlns:r="http://schemas.openxmlformats.org/officeDocument/2006/relationships" xmlns:a="http://schemas.openxmlformats.org/drawingml/2006/main" r:embed="R04da6c2fcdf44199"/>
          <a:stretch xmlns:a="http://schemas.openxmlformats.org/drawingml/2006/main"/>
        </p:blipFill>
        <p:spPr>
          <a:xfrm xmlns:a="http://schemas.openxmlformats.org/drawingml/2006/main">
            <a:off x="2368051" y="1657350"/>
            <a:ext cx="7455899"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97E7EC41-9A5C-43BC-BE13-08498E0024F2}"/>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제어 후보별 미래 효율과 온도 예측</a:t>
            </a:r>
          </a:p>
        </p:txBody>
      </p:sp>
    </p:spTree>
    <p:extLst>
      <p:ext uri="{BB962C8B-B14F-4D97-AF65-F5344CB8AC3E}">
        <p14:creationId xmlns:p14="http://schemas.microsoft.com/office/powerpoint/2010/main" val="58837768"/>
      </p:ext>
    </p:extLst>
  </p:cSld>
</p:sld>
</file>

<file path=ppt/slides/slide2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891E92-9F97-4176-AD9A-BAC70C39768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DeepMind 공식 단계 그림 3/4 / 공식 웹 원본</a:t>
            </a:r>
          </a:p>
        </p:txBody>
      </p:sp>
      <p:sp>
        <p:nvSpPr>
          <p:cNvPr id="2" name="">
            <a:extLst xmlns:a="http://schemas.openxmlformats.org/drawingml/2006/main">
              <a:ext uri="{FF2B5EF4-FFF2-40B4-BE49-F238E27FC236}">
                <a16:creationId xmlns:a16="http://schemas.microsoft.com/office/drawing/2014/main" id="{7AAFCE1D-FDDF-44A1-9E4A-412F27798D7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안전 제약 내 제어 후보 선정</a:t>
            </a:r>
          </a:p>
        </p:txBody>
      </p:sp>
      <p:sp>
        <p:nvSpPr>
          <p:cNvPr id="3" name="">
            <a:extLst xmlns:a="http://schemas.openxmlformats.org/drawingml/2006/main">
              <a:ext uri="{FF2B5EF4-FFF2-40B4-BE49-F238E27FC236}">
                <a16:creationId xmlns:a16="http://schemas.microsoft.com/office/drawing/2014/main" id="{D096A1FE-36B3-4179-9B5B-206CCD7218A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2D8554C-F59C-4092-BA21-2F9206CD8F0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5593FB4-2940-453F-B507-81D55552610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21</a:t>
            </a:r>
          </a:p>
        </p:txBody>
      </p:sp>
      <p:pic>
        <p:nvPicPr>
          <p:cNvPr id="6" name="">
            <a:extLst xmlns:a="http://schemas.openxmlformats.org/drawingml/2006/main">
              <a:ext uri="{FF2B5EF4-FFF2-40B4-BE49-F238E27FC236}">
                <a16:creationId xmlns:a16="http://schemas.microsoft.com/office/drawing/2014/main" id="{5D6726C6-9C7A-4451-8849-65DB1F4DD8D0}"/>
              </a:ext>
            </a:extLst>
          </p:cNvPr>
          <p:cNvPicPr>
            <a:picLocks xmlns:a="http://schemas.openxmlformats.org/drawingml/2006/main" noChangeAspect="1"/>
          </p:cNvPicPr>
          <p:nvPr/>
        </p:nvPicPr>
        <p:blipFill>
          <a:blip xmlns:r="http://schemas.openxmlformats.org/officeDocument/2006/relationships" xmlns:a="http://schemas.openxmlformats.org/drawingml/2006/main" r:embed="Rcf37c47ccbb94518"/>
          <a:stretch xmlns:a="http://schemas.openxmlformats.org/drawingml/2006/main"/>
        </p:blipFill>
        <p:spPr>
          <a:xfrm xmlns:a="http://schemas.openxmlformats.org/drawingml/2006/main">
            <a:off x="2368051" y="1657350"/>
            <a:ext cx="7455899"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9CCFEE86-7F59-494B-95CA-EB6EB961A619}"/>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안전 제약을 만족하는 후보 중 에너지 소비 최소화</a:t>
            </a:r>
          </a:p>
        </p:txBody>
      </p:sp>
    </p:spTree>
    <p:extLst>
      <p:ext uri="{BB962C8B-B14F-4D97-AF65-F5344CB8AC3E}">
        <p14:creationId xmlns:p14="http://schemas.microsoft.com/office/powerpoint/2010/main" val="1981760418"/>
      </p:ext>
    </p:extLst>
  </p:cSld>
</p:sld>
</file>

<file path=ppt/slides/slide2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2A3BD53-5B5E-4207-8FA1-3C08531AA4C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DeepMind 공식 단계 그림 4/4 / 공식 웹 원본</a:t>
            </a:r>
          </a:p>
        </p:txBody>
      </p:sp>
      <p:sp>
        <p:nvSpPr>
          <p:cNvPr id="2" name="">
            <a:extLst xmlns:a="http://schemas.openxmlformats.org/drawingml/2006/main">
              <a:ext uri="{FF2B5EF4-FFF2-40B4-BE49-F238E27FC236}">
                <a16:creationId xmlns:a16="http://schemas.microsoft.com/office/drawing/2014/main" id="{C7365312-F465-4A25-BF10-EAC2EB61B11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현장 제어계 독립 검증</a:t>
            </a:r>
          </a:p>
        </p:txBody>
      </p:sp>
      <p:sp>
        <p:nvSpPr>
          <p:cNvPr id="3" name="">
            <a:extLst xmlns:a="http://schemas.openxmlformats.org/drawingml/2006/main">
              <a:ext uri="{FF2B5EF4-FFF2-40B4-BE49-F238E27FC236}">
                <a16:creationId xmlns:a16="http://schemas.microsoft.com/office/drawing/2014/main" id="{0E454469-45CB-4367-9985-A8E14E6941D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29D1C68-20D7-4674-BB75-8317F129B2C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E5F186E-FFAC-48D7-AAB1-2F3A3908EDB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22</a:t>
            </a:r>
          </a:p>
        </p:txBody>
      </p:sp>
      <p:pic>
        <p:nvPicPr>
          <p:cNvPr id="6" name="">
            <a:extLst xmlns:a="http://schemas.openxmlformats.org/drawingml/2006/main">
              <a:ext uri="{FF2B5EF4-FFF2-40B4-BE49-F238E27FC236}">
                <a16:creationId xmlns:a16="http://schemas.microsoft.com/office/drawing/2014/main" id="{CB39E356-C167-4F63-B109-CC860EA87A70}"/>
              </a:ext>
            </a:extLst>
          </p:cNvPr>
          <p:cNvPicPr>
            <a:picLocks xmlns:a="http://schemas.openxmlformats.org/drawingml/2006/main" noChangeAspect="1"/>
          </p:cNvPicPr>
          <p:nvPr/>
        </p:nvPicPr>
        <p:blipFill>
          <a:blip xmlns:r="http://schemas.openxmlformats.org/officeDocument/2006/relationships" xmlns:a="http://schemas.openxmlformats.org/drawingml/2006/main" r:embed="R46ac00b0f4e84d3d"/>
          <a:stretch xmlns:a="http://schemas.openxmlformats.org/drawingml/2006/main"/>
        </p:blipFill>
        <p:spPr>
          <a:xfrm xmlns:a="http://schemas.openxmlformats.org/drawingml/2006/main">
            <a:off x="2368051" y="1657350"/>
            <a:ext cx="7455899"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1714239-7576-4473-A578-F308B42DB541}"/>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현장 제어계가 별도 안전 제약을 확인한 뒤 실행</a:t>
            </a:r>
          </a:p>
        </p:txBody>
      </p:sp>
    </p:spTree>
    <p:extLst>
      <p:ext uri="{BB962C8B-B14F-4D97-AF65-F5344CB8AC3E}">
        <p14:creationId xmlns:p14="http://schemas.microsoft.com/office/powerpoint/2010/main" val="677734331"/>
      </p:ext>
    </p:extLst>
  </p:cSld>
</p:sld>
</file>

<file path=ppt/slides/slide2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6ED52E37-1940-4CB7-9BE7-CA4938234AB5}"/>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6AEC673B-798B-42DB-B6E5-D60C67DB80F1}"/>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56C71C85-1C39-46FB-9319-97742101EA1E}"/>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CF6763CD-21D3-4013-A334-9C014B12C5DE}"/>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B7E97FC6-E630-42B3-8192-D451EADBD631}"/>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6E527D29-5197-430F-BA39-E8AC65FEA0FA}"/>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4268FE0B-4ED4-423A-BD63-26C48FA61DF9}"/>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076DACDC-45E4-4E7A-91F0-1E4994CF9C01}"/>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EA5EA1E5-8491-4F02-BF67-D55F15B201B1}"/>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A95F2CC0-B3AB-404B-82E3-8762D98B8C62}"/>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C5780F85-3CDF-4EAE-9B1D-450F7F4D18B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관측·안전 판정·현장 조치·환류</a:t>
            </a:r>
          </a:p>
        </p:txBody>
      </p:sp>
      <p:sp>
        <p:nvSpPr>
          <p:cNvPr id="2" name="">
            <a:extLst xmlns:a="http://schemas.openxmlformats.org/drawingml/2006/main">
              <a:ext uri="{FF2B5EF4-FFF2-40B4-BE49-F238E27FC236}">
                <a16:creationId xmlns:a16="http://schemas.microsoft.com/office/drawing/2014/main" id="{867CC1FA-E86A-414F-B6E3-975DDF6616E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데이터센터 냉각 · 세부 서비스 구조</a:t>
            </a:r>
          </a:p>
        </p:txBody>
      </p:sp>
      <p:sp>
        <p:nvSpPr>
          <p:cNvPr id="3" name="">
            <a:extLst xmlns:a="http://schemas.openxmlformats.org/drawingml/2006/main">
              <a:ext uri="{FF2B5EF4-FFF2-40B4-BE49-F238E27FC236}">
                <a16:creationId xmlns:a16="http://schemas.microsoft.com/office/drawing/2014/main" id="{7198666A-5866-497F-8390-CF72A8BDF25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41E4A22-2D6C-44DB-8330-6D2EF71D37F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EC03544-5DD4-4709-B414-E7E7A52BC12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23</a:t>
            </a:r>
          </a:p>
        </p:txBody>
      </p:sp>
      <p:sp>
        <p:nvSpPr>
          <p:cNvPr id="6" name="">
            <a:extLst xmlns:a="http://schemas.openxmlformats.org/drawingml/2006/main">
              <a:ext uri="{FF2B5EF4-FFF2-40B4-BE49-F238E27FC236}">
                <a16:creationId xmlns:a16="http://schemas.microsoft.com/office/drawing/2014/main" id="{9EBE2EAA-266A-42EB-863B-05CE9666FDF6}"/>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센서 상태 → 소비 예측 → 안전 제약 확인 → 현장 재검증·제어</a:t>
            </a:r>
          </a:p>
        </p:txBody>
      </p:sp>
      <p:sp>
        <p:nvSpPr>
          <p:cNvPr id="7" name="">
            <a:extLst xmlns:a="http://schemas.openxmlformats.org/drawingml/2006/main">
              <a:ext uri="{FF2B5EF4-FFF2-40B4-BE49-F238E27FC236}">
                <a16:creationId xmlns:a16="http://schemas.microsoft.com/office/drawing/2014/main" id="{7EA18A08-AC07-43F3-9F74-8726F8D9AB15}"/>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1AA7D0F7-DCDB-438D-B2C2-C8C61B4788DD}"/>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46444402-AF25-421B-AB12-E15A4B139E4E}"/>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센서·운전 자료</a:t>
            </a:r>
          </a:p>
        </p:txBody>
      </p:sp>
      <p:sp>
        <p:nvSpPr>
          <p:cNvPr id="10" name="">
            <a:extLst xmlns:a="http://schemas.openxmlformats.org/drawingml/2006/main">
              <a:ext uri="{FF2B5EF4-FFF2-40B4-BE49-F238E27FC236}">
                <a16:creationId xmlns:a16="http://schemas.microsoft.com/office/drawing/2014/main" id="{18532F04-2321-4325-9B0B-B9635695D323}"/>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1F5DAC94-C2BE-45D3-883B-74C0BDDB25D1}"/>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D74DBA8C-CBFE-4C58-9707-C2C43016C593}"/>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시각·결측 정리</a:t>
            </a:r>
          </a:p>
        </p:txBody>
      </p:sp>
      <p:sp>
        <p:nvSpPr>
          <p:cNvPr id="13" name="">
            <a:extLst xmlns:a="http://schemas.openxmlformats.org/drawingml/2006/main">
              <a:ext uri="{FF2B5EF4-FFF2-40B4-BE49-F238E27FC236}">
                <a16:creationId xmlns:a16="http://schemas.microsoft.com/office/drawing/2014/main" id="{A42FAEAD-1D8B-438D-9ADA-CB0355E9CD82}"/>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C606364D-EA8E-440A-AFE5-4C1B949E8AA4}"/>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2A0D48A5-7728-4C0C-9003-90BBB75F83F5}"/>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소비·제어값 예측</a:t>
            </a:r>
          </a:p>
        </p:txBody>
      </p:sp>
      <p:sp>
        <p:nvSpPr>
          <p:cNvPr id="16" name="">
            <a:extLst xmlns:a="http://schemas.openxmlformats.org/drawingml/2006/main">
              <a:ext uri="{FF2B5EF4-FFF2-40B4-BE49-F238E27FC236}">
                <a16:creationId xmlns:a16="http://schemas.microsoft.com/office/drawing/2014/main" id="{9B93D292-6924-46F5-9738-9EF7B0844FA1}"/>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218AFD2A-FFE0-4534-A50D-C50E8B2918D2}"/>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425F3843-EEF1-4AFD-B36A-94FE11112EA2}"/>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클라우드 안전검증</a:t>
            </a:r>
          </a:p>
        </p:txBody>
      </p:sp>
      <p:sp>
        <p:nvSpPr>
          <p:cNvPr id="19" name="">
            <a:extLst xmlns:a="http://schemas.openxmlformats.org/drawingml/2006/main">
              <a:ext uri="{FF2B5EF4-FFF2-40B4-BE49-F238E27FC236}">
                <a16:creationId xmlns:a16="http://schemas.microsoft.com/office/drawing/2014/main" id="{72B18AB6-21B6-47E8-A1A9-CCF269943658}"/>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905E2E5C-B57C-4D68-9227-F9CFD25F7920}"/>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24EB99D4-2049-48DB-A7B3-79CCBC1B0614}"/>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제어·수동 전환</a:t>
            </a:r>
          </a:p>
        </p:txBody>
      </p:sp>
      <p:sp>
        <p:nvSpPr>
          <p:cNvPr id="22" name="">
            <a:extLst xmlns:a="http://schemas.openxmlformats.org/drawingml/2006/main">
              <a:ext uri="{FF2B5EF4-FFF2-40B4-BE49-F238E27FC236}">
                <a16:creationId xmlns:a16="http://schemas.microsoft.com/office/drawing/2014/main" id="{4CF73C48-01A2-4AD7-8207-D920A4C2ABF1}"/>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E20BAC6-C46B-406D-9756-934839DC5898}"/>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829CB8CF-3C23-4142-ADFA-8268DA74C718}"/>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운전·안전 경계</a:t>
            </a:r>
          </a:p>
        </p:txBody>
      </p:sp>
      <p:sp>
        <p:nvSpPr>
          <p:cNvPr id="25" name="">
            <a:extLst xmlns:a="http://schemas.openxmlformats.org/drawingml/2006/main">
              <a:ext uri="{FF2B5EF4-FFF2-40B4-BE49-F238E27FC236}">
                <a16:creationId xmlns:a16="http://schemas.microsoft.com/office/drawing/2014/main" id="{199DC874-AAB8-47E7-902C-54C10C1AF1E9}"/>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35326E71-75DB-4B21-B3E4-28F41027EF03}"/>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BEACD2B2-3928-46E0-9E5F-9421B424B737}"/>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센서 이력 조회</a:t>
            </a:r>
          </a:p>
        </p:txBody>
      </p:sp>
      <p:sp>
        <p:nvSpPr>
          <p:cNvPr id="28" name="">
            <a:extLst xmlns:a="http://schemas.openxmlformats.org/drawingml/2006/main">
              <a:ext uri="{FF2B5EF4-FFF2-40B4-BE49-F238E27FC236}">
                <a16:creationId xmlns:a16="http://schemas.microsoft.com/office/drawing/2014/main" id="{EAB744DE-B232-41C3-877B-172CA9D5B9E2}"/>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C221CD26-99FB-4190-B238-C8653C16D919}"/>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7B76376E-9E28-4E40-A682-76DD8C6BF29C}"/>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제어 허용경계</a:t>
            </a:r>
          </a:p>
        </p:txBody>
      </p:sp>
      <p:sp>
        <p:nvSpPr>
          <p:cNvPr id="31" name="">
            <a:extLst xmlns:a="http://schemas.openxmlformats.org/drawingml/2006/main">
              <a:ext uri="{FF2B5EF4-FFF2-40B4-BE49-F238E27FC236}">
                <a16:creationId xmlns:a16="http://schemas.microsoft.com/office/drawing/2014/main" id="{479B0898-C09E-4BB3-8E07-5BFA86211C0B}"/>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6A413DAC-9AE0-4148-B8B5-EBBD36E54158}"/>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B03DB84E-8384-4F4F-BCFF-D2FB56C8E404}"/>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현장 독립 검증</a:t>
            </a:r>
          </a:p>
        </p:txBody>
      </p:sp>
      <p:sp>
        <p:nvSpPr>
          <p:cNvPr id="34" name="">
            <a:extLst xmlns:a="http://schemas.openxmlformats.org/drawingml/2006/main">
              <a:ext uri="{FF2B5EF4-FFF2-40B4-BE49-F238E27FC236}">
                <a16:creationId xmlns:a16="http://schemas.microsoft.com/office/drawing/2014/main" id="{D94BE0EE-5352-4103-BBE5-7C96E4E43A48}"/>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D402207-915A-4A1E-830B-DC9522207F37}"/>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0A3C1808-37AE-4450-B46B-7439695B2A63}"/>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다음 주기 환류</a:t>
            </a:r>
          </a:p>
        </p:txBody>
      </p:sp>
      <p:sp>
        <p:nvSpPr>
          <p:cNvPr id="47" name="">
            <a:extLst xmlns:a="http://schemas.openxmlformats.org/drawingml/2006/main">
              <a:ext uri="{FF2B5EF4-FFF2-40B4-BE49-F238E27FC236}">
                <a16:creationId xmlns:a16="http://schemas.microsoft.com/office/drawing/2014/main" id="{F435A4D1-090C-4644-BA41-1A470E167A49}"/>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780328039"/>
      </p:ext>
    </p:extLst>
  </p:cSld>
</p:sld>
</file>

<file path=ppt/slides/slide2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6E47B21-090B-4346-8FD3-994888A2E95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논리 인터페이스·복구 설계</a:t>
            </a:r>
          </a:p>
        </p:txBody>
      </p:sp>
      <p:sp>
        <p:nvSpPr>
          <p:cNvPr id="2" name="">
            <a:extLst xmlns:a="http://schemas.openxmlformats.org/drawingml/2006/main">
              <a:ext uri="{FF2B5EF4-FFF2-40B4-BE49-F238E27FC236}">
                <a16:creationId xmlns:a16="http://schemas.microsoft.com/office/drawing/2014/main" id="{8EB70E98-B5ED-4B7C-8FB6-B70DAC6CC00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데이터센터 냉각 · 데이터와 예외 처리</a:t>
            </a:r>
          </a:p>
        </p:txBody>
      </p:sp>
      <p:sp>
        <p:nvSpPr>
          <p:cNvPr id="3" name="">
            <a:extLst xmlns:a="http://schemas.openxmlformats.org/drawingml/2006/main">
              <a:ext uri="{FF2B5EF4-FFF2-40B4-BE49-F238E27FC236}">
                <a16:creationId xmlns:a16="http://schemas.microsoft.com/office/drawing/2014/main" id="{417D8E8E-CE8C-4152-8BBF-B3CCE904824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28CF216-9B40-488F-A2E4-C5EDB24401A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3299F49-B3CF-4C03-9FD5-ACE3D679CED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24</a:t>
            </a:r>
          </a:p>
        </p:txBody>
      </p:sp>
      <p:sp>
        <p:nvSpPr>
          <p:cNvPr id="6" name="">
            <a:extLst xmlns:a="http://schemas.openxmlformats.org/drawingml/2006/main">
              <a:ext uri="{FF2B5EF4-FFF2-40B4-BE49-F238E27FC236}">
                <a16:creationId xmlns:a16="http://schemas.microsoft.com/office/drawing/2014/main" id="{3AF08ACE-A271-445E-B41D-5DB729BC92B6}"/>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B767EE7-5097-452C-841E-9996A4BFBCD1}"/>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908C4353-D0B9-45B0-9C48-D12068D98C04}"/>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2B461EAE-7B01-4424-AA10-563ED09DA9BE}"/>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센서 이력·안전 경계</a:t>
            </a:r>
          </a:p>
        </p:txBody>
      </p:sp>
      <p:sp>
        <p:nvSpPr>
          <p:cNvPr id="10" name="">
            <a:extLst xmlns:a="http://schemas.openxmlformats.org/drawingml/2006/main">
              <a:ext uri="{FF2B5EF4-FFF2-40B4-BE49-F238E27FC236}">
                <a16:creationId xmlns:a16="http://schemas.microsoft.com/office/drawing/2014/main" id="{0377C764-32DD-4490-A70D-978F2506106D}"/>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5A17663-1B9A-488A-86AA-7D66064F67FF}"/>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3EB3EB7E-12AF-4F15-8584-DE545F466F09}"/>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6967E6DA-6D26-478F-8498-BF354969EE5C}"/>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DD35C26-B094-4280-8C5D-28ACC1A2EAE8}"/>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D3A190BD-309A-45B3-84A5-15AB6A54B882}"/>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안전 조건 충족 명령</a:t>
            </a:r>
          </a:p>
        </p:txBody>
      </p:sp>
      <p:sp>
        <p:nvSpPr>
          <p:cNvPr id="16" name="">
            <a:extLst xmlns:a="http://schemas.openxmlformats.org/drawingml/2006/main">
              <a:ext uri="{FF2B5EF4-FFF2-40B4-BE49-F238E27FC236}">
                <a16:creationId xmlns:a16="http://schemas.microsoft.com/office/drawing/2014/main" id="{F37C8A76-739C-4E9E-ADC3-A0E81BD2708C}"/>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CBAB78C-104A-4FFE-AA75-865BAB3D58FA}"/>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7C761C6F-5D54-452A-9AC9-EB2EF0BCEE31}"/>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제어 허용경계</a:t>
            </a:r>
          </a:p>
        </p:txBody>
      </p:sp>
      <p:sp>
        <p:nvSpPr>
          <p:cNvPr id="19" name="">
            <a:extLst xmlns:a="http://schemas.openxmlformats.org/drawingml/2006/main">
              <a:ext uri="{FF2B5EF4-FFF2-40B4-BE49-F238E27FC236}">
                <a16:creationId xmlns:a16="http://schemas.microsoft.com/office/drawing/2014/main" id="{B1B56139-C22E-484C-B189-2A716D2E200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DB91D5C-AE24-435D-999D-730E92246BFD}"/>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523FA3F2-637A-4E2E-80D6-BC48BA5182B4}"/>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현장 검증·실행</a:t>
            </a:r>
          </a:p>
        </p:txBody>
      </p:sp>
      <p:sp>
        <p:nvSpPr>
          <p:cNvPr id="22" name="">
            <a:extLst xmlns:a="http://schemas.openxmlformats.org/drawingml/2006/main">
              <a:ext uri="{FF2B5EF4-FFF2-40B4-BE49-F238E27FC236}">
                <a16:creationId xmlns:a16="http://schemas.microsoft.com/office/drawing/2014/main" id="{DCD98523-F336-4F88-BD76-F996248E00E2}"/>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8950900-BDE7-464F-B073-4B7BAF9DDD91}"/>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0F163489-3F69-4649-98D1-370CC24F269B}"/>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운영자 수동 전환 및 제어 결과의 다음 주기</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 반영</a:t>
            </a:r>
          </a:p>
        </p:txBody>
      </p:sp>
      <p:sp>
        <p:nvSpPr>
          <p:cNvPr id="25" name="">
            <a:extLst xmlns:a="http://schemas.openxmlformats.org/drawingml/2006/main">
              <a:ext uri="{FF2B5EF4-FFF2-40B4-BE49-F238E27FC236}">
                <a16:creationId xmlns:a16="http://schemas.microsoft.com/office/drawing/2014/main" id="{7B3732B1-0E81-465D-8538-A5C12AC0AAD9}"/>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EA641A98-7F01-41A5-97F6-E55469F17576}"/>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센서 결측·제어값 한계 초과·현장 검증 거부</a:t>
            </a:r>
          </a:p>
        </p:txBody>
      </p:sp>
      <p:sp>
        <p:nvSpPr>
          <p:cNvPr id="27" name="">
            <a:extLst xmlns:a="http://schemas.openxmlformats.org/drawingml/2006/main">
              <a:ext uri="{FF2B5EF4-FFF2-40B4-BE49-F238E27FC236}">
                <a16:creationId xmlns:a16="http://schemas.microsoft.com/office/drawing/2014/main" id="{471334D0-6D66-47C2-9776-4EF40A2028DA}"/>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385E9EB2-4D1D-49D7-B0BE-8541A6C3B726}"/>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독립 검증·수동 전환</a:t>
            </a:r>
          </a:p>
        </p:txBody>
      </p:sp>
      <p:sp>
        <p:nvSpPr>
          <p:cNvPr id="29" name="">
            <a:extLst xmlns:a="http://schemas.openxmlformats.org/drawingml/2006/main">
              <a:ext uri="{FF2B5EF4-FFF2-40B4-BE49-F238E27FC236}">
                <a16:creationId xmlns:a16="http://schemas.microsoft.com/office/drawing/2014/main" id="{58BE6D56-6108-453E-8EFB-81B02055E9BF}"/>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E5BB1C76-4586-4C30-BBF3-4454A2D7CF6C}"/>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운영자 수동 전환 및 제어 결과의 다음 주기 반영</a:t>
            </a:r>
          </a:p>
        </p:txBody>
      </p:sp>
      <p:sp>
        <p:nvSpPr>
          <p:cNvPr id="31" name="">
            <a:extLst xmlns:a="http://schemas.openxmlformats.org/drawingml/2006/main">
              <a:ext uri="{FF2B5EF4-FFF2-40B4-BE49-F238E27FC236}">
                <a16:creationId xmlns:a16="http://schemas.microsoft.com/office/drawing/2014/main" id="{CBA74AED-1060-4229-8CB6-33B7878DAD69}"/>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E8581A66-0236-4392-AE8F-F68EC652A68B}"/>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제약별 통과/보류 결과와 수동 전환·제어 이력</a:t>
            </a:r>
          </a:p>
        </p:txBody>
      </p:sp>
    </p:spTree>
    <p:extLst>
      <p:ext uri="{BB962C8B-B14F-4D97-AF65-F5344CB8AC3E}">
        <p14:creationId xmlns:p14="http://schemas.microsoft.com/office/powerpoint/2010/main" val="628715981"/>
      </p:ext>
    </p:extLst>
  </p:cSld>
</p:sld>
</file>

<file path=ppt/slides/slide2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B9CF8F7-DBE7-4F7D-A32E-5DBF592E1A3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CCK 비교·재현 시험 설계</a:t>
            </a:r>
          </a:p>
        </p:txBody>
      </p:sp>
      <p:sp>
        <p:nvSpPr>
          <p:cNvPr id="2" name="">
            <a:extLst xmlns:a="http://schemas.openxmlformats.org/drawingml/2006/main">
              <a:ext uri="{FF2B5EF4-FFF2-40B4-BE49-F238E27FC236}">
                <a16:creationId xmlns:a16="http://schemas.microsoft.com/office/drawing/2014/main" id="{7BF3AC0F-17C2-4913-B210-007FDF036ED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데이터센터 냉각 · 벤치마킹</a:t>
            </a:r>
          </a:p>
        </p:txBody>
      </p:sp>
      <p:sp>
        <p:nvSpPr>
          <p:cNvPr id="3" name="">
            <a:extLst xmlns:a="http://schemas.openxmlformats.org/drawingml/2006/main">
              <a:ext uri="{FF2B5EF4-FFF2-40B4-BE49-F238E27FC236}">
                <a16:creationId xmlns:a16="http://schemas.microsoft.com/office/drawing/2014/main" id="{62FD2970-8A9D-478B-87BB-AB6E040DD1E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B652D64-3361-4C96-9630-D68AFF665E2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969046F-C49A-495D-8465-AF2CE426F37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25</a:t>
            </a:r>
          </a:p>
        </p:txBody>
      </p:sp>
      <p:sp>
        <p:nvSpPr>
          <p:cNvPr id="6" name="">
            <a:extLst xmlns:a="http://schemas.openxmlformats.org/drawingml/2006/main">
              <a:ext uri="{FF2B5EF4-FFF2-40B4-BE49-F238E27FC236}">
                <a16:creationId xmlns:a16="http://schemas.microsoft.com/office/drawing/2014/main" id="{11A6C84F-959A-4011-9E94-545C30E341FD}"/>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95C085D1-9372-4030-B072-A7FA1AE1EBDD}"/>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클라우드·현장 제어의 이중 안전검증</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운영자 수동 전환과 불확실성 제한</a:t>
            </a:r>
          </a:p>
        </p:txBody>
      </p:sp>
      <p:sp>
        <p:nvSpPr>
          <p:cNvPr id="8" name="">
            <a:extLst xmlns:a="http://schemas.openxmlformats.org/drawingml/2006/main">
              <a:ext uri="{FF2B5EF4-FFF2-40B4-BE49-F238E27FC236}">
                <a16:creationId xmlns:a16="http://schemas.microsoft.com/office/drawing/2014/main" id="{74306714-6415-4C24-B3D2-DC9EF07F87BF}"/>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A1D5F114-58CE-46BD-A648-1390B5EBCB67}"/>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계절·부하에 따른 기준선 변화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 한계를 넓힐 때의 제어 위험</a:t>
            </a:r>
          </a:p>
        </p:txBody>
      </p:sp>
      <p:sp>
        <p:nvSpPr>
          <p:cNvPr id="10" name="">
            <a:extLst xmlns:a="http://schemas.openxmlformats.org/drawingml/2006/main">
              <a:ext uri="{FF2B5EF4-FFF2-40B4-BE49-F238E27FC236}">
                <a16:creationId xmlns:a16="http://schemas.microsoft.com/office/drawing/2014/main" id="{69913DC3-5989-4C9A-BEBC-A70CEF9E6579}"/>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EA3C4F74-0A75-4EB6-9DCF-E037C14C4748}"/>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현장 독립 검증·수동 전환</a:t>
            </a:r>
          </a:p>
        </p:txBody>
      </p:sp>
      <p:sp>
        <p:nvSpPr>
          <p:cNvPr id="12" name="">
            <a:extLst xmlns:a="http://schemas.openxmlformats.org/drawingml/2006/main">
              <a:ext uri="{FF2B5EF4-FFF2-40B4-BE49-F238E27FC236}">
                <a16:creationId xmlns:a16="http://schemas.microsoft.com/office/drawing/2014/main" id="{EC789222-155F-4F40-A3EB-1D8097E0A3C1}"/>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FA44C1E6-49F8-490A-A562-7B53321AD194}"/>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현재 운전상태에서 허용범위 내 냉각 제어값 산출</a:t>
            </a:r>
          </a:p>
        </p:txBody>
      </p:sp>
      <p:sp>
        <p:nvSpPr>
          <p:cNvPr id="14" name="">
            <a:extLst xmlns:a="http://schemas.openxmlformats.org/drawingml/2006/main">
              <a:ext uri="{FF2B5EF4-FFF2-40B4-BE49-F238E27FC236}">
                <a16:creationId xmlns:a16="http://schemas.microsoft.com/office/drawing/2014/main" id="{DA249788-037B-4438-AB4C-EBAA4EFF88D6}"/>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CAD781CE-B844-4114-A0B3-73D79BE00BB0}"/>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센서 결측·제어값 한계 초과·현장 검증 거부</a:t>
            </a:r>
          </a:p>
        </p:txBody>
      </p:sp>
      <p:sp>
        <p:nvSpPr>
          <p:cNvPr id="16" name="">
            <a:extLst xmlns:a="http://schemas.openxmlformats.org/drawingml/2006/main">
              <a:ext uri="{FF2B5EF4-FFF2-40B4-BE49-F238E27FC236}">
                <a16:creationId xmlns:a16="http://schemas.microsoft.com/office/drawing/2014/main" id="{507AA9C7-7D07-42FA-839C-0C08151CB82B}"/>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87DCCB77-3245-4DA0-A95C-9A00A5A80625}"/>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제약별 통과/보류 결과와 수동 전환·제어 이력</a:t>
            </a:r>
          </a:p>
        </p:txBody>
      </p:sp>
    </p:spTree>
    <p:extLst>
      <p:ext uri="{BB962C8B-B14F-4D97-AF65-F5344CB8AC3E}">
        <p14:creationId xmlns:p14="http://schemas.microsoft.com/office/powerpoint/2010/main" val="1582875937"/>
      </p:ext>
    </p:extLst>
  </p:cSld>
</p:sld>
</file>

<file path=ppt/slides/slide2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23F6AE3-87AB-4E23-A92D-4155B26FA34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혼합 / 해외</a:t>
            </a:r>
          </a:p>
        </p:txBody>
      </p:sp>
      <p:sp>
        <p:nvSpPr>
          <p:cNvPr id="2" name="">
            <a:extLst xmlns:a="http://schemas.openxmlformats.org/drawingml/2006/main">
              <a:ext uri="{FF2B5EF4-FFF2-40B4-BE49-F238E27FC236}">
                <a16:creationId xmlns:a16="http://schemas.microsoft.com/office/drawing/2014/main" id="{D509B252-E17C-4B64-83DB-B3BCD9526A2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a:t>
            </a:r>
          </a:p>
        </p:txBody>
      </p:sp>
      <p:sp>
        <p:nvSpPr>
          <p:cNvPr id="3" name="">
            <a:extLst xmlns:a="http://schemas.openxmlformats.org/drawingml/2006/main">
              <a:ext uri="{FF2B5EF4-FFF2-40B4-BE49-F238E27FC236}">
                <a16:creationId xmlns:a16="http://schemas.microsoft.com/office/drawing/2014/main" id="{037C0FC5-F950-403A-80E3-B41DE2DA8F4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0ADBC7A-52D3-4066-9965-EBBCF70F967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0EA993D-D2CE-4118-BF49-2846727C392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26</a:t>
            </a:r>
          </a:p>
        </p:txBody>
      </p:sp>
      <p:sp>
        <p:nvSpPr>
          <p:cNvPr id="6" name="">
            <a:extLst xmlns:a="http://schemas.openxmlformats.org/drawingml/2006/main">
              <a:ext uri="{FF2B5EF4-FFF2-40B4-BE49-F238E27FC236}">
                <a16:creationId xmlns:a16="http://schemas.microsoft.com/office/drawing/2014/main" id="{500A6767-F2B6-44CB-81A2-099DED293123}"/>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DD7D42AC-9748-4274-B77E-03BBEE58AF8F}"/>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정부 안내 페이지를 이용자가 직접 탐색하는 과정에 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연어 질의 접점을 추가한 사례. 질문에 대한 설명과 실제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공공서비스 신청은 별도 단계이며 원문·공식 서비스로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이동이 중요한 완료조건.</a:t>
            </a:r>
          </a:p>
        </p:txBody>
      </p:sp>
      <p:sp>
        <p:nvSpPr>
          <p:cNvPr id="8" name="">
            <a:extLst xmlns:a="http://schemas.openxmlformats.org/drawingml/2006/main">
              <a:ext uri="{FF2B5EF4-FFF2-40B4-BE49-F238E27FC236}">
                <a16:creationId xmlns:a16="http://schemas.microsoft.com/office/drawing/2014/main" id="{60AAB9A0-B167-4E4F-9D99-FC548B4832C0}"/>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ED4182C0-84BC-451B-8523-D32FC17E2115}"/>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기술기록의 Rails·Claude/Bedrock·OpenSearc</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h·BigQuery를 기준으로 콘텐츠 준비, 질의 검색, 응답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생성, 품질 관측을 구분. 2023년 파일럿 설계와 2025</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년 공개 기술기록은 판본이 다른 자료로 취급.</a:t>
            </a:r>
          </a:p>
        </p:txBody>
      </p:sp>
      <p:sp>
        <p:nvSpPr>
          <p:cNvPr id="10" name="">
            <a:extLst xmlns:a="http://schemas.openxmlformats.org/drawingml/2006/main">
              <a:ext uri="{FF2B5EF4-FFF2-40B4-BE49-F238E27FC236}">
                <a16:creationId xmlns:a16="http://schemas.microsoft.com/office/drawing/2014/main" id="{B5285271-4E39-4022-BDB1-790DEEB5D346}"/>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3CE1E1F0-AF87-46FE-8AD8-7D7EDE9F98CD}"/>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TS 메뉴를 없애기보다 질문의 소관·지역·자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격을 정리하고 검증된 메뉴에 연결하는 방식으로 현지화.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근거 없음·범위 밖 질의·느린 응답·틀린 신청 경로를 별도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과업으로 시험할 필요.</a:t>
            </a:r>
          </a:p>
        </p:txBody>
      </p:sp>
      <p:sp>
        <p:nvSpPr>
          <p:cNvPr id="12" name="">
            <a:extLst xmlns:a="http://schemas.openxmlformats.org/drawingml/2006/main">
              <a:ext uri="{FF2B5EF4-FFF2-40B4-BE49-F238E27FC236}">
                <a16:creationId xmlns:a16="http://schemas.microsoft.com/office/drawing/2014/main" id="{F4A883F2-5A23-4537-8DCD-13EF0BA97CD9}"/>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02680C6-BC48-40FB-B980-5C20BFEDAC81}"/>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공개·내부 지식 분리 / 서비스 라우터 / 필수 입력 확인 / 인증·전</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송 연계</a:t>
            </a:r>
          </a:p>
        </p:txBody>
      </p:sp>
      <p:sp>
        <p:nvSpPr>
          <p:cNvPr id="14" name="">
            <a:extLst xmlns:a="http://schemas.openxmlformats.org/drawingml/2006/main">
              <a:ext uri="{FF2B5EF4-FFF2-40B4-BE49-F238E27FC236}">
                <a16:creationId xmlns:a16="http://schemas.microsoft.com/office/drawing/2014/main" id="{89E62162-98E0-4A67-9AD8-976EA6BA10D4}"/>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4DCC1C9F-BE48-4AF3-AFCB-1B285D1A9DC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실제 메뉴 대비 업무 도달률·완료시간 및 잘못된 기관 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내 검증</a:t>
            </a:r>
          </a:p>
        </p:txBody>
      </p:sp>
      <p:sp>
        <p:nvSpPr>
          <p:cNvPr id="16" name="">
            <a:extLst xmlns:a="http://schemas.openxmlformats.org/drawingml/2006/main">
              <a:ext uri="{FF2B5EF4-FFF2-40B4-BE49-F238E27FC236}">
                <a16:creationId xmlns:a16="http://schemas.microsoft.com/office/drawing/2014/main" id="{A7616851-E76E-4B47-A135-24F2D15CFDAB}"/>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7036AA4B-F3D8-4385-8D78-441693605862}"/>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정확한 서비스 도달률 / 포기율 / 응답 p95</a:t>
            </a:r>
          </a:p>
        </p:txBody>
      </p:sp>
      <p:sp>
        <p:nvSpPr>
          <p:cNvPr id="18" name="">
            <a:extLst xmlns:a="http://schemas.openxmlformats.org/drawingml/2006/main">
              <a:ext uri="{FF2B5EF4-FFF2-40B4-BE49-F238E27FC236}">
                <a16:creationId xmlns:a16="http://schemas.microsoft.com/office/drawing/2014/main" id="{B2B9F6EC-A1F4-477C-B335-26260BF5B705}"/>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공개 안내 검색 범위 · 개인 업무 처리와 담당자 인계는 당시 지원·개선 범위 구분</a:t>
            </a:r>
          </a:p>
        </p:txBody>
      </p:sp>
    </p:spTree>
    <p:extLst>
      <p:ext uri="{BB962C8B-B14F-4D97-AF65-F5344CB8AC3E}">
        <p14:creationId xmlns:p14="http://schemas.microsoft.com/office/powerpoint/2010/main" val="2072260352"/>
      </p:ext>
    </p:extLst>
  </p:cSld>
</p:sld>
</file>

<file path=ppt/slides/slide2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CCC611-AD03-4387-8E46-204E06B9A74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영국 정부 ATRS 공식 C4 아키텍처 / 공식 웹 원본</a:t>
            </a:r>
          </a:p>
        </p:txBody>
      </p:sp>
      <p:sp>
        <p:nvSpPr>
          <p:cNvPr id="2" name="">
            <a:extLst xmlns:a="http://schemas.openxmlformats.org/drawingml/2006/main">
              <a:ext uri="{FF2B5EF4-FFF2-40B4-BE49-F238E27FC236}">
                <a16:creationId xmlns:a16="http://schemas.microsoft.com/office/drawing/2014/main" id="{092B5E72-ABE9-4EA6-8491-8F62304549C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2025년 공개 베타 구성</a:t>
            </a:r>
          </a:p>
        </p:txBody>
      </p:sp>
      <p:sp>
        <p:nvSpPr>
          <p:cNvPr id="3" name="">
            <a:extLst xmlns:a="http://schemas.openxmlformats.org/drawingml/2006/main">
              <a:ext uri="{FF2B5EF4-FFF2-40B4-BE49-F238E27FC236}">
                <a16:creationId xmlns:a16="http://schemas.microsoft.com/office/drawing/2014/main" id="{C3893B00-AF0F-4B41-9021-235851BCF34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CEAACAF-E69E-4308-9D06-47B96725FAC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E76AF36-D66A-45C0-BC5B-CECC124F090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27</a:t>
            </a:r>
          </a:p>
        </p:txBody>
      </p:sp>
      <p:pic>
        <p:nvPicPr>
          <p:cNvPr id="6" name="">
            <a:extLst xmlns:a="http://schemas.openxmlformats.org/drawingml/2006/main">
              <a:ext uri="{FF2B5EF4-FFF2-40B4-BE49-F238E27FC236}">
                <a16:creationId xmlns:a16="http://schemas.microsoft.com/office/drawing/2014/main" id="{A60250B5-16C6-4775-9A77-2597EE86F2FB}"/>
              </a:ext>
            </a:extLst>
          </p:cNvPr>
          <p:cNvPicPr>
            <a:picLocks xmlns:a="http://schemas.openxmlformats.org/drawingml/2006/main" noChangeAspect="1"/>
          </p:cNvPicPr>
          <p:nvPr/>
        </p:nvPicPr>
        <p:blipFill>
          <a:blip xmlns:r="http://schemas.openxmlformats.org/officeDocument/2006/relationships" xmlns:a="http://schemas.openxmlformats.org/drawingml/2006/main" r:embed="R0e7f1bddd3334b24"/>
          <a:stretch xmlns:a="http://schemas.openxmlformats.org/drawingml/2006/main"/>
        </p:blipFill>
        <p:spPr>
          <a:xfrm xmlns:a="http://schemas.openxmlformats.org/drawingml/2006/main">
            <a:off x="2379270" y="1657350"/>
            <a:ext cx="7433460"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C31BE24-EA02-44A1-A52F-BF82CB6A9B82}"/>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앱·인증·Rails·Bedrock·OpenSearch·PostgreSQL·BigQuery의 운영 경계</a:t>
            </a:r>
          </a:p>
        </p:txBody>
      </p:sp>
    </p:spTree>
    <p:extLst>
      <p:ext uri="{BB962C8B-B14F-4D97-AF65-F5344CB8AC3E}">
        <p14:creationId xmlns:p14="http://schemas.microsoft.com/office/powerpoint/2010/main" val="1664064141"/>
      </p:ext>
    </p:extLst>
  </p:cSld>
</p:sld>
</file>

<file path=ppt/slides/slide2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61538B9-B7C1-4DE8-9B66-BD088373592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영국 정부 개발문서 초기 설계도 / 공식 웹 원본</a:t>
            </a:r>
          </a:p>
        </p:txBody>
      </p:sp>
      <p:sp>
        <p:nvSpPr>
          <p:cNvPr id="2" name="">
            <a:extLst xmlns:a="http://schemas.openxmlformats.org/drawingml/2006/main">
              <a:ext uri="{FF2B5EF4-FFF2-40B4-BE49-F238E27FC236}">
                <a16:creationId xmlns:a16="http://schemas.microsoft.com/office/drawing/2014/main" id="{4782E43E-E57C-4138-BFF8-E99675D9EEF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초기 파일럿 구성</a:t>
            </a:r>
          </a:p>
        </p:txBody>
      </p:sp>
      <p:sp>
        <p:nvSpPr>
          <p:cNvPr id="3" name="">
            <a:extLst xmlns:a="http://schemas.openxmlformats.org/drawingml/2006/main">
              <a:ext uri="{FF2B5EF4-FFF2-40B4-BE49-F238E27FC236}">
                <a16:creationId xmlns:a16="http://schemas.microsoft.com/office/drawing/2014/main" id="{9AC3C0BC-4B83-4F82-846D-3AF4B825274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80AB6F7-7185-409A-8FBB-4662E330E0F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87708F7-DBC6-462C-9CB5-FE5A13D008A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28</a:t>
            </a:r>
          </a:p>
        </p:txBody>
      </p:sp>
      <p:pic>
        <p:nvPicPr>
          <p:cNvPr id="6" name="">
            <a:extLst xmlns:a="http://schemas.openxmlformats.org/drawingml/2006/main">
              <a:ext uri="{FF2B5EF4-FFF2-40B4-BE49-F238E27FC236}">
                <a16:creationId xmlns:a16="http://schemas.microsoft.com/office/drawing/2014/main" id="{8367FB30-031A-437C-B989-D8F3C1550563}"/>
              </a:ext>
            </a:extLst>
          </p:cNvPr>
          <p:cNvPicPr>
            <a:picLocks xmlns:a="http://schemas.openxmlformats.org/drawingml/2006/main" noChangeAspect="1"/>
          </p:cNvPicPr>
          <p:nvPr/>
        </p:nvPicPr>
        <p:blipFill>
          <a:blip xmlns:r="http://schemas.openxmlformats.org/officeDocument/2006/relationships" xmlns:a="http://schemas.openxmlformats.org/drawingml/2006/main" r:embed="Re435214012484f9f"/>
          <a:stretch xmlns:a="http://schemas.openxmlformats.org/drawingml/2006/main"/>
        </p:blipFill>
        <p:spPr>
          <a:xfrm xmlns:a="http://schemas.openxmlformats.org/drawingml/2006/main">
            <a:off x="3902427" y="1657350"/>
            <a:ext cx="4387147"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237DA05-247A-45B4-9F9C-DE7682B4AE60}"/>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2023년 파일럿의 Rails·Redis·PostgreSQL·OpenAI·OpenSearch 계획. 2025년 운영 구성과 구분</a:t>
            </a:r>
          </a:p>
        </p:txBody>
      </p:sp>
    </p:spTree>
    <p:extLst>
      <p:ext uri="{BB962C8B-B14F-4D97-AF65-F5344CB8AC3E}">
        <p14:creationId xmlns:p14="http://schemas.microsoft.com/office/powerpoint/2010/main" val="2112642761"/>
      </p:ext>
    </p:extLst>
  </p:cSld>
</p:sld>
</file>

<file path=ppt/slides/slide2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9" name="">
            <a:extLst xmlns:a="http://schemas.openxmlformats.org/drawingml/2006/main">
              <a:ext uri="{FF2B5EF4-FFF2-40B4-BE49-F238E27FC236}">
                <a16:creationId xmlns:a16="http://schemas.microsoft.com/office/drawing/2014/main" id="{102084A4-1E91-45E2-BD42-D57B19B4A280}"/>
              </a:ext>
            </a:extLst>
          </p:cNvPr>
          <p:cNvCxnSpPr>
            <a:stCxn xmlns:a="http://schemas.openxmlformats.org/drawingml/2006/main" id="37" idx="0"/>
            <a:endCxn xmlns:a="http://schemas.openxmlformats.org/drawingml/2006/main" id="19" idx="2"/>
          </p:cNvCxnSpPr>
          <p:nvPr/>
        </p:nvCxnSpPr>
        <p:spPr>
          <a:xfrm xmlns:a="http://schemas.openxmlformats.org/drawingml/2006/main" flipH="1" flipV="1">
            <a:off x="10620375" y="2905125"/>
            <a:ext cx="161925"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8" name="">
            <a:extLst xmlns:a="http://schemas.openxmlformats.org/drawingml/2006/main">
              <a:ext uri="{FF2B5EF4-FFF2-40B4-BE49-F238E27FC236}">
                <a16:creationId xmlns:a16="http://schemas.microsoft.com/office/drawing/2014/main" id="{53D0BA02-5ED5-4A1E-BF9E-7334E4B77855}"/>
              </a:ext>
            </a:extLst>
          </p:cNvPr>
          <p:cNvCxnSpPr>
            <a:stCxn xmlns:a="http://schemas.openxmlformats.org/drawingml/2006/main" id="34" idx="3"/>
            <a:endCxn xmlns:a="http://schemas.openxmlformats.org/drawingml/2006/main" id="37"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7" name="">
            <a:extLst xmlns:a="http://schemas.openxmlformats.org/drawingml/2006/main">
              <a:ext uri="{FF2B5EF4-FFF2-40B4-BE49-F238E27FC236}">
                <a16:creationId xmlns:a16="http://schemas.microsoft.com/office/drawing/2014/main" id="{0E99D9CC-4974-4B81-8406-B3627225A795}"/>
              </a:ext>
            </a:extLst>
          </p:cNvPr>
          <p:cNvCxnSpPr>
            <a:stCxn xmlns:a="http://schemas.openxmlformats.org/drawingml/2006/main" id="31" idx="3"/>
            <a:endCxn xmlns:a="http://schemas.openxmlformats.org/drawingml/2006/main" id="34"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6" name="">
            <a:extLst xmlns:a="http://schemas.openxmlformats.org/drawingml/2006/main">
              <a:ext uri="{FF2B5EF4-FFF2-40B4-BE49-F238E27FC236}">
                <a16:creationId xmlns:a16="http://schemas.microsoft.com/office/drawing/2014/main" id="{31481228-66D5-4D74-B25C-92C990C7F3FE}"/>
              </a:ext>
            </a:extLst>
          </p:cNvPr>
          <p:cNvCxnSpPr>
            <a:stCxn xmlns:a="http://schemas.openxmlformats.org/drawingml/2006/main" id="28" idx="3"/>
            <a:endCxn xmlns:a="http://schemas.openxmlformats.org/drawingml/2006/main" id="31"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5" name="">
            <a:extLst xmlns:a="http://schemas.openxmlformats.org/drawingml/2006/main">
              <a:ext uri="{FF2B5EF4-FFF2-40B4-BE49-F238E27FC236}">
                <a16:creationId xmlns:a16="http://schemas.microsoft.com/office/drawing/2014/main" id="{91FC8530-D576-47AC-B932-2840C9B55E9E}"/>
              </a:ext>
            </a:extLst>
          </p:cNvPr>
          <p:cNvCxnSpPr>
            <a:stCxn xmlns:a="http://schemas.openxmlformats.org/drawingml/2006/main" id="16" idx="1"/>
            <a:endCxn xmlns:a="http://schemas.openxmlformats.org/drawingml/2006/main" id="28" idx="3"/>
          </p:cNvCxnSpPr>
          <p:nvPr/>
        </p:nvCxnSpPr>
        <p:spPr>
          <a:xfrm xmlns:a="http://schemas.openxmlformats.org/drawingml/2006/main" flipH="1">
            <a:off x="5996940" y="2352675"/>
            <a:ext cx="1361123"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C65DEF5F-622F-4F95-A138-96843C50A5C7}"/>
              </a:ext>
            </a:extLst>
          </p:cNvPr>
          <p:cNvCxnSpPr>
            <a:stCxn xmlns:a="http://schemas.openxmlformats.org/drawingml/2006/main" id="25" idx="3"/>
            <a:endCxn xmlns:a="http://schemas.openxmlformats.org/drawingml/2006/main" id="16" idx="1"/>
          </p:cNvCxnSpPr>
          <p:nvPr/>
        </p:nvCxnSpPr>
        <p:spPr>
          <a:xfrm xmlns:a="http://schemas.openxmlformats.org/drawingml/2006/main" flipV="1">
            <a:off x="4122420" y="2352675"/>
            <a:ext cx="3235643"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9DF4A8A2-A384-4D08-BC86-AA11C8E8E4A8}"/>
              </a:ext>
            </a:extLst>
          </p:cNvPr>
          <p:cNvCxnSpPr>
            <a:stCxn xmlns:a="http://schemas.openxmlformats.org/drawingml/2006/main" id="22" idx="3"/>
            <a:endCxn xmlns:a="http://schemas.openxmlformats.org/drawingml/2006/main" id="25"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8FFFBDEE-00C1-4E0B-A7DE-3EDF5E6B6730}"/>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41" name="">
            <a:extLst xmlns:a="http://schemas.openxmlformats.org/drawingml/2006/main">
              <a:ext uri="{FF2B5EF4-FFF2-40B4-BE49-F238E27FC236}">
                <a16:creationId xmlns:a16="http://schemas.microsoft.com/office/drawing/2014/main" id="{F698E366-B414-4C1C-846E-B3D8CD576C77}"/>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40" name="">
            <a:extLst xmlns:a="http://schemas.openxmlformats.org/drawingml/2006/main">
              <a:ext uri="{FF2B5EF4-FFF2-40B4-BE49-F238E27FC236}">
                <a16:creationId xmlns:a16="http://schemas.microsoft.com/office/drawing/2014/main" id="{04678DA5-AD0E-47B5-9135-66DF4478ECC9}"/>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51" name="">
            <a:extLst xmlns:a="http://schemas.openxmlformats.org/drawingml/2006/main">
              <a:ext uri="{FF2B5EF4-FFF2-40B4-BE49-F238E27FC236}">
                <a16:creationId xmlns:a16="http://schemas.microsoft.com/office/drawing/2014/main" id="{62BA6C07-3290-410E-97E5-24736B2662D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지식 갱신·검색·근거 응답</a:t>
            </a:r>
          </a:p>
        </p:txBody>
      </p:sp>
      <p:sp>
        <p:nvSpPr>
          <p:cNvPr id="2" name="">
            <a:extLst xmlns:a="http://schemas.openxmlformats.org/drawingml/2006/main">
              <a:ext uri="{FF2B5EF4-FFF2-40B4-BE49-F238E27FC236}">
                <a16:creationId xmlns:a16="http://schemas.microsoft.com/office/drawing/2014/main" id="{38881603-10C5-4089-847B-08BA3BFE66F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세부 서비스 구조</a:t>
            </a:r>
          </a:p>
        </p:txBody>
      </p:sp>
      <p:sp>
        <p:nvSpPr>
          <p:cNvPr id="3" name="">
            <a:extLst xmlns:a="http://schemas.openxmlformats.org/drawingml/2006/main">
              <a:ext uri="{FF2B5EF4-FFF2-40B4-BE49-F238E27FC236}">
                <a16:creationId xmlns:a16="http://schemas.microsoft.com/office/drawing/2014/main" id="{F6C9F8EB-F11E-4456-933C-6F13D7067D2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3A08C1A-3B55-418F-8583-F900558C517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0AE3C87-0B22-4B8D-839C-E8759AB6B45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29</a:t>
            </a:r>
          </a:p>
        </p:txBody>
      </p:sp>
      <p:sp>
        <p:nvSpPr>
          <p:cNvPr id="6" name="">
            <a:extLst xmlns:a="http://schemas.openxmlformats.org/drawingml/2006/main">
              <a:ext uri="{FF2B5EF4-FFF2-40B4-BE49-F238E27FC236}">
                <a16:creationId xmlns:a16="http://schemas.microsoft.com/office/drawing/2014/main" id="{BA0ADAEA-8ED9-4955-B7C8-39C24BE6D047}"/>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질문 분류 → GOV.UK 자료 검색 → 근거 기반 응답 → 공식 안내 확인</a:t>
            </a:r>
          </a:p>
        </p:txBody>
      </p:sp>
      <p:sp>
        <p:nvSpPr>
          <p:cNvPr id="7" name="">
            <a:extLst xmlns:a="http://schemas.openxmlformats.org/drawingml/2006/main">
              <a:ext uri="{FF2B5EF4-FFF2-40B4-BE49-F238E27FC236}">
                <a16:creationId xmlns:a16="http://schemas.microsoft.com/office/drawing/2014/main" id="{3FDC68C9-B4F8-4930-9E7D-140E9A3F3C62}"/>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E574F4E7-2272-4116-871B-577C90C67ED9}"/>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6BAFE621-A397-4F54-A32F-D3CA01A4769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GOV.UK 콘텐츠</a:t>
            </a:r>
          </a:p>
        </p:txBody>
      </p:sp>
      <p:sp>
        <p:nvSpPr>
          <p:cNvPr id="10" name="">
            <a:extLst xmlns:a="http://schemas.openxmlformats.org/drawingml/2006/main">
              <a:ext uri="{FF2B5EF4-FFF2-40B4-BE49-F238E27FC236}">
                <a16:creationId xmlns:a16="http://schemas.microsoft.com/office/drawing/2014/main" id="{14D414F3-3662-4C0B-AAEC-96F5669267DF}"/>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0236A88E-5E05-4A36-A89C-36B65E7FB28E}"/>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70FB57A6-9458-4C46-A8D4-BF1068598A93}"/>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선별·청킹·벡터화</a:t>
            </a:r>
          </a:p>
        </p:txBody>
      </p:sp>
      <p:sp>
        <p:nvSpPr>
          <p:cNvPr id="13" name="">
            <a:extLst xmlns:a="http://schemas.openxmlformats.org/drawingml/2006/main">
              <a:ext uri="{FF2B5EF4-FFF2-40B4-BE49-F238E27FC236}">
                <a16:creationId xmlns:a16="http://schemas.microsoft.com/office/drawing/2014/main" id="{CD3F00CE-E5DF-4707-AC75-199E2F008678}"/>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E167B0CE-A603-4684-B1D1-87B2BCFFB9BF}"/>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C316289E-238A-48B2-B52C-C9E7BAD3F583}"/>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OpenSearch 색인</a:t>
            </a:r>
          </a:p>
        </p:txBody>
      </p:sp>
      <p:sp>
        <p:nvSpPr>
          <p:cNvPr id="16" name="">
            <a:extLst xmlns:a="http://schemas.openxmlformats.org/drawingml/2006/main">
              <a:ext uri="{FF2B5EF4-FFF2-40B4-BE49-F238E27FC236}">
                <a16:creationId xmlns:a16="http://schemas.microsoft.com/office/drawing/2014/main" id="{F05757FA-4641-4CDF-A3EB-C2E053390006}"/>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B254AC5-07E6-409F-B754-F9FC2DB58767}"/>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A19244A0-1B38-41ED-8B2D-BC8A859BE8B0}"/>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OpenSearch 검색</a:t>
            </a:r>
          </a:p>
        </p:txBody>
      </p:sp>
      <p:sp>
        <p:nvSpPr>
          <p:cNvPr id="19" name="">
            <a:extLst xmlns:a="http://schemas.openxmlformats.org/drawingml/2006/main">
              <a:ext uri="{FF2B5EF4-FFF2-40B4-BE49-F238E27FC236}">
                <a16:creationId xmlns:a16="http://schemas.microsoft.com/office/drawing/2014/main" id="{ED014E6B-22D2-4B9E-A992-1E5BCC37573B}"/>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94727558-938B-4287-8822-1E94C94A7BAE}"/>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21" name="">
            <a:extLst xmlns:a="http://schemas.openxmlformats.org/drawingml/2006/main">
              <a:ext uri="{FF2B5EF4-FFF2-40B4-BE49-F238E27FC236}">
                <a16:creationId xmlns:a16="http://schemas.microsoft.com/office/drawing/2014/main" id="{F56B90C1-9143-413A-9C0F-B2D015634E90}"/>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BigQuery 품질 분</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석</a:t>
            </a:r>
          </a:p>
        </p:txBody>
      </p:sp>
      <p:sp>
        <p:nvSpPr>
          <p:cNvPr id="22" name="">
            <a:extLst xmlns:a="http://schemas.openxmlformats.org/drawingml/2006/main">
              <a:ext uri="{FF2B5EF4-FFF2-40B4-BE49-F238E27FC236}">
                <a16:creationId xmlns:a16="http://schemas.microsoft.com/office/drawing/2014/main" id="{533FF582-6D12-4C06-A762-D463D4E1EA53}"/>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83514B2-2AB1-49C7-AAD4-E25E50D866D9}"/>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4" name="">
            <a:extLst xmlns:a="http://schemas.openxmlformats.org/drawingml/2006/main">
              <a:ext uri="{FF2B5EF4-FFF2-40B4-BE49-F238E27FC236}">
                <a16:creationId xmlns:a16="http://schemas.microsoft.com/office/drawing/2014/main" id="{3BCF7810-0F25-42DF-905D-49F9728DE436}"/>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GOV.UK 앱 질의</a:t>
            </a:r>
          </a:p>
        </p:txBody>
      </p:sp>
      <p:sp>
        <p:nvSpPr>
          <p:cNvPr id="25" name="">
            <a:extLst xmlns:a="http://schemas.openxmlformats.org/drawingml/2006/main">
              <a:ext uri="{FF2B5EF4-FFF2-40B4-BE49-F238E27FC236}">
                <a16:creationId xmlns:a16="http://schemas.microsoft.com/office/drawing/2014/main" id="{17953F5D-6953-48CF-B728-CCFC30068A92}"/>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F0DF7978-7F42-4B83-BC78-6A1A7ECA4DDE}"/>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7" name="">
            <a:extLst xmlns:a="http://schemas.openxmlformats.org/drawingml/2006/main">
              <a:ext uri="{FF2B5EF4-FFF2-40B4-BE49-F238E27FC236}">
                <a16:creationId xmlns:a16="http://schemas.microsoft.com/office/drawing/2014/main" id="{364DED82-672F-48D3-911F-7AC98C6BC3E2}"/>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질문·대화 문맥</a:t>
            </a:r>
          </a:p>
        </p:txBody>
      </p:sp>
      <p:sp>
        <p:nvSpPr>
          <p:cNvPr id="28" name="">
            <a:extLst xmlns:a="http://schemas.openxmlformats.org/drawingml/2006/main">
              <a:ext uri="{FF2B5EF4-FFF2-40B4-BE49-F238E27FC236}">
                <a16:creationId xmlns:a16="http://schemas.microsoft.com/office/drawing/2014/main" id="{4EF7CB46-21F5-489E-A29D-2537ACE0CF5A}"/>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B7E56A9C-A93C-4C8B-935D-CA078A763EB3}"/>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30" name="">
            <a:extLst xmlns:a="http://schemas.openxmlformats.org/drawingml/2006/main">
              <a:ext uri="{FF2B5EF4-FFF2-40B4-BE49-F238E27FC236}">
                <a16:creationId xmlns:a16="http://schemas.microsoft.com/office/drawing/2014/main" id="{C3621F83-27F2-4629-A258-04BBCAF659C9}"/>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Claude / Bedr</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ock</a:t>
            </a:r>
          </a:p>
        </p:txBody>
      </p:sp>
      <p:sp>
        <p:nvSpPr>
          <p:cNvPr id="31" name="">
            <a:extLst xmlns:a="http://schemas.openxmlformats.org/drawingml/2006/main">
              <a:ext uri="{FF2B5EF4-FFF2-40B4-BE49-F238E27FC236}">
                <a16:creationId xmlns:a16="http://schemas.microsoft.com/office/drawing/2014/main" id="{9B8CFE13-9B34-4C6F-9291-DA5434DC567D}"/>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BA379F50-E46E-4195-8DE5-7237CED04D20}"/>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3" name="">
            <a:extLst xmlns:a="http://schemas.openxmlformats.org/drawingml/2006/main">
              <a:ext uri="{FF2B5EF4-FFF2-40B4-BE49-F238E27FC236}">
                <a16:creationId xmlns:a16="http://schemas.microsoft.com/office/drawing/2014/main" id="{EE4795B2-0483-4EC7-97BB-2D932B43B6A9}"/>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범위·근거 검사</a:t>
            </a:r>
          </a:p>
        </p:txBody>
      </p:sp>
      <p:sp>
        <p:nvSpPr>
          <p:cNvPr id="34" name="">
            <a:extLst xmlns:a="http://schemas.openxmlformats.org/drawingml/2006/main">
              <a:ext uri="{FF2B5EF4-FFF2-40B4-BE49-F238E27FC236}">
                <a16:creationId xmlns:a16="http://schemas.microsoft.com/office/drawing/2014/main" id="{C6415913-B4DC-41B4-A187-18A540D26DA9}"/>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43302806-287C-45F4-AACC-226E12BA771A}"/>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6" name="">
            <a:extLst xmlns:a="http://schemas.openxmlformats.org/drawingml/2006/main">
              <a:ext uri="{FF2B5EF4-FFF2-40B4-BE49-F238E27FC236}">
                <a16:creationId xmlns:a16="http://schemas.microsoft.com/office/drawing/2014/main" id="{9B4FEAAF-E528-4D5C-A17D-BCF8E621F3D2}"/>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이용자 원문 확인</a:t>
            </a:r>
          </a:p>
        </p:txBody>
      </p:sp>
      <p:sp>
        <p:nvSpPr>
          <p:cNvPr id="37" name="">
            <a:extLst xmlns:a="http://schemas.openxmlformats.org/drawingml/2006/main">
              <a:ext uri="{FF2B5EF4-FFF2-40B4-BE49-F238E27FC236}">
                <a16:creationId xmlns:a16="http://schemas.microsoft.com/office/drawing/2014/main" id="{F5CC8D95-14AA-46AD-9D70-742925FC6FB4}"/>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8" name="">
            <a:extLst xmlns:a="http://schemas.openxmlformats.org/drawingml/2006/main">
              <a:ext uri="{FF2B5EF4-FFF2-40B4-BE49-F238E27FC236}">
                <a16:creationId xmlns:a16="http://schemas.microsoft.com/office/drawing/2014/main" id="{DCAB9332-9BA4-41E7-A39F-30AEA8F0B2D0}"/>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9" name="">
            <a:extLst xmlns:a="http://schemas.openxmlformats.org/drawingml/2006/main">
              <a:ext uri="{FF2B5EF4-FFF2-40B4-BE49-F238E27FC236}">
                <a16:creationId xmlns:a16="http://schemas.microsoft.com/office/drawing/2014/main" id="{83AF5B17-D6D7-49FD-9021-37AD0F6FB751}"/>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서비스 연결</a:t>
            </a:r>
          </a:p>
        </p:txBody>
      </p:sp>
      <p:sp>
        <p:nvSpPr>
          <p:cNvPr id="50" name="">
            <a:extLst xmlns:a="http://schemas.openxmlformats.org/drawingml/2006/main">
              <a:ext uri="{FF2B5EF4-FFF2-40B4-BE49-F238E27FC236}">
                <a16:creationId xmlns:a16="http://schemas.microsoft.com/office/drawing/2014/main" id="{BB56F2E4-9882-40AE-A13A-C92256508C79}"/>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061380551"/>
      </p:ext>
    </p:extLst>
  </p:cSld>
</p:sld>
</file>

<file path=ppt/slides/slide3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DA79641-379E-4A12-8D1F-00371845947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논리 인터페이스·복구 설계</a:t>
            </a:r>
          </a:p>
        </p:txBody>
      </p:sp>
      <p:sp>
        <p:nvSpPr>
          <p:cNvPr id="2" name="">
            <a:extLst xmlns:a="http://schemas.openxmlformats.org/drawingml/2006/main">
              <a:ext uri="{FF2B5EF4-FFF2-40B4-BE49-F238E27FC236}">
                <a16:creationId xmlns:a16="http://schemas.microsoft.com/office/drawing/2014/main" id="{05263607-CE2E-4553-BAF0-3CF413460C7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데이터와 예외 처리</a:t>
            </a:r>
          </a:p>
        </p:txBody>
      </p:sp>
      <p:sp>
        <p:nvSpPr>
          <p:cNvPr id="3" name="">
            <a:extLst xmlns:a="http://schemas.openxmlformats.org/drawingml/2006/main">
              <a:ext uri="{FF2B5EF4-FFF2-40B4-BE49-F238E27FC236}">
                <a16:creationId xmlns:a16="http://schemas.microsoft.com/office/drawing/2014/main" id="{A010EC28-BBBD-47B0-BC9C-B52AEE7108D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81C88A4-DD1F-4450-9ABF-5F7BB97B68C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1235DFF-B7D7-42F6-8F70-FA7EC2DBF2A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30</a:t>
            </a:r>
          </a:p>
        </p:txBody>
      </p:sp>
      <p:sp>
        <p:nvSpPr>
          <p:cNvPr id="6" name="">
            <a:extLst xmlns:a="http://schemas.openxmlformats.org/drawingml/2006/main">
              <a:ext uri="{FF2B5EF4-FFF2-40B4-BE49-F238E27FC236}">
                <a16:creationId xmlns:a16="http://schemas.microsoft.com/office/drawing/2014/main" id="{5692B1AD-8CA9-4FBE-9E68-B28D0B7406C0}"/>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C89FBE0-EB70-4914-A054-A4C49386556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02E308CA-2A03-45C3-A925-7F562B983378}"/>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DC1CD801-5371-4C6C-AC81-CCD6D9EC8587}"/>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OpenSearch·품질 분석 기록</a:t>
            </a:r>
          </a:p>
        </p:txBody>
      </p:sp>
      <p:sp>
        <p:nvSpPr>
          <p:cNvPr id="10" name="">
            <a:extLst xmlns:a="http://schemas.openxmlformats.org/drawingml/2006/main">
              <a:ext uri="{FF2B5EF4-FFF2-40B4-BE49-F238E27FC236}">
                <a16:creationId xmlns:a16="http://schemas.microsoft.com/office/drawing/2014/main" id="{E8121AA6-8735-4DC4-8E39-9C5F28E9A255}"/>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C11BB69-8FE6-4E1F-9993-D19A49BE29CF}"/>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BEC40CF7-8F5C-4498-B7B1-6BDEDFBE6DAA}"/>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852E2362-30EC-4529-92E1-FE8FD9884399}"/>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E1E50E8-9D47-4DDD-91FC-428A888861D1}"/>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CE68D5E5-86D6-42F3-B488-BA6255E079C3}"/>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앱 질문과 이전 대화의 문맥 구성</a:t>
            </a:r>
          </a:p>
        </p:txBody>
      </p:sp>
      <p:sp>
        <p:nvSpPr>
          <p:cNvPr id="16" name="">
            <a:extLst xmlns:a="http://schemas.openxmlformats.org/drawingml/2006/main">
              <a:ext uri="{FF2B5EF4-FFF2-40B4-BE49-F238E27FC236}">
                <a16:creationId xmlns:a16="http://schemas.microsoft.com/office/drawing/2014/main" id="{5AD23157-AA83-43D0-9A63-437D0908E32A}"/>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620AA21-1C9D-4055-86AF-BC1B0E831A27}"/>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58C67C6D-CCE5-4107-B006-F6C244AB5725}"/>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정답 안내 페이지·근거 문단·응답 보류·처리</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시간 대조</a:t>
            </a:r>
          </a:p>
        </p:txBody>
      </p:sp>
      <p:sp>
        <p:nvSpPr>
          <p:cNvPr id="19" name="">
            <a:extLst xmlns:a="http://schemas.openxmlformats.org/drawingml/2006/main">
              <a:ext uri="{FF2B5EF4-FFF2-40B4-BE49-F238E27FC236}">
                <a16:creationId xmlns:a16="http://schemas.microsoft.com/office/drawing/2014/main" id="{94924321-5F83-469E-BE2C-432D8B5CC338}"/>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D2BF3DB-213B-44FF-ADBD-BD75DD80454E}"/>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2618E6E8-4E36-439C-8FE2-DD502B9F4C17}"/>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공식 문서 조각</a:t>
            </a:r>
          </a:p>
        </p:txBody>
      </p:sp>
      <p:sp>
        <p:nvSpPr>
          <p:cNvPr id="22" name="">
            <a:extLst xmlns:a="http://schemas.openxmlformats.org/drawingml/2006/main">
              <a:ext uri="{FF2B5EF4-FFF2-40B4-BE49-F238E27FC236}">
                <a16:creationId xmlns:a16="http://schemas.microsoft.com/office/drawing/2014/main" id="{16BDA9ED-811E-4DD7-905E-BC56785F9472}"/>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C3CBB46-3786-4BB0-94FB-C445AAE33514}"/>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85D80B7A-499E-4881-945D-455AED4A7C6D}"/>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출처 포함 답변</a:t>
            </a:r>
          </a:p>
        </p:txBody>
      </p:sp>
      <p:sp>
        <p:nvSpPr>
          <p:cNvPr id="25" name="">
            <a:extLst xmlns:a="http://schemas.openxmlformats.org/drawingml/2006/main">
              <a:ext uri="{FF2B5EF4-FFF2-40B4-BE49-F238E27FC236}">
                <a16:creationId xmlns:a16="http://schemas.microsoft.com/office/drawing/2014/main" id="{35943D60-D218-47AA-B79F-A45298BD2E8D}"/>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C0BB49EF-1F3D-4933-8595-6E25C85187DB}"/>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범위 밖 질문·상충 안내·개인 업무의 실행 요청</a:t>
            </a:r>
          </a:p>
        </p:txBody>
      </p:sp>
      <p:sp>
        <p:nvSpPr>
          <p:cNvPr id="27" name="">
            <a:extLst xmlns:a="http://schemas.openxmlformats.org/drawingml/2006/main">
              <a:ext uri="{FF2B5EF4-FFF2-40B4-BE49-F238E27FC236}">
                <a16:creationId xmlns:a16="http://schemas.microsoft.com/office/drawing/2014/main" id="{0FCD7754-7DC0-4FC3-AEAB-C27F458CFAE7}"/>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D867880B-7637-4699-B50F-96F643AE6EF4}"/>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질문 분류·응답 품질 평가</a:t>
            </a:r>
          </a:p>
        </p:txBody>
      </p:sp>
      <p:sp>
        <p:nvSpPr>
          <p:cNvPr id="29" name="">
            <a:extLst xmlns:a="http://schemas.openxmlformats.org/drawingml/2006/main">
              <a:ext uri="{FF2B5EF4-FFF2-40B4-BE49-F238E27FC236}">
                <a16:creationId xmlns:a16="http://schemas.microsoft.com/office/drawing/2014/main" id="{5D15CF3A-FE80-4E2E-8C65-8F83EDB4296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56A5D889-A0C1-44AD-95FD-D200E5352AB6}"/>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관리 도구·BigQuery 기반 품질 분석</a:t>
            </a:r>
          </a:p>
        </p:txBody>
      </p:sp>
      <p:sp>
        <p:nvSpPr>
          <p:cNvPr id="31" name="">
            <a:extLst xmlns:a="http://schemas.openxmlformats.org/drawingml/2006/main">
              <a:ext uri="{FF2B5EF4-FFF2-40B4-BE49-F238E27FC236}">
                <a16:creationId xmlns:a16="http://schemas.microsoft.com/office/drawing/2014/main" id="{8A256A19-D958-4C55-9CF5-4E58467C5359}"/>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20106B98-58E9-4168-B437-7C1568BB853A}"/>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정답 안내 페이지·근거 문단·응답 보류·처리시간 대조</a:t>
            </a:r>
          </a:p>
        </p:txBody>
      </p:sp>
    </p:spTree>
    <p:extLst>
      <p:ext uri="{BB962C8B-B14F-4D97-AF65-F5344CB8AC3E}">
        <p14:creationId xmlns:p14="http://schemas.microsoft.com/office/powerpoint/2010/main" val="592041288"/>
      </p:ext>
    </p:extLst>
  </p:cSld>
</p:sld>
</file>

<file path=ppt/slides/slide3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8A53357-7831-4576-AE7E-497E31F970A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CCK 비교·재현 시험 설계</a:t>
            </a:r>
          </a:p>
        </p:txBody>
      </p:sp>
      <p:sp>
        <p:nvSpPr>
          <p:cNvPr id="2" name="">
            <a:extLst xmlns:a="http://schemas.openxmlformats.org/drawingml/2006/main">
              <a:ext uri="{FF2B5EF4-FFF2-40B4-BE49-F238E27FC236}">
                <a16:creationId xmlns:a16="http://schemas.microsoft.com/office/drawing/2014/main" id="{4A6DB907-EBE6-4A03-8E00-C11F38CA8C1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벤치마킹</a:t>
            </a:r>
          </a:p>
        </p:txBody>
      </p:sp>
      <p:sp>
        <p:nvSpPr>
          <p:cNvPr id="3" name="">
            <a:extLst xmlns:a="http://schemas.openxmlformats.org/drawingml/2006/main">
              <a:ext uri="{FF2B5EF4-FFF2-40B4-BE49-F238E27FC236}">
                <a16:creationId xmlns:a16="http://schemas.microsoft.com/office/drawing/2014/main" id="{09889C27-8802-4F24-9579-A5E45E31586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C0A9D60-8538-4A67-A7B7-AA169F5ACB1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742DC53-8B91-4490-9787-BDA43BD8484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31</a:t>
            </a:r>
          </a:p>
        </p:txBody>
      </p:sp>
      <p:sp>
        <p:nvSpPr>
          <p:cNvPr id="6" name="">
            <a:extLst xmlns:a="http://schemas.openxmlformats.org/drawingml/2006/main">
              <a:ext uri="{FF2B5EF4-FFF2-40B4-BE49-F238E27FC236}">
                <a16:creationId xmlns:a16="http://schemas.microsoft.com/office/drawing/2014/main" id="{282F347D-5F8A-4665-BF87-6998A7A9198F}"/>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BE75ECA6-D582-49C7-A27E-E08706D50757}"/>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공식 안내 자료에 한정한 검색</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출처 링크와 기존 탐색 경로 병행</a:t>
            </a:r>
          </a:p>
        </p:txBody>
      </p:sp>
      <p:sp>
        <p:nvSpPr>
          <p:cNvPr id="8" name="">
            <a:extLst xmlns:a="http://schemas.openxmlformats.org/drawingml/2006/main">
              <a:ext uri="{FF2B5EF4-FFF2-40B4-BE49-F238E27FC236}">
                <a16:creationId xmlns:a16="http://schemas.microsoft.com/office/drawing/2014/main" id="{298D3A78-E5B1-4085-97A5-D4C261E6E007}"/>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6C1B75EB-0CC6-4E76-9997-7ED449D6FD83}"/>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 범위 밖 질문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응답속도·안내와 실제 처리의 간극</a:t>
            </a:r>
          </a:p>
        </p:txBody>
      </p:sp>
      <p:sp>
        <p:nvSpPr>
          <p:cNvPr id="10" name="">
            <a:extLst xmlns:a="http://schemas.openxmlformats.org/drawingml/2006/main">
              <a:ext uri="{FF2B5EF4-FFF2-40B4-BE49-F238E27FC236}">
                <a16:creationId xmlns:a16="http://schemas.microsoft.com/office/drawing/2014/main" id="{70020810-E0A6-4B73-9EC1-A5471931C165}"/>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D50EC503-C7F9-402D-8B29-1E280C392388}"/>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질문 분류·응답 품질 평가</a:t>
            </a:r>
          </a:p>
        </p:txBody>
      </p:sp>
      <p:sp>
        <p:nvSpPr>
          <p:cNvPr id="12" name="">
            <a:extLst xmlns:a="http://schemas.openxmlformats.org/drawingml/2006/main">
              <a:ext uri="{FF2B5EF4-FFF2-40B4-BE49-F238E27FC236}">
                <a16:creationId xmlns:a16="http://schemas.microsoft.com/office/drawing/2014/main" id="{071DE898-A4A5-46DB-A3BB-3FB514305C28}"/>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8F843D8-6A49-4946-8939-7C00E9E51D58}"/>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신청 방법을 질문하고 근거 안내와 해당 공식 페이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 확인</a:t>
            </a:r>
          </a:p>
        </p:txBody>
      </p:sp>
      <p:sp>
        <p:nvSpPr>
          <p:cNvPr id="14" name="">
            <a:extLst xmlns:a="http://schemas.openxmlformats.org/drawingml/2006/main">
              <a:ext uri="{FF2B5EF4-FFF2-40B4-BE49-F238E27FC236}">
                <a16:creationId xmlns:a16="http://schemas.microsoft.com/office/drawing/2014/main" id="{F2D5FA48-34BD-4B19-B588-8B7FD7291F2E}"/>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878F0567-E3EF-47A0-937D-DC49FACBB69E}"/>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범위 밖 질문·상충 안내·개인 업무의 실행 요청</a:t>
            </a:r>
          </a:p>
        </p:txBody>
      </p:sp>
      <p:sp>
        <p:nvSpPr>
          <p:cNvPr id="16" name="">
            <a:extLst xmlns:a="http://schemas.openxmlformats.org/drawingml/2006/main">
              <a:ext uri="{FF2B5EF4-FFF2-40B4-BE49-F238E27FC236}">
                <a16:creationId xmlns:a16="http://schemas.microsoft.com/office/drawing/2014/main" id="{8115B701-7F02-47A3-8827-D255FC833AE4}"/>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7BE4CBE8-8932-4557-9C2F-F8179FFC606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정답 안내 페이지·근거 문단·응답 보류·처리시간 대</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a:t>
            </a:r>
          </a:p>
        </p:txBody>
      </p:sp>
    </p:spTree>
    <p:extLst>
      <p:ext uri="{BB962C8B-B14F-4D97-AF65-F5344CB8AC3E}">
        <p14:creationId xmlns:p14="http://schemas.microsoft.com/office/powerpoint/2010/main" val="1276705578"/>
      </p:ext>
    </p:extLst>
  </p:cSld>
</p:sld>
</file>

<file path=ppt/slides/slide3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BCB1868-5B83-448D-B9C5-7F83025461E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AX07 / 실패 / 해외</a:t>
            </a:r>
          </a:p>
        </p:txBody>
      </p:sp>
      <p:sp>
        <p:nvSpPr>
          <p:cNvPr id="2" name="">
            <a:extLst xmlns:a="http://schemas.openxmlformats.org/drawingml/2006/main">
              <a:ext uri="{FF2B5EF4-FFF2-40B4-BE49-F238E27FC236}">
                <a16:creationId xmlns:a16="http://schemas.microsoft.com/office/drawing/2014/main" id="{5921D9A0-657F-44F6-A71B-5CB61D1B01B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Robodebt</a:t>
            </a:r>
          </a:p>
        </p:txBody>
      </p:sp>
      <p:sp>
        <p:nvSpPr>
          <p:cNvPr id="3" name="">
            <a:extLst xmlns:a="http://schemas.openxmlformats.org/drawingml/2006/main">
              <a:ext uri="{FF2B5EF4-FFF2-40B4-BE49-F238E27FC236}">
                <a16:creationId xmlns:a16="http://schemas.microsoft.com/office/drawing/2014/main" id="{B0E8AAEA-E010-4323-A960-D0710F22036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5F16783-F1B9-41B6-99DA-4DFA499D3B0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F865F62-37C6-44BE-AF8A-FF5DCC6D76B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32</a:t>
            </a:r>
          </a:p>
        </p:txBody>
      </p:sp>
      <p:sp>
        <p:nvSpPr>
          <p:cNvPr id="6" name="">
            <a:extLst xmlns:a="http://schemas.openxmlformats.org/drawingml/2006/main">
              <a:ext uri="{FF2B5EF4-FFF2-40B4-BE49-F238E27FC236}">
                <a16:creationId xmlns:a16="http://schemas.microsoft.com/office/drawing/2014/main" id="{120D9A36-25A0-43EA-A89A-E7ED6AAD2CE1}"/>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76511ABC-43E2-46FB-A86B-CF17E9D49439}"/>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기관 자료를 이용한 자동 산정·통지의 법적·증빙 통제 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패를 다룬 사례. 생성형 AI의 오답 문제보다 자료의 적용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기간과 산정 전제, 당사자의 이의제기 절차가 핵심인 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 자동화 사례.</a:t>
            </a:r>
          </a:p>
        </p:txBody>
      </p:sp>
      <p:sp>
        <p:nvSpPr>
          <p:cNvPr id="8" name="">
            <a:extLst xmlns:a="http://schemas.openxmlformats.org/drawingml/2006/main">
              <a:ext uri="{FF2B5EF4-FFF2-40B4-BE49-F238E27FC236}">
                <a16:creationId xmlns:a16="http://schemas.microsoft.com/office/drawing/2014/main" id="{EBD8A667-902B-4108-8346-11B8816CE9C1}"/>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D6C655C7-6AEF-4032-B575-7A37D68F9EFC}"/>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소득자료와 산정 대상 기간을 연결한 뒤 불일치 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료를 사람이 검토하도록 하는 재발 방지 구조. 통지에는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사용 근거와 산정 경로를 남기고 이의제기·재심 결과를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 규칙에 환류하는 설계.</a:t>
            </a:r>
          </a:p>
        </p:txBody>
      </p:sp>
      <p:sp>
        <p:nvSpPr>
          <p:cNvPr id="10" name="">
            <a:extLst xmlns:a="http://schemas.openxmlformats.org/drawingml/2006/main">
              <a:ext uri="{FF2B5EF4-FFF2-40B4-BE49-F238E27FC236}">
                <a16:creationId xmlns:a16="http://schemas.microsoft.com/office/drawing/2014/main" id="{4522FB38-2180-4669-BC23-ED033BBC3F5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E256C07E-E38A-43EC-B6C4-9F4E5F56E066}"/>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TS에서는 AI 분류·계산 결과를 처분·부과·승인으로 곧바</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로 확정하지 않는 책임 경계에 활용. 근거 없는 자동 확정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차단, 기간 불일치 탐지, 재심 가능성과 증빙 추적을 검수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할 대상.</a:t>
            </a:r>
          </a:p>
        </p:txBody>
      </p:sp>
      <p:sp>
        <p:nvSpPr>
          <p:cNvPr id="12" name="">
            <a:extLst xmlns:a="http://schemas.openxmlformats.org/drawingml/2006/main">
              <a:ext uri="{FF2B5EF4-FFF2-40B4-BE49-F238E27FC236}">
                <a16:creationId xmlns:a16="http://schemas.microsoft.com/office/drawing/2014/main" id="{90D5AB53-8852-4FB7-AAF1-B0E59D43A552}"/>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64833EA5-8149-4DEA-BA51-FCABC02D9D7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근거·입력 검증 / 자동 확정 제한 / 이의제기·재검토 연결</a:t>
            </a:r>
          </a:p>
        </p:txBody>
      </p:sp>
      <p:sp>
        <p:nvSpPr>
          <p:cNvPr id="14" name="">
            <a:extLst xmlns:a="http://schemas.openxmlformats.org/drawingml/2006/main">
              <a:ext uri="{FF2B5EF4-FFF2-40B4-BE49-F238E27FC236}">
                <a16:creationId xmlns:a16="http://schemas.microsoft.com/office/drawing/2014/main" id="{8DBA8C8C-AD7C-4732-A69C-700679D45B3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F372E4FD-1D0B-4EA2-85A5-3FD2D8A33972}"/>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누락·기간 불일치·권한 부재 시 보류 및 재심 처리 추적</a:t>
            </a:r>
          </a:p>
        </p:txBody>
      </p:sp>
      <p:sp>
        <p:nvSpPr>
          <p:cNvPr id="16" name="">
            <a:extLst xmlns:a="http://schemas.openxmlformats.org/drawingml/2006/main">
              <a:ext uri="{FF2B5EF4-FFF2-40B4-BE49-F238E27FC236}">
                <a16:creationId xmlns:a16="http://schemas.microsoft.com/office/drawing/2014/main" id="{6C2FE31E-97F9-4BC5-B088-FF74B1C13383}"/>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8EAFE67F-1211-4F14-BA7E-6A8375AB55DC}"/>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근거 누락률 / 오판 보완률 / 이의처리 시간</a:t>
            </a:r>
          </a:p>
        </p:txBody>
      </p:sp>
      <p:sp>
        <p:nvSpPr>
          <p:cNvPr id="18" name="">
            <a:extLst xmlns:a="http://schemas.openxmlformats.org/drawingml/2006/main">
              <a:ext uri="{FF2B5EF4-FFF2-40B4-BE49-F238E27FC236}">
                <a16:creationId xmlns:a16="http://schemas.microsoft.com/office/drawing/2014/main" id="{57ACD1C1-EFD3-466C-A903-8BD6A40EEB41}"/>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규칙 기반 행정 자동화의 실패 교훈 · 생성형 AI 사례 아님</a:t>
            </a:r>
          </a:p>
        </p:txBody>
      </p:sp>
    </p:spTree>
    <p:extLst>
      <p:ext uri="{BB962C8B-B14F-4D97-AF65-F5344CB8AC3E}">
        <p14:creationId xmlns:p14="http://schemas.microsoft.com/office/powerpoint/2010/main" val="1866136063"/>
      </p:ext>
    </p:extLst>
  </p:cSld>
</p:sld>
</file>

<file path=ppt/slides/slide3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DD2CC298-3915-4079-836A-BDD31D35ACFC}"/>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5657F941-C3B0-4910-AD77-B8379BE0888E}"/>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76D78565-7B9C-4A97-AD57-CDB6F1EC7299}"/>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E11F5A58-D4FA-4EE6-BBC6-7D46A62301A0}"/>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45A46D7A-5D32-420B-AD25-F3DD03E2A521}"/>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44F7EC05-5442-481D-8149-3C4715E2F7A7}"/>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1C6465CF-0DB8-4352-90BE-501587E5BFB3}"/>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EB2FF867-FAF6-4DB0-825E-591C6BF1424D}"/>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DE5935D4-D9E8-434B-8F1B-FC6C1B61C88D}"/>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44711F48-D426-4C9E-B6C7-B661C9AB2CB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AX07 / 권한·목적 판정 후 허용·차단 분기</a:t>
            </a:r>
          </a:p>
        </p:txBody>
      </p:sp>
      <p:sp>
        <p:nvSpPr>
          <p:cNvPr id="2" name="">
            <a:extLst xmlns:a="http://schemas.openxmlformats.org/drawingml/2006/main">
              <a:ext uri="{FF2B5EF4-FFF2-40B4-BE49-F238E27FC236}">
                <a16:creationId xmlns:a16="http://schemas.microsoft.com/office/drawing/2014/main" id="{F1EA0482-0EEC-42A5-9C66-C9F7648132E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Robodebt · 세부 서비스 구조</a:t>
            </a:r>
          </a:p>
        </p:txBody>
      </p:sp>
      <p:sp>
        <p:nvSpPr>
          <p:cNvPr id="3" name="">
            <a:extLst xmlns:a="http://schemas.openxmlformats.org/drawingml/2006/main">
              <a:ext uri="{FF2B5EF4-FFF2-40B4-BE49-F238E27FC236}">
                <a16:creationId xmlns:a16="http://schemas.microsoft.com/office/drawing/2014/main" id="{CA8E4A6D-7203-4DF5-AB8F-DEABCA3BE05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8B381C3-4D24-410A-9113-E178D2A5D4C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40AF183-D74D-455D-861E-22444C92A0D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33</a:t>
            </a:r>
          </a:p>
        </p:txBody>
      </p:sp>
      <p:sp>
        <p:nvSpPr>
          <p:cNvPr id="6" name="">
            <a:extLst xmlns:a="http://schemas.openxmlformats.org/drawingml/2006/main">
              <a:ext uri="{FF2B5EF4-FFF2-40B4-BE49-F238E27FC236}">
                <a16:creationId xmlns:a16="http://schemas.microsoft.com/office/drawing/2014/main" id="{AFD53FD7-F508-499E-BBCA-B141E2C6A31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기관 간 자료 → 자동 산정·결정 → 대상자 통지 → 이의제기·재심</a:t>
            </a:r>
          </a:p>
        </p:txBody>
      </p:sp>
      <p:sp>
        <p:nvSpPr>
          <p:cNvPr id="7" name="">
            <a:extLst xmlns:a="http://schemas.openxmlformats.org/drawingml/2006/main">
              <a:ext uri="{FF2B5EF4-FFF2-40B4-BE49-F238E27FC236}">
                <a16:creationId xmlns:a16="http://schemas.microsoft.com/office/drawing/2014/main" id="{9FF8F4B5-40E2-4088-AB8C-7D2344C1B402}"/>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7E2999B5-22CE-4380-8E2E-E2970D175CA5}"/>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24D50133-0BEF-4562-A3E8-8141CCC331BF}"/>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행정 산정 요청</a:t>
            </a:r>
          </a:p>
        </p:txBody>
      </p:sp>
      <p:sp>
        <p:nvSpPr>
          <p:cNvPr id="10" name="">
            <a:extLst xmlns:a="http://schemas.openxmlformats.org/drawingml/2006/main">
              <a:ext uri="{FF2B5EF4-FFF2-40B4-BE49-F238E27FC236}">
                <a16:creationId xmlns:a16="http://schemas.microsoft.com/office/drawing/2014/main" id="{804EE928-CD63-4BF7-996E-9BAA81BEB81F}"/>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0A1D0F01-C0F9-4C37-B503-F06B4760EFF4}"/>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14CD4EE2-6A77-4138-B057-A3234DFAC6D9}"/>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대상·적용기간</a:t>
            </a:r>
          </a:p>
        </p:txBody>
      </p:sp>
      <p:sp>
        <p:nvSpPr>
          <p:cNvPr id="13" name="">
            <a:extLst xmlns:a="http://schemas.openxmlformats.org/drawingml/2006/main">
              <a:ext uri="{FF2B5EF4-FFF2-40B4-BE49-F238E27FC236}">
                <a16:creationId xmlns:a16="http://schemas.microsoft.com/office/drawing/2014/main" id="{BB331937-969C-424D-AE15-A8FDD649AB74}"/>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02D2BAC3-D70F-49C7-8A14-BFB694B47266}"/>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4B4C8215-9F21-4CA3-AFB9-4D19A1833F95}"/>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산정·재심 규칙</a:t>
            </a:r>
          </a:p>
        </p:txBody>
      </p:sp>
      <p:sp>
        <p:nvSpPr>
          <p:cNvPr id="16" name="">
            <a:extLst xmlns:a="http://schemas.openxmlformats.org/drawingml/2006/main">
              <a:ext uri="{FF2B5EF4-FFF2-40B4-BE49-F238E27FC236}">
                <a16:creationId xmlns:a16="http://schemas.microsoft.com/office/drawing/2014/main" id="{6BC34A55-F421-455F-B7A8-3C91F9B6F331}"/>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2F8A2E32-4C61-4EE6-A812-6F5BB03227C2}"/>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2608657E-0BF3-485A-A81C-8C6CA2CB71B0}"/>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증빙 불일치 보류</a:t>
            </a:r>
          </a:p>
        </p:txBody>
      </p:sp>
      <p:sp>
        <p:nvSpPr>
          <p:cNvPr id="19" name="">
            <a:extLst xmlns:a="http://schemas.openxmlformats.org/drawingml/2006/main">
              <a:ext uri="{FF2B5EF4-FFF2-40B4-BE49-F238E27FC236}">
                <a16:creationId xmlns:a16="http://schemas.microsoft.com/office/drawing/2014/main" id="{753B8AD3-8EB2-47AC-8C31-94237E80496B}"/>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D88D67AA-BC26-4E39-AF45-1AE2B263675D}"/>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715C75CE-A0D0-4F65-A3C4-580D73F40F49}"/>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기관 소득자료</a:t>
            </a:r>
          </a:p>
        </p:txBody>
      </p:sp>
      <p:sp>
        <p:nvSpPr>
          <p:cNvPr id="22" name="">
            <a:extLst xmlns:a="http://schemas.openxmlformats.org/drawingml/2006/main">
              <a:ext uri="{FF2B5EF4-FFF2-40B4-BE49-F238E27FC236}">
                <a16:creationId xmlns:a16="http://schemas.microsoft.com/office/drawing/2014/main" id="{AA782703-4E1E-4385-B282-6500734D47DD}"/>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43D156B7-851C-4C10-888F-B328B66BE3E6}"/>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D9E34A34-CB8C-45D8-B6B8-B1DD0DED8148}"/>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기간·산식 대조</a:t>
            </a:r>
          </a:p>
        </p:txBody>
      </p:sp>
      <p:sp>
        <p:nvSpPr>
          <p:cNvPr id="25" name="">
            <a:extLst xmlns:a="http://schemas.openxmlformats.org/drawingml/2006/main">
              <a:ext uri="{FF2B5EF4-FFF2-40B4-BE49-F238E27FC236}">
                <a16:creationId xmlns:a16="http://schemas.microsoft.com/office/drawing/2014/main" id="{7CA5DB1B-0AC8-4B4E-AD2D-6FD8DE501EE9}"/>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B8C86CB1-BDC9-4D23-96BB-DA3AAE5198E1}"/>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B4765FD8-5BFA-4BC9-99CC-C40F54A5DE9A}"/>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담당자 근거 확인</a:t>
            </a:r>
          </a:p>
        </p:txBody>
      </p:sp>
      <p:sp>
        <p:nvSpPr>
          <p:cNvPr id="28" name="">
            <a:extLst xmlns:a="http://schemas.openxmlformats.org/drawingml/2006/main">
              <a:ext uri="{FF2B5EF4-FFF2-40B4-BE49-F238E27FC236}">
                <a16:creationId xmlns:a16="http://schemas.microsoft.com/office/drawing/2014/main" id="{54DDCD57-D7FA-45A7-8111-21388A14312D}"/>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09937F18-23F2-4C46-B62D-7A8337B96717}"/>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DE4E6193-F17B-422B-AA24-E211B1E49084}"/>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통지·이의제기</a:t>
            </a:r>
          </a:p>
        </p:txBody>
      </p:sp>
      <p:sp>
        <p:nvSpPr>
          <p:cNvPr id="31" name="">
            <a:extLst xmlns:a="http://schemas.openxmlformats.org/drawingml/2006/main">
              <a:ext uri="{FF2B5EF4-FFF2-40B4-BE49-F238E27FC236}">
                <a16:creationId xmlns:a16="http://schemas.microsoft.com/office/drawing/2014/main" id="{7D34C344-95B3-4208-AA8B-7AB98EC93B98}"/>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EF0A2344-CB29-4078-BB29-14F0319790CC}"/>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DFB8A422-DF1B-487D-B2D0-BAA5042209C7}"/>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재심 결과 환류</a:t>
            </a:r>
          </a:p>
        </p:txBody>
      </p:sp>
      <p:sp>
        <p:nvSpPr>
          <p:cNvPr id="34" name="">
            <a:extLst xmlns:a="http://schemas.openxmlformats.org/drawingml/2006/main">
              <a:ext uri="{FF2B5EF4-FFF2-40B4-BE49-F238E27FC236}">
                <a16:creationId xmlns:a16="http://schemas.microsoft.com/office/drawing/2014/main" id="{84583ECB-2F99-457D-9230-1886C70CC7D2}"/>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95FE1756-6A1A-4CAF-95ED-E5C16A812909}"/>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393FA881-281B-4FA4-AF27-EB97207FBD5A}"/>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근거·통지 이력</a:t>
            </a:r>
          </a:p>
        </p:txBody>
      </p:sp>
      <p:sp>
        <p:nvSpPr>
          <p:cNvPr id="46" name="">
            <a:extLst xmlns:a="http://schemas.openxmlformats.org/drawingml/2006/main">
              <a:ext uri="{FF2B5EF4-FFF2-40B4-BE49-F238E27FC236}">
                <a16:creationId xmlns:a16="http://schemas.microsoft.com/office/drawing/2014/main" id="{19927435-AAFA-458F-B125-5A08636D699D}"/>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084929905"/>
      </p:ext>
    </p:extLst>
  </p:cSld>
</p:sld>
</file>

<file path=ppt/slides/slide3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D03DE072-87A1-4AF7-B202-09BB5C081A1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AX07 / 논리 인터페이스·복구 설계</a:t>
            </a:r>
          </a:p>
        </p:txBody>
      </p:sp>
      <p:sp>
        <p:nvSpPr>
          <p:cNvPr id="2" name="">
            <a:extLst xmlns:a="http://schemas.openxmlformats.org/drawingml/2006/main">
              <a:ext uri="{FF2B5EF4-FFF2-40B4-BE49-F238E27FC236}">
                <a16:creationId xmlns:a16="http://schemas.microsoft.com/office/drawing/2014/main" id="{1F0BDE1C-3B31-401F-BA1E-EC0B0070D5F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Robodebt · 데이터와 예외 처리</a:t>
            </a:r>
          </a:p>
        </p:txBody>
      </p:sp>
      <p:sp>
        <p:nvSpPr>
          <p:cNvPr id="3" name="">
            <a:extLst xmlns:a="http://schemas.openxmlformats.org/drawingml/2006/main">
              <a:ext uri="{FF2B5EF4-FFF2-40B4-BE49-F238E27FC236}">
                <a16:creationId xmlns:a16="http://schemas.microsoft.com/office/drawing/2014/main" id="{489ED329-3294-4C88-8ECA-92CD53C6945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965AB0E-658C-466D-BFFE-9399BDBC777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A1542E9-D0A6-4D08-B0FC-B95A3F5D722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34</a:t>
            </a:r>
          </a:p>
        </p:txBody>
      </p:sp>
      <p:sp>
        <p:nvSpPr>
          <p:cNvPr id="6" name="">
            <a:extLst xmlns:a="http://schemas.openxmlformats.org/drawingml/2006/main">
              <a:ext uri="{FF2B5EF4-FFF2-40B4-BE49-F238E27FC236}">
                <a16:creationId xmlns:a16="http://schemas.microsoft.com/office/drawing/2014/main" id="{A966138A-BEA6-4A83-BBD9-3BC3815888B4}"/>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D07827AE-8A50-4358-95E5-71B148FEA6EA}"/>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43D351B0-314A-483D-B837-137226EFB457}"/>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03325F20-8BCC-48DD-8F29-2D9FF9F06E26}"/>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자료의 대상·기간·적용 근거 대조</a:t>
            </a:r>
          </a:p>
        </p:txBody>
      </p:sp>
      <p:sp>
        <p:nvSpPr>
          <p:cNvPr id="10" name="">
            <a:extLst xmlns:a="http://schemas.openxmlformats.org/drawingml/2006/main">
              <a:ext uri="{FF2B5EF4-FFF2-40B4-BE49-F238E27FC236}">
                <a16:creationId xmlns:a16="http://schemas.microsoft.com/office/drawing/2014/main" id="{6D3BAF3D-E198-4F0C-A834-AAB13C5A5D97}"/>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1109C8D-A009-48A6-88F4-71DA347C3EC6}"/>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4065D118-705C-417F-8FB3-BDCF1D7373F2}"/>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기관별 소득자료</a:t>
            </a:r>
          </a:p>
        </p:txBody>
      </p:sp>
      <p:sp>
        <p:nvSpPr>
          <p:cNvPr id="13" name="">
            <a:extLst xmlns:a="http://schemas.openxmlformats.org/drawingml/2006/main">
              <a:ext uri="{FF2B5EF4-FFF2-40B4-BE49-F238E27FC236}">
                <a16:creationId xmlns:a16="http://schemas.microsoft.com/office/drawing/2014/main" id="{1A475C4B-9A83-486B-85F1-FA35DE958433}"/>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CF72BBB-F992-4D4E-A5C3-EE600627F575}"/>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67B25A49-4140-4B03-8DE6-1CEC79884FF2}"/>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산정·재심 규칙</a:t>
            </a:r>
          </a:p>
        </p:txBody>
      </p:sp>
      <p:sp>
        <p:nvSpPr>
          <p:cNvPr id="16" name="">
            <a:extLst xmlns:a="http://schemas.openxmlformats.org/drawingml/2006/main">
              <a:ext uri="{FF2B5EF4-FFF2-40B4-BE49-F238E27FC236}">
                <a16:creationId xmlns:a16="http://schemas.microsoft.com/office/drawing/2014/main" id="{677FF321-382B-4F12-AFFD-B4A738D3796B}"/>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07FFAF4-E0EA-4004-8FE2-DA37406E5524}"/>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14AB491A-196F-4713-A905-842BC68CEFAC}"/>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채무 통지</a:t>
            </a:r>
          </a:p>
        </p:txBody>
      </p:sp>
      <p:sp>
        <p:nvSpPr>
          <p:cNvPr id="19" name="">
            <a:extLst xmlns:a="http://schemas.openxmlformats.org/drawingml/2006/main">
              <a:ext uri="{FF2B5EF4-FFF2-40B4-BE49-F238E27FC236}">
                <a16:creationId xmlns:a16="http://schemas.microsoft.com/office/drawing/2014/main" id="{84E248CB-4B83-4139-B6F0-F3FDD61DABB1}"/>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1FC5BCA-CF6C-4174-B178-744AB892A008}"/>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5DD6CD47-A12F-4701-B32C-4C484CB1E886}"/>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채무 통지</a:t>
            </a:r>
          </a:p>
        </p:txBody>
      </p:sp>
      <p:sp>
        <p:nvSpPr>
          <p:cNvPr id="22" name="">
            <a:extLst xmlns:a="http://schemas.openxmlformats.org/drawingml/2006/main">
              <a:ext uri="{FF2B5EF4-FFF2-40B4-BE49-F238E27FC236}">
                <a16:creationId xmlns:a16="http://schemas.microsoft.com/office/drawing/2014/main" id="{6E185880-B347-4C90-ADE6-775D24BD5D60}"/>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2E9FBF9-AC9C-4823-B098-93B19E047325}"/>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711C60F7-1209-408C-A260-43E25FD9EEE9}"/>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이의·재심 기록</a:t>
            </a:r>
          </a:p>
        </p:txBody>
      </p:sp>
      <p:sp>
        <p:nvSpPr>
          <p:cNvPr id="25" name="">
            <a:extLst xmlns:a="http://schemas.openxmlformats.org/drawingml/2006/main">
              <a:ext uri="{FF2B5EF4-FFF2-40B4-BE49-F238E27FC236}">
                <a16:creationId xmlns:a16="http://schemas.microsoft.com/office/drawing/2014/main" id="{52A27B94-33A4-48F1-A9BA-AE5AC27A9E97}"/>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171AE9EB-BF9F-4DB0-928A-415F390D675A}"/>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연간 자료를 짧은 기간에 일률 배분·당사자 반박 증빙</a:t>
            </a:r>
          </a:p>
        </p:txBody>
      </p:sp>
      <p:sp>
        <p:nvSpPr>
          <p:cNvPr id="27" name="">
            <a:extLst xmlns:a="http://schemas.openxmlformats.org/drawingml/2006/main">
              <a:ext uri="{FF2B5EF4-FFF2-40B4-BE49-F238E27FC236}">
                <a16:creationId xmlns:a16="http://schemas.microsoft.com/office/drawing/2014/main" id="{844AB4CD-2E8D-4839-AD3E-F5F306BD9169}"/>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824AB033-7787-4BD5-B3B3-7A6D2C6CFB7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 증빙 불일치 시 자동 확정 보류</a:t>
            </a:r>
          </a:p>
        </p:txBody>
      </p:sp>
      <p:sp>
        <p:nvSpPr>
          <p:cNvPr id="29" name="">
            <a:extLst xmlns:a="http://schemas.openxmlformats.org/drawingml/2006/main">
              <a:ext uri="{FF2B5EF4-FFF2-40B4-BE49-F238E27FC236}">
                <a16:creationId xmlns:a16="http://schemas.microsoft.com/office/drawing/2014/main" id="{E6C38648-EC11-4A96-95A4-05416DD6C49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991F76B2-15BD-427C-A5FF-9D0254D4B3F9}"/>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오판·이의제기 결과의 규칙 및 절차 개선</a:t>
            </a:r>
          </a:p>
        </p:txBody>
      </p:sp>
      <p:sp>
        <p:nvSpPr>
          <p:cNvPr id="31" name="">
            <a:extLst xmlns:a="http://schemas.openxmlformats.org/drawingml/2006/main">
              <a:ext uri="{FF2B5EF4-FFF2-40B4-BE49-F238E27FC236}">
                <a16:creationId xmlns:a16="http://schemas.microsoft.com/office/drawing/2014/main" id="{1CF5D460-22A8-4067-B651-3CAFA30ACB29}"/>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BAD61AC8-132F-4213-8B17-6275E114356E}"/>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기간별 산정 대사와 보류·재심·담당자 판단 기록</a:t>
            </a:r>
          </a:p>
        </p:txBody>
      </p:sp>
    </p:spTree>
    <p:extLst>
      <p:ext uri="{BB962C8B-B14F-4D97-AF65-F5344CB8AC3E}">
        <p14:creationId xmlns:p14="http://schemas.microsoft.com/office/powerpoint/2010/main" val="1174332947"/>
      </p:ext>
    </p:extLst>
  </p:cSld>
</p:sld>
</file>

<file path=ppt/slides/slide3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74A7768-81E7-4B8F-BC60-3989F57A5C0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AX07 / CCK 비교·재현 시험 설계</a:t>
            </a:r>
          </a:p>
        </p:txBody>
      </p:sp>
      <p:sp>
        <p:nvSpPr>
          <p:cNvPr id="2" name="">
            <a:extLst xmlns:a="http://schemas.openxmlformats.org/drawingml/2006/main">
              <a:ext uri="{FF2B5EF4-FFF2-40B4-BE49-F238E27FC236}">
                <a16:creationId xmlns:a16="http://schemas.microsoft.com/office/drawing/2014/main" id="{9C5E3D23-6E64-4B40-A72A-D7C9711BC8D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Robodebt · 벤치마킹</a:t>
            </a:r>
          </a:p>
        </p:txBody>
      </p:sp>
      <p:sp>
        <p:nvSpPr>
          <p:cNvPr id="3" name="">
            <a:extLst xmlns:a="http://schemas.openxmlformats.org/drawingml/2006/main">
              <a:ext uri="{FF2B5EF4-FFF2-40B4-BE49-F238E27FC236}">
                <a16:creationId xmlns:a16="http://schemas.microsoft.com/office/drawing/2014/main" id="{25FADEEE-CD41-466A-8F96-90E711C2911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DB02284-C816-4FFD-88CD-B02A343C357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2946A2B-A349-4B3A-B431-37A94D54AA8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35</a:t>
            </a:r>
          </a:p>
        </p:txBody>
      </p:sp>
      <p:sp>
        <p:nvSpPr>
          <p:cNvPr id="6" name="">
            <a:extLst xmlns:a="http://schemas.openxmlformats.org/drawingml/2006/main">
              <a:ext uri="{FF2B5EF4-FFF2-40B4-BE49-F238E27FC236}">
                <a16:creationId xmlns:a16="http://schemas.microsoft.com/office/drawing/2014/main" id="{DC0CA50B-DF20-487A-AEE9-F770E07A0829}"/>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재발 방지 조건</a:t>
            </a:r>
          </a:p>
        </p:txBody>
      </p:sp>
      <p:sp>
        <p:nvSpPr>
          <p:cNvPr id="7" name="">
            <a:extLst xmlns:a="http://schemas.openxmlformats.org/drawingml/2006/main">
              <a:ext uri="{FF2B5EF4-FFF2-40B4-BE49-F238E27FC236}">
                <a16:creationId xmlns:a16="http://schemas.microsoft.com/office/drawing/2014/main" id="{8FD5365D-D169-4258-AC91-A3B2211E46AF}"/>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자동 결정 전 법적·증빙 근거 확인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이의제기와 재심 경로 확보</a:t>
            </a:r>
          </a:p>
        </p:txBody>
      </p:sp>
      <p:sp>
        <p:nvSpPr>
          <p:cNvPr id="8" name="">
            <a:extLst xmlns:a="http://schemas.openxmlformats.org/drawingml/2006/main">
              <a:ext uri="{FF2B5EF4-FFF2-40B4-BE49-F238E27FC236}">
                <a16:creationId xmlns:a16="http://schemas.microsoft.com/office/drawing/2014/main" id="{B91C92CC-B07C-466F-9925-0AE9452C732E}"/>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요인·시정 쟁점</a:t>
            </a:r>
          </a:p>
        </p:txBody>
      </p:sp>
      <p:sp>
        <p:nvSpPr>
          <p:cNvPr id="9" name="">
            <a:extLst xmlns:a="http://schemas.openxmlformats.org/drawingml/2006/main">
              <a:ext uri="{FF2B5EF4-FFF2-40B4-BE49-F238E27FC236}">
                <a16:creationId xmlns:a16="http://schemas.microsoft.com/office/drawing/2014/main" id="{821FB7C1-1DA3-4D90-A3DE-53E05DC523F5}"/>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자료 기간·산정 전제의 부적합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자동 판단에 대한 책임·재심 통제 부족</a:t>
            </a:r>
          </a:p>
        </p:txBody>
      </p:sp>
      <p:sp>
        <p:nvSpPr>
          <p:cNvPr id="10" name="">
            <a:extLst xmlns:a="http://schemas.openxmlformats.org/drawingml/2006/main">
              <a:ext uri="{FF2B5EF4-FFF2-40B4-BE49-F238E27FC236}">
                <a16:creationId xmlns:a16="http://schemas.microsoft.com/office/drawing/2014/main" id="{6BF5A607-7CC9-45B2-9E14-8C8D8DE6A446}"/>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ED3229DB-87C1-41D6-88AB-394AFC94824E}"/>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증빙 불일치 시 자동 확정 보류</a:t>
            </a:r>
          </a:p>
        </p:txBody>
      </p:sp>
      <p:sp>
        <p:nvSpPr>
          <p:cNvPr id="12" name="">
            <a:extLst xmlns:a="http://schemas.openxmlformats.org/drawingml/2006/main">
              <a:ext uri="{FF2B5EF4-FFF2-40B4-BE49-F238E27FC236}">
                <a16:creationId xmlns:a16="http://schemas.microsoft.com/office/drawing/2014/main" id="{A3C448A8-5689-461D-AD61-0F8482E3C22C}"/>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B0E1F847-547F-4C6F-8F67-F9CC8F3461D1}"/>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기간이 일치하는 증빙을 확인한 뒤 담당자가 행정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결과 검토</a:t>
            </a:r>
          </a:p>
        </p:txBody>
      </p:sp>
      <p:sp>
        <p:nvSpPr>
          <p:cNvPr id="14" name="">
            <a:extLst xmlns:a="http://schemas.openxmlformats.org/drawingml/2006/main">
              <a:ext uri="{FF2B5EF4-FFF2-40B4-BE49-F238E27FC236}">
                <a16:creationId xmlns:a16="http://schemas.microsoft.com/office/drawing/2014/main" id="{5E2418B6-0AE5-4E3C-8C65-D1EB3194FF9B}"/>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1477F3AB-C531-49DF-AB77-DF9917BCD239}"/>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연간 자료를 짧은 기간에 일률 배분·당사자 반박 증</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빙</a:t>
            </a:r>
          </a:p>
        </p:txBody>
      </p:sp>
      <p:sp>
        <p:nvSpPr>
          <p:cNvPr id="16" name="">
            <a:extLst xmlns:a="http://schemas.openxmlformats.org/drawingml/2006/main">
              <a:ext uri="{FF2B5EF4-FFF2-40B4-BE49-F238E27FC236}">
                <a16:creationId xmlns:a16="http://schemas.microsoft.com/office/drawing/2014/main" id="{FD5289A4-278F-486F-86D0-5AF4FC470F9B}"/>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784059F1-9A24-431F-B790-38A6D06ACBF1}"/>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기간별 산정 대사와 보류·재심·담당자 판단 기록</a:t>
            </a:r>
          </a:p>
        </p:txBody>
      </p:sp>
    </p:spTree>
    <p:extLst>
      <p:ext uri="{BB962C8B-B14F-4D97-AF65-F5344CB8AC3E}">
        <p14:creationId xmlns:p14="http://schemas.microsoft.com/office/powerpoint/2010/main" val="663493180"/>
      </p:ext>
    </p:extLst>
  </p:cSld>
</p:sld>
</file>

<file path=ppt/slides/slide3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5EAAA70-1230-496C-BDD7-D9990BB504A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AX08 / 실패 / 해외</a:t>
            </a:r>
          </a:p>
        </p:txBody>
      </p:sp>
      <p:sp>
        <p:nvSpPr>
          <p:cNvPr id="2" name="">
            <a:extLst xmlns:a="http://schemas.openxmlformats.org/drawingml/2006/main">
              <a:ext uri="{FF2B5EF4-FFF2-40B4-BE49-F238E27FC236}">
                <a16:creationId xmlns:a16="http://schemas.microsoft.com/office/drawing/2014/main" id="{58550C4A-7C4D-492F-8736-4609F6EDA71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Cruise 사고보고</a:t>
            </a:r>
          </a:p>
        </p:txBody>
      </p:sp>
      <p:sp>
        <p:nvSpPr>
          <p:cNvPr id="3" name="">
            <a:extLst xmlns:a="http://schemas.openxmlformats.org/drawingml/2006/main">
              <a:ext uri="{FF2B5EF4-FFF2-40B4-BE49-F238E27FC236}">
                <a16:creationId xmlns:a16="http://schemas.microsoft.com/office/drawing/2014/main" id="{CB4BCC03-CCD8-48AD-8814-B90859381C8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CB78250-9FEC-46BB-B2F9-68F1FC2912C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5347295-62A6-426E-B9F8-DC2655EF05E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36</a:t>
            </a:r>
          </a:p>
        </p:txBody>
      </p:sp>
      <p:sp>
        <p:nvSpPr>
          <p:cNvPr id="6" name="">
            <a:extLst xmlns:a="http://schemas.openxmlformats.org/drawingml/2006/main">
              <a:ext uri="{FF2B5EF4-FFF2-40B4-BE49-F238E27FC236}">
                <a16:creationId xmlns:a16="http://schemas.microsoft.com/office/drawing/2014/main" id="{1922B59D-C3F2-48D5-B00F-202944E8F593}"/>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F6C76129-C560-4F4D-AD5C-E1C014E7C7D2}"/>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자율주행 사고의 원시 증거와 감독기관 보고 사이에서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누락이 발생한 시정 사례. 모델의 주행 성능과 별개로 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고 전후 정보를 완전하게 보고하는 운영 책임이 주요 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점.</a:t>
            </a:r>
          </a:p>
        </p:txBody>
      </p:sp>
      <p:sp>
        <p:nvSpPr>
          <p:cNvPr id="8" name="">
            <a:extLst xmlns:a="http://schemas.openxmlformats.org/drawingml/2006/main">
              <a:ext uri="{FF2B5EF4-FFF2-40B4-BE49-F238E27FC236}">
                <a16:creationId xmlns:a16="http://schemas.microsoft.com/office/drawing/2014/main" id="{E3EAA65E-3084-4D36-A68C-7A3D8250A5AF}"/>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6DFA7925-5EB3-4B5E-A683-ABFEC17AB374}"/>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영상·센서·이벤트 로그를 사고 ID와 시간축으로 묶고 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수 보고 항목과 대조하는 CCK 설계. 요약 보고서를 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들더라도 원본 증거·작성 판본·승인자·추가 보완 이력을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함께 유지하는 구조.</a:t>
            </a:r>
          </a:p>
        </p:txBody>
      </p:sp>
      <p:sp>
        <p:nvSpPr>
          <p:cNvPr id="10" name="">
            <a:extLst xmlns:a="http://schemas.openxmlformats.org/drawingml/2006/main">
              <a:ext uri="{FF2B5EF4-FFF2-40B4-BE49-F238E27FC236}">
                <a16:creationId xmlns:a16="http://schemas.microsoft.com/office/drawing/2014/main" id="{03A2CC9B-4A0D-49FF-A5D3-031F9AC6FA54}"/>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629922B1-FD8E-497B-B565-625C901E5799}"/>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사고조사 지원에서 자동 요약의 편의보다 증거 누락을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우선 평가할 근거. 충돌 전·중·후 자료와 수정본을 섞은 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험으로 사건 재구성, 빠진 항목 경고, 제출본 추적을 검수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할 필요.</a:t>
            </a:r>
          </a:p>
        </p:txBody>
      </p:sp>
      <p:sp>
        <p:nvSpPr>
          <p:cNvPr id="12" name="">
            <a:extLst xmlns:a="http://schemas.openxmlformats.org/drawingml/2006/main">
              <a:ext uri="{FF2B5EF4-FFF2-40B4-BE49-F238E27FC236}">
                <a16:creationId xmlns:a16="http://schemas.microsoft.com/office/drawing/2014/main" id="{D9CD199E-50C7-4518-8C33-52B70ED989BF}"/>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35EB0159-2498-4413-A93C-BE6A423138AD}"/>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증거 무결성 / 필수 사건 체크 / 누락 경고 / 검토·승인 이력</a:t>
            </a:r>
          </a:p>
        </p:txBody>
      </p:sp>
      <p:sp>
        <p:nvSpPr>
          <p:cNvPr id="14" name="">
            <a:extLst xmlns:a="http://schemas.openxmlformats.org/drawingml/2006/main">
              <a:ext uri="{FF2B5EF4-FFF2-40B4-BE49-F238E27FC236}">
                <a16:creationId xmlns:a16="http://schemas.microsoft.com/office/drawing/2014/main" id="{8577E3C1-87DB-4E02-8671-01A72B45FC2D}"/>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E8AD3A82-78E3-401C-A29B-8C9888DB8D95}"/>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 사건·충돌 시각 주입 후 탐지 및 승인 없이 전송 차단</a:t>
            </a:r>
          </a:p>
        </p:txBody>
      </p:sp>
      <p:sp>
        <p:nvSpPr>
          <p:cNvPr id="16" name="">
            <a:extLst xmlns:a="http://schemas.openxmlformats.org/drawingml/2006/main">
              <a:ext uri="{FF2B5EF4-FFF2-40B4-BE49-F238E27FC236}">
                <a16:creationId xmlns:a16="http://schemas.microsoft.com/office/drawing/2014/main" id="{1C8E581E-E2FA-465A-9E79-14B86D0D1A32}"/>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1FC7998E-D6CB-4F1C-A9EE-95623388FB44}"/>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필수 사건 재현율 / 검토 누락률</a:t>
            </a:r>
          </a:p>
        </p:txBody>
      </p:sp>
      <p:sp>
        <p:nvSpPr>
          <p:cNvPr id="18" name="">
            <a:extLst xmlns:a="http://schemas.openxmlformats.org/drawingml/2006/main">
              <a:ext uri="{FF2B5EF4-FFF2-40B4-BE49-F238E27FC236}">
                <a16:creationId xmlns:a16="http://schemas.microsoft.com/office/drawing/2014/main" id="{B3D5124A-4CB6-479F-AD8C-8B7384C92500}"/>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보고 완전성·안전 거버넌스 문제 · 사고 원인을 LLM 오류로 단정 불가</a:t>
            </a:r>
          </a:p>
        </p:txBody>
      </p:sp>
    </p:spTree>
    <p:extLst>
      <p:ext uri="{BB962C8B-B14F-4D97-AF65-F5344CB8AC3E}">
        <p14:creationId xmlns:p14="http://schemas.microsoft.com/office/powerpoint/2010/main" val="1592637048"/>
      </p:ext>
    </p:extLst>
  </p:cSld>
</p:sld>
</file>

<file path=ppt/slides/slide3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47B49F3D-3990-4665-8643-A1B42F3B7DB7}"/>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9CD1994B-97A6-4384-8886-044686FA7474}"/>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5FAD0D4C-7F01-44C7-8F50-4D499DA92A69}"/>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F9ECC4B0-AE17-41C5-B378-EC72708B033D}"/>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92F4BAE1-5CD9-482C-9F24-D0AD0BF3735B}"/>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4E5B3F5B-608C-4D52-B35E-A792109052C2}"/>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7D08516B-9575-47D9-BB5E-DDD0E764B02B}"/>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8C57B067-7972-45F0-8924-8A42820B91D3}"/>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F3C17A4B-5581-4689-AFAB-244903ECD9AA}"/>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B1A17C3A-40EF-40BA-B97D-3CB94F34900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AX08 / 원문 추출·대조·사람 확정</a:t>
            </a:r>
          </a:p>
        </p:txBody>
      </p:sp>
      <p:sp>
        <p:nvSpPr>
          <p:cNvPr id="2" name="">
            <a:extLst xmlns:a="http://schemas.openxmlformats.org/drawingml/2006/main">
              <a:ext uri="{FF2B5EF4-FFF2-40B4-BE49-F238E27FC236}">
                <a16:creationId xmlns:a16="http://schemas.microsoft.com/office/drawing/2014/main" id="{819175AD-7B95-4852-BB67-DF15C1D4B66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Cruise 사고보고 · 세부 서비스 구조</a:t>
            </a:r>
          </a:p>
        </p:txBody>
      </p:sp>
      <p:sp>
        <p:nvSpPr>
          <p:cNvPr id="3" name="">
            <a:extLst xmlns:a="http://schemas.openxmlformats.org/drawingml/2006/main">
              <a:ext uri="{FF2B5EF4-FFF2-40B4-BE49-F238E27FC236}">
                <a16:creationId xmlns:a16="http://schemas.microsoft.com/office/drawing/2014/main" id="{41085732-55CC-4EF2-8D25-E192C5A6587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A79FAC6-0571-47F9-8106-4580E4AF80F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643324C-A77E-4933-9DBE-BC7D33FA40B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37</a:t>
            </a:r>
          </a:p>
        </p:txBody>
      </p:sp>
      <p:sp>
        <p:nvSpPr>
          <p:cNvPr id="6" name="">
            <a:extLst xmlns:a="http://schemas.openxmlformats.org/drawingml/2006/main">
              <a:ext uri="{FF2B5EF4-FFF2-40B4-BE49-F238E27FC236}">
                <a16:creationId xmlns:a16="http://schemas.microsoft.com/office/drawing/2014/main" id="{C6E0EB9C-1236-486A-854D-80E8AE644011}"/>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사고 원시 증거 → 사건 타임라인 → 보고서 작성 → 감독기관 보고</a:t>
            </a:r>
          </a:p>
        </p:txBody>
      </p:sp>
      <p:sp>
        <p:nvSpPr>
          <p:cNvPr id="7" name="">
            <a:extLst xmlns:a="http://schemas.openxmlformats.org/drawingml/2006/main">
              <a:ext uri="{FF2B5EF4-FFF2-40B4-BE49-F238E27FC236}">
                <a16:creationId xmlns:a16="http://schemas.microsoft.com/office/drawing/2014/main" id="{58818B87-C340-4DB4-AE16-255766DCDFCE}"/>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1DB93D1B-AA0D-4F23-AC97-66BF03CD58CC}"/>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86A90846-8607-48F4-9700-11DE36EF8748}"/>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사고보고 접수</a:t>
            </a:r>
          </a:p>
        </p:txBody>
      </p:sp>
      <p:sp>
        <p:nvSpPr>
          <p:cNvPr id="10" name="">
            <a:extLst xmlns:a="http://schemas.openxmlformats.org/drawingml/2006/main">
              <a:ext uri="{FF2B5EF4-FFF2-40B4-BE49-F238E27FC236}">
                <a16:creationId xmlns:a16="http://schemas.microsoft.com/office/drawing/2014/main" id="{8FF67B1A-F9C5-486A-86FD-2B9D5FE0975F}"/>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C154AC27-6C87-4A6C-AFBF-44FD432DDC41}"/>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F0274F67-A683-4945-A5A8-790EC25B6C70}"/>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시각별 사건 재구성</a:t>
            </a:r>
          </a:p>
        </p:txBody>
      </p:sp>
      <p:sp>
        <p:nvSpPr>
          <p:cNvPr id="13" name="">
            <a:extLst xmlns:a="http://schemas.openxmlformats.org/drawingml/2006/main">
              <a:ext uri="{FF2B5EF4-FFF2-40B4-BE49-F238E27FC236}">
                <a16:creationId xmlns:a16="http://schemas.microsoft.com/office/drawing/2014/main" id="{BE72BF23-AC5B-4D6B-AF7A-6E4120809347}"/>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6172862B-5602-4E91-B028-F205F77D50E7}"/>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20EFC40C-C3E7-414F-AF61-7C4863A28177}"/>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필수 항목 대사</a:t>
            </a:r>
          </a:p>
        </p:txBody>
      </p:sp>
      <p:sp>
        <p:nvSpPr>
          <p:cNvPr id="16" name="">
            <a:extLst xmlns:a="http://schemas.openxmlformats.org/drawingml/2006/main">
              <a:ext uri="{FF2B5EF4-FFF2-40B4-BE49-F238E27FC236}">
                <a16:creationId xmlns:a16="http://schemas.microsoft.com/office/drawing/2014/main" id="{BFCB5744-C9E8-412A-9B35-A648F689FB61}"/>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5BE54182-7B74-4CEB-9784-286DAC8C1736}"/>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ADECC766-D5A9-4C8A-842B-7C21D7E16F5D}"/>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작성·승인자 확인</a:t>
            </a:r>
          </a:p>
        </p:txBody>
      </p:sp>
      <p:sp>
        <p:nvSpPr>
          <p:cNvPr id="19" name="">
            <a:extLst xmlns:a="http://schemas.openxmlformats.org/drawingml/2006/main">
              <a:ext uri="{FF2B5EF4-FFF2-40B4-BE49-F238E27FC236}">
                <a16:creationId xmlns:a16="http://schemas.microsoft.com/office/drawing/2014/main" id="{88F8ABC8-DEE4-482E-9048-8E6C19FC7977}"/>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FDB1006D-C4B3-4CDB-8481-34F5005E1954}"/>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08510ED2-FF7A-47F8-8858-8953DF79409E}"/>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제출·보완 보고</a:t>
            </a:r>
          </a:p>
        </p:txBody>
      </p:sp>
      <p:sp>
        <p:nvSpPr>
          <p:cNvPr id="22" name="">
            <a:extLst xmlns:a="http://schemas.openxmlformats.org/drawingml/2006/main">
              <a:ext uri="{FF2B5EF4-FFF2-40B4-BE49-F238E27FC236}">
                <a16:creationId xmlns:a16="http://schemas.microsoft.com/office/drawing/2014/main" id="{F5A7C149-AC07-41DF-8EDF-A3DDF4900CE2}"/>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BB429FB-1BC0-4C5E-AD2F-215F0D94E808}"/>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C3281B28-AD4A-4F27-90BE-84BA4FA651B7}"/>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원시 영상·센서</a:t>
            </a:r>
          </a:p>
        </p:txBody>
      </p:sp>
      <p:sp>
        <p:nvSpPr>
          <p:cNvPr id="25" name="">
            <a:extLst xmlns:a="http://schemas.openxmlformats.org/drawingml/2006/main">
              <a:ext uri="{FF2B5EF4-FFF2-40B4-BE49-F238E27FC236}">
                <a16:creationId xmlns:a16="http://schemas.microsoft.com/office/drawing/2014/main" id="{2E81199D-DEBC-4E82-9BD6-1CCD50324F1F}"/>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0B0361BA-0F2D-45C2-8CA0-44A5B73BF696}"/>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33EE02F5-D1AA-427B-9951-A81FEA2977A6}"/>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시간축·판본 정합화</a:t>
            </a:r>
          </a:p>
        </p:txBody>
      </p:sp>
      <p:sp>
        <p:nvSpPr>
          <p:cNvPr id="28" name="">
            <a:extLst xmlns:a="http://schemas.openxmlformats.org/drawingml/2006/main">
              <a:ext uri="{FF2B5EF4-FFF2-40B4-BE49-F238E27FC236}">
                <a16:creationId xmlns:a16="http://schemas.microsoft.com/office/drawing/2014/main" id="{9610E238-E17B-4C77-B90D-05C8E38E51AC}"/>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68ABC9F3-5C70-4C6B-BBC6-D6E6C0E1949C}"/>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3CBC948B-FB76-4F95-910E-7DB24263C342}"/>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영상·로그 조회</a:t>
            </a:r>
          </a:p>
        </p:txBody>
      </p:sp>
      <p:sp>
        <p:nvSpPr>
          <p:cNvPr id="31" name="">
            <a:extLst xmlns:a="http://schemas.openxmlformats.org/drawingml/2006/main">
              <a:ext uri="{FF2B5EF4-FFF2-40B4-BE49-F238E27FC236}">
                <a16:creationId xmlns:a16="http://schemas.microsoft.com/office/drawing/2014/main" id="{35863C2D-AC80-45DA-81BB-4B8313300A73}"/>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88692640-F945-4F07-8570-9A1319D56E7C}"/>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FCDBF822-D086-4F56-82C3-12C420E8FFB5}"/>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증거·보고 판본</a:t>
            </a:r>
          </a:p>
        </p:txBody>
      </p:sp>
      <p:sp>
        <p:nvSpPr>
          <p:cNvPr id="34" name="">
            <a:extLst xmlns:a="http://schemas.openxmlformats.org/drawingml/2006/main">
              <a:ext uri="{FF2B5EF4-FFF2-40B4-BE49-F238E27FC236}">
                <a16:creationId xmlns:a16="http://schemas.microsoft.com/office/drawing/2014/main" id="{158D1D02-8545-4F94-93F5-F308BB43ADEA}"/>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05AE931C-09C1-4CEA-92D4-A268DE801DB6}"/>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DAC60719-46D9-498E-9CAC-EBCEF1D20CF2}"/>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누락·수정 추적</a:t>
            </a:r>
          </a:p>
        </p:txBody>
      </p:sp>
      <p:sp>
        <p:nvSpPr>
          <p:cNvPr id="46" name="">
            <a:extLst xmlns:a="http://schemas.openxmlformats.org/drawingml/2006/main">
              <a:ext uri="{FF2B5EF4-FFF2-40B4-BE49-F238E27FC236}">
                <a16:creationId xmlns:a16="http://schemas.microsoft.com/office/drawing/2014/main" id="{402CAB56-246E-42CB-B4A0-73A4E300D217}"/>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346626641"/>
      </p:ext>
    </p:extLst>
  </p:cSld>
</p:sld>
</file>

<file path=ppt/slides/slide3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853EE02B-0061-4897-9CFD-0EFED531F75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AX08 / 논리 인터페이스·복구 설계</a:t>
            </a:r>
          </a:p>
        </p:txBody>
      </p:sp>
      <p:sp>
        <p:nvSpPr>
          <p:cNvPr id="2" name="">
            <a:extLst xmlns:a="http://schemas.openxmlformats.org/drawingml/2006/main">
              <a:ext uri="{FF2B5EF4-FFF2-40B4-BE49-F238E27FC236}">
                <a16:creationId xmlns:a16="http://schemas.microsoft.com/office/drawing/2014/main" id="{44B24D98-E27F-465A-AEA8-8B9C832CF9E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Cruise 사고보고 · 데이터와 예외 처리</a:t>
            </a:r>
          </a:p>
        </p:txBody>
      </p:sp>
      <p:sp>
        <p:nvSpPr>
          <p:cNvPr id="3" name="">
            <a:extLst xmlns:a="http://schemas.openxmlformats.org/drawingml/2006/main">
              <a:ext uri="{FF2B5EF4-FFF2-40B4-BE49-F238E27FC236}">
                <a16:creationId xmlns:a16="http://schemas.microsoft.com/office/drawing/2014/main" id="{288CA667-432E-442C-98AC-EE71E27E55D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DF91EB3-E962-4860-A27F-50B3D021664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53CECEA-35DA-4845-A8A0-0F377E9E17B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38</a:t>
            </a:r>
          </a:p>
        </p:txBody>
      </p:sp>
      <p:sp>
        <p:nvSpPr>
          <p:cNvPr id="6" name="">
            <a:extLst xmlns:a="http://schemas.openxmlformats.org/drawingml/2006/main">
              <a:ext uri="{FF2B5EF4-FFF2-40B4-BE49-F238E27FC236}">
                <a16:creationId xmlns:a16="http://schemas.microsoft.com/office/drawing/2014/main" id="{90331504-35D6-45C4-8421-20FFB767CE4E}"/>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718283B-0F83-4F0C-A81C-BA4BD8F0E8D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120C03D9-6DE3-478E-9870-A620DA33175B}"/>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99921FE9-81A8-48E2-A3BE-ED860FE3AB15}"/>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원시 증거·보고 판본</a:t>
            </a:r>
          </a:p>
        </p:txBody>
      </p:sp>
      <p:sp>
        <p:nvSpPr>
          <p:cNvPr id="10" name="">
            <a:extLst xmlns:a="http://schemas.openxmlformats.org/drawingml/2006/main">
              <a:ext uri="{FF2B5EF4-FFF2-40B4-BE49-F238E27FC236}">
                <a16:creationId xmlns:a16="http://schemas.microsoft.com/office/drawing/2014/main" id="{D1E4C91B-297D-48E4-9A78-01FC7FA8EDF1}"/>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DC4125F-14CC-44E6-9B06-738409D5635A}"/>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F534401A-3D77-46B3-A1DC-78CDE4A7D1FB}"/>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24A1F236-97D3-47AA-BA24-110048DEFDAF}"/>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53EFD3D-286E-4E13-B5EA-B766B04E057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9FC161CF-3412-4234-AF8B-642336F0C6F2}"/>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필수 보고 항목</a:t>
            </a:r>
          </a:p>
        </p:txBody>
      </p:sp>
      <p:sp>
        <p:nvSpPr>
          <p:cNvPr id="16" name="">
            <a:extLst xmlns:a="http://schemas.openxmlformats.org/drawingml/2006/main">
              <a:ext uri="{FF2B5EF4-FFF2-40B4-BE49-F238E27FC236}">
                <a16:creationId xmlns:a16="http://schemas.microsoft.com/office/drawing/2014/main" id="{EB03E36F-B48B-41A8-9E55-1750A24DDB2A}"/>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41A3645-F3E0-4512-817B-F09FA1C84793}"/>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1801F2E3-8603-4905-BA40-C66DAFBF17A9}"/>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충돌 전후 사건</a:t>
            </a:r>
          </a:p>
        </p:txBody>
      </p:sp>
      <p:sp>
        <p:nvSpPr>
          <p:cNvPr id="19" name="">
            <a:extLst xmlns:a="http://schemas.openxmlformats.org/drawingml/2006/main">
              <a:ext uri="{FF2B5EF4-FFF2-40B4-BE49-F238E27FC236}">
                <a16:creationId xmlns:a16="http://schemas.microsoft.com/office/drawing/2014/main" id="{12127388-040D-4DD5-8461-E3818FED9945}"/>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FFA25CD-BA5C-4970-8850-997FC9CF1470}"/>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D4849DAC-7CCF-4DF5-8606-C94456051A4A}"/>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필수 보고 항목</a:t>
            </a:r>
          </a:p>
        </p:txBody>
      </p:sp>
      <p:sp>
        <p:nvSpPr>
          <p:cNvPr id="22" name="">
            <a:extLst xmlns:a="http://schemas.openxmlformats.org/drawingml/2006/main">
              <a:ext uri="{FF2B5EF4-FFF2-40B4-BE49-F238E27FC236}">
                <a16:creationId xmlns:a16="http://schemas.microsoft.com/office/drawing/2014/main" id="{3A248C2F-82F9-452E-8D82-0846B1EAB77A}"/>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B386D6E-E38E-4421-AB66-BBA321D5C4BD}"/>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A21AEC67-7F0A-4D04-8C39-F16962FD6CCB}"/>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제출·보완 기록</a:t>
            </a:r>
          </a:p>
        </p:txBody>
      </p:sp>
      <p:sp>
        <p:nvSpPr>
          <p:cNvPr id="25" name="">
            <a:extLst xmlns:a="http://schemas.openxmlformats.org/drawingml/2006/main">
              <a:ext uri="{FF2B5EF4-FFF2-40B4-BE49-F238E27FC236}">
                <a16:creationId xmlns:a16="http://schemas.microsoft.com/office/drawing/2014/main" id="{062AD008-C43A-4906-9332-BC94C51A2EC4}"/>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CADABF89-09FE-4D12-9701-3B7863A4BC6E}"/>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충돌 이후 이벤트 삭제·영상과 로그 시각 충돌</a:t>
            </a:r>
          </a:p>
        </p:txBody>
      </p:sp>
      <p:sp>
        <p:nvSpPr>
          <p:cNvPr id="27" name="">
            <a:extLst xmlns:a="http://schemas.openxmlformats.org/drawingml/2006/main">
              <a:ext uri="{FF2B5EF4-FFF2-40B4-BE49-F238E27FC236}">
                <a16:creationId xmlns:a16="http://schemas.microsoft.com/office/drawing/2014/main" id="{B431D407-80DF-41B6-9BB8-93E8CDA266C5}"/>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BAC84A88-4756-4A1F-8D29-405895B8CB2A}"/>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충돌 전·중·후 증거의 완전성 대사</a:t>
            </a:r>
          </a:p>
        </p:txBody>
      </p:sp>
      <p:sp>
        <p:nvSpPr>
          <p:cNvPr id="29" name="">
            <a:extLst xmlns:a="http://schemas.openxmlformats.org/drawingml/2006/main">
              <a:ext uri="{FF2B5EF4-FFF2-40B4-BE49-F238E27FC236}">
                <a16:creationId xmlns:a16="http://schemas.microsoft.com/office/drawing/2014/main" id="{204A3E07-2397-4262-9310-C540DF986EE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A82382E1-A5EC-4910-87B2-BA48F56F1487}"/>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추가 발견 증거의 보완 보고·수정 이력 추적</a:t>
            </a:r>
          </a:p>
        </p:txBody>
      </p:sp>
      <p:sp>
        <p:nvSpPr>
          <p:cNvPr id="31" name="">
            <a:extLst xmlns:a="http://schemas.openxmlformats.org/drawingml/2006/main">
              <a:ext uri="{FF2B5EF4-FFF2-40B4-BE49-F238E27FC236}">
                <a16:creationId xmlns:a16="http://schemas.microsoft.com/office/drawing/2014/main" id="{48A589A7-D412-4203-BC64-1C6CC00015CE}"/>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FD5A674-2F9B-4774-834B-6893FCEC185E}"/>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원시 증거별 보고 포함 여부와 누락 경고·승인 이력</a:t>
            </a:r>
          </a:p>
        </p:txBody>
      </p:sp>
    </p:spTree>
    <p:extLst>
      <p:ext uri="{BB962C8B-B14F-4D97-AF65-F5344CB8AC3E}">
        <p14:creationId xmlns:p14="http://schemas.microsoft.com/office/powerpoint/2010/main" val="525261859"/>
      </p:ext>
    </p:extLst>
  </p:cSld>
</p:sld>
</file>

<file path=ppt/slides/slide3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B00C6C5-8392-4A18-B966-90E8AF9DE66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AX08 / CCK 비교·재현 시험 설계</a:t>
            </a:r>
          </a:p>
        </p:txBody>
      </p:sp>
      <p:sp>
        <p:nvSpPr>
          <p:cNvPr id="2" name="">
            <a:extLst xmlns:a="http://schemas.openxmlformats.org/drawingml/2006/main">
              <a:ext uri="{FF2B5EF4-FFF2-40B4-BE49-F238E27FC236}">
                <a16:creationId xmlns:a16="http://schemas.microsoft.com/office/drawing/2014/main" id="{077E53F9-2438-4CD8-85D0-D9858C564CE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Cruise 사고보고 · 벤치마킹</a:t>
            </a:r>
          </a:p>
        </p:txBody>
      </p:sp>
      <p:sp>
        <p:nvSpPr>
          <p:cNvPr id="3" name="">
            <a:extLst xmlns:a="http://schemas.openxmlformats.org/drawingml/2006/main">
              <a:ext uri="{FF2B5EF4-FFF2-40B4-BE49-F238E27FC236}">
                <a16:creationId xmlns:a16="http://schemas.microsoft.com/office/drawing/2014/main" id="{BAC3E17A-EE27-4A51-9291-CA6407425B1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93EAF87-0B6E-42A8-92D1-DF518B1BC1D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3E3AB92-50E6-4FFD-9B77-AAD09A0B80D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39</a:t>
            </a:r>
          </a:p>
        </p:txBody>
      </p:sp>
      <p:sp>
        <p:nvSpPr>
          <p:cNvPr id="6" name="">
            <a:extLst xmlns:a="http://schemas.openxmlformats.org/drawingml/2006/main">
              <a:ext uri="{FF2B5EF4-FFF2-40B4-BE49-F238E27FC236}">
                <a16:creationId xmlns:a16="http://schemas.microsoft.com/office/drawing/2014/main" id="{F416A2FD-2966-421D-A1BC-15FF7B35EDB3}"/>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재발 방지 조건</a:t>
            </a:r>
          </a:p>
        </p:txBody>
      </p:sp>
      <p:sp>
        <p:nvSpPr>
          <p:cNvPr id="7" name="">
            <a:extLst xmlns:a="http://schemas.openxmlformats.org/drawingml/2006/main">
              <a:ext uri="{FF2B5EF4-FFF2-40B4-BE49-F238E27FC236}">
                <a16:creationId xmlns:a16="http://schemas.microsoft.com/office/drawing/2014/main" id="{39FF273B-2C44-4E9D-8C50-7EB7D8FBB7DA}"/>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원시 영상과 보고 항목의 대사</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보고 책임자와 변경 이력 관리</a:t>
            </a:r>
          </a:p>
        </p:txBody>
      </p:sp>
      <p:sp>
        <p:nvSpPr>
          <p:cNvPr id="8" name="">
            <a:extLst xmlns:a="http://schemas.openxmlformats.org/drawingml/2006/main">
              <a:ext uri="{FF2B5EF4-FFF2-40B4-BE49-F238E27FC236}">
                <a16:creationId xmlns:a16="http://schemas.microsoft.com/office/drawing/2014/main" id="{5B707279-8B00-4CC6-8B2F-94BA86B5C1B6}"/>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요인·시정 쟁점</a:t>
            </a:r>
          </a:p>
        </p:txBody>
      </p:sp>
      <p:sp>
        <p:nvSpPr>
          <p:cNvPr id="9" name="">
            <a:extLst xmlns:a="http://schemas.openxmlformats.org/drawingml/2006/main">
              <a:ext uri="{FF2B5EF4-FFF2-40B4-BE49-F238E27FC236}">
                <a16:creationId xmlns:a16="http://schemas.microsoft.com/office/drawing/2014/main" id="{2FA92B37-5820-4415-97F6-B314C8C9289A}"/>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사고 후 상황의 보고 누락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요약본만으로 사고 전체를 판단하는 위험</a:t>
            </a:r>
          </a:p>
        </p:txBody>
      </p:sp>
      <p:sp>
        <p:nvSpPr>
          <p:cNvPr id="10" name="">
            <a:extLst xmlns:a="http://schemas.openxmlformats.org/drawingml/2006/main">
              <a:ext uri="{FF2B5EF4-FFF2-40B4-BE49-F238E27FC236}">
                <a16:creationId xmlns:a16="http://schemas.microsoft.com/office/drawing/2014/main" id="{DC4D863C-C09D-4382-A798-78E466027A86}"/>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65F2A25E-DDBA-4120-A579-28942E3EE5A4}"/>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충돌 전·중·후 증거의 완전성 대사</a:t>
            </a:r>
          </a:p>
        </p:txBody>
      </p:sp>
      <p:sp>
        <p:nvSpPr>
          <p:cNvPr id="12" name="">
            <a:extLst xmlns:a="http://schemas.openxmlformats.org/drawingml/2006/main">
              <a:ext uri="{FF2B5EF4-FFF2-40B4-BE49-F238E27FC236}">
                <a16:creationId xmlns:a16="http://schemas.microsoft.com/office/drawing/2014/main" id="{87CE6E4F-5A3E-4EB7-9C8A-7C38CC39E2B4}"/>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0891624-7476-4165-8126-4576511BA8C7}"/>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사고 발생 전후 전체 이벤트를 보고 항목에 연결</a:t>
            </a:r>
          </a:p>
        </p:txBody>
      </p:sp>
      <p:sp>
        <p:nvSpPr>
          <p:cNvPr id="14" name="">
            <a:extLst xmlns:a="http://schemas.openxmlformats.org/drawingml/2006/main">
              <a:ext uri="{FF2B5EF4-FFF2-40B4-BE49-F238E27FC236}">
                <a16:creationId xmlns:a16="http://schemas.microsoft.com/office/drawing/2014/main" id="{2DDA0E9D-AD98-40DE-85B9-495E9E6D74A5}"/>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B53FE3D8-2E76-4FF4-AA4C-B01B414384B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충돌 이후 이벤트 삭제·영상과 로그 시각 충돌</a:t>
            </a:r>
          </a:p>
        </p:txBody>
      </p:sp>
      <p:sp>
        <p:nvSpPr>
          <p:cNvPr id="16" name="">
            <a:extLst xmlns:a="http://schemas.openxmlformats.org/drawingml/2006/main">
              <a:ext uri="{FF2B5EF4-FFF2-40B4-BE49-F238E27FC236}">
                <a16:creationId xmlns:a16="http://schemas.microsoft.com/office/drawing/2014/main" id="{FE677ABE-8F65-4F20-B142-D18251873F0C}"/>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EA36204F-1818-4D72-A7DE-1A75D3F6CC9A}"/>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원시 증거별 보고 포함 여부와 누락 경고·승인 이력</a:t>
            </a:r>
          </a:p>
        </p:txBody>
      </p:sp>
    </p:spTree>
    <p:extLst>
      <p:ext uri="{BB962C8B-B14F-4D97-AF65-F5344CB8AC3E}">
        <p14:creationId xmlns:p14="http://schemas.microsoft.com/office/powerpoint/2010/main" val="328730041"/>
      </p:ext>
    </p:extLst>
  </p:cSld>
</p:sld>
</file>

<file path=ppt/slides/slide4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EEBC846-BDE3-43DC-A493-94BAB303503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AX09 / 성공 / 해외</a:t>
            </a:r>
          </a:p>
        </p:txBody>
      </p:sp>
      <p:sp>
        <p:nvSpPr>
          <p:cNvPr id="2" name="">
            <a:extLst xmlns:a="http://schemas.openxmlformats.org/drawingml/2006/main">
              <a:ext uri="{FF2B5EF4-FFF2-40B4-BE49-F238E27FC236}">
                <a16:creationId xmlns:a16="http://schemas.microsoft.com/office/drawing/2014/main" id="{CFAE0714-00BE-4E1C-83B1-D8F35265E2F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지식지원</a:t>
            </a:r>
          </a:p>
        </p:txBody>
      </p:sp>
      <p:sp>
        <p:nvSpPr>
          <p:cNvPr id="3" name="">
            <a:extLst xmlns:a="http://schemas.openxmlformats.org/drawingml/2006/main">
              <a:ext uri="{FF2B5EF4-FFF2-40B4-BE49-F238E27FC236}">
                <a16:creationId xmlns:a16="http://schemas.microsoft.com/office/drawing/2014/main" id="{09337D74-114B-41D8-903C-B7638CFC4CB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E2E19A4-6B79-4B60-8703-A8CA5D9B17A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D67CC4E-7E77-4B93-A929-A2AE0D8C271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40</a:t>
            </a:r>
          </a:p>
        </p:txBody>
      </p:sp>
      <p:sp>
        <p:nvSpPr>
          <p:cNvPr id="6" name="">
            <a:extLst xmlns:a="http://schemas.openxmlformats.org/drawingml/2006/main">
              <a:ext uri="{FF2B5EF4-FFF2-40B4-BE49-F238E27FC236}">
                <a16:creationId xmlns:a16="http://schemas.microsoft.com/office/drawing/2014/main" id="{8E9F14E5-8910-4725-B822-75030164ECF4}"/>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FB77577A-EDEE-4E5A-A0FF-B77AFEE48C80}"/>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금융 자문가가 승인된 사내 전문지식을 검색하고 근거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있는 답변을 얻도록 한 사례. 직원의 문서 탐색을 지원하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면서 전문가 평가를 품질 개선에 연결한 접근.</a:t>
            </a:r>
          </a:p>
        </p:txBody>
      </p:sp>
      <p:sp>
        <p:nvSpPr>
          <p:cNvPr id="8" name="">
            <a:extLst xmlns:a="http://schemas.openxmlformats.org/drawingml/2006/main">
              <a:ext uri="{FF2B5EF4-FFF2-40B4-BE49-F238E27FC236}">
                <a16:creationId xmlns:a16="http://schemas.microsoft.com/office/drawing/2014/main" id="{3F3FC2A8-1225-4F72-A229-331E45258E8D}"/>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C50F7E6B-4E04-4CA7-B9CB-621C71D7B893}"/>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업무 질문의 자료 범위를 확인하고 관련 문서·원문 위치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를 검색한 뒤 자문가가 답변을 검토하는 흐름. TS 적용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시 검사·인증·안전 규정별 전문가 정답셋과 문서 개정 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력을 연결하는 설계.</a:t>
            </a:r>
          </a:p>
        </p:txBody>
      </p:sp>
      <p:sp>
        <p:nvSpPr>
          <p:cNvPr id="10" name="">
            <a:extLst xmlns:a="http://schemas.openxmlformats.org/drawingml/2006/main">
              <a:ext uri="{FF2B5EF4-FFF2-40B4-BE49-F238E27FC236}">
                <a16:creationId xmlns:a16="http://schemas.microsoft.com/office/drawing/2014/main" id="{D674B0C7-30CA-493E-B804-EBC959A12DFF}"/>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6B0B2B8F-ACA3-49C4-A3B3-C1292A82E23B}"/>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활용자 수·도입 확대와 답변의 정답률을 구분해 평가할 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 숨긴 평가셋, 근거 조문 일치, 개정 후 회귀시험, 전문</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가 수정시간을 함께 수집하는 CCK 벤치마킹.</a:t>
            </a:r>
          </a:p>
        </p:txBody>
      </p:sp>
      <p:sp>
        <p:nvSpPr>
          <p:cNvPr id="12" name="">
            <a:extLst xmlns:a="http://schemas.openxmlformats.org/drawingml/2006/main">
              <a:ext uri="{FF2B5EF4-FFF2-40B4-BE49-F238E27FC236}">
                <a16:creationId xmlns:a16="http://schemas.microsoft.com/office/drawing/2014/main" id="{2299E07F-FDF9-4E97-AD4C-787715A8CAD4}"/>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51D9548E-FD14-45A6-81B7-55B85C1A95BF}"/>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직무별 평가셋 / 근거 위치 / 답변 보류 / 변경 영향 재평가</a:t>
            </a:r>
          </a:p>
        </p:txBody>
      </p:sp>
      <p:sp>
        <p:nvSpPr>
          <p:cNvPr id="14" name="">
            <a:extLst xmlns:a="http://schemas.openxmlformats.org/drawingml/2006/main">
              <a:ext uri="{FF2B5EF4-FFF2-40B4-BE49-F238E27FC236}">
                <a16:creationId xmlns:a16="http://schemas.microsoft.com/office/drawing/2014/main" id="{4265436C-6750-4DA0-AD81-296185AD57AB}"/>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AB17C266-15E7-4464-92A9-A9B47BFBB8DF}"/>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숨긴 평가셋의 근거 일치·판본 일치·거부율 평가</a:t>
            </a:r>
          </a:p>
        </p:txBody>
      </p:sp>
      <p:sp>
        <p:nvSpPr>
          <p:cNvPr id="16" name="">
            <a:extLst xmlns:a="http://schemas.openxmlformats.org/drawingml/2006/main">
              <a:ext uri="{FF2B5EF4-FFF2-40B4-BE49-F238E27FC236}">
                <a16:creationId xmlns:a16="http://schemas.microsoft.com/office/drawing/2014/main" id="{9530999D-9060-4B59-BF42-4BFF9135166F}"/>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09F73C0C-496C-4991-AA96-71F67F39C592}"/>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근거 정확도 / 재작업률 / 지식 탐색시간</a:t>
            </a:r>
          </a:p>
        </p:txBody>
      </p:sp>
      <p:sp>
        <p:nvSpPr>
          <p:cNvPr id="18" name="">
            <a:extLst xmlns:a="http://schemas.openxmlformats.org/drawingml/2006/main">
              <a:ext uri="{FF2B5EF4-FFF2-40B4-BE49-F238E27FC236}">
                <a16:creationId xmlns:a16="http://schemas.microsoft.com/office/drawing/2014/main" id="{FA6B3B42-2A4D-47F1-817D-651661DB4BB6}"/>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자문팀 기준 공급사 발표 · 생산성 인과효과·TS 정확도 근거와 구분</a:t>
            </a:r>
          </a:p>
        </p:txBody>
      </p:sp>
    </p:spTree>
    <p:extLst>
      <p:ext uri="{BB962C8B-B14F-4D97-AF65-F5344CB8AC3E}">
        <p14:creationId xmlns:p14="http://schemas.microsoft.com/office/powerpoint/2010/main" val="9949464"/>
      </p:ext>
    </p:extLst>
  </p:cSld>
</p:sld>
</file>

<file path=ppt/slides/slide4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A11F54B2-5A02-4F97-A555-9B54E1D0F435}"/>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16DFC7B4-4CFF-438D-A223-B8E76F4912D5}"/>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A1CFFC67-5FDA-4C4E-ACBE-ACD731D2C5BC}"/>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92786C45-88E6-45F7-BC39-239E078FD57F}"/>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C671B2EE-0434-46B1-8A6C-3B1EA093BE8A}"/>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E2759C2A-F920-4EFC-AA2B-4E9B59EF6391}"/>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0DAD1ED9-25E4-4BC2-B6BD-111789A47249}"/>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62110968-00BC-493C-AF52-C25520F30449}"/>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5D5D7809-0006-4454-BA43-DAB25304C846}"/>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55B07AE1-3F38-41C9-B2D7-0594B0B800F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AX09 / 지식 갱신·검색·근거 응답</a:t>
            </a:r>
          </a:p>
        </p:txBody>
      </p:sp>
      <p:sp>
        <p:nvSpPr>
          <p:cNvPr id="2" name="">
            <a:extLst xmlns:a="http://schemas.openxmlformats.org/drawingml/2006/main">
              <a:ext uri="{FF2B5EF4-FFF2-40B4-BE49-F238E27FC236}">
                <a16:creationId xmlns:a16="http://schemas.microsoft.com/office/drawing/2014/main" id="{229828ED-D06C-45B6-A41D-BAF8F0CF3E0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지식지원 · 세부 서비스 구조</a:t>
            </a:r>
          </a:p>
        </p:txBody>
      </p:sp>
      <p:sp>
        <p:nvSpPr>
          <p:cNvPr id="3" name="">
            <a:extLst xmlns:a="http://schemas.openxmlformats.org/drawingml/2006/main">
              <a:ext uri="{FF2B5EF4-FFF2-40B4-BE49-F238E27FC236}">
                <a16:creationId xmlns:a16="http://schemas.microsoft.com/office/drawing/2014/main" id="{D6B20AB7-C17D-42F5-9FD3-3CA6AC70CE4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D9B818B-8948-473E-ACD3-C00303A84F3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CE65D7A-E63C-457B-9BFF-BA364872F6B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41</a:t>
            </a:r>
          </a:p>
        </p:txBody>
      </p:sp>
      <p:sp>
        <p:nvSpPr>
          <p:cNvPr id="6" name="">
            <a:extLst xmlns:a="http://schemas.openxmlformats.org/drawingml/2006/main">
              <a:ext uri="{FF2B5EF4-FFF2-40B4-BE49-F238E27FC236}">
                <a16:creationId xmlns:a16="http://schemas.microsoft.com/office/drawing/2014/main" id="{3CEA311E-F65A-4E90-BA97-7B6DDB886AE9}"/>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전문가 질문 → 사내 지식 검색 → 근거 응답 → 전문가 평가·개선</a:t>
            </a:r>
          </a:p>
        </p:txBody>
      </p:sp>
      <p:sp>
        <p:nvSpPr>
          <p:cNvPr id="7" name="">
            <a:extLst xmlns:a="http://schemas.openxmlformats.org/drawingml/2006/main">
              <a:ext uri="{FF2B5EF4-FFF2-40B4-BE49-F238E27FC236}">
                <a16:creationId xmlns:a16="http://schemas.microsoft.com/office/drawing/2014/main" id="{AE19CE53-DCCB-4233-9C8E-EED1E8FD1D09}"/>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C58C18E9-600C-40E2-B711-F631CB75872E}"/>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3B8006AA-8BFC-4E78-A1CA-A19575A99129}"/>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승인 전문지식</a:t>
            </a:r>
          </a:p>
        </p:txBody>
      </p:sp>
      <p:sp>
        <p:nvSpPr>
          <p:cNvPr id="10" name="">
            <a:extLst xmlns:a="http://schemas.openxmlformats.org/drawingml/2006/main">
              <a:ext uri="{FF2B5EF4-FFF2-40B4-BE49-F238E27FC236}">
                <a16:creationId xmlns:a16="http://schemas.microsoft.com/office/drawing/2014/main" id="{EFF37C37-4A48-43EC-911D-06962BE170AC}"/>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9C81380E-59FC-4BCE-9A14-697CD80E0803}"/>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8D2068D1-ADD9-4792-9CDD-2E5E3B3A24C1}"/>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원문 위치·판본화</a:t>
            </a:r>
          </a:p>
        </p:txBody>
      </p:sp>
      <p:sp>
        <p:nvSpPr>
          <p:cNvPr id="13" name="">
            <a:extLst xmlns:a="http://schemas.openxmlformats.org/drawingml/2006/main">
              <a:ext uri="{FF2B5EF4-FFF2-40B4-BE49-F238E27FC236}">
                <a16:creationId xmlns:a16="http://schemas.microsoft.com/office/drawing/2014/main" id="{2030EA1F-33BB-41A0-AB78-7CA213CAA58B}"/>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3DEFB4A2-E8DF-45E8-AC59-1B039D8DDA4B}"/>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04909A5C-AF41-47BE-A2A0-3C0C456A957B}"/>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문서·평가셋</a:t>
            </a:r>
          </a:p>
        </p:txBody>
      </p:sp>
      <p:sp>
        <p:nvSpPr>
          <p:cNvPr id="16" name="">
            <a:extLst xmlns:a="http://schemas.openxmlformats.org/drawingml/2006/main">
              <a:ext uri="{FF2B5EF4-FFF2-40B4-BE49-F238E27FC236}">
                <a16:creationId xmlns:a16="http://schemas.microsoft.com/office/drawing/2014/main" id="{C7B7989B-4244-4A11-A1C2-703DBDE392EB}"/>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851A0C11-93D5-40E6-B036-4A1D54992386}"/>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E5CB4104-1322-4E89-B0C3-3C7B16D9EA55}"/>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승인 문서 검색</a:t>
            </a:r>
          </a:p>
        </p:txBody>
      </p:sp>
      <p:sp>
        <p:nvSpPr>
          <p:cNvPr id="19" name="">
            <a:extLst xmlns:a="http://schemas.openxmlformats.org/drawingml/2006/main">
              <a:ext uri="{FF2B5EF4-FFF2-40B4-BE49-F238E27FC236}">
                <a16:creationId xmlns:a16="http://schemas.microsoft.com/office/drawing/2014/main" id="{B6A4A824-AAF1-4CBB-82BA-EBE450B2D1FD}"/>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9C45F190-AA17-4E83-BA3E-2C10CE4E3CD0}"/>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D81B78F6-1D54-4E20-964F-06BE742EAD19}"/>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자문가 질문</a:t>
            </a:r>
          </a:p>
        </p:txBody>
      </p:sp>
      <p:sp>
        <p:nvSpPr>
          <p:cNvPr id="22" name="">
            <a:extLst xmlns:a="http://schemas.openxmlformats.org/drawingml/2006/main">
              <a:ext uri="{FF2B5EF4-FFF2-40B4-BE49-F238E27FC236}">
                <a16:creationId xmlns:a16="http://schemas.microsoft.com/office/drawing/2014/main" id="{282255B3-02F4-4225-822B-37AF5DF508C4}"/>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166342A-A4CD-441D-ADF8-1ACC8EE51752}"/>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C1C40F05-4942-4E61-93E8-3F96A38E1096}"/>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질의·접근 문맥</a:t>
            </a:r>
          </a:p>
        </p:txBody>
      </p:sp>
      <p:sp>
        <p:nvSpPr>
          <p:cNvPr id="25" name="">
            <a:extLst xmlns:a="http://schemas.openxmlformats.org/drawingml/2006/main">
              <a:ext uri="{FF2B5EF4-FFF2-40B4-BE49-F238E27FC236}">
                <a16:creationId xmlns:a16="http://schemas.microsoft.com/office/drawing/2014/main" id="{6815A44E-2DDC-451E-91FD-3BFE1169282B}"/>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D908D05E-C15C-4C10-A87B-5334044EC185}"/>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04F74C7A-4B07-4CB4-B673-5A0573522456}"/>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 응답 생성</a:t>
            </a:r>
          </a:p>
        </p:txBody>
      </p:sp>
      <p:sp>
        <p:nvSpPr>
          <p:cNvPr id="28" name="">
            <a:extLst xmlns:a="http://schemas.openxmlformats.org/drawingml/2006/main">
              <a:ext uri="{FF2B5EF4-FFF2-40B4-BE49-F238E27FC236}">
                <a16:creationId xmlns:a16="http://schemas.microsoft.com/office/drawing/2014/main" id="{80D4EB22-1CD1-4418-9EC9-68870CCE8534}"/>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2B3EA8A-F5AB-4034-8E31-DE43EB3A937D}"/>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9863748B-9B47-4633-B412-69CCC6C43CBF}"/>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문서·답변 대조</a:t>
            </a:r>
          </a:p>
        </p:txBody>
      </p:sp>
      <p:sp>
        <p:nvSpPr>
          <p:cNvPr id="31" name="">
            <a:extLst xmlns:a="http://schemas.openxmlformats.org/drawingml/2006/main">
              <a:ext uri="{FF2B5EF4-FFF2-40B4-BE49-F238E27FC236}">
                <a16:creationId xmlns:a16="http://schemas.microsoft.com/office/drawing/2014/main" id="{DA494799-FB68-46CB-84D9-3B612D88BEFC}"/>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2DC294B5-B333-4AC7-804E-2E205382C59C}"/>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948C62A6-FF5D-4FCB-9749-DDF4ED0117D5}"/>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자문가 확인</a:t>
            </a:r>
          </a:p>
        </p:txBody>
      </p:sp>
      <p:sp>
        <p:nvSpPr>
          <p:cNvPr id="34" name="">
            <a:extLst xmlns:a="http://schemas.openxmlformats.org/drawingml/2006/main">
              <a:ext uri="{FF2B5EF4-FFF2-40B4-BE49-F238E27FC236}">
                <a16:creationId xmlns:a16="http://schemas.microsoft.com/office/drawing/2014/main" id="{217A43CA-FD5F-42EA-8D9C-28264CBD6E4C}"/>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88E6CDA8-16A3-45C7-B489-B015E1D3A4AB}"/>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EC3104EE-8A17-4493-A64A-0BD6EDCD0752}"/>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상담 업무 활용</a:t>
            </a:r>
          </a:p>
        </p:txBody>
      </p:sp>
      <p:sp>
        <p:nvSpPr>
          <p:cNvPr id="46" name="">
            <a:extLst xmlns:a="http://schemas.openxmlformats.org/drawingml/2006/main">
              <a:ext uri="{FF2B5EF4-FFF2-40B4-BE49-F238E27FC236}">
                <a16:creationId xmlns:a16="http://schemas.microsoft.com/office/drawing/2014/main" id="{9F23A2C2-684B-45CC-985E-8CF0D510FBF4}"/>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65697849"/>
      </p:ext>
    </p:extLst>
  </p:cSld>
</p:sld>
</file>

<file path=ppt/slides/slide4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DDC8E7DB-9290-4A4E-9DAA-217BBD75D9E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AX09 / 논리 인터페이스·복구 설계</a:t>
            </a:r>
          </a:p>
        </p:txBody>
      </p:sp>
      <p:sp>
        <p:nvSpPr>
          <p:cNvPr id="2" name="">
            <a:extLst xmlns:a="http://schemas.openxmlformats.org/drawingml/2006/main">
              <a:ext uri="{FF2B5EF4-FFF2-40B4-BE49-F238E27FC236}">
                <a16:creationId xmlns:a16="http://schemas.microsoft.com/office/drawing/2014/main" id="{4CBFCCE1-2A9A-4A97-9477-CC6A6F873D4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지식지원 · 데이터와 예외 처리</a:t>
            </a:r>
          </a:p>
        </p:txBody>
      </p:sp>
      <p:sp>
        <p:nvSpPr>
          <p:cNvPr id="3" name="">
            <a:extLst xmlns:a="http://schemas.openxmlformats.org/drawingml/2006/main">
              <a:ext uri="{FF2B5EF4-FFF2-40B4-BE49-F238E27FC236}">
                <a16:creationId xmlns:a16="http://schemas.microsoft.com/office/drawing/2014/main" id="{4D5FAC4F-CBF8-4E6E-B4DD-BE60BB6105C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E2E4B60-684D-4AD4-898A-3217F86E37C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BBD34E2-F462-4251-8979-41F147847C2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42</a:t>
            </a:r>
          </a:p>
        </p:txBody>
      </p:sp>
      <p:sp>
        <p:nvSpPr>
          <p:cNvPr id="6" name="">
            <a:extLst xmlns:a="http://schemas.openxmlformats.org/drawingml/2006/main">
              <a:ext uri="{FF2B5EF4-FFF2-40B4-BE49-F238E27FC236}">
                <a16:creationId xmlns:a16="http://schemas.microsoft.com/office/drawing/2014/main" id="{15FCE3BF-6953-4D45-B380-E86AB4D647FC}"/>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8667ECEB-0AE9-4AED-A1B3-E43A98AD826D}"/>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A8CAFBF3-49A1-4446-876D-B372754FDC5B}"/>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5870759F-7493-4514-A6FE-1C2ED105A2BF}"/>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사내 지식·평가셋</a:t>
            </a:r>
          </a:p>
        </p:txBody>
      </p:sp>
      <p:sp>
        <p:nvSpPr>
          <p:cNvPr id="10" name="">
            <a:extLst xmlns:a="http://schemas.openxmlformats.org/drawingml/2006/main">
              <a:ext uri="{FF2B5EF4-FFF2-40B4-BE49-F238E27FC236}">
                <a16:creationId xmlns:a16="http://schemas.microsoft.com/office/drawing/2014/main" id="{EDCA05F9-4472-46C4-A4C9-2897AA1363CD}"/>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8002462-07A4-4269-A669-227E392D10D9}"/>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9C3952D2-0630-43D5-9672-805B039DCA5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426C1BFA-3403-44D8-AAA7-F5AEC8C5883C}"/>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BCDE513-F4E1-43A0-972F-D1C86F4025F3}"/>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07CA634E-83DA-46DF-8D55-F014490638B4}"/>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질문의 업무 범위·자료 접근조건 확인</a:t>
            </a:r>
          </a:p>
        </p:txBody>
      </p:sp>
      <p:sp>
        <p:nvSpPr>
          <p:cNvPr id="16" name="">
            <a:extLst xmlns:a="http://schemas.openxmlformats.org/drawingml/2006/main">
              <a:ext uri="{FF2B5EF4-FFF2-40B4-BE49-F238E27FC236}">
                <a16:creationId xmlns:a16="http://schemas.microsoft.com/office/drawing/2014/main" id="{3D745484-8B33-448E-9348-9A3D56C2A7CE}"/>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744393E-7A30-4A11-8191-F064A5FAF4B4}"/>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5E269ECA-B08E-453A-94ED-96C2D1F59ADF}"/>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전문가 정답표와 근거 정확도·보류 적정성 </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결과</a:t>
            </a:r>
          </a:p>
        </p:txBody>
      </p:sp>
      <p:sp>
        <p:nvSpPr>
          <p:cNvPr id="19" name="">
            <a:extLst xmlns:a="http://schemas.openxmlformats.org/drawingml/2006/main">
              <a:ext uri="{FF2B5EF4-FFF2-40B4-BE49-F238E27FC236}">
                <a16:creationId xmlns:a16="http://schemas.microsoft.com/office/drawing/2014/main" id="{7E436FAD-EAE5-4DAF-B002-34CB408543FA}"/>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E0F0DF7-0403-43BB-A37B-5B3BA09835A4}"/>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B066E1A4-9880-44AD-83AE-C54404D5BD43}"/>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관련 문서</a:t>
            </a:r>
          </a:p>
        </p:txBody>
      </p:sp>
      <p:sp>
        <p:nvSpPr>
          <p:cNvPr id="22" name="">
            <a:extLst xmlns:a="http://schemas.openxmlformats.org/drawingml/2006/main">
              <a:ext uri="{FF2B5EF4-FFF2-40B4-BE49-F238E27FC236}">
                <a16:creationId xmlns:a16="http://schemas.microsoft.com/office/drawing/2014/main" id="{7B715ABC-267A-4A37-A3FD-E59B5962728B}"/>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646EB0C-149D-4CBB-A9FA-7C12FF5F5F83}"/>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8E48C0F3-DAAF-429C-8986-3D3E94F4BE9A}"/>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근거 답변</a:t>
            </a:r>
          </a:p>
        </p:txBody>
      </p:sp>
      <p:sp>
        <p:nvSpPr>
          <p:cNvPr id="25" name="">
            <a:extLst xmlns:a="http://schemas.openxmlformats.org/drawingml/2006/main">
              <a:ext uri="{FF2B5EF4-FFF2-40B4-BE49-F238E27FC236}">
                <a16:creationId xmlns:a16="http://schemas.microsoft.com/office/drawing/2014/main" id="{21363C21-6A13-49BD-919F-5DFB1CCBCA83}"/>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548FD8C3-CF02-4489-907E-B301BF42FE0A}"/>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구버전 문서·근거 없는 질문·서로 다른 상품 조건</a:t>
            </a:r>
          </a:p>
        </p:txBody>
      </p:sp>
      <p:sp>
        <p:nvSpPr>
          <p:cNvPr id="27" name="">
            <a:extLst xmlns:a="http://schemas.openxmlformats.org/drawingml/2006/main">
              <a:ext uri="{FF2B5EF4-FFF2-40B4-BE49-F238E27FC236}">
                <a16:creationId xmlns:a16="http://schemas.microsoft.com/office/drawing/2014/main" id="{01B758BF-C668-4CED-ACF2-0F454DCACCDA}"/>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61FF6486-4C70-4AC4-8DB3-CB448C8EB3CA}"/>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 개정 후 숨긴 평가셋 재검증</a:t>
            </a:r>
          </a:p>
        </p:txBody>
      </p:sp>
      <p:sp>
        <p:nvSpPr>
          <p:cNvPr id="29" name="">
            <a:extLst xmlns:a="http://schemas.openxmlformats.org/drawingml/2006/main">
              <a:ext uri="{FF2B5EF4-FFF2-40B4-BE49-F238E27FC236}">
                <a16:creationId xmlns:a16="http://schemas.microsoft.com/office/drawing/2014/main" id="{70C51205-DA3D-4692-BB61-AE7B8F5CB60E}"/>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0BA2CFE6-7F91-4A89-9C88-E9632A79ADE8}"/>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전문가 정답셋과 오류 유형별 회귀 평가</a:t>
            </a:r>
          </a:p>
        </p:txBody>
      </p:sp>
      <p:sp>
        <p:nvSpPr>
          <p:cNvPr id="31" name="">
            <a:extLst xmlns:a="http://schemas.openxmlformats.org/drawingml/2006/main">
              <a:ext uri="{FF2B5EF4-FFF2-40B4-BE49-F238E27FC236}">
                <a16:creationId xmlns:a16="http://schemas.microsoft.com/office/drawing/2014/main" id="{422B1CC4-7CE3-4EDF-82AD-C8C9FCEE95AC}"/>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00C2CC56-4B4A-42CE-A8E1-D7F97FC86D93}"/>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전문가 정답표와 근거 정확도·보류 적정성 결과</a:t>
            </a:r>
          </a:p>
        </p:txBody>
      </p:sp>
    </p:spTree>
    <p:extLst>
      <p:ext uri="{BB962C8B-B14F-4D97-AF65-F5344CB8AC3E}">
        <p14:creationId xmlns:p14="http://schemas.microsoft.com/office/powerpoint/2010/main" val="1385718459"/>
      </p:ext>
    </p:extLst>
  </p:cSld>
</p:sld>
</file>

<file path=ppt/slides/slide4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6D97B40-C468-4BC9-A91F-6573698926A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AX09 / CCK 비교·재현 시험 설계</a:t>
            </a:r>
          </a:p>
        </p:txBody>
      </p:sp>
      <p:sp>
        <p:nvSpPr>
          <p:cNvPr id="2" name="">
            <a:extLst xmlns:a="http://schemas.openxmlformats.org/drawingml/2006/main">
              <a:ext uri="{FF2B5EF4-FFF2-40B4-BE49-F238E27FC236}">
                <a16:creationId xmlns:a16="http://schemas.microsoft.com/office/drawing/2014/main" id="{327F155F-6FF9-49F8-A0E1-3DCD75CDECD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지식지원 · 벤치마킹</a:t>
            </a:r>
          </a:p>
        </p:txBody>
      </p:sp>
      <p:sp>
        <p:nvSpPr>
          <p:cNvPr id="3" name="">
            <a:extLst xmlns:a="http://schemas.openxmlformats.org/drawingml/2006/main">
              <a:ext uri="{FF2B5EF4-FFF2-40B4-BE49-F238E27FC236}">
                <a16:creationId xmlns:a16="http://schemas.microsoft.com/office/drawing/2014/main" id="{C29DE4C3-D695-403A-B2A9-855F4547178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00BA72D-956B-4E05-9FF2-BF9DEFF2E1B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E399CD5-3BEA-4FD0-B32F-76B5A072960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43</a:t>
            </a:r>
          </a:p>
        </p:txBody>
      </p:sp>
      <p:sp>
        <p:nvSpPr>
          <p:cNvPr id="6" name="">
            <a:extLst xmlns:a="http://schemas.openxmlformats.org/drawingml/2006/main">
              <a:ext uri="{FF2B5EF4-FFF2-40B4-BE49-F238E27FC236}">
                <a16:creationId xmlns:a16="http://schemas.microsoft.com/office/drawing/2014/main" id="{90F6685A-632A-4E47-ACAC-CF58C64F43FA}"/>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1F3CF3A2-C7AF-4006-AFCD-682B0291D53D}"/>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전문가 평가셋과 지속 개선</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현업 지식을 업무 접점에서 검색</a:t>
            </a:r>
          </a:p>
        </p:txBody>
      </p:sp>
      <p:sp>
        <p:nvSpPr>
          <p:cNvPr id="8" name="">
            <a:extLst xmlns:a="http://schemas.openxmlformats.org/drawingml/2006/main">
              <a:ext uri="{FF2B5EF4-FFF2-40B4-BE49-F238E27FC236}">
                <a16:creationId xmlns:a16="http://schemas.microsoft.com/office/drawing/2014/main" id="{936393AA-68C3-4EF1-9EC4-EB459A9A5A3D}"/>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79CE6975-FDD4-411C-B1AB-F5614E06506E}"/>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활용률과 정답률의 혼동</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자료 개정에 따른 답변 품질 저하</a:t>
            </a:r>
          </a:p>
        </p:txBody>
      </p:sp>
      <p:sp>
        <p:nvSpPr>
          <p:cNvPr id="10" name="">
            <a:extLst xmlns:a="http://schemas.openxmlformats.org/drawingml/2006/main">
              <a:ext uri="{FF2B5EF4-FFF2-40B4-BE49-F238E27FC236}">
                <a16:creationId xmlns:a16="http://schemas.microsoft.com/office/drawing/2014/main" id="{B7884683-1E7A-47C7-8CE4-1F86849BB673}"/>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88BB2D91-D212-4556-95A0-648654CD4B7A}"/>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문서 개정 후 숨긴 평가셋 재검증</a:t>
            </a:r>
          </a:p>
        </p:txBody>
      </p:sp>
      <p:sp>
        <p:nvSpPr>
          <p:cNvPr id="12" name="">
            <a:extLst xmlns:a="http://schemas.openxmlformats.org/drawingml/2006/main">
              <a:ext uri="{FF2B5EF4-FFF2-40B4-BE49-F238E27FC236}">
                <a16:creationId xmlns:a16="http://schemas.microsoft.com/office/drawing/2014/main" id="{21909916-2559-4EBB-B5DA-FD215372A0D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CA2B8DA7-186B-496F-A78A-C21EF4B3EBAF}"/>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전문가가 규정 질의의 답변·인용 원문·판본을 평가</a:t>
            </a:r>
          </a:p>
        </p:txBody>
      </p:sp>
      <p:sp>
        <p:nvSpPr>
          <p:cNvPr id="14" name="">
            <a:extLst xmlns:a="http://schemas.openxmlformats.org/drawingml/2006/main">
              <a:ext uri="{FF2B5EF4-FFF2-40B4-BE49-F238E27FC236}">
                <a16:creationId xmlns:a16="http://schemas.microsoft.com/office/drawing/2014/main" id="{F4BE9805-6F28-40E3-9C4E-B8983ADB6BD5}"/>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EAAC080-B52F-4520-8947-BEEE79816108}"/>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구버전 문서·근거 없는 질문·서로 다른 상품 조건</a:t>
            </a:r>
          </a:p>
        </p:txBody>
      </p:sp>
      <p:sp>
        <p:nvSpPr>
          <p:cNvPr id="16" name="">
            <a:extLst xmlns:a="http://schemas.openxmlformats.org/drawingml/2006/main">
              <a:ext uri="{FF2B5EF4-FFF2-40B4-BE49-F238E27FC236}">
                <a16:creationId xmlns:a16="http://schemas.microsoft.com/office/drawing/2014/main" id="{889DEF8D-E0DB-4772-B8BC-4DEE01A35211}"/>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270CEBFF-9C94-46F6-9D51-C6D66843F770}"/>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전문가 정답표와 근거 정확도·보류 적정성 결과</a:t>
            </a:r>
          </a:p>
        </p:txBody>
      </p:sp>
    </p:spTree>
    <p:extLst>
      <p:ext uri="{BB962C8B-B14F-4D97-AF65-F5344CB8AC3E}">
        <p14:creationId xmlns:p14="http://schemas.microsoft.com/office/powerpoint/2010/main" val="1319714599"/>
      </p:ext>
    </p:extLst>
  </p:cSld>
</p:sld>
</file>

<file path=ppt/slides/slide4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EFEE0AE-F87F-47D9-BC9F-70BB4999E50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AX10 / 성공 / 해외</a:t>
            </a:r>
          </a:p>
        </p:txBody>
      </p:sp>
      <p:sp>
        <p:nvSpPr>
          <p:cNvPr id="2" name="">
            <a:extLst xmlns:a="http://schemas.openxmlformats.org/drawingml/2006/main">
              <a:ext uri="{FF2B5EF4-FFF2-40B4-BE49-F238E27FC236}">
                <a16:creationId xmlns:a16="http://schemas.microsoft.com/office/drawing/2014/main" id="{CA771C27-E3D8-4196-A06B-B210A0AA4D9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스키폴 Deep Turnaround</a:t>
            </a:r>
          </a:p>
        </p:txBody>
      </p:sp>
      <p:sp>
        <p:nvSpPr>
          <p:cNvPr id="3" name="">
            <a:extLst xmlns:a="http://schemas.openxmlformats.org/drawingml/2006/main">
              <a:ext uri="{FF2B5EF4-FFF2-40B4-BE49-F238E27FC236}">
                <a16:creationId xmlns:a16="http://schemas.microsoft.com/office/drawing/2014/main" id="{30E86FD2-EFF6-49F6-A5A8-8D4B3A42CA7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6DD8FBE-8BC5-4DE3-993B-67BBC44A0B5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8E259C45-84B6-407E-8216-0F7F2DA7260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44</a:t>
            </a:r>
          </a:p>
        </p:txBody>
      </p:sp>
      <p:sp>
        <p:nvSpPr>
          <p:cNvPr id="6" name="">
            <a:extLst xmlns:a="http://schemas.openxmlformats.org/drawingml/2006/main">
              <a:ext uri="{FF2B5EF4-FFF2-40B4-BE49-F238E27FC236}">
                <a16:creationId xmlns:a16="http://schemas.microsoft.com/office/drawing/2014/main" id="{B0CC8052-E9CE-45AD-BA14-9FD00464A896}"/>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52BD09EA-34C1-4B6D-964B-3FF43394678F}"/>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공항 지상조업의 진행 상태를 영상으로 파악하고 항공사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·조업사·공항이 공유하는 사례. 서로 다른 담당자가 같은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항공편의 준비 상태를 확인하도록 하는 협업 변화.</a:t>
            </a:r>
          </a:p>
        </p:txBody>
      </p:sp>
      <p:sp>
        <p:nvSpPr>
          <p:cNvPr id="8" name="">
            <a:extLst xmlns:a="http://schemas.openxmlformats.org/drawingml/2006/main">
              <a:ext uri="{FF2B5EF4-FFF2-40B4-BE49-F238E27FC236}">
                <a16:creationId xmlns:a16="http://schemas.microsoft.com/office/drawing/2014/main" id="{4AD52BA9-9FB7-4091-97AB-ACA9924509E6}"/>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5E4C51C6-28FD-421A-930A-669AA804779D}"/>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카메라 관측을 항공편·주기장·시각과 연결하고 조업 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벤트와 상태를 대시보드·API로 전달하는 구조의 재구성.</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관측된 상태, 지연 추정, 실제 조업 조치를 별도 기록으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로 관리.</a:t>
            </a:r>
          </a:p>
        </p:txBody>
      </p:sp>
      <p:sp>
        <p:nvSpPr>
          <p:cNvPr id="10" name="">
            <a:extLst xmlns:a="http://schemas.openxmlformats.org/drawingml/2006/main">
              <a:ext uri="{FF2B5EF4-FFF2-40B4-BE49-F238E27FC236}">
                <a16:creationId xmlns:a16="http://schemas.microsoft.com/office/drawing/2014/main" id="{2CBD1BCD-ED17-4045-A77C-C35D1BCBDE31}"/>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9D21F722-97A5-496E-AE2E-F0F96948A42C}"/>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현장 모니터링에 적용할 경우 야간·가림·날씨·카메라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위치별 편차를 평가할 필요. 탐지 정확도뿐 아니라 담당자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가 확인한 시점, 조정 조치, 누락 이벤트의 복구까지 비교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할 대상.</a:t>
            </a:r>
          </a:p>
        </p:txBody>
      </p:sp>
      <p:sp>
        <p:nvSpPr>
          <p:cNvPr id="12" name="">
            <a:extLst xmlns:a="http://schemas.openxmlformats.org/drawingml/2006/main">
              <a:ext uri="{FF2B5EF4-FFF2-40B4-BE49-F238E27FC236}">
                <a16:creationId xmlns:a16="http://schemas.microsoft.com/office/drawing/2014/main" id="{D69836E0-C2C9-4C6A-8AA2-B2384E39AF23}"/>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40A60170-FEE7-45E5-8710-F1A48C154FE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사건 분류·증거 시각·협업 인계</a:t>
            </a:r>
          </a:p>
        </p:txBody>
      </p:sp>
      <p:sp>
        <p:nvSpPr>
          <p:cNvPr id="14" name="">
            <a:extLst xmlns:a="http://schemas.openxmlformats.org/drawingml/2006/main">
              <a:ext uri="{FF2B5EF4-FFF2-40B4-BE49-F238E27FC236}">
                <a16:creationId xmlns:a16="http://schemas.microsoft.com/office/drawing/2014/main" id="{A74BF3CC-9BE5-4839-9B60-F3B3DF21EA41}"/>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9A5E6E4C-F8D9-490F-86B3-834024C674A6}"/>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지연·중복 이벤트와 원영상 대조</a:t>
            </a:r>
          </a:p>
        </p:txBody>
      </p:sp>
      <p:sp>
        <p:nvSpPr>
          <p:cNvPr id="16" name="">
            <a:extLst xmlns:a="http://schemas.openxmlformats.org/drawingml/2006/main">
              <a:ext uri="{FF2B5EF4-FFF2-40B4-BE49-F238E27FC236}">
                <a16:creationId xmlns:a16="http://schemas.microsoft.com/office/drawing/2014/main" id="{50A8052E-C8F0-42C5-81EA-A02540A93E98}"/>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3A9C3FCF-84F7-47EC-9637-117010DB3DC8}"/>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상황 확인시간 / 인계 누락률</a:t>
            </a:r>
          </a:p>
        </p:txBody>
      </p:sp>
      <p:sp>
        <p:nvSpPr>
          <p:cNvPr id="18" name="">
            <a:extLst xmlns:a="http://schemas.openxmlformats.org/drawingml/2006/main">
              <a:ext uri="{FF2B5EF4-FFF2-40B4-BE49-F238E27FC236}">
                <a16:creationId xmlns:a16="http://schemas.microsoft.com/office/drawing/2014/main" id="{485E7B1B-C4BB-4454-9424-7FF2FA53C3E9}"/>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운영기관 발표 · TS 감독 업무와 공항 조업 운영의 역할 차이</a:t>
            </a:r>
          </a:p>
        </p:txBody>
      </p:sp>
    </p:spTree>
    <p:extLst>
      <p:ext uri="{BB962C8B-B14F-4D97-AF65-F5344CB8AC3E}">
        <p14:creationId xmlns:p14="http://schemas.microsoft.com/office/powerpoint/2010/main" val="1574622851"/>
      </p:ext>
    </p:extLst>
  </p:cSld>
</p:sld>
</file>

<file path=ppt/slides/slide4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E74A82AF-120C-464C-9823-9B27EB613934}"/>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51E4D47D-AD35-4A67-95F0-B4206C31C66B}"/>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CFA6D462-F1B2-4154-860D-63806CDCF7E8}"/>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7BDCFEF3-A7FA-4027-AC6A-B115839664AE}"/>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24F3E891-BF09-429A-99A0-42DBF3341CBE}"/>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EED209D6-3FF2-4159-B531-C7DBFA6967D1}"/>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13DC53E3-7F29-46EA-8E43-A20003DEF3E6}"/>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C41A7864-DD16-4621-8AD9-406BD05BE208}"/>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A9EE57AC-3586-47F1-A466-287DE3123A51}"/>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6EFFD8B6-ED7D-451A-8960-E5A54BB42B54}"/>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9FEDADE6-4292-4A2E-A804-5B38ECF1EDC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AX10 / 관측·안전 판정·현장 조치·환류</a:t>
            </a:r>
          </a:p>
        </p:txBody>
      </p:sp>
      <p:sp>
        <p:nvSpPr>
          <p:cNvPr id="2" name="">
            <a:extLst xmlns:a="http://schemas.openxmlformats.org/drawingml/2006/main">
              <a:ext uri="{FF2B5EF4-FFF2-40B4-BE49-F238E27FC236}">
                <a16:creationId xmlns:a16="http://schemas.microsoft.com/office/drawing/2014/main" id="{189C4B71-D2CE-4E42-86F1-2E478EA0611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스키폴 Deep Turnaround · 세부 서비스 구조</a:t>
            </a:r>
          </a:p>
        </p:txBody>
      </p:sp>
      <p:sp>
        <p:nvSpPr>
          <p:cNvPr id="3" name="">
            <a:extLst xmlns:a="http://schemas.openxmlformats.org/drawingml/2006/main">
              <a:ext uri="{FF2B5EF4-FFF2-40B4-BE49-F238E27FC236}">
                <a16:creationId xmlns:a16="http://schemas.microsoft.com/office/drawing/2014/main" id="{D5691CCF-F089-4D03-B75B-B7A4C27C337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4AFEDAA-BC05-4FBD-80C9-03042985CC5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1A6FBB6-054F-4180-8462-AAAC075EEC8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45</a:t>
            </a:r>
          </a:p>
        </p:txBody>
      </p:sp>
      <p:sp>
        <p:nvSpPr>
          <p:cNvPr id="6" name="">
            <a:extLst xmlns:a="http://schemas.openxmlformats.org/drawingml/2006/main">
              <a:ext uri="{FF2B5EF4-FFF2-40B4-BE49-F238E27FC236}">
                <a16:creationId xmlns:a16="http://schemas.microsoft.com/office/drawing/2014/main" id="{82779C42-0D10-4A40-8C29-18309AED33F6}"/>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카메라 영상 → 조업 상태 인식 → 대시보드·API → 담당자 조정</a:t>
            </a:r>
          </a:p>
        </p:txBody>
      </p:sp>
      <p:sp>
        <p:nvSpPr>
          <p:cNvPr id="7" name="">
            <a:extLst xmlns:a="http://schemas.openxmlformats.org/drawingml/2006/main">
              <a:ext uri="{FF2B5EF4-FFF2-40B4-BE49-F238E27FC236}">
                <a16:creationId xmlns:a16="http://schemas.microsoft.com/office/drawing/2014/main" id="{5A9ABEBC-77C5-4D23-9CAA-C1B12D798F80}"/>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689000B1-6B0C-4180-924D-450A39A44726}"/>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D2ED17CF-0225-4F93-A9CB-20DC9CB3197B}"/>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계류장 영상</a:t>
            </a:r>
          </a:p>
        </p:txBody>
      </p:sp>
      <p:sp>
        <p:nvSpPr>
          <p:cNvPr id="10" name="">
            <a:extLst xmlns:a="http://schemas.openxmlformats.org/drawingml/2006/main">
              <a:ext uri="{FF2B5EF4-FFF2-40B4-BE49-F238E27FC236}">
                <a16:creationId xmlns:a16="http://schemas.microsoft.com/office/drawing/2014/main" id="{210C5D61-E4EC-4E84-8AB0-2B34ACBFC36E}"/>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37187334-0BD6-4836-9E5B-BFFECDD1D075}"/>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B857F26D-5B62-42A8-9E75-D6EA4859D063}"/>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영상·항공편 매핑</a:t>
            </a:r>
          </a:p>
        </p:txBody>
      </p:sp>
      <p:sp>
        <p:nvSpPr>
          <p:cNvPr id="13" name="">
            <a:extLst xmlns:a="http://schemas.openxmlformats.org/drawingml/2006/main">
              <a:ext uri="{FF2B5EF4-FFF2-40B4-BE49-F238E27FC236}">
                <a16:creationId xmlns:a16="http://schemas.microsoft.com/office/drawing/2014/main" id="{4CE74F34-94BF-43BB-820D-1980A73E624C}"/>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20115FF8-4141-43F9-AF94-496765DF1341}"/>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9D7A048E-4808-451E-9216-01C1CEC39C39}"/>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조업 이벤트 인식</a:t>
            </a:r>
          </a:p>
        </p:txBody>
      </p:sp>
      <p:sp>
        <p:nvSpPr>
          <p:cNvPr id="16" name="">
            <a:extLst xmlns:a="http://schemas.openxmlformats.org/drawingml/2006/main">
              <a:ext uri="{FF2B5EF4-FFF2-40B4-BE49-F238E27FC236}">
                <a16:creationId xmlns:a16="http://schemas.microsoft.com/office/drawing/2014/main" id="{2B9D455A-F471-4FB3-95A2-57D6D3F62120}"/>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C29A9CF7-7DE5-4C52-B0B2-8F3D89D8D756}"/>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0898C5D7-FEAB-4ABB-A1A3-BA8F9DE82838}"/>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시각·누락 대조</a:t>
            </a:r>
          </a:p>
        </p:txBody>
      </p:sp>
      <p:sp>
        <p:nvSpPr>
          <p:cNvPr id="19" name="">
            <a:extLst xmlns:a="http://schemas.openxmlformats.org/drawingml/2006/main">
              <a:ext uri="{FF2B5EF4-FFF2-40B4-BE49-F238E27FC236}">
                <a16:creationId xmlns:a16="http://schemas.microsoft.com/office/drawing/2014/main" id="{BC7DF42F-2B98-44E7-862D-95001A9A24FE}"/>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0D7F29C0-7BF5-473C-A477-3D3C60CE13E3}"/>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BD26A578-6810-4829-A422-2D1EC1BC6DE0}"/>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상황판·API 공유</a:t>
            </a:r>
          </a:p>
        </p:txBody>
      </p:sp>
      <p:sp>
        <p:nvSpPr>
          <p:cNvPr id="22" name="">
            <a:extLst xmlns:a="http://schemas.openxmlformats.org/drawingml/2006/main">
              <a:ext uri="{FF2B5EF4-FFF2-40B4-BE49-F238E27FC236}">
                <a16:creationId xmlns:a16="http://schemas.microsoft.com/office/drawing/2014/main" id="{517F8613-C441-4026-877C-9C5FE4C1799A}"/>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011CB5EB-6FA7-40F3-A847-DAF5D0FEF228}"/>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E2283A1C-4BAF-4BF0-A9B3-A86A8B45CA3C}"/>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항공편·주기장</a:t>
            </a:r>
          </a:p>
        </p:txBody>
      </p:sp>
      <p:sp>
        <p:nvSpPr>
          <p:cNvPr id="25" name="">
            <a:extLst xmlns:a="http://schemas.openxmlformats.org/drawingml/2006/main">
              <a:ext uri="{FF2B5EF4-FFF2-40B4-BE49-F238E27FC236}">
                <a16:creationId xmlns:a16="http://schemas.microsoft.com/office/drawing/2014/main" id="{C69CDE55-268C-4377-9351-8ACE8405DF29}"/>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5ECF683B-B117-41A7-AA86-AD97D3785821}"/>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128DCCB1-A3CF-456F-AC74-8AE77A4F4FCF}"/>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프레임·일정 조회</a:t>
            </a:r>
          </a:p>
        </p:txBody>
      </p:sp>
      <p:sp>
        <p:nvSpPr>
          <p:cNvPr id="28" name="">
            <a:extLst xmlns:a="http://schemas.openxmlformats.org/drawingml/2006/main">
              <a:ext uri="{FF2B5EF4-FFF2-40B4-BE49-F238E27FC236}">
                <a16:creationId xmlns:a16="http://schemas.microsoft.com/office/drawing/2014/main" id="{9AEC4D9A-57D8-41F6-B7F0-591AC38560AB}"/>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7EC6B113-201D-4D9D-B441-041F010B0220}"/>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8E2114B6-629E-472C-A4A4-711221EEAEF8}"/>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영상·협업 권한</a:t>
            </a:r>
          </a:p>
        </p:txBody>
      </p:sp>
      <p:sp>
        <p:nvSpPr>
          <p:cNvPr id="31" name="">
            <a:extLst xmlns:a="http://schemas.openxmlformats.org/drawingml/2006/main">
              <a:ext uri="{FF2B5EF4-FFF2-40B4-BE49-F238E27FC236}">
                <a16:creationId xmlns:a16="http://schemas.microsoft.com/office/drawing/2014/main" id="{1132D338-1477-4164-B6F8-BCD5293FC79C}"/>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CAB119BE-F939-4624-A86C-FC50B013F254}"/>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DD0783A5-E8F4-4BA7-B03A-DD1D5D25446F}"/>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조업 담당 확인</a:t>
            </a:r>
          </a:p>
        </p:txBody>
      </p:sp>
      <p:sp>
        <p:nvSpPr>
          <p:cNvPr id="34" name="">
            <a:extLst xmlns:a="http://schemas.openxmlformats.org/drawingml/2006/main">
              <a:ext uri="{FF2B5EF4-FFF2-40B4-BE49-F238E27FC236}">
                <a16:creationId xmlns:a16="http://schemas.microsoft.com/office/drawing/2014/main" id="{A70ED005-2234-47AF-A3FF-1EAE5A7EC5D2}"/>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CA39DF29-1DBA-46FF-AD64-EC5841C963CD}"/>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E532C328-8330-4D94-8C7D-A9BCB2DFC2EF}"/>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지연·현장 결과</a:t>
            </a:r>
          </a:p>
        </p:txBody>
      </p:sp>
      <p:sp>
        <p:nvSpPr>
          <p:cNvPr id="47" name="">
            <a:extLst xmlns:a="http://schemas.openxmlformats.org/drawingml/2006/main">
              <a:ext uri="{FF2B5EF4-FFF2-40B4-BE49-F238E27FC236}">
                <a16:creationId xmlns:a16="http://schemas.microsoft.com/office/drawing/2014/main" id="{7C8D8EEE-0753-4ECE-817F-A213F03939FE}"/>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748237951"/>
      </p:ext>
    </p:extLst>
  </p:cSld>
</p:sld>
</file>

<file path=ppt/slides/slide4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369E10E-EA42-493C-AC80-4F9BE904155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AX10 / 논리 인터페이스·복구 설계</a:t>
            </a:r>
          </a:p>
        </p:txBody>
      </p:sp>
      <p:sp>
        <p:nvSpPr>
          <p:cNvPr id="2" name="">
            <a:extLst xmlns:a="http://schemas.openxmlformats.org/drawingml/2006/main">
              <a:ext uri="{FF2B5EF4-FFF2-40B4-BE49-F238E27FC236}">
                <a16:creationId xmlns:a16="http://schemas.microsoft.com/office/drawing/2014/main" id="{446EA9AD-260D-40F6-AABB-FC24B5A64D0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스키폴 Deep Turnaround · 데이터와 예외 처리</a:t>
            </a:r>
          </a:p>
        </p:txBody>
      </p:sp>
      <p:sp>
        <p:nvSpPr>
          <p:cNvPr id="3" name="">
            <a:extLst xmlns:a="http://schemas.openxmlformats.org/drawingml/2006/main">
              <a:ext uri="{FF2B5EF4-FFF2-40B4-BE49-F238E27FC236}">
                <a16:creationId xmlns:a16="http://schemas.microsoft.com/office/drawing/2014/main" id="{40404C24-1194-4623-B2E6-F6992B681AC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45FB4E7-F440-4D24-8273-4E4815A215C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FB23A3F-BF97-4170-BC18-C241F16D3A6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46</a:t>
            </a:r>
          </a:p>
        </p:txBody>
      </p:sp>
      <p:sp>
        <p:nvSpPr>
          <p:cNvPr id="6" name="">
            <a:extLst xmlns:a="http://schemas.openxmlformats.org/drawingml/2006/main">
              <a:ext uri="{FF2B5EF4-FFF2-40B4-BE49-F238E27FC236}">
                <a16:creationId xmlns:a16="http://schemas.microsoft.com/office/drawing/2014/main" id="{6205D773-FD74-483B-A90C-A38EBD1FA9D6}"/>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639D7771-8E35-4541-81D8-4519E6F10268}"/>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1AC927D9-651B-4787-BDD2-9E2360DB1114}"/>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B9597FCC-5757-4589-B5FE-BBD3B4D6D4FD}"/>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시간별 조업 상태</a:t>
            </a:r>
          </a:p>
        </p:txBody>
      </p:sp>
      <p:sp>
        <p:nvSpPr>
          <p:cNvPr id="10" name="">
            <a:extLst xmlns:a="http://schemas.openxmlformats.org/drawingml/2006/main">
              <a:ext uri="{FF2B5EF4-FFF2-40B4-BE49-F238E27FC236}">
                <a16:creationId xmlns:a16="http://schemas.microsoft.com/office/drawing/2014/main" id="{A378EE8F-DB16-4D0B-BC10-763B3CCA7457}"/>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CA8B67B-ADAD-4105-9EAE-97C3AD75A492}"/>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39A99FA3-8F6D-4704-B952-B005BEEE4221}"/>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74B6E70E-C51E-4207-A004-D9E7F76B43EB}"/>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AC5C1A3-3BA8-43F5-B0E3-DDB006198D79}"/>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466C2E17-3411-4722-ADC2-37D3823039E1}"/>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대시보드·API 상태</a:t>
            </a:r>
          </a:p>
        </p:txBody>
      </p:sp>
      <p:sp>
        <p:nvSpPr>
          <p:cNvPr id="16" name="">
            <a:extLst xmlns:a="http://schemas.openxmlformats.org/drawingml/2006/main">
              <a:ext uri="{FF2B5EF4-FFF2-40B4-BE49-F238E27FC236}">
                <a16:creationId xmlns:a16="http://schemas.microsoft.com/office/drawing/2014/main" id="{1066571A-5B1E-4269-85B2-E9586E0EB86E}"/>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E97448C-D8AC-488D-B965-A412D998F284}"/>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8E005702-FE69-4D74-B9B1-CA3BD7C4C509}"/>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영상·협업 권한</a:t>
            </a:r>
          </a:p>
        </p:txBody>
      </p:sp>
      <p:sp>
        <p:nvSpPr>
          <p:cNvPr id="19" name="">
            <a:extLst xmlns:a="http://schemas.openxmlformats.org/drawingml/2006/main">
              <a:ext uri="{FF2B5EF4-FFF2-40B4-BE49-F238E27FC236}">
                <a16:creationId xmlns:a16="http://schemas.microsoft.com/office/drawing/2014/main" id="{226D1F97-73A0-4D36-94A7-5ACE12B25A39}"/>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43AB0F4-51D9-4A55-BEB0-5A580DA760D1}"/>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E6CE5EED-7A9E-42A8-91B6-C3DCA0E77761}"/>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조업 조정</a:t>
            </a:r>
          </a:p>
        </p:txBody>
      </p:sp>
      <p:sp>
        <p:nvSpPr>
          <p:cNvPr id="22" name="">
            <a:extLst xmlns:a="http://schemas.openxmlformats.org/drawingml/2006/main">
              <a:ext uri="{FF2B5EF4-FFF2-40B4-BE49-F238E27FC236}">
                <a16:creationId xmlns:a16="http://schemas.microsoft.com/office/drawing/2014/main" id="{543E799D-D646-4C8E-94B5-0827E43ADABB}"/>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59D663A-D52B-453D-81F0-497FA9362A4E}"/>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B419FF6C-1FF3-4D35-8049-31A8F630BEEA}"/>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누락 이벤트와 실제 이륙 준비상태 대조</a:t>
            </a:r>
          </a:p>
        </p:txBody>
      </p:sp>
      <p:sp>
        <p:nvSpPr>
          <p:cNvPr id="25" name="">
            <a:extLst xmlns:a="http://schemas.openxmlformats.org/drawingml/2006/main">
              <a:ext uri="{FF2B5EF4-FFF2-40B4-BE49-F238E27FC236}">
                <a16:creationId xmlns:a16="http://schemas.microsoft.com/office/drawing/2014/main" id="{0E15CE5A-713D-47F5-99A9-AEA1B3B20734}"/>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F9623E89-559B-4A3A-8575-5A456AD6764D}"/>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카메라 가림·항공편 변경·이벤트 순서 역전</a:t>
            </a:r>
          </a:p>
        </p:txBody>
      </p:sp>
      <p:sp>
        <p:nvSpPr>
          <p:cNvPr id="27" name="">
            <a:extLst xmlns:a="http://schemas.openxmlformats.org/drawingml/2006/main">
              <a:ext uri="{FF2B5EF4-FFF2-40B4-BE49-F238E27FC236}">
                <a16:creationId xmlns:a16="http://schemas.microsoft.com/office/drawing/2014/main" id="{CE925513-601A-4666-8AF7-A474C06D244C}"/>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76554E28-4BE4-41DD-8C63-FE565871B79E}"/>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기준 이벤트와 탐지 시각 대조</a:t>
            </a:r>
          </a:p>
        </p:txBody>
      </p:sp>
      <p:sp>
        <p:nvSpPr>
          <p:cNvPr id="29" name="">
            <a:extLst xmlns:a="http://schemas.openxmlformats.org/drawingml/2006/main">
              <a:ext uri="{FF2B5EF4-FFF2-40B4-BE49-F238E27FC236}">
                <a16:creationId xmlns:a16="http://schemas.microsoft.com/office/drawing/2014/main" id="{D505497F-4E59-4E10-8198-2711F4334CD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B5685C61-FA10-45F6-BF13-FBBA1D32A07F}"/>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 이벤트와 실제 이륙 준비상태 대조</a:t>
            </a:r>
          </a:p>
        </p:txBody>
      </p:sp>
      <p:sp>
        <p:nvSpPr>
          <p:cNvPr id="31" name="">
            <a:extLst xmlns:a="http://schemas.openxmlformats.org/drawingml/2006/main">
              <a:ext uri="{FF2B5EF4-FFF2-40B4-BE49-F238E27FC236}">
                <a16:creationId xmlns:a16="http://schemas.microsoft.com/office/drawing/2014/main" id="{6F70EADB-9A11-4207-9AD1-F37FF2A97FEE}"/>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DDA320C-CD6A-4400-9C07-EF5CF2453E60}"/>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영상 시각 대비 상태 전이표와 담당자 확인 기록</a:t>
            </a:r>
          </a:p>
        </p:txBody>
      </p:sp>
    </p:spTree>
    <p:extLst>
      <p:ext uri="{BB962C8B-B14F-4D97-AF65-F5344CB8AC3E}">
        <p14:creationId xmlns:p14="http://schemas.microsoft.com/office/powerpoint/2010/main" val="1947416585"/>
      </p:ext>
    </p:extLst>
  </p:cSld>
</p:sld>
</file>

<file path=ppt/slides/slide4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64FD108-B76E-4532-B705-36A01B1DD78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AX10 / CCK 비교·재현 시험 설계</a:t>
            </a:r>
          </a:p>
        </p:txBody>
      </p:sp>
      <p:sp>
        <p:nvSpPr>
          <p:cNvPr id="2" name="">
            <a:extLst xmlns:a="http://schemas.openxmlformats.org/drawingml/2006/main">
              <a:ext uri="{FF2B5EF4-FFF2-40B4-BE49-F238E27FC236}">
                <a16:creationId xmlns:a16="http://schemas.microsoft.com/office/drawing/2014/main" id="{1BDFE72B-19AE-44F6-A9DC-FA4AF7B33A4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스키폴 Deep Turnaround · 벤치마킹</a:t>
            </a:r>
          </a:p>
        </p:txBody>
      </p:sp>
      <p:sp>
        <p:nvSpPr>
          <p:cNvPr id="3" name="">
            <a:extLst xmlns:a="http://schemas.openxmlformats.org/drawingml/2006/main">
              <a:ext uri="{FF2B5EF4-FFF2-40B4-BE49-F238E27FC236}">
                <a16:creationId xmlns:a16="http://schemas.microsoft.com/office/drawing/2014/main" id="{BB6154C2-CD11-4415-9BA4-CCEC0504992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AA70AA0-CB7C-4B36-81C0-B73B6D9FD61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6B3BFD9-7684-45B2-9C03-6A54E54FD3A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47</a:t>
            </a:r>
          </a:p>
        </p:txBody>
      </p:sp>
      <p:sp>
        <p:nvSpPr>
          <p:cNvPr id="6" name="">
            <a:extLst xmlns:a="http://schemas.openxmlformats.org/drawingml/2006/main">
              <a:ext uri="{FF2B5EF4-FFF2-40B4-BE49-F238E27FC236}">
                <a16:creationId xmlns:a16="http://schemas.microsoft.com/office/drawing/2014/main" id="{421E3661-47DA-48E7-8B86-5EA64C194A0D}"/>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4A0CBBB8-5B5C-4730-9045-E6BEF41F372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조업 상태의 공유</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영상 관측과 실제 현장 조정 연결</a:t>
            </a:r>
          </a:p>
        </p:txBody>
      </p:sp>
      <p:sp>
        <p:nvSpPr>
          <p:cNvPr id="8" name="">
            <a:extLst xmlns:a="http://schemas.openxmlformats.org/drawingml/2006/main">
              <a:ext uri="{FF2B5EF4-FFF2-40B4-BE49-F238E27FC236}">
                <a16:creationId xmlns:a16="http://schemas.microsoft.com/office/drawing/2014/main" id="{407AE359-B397-4241-93C5-2BA66AF7BED4}"/>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5981CA7E-7F35-4E53-8F2F-135BDE35D95C}"/>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가림·야간·날씨에 따른 인식 편차</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상태 추정과 안전 판단의 혼동</a:t>
            </a:r>
          </a:p>
        </p:txBody>
      </p:sp>
      <p:sp>
        <p:nvSpPr>
          <p:cNvPr id="10" name="">
            <a:extLst xmlns:a="http://schemas.openxmlformats.org/drawingml/2006/main">
              <a:ext uri="{FF2B5EF4-FFF2-40B4-BE49-F238E27FC236}">
                <a16:creationId xmlns:a16="http://schemas.microsoft.com/office/drawing/2014/main" id="{D81373B7-B2AE-49B4-A3BB-F1F231F43972}"/>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D92315AC-888C-4C4A-B61A-5607CF3A6199}"/>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현장 기준 이벤트와 탐지 시각 대조</a:t>
            </a:r>
          </a:p>
        </p:txBody>
      </p:sp>
      <p:sp>
        <p:nvSpPr>
          <p:cNvPr id="12" name="">
            <a:extLst xmlns:a="http://schemas.openxmlformats.org/drawingml/2006/main">
              <a:ext uri="{FF2B5EF4-FFF2-40B4-BE49-F238E27FC236}">
                <a16:creationId xmlns:a16="http://schemas.microsoft.com/office/drawing/2014/main" id="{227D21C6-D619-4221-AF52-1C2256012EB9}"/>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87C2CDA-050C-49D0-BD56-B086CEBB27AD}"/>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항공편별 지상조업 단계와 지연 후보를 공동 확인</a:t>
            </a:r>
          </a:p>
        </p:txBody>
      </p:sp>
      <p:sp>
        <p:nvSpPr>
          <p:cNvPr id="14" name="">
            <a:extLst xmlns:a="http://schemas.openxmlformats.org/drawingml/2006/main">
              <a:ext uri="{FF2B5EF4-FFF2-40B4-BE49-F238E27FC236}">
                <a16:creationId xmlns:a16="http://schemas.microsoft.com/office/drawing/2014/main" id="{F57774D1-F77D-4398-A4C5-DF1BEAEAFE05}"/>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07F1A411-1D87-49B5-B764-0F180D3CC861}"/>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카메라 가림·항공편 변경·이벤트 순서 역전</a:t>
            </a:r>
          </a:p>
        </p:txBody>
      </p:sp>
      <p:sp>
        <p:nvSpPr>
          <p:cNvPr id="16" name="">
            <a:extLst xmlns:a="http://schemas.openxmlformats.org/drawingml/2006/main">
              <a:ext uri="{FF2B5EF4-FFF2-40B4-BE49-F238E27FC236}">
                <a16:creationId xmlns:a16="http://schemas.microsoft.com/office/drawing/2014/main" id="{334E5516-07B2-4957-9EDF-77BDDBE71B55}"/>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637ABE7E-0261-4CC7-8AF6-9F77651C2EC2}"/>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영상 시각 대비 상태 전이표와 담당자 확인 기록</a:t>
            </a:r>
          </a:p>
        </p:txBody>
      </p:sp>
    </p:spTree>
    <p:extLst>
      <p:ext uri="{BB962C8B-B14F-4D97-AF65-F5344CB8AC3E}">
        <p14:creationId xmlns:p14="http://schemas.microsoft.com/office/powerpoint/2010/main" val="1981266524"/>
      </p:ext>
    </p:extLst>
  </p:cSld>
</p:sld>
</file>

<file path=ppt/slides/slide4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308FD38-422E-4BB2-B60A-AAD6F28EAB5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AX11 / 성공 / 해외</a:t>
            </a:r>
          </a:p>
        </p:txBody>
      </p:sp>
      <p:sp>
        <p:nvSpPr>
          <p:cNvPr id="2" name="">
            <a:extLst xmlns:a="http://schemas.openxmlformats.org/drawingml/2006/main">
              <a:ext uri="{FF2B5EF4-FFF2-40B4-BE49-F238E27FC236}">
                <a16:creationId xmlns:a16="http://schemas.microsoft.com/office/drawing/2014/main" id="{A09D79AC-A2A4-48C8-9C6C-44E65602808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Green Light</a:t>
            </a:r>
          </a:p>
        </p:txBody>
      </p:sp>
      <p:sp>
        <p:nvSpPr>
          <p:cNvPr id="3" name="">
            <a:extLst xmlns:a="http://schemas.openxmlformats.org/drawingml/2006/main">
              <a:ext uri="{FF2B5EF4-FFF2-40B4-BE49-F238E27FC236}">
                <a16:creationId xmlns:a16="http://schemas.microsoft.com/office/drawing/2014/main" id="{CF3FC6C9-0464-4EB7-B340-54096A71424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6541BEB-23B0-4B3F-A4A5-EEDF786BB24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E4C3DA1-5BDE-4AC6-8941-EAEB7B26470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48</a:t>
            </a:r>
          </a:p>
        </p:txBody>
      </p:sp>
      <p:sp>
        <p:nvSpPr>
          <p:cNvPr id="6" name="">
            <a:extLst xmlns:a="http://schemas.openxmlformats.org/drawingml/2006/main">
              <a:ext uri="{FF2B5EF4-FFF2-40B4-BE49-F238E27FC236}">
                <a16:creationId xmlns:a16="http://schemas.microsoft.com/office/drawing/2014/main" id="{22F55ADA-3DA2-4A96-AE8D-5F70A71C7CD1}"/>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153F656B-FA77-4594-B1FF-A814E30393BD}"/>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도시 교통 흐름을 분석해 신호 운영 개선안을 기술자에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게 제공하는 사례. AI가 모든 교차로 신호를 직접 제어하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방식으로 일반화하기보다 권고와 현장 적용의 연결에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주목.</a:t>
            </a:r>
          </a:p>
        </p:txBody>
      </p:sp>
      <p:sp>
        <p:nvSpPr>
          <p:cNvPr id="8" name="">
            <a:extLst xmlns:a="http://schemas.openxmlformats.org/drawingml/2006/main">
              <a:ext uri="{FF2B5EF4-FFF2-40B4-BE49-F238E27FC236}">
                <a16:creationId xmlns:a16="http://schemas.microsoft.com/office/drawing/2014/main" id="{72E29B99-17D0-48F9-B3D4-B19EBD387645}"/>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D685E9C2-0370-47C7-94A0-FB91226D9678}"/>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교차로·시간대별 흐름에서 정체·정지 패턴을 찾고 신호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조정 후보를 만드는 흐름. 지역 교통기술자가 보행자·긴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급차량·현장 제약을 확인한 뒤 운영계획에 반영하는 CC</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K 적용 구조.</a:t>
            </a:r>
          </a:p>
        </p:txBody>
      </p:sp>
      <p:sp>
        <p:nvSpPr>
          <p:cNvPr id="10" name="">
            <a:extLst xmlns:a="http://schemas.openxmlformats.org/drawingml/2006/main">
              <a:ext uri="{FF2B5EF4-FFF2-40B4-BE49-F238E27FC236}">
                <a16:creationId xmlns:a16="http://schemas.microsoft.com/office/drawing/2014/main" id="{994D2F25-A550-43F8-BF58-0E42440FD3F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68760792-3129-4088-B78C-E5B5DB9A7ACB}"/>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관측 교차로의 결과를 다른 지역 성과로 그대로 환산하지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않는 비교. 변경 전후 교통지표, 안전 제약 위반, 권고 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택 여부와 실제 운영 반영시간을 함께 검수할 필요.</a:t>
            </a:r>
          </a:p>
        </p:txBody>
      </p:sp>
      <p:sp>
        <p:nvSpPr>
          <p:cNvPr id="12" name="">
            <a:extLst xmlns:a="http://schemas.openxmlformats.org/drawingml/2006/main">
              <a:ext uri="{FF2B5EF4-FFF2-40B4-BE49-F238E27FC236}">
                <a16:creationId xmlns:a16="http://schemas.microsoft.com/office/drawing/2014/main" id="{3C7A7E8C-4969-4004-A730-DABE8EA77151}"/>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0A55935A-36D1-48E8-9EE5-5346591537A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지역·교차로·관할·개선 전후 지표 연결</a:t>
            </a:r>
          </a:p>
        </p:txBody>
      </p:sp>
      <p:sp>
        <p:nvSpPr>
          <p:cNvPr id="14" name="">
            <a:extLst xmlns:a="http://schemas.openxmlformats.org/drawingml/2006/main">
              <a:ext uri="{FF2B5EF4-FFF2-40B4-BE49-F238E27FC236}">
                <a16:creationId xmlns:a16="http://schemas.microsoft.com/office/drawing/2014/main" id="{F944C447-9010-446B-9B80-C0EAF34B5261}"/>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065FA038-3216-48CC-B05D-75E7EFDA5CC5}"/>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시간대·교통량 비교와 담당자 승인 확인</a:t>
            </a:r>
          </a:p>
        </p:txBody>
      </p:sp>
      <p:sp>
        <p:nvSpPr>
          <p:cNvPr id="16" name="">
            <a:extLst xmlns:a="http://schemas.openxmlformats.org/drawingml/2006/main">
              <a:ext uri="{FF2B5EF4-FFF2-40B4-BE49-F238E27FC236}">
                <a16:creationId xmlns:a16="http://schemas.microsoft.com/office/drawing/2014/main" id="{D1672D2A-3F3F-4E4E-9975-B2E5AF150FDF}"/>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2239D690-F072-415F-9824-873FA3823121}"/>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정체·대기 지표 / 권고 채택률</a:t>
            </a:r>
          </a:p>
        </p:txBody>
      </p:sp>
      <p:sp>
        <p:nvSpPr>
          <p:cNvPr id="18" name="">
            <a:extLst xmlns:a="http://schemas.openxmlformats.org/drawingml/2006/main">
              <a:ext uri="{FF2B5EF4-FFF2-40B4-BE49-F238E27FC236}">
                <a16:creationId xmlns:a16="http://schemas.microsoft.com/office/drawing/2014/main" id="{19480003-B878-48B4-9CF1-475C1DD0327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도시별 효과 차이 · 신호 변경 권한은 운영기관 소관</a:t>
            </a:r>
          </a:p>
        </p:txBody>
      </p:sp>
    </p:spTree>
    <p:extLst>
      <p:ext uri="{BB962C8B-B14F-4D97-AF65-F5344CB8AC3E}">
        <p14:creationId xmlns:p14="http://schemas.microsoft.com/office/powerpoint/2010/main" val="506920504"/>
      </p:ext>
    </p:extLst>
  </p:cSld>
</p:sld>
</file>

<file path=ppt/slides/slide4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38" name="">
            <a:extLst xmlns:a="http://schemas.openxmlformats.org/drawingml/2006/main">
              <a:ext uri="{FF2B5EF4-FFF2-40B4-BE49-F238E27FC236}">
                <a16:creationId xmlns:a16="http://schemas.microsoft.com/office/drawing/2014/main" id="{518A1D7E-1A84-4297-B2B1-38D47D927BD2}"/>
              </a:ext>
            </a:extLst>
          </p:cNvPr>
          <p:cNvCxnSpPr>
            <a:stCxn xmlns:a="http://schemas.openxmlformats.org/drawingml/2006/main" id="28" idx="0"/>
            <a:endCxn xmlns:a="http://schemas.openxmlformats.org/drawingml/2006/main" id="13" idx="2"/>
          </p:cNvCxnSpPr>
          <p:nvPr/>
        </p:nvCxnSpPr>
        <p:spPr>
          <a:xfrm xmlns:a="http://schemas.openxmlformats.org/drawingml/2006/main" flipV="1">
            <a:off x="10620375" y="2905125"/>
            <a:ext cx="0" cy="13716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37" name="">
            <a:extLst xmlns:a="http://schemas.openxmlformats.org/drawingml/2006/main">
              <a:ext uri="{FF2B5EF4-FFF2-40B4-BE49-F238E27FC236}">
                <a16:creationId xmlns:a16="http://schemas.microsoft.com/office/drawing/2014/main" id="{8BBDC232-F7A2-43D4-8199-C5A168535943}"/>
              </a:ext>
            </a:extLst>
          </p:cNvPr>
          <p:cNvCxnSpPr>
            <a:stCxn xmlns:a="http://schemas.openxmlformats.org/drawingml/2006/main" id="25" idx="3"/>
            <a:endCxn xmlns:a="http://schemas.openxmlformats.org/drawingml/2006/main" id="28" idx="1"/>
          </p:cNvCxnSpPr>
          <p:nvPr/>
        </p:nvCxnSpPr>
        <p:spPr>
          <a:xfrm xmlns:a="http://schemas.openxmlformats.org/drawingml/2006/main">
            <a:off x="9358313" y="48291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6" name="">
            <a:extLst xmlns:a="http://schemas.openxmlformats.org/drawingml/2006/main">
              <a:ext uri="{FF2B5EF4-FFF2-40B4-BE49-F238E27FC236}">
                <a16:creationId xmlns:a16="http://schemas.microsoft.com/office/drawing/2014/main" id="{9F2D7220-792C-4C38-B4F6-C5B0F55384C3}"/>
              </a:ext>
            </a:extLst>
          </p:cNvPr>
          <p:cNvCxnSpPr>
            <a:stCxn xmlns:a="http://schemas.openxmlformats.org/drawingml/2006/main" id="22" idx="3"/>
            <a:endCxn xmlns:a="http://schemas.openxmlformats.org/drawingml/2006/main" id="25" idx="1"/>
          </p:cNvCxnSpPr>
          <p:nvPr/>
        </p:nvCxnSpPr>
        <p:spPr>
          <a:xfrm xmlns:a="http://schemas.openxmlformats.org/drawingml/2006/main">
            <a:off x="7096125"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5" name="">
            <a:extLst xmlns:a="http://schemas.openxmlformats.org/drawingml/2006/main">
              <a:ext uri="{FF2B5EF4-FFF2-40B4-BE49-F238E27FC236}">
                <a16:creationId xmlns:a16="http://schemas.microsoft.com/office/drawing/2014/main" id="{2AAB6911-B285-46F8-A5F6-14B178A1D47F}"/>
              </a:ext>
            </a:extLst>
          </p:cNvPr>
          <p:cNvCxnSpPr>
            <a:stCxn xmlns:a="http://schemas.openxmlformats.org/drawingml/2006/main" id="19" idx="3"/>
            <a:endCxn xmlns:a="http://schemas.openxmlformats.org/drawingml/2006/main" id="22" idx="1"/>
          </p:cNvCxnSpPr>
          <p:nvPr/>
        </p:nvCxnSpPr>
        <p:spPr>
          <a:xfrm xmlns:a="http://schemas.openxmlformats.org/drawingml/2006/main">
            <a:off x="4833938" y="4829175"/>
            <a:ext cx="261937"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4" name="">
            <a:extLst xmlns:a="http://schemas.openxmlformats.org/drawingml/2006/main">
              <a:ext uri="{FF2B5EF4-FFF2-40B4-BE49-F238E27FC236}">
                <a16:creationId xmlns:a16="http://schemas.microsoft.com/office/drawing/2014/main" id="{A357E80A-C3D4-4982-B087-E3B4125AEDAF}"/>
              </a:ext>
            </a:extLst>
          </p:cNvPr>
          <p:cNvCxnSpPr>
            <a:stCxn xmlns:a="http://schemas.openxmlformats.org/drawingml/2006/main" id="16" idx="3"/>
            <a:endCxn xmlns:a="http://schemas.openxmlformats.org/drawingml/2006/main" id="19"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3" name="">
            <a:extLst xmlns:a="http://schemas.openxmlformats.org/drawingml/2006/main">
              <a:ext uri="{FF2B5EF4-FFF2-40B4-BE49-F238E27FC236}">
                <a16:creationId xmlns:a16="http://schemas.microsoft.com/office/drawing/2014/main" id="{002D0F5E-CACF-4C80-9DC2-5BC27751BBEF}"/>
              </a:ext>
            </a:extLst>
          </p:cNvPr>
          <p:cNvCxnSpPr>
            <a:stCxn xmlns:a="http://schemas.openxmlformats.org/drawingml/2006/main" id="13" idx="1"/>
            <a:endCxn xmlns:a="http://schemas.openxmlformats.org/drawingml/2006/main" id="16" idx="3"/>
          </p:cNvCxnSpPr>
          <p:nvPr/>
        </p:nvCxnSpPr>
        <p:spPr>
          <a:xfrm xmlns:a="http://schemas.openxmlformats.org/drawingml/2006/main" flipH="1">
            <a:off x="2571750" y="2352675"/>
            <a:ext cx="7048500" cy="24765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2" name="">
            <a:extLst xmlns:a="http://schemas.openxmlformats.org/drawingml/2006/main">
              <a:ext uri="{FF2B5EF4-FFF2-40B4-BE49-F238E27FC236}">
                <a16:creationId xmlns:a16="http://schemas.microsoft.com/office/drawing/2014/main" id="{885F2E6B-9040-4C5E-B752-F8F92560619C}"/>
              </a:ext>
            </a:extLst>
          </p:cNvPr>
          <p:cNvCxnSpPr>
            <a:stCxn xmlns:a="http://schemas.openxmlformats.org/drawingml/2006/main" id="10" idx="3"/>
            <a:endCxn xmlns:a="http://schemas.openxmlformats.org/drawingml/2006/main" id="13" idx="1"/>
          </p:cNvCxnSpPr>
          <p:nvPr/>
        </p:nvCxnSpPr>
        <p:spPr>
          <a:xfrm xmlns:a="http://schemas.openxmlformats.org/drawingml/2006/main">
            <a:off x="7096125" y="2352675"/>
            <a:ext cx="2524125"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1" name="">
            <a:extLst xmlns:a="http://schemas.openxmlformats.org/drawingml/2006/main">
              <a:ext uri="{FF2B5EF4-FFF2-40B4-BE49-F238E27FC236}">
                <a16:creationId xmlns:a16="http://schemas.microsoft.com/office/drawing/2014/main" id="{A6FE5251-C1F3-45E6-BBB9-633BE50BC8BC}"/>
              </a:ext>
            </a:extLst>
          </p:cNvPr>
          <p:cNvCxnSpPr>
            <a:stCxn xmlns:a="http://schemas.openxmlformats.org/drawingml/2006/main" id="7" idx="3"/>
            <a:endCxn xmlns:a="http://schemas.openxmlformats.org/drawingml/2006/main" id="13" idx="1"/>
          </p:cNvCxnSpPr>
          <p:nvPr/>
        </p:nvCxnSpPr>
        <p:spPr>
          <a:xfrm xmlns:a="http://schemas.openxmlformats.org/drawingml/2006/main">
            <a:off x="2571750" y="2352675"/>
            <a:ext cx="70485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0" name="">
            <a:extLst xmlns:a="http://schemas.openxmlformats.org/drawingml/2006/main">
              <a:ext uri="{FF2B5EF4-FFF2-40B4-BE49-F238E27FC236}">
                <a16:creationId xmlns:a16="http://schemas.microsoft.com/office/drawing/2014/main" id="{16B14AAB-F96F-438B-AADC-922202987A4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AX11 / 복수 자료 결합·분석·검토·평가</a:t>
            </a:r>
          </a:p>
        </p:txBody>
      </p:sp>
      <p:sp>
        <p:nvSpPr>
          <p:cNvPr id="2" name="">
            <a:extLst xmlns:a="http://schemas.openxmlformats.org/drawingml/2006/main">
              <a:ext uri="{FF2B5EF4-FFF2-40B4-BE49-F238E27FC236}">
                <a16:creationId xmlns:a16="http://schemas.microsoft.com/office/drawing/2014/main" id="{5AB27F9D-5663-442C-A7AA-219D33129A2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Green Light · 세부 서비스 구조</a:t>
            </a:r>
          </a:p>
        </p:txBody>
      </p:sp>
      <p:sp>
        <p:nvSpPr>
          <p:cNvPr id="3" name="">
            <a:extLst xmlns:a="http://schemas.openxmlformats.org/drawingml/2006/main">
              <a:ext uri="{FF2B5EF4-FFF2-40B4-BE49-F238E27FC236}">
                <a16:creationId xmlns:a16="http://schemas.microsoft.com/office/drawing/2014/main" id="{D4E351C4-9AFE-4A1C-A045-A27C1063867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16641E8-FF2F-4E61-92C0-892BCBE1E4E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4C03224-9FD1-4D18-BC38-0553F1DB4E5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49</a:t>
            </a:r>
          </a:p>
        </p:txBody>
      </p:sp>
      <p:sp>
        <p:nvSpPr>
          <p:cNvPr id="6" name="">
            <a:extLst xmlns:a="http://schemas.openxmlformats.org/drawingml/2006/main">
              <a:ext uri="{FF2B5EF4-FFF2-40B4-BE49-F238E27FC236}">
                <a16:creationId xmlns:a16="http://schemas.microsoft.com/office/drawing/2014/main" id="{91C3B42C-0F43-43AE-BBA6-46CF1EAFB3BF}"/>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교통 흐름 데이터 → AI 개선 권고 → 기술자 검토 → 신호 운영 반영</a:t>
            </a:r>
          </a:p>
        </p:txBody>
      </p:sp>
      <p:sp>
        <p:nvSpPr>
          <p:cNvPr id="7" name="">
            <a:extLst xmlns:a="http://schemas.openxmlformats.org/drawingml/2006/main">
              <a:ext uri="{FF2B5EF4-FFF2-40B4-BE49-F238E27FC236}">
                <a16:creationId xmlns:a16="http://schemas.microsoft.com/office/drawing/2014/main" id="{BE5790C4-0A4A-4FD9-B10D-E277B8BF88D4}"/>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43A325F9-6914-4C2A-9D15-6957131AC9FD}"/>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B0ED2C1B-F613-4D1D-8157-A8F0571C8BA7}"/>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교통·신호 자료</a:t>
            </a:r>
          </a:p>
        </p:txBody>
      </p:sp>
      <p:sp>
        <p:nvSpPr>
          <p:cNvPr id="10" name="">
            <a:extLst xmlns:a="http://schemas.openxmlformats.org/drawingml/2006/main">
              <a:ext uri="{FF2B5EF4-FFF2-40B4-BE49-F238E27FC236}">
                <a16:creationId xmlns:a16="http://schemas.microsoft.com/office/drawing/2014/main" id="{1E5CA127-B595-4C15-BEA9-047D091A2C08}"/>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3393074E-6E91-4A17-B960-80F3587510D6}"/>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2" name="">
            <a:extLst xmlns:a="http://schemas.openxmlformats.org/drawingml/2006/main">
              <a:ext uri="{FF2B5EF4-FFF2-40B4-BE49-F238E27FC236}">
                <a16:creationId xmlns:a16="http://schemas.microsoft.com/office/drawing/2014/main" id="{FC849502-13C3-44EA-939E-8265815A19B0}"/>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교통 흐름 조회</a:t>
            </a:r>
          </a:p>
        </p:txBody>
      </p:sp>
      <p:sp>
        <p:nvSpPr>
          <p:cNvPr id="13" name="">
            <a:extLst xmlns:a="http://schemas.openxmlformats.org/drawingml/2006/main">
              <a:ext uri="{FF2B5EF4-FFF2-40B4-BE49-F238E27FC236}">
                <a16:creationId xmlns:a16="http://schemas.microsoft.com/office/drawing/2014/main" id="{A449E14E-EBD4-4305-96AA-FC513F2A6844}"/>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6A9BCAB4-99B8-47E3-AFE8-9E180174FEEE}"/>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5" name="">
            <a:extLst xmlns:a="http://schemas.openxmlformats.org/drawingml/2006/main">
              <a:ext uri="{FF2B5EF4-FFF2-40B4-BE49-F238E27FC236}">
                <a16:creationId xmlns:a16="http://schemas.microsoft.com/office/drawing/2014/main" id="{1257870F-7B08-4110-9DAB-4D9553B3A16A}"/>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교차로 코드 정리</a:t>
            </a:r>
          </a:p>
        </p:txBody>
      </p:sp>
      <p:sp>
        <p:nvSpPr>
          <p:cNvPr id="16" name="">
            <a:extLst xmlns:a="http://schemas.openxmlformats.org/drawingml/2006/main">
              <a:ext uri="{FF2B5EF4-FFF2-40B4-BE49-F238E27FC236}">
                <a16:creationId xmlns:a16="http://schemas.microsoft.com/office/drawing/2014/main" id="{51C7C6F0-CD5E-4355-8162-CE8FCECD6E4C}"/>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E9BB455-7CA2-4B89-9652-227ABA185BD2}"/>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8" name="">
            <a:extLst xmlns:a="http://schemas.openxmlformats.org/drawingml/2006/main">
              <a:ext uri="{FF2B5EF4-FFF2-40B4-BE49-F238E27FC236}">
                <a16:creationId xmlns:a16="http://schemas.microsoft.com/office/drawing/2014/main" id="{BB105520-1033-42FB-8DFC-144ADCA046AB}"/>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신호 조정 후보</a:t>
            </a:r>
          </a:p>
        </p:txBody>
      </p:sp>
      <p:sp>
        <p:nvSpPr>
          <p:cNvPr id="19" name="">
            <a:extLst xmlns:a="http://schemas.openxmlformats.org/drawingml/2006/main">
              <a:ext uri="{FF2B5EF4-FFF2-40B4-BE49-F238E27FC236}">
                <a16:creationId xmlns:a16="http://schemas.microsoft.com/office/drawing/2014/main" id="{2EFA4A67-2BD8-4540-8FFD-518A4D52AB2C}"/>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C749EF1-9B7D-4516-A214-CD2A1C0DC3F5}"/>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21" name="">
            <a:extLst xmlns:a="http://schemas.openxmlformats.org/drawingml/2006/main">
              <a:ext uri="{FF2B5EF4-FFF2-40B4-BE49-F238E27FC236}">
                <a16:creationId xmlns:a16="http://schemas.microsoft.com/office/drawing/2014/main" id="{8781211F-AF52-4005-8417-0D96D2F41ECC}"/>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지역·안전 제약</a:t>
            </a:r>
          </a:p>
        </p:txBody>
      </p:sp>
      <p:sp>
        <p:nvSpPr>
          <p:cNvPr id="22" name="">
            <a:extLst xmlns:a="http://schemas.openxmlformats.org/drawingml/2006/main">
              <a:ext uri="{FF2B5EF4-FFF2-40B4-BE49-F238E27FC236}">
                <a16:creationId xmlns:a16="http://schemas.microsoft.com/office/drawing/2014/main" id="{FA86E24E-3656-4B12-BE5B-39465D677358}"/>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B66BB485-A694-41B9-8EEC-3DDC01D10D27}"/>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4" name="">
            <a:extLst xmlns:a="http://schemas.openxmlformats.org/drawingml/2006/main">
              <a:ext uri="{FF2B5EF4-FFF2-40B4-BE49-F238E27FC236}">
                <a16:creationId xmlns:a16="http://schemas.microsoft.com/office/drawing/2014/main" id="{85F7CCF1-8316-4A19-AECC-B1CBFD34FDF0}"/>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교통기술자 검토</a:t>
            </a:r>
          </a:p>
        </p:txBody>
      </p:sp>
      <p:sp>
        <p:nvSpPr>
          <p:cNvPr id="25" name="">
            <a:extLst xmlns:a="http://schemas.openxmlformats.org/drawingml/2006/main">
              <a:ext uri="{FF2B5EF4-FFF2-40B4-BE49-F238E27FC236}">
                <a16:creationId xmlns:a16="http://schemas.microsoft.com/office/drawing/2014/main" id="{A3D03D32-E79E-4505-B49F-1E13E80BF77D}"/>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A24F4BA5-F050-4E45-A8B4-94109386DBAC}"/>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7" name="">
            <a:extLst xmlns:a="http://schemas.openxmlformats.org/drawingml/2006/main">
              <a:ext uri="{FF2B5EF4-FFF2-40B4-BE49-F238E27FC236}">
                <a16:creationId xmlns:a16="http://schemas.microsoft.com/office/drawing/2014/main" id="{CEC5995E-A643-4915-9B95-D9DE95EDC3F3}"/>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신호계획 반영</a:t>
            </a:r>
          </a:p>
        </p:txBody>
      </p:sp>
      <p:sp>
        <p:nvSpPr>
          <p:cNvPr id="28" name="">
            <a:extLst xmlns:a="http://schemas.openxmlformats.org/drawingml/2006/main">
              <a:ext uri="{FF2B5EF4-FFF2-40B4-BE49-F238E27FC236}">
                <a16:creationId xmlns:a16="http://schemas.microsoft.com/office/drawing/2014/main" id="{D742D084-F381-4925-B7E1-200AB0D672DB}"/>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DF999EF5-30A0-48FA-9FA0-5A68EA633DFD}"/>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0" name="">
            <a:extLst xmlns:a="http://schemas.openxmlformats.org/drawingml/2006/main">
              <a:ext uri="{FF2B5EF4-FFF2-40B4-BE49-F238E27FC236}">
                <a16:creationId xmlns:a16="http://schemas.microsoft.com/office/drawing/2014/main" id="{17A4FE4C-1CD3-4385-B66F-A9529C713C32}"/>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변경 전후 평가</a:t>
            </a:r>
          </a:p>
        </p:txBody>
      </p:sp>
      <p:sp>
        <p:nvSpPr>
          <p:cNvPr id="39" name="">
            <a:extLst xmlns:a="http://schemas.openxmlformats.org/drawingml/2006/main">
              <a:ext uri="{FF2B5EF4-FFF2-40B4-BE49-F238E27FC236}">
                <a16:creationId xmlns:a16="http://schemas.microsoft.com/office/drawing/2014/main" id="{AACBA622-EBCE-40D0-8504-5F3019F66F81}"/>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146169902"/>
      </p:ext>
    </p:extLst>
  </p:cSld>
</p:sld>
</file>

<file path=ppt/slides/slide5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16388402-FAB5-470A-AC9E-003C44A8ADF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AX11 / 논리 인터페이스·복구 설계</a:t>
            </a:r>
          </a:p>
        </p:txBody>
      </p:sp>
      <p:sp>
        <p:nvSpPr>
          <p:cNvPr id="2" name="">
            <a:extLst xmlns:a="http://schemas.openxmlformats.org/drawingml/2006/main">
              <a:ext uri="{FF2B5EF4-FFF2-40B4-BE49-F238E27FC236}">
                <a16:creationId xmlns:a16="http://schemas.microsoft.com/office/drawing/2014/main" id="{85985679-BBE3-4E91-8D1B-71B5106D661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Green Light · 데이터와 예외 처리</a:t>
            </a:r>
          </a:p>
        </p:txBody>
      </p:sp>
      <p:sp>
        <p:nvSpPr>
          <p:cNvPr id="3" name="">
            <a:extLst xmlns:a="http://schemas.openxmlformats.org/drawingml/2006/main">
              <a:ext uri="{FF2B5EF4-FFF2-40B4-BE49-F238E27FC236}">
                <a16:creationId xmlns:a16="http://schemas.microsoft.com/office/drawing/2014/main" id="{D1A401FE-9093-4FF1-B07A-AD1B2B9EAD6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FF64ABD-3C3A-4FE4-BDF9-FF9133E3B0E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7A8AB55-EBAE-4470-AA22-E61FEB2A54B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50</a:t>
            </a:r>
          </a:p>
        </p:txBody>
      </p:sp>
      <p:sp>
        <p:nvSpPr>
          <p:cNvPr id="6" name="">
            <a:extLst xmlns:a="http://schemas.openxmlformats.org/drawingml/2006/main">
              <a:ext uri="{FF2B5EF4-FFF2-40B4-BE49-F238E27FC236}">
                <a16:creationId xmlns:a16="http://schemas.microsoft.com/office/drawing/2014/main" id="{95EA91DE-D211-4B1F-B747-313A95515D80}"/>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E262BF0F-790F-4590-92F9-DB9027B9714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9F6BB5FD-AE4A-42AA-92E1-62E838D8A0B7}"/>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자료</a:t>
            </a:r>
          </a:p>
        </p:txBody>
      </p:sp>
      <p:sp>
        <p:nvSpPr>
          <p:cNvPr id="9" name="">
            <a:extLst xmlns:a="http://schemas.openxmlformats.org/drawingml/2006/main">
              <a:ext uri="{FF2B5EF4-FFF2-40B4-BE49-F238E27FC236}">
                <a16:creationId xmlns:a16="http://schemas.microsoft.com/office/drawing/2014/main" id="{66D8BAC3-BD95-48E3-83A2-0363EC6BDECE}"/>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교차로·교통 패턴</a:t>
            </a:r>
          </a:p>
        </p:txBody>
      </p:sp>
      <p:sp>
        <p:nvSpPr>
          <p:cNvPr id="10" name="">
            <a:extLst xmlns:a="http://schemas.openxmlformats.org/drawingml/2006/main">
              <a:ext uri="{FF2B5EF4-FFF2-40B4-BE49-F238E27FC236}">
                <a16:creationId xmlns:a16="http://schemas.microsoft.com/office/drawing/2014/main" id="{30CF56FD-8264-4073-93C4-72BD0D6E5A1F}"/>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ABC7473-FADA-490E-AB92-E0CC07F5D101}"/>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비교 자료</a:t>
            </a:r>
          </a:p>
        </p:txBody>
      </p:sp>
      <p:sp>
        <p:nvSpPr>
          <p:cNvPr id="12" name="">
            <a:extLst xmlns:a="http://schemas.openxmlformats.org/drawingml/2006/main">
              <a:ext uri="{FF2B5EF4-FFF2-40B4-BE49-F238E27FC236}">
                <a16:creationId xmlns:a16="http://schemas.microsoft.com/office/drawing/2014/main" id="{0C5C76D7-4363-4DB9-884B-0536EF6387FA}"/>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정체 패턴</a:t>
            </a:r>
          </a:p>
        </p:txBody>
      </p:sp>
      <p:sp>
        <p:nvSpPr>
          <p:cNvPr id="13" name="">
            <a:extLst xmlns:a="http://schemas.openxmlformats.org/drawingml/2006/main">
              <a:ext uri="{FF2B5EF4-FFF2-40B4-BE49-F238E27FC236}">
                <a16:creationId xmlns:a16="http://schemas.microsoft.com/office/drawing/2014/main" id="{56D256A4-E9F3-4BF9-A612-9BF0289BE0AC}"/>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F16D5D3-8C10-4E44-AC44-080C73ACC657}"/>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정합화 특징</a:t>
            </a:r>
          </a:p>
        </p:txBody>
      </p:sp>
      <p:sp>
        <p:nvSpPr>
          <p:cNvPr id="15" name="">
            <a:extLst xmlns:a="http://schemas.openxmlformats.org/drawingml/2006/main">
              <a:ext uri="{FF2B5EF4-FFF2-40B4-BE49-F238E27FC236}">
                <a16:creationId xmlns:a16="http://schemas.microsoft.com/office/drawing/2014/main" id="{3793B9FD-7836-4041-9499-02C7219BA7E6}"/>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6" name="">
            <a:extLst xmlns:a="http://schemas.openxmlformats.org/drawingml/2006/main">
              <a:ext uri="{FF2B5EF4-FFF2-40B4-BE49-F238E27FC236}">
                <a16:creationId xmlns:a16="http://schemas.microsoft.com/office/drawing/2014/main" id="{902EAB58-B778-41E8-AC9C-76E74F092AE6}"/>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FAD2CF2-FBA1-4C0D-8A4E-01004D69B453}"/>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예측·분류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결과</a:t>
            </a:r>
          </a:p>
        </p:txBody>
      </p:sp>
      <p:sp>
        <p:nvSpPr>
          <p:cNvPr id="18" name="">
            <a:extLst xmlns:a="http://schemas.openxmlformats.org/drawingml/2006/main">
              <a:ext uri="{FF2B5EF4-FFF2-40B4-BE49-F238E27FC236}">
                <a16:creationId xmlns:a16="http://schemas.microsoft.com/office/drawing/2014/main" id="{1CBCB5D8-6B26-4950-8D69-A060AA6BC573}"/>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신호 조정안</a:t>
            </a:r>
          </a:p>
        </p:txBody>
      </p:sp>
      <p:sp>
        <p:nvSpPr>
          <p:cNvPr id="19" name="">
            <a:extLst xmlns:a="http://schemas.openxmlformats.org/drawingml/2006/main">
              <a:ext uri="{FF2B5EF4-FFF2-40B4-BE49-F238E27FC236}">
                <a16:creationId xmlns:a16="http://schemas.microsoft.com/office/drawing/2014/main" id="{B9FB3BE1-4532-4565-92C7-5C46D1C9C0CB}"/>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7D824D3-72DE-416C-983B-BB6448E3ADB2}"/>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오차·편향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확인</a:t>
            </a:r>
          </a:p>
        </p:txBody>
      </p:sp>
      <p:sp>
        <p:nvSpPr>
          <p:cNvPr id="21" name="">
            <a:extLst xmlns:a="http://schemas.openxmlformats.org/drawingml/2006/main">
              <a:ext uri="{FF2B5EF4-FFF2-40B4-BE49-F238E27FC236}">
                <a16:creationId xmlns:a16="http://schemas.microsoft.com/office/drawing/2014/main" id="{CBE31086-9E50-478B-95CE-347244BFC690}"/>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신호 조정안</a:t>
            </a:r>
          </a:p>
        </p:txBody>
      </p:sp>
      <p:sp>
        <p:nvSpPr>
          <p:cNvPr id="22" name="">
            <a:extLst xmlns:a="http://schemas.openxmlformats.org/drawingml/2006/main">
              <a:ext uri="{FF2B5EF4-FFF2-40B4-BE49-F238E27FC236}">
                <a16:creationId xmlns:a16="http://schemas.microsoft.com/office/drawing/2014/main" id="{845837FB-AE94-4514-8B30-42EB36FFE788}"/>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8E39BDC-41F3-4CD2-9F3A-49DADD9E155E}"/>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적용 결과</a:t>
            </a:r>
          </a:p>
        </p:txBody>
      </p:sp>
      <p:sp>
        <p:nvSpPr>
          <p:cNvPr id="24" name="">
            <a:extLst xmlns:a="http://schemas.openxmlformats.org/drawingml/2006/main">
              <a:ext uri="{FF2B5EF4-FFF2-40B4-BE49-F238E27FC236}">
                <a16:creationId xmlns:a16="http://schemas.microsoft.com/office/drawing/2014/main" id="{4B444EA3-5F13-4D13-9662-96E9FEC835EA}"/>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기술자 적용 결과</a:t>
            </a:r>
          </a:p>
        </p:txBody>
      </p:sp>
      <p:sp>
        <p:nvSpPr>
          <p:cNvPr id="25" name="">
            <a:extLst xmlns:a="http://schemas.openxmlformats.org/drawingml/2006/main">
              <a:ext uri="{FF2B5EF4-FFF2-40B4-BE49-F238E27FC236}">
                <a16:creationId xmlns:a16="http://schemas.microsoft.com/office/drawing/2014/main" id="{624AA802-F749-402E-831C-EBCEC0982C0A}"/>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84BB6332-BB43-4287-9D36-551ED9B1A870}"/>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보행시간 부족·인접 교차로 정체·특수 행사일</a:t>
            </a:r>
          </a:p>
        </p:txBody>
      </p:sp>
      <p:sp>
        <p:nvSpPr>
          <p:cNvPr id="27" name="">
            <a:extLst xmlns:a="http://schemas.openxmlformats.org/drawingml/2006/main">
              <a:ext uri="{FF2B5EF4-FFF2-40B4-BE49-F238E27FC236}">
                <a16:creationId xmlns:a16="http://schemas.microsoft.com/office/drawing/2014/main" id="{EA0DDC36-A6C6-4DA5-B035-8917C1726B46}"/>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42FA6EC4-AE97-4556-911A-E75D4F38EC1D}"/>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 제약·안전 조건 검토</a:t>
            </a:r>
          </a:p>
        </p:txBody>
      </p:sp>
      <p:sp>
        <p:nvSpPr>
          <p:cNvPr id="29" name="">
            <a:extLst xmlns:a="http://schemas.openxmlformats.org/drawingml/2006/main">
              <a:ext uri="{FF2B5EF4-FFF2-40B4-BE49-F238E27FC236}">
                <a16:creationId xmlns:a16="http://schemas.microsoft.com/office/drawing/2014/main" id="{6FD17EE1-9A9E-41CD-A797-82EFF1DBC523}"/>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75B87D29-F834-47E1-BD64-F35B9D1EB439}"/>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변경 전후 교통지표와 안전 제약의 병행 평가</a:t>
            </a:r>
          </a:p>
        </p:txBody>
      </p:sp>
      <p:sp>
        <p:nvSpPr>
          <p:cNvPr id="31" name="">
            <a:extLst xmlns:a="http://schemas.openxmlformats.org/drawingml/2006/main">
              <a:ext uri="{FF2B5EF4-FFF2-40B4-BE49-F238E27FC236}">
                <a16:creationId xmlns:a16="http://schemas.microsoft.com/office/drawing/2014/main" id="{5AC6A587-1092-436F-BAB6-15353FA6EA6F}"/>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D5D62CE7-0D10-4202-B368-6DFF42664941}"/>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변경 전후 지표와 보행·안전 제약 확인 기록</a:t>
            </a:r>
          </a:p>
        </p:txBody>
      </p:sp>
    </p:spTree>
    <p:extLst>
      <p:ext uri="{BB962C8B-B14F-4D97-AF65-F5344CB8AC3E}">
        <p14:creationId xmlns:p14="http://schemas.microsoft.com/office/powerpoint/2010/main" val="339887339"/>
      </p:ext>
    </p:extLst>
  </p:cSld>
</p:sld>
</file>

<file path=ppt/slides/slide5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62A8813-D08D-4DC9-932C-86B8B59B12D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AX11 / CCK 비교·재현 시험 설계</a:t>
            </a:r>
          </a:p>
        </p:txBody>
      </p:sp>
      <p:sp>
        <p:nvSpPr>
          <p:cNvPr id="2" name="">
            <a:extLst xmlns:a="http://schemas.openxmlformats.org/drawingml/2006/main">
              <a:ext uri="{FF2B5EF4-FFF2-40B4-BE49-F238E27FC236}">
                <a16:creationId xmlns:a16="http://schemas.microsoft.com/office/drawing/2014/main" id="{60D8A71F-0B62-48F8-ABC6-9A0DF640159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Green Light · 벤치마킹</a:t>
            </a:r>
          </a:p>
        </p:txBody>
      </p:sp>
      <p:sp>
        <p:nvSpPr>
          <p:cNvPr id="3" name="">
            <a:extLst xmlns:a="http://schemas.openxmlformats.org/drawingml/2006/main">
              <a:ext uri="{FF2B5EF4-FFF2-40B4-BE49-F238E27FC236}">
                <a16:creationId xmlns:a16="http://schemas.microsoft.com/office/drawing/2014/main" id="{F7489082-2940-4761-A356-061C6033DDA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33A4399-F75D-4F5E-A868-55F76417E19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35C6EAC-C924-409F-B764-C7DF03ED6A9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51</a:t>
            </a:r>
          </a:p>
        </p:txBody>
      </p:sp>
      <p:sp>
        <p:nvSpPr>
          <p:cNvPr id="6" name="">
            <a:extLst xmlns:a="http://schemas.openxmlformats.org/drawingml/2006/main">
              <a:ext uri="{FF2B5EF4-FFF2-40B4-BE49-F238E27FC236}">
                <a16:creationId xmlns:a16="http://schemas.microsoft.com/office/drawing/2014/main" id="{31AD9F43-D522-4921-85C9-06A7BACF55F8}"/>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BBEA04A5-D859-469D-8B41-AEFE4DF48015}"/>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신호 운영에 개선 권고 제공</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도시 기술자의 검토 후 반영</a:t>
            </a:r>
          </a:p>
        </p:txBody>
      </p:sp>
      <p:sp>
        <p:nvSpPr>
          <p:cNvPr id="8" name="">
            <a:extLst xmlns:a="http://schemas.openxmlformats.org/drawingml/2006/main">
              <a:ext uri="{FF2B5EF4-FFF2-40B4-BE49-F238E27FC236}">
                <a16:creationId xmlns:a16="http://schemas.microsoft.com/office/drawing/2014/main" id="{FD1C554C-A4CC-4CD9-8C0D-A15E446356F2}"/>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06A3A0FE-70E6-4939-BE05-F8115281B115}"/>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관측 교차로 외 일반화 위험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보행자·긴급차량 조건 누락 가능성</a:t>
            </a:r>
          </a:p>
        </p:txBody>
      </p:sp>
      <p:sp>
        <p:nvSpPr>
          <p:cNvPr id="10" name="">
            <a:extLst xmlns:a="http://schemas.openxmlformats.org/drawingml/2006/main">
              <a:ext uri="{FF2B5EF4-FFF2-40B4-BE49-F238E27FC236}">
                <a16:creationId xmlns:a16="http://schemas.microsoft.com/office/drawing/2014/main" id="{63B6D50B-BA4A-4B1F-AB84-C24AABFB1BB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A6945489-552B-4A48-A915-8B4DAB8B01B4}"/>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지역 제약·안전 조건 검토</a:t>
            </a:r>
          </a:p>
        </p:txBody>
      </p:sp>
      <p:sp>
        <p:nvSpPr>
          <p:cNvPr id="12" name="">
            <a:extLst xmlns:a="http://schemas.openxmlformats.org/drawingml/2006/main">
              <a:ext uri="{FF2B5EF4-FFF2-40B4-BE49-F238E27FC236}">
                <a16:creationId xmlns:a16="http://schemas.microsoft.com/office/drawing/2014/main" id="{99FE7840-EF55-49EC-8E59-A005CA8F50AE}"/>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575F0C2C-9B93-4AC3-92CA-5008CA30E013}"/>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교차로의 신호 조정 후보를 기술자가 현장 조건과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대조</a:t>
            </a:r>
          </a:p>
        </p:txBody>
      </p:sp>
      <p:sp>
        <p:nvSpPr>
          <p:cNvPr id="14" name="">
            <a:extLst xmlns:a="http://schemas.openxmlformats.org/drawingml/2006/main">
              <a:ext uri="{FF2B5EF4-FFF2-40B4-BE49-F238E27FC236}">
                <a16:creationId xmlns:a16="http://schemas.microsoft.com/office/drawing/2014/main" id="{F3D0D1C1-67DE-4EE4-94A9-7FBDF9A6E09C}"/>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4F03A0BE-21FA-405E-8B95-E9A7E7938185}"/>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보행시간 부족·인접 교차로 정체·특수 행사일</a:t>
            </a:r>
          </a:p>
        </p:txBody>
      </p:sp>
      <p:sp>
        <p:nvSpPr>
          <p:cNvPr id="16" name="">
            <a:extLst xmlns:a="http://schemas.openxmlformats.org/drawingml/2006/main">
              <a:ext uri="{FF2B5EF4-FFF2-40B4-BE49-F238E27FC236}">
                <a16:creationId xmlns:a16="http://schemas.microsoft.com/office/drawing/2014/main" id="{E1AF9441-721F-495E-86E5-7371CA48826E}"/>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D363B4B6-8B0B-432E-A7ED-119CF3BCDCC6}"/>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변경 전후 지표와 보행·안전 제약 확인 기록</a:t>
            </a:r>
          </a:p>
        </p:txBody>
      </p:sp>
    </p:spTree>
    <p:extLst>
      <p:ext uri="{BB962C8B-B14F-4D97-AF65-F5344CB8AC3E}">
        <p14:creationId xmlns:p14="http://schemas.microsoft.com/office/powerpoint/2010/main" val="682660485"/>
      </p:ext>
    </p:extLst>
  </p:cSld>
</p:sld>
</file>

<file path=ppt/slides/slide5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2FA7B1C-8BE4-4890-8343-B011CEA7229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AX12 / 성공 / 해외</a:t>
            </a:r>
          </a:p>
        </p:txBody>
      </p:sp>
      <p:sp>
        <p:nvSpPr>
          <p:cNvPr id="2" name="">
            <a:extLst xmlns:a="http://schemas.openxmlformats.org/drawingml/2006/main">
              <a:ext uri="{FF2B5EF4-FFF2-40B4-BE49-F238E27FC236}">
                <a16:creationId xmlns:a16="http://schemas.microsoft.com/office/drawing/2014/main" id="{35476E5C-A0EA-42B0-9091-82865B2CCD3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홍수 예측</a:t>
            </a:r>
          </a:p>
        </p:txBody>
      </p:sp>
      <p:sp>
        <p:nvSpPr>
          <p:cNvPr id="3" name="">
            <a:extLst xmlns:a="http://schemas.openxmlformats.org/drawingml/2006/main">
              <a:ext uri="{FF2B5EF4-FFF2-40B4-BE49-F238E27FC236}">
                <a16:creationId xmlns:a16="http://schemas.microsoft.com/office/drawing/2014/main" id="{33EF15B7-E49D-4973-AAD2-713B3B9F38A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E5868ED-CB92-405D-8595-583FF75847C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7E0FB04-1513-4EA9-9584-8C2F176726C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52</a:t>
            </a:r>
          </a:p>
        </p:txBody>
      </p:sp>
      <p:sp>
        <p:nvSpPr>
          <p:cNvPr id="6" name="">
            <a:extLst xmlns:a="http://schemas.openxmlformats.org/drawingml/2006/main">
              <a:ext uri="{FF2B5EF4-FFF2-40B4-BE49-F238E27FC236}">
                <a16:creationId xmlns:a16="http://schemas.microsoft.com/office/drawing/2014/main" id="{28C882B1-8155-4CCA-81A0-517A956647F5}"/>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353A8D56-183F-44CC-A17B-5C3F7547923F}"/>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관측 자료가 부족한 지역까지 홍수 예측 정보를 제공하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려는 사례. 예측 모델의 지역 일반화와 주민·대응기관의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실제 행동을 연결하는 단계가 별도 과제.</a:t>
            </a:r>
          </a:p>
        </p:txBody>
      </p:sp>
      <p:sp>
        <p:nvSpPr>
          <p:cNvPr id="8" name="">
            <a:extLst xmlns:a="http://schemas.openxmlformats.org/drawingml/2006/main">
              <a:ext uri="{FF2B5EF4-FFF2-40B4-BE49-F238E27FC236}">
                <a16:creationId xmlns:a16="http://schemas.microsoft.com/office/drawing/2014/main" id="{69D227EA-2F12-4ED1-9466-4F53FC5621F1}"/>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7E878A9D-AE62-428B-A616-65E051FA71F5}"/>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유역 특성·강수·유량을 시간·공간 단위로 정합화하고 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험 지역·예상 시점을 산출하는 구조. TS 적용 설계에서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기상·재난 위험을 교통시설·운행 업무와 연결해 담당</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자의 대응 검토를 지원.</a:t>
            </a:r>
          </a:p>
        </p:txBody>
      </p:sp>
      <p:sp>
        <p:nvSpPr>
          <p:cNvPr id="10" name="">
            <a:extLst xmlns:a="http://schemas.openxmlformats.org/drawingml/2006/main">
              <a:ext uri="{FF2B5EF4-FFF2-40B4-BE49-F238E27FC236}">
                <a16:creationId xmlns:a16="http://schemas.microsoft.com/office/drawing/2014/main" id="{DF02DCDC-7945-4D04-8179-D8DD9939398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164A17D7-D399-4C0D-960A-30807F57ED46}"/>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예측 정확도와 사고 예방 효과의 분리. 지역별 미탐·과경</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보·선행시간, 경보 수신과 조치 완료를 함께 평가하며 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측 부족 구간의 불확실성을 보존할 필요.</a:t>
            </a:r>
          </a:p>
        </p:txBody>
      </p:sp>
      <p:sp>
        <p:nvSpPr>
          <p:cNvPr id="12" name="">
            <a:extLst xmlns:a="http://schemas.openxmlformats.org/drawingml/2006/main">
              <a:ext uri="{FF2B5EF4-FFF2-40B4-BE49-F238E27FC236}">
                <a16:creationId xmlns:a16="http://schemas.microsoft.com/office/drawing/2014/main" id="{836C5B7D-FFA7-4983-8C51-AAADBB53ED5B}"/>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D595751-CD02-4E7C-BA93-CD822784A054}"/>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시설·위험 등급·대응 절차·조치기한 매핑</a:t>
            </a:r>
          </a:p>
        </p:txBody>
      </p:sp>
      <p:sp>
        <p:nvSpPr>
          <p:cNvPr id="14" name="">
            <a:extLst xmlns:a="http://schemas.openxmlformats.org/drawingml/2006/main">
              <a:ext uri="{FF2B5EF4-FFF2-40B4-BE49-F238E27FC236}">
                <a16:creationId xmlns:a16="http://schemas.microsoft.com/office/drawing/2014/main" id="{9C81112C-5BE4-4D75-89B1-8F94E3D18F9A}"/>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72A190C8-240F-4751-BC6C-EC61B48150A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지역·계절 분리 평가와 오경보·미탐 점검</a:t>
            </a:r>
          </a:p>
        </p:txBody>
      </p:sp>
      <p:sp>
        <p:nvSpPr>
          <p:cNvPr id="16" name="">
            <a:extLst xmlns:a="http://schemas.openxmlformats.org/drawingml/2006/main">
              <a:ext uri="{FF2B5EF4-FFF2-40B4-BE49-F238E27FC236}">
                <a16:creationId xmlns:a16="http://schemas.microsoft.com/office/drawing/2014/main" id="{D1137EA9-5271-49EB-A860-E22C98FAB365}"/>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AC34D099-5612-4142-9774-A7F09EFBD9F1}"/>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경보 선행시간 / 미조치 건수</a:t>
            </a:r>
          </a:p>
        </p:txBody>
      </p:sp>
      <p:sp>
        <p:nvSpPr>
          <p:cNvPr id="18" name="">
            <a:extLst xmlns:a="http://schemas.openxmlformats.org/drawingml/2006/main">
              <a:ext uri="{FF2B5EF4-FFF2-40B4-BE49-F238E27FC236}">
                <a16:creationId xmlns:a16="http://schemas.microsoft.com/office/drawing/2014/main" id="{632558B9-B2E7-4F83-A9C6-CFA8FB8436DF}"/>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논문의 하천 홍수 평가 범위 · 모든 재난 예측 성능으로 확대 불가</a:t>
            </a:r>
          </a:p>
        </p:txBody>
      </p:sp>
    </p:spTree>
    <p:extLst>
      <p:ext uri="{BB962C8B-B14F-4D97-AF65-F5344CB8AC3E}">
        <p14:creationId xmlns:p14="http://schemas.microsoft.com/office/powerpoint/2010/main" val="475870273"/>
      </p:ext>
    </p:extLst>
  </p:cSld>
</p:sld>
</file>

<file path=ppt/slides/slide5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38" name="">
            <a:extLst xmlns:a="http://schemas.openxmlformats.org/drawingml/2006/main">
              <a:ext uri="{FF2B5EF4-FFF2-40B4-BE49-F238E27FC236}">
                <a16:creationId xmlns:a16="http://schemas.microsoft.com/office/drawing/2014/main" id="{B0DE887F-D941-4A77-B8D8-B4BEBC97BFBC}"/>
              </a:ext>
            </a:extLst>
          </p:cNvPr>
          <p:cNvCxnSpPr>
            <a:stCxn xmlns:a="http://schemas.openxmlformats.org/drawingml/2006/main" id="28" idx="0"/>
            <a:endCxn xmlns:a="http://schemas.openxmlformats.org/drawingml/2006/main" id="13" idx="2"/>
          </p:cNvCxnSpPr>
          <p:nvPr/>
        </p:nvCxnSpPr>
        <p:spPr>
          <a:xfrm xmlns:a="http://schemas.openxmlformats.org/drawingml/2006/main" flipV="1">
            <a:off x="10620375" y="2905125"/>
            <a:ext cx="0" cy="13716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37" name="">
            <a:extLst xmlns:a="http://schemas.openxmlformats.org/drawingml/2006/main">
              <a:ext uri="{FF2B5EF4-FFF2-40B4-BE49-F238E27FC236}">
                <a16:creationId xmlns:a16="http://schemas.microsoft.com/office/drawing/2014/main" id="{5732E287-94DA-406D-9B1F-B23D1349860C}"/>
              </a:ext>
            </a:extLst>
          </p:cNvPr>
          <p:cNvCxnSpPr>
            <a:stCxn xmlns:a="http://schemas.openxmlformats.org/drawingml/2006/main" id="25" idx="3"/>
            <a:endCxn xmlns:a="http://schemas.openxmlformats.org/drawingml/2006/main" id="28" idx="1"/>
          </p:cNvCxnSpPr>
          <p:nvPr/>
        </p:nvCxnSpPr>
        <p:spPr>
          <a:xfrm xmlns:a="http://schemas.openxmlformats.org/drawingml/2006/main">
            <a:off x="9358313" y="48291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6" name="">
            <a:extLst xmlns:a="http://schemas.openxmlformats.org/drawingml/2006/main">
              <a:ext uri="{FF2B5EF4-FFF2-40B4-BE49-F238E27FC236}">
                <a16:creationId xmlns:a16="http://schemas.microsoft.com/office/drawing/2014/main" id="{32A6A9B9-7D2F-45E9-BFB0-CF307B38BA81}"/>
              </a:ext>
            </a:extLst>
          </p:cNvPr>
          <p:cNvCxnSpPr>
            <a:stCxn xmlns:a="http://schemas.openxmlformats.org/drawingml/2006/main" id="22" idx="3"/>
            <a:endCxn xmlns:a="http://schemas.openxmlformats.org/drawingml/2006/main" id="25" idx="1"/>
          </p:cNvCxnSpPr>
          <p:nvPr/>
        </p:nvCxnSpPr>
        <p:spPr>
          <a:xfrm xmlns:a="http://schemas.openxmlformats.org/drawingml/2006/main">
            <a:off x="7096125"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5" name="">
            <a:extLst xmlns:a="http://schemas.openxmlformats.org/drawingml/2006/main">
              <a:ext uri="{FF2B5EF4-FFF2-40B4-BE49-F238E27FC236}">
                <a16:creationId xmlns:a16="http://schemas.microsoft.com/office/drawing/2014/main" id="{08F047E5-7D2F-4BF4-A24D-5C269ECA1E88}"/>
              </a:ext>
            </a:extLst>
          </p:cNvPr>
          <p:cNvCxnSpPr>
            <a:stCxn xmlns:a="http://schemas.openxmlformats.org/drawingml/2006/main" id="19" idx="3"/>
            <a:endCxn xmlns:a="http://schemas.openxmlformats.org/drawingml/2006/main" id="22" idx="1"/>
          </p:cNvCxnSpPr>
          <p:nvPr/>
        </p:nvCxnSpPr>
        <p:spPr>
          <a:xfrm xmlns:a="http://schemas.openxmlformats.org/drawingml/2006/main">
            <a:off x="4833938" y="4829175"/>
            <a:ext cx="261937"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4" name="">
            <a:extLst xmlns:a="http://schemas.openxmlformats.org/drawingml/2006/main">
              <a:ext uri="{FF2B5EF4-FFF2-40B4-BE49-F238E27FC236}">
                <a16:creationId xmlns:a16="http://schemas.microsoft.com/office/drawing/2014/main" id="{34307FC3-1372-43AD-A316-C3E48D018AB6}"/>
              </a:ext>
            </a:extLst>
          </p:cNvPr>
          <p:cNvCxnSpPr>
            <a:stCxn xmlns:a="http://schemas.openxmlformats.org/drawingml/2006/main" id="16" idx="3"/>
            <a:endCxn xmlns:a="http://schemas.openxmlformats.org/drawingml/2006/main" id="19"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3" name="">
            <a:extLst xmlns:a="http://schemas.openxmlformats.org/drawingml/2006/main">
              <a:ext uri="{FF2B5EF4-FFF2-40B4-BE49-F238E27FC236}">
                <a16:creationId xmlns:a16="http://schemas.microsoft.com/office/drawing/2014/main" id="{8CFB8922-7E26-49EE-A42D-92CD23F3B9D7}"/>
              </a:ext>
            </a:extLst>
          </p:cNvPr>
          <p:cNvCxnSpPr>
            <a:stCxn xmlns:a="http://schemas.openxmlformats.org/drawingml/2006/main" id="13" idx="1"/>
            <a:endCxn xmlns:a="http://schemas.openxmlformats.org/drawingml/2006/main" id="16" idx="3"/>
          </p:cNvCxnSpPr>
          <p:nvPr/>
        </p:nvCxnSpPr>
        <p:spPr>
          <a:xfrm xmlns:a="http://schemas.openxmlformats.org/drawingml/2006/main" flipH="1">
            <a:off x="2571750" y="2352675"/>
            <a:ext cx="7048500" cy="24765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2" name="">
            <a:extLst xmlns:a="http://schemas.openxmlformats.org/drawingml/2006/main">
              <a:ext uri="{FF2B5EF4-FFF2-40B4-BE49-F238E27FC236}">
                <a16:creationId xmlns:a16="http://schemas.microsoft.com/office/drawing/2014/main" id="{5B191A21-222C-436B-8245-75BCCABF81DD}"/>
              </a:ext>
            </a:extLst>
          </p:cNvPr>
          <p:cNvCxnSpPr>
            <a:stCxn xmlns:a="http://schemas.openxmlformats.org/drawingml/2006/main" id="10" idx="3"/>
            <a:endCxn xmlns:a="http://schemas.openxmlformats.org/drawingml/2006/main" id="13" idx="1"/>
          </p:cNvCxnSpPr>
          <p:nvPr/>
        </p:nvCxnSpPr>
        <p:spPr>
          <a:xfrm xmlns:a="http://schemas.openxmlformats.org/drawingml/2006/main">
            <a:off x="7096125" y="2352675"/>
            <a:ext cx="2524125"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1" name="">
            <a:extLst xmlns:a="http://schemas.openxmlformats.org/drawingml/2006/main">
              <a:ext uri="{FF2B5EF4-FFF2-40B4-BE49-F238E27FC236}">
                <a16:creationId xmlns:a16="http://schemas.microsoft.com/office/drawing/2014/main" id="{845B9BCA-E8A1-4075-924D-B1972E04BBB3}"/>
              </a:ext>
            </a:extLst>
          </p:cNvPr>
          <p:cNvCxnSpPr>
            <a:stCxn xmlns:a="http://schemas.openxmlformats.org/drawingml/2006/main" id="7" idx="3"/>
            <a:endCxn xmlns:a="http://schemas.openxmlformats.org/drawingml/2006/main" id="13" idx="1"/>
          </p:cNvCxnSpPr>
          <p:nvPr/>
        </p:nvCxnSpPr>
        <p:spPr>
          <a:xfrm xmlns:a="http://schemas.openxmlformats.org/drawingml/2006/main">
            <a:off x="2571750" y="2352675"/>
            <a:ext cx="70485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0" name="">
            <a:extLst xmlns:a="http://schemas.openxmlformats.org/drawingml/2006/main">
              <a:ext uri="{FF2B5EF4-FFF2-40B4-BE49-F238E27FC236}">
                <a16:creationId xmlns:a16="http://schemas.microsoft.com/office/drawing/2014/main" id="{4FEA9310-535E-4A63-A9AA-6AEC9FD0F21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AX12 / 복수 자료 결합·분석·검토·평가</a:t>
            </a:r>
          </a:p>
        </p:txBody>
      </p:sp>
      <p:sp>
        <p:nvSpPr>
          <p:cNvPr id="2" name="">
            <a:extLst xmlns:a="http://schemas.openxmlformats.org/drawingml/2006/main">
              <a:ext uri="{FF2B5EF4-FFF2-40B4-BE49-F238E27FC236}">
                <a16:creationId xmlns:a16="http://schemas.microsoft.com/office/drawing/2014/main" id="{A7A2CB77-70A0-4D69-8569-018907323A5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홍수 예측 · 세부 서비스 구조</a:t>
            </a:r>
          </a:p>
        </p:txBody>
      </p:sp>
      <p:sp>
        <p:nvSpPr>
          <p:cNvPr id="3" name="">
            <a:extLst xmlns:a="http://schemas.openxmlformats.org/drawingml/2006/main">
              <a:ext uri="{FF2B5EF4-FFF2-40B4-BE49-F238E27FC236}">
                <a16:creationId xmlns:a16="http://schemas.microsoft.com/office/drawing/2014/main" id="{D69BEB8A-B942-4045-AAFF-64B499583BB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33B45A8-4678-4737-AA82-58766C65505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420D99F-8099-42E6-ACF1-22334EC46D6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53</a:t>
            </a:r>
          </a:p>
        </p:txBody>
      </p:sp>
      <p:sp>
        <p:nvSpPr>
          <p:cNvPr id="6" name="">
            <a:extLst xmlns:a="http://schemas.openxmlformats.org/drawingml/2006/main">
              <a:ext uri="{FF2B5EF4-FFF2-40B4-BE49-F238E27FC236}">
                <a16:creationId xmlns:a16="http://schemas.microsoft.com/office/drawing/2014/main" id="{04C514B9-0A5D-41D6-977D-D5E0B919A66B}"/>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수문·기상 입력 → 예측 모델 → 위험·시점 안내 → 현장 대응 검토</a:t>
            </a:r>
          </a:p>
        </p:txBody>
      </p:sp>
      <p:sp>
        <p:nvSpPr>
          <p:cNvPr id="7" name="">
            <a:extLst xmlns:a="http://schemas.openxmlformats.org/drawingml/2006/main">
              <a:ext uri="{FF2B5EF4-FFF2-40B4-BE49-F238E27FC236}">
                <a16:creationId xmlns:a16="http://schemas.microsoft.com/office/drawing/2014/main" id="{C66F8E4D-0ED8-4C51-8DFC-056C5C63E969}"/>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5B63E528-93AA-4C56-BB22-6EB7AA1D4C34}"/>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082A035F-696D-4442-8341-15F9171FE248}"/>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유역·관측 자료</a:t>
            </a:r>
          </a:p>
        </p:txBody>
      </p:sp>
      <p:sp>
        <p:nvSpPr>
          <p:cNvPr id="10" name="">
            <a:extLst xmlns:a="http://schemas.openxmlformats.org/drawingml/2006/main">
              <a:ext uri="{FF2B5EF4-FFF2-40B4-BE49-F238E27FC236}">
                <a16:creationId xmlns:a16="http://schemas.microsoft.com/office/drawing/2014/main" id="{2989C9FD-7349-46B7-83F9-9A74B98184DA}"/>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37718B0B-26E5-433A-B17E-33F8C5DBA2C9}"/>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2" name="">
            <a:extLst xmlns:a="http://schemas.openxmlformats.org/drawingml/2006/main">
              <a:ext uri="{FF2B5EF4-FFF2-40B4-BE49-F238E27FC236}">
                <a16:creationId xmlns:a16="http://schemas.microsoft.com/office/drawing/2014/main" id="{A2B9D9C6-A1EA-458B-99BF-090AD3E3AD1C}"/>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기상·수문 조회</a:t>
            </a:r>
          </a:p>
        </p:txBody>
      </p:sp>
      <p:sp>
        <p:nvSpPr>
          <p:cNvPr id="13" name="">
            <a:extLst xmlns:a="http://schemas.openxmlformats.org/drawingml/2006/main">
              <a:ext uri="{FF2B5EF4-FFF2-40B4-BE49-F238E27FC236}">
                <a16:creationId xmlns:a16="http://schemas.microsoft.com/office/drawing/2014/main" id="{90E553A8-D31B-4E1F-A84B-30B8899147FA}"/>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0F9DC633-B2DE-4F42-8F1D-2A031C0FB9A1}"/>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5" name="">
            <a:extLst xmlns:a="http://schemas.openxmlformats.org/drawingml/2006/main">
              <a:ext uri="{FF2B5EF4-FFF2-40B4-BE49-F238E27FC236}">
                <a16:creationId xmlns:a16="http://schemas.microsoft.com/office/drawing/2014/main" id="{BC776B7D-44DC-4668-9D19-1BF2578EB9A8}"/>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시간·공간 정합화</a:t>
            </a:r>
          </a:p>
        </p:txBody>
      </p:sp>
      <p:sp>
        <p:nvSpPr>
          <p:cNvPr id="16" name="">
            <a:extLst xmlns:a="http://schemas.openxmlformats.org/drawingml/2006/main">
              <a:ext uri="{FF2B5EF4-FFF2-40B4-BE49-F238E27FC236}">
                <a16:creationId xmlns:a16="http://schemas.microsoft.com/office/drawing/2014/main" id="{3B69104D-0503-4EFD-BA8C-C325C8C14EAA}"/>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B9B8E9FE-F714-4C7C-B217-283435A8F59C}"/>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8" name="">
            <a:extLst xmlns:a="http://schemas.openxmlformats.org/drawingml/2006/main">
              <a:ext uri="{FF2B5EF4-FFF2-40B4-BE49-F238E27FC236}">
                <a16:creationId xmlns:a16="http://schemas.microsoft.com/office/drawing/2014/main" id="{BD7F2823-E583-44DA-9288-19BF5650A48E}"/>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홍수 위험 예측</a:t>
            </a:r>
          </a:p>
        </p:txBody>
      </p:sp>
      <p:sp>
        <p:nvSpPr>
          <p:cNvPr id="19" name="">
            <a:extLst xmlns:a="http://schemas.openxmlformats.org/drawingml/2006/main">
              <a:ext uri="{FF2B5EF4-FFF2-40B4-BE49-F238E27FC236}">
                <a16:creationId xmlns:a16="http://schemas.microsoft.com/office/drawing/2014/main" id="{06D3A196-32B4-49F3-8A12-24A1F33D4665}"/>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11216F41-599A-4A36-8A32-77F473BF67C6}"/>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21" name="">
            <a:extLst xmlns:a="http://schemas.openxmlformats.org/drawingml/2006/main">
              <a:ext uri="{FF2B5EF4-FFF2-40B4-BE49-F238E27FC236}">
                <a16:creationId xmlns:a16="http://schemas.microsoft.com/office/drawing/2014/main" id="{B9D12DB9-EC11-4C59-A9AD-C88CC444D791}"/>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지역별 오차 검사</a:t>
            </a:r>
          </a:p>
        </p:txBody>
      </p:sp>
      <p:sp>
        <p:nvSpPr>
          <p:cNvPr id="22" name="">
            <a:extLst xmlns:a="http://schemas.openxmlformats.org/drawingml/2006/main">
              <a:ext uri="{FF2B5EF4-FFF2-40B4-BE49-F238E27FC236}">
                <a16:creationId xmlns:a16="http://schemas.microsoft.com/office/drawing/2014/main" id="{600B96C9-CF13-4235-85FF-6CCA426EB601}"/>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E577FAF1-A4B8-4186-8B4F-6827D1BE78D2}"/>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4" name="">
            <a:extLst xmlns:a="http://schemas.openxmlformats.org/drawingml/2006/main">
              <a:ext uri="{FF2B5EF4-FFF2-40B4-BE49-F238E27FC236}">
                <a16:creationId xmlns:a16="http://schemas.microsoft.com/office/drawing/2014/main" id="{814A93DD-1DCE-49EF-8BA5-6872F3F7A197}"/>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예보 담당 판단</a:t>
            </a:r>
          </a:p>
        </p:txBody>
      </p:sp>
      <p:sp>
        <p:nvSpPr>
          <p:cNvPr id="25" name="">
            <a:extLst xmlns:a="http://schemas.openxmlformats.org/drawingml/2006/main">
              <a:ext uri="{FF2B5EF4-FFF2-40B4-BE49-F238E27FC236}">
                <a16:creationId xmlns:a16="http://schemas.microsoft.com/office/drawing/2014/main" id="{645E3C7D-B860-4EE5-AA85-29EB30194002}"/>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F9B20C16-D8AE-4893-A614-C726A1E39313}"/>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7" name="">
            <a:extLst xmlns:a="http://schemas.openxmlformats.org/drawingml/2006/main">
              <a:ext uri="{FF2B5EF4-FFF2-40B4-BE49-F238E27FC236}">
                <a16:creationId xmlns:a16="http://schemas.microsoft.com/office/drawing/2014/main" id="{3F850CFB-6EF6-408C-A033-0CFE67210CAD}"/>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경보·대응 연결</a:t>
            </a:r>
          </a:p>
        </p:txBody>
      </p:sp>
      <p:sp>
        <p:nvSpPr>
          <p:cNvPr id="28" name="">
            <a:extLst xmlns:a="http://schemas.openxmlformats.org/drawingml/2006/main">
              <a:ext uri="{FF2B5EF4-FFF2-40B4-BE49-F238E27FC236}">
                <a16:creationId xmlns:a16="http://schemas.microsoft.com/office/drawing/2014/main" id="{AF34132C-6C79-4A97-AC5A-7F2F7798F301}"/>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BA5418D-5163-4D7A-A8CB-1BE1D9A775EB}"/>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0" name="">
            <a:extLst xmlns:a="http://schemas.openxmlformats.org/drawingml/2006/main">
              <a:ext uri="{FF2B5EF4-FFF2-40B4-BE49-F238E27FC236}">
                <a16:creationId xmlns:a16="http://schemas.microsoft.com/office/drawing/2014/main" id="{69DCCCB5-480E-4CB4-92CF-C1E3D8075438}"/>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미탐·과경보 분석</a:t>
            </a:r>
          </a:p>
        </p:txBody>
      </p:sp>
      <p:sp>
        <p:nvSpPr>
          <p:cNvPr id="39" name="">
            <a:extLst xmlns:a="http://schemas.openxmlformats.org/drawingml/2006/main">
              <a:ext uri="{FF2B5EF4-FFF2-40B4-BE49-F238E27FC236}">
                <a16:creationId xmlns:a16="http://schemas.microsoft.com/office/drawing/2014/main" id="{AD1922EF-7DE7-4BA8-9DBA-EBDF55F1DCC1}"/>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421166171"/>
      </p:ext>
    </p:extLst>
  </p:cSld>
</p:sld>
</file>

<file path=ppt/slides/slide5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8EE239EB-BEF6-4B1A-B1C1-CF9605FE071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AX12 / 논리 인터페이스·복구 설계</a:t>
            </a:r>
          </a:p>
        </p:txBody>
      </p:sp>
      <p:sp>
        <p:nvSpPr>
          <p:cNvPr id="2" name="">
            <a:extLst xmlns:a="http://schemas.openxmlformats.org/drawingml/2006/main">
              <a:ext uri="{FF2B5EF4-FFF2-40B4-BE49-F238E27FC236}">
                <a16:creationId xmlns:a16="http://schemas.microsoft.com/office/drawing/2014/main" id="{CF5B84FC-9DE8-46B1-BB6A-44B8ADC1AC0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홍수 예측 · 데이터와 예외 처리</a:t>
            </a:r>
          </a:p>
        </p:txBody>
      </p:sp>
      <p:sp>
        <p:nvSpPr>
          <p:cNvPr id="3" name="">
            <a:extLst xmlns:a="http://schemas.openxmlformats.org/drawingml/2006/main">
              <a:ext uri="{FF2B5EF4-FFF2-40B4-BE49-F238E27FC236}">
                <a16:creationId xmlns:a16="http://schemas.microsoft.com/office/drawing/2014/main" id="{A2D99810-0937-4B0A-87AE-E0732F512A0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ACAC27C-C00F-4171-9C37-41AC4DB3144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A37AF9D-0A6D-48D6-A31D-0D53E6A1C2D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54</a:t>
            </a:r>
          </a:p>
        </p:txBody>
      </p:sp>
      <p:sp>
        <p:nvSpPr>
          <p:cNvPr id="6" name="">
            <a:extLst xmlns:a="http://schemas.openxmlformats.org/drawingml/2006/main">
              <a:ext uri="{FF2B5EF4-FFF2-40B4-BE49-F238E27FC236}">
                <a16:creationId xmlns:a16="http://schemas.microsoft.com/office/drawing/2014/main" id="{9441B27B-FC9A-48DE-AD5E-721B2146414C}"/>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F12122B5-3EEE-4BAF-AD0E-DB2980169798}"/>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4E576227-92EE-4237-8D2F-47FD9BE44D32}"/>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자료</a:t>
            </a:r>
          </a:p>
        </p:txBody>
      </p:sp>
      <p:sp>
        <p:nvSpPr>
          <p:cNvPr id="9" name="">
            <a:extLst xmlns:a="http://schemas.openxmlformats.org/drawingml/2006/main">
              <a:ext uri="{FF2B5EF4-FFF2-40B4-BE49-F238E27FC236}">
                <a16:creationId xmlns:a16="http://schemas.microsoft.com/office/drawing/2014/main" id="{6FCA57C3-61EF-4A70-B353-8F4CDF96A0C5}"/>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하천·예측 이력</a:t>
            </a:r>
          </a:p>
        </p:txBody>
      </p:sp>
      <p:sp>
        <p:nvSpPr>
          <p:cNvPr id="10" name="">
            <a:extLst xmlns:a="http://schemas.openxmlformats.org/drawingml/2006/main">
              <a:ext uri="{FF2B5EF4-FFF2-40B4-BE49-F238E27FC236}">
                <a16:creationId xmlns:a16="http://schemas.microsoft.com/office/drawing/2014/main" id="{595477EC-D49E-4F3C-BC24-762D7A1D8CD5}"/>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BBF3990-46A5-4053-862C-4F7D0FB0CB2C}"/>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비교 자료</a:t>
            </a:r>
          </a:p>
        </p:txBody>
      </p:sp>
      <p:sp>
        <p:nvSpPr>
          <p:cNvPr id="12" name="">
            <a:extLst xmlns:a="http://schemas.openxmlformats.org/drawingml/2006/main">
              <a:ext uri="{FF2B5EF4-FFF2-40B4-BE49-F238E27FC236}">
                <a16:creationId xmlns:a16="http://schemas.microsoft.com/office/drawing/2014/main" id="{FBAEC551-81FA-4495-AAE6-1D9BEACD2B1B}"/>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시간별 예측</a:t>
            </a:r>
          </a:p>
        </p:txBody>
      </p:sp>
      <p:sp>
        <p:nvSpPr>
          <p:cNvPr id="13" name="">
            <a:extLst xmlns:a="http://schemas.openxmlformats.org/drawingml/2006/main">
              <a:ext uri="{FF2B5EF4-FFF2-40B4-BE49-F238E27FC236}">
                <a16:creationId xmlns:a16="http://schemas.microsoft.com/office/drawing/2014/main" id="{0662D0C6-05B8-454A-9519-E5AD3F2D981B}"/>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F8723C5-8BBD-49C9-A437-DB58AF903785}"/>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정합화 특징</a:t>
            </a:r>
          </a:p>
        </p:txBody>
      </p:sp>
      <p:sp>
        <p:nvSpPr>
          <p:cNvPr id="15" name="">
            <a:extLst xmlns:a="http://schemas.openxmlformats.org/drawingml/2006/main">
              <a:ext uri="{FF2B5EF4-FFF2-40B4-BE49-F238E27FC236}">
                <a16:creationId xmlns:a16="http://schemas.microsoft.com/office/drawing/2014/main" id="{CB8385AB-6BB8-489A-919E-FF28FD23BAD3}"/>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6" name="">
            <a:extLst xmlns:a="http://schemas.openxmlformats.org/drawingml/2006/main">
              <a:ext uri="{FF2B5EF4-FFF2-40B4-BE49-F238E27FC236}">
                <a16:creationId xmlns:a16="http://schemas.microsoft.com/office/drawing/2014/main" id="{D04A933F-5C3E-4CBB-8030-6D04837E4ACB}"/>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1497060-745D-411E-B768-BE83B582B2D3}"/>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예측·분류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결과</a:t>
            </a:r>
          </a:p>
        </p:txBody>
      </p:sp>
      <p:sp>
        <p:nvSpPr>
          <p:cNvPr id="18" name="">
            <a:extLst xmlns:a="http://schemas.openxmlformats.org/drawingml/2006/main">
              <a:ext uri="{FF2B5EF4-FFF2-40B4-BE49-F238E27FC236}">
                <a16:creationId xmlns:a16="http://schemas.microsoft.com/office/drawing/2014/main" id="{0320EB59-984A-4D3C-9DC2-6DCA722929FF}"/>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위험·예상 시점</a:t>
            </a:r>
          </a:p>
        </p:txBody>
      </p:sp>
      <p:sp>
        <p:nvSpPr>
          <p:cNvPr id="19" name="">
            <a:extLst xmlns:a="http://schemas.openxmlformats.org/drawingml/2006/main">
              <a:ext uri="{FF2B5EF4-FFF2-40B4-BE49-F238E27FC236}">
                <a16:creationId xmlns:a16="http://schemas.microsoft.com/office/drawing/2014/main" id="{679CBF81-D2D5-47C4-BA1D-9A16F023D95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1CB1082-68D7-4277-9662-93435EAAE27E}"/>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오차·편향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확인</a:t>
            </a:r>
          </a:p>
        </p:txBody>
      </p:sp>
      <p:sp>
        <p:nvSpPr>
          <p:cNvPr id="21" name="">
            <a:extLst xmlns:a="http://schemas.openxmlformats.org/drawingml/2006/main">
              <a:ext uri="{FF2B5EF4-FFF2-40B4-BE49-F238E27FC236}">
                <a16:creationId xmlns:a16="http://schemas.microsoft.com/office/drawing/2014/main" id="{CE898C91-41A1-4501-B051-12773F831CEB}"/>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위험·예상 시점</a:t>
            </a:r>
          </a:p>
        </p:txBody>
      </p:sp>
      <p:sp>
        <p:nvSpPr>
          <p:cNvPr id="22" name="">
            <a:extLst xmlns:a="http://schemas.openxmlformats.org/drawingml/2006/main">
              <a:ext uri="{FF2B5EF4-FFF2-40B4-BE49-F238E27FC236}">
                <a16:creationId xmlns:a16="http://schemas.microsoft.com/office/drawing/2014/main" id="{63923A50-D8FA-4806-83A2-D9E73DFA61F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7243B80-92D6-4196-B728-2831DD3F5869}"/>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적용 결과</a:t>
            </a:r>
          </a:p>
        </p:txBody>
      </p:sp>
      <p:sp>
        <p:nvSpPr>
          <p:cNvPr id="24" name="">
            <a:extLst xmlns:a="http://schemas.openxmlformats.org/drawingml/2006/main">
              <a:ext uri="{FF2B5EF4-FFF2-40B4-BE49-F238E27FC236}">
                <a16:creationId xmlns:a16="http://schemas.microsoft.com/office/drawing/2014/main" id="{B8806591-1442-4569-99D1-498E97F3FEE6}"/>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현장 대응 판단</a:t>
            </a:r>
          </a:p>
        </p:txBody>
      </p:sp>
      <p:sp>
        <p:nvSpPr>
          <p:cNvPr id="25" name="">
            <a:extLst xmlns:a="http://schemas.openxmlformats.org/drawingml/2006/main">
              <a:ext uri="{FF2B5EF4-FFF2-40B4-BE49-F238E27FC236}">
                <a16:creationId xmlns:a16="http://schemas.microsoft.com/office/drawing/2014/main" id="{921183DC-91D5-47D2-926C-71956EAE83A6}"/>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6FD978BD-FAE7-4CF4-9A0B-D01B30C50E9B}"/>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관측 결측·분포가 다른 유역·예측시점 이후 자료 혼입</a:t>
            </a:r>
          </a:p>
        </p:txBody>
      </p:sp>
      <p:sp>
        <p:nvSpPr>
          <p:cNvPr id="27" name="">
            <a:extLst xmlns:a="http://schemas.openxmlformats.org/drawingml/2006/main">
              <a:ext uri="{FF2B5EF4-FFF2-40B4-BE49-F238E27FC236}">
                <a16:creationId xmlns:a16="http://schemas.microsoft.com/office/drawing/2014/main" id="{624DEA21-C212-4EBB-8DA6-5351EDE37F68}"/>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25896653-2FE5-47AE-A8D6-35C0A254DD39}"/>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지역별 오탐·미탐과 선행시간 평가</a:t>
            </a:r>
          </a:p>
        </p:txBody>
      </p:sp>
      <p:sp>
        <p:nvSpPr>
          <p:cNvPr id="29" name="">
            <a:extLst xmlns:a="http://schemas.openxmlformats.org/drawingml/2006/main">
              <a:ext uri="{FF2B5EF4-FFF2-40B4-BE49-F238E27FC236}">
                <a16:creationId xmlns:a16="http://schemas.microsoft.com/office/drawing/2014/main" id="{E21C1BAF-5AE3-4E14-A4B5-AC9D361EBEEB}"/>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48CB353D-6024-40EC-BB67-2B35CADAC7F6}"/>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미탐·과경보와 지역별 오차의 사후 분석</a:t>
            </a:r>
          </a:p>
        </p:txBody>
      </p:sp>
      <p:sp>
        <p:nvSpPr>
          <p:cNvPr id="31" name="">
            <a:extLst xmlns:a="http://schemas.openxmlformats.org/drawingml/2006/main">
              <a:ext uri="{FF2B5EF4-FFF2-40B4-BE49-F238E27FC236}">
                <a16:creationId xmlns:a16="http://schemas.microsoft.com/office/drawing/2014/main" id="{6A68724F-77D1-439F-97BA-739872C47A7C}"/>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4FB074E3-CEA7-47D1-B089-D66034EFF228}"/>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시점 분리 평가와 유역별 미탐·과경보 결과</a:t>
            </a:r>
          </a:p>
        </p:txBody>
      </p:sp>
    </p:spTree>
    <p:extLst>
      <p:ext uri="{BB962C8B-B14F-4D97-AF65-F5344CB8AC3E}">
        <p14:creationId xmlns:p14="http://schemas.microsoft.com/office/powerpoint/2010/main" val="739210834"/>
      </p:ext>
    </p:extLst>
  </p:cSld>
</p:sld>
</file>

<file path=ppt/slides/slide5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65E6154-EF54-4162-BA6B-EF846ABD993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AX12 / CCK 비교·재현 시험 설계</a:t>
            </a:r>
          </a:p>
        </p:txBody>
      </p:sp>
      <p:sp>
        <p:nvSpPr>
          <p:cNvPr id="2" name="">
            <a:extLst xmlns:a="http://schemas.openxmlformats.org/drawingml/2006/main">
              <a:ext uri="{FF2B5EF4-FFF2-40B4-BE49-F238E27FC236}">
                <a16:creationId xmlns:a16="http://schemas.microsoft.com/office/drawing/2014/main" id="{A8395303-8271-43C7-9BA9-9A225CA085F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홍수 예측 · 벤치마킹</a:t>
            </a:r>
          </a:p>
        </p:txBody>
      </p:sp>
      <p:sp>
        <p:nvSpPr>
          <p:cNvPr id="3" name="">
            <a:extLst xmlns:a="http://schemas.openxmlformats.org/drawingml/2006/main">
              <a:ext uri="{FF2B5EF4-FFF2-40B4-BE49-F238E27FC236}">
                <a16:creationId xmlns:a16="http://schemas.microsoft.com/office/drawing/2014/main" id="{D84C9918-B015-45EF-BEE2-967D312ED52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9B56B7F-A112-4337-8C52-8147AC30B13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427CA30-AB9B-40D0-89E5-BA2DC23B275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55</a:t>
            </a:r>
          </a:p>
        </p:txBody>
      </p:sp>
      <p:sp>
        <p:nvSpPr>
          <p:cNvPr id="6" name="">
            <a:extLst xmlns:a="http://schemas.openxmlformats.org/drawingml/2006/main">
              <a:ext uri="{FF2B5EF4-FFF2-40B4-BE49-F238E27FC236}">
                <a16:creationId xmlns:a16="http://schemas.microsoft.com/office/drawing/2014/main" id="{D32977E8-CCBF-43CA-9A9C-5EEA7C630076}"/>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3E612D62-899B-495A-B6C6-1A79D36461E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관측 부족 지역의 예측 범위 확대</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비교 평가를 통한 예측 검토</a:t>
            </a:r>
          </a:p>
        </p:txBody>
      </p:sp>
      <p:sp>
        <p:nvSpPr>
          <p:cNvPr id="8" name="">
            <a:extLst xmlns:a="http://schemas.openxmlformats.org/drawingml/2006/main">
              <a:ext uri="{FF2B5EF4-FFF2-40B4-BE49-F238E27FC236}">
                <a16:creationId xmlns:a16="http://schemas.microsoft.com/office/drawing/2014/main" id="{05EFF0B9-2C6B-44E6-B3E8-453A4694FE3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B94D1E5B-B008-4982-9023-D97F6DA6E81F}"/>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관측 분포·지역별 불확실성</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경보 정확도와 실제 대응 효과의 차이</a:t>
            </a:r>
          </a:p>
        </p:txBody>
      </p:sp>
      <p:sp>
        <p:nvSpPr>
          <p:cNvPr id="10" name="">
            <a:extLst xmlns:a="http://schemas.openxmlformats.org/drawingml/2006/main">
              <a:ext uri="{FF2B5EF4-FFF2-40B4-BE49-F238E27FC236}">
                <a16:creationId xmlns:a16="http://schemas.microsoft.com/office/drawing/2014/main" id="{92607B2C-986E-4613-AD60-4DFC2073BCD5}"/>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808842F2-D818-49A9-ACC3-8A3689630C23}"/>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지역별 오탐·미탐과 선행시간 평가</a:t>
            </a:r>
          </a:p>
        </p:txBody>
      </p:sp>
      <p:sp>
        <p:nvSpPr>
          <p:cNvPr id="12" name="">
            <a:extLst xmlns:a="http://schemas.openxmlformats.org/drawingml/2006/main">
              <a:ext uri="{FF2B5EF4-FFF2-40B4-BE49-F238E27FC236}">
                <a16:creationId xmlns:a16="http://schemas.microsoft.com/office/drawing/2014/main" id="{AA230508-2DFB-494B-823B-48CAE6B5F114}"/>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739AE824-1377-4753-B7D9-B01F386D37B1}"/>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유역별 예측 위험을 지역별 대응 검토에 제공</a:t>
            </a:r>
          </a:p>
        </p:txBody>
      </p:sp>
      <p:sp>
        <p:nvSpPr>
          <p:cNvPr id="14" name="">
            <a:extLst xmlns:a="http://schemas.openxmlformats.org/drawingml/2006/main">
              <a:ext uri="{FF2B5EF4-FFF2-40B4-BE49-F238E27FC236}">
                <a16:creationId xmlns:a16="http://schemas.microsoft.com/office/drawing/2014/main" id="{BA6C553F-AC76-4A96-8074-6212408530E0}"/>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F16CF890-E907-4872-B966-9621FA4326BE}"/>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관측 결측·분포가 다른 유역·예측시점 이후 자료 혼</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입</a:t>
            </a:r>
          </a:p>
        </p:txBody>
      </p:sp>
      <p:sp>
        <p:nvSpPr>
          <p:cNvPr id="16" name="">
            <a:extLst xmlns:a="http://schemas.openxmlformats.org/drawingml/2006/main">
              <a:ext uri="{FF2B5EF4-FFF2-40B4-BE49-F238E27FC236}">
                <a16:creationId xmlns:a16="http://schemas.microsoft.com/office/drawing/2014/main" id="{C0384000-AAD9-48EC-848A-2B2D4C3A954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1065F8F5-EB76-43B9-A50B-91F7AAAEB128}"/>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시점 분리 평가와 유역별 미탐·과경보 결과</a:t>
            </a:r>
          </a:p>
        </p:txBody>
      </p:sp>
    </p:spTree>
    <p:extLst>
      <p:ext uri="{BB962C8B-B14F-4D97-AF65-F5344CB8AC3E}">
        <p14:creationId xmlns:p14="http://schemas.microsoft.com/office/powerpoint/2010/main" val="177094783"/>
      </p:ext>
    </p:extLst>
  </p:cSld>
</p:sld>
</file>

<file path=ppt/slides/slide5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CE158AC-9112-401C-AF4F-A5FFDE9D83B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AX13 / 실패 / 해외</a:t>
            </a:r>
          </a:p>
        </p:txBody>
      </p:sp>
      <p:sp>
        <p:nvSpPr>
          <p:cNvPr id="2" name="">
            <a:extLst xmlns:a="http://schemas.openxmlformats.org/drawingml/2006/main">
              <a:ext uri="{FF2B5EF4-FFF2-40B4-BE49-F238E27FC236}">
                <a16:creationId xmlns:a16="http://schemas.microsoft.com/office/drawing/2014/main" id="{8EC45467-A3B4-4BEA-A856-8680FDCEB2A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a:t>
            </a:r>
          </a:p>
        </p:txBody>
      </p:sp>
      <p:sp>
        <p:nvSpPr>
          <p:cNvPr id="3" name="">
            <a:extLst xmlns:a="http://schemas.openxmlformats.org/drawingml/2006/main">
              <a:ext uri="{FF2B5EF4-FFF2-40B4-BE49-F238E27FC236}">
                <a16:creationId xmlns:a16="http://schemas.microsoft.com/office/drawing/2014/main" id="{DA60A24B-6F65-4E41-92C0-B44555E0BBC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CAA9924-BA9E-4D4C-BED4-23CE43F9F5C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1D1F7C7-AE52-497E-B184-3E1CF26406C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56</a:t>
            </a:r>
          </a:p>
        </p:txBody>
      </p:sp>
      <p:sp>
        <p:nvSpPr>
          <p:cNvPr id="6" name="">
            <a:extLst xmlns:a="http://schemas.openxmlformats.org/drawingml/2006/main">
              <a:ext uri="{FF2B5EF4-FFF2-40B4-BE49-F238E27FC236}">
                <a16:creationId xmlns:a16="http://schemas.microsoft.com/office/drawing/2014/main" id="{24B95E52-E543-44ED-A41A-61D5ADF9AD49}"/>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310D4A66-D1E6-49FF-A9BE-28960E4D88BD}"/>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뉴욕 MyCity의 챗봇 답변 품질과 통합서비스 사업관리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문제를 다룬 감사 사례. 공식 안내의 정확성과 서비스 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합·계약 감독을 함께 봐야 하는 대민 AI 사업의 사례.</a:t>
            </a:r>
          </a:p>
        </p:txBody>
      </p:sp>
      <p:sp>
        <p:nvSpPr>
          <p:cNvPr id="8" name="">
            <a:extLst xmlns:a="http://schemas.openxmlformats.org/drawingml/2006/main">
              <a:ext uri="{FF2B5EF4-FFF2-40B4-BE49-F238E27FC236}">
                <a16:creationId xmlns:a16="http://schemas.microsoft.com/office/drawing/2014/main" id="{6C5C0908-FC44-4F74-963C-100E85AA0197}"/>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00F0AAB8-5374-4B2E-8084-6CD86F72F4E7}"/>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질문별 근거 문서, 답변 결과, 공식 신청 경로, 오류 수정</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이력을 연결하는 재구성. 독립 시험셋과 계약 산출물 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록을 대응시키고 감사 지적·기관 반론을 근거별로 구분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해 비교하는 방식.</a:t>
            </a:r>
          </a:p>
        </p:txBody>
      </p:sp>
      <p:sp>
        <p:nvSpPr>
          <p:cNvPr id="10" name="">
            <a:extLst xmlns:a="http://schemas.openxmlformats.org/drawingml/2006/main">
              <a:ext uri="{FF2B5EF4-FFF2-40B4-BE49-F238E27FC236}">
                <a16:creationId xmlns:a16="http://schemas.microsoft.com/office/drawing/2014/main" id="{21E71426-87BB-4B66-A345-7EA44AA09866}"/>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B36ED623-3159-4738-A1DA-231F9A7D708A}"/>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TS에서는 챗봇 공개와 민원 업무 완결을 같은 성과로 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 않는 설계에 활용. 부정확·상충 안내의 회귀시험, 완료</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조건 정의, 변경 요구와 인수 증빙의 연결을 CCK 사업관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리 기능에 반영할 필요.</a:t>
            </a:r>
          </a:p>
        </p:txBody>
      </p:sp>
      <p:sp>
        <p:nvSpPr>
          <p:cNvPr id="12" name="">
            <a:extLst xmlns:a="http://schemas.openxmlformats.org/drawingml/2006/main">
              <a:ext uri="{FF2B5EF4-FFF2-40B4-BE49-F238E27FC236}">
                <a16:creationId xmlns:a16="http://schemas.microsoft.com/office/drawing/2014/main" id="{A03471E6-05E0-4F64-9DED-4172F5B8C244}"/>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9B52344-6821-49AF-BF19-A3D1DCA7B3AF}"/>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반례 정답셋·오안내 신고·책임부서 인계</a:t>
            </a:r>
          </a:p>
        </p:txBody>
      </p:sp>
      <p:sp>
        <p:nvSpPr>
          <p:cNvPr id="14" name="">
            <a:extLst xmlns:a="http://schemas.openxmlformats.org/drawingml/2006/main">
              <a:ext uri="{FF2B5EF4-FFF2-40B4-BE49-F238E27FC236}">
                <a16:creationId xmlns:a16="http://schemas.microsoft.com/office/drawing/2014/main" id="{5647017E-521A-4DCD-A3A8-6423D5D181E8}"/>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76328F7-D78F-49FA-8307-19C9C5DDC715}"/>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규정과 상충하는 안내 및 미완료 신청 재현</a:t>
            </a:r>
          </a:p>
        </p:txBody>
      </p:sp>
      <p:sp>
        <p:nvSpPr>
          <p:cNvPr id="16" name="">
            <a:extLst xmlns:a="http://schemas.openxmlformats.org/drawingml/2006/main">
              <a:ext uri="{FF2B5EF4-FFF2-40B4-BE49-F238E27FC236}">
                <a16:creationId xmlns:a16="http://schemas.microsoft.com/office/drawing/2014/main" id="{108B3F50-DEC8-4842-AAC0-861984511F95}"/>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9549ED45-D2EE-4F22-8DE6-12D8BCD5A67B}"/>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오안내율 / 신청 완료율 / 재접촉률</a:t>
            </a:r>
          </a:p>
        </p:txBody>
      </p:sp>
      <p:sp>
        <p:nvSpPr>
          <p:cNvPr id="18" name="">
            <a:extLst xmlns:a="http://schemas.openxmlformats.org/drawingml/2006/main">
              <a:ext uri="{FF2B5EF4-FFF2-40B4-BE49-F238E27FC236}">
                <a16:creationId xmlns:a16="http://schemas.microsoft.com/office/drawing/2014/main" id="{4A9B59D8-D965-44D9-A947-2CD577BB0C0B}"/>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운영기관의 정확도 주장과 감사 판단의 차이 존재 · 개별 질의·평가 방식 대조 필요</a:t>
            </a:r>
          </a:p>
        </p:txBody>
      </p:sp>
    </p:spTree>
    <p:extLst>
      <p:ext uri="{BB962C8B-B14F-4D97-AF65-F5344CB8AC3E}">
        <p14:creationId xmlns:p14="http://schemas.microsoft.com/office/powerpoint/2010/main" val="1766251166"/>
      </p:ext>
    </p:extLst>
  </p:cSld>
</p:sld>
</file>

<file path=ppt/slides/slide5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AE7028CE-66F3-4495-8605-42CBC3680DAA}"/>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7ABB2061-8260-4B10-9461-044C89246A0C}"/>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16F07E8D-A07C-4E3B-8460-762D20779186}"/>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0F5318C2-6BFF-428D-94C4-88ADF23776F8}"/>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5A098471-32B0-481B-BEAD-09C9C2421AE6}"/>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DC058766-88EA-4B6E-B721-722322959C27}"/>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DD15C403-61CC-47CA-BE9E-877ABE863C22}"/>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895D014D-4F7D-424C-BFF8-F6F5D6582D6E}"/>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72CC7717-4F9B-44CC-AB04-D71D925D53E2}"/>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DE9166E9-DEC3-49B7-8BD8-11B94788EB6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AX13 / 지식 갱신·검색·근거 응답</a:t>
            </a:r>
          </a:p>
        </p:txBody>
      </p:sp>
      <p:sp>
        <p:nvSpPr>
          <p:cNvPr id="2" name="">
            <a:extLst xmlns:a="http://schemas.openxmlformats.org/drawingml/2006/main">
              <a:ext uri="{FF2B5EF4-FFF2-40B4-BE49-F238E27FC236}">
                <a16:creationId xmlns:a16="http://schemas.microsoft.com/office/drawing/2014/main" id="{44154173-C721-40C8-B142-CD126945360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세부 서비스 구조</a:t>
            </a:r>
          </a:p>
        </p:txBody>
      </p:sp>
      <p:sp>
        <p:nvSpPr>
          <p:cNvPr id="3" name="">
            <a:extLst xmlns:a="http://schemas.openxmlformats.org/drawingml/2006/main">
              <a:ext uri="{FF2B5EF4-FFF2-40B4-BE49-F238E27FC236}">
                <a16:creationId xmlns:a16="http://schemas.microsoft.com/office/drawing/2014/main" id="{CB328C3D-96D6-47F7-8AC1-8DDE45FD3CC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2D6DD7D-7FB6-423F-A290-736B9040EC5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4CAC317-FB8E-4AEF-B5EF-FC79A45034B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57</a:t>
            </a:r>
          </a:p>
        </p:txBody>
      </p:sp>
      <p:sp>
        <p:nvSpPr>
          <p:cNvPr id="6" name="">
            <a:extLst xmlns:a="http://schemas.openxmlformats.org/drawingml/2006/main">
              <a:ext uri="{FF2B5EF4-FFF2-40B4-BE49-F238E27FC236}">
                <a16:creationId xmlns:a16="http://schemas.microsoft.com/office/drawing/2014/main" id="{BDE60C77-0E45-44DF-9102-5EFF2F547B28}"/>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공공 안내 자료 → AI 챗봇 → 사업자 안내 → 감사·개선 요청</a:t>
            </a:r>
          </a:p>
        </p:txBody>
      </p:sp>
      <p:sp>
        <p:nvSpPr>
          <p:cNvPr id="7" name="">
            <a:extLst xmlns:a="http://schemas.openxmlformats.org/drawingml/2006/main">
              <a:ext uri="{FF2B5EF4-FFF2-40B4-BE49-F238E27FC236}">
                <a16:creationId xmlns:a16="http://schemas.microsoft.com/office/drawing/2014/main" id="{185E12CE-5151-41A1-8334-70B527D4180F}"/>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C6A4A364-1881-41B4-B83C-B2E19B061E48}"/>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81111F68-DAE5-43EC-BE17-592AC495E58F}"/>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정책·서비스 목록</a:t>
            </a:r>
          </a:p>
        </p:txBody>
      </p:sp>
      <p:sp>
        <p:nvSpPr>
          <p:cNvPr id="10" name="">
            <a:extLst xmlns:a="http://schemas.openxmlformats.org/drawingml/2006/main">
              <a:ext uri="{FF2B5EF4-FFF2-40B4-BE49-F238E27FC236}">
                <a16:creationId xmlns:a16="http://schemas.microsoft.com/office/drawing/2014/main" id="{0373390E-1671-4B62-8AF6-2C6BE132CFD3}"/>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0FA93FAC-C5AA-4653-80FB-CCF23A794C01}"/>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6C5DABD8-7D7D-4ABF-8941-9DC5AD952079}"/>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판본·적용조건 정리</a:t>
            </a:r>
          </a:p>
        </p:txBody>
      </p:sp>
      <p:sp>
        <p:nvSpPr>
          <p:cNvPr id="13" name="">
            <a:extLst xmlns:a="http://schemas.openxmlformats.org/drawingml/2006/main">
              <a:ext uri="{FF2B5EF4-FFF2-40B4-BE49-F238E27FC236}">
                <a16:creationId xmlns:a16="http://schemas.microsoft.com/office/drawing/2014/main" id="{62519A28-52D8-4F38-B329-05747454BE77}"/>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062FCE58-D837-4EE0-B073-B60A187DB2A3}"/>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EC7FBEDC-16CF-4896-8A8F-538A63A104F1}"/>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안내·회귀시험셋</a:t>
            </a:r>
          </a:p>
        </p:txBody>
      </p:sp>
      <p:sp>
        <p:nvSpPr>
          <p:cNvPr id="16" name="">
            <a:extLst xmlns:a="http://schemas.openxmlformats.org/drawingml/2006/main">
              <a:ext uri="{FF2B5EF4-FFF2-40B4-BE49-F238E27FC236}">
                <a16:creationId xmlns:a16="http://schemas.microsoft.com/office/drawing/2014/main" id="{889C33E9-4996-48A6-BB32-3F8FC595D56F}"/>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1EE6F86-091E-4B33-80D3-39538636ACFB}"/>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0D7E8753-BA84-49C7-B361-5C8FC42E28DE}"/>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안내 검색</a:t>
            </a:r>
          </a:p>
        </p:txBody>
      </p:sp>
      <p:sp>
        <p:nvSpPr>
          <p:cNvPr id="19" name="">
            <a:extLst xmlns:a="http://schemas.openxmlformats.org/drawingml/2006/main">
              <a:ext uri="{FF2B5EF4-FFF2-40B4-BE49-F238E27FC236}">
                <a16:creationId xmlns:a16="http://schemas.microsoft.com/office/drawing/2014/main" id="{1F90CC5E-48F3-4EE0-92DB-1CA30DF57F24}"/>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F08EC06C-4DC4-41DB-971F-9D00CD903C41}"/>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88EEC0CA-06B5-45DC-A0B0-7D9030D31C1A}"/>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MyCity 질의</a:t>
            </a:r>
          </a:p>
        </p:txBody>
      </p:sp>
      <p:sp>
        <p:nvSpPr>
          <p:cNvPr id="22" name="">
            <a:extLst xmlns:a="http://schemas.openxmlformats.org/drawingml/2006/main">
              <a:ext uri="{FF2B5EF4-FFF2-40B4-BE49-F238E27FC236}">
                <a16:creationId xmlns:a16="http://schemas.microsoft.com/office/drawing/2014/main" id="{D2AFF732-1EB7-4250-93C5-06555F31051B}"/>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8210CEA4-4D42-4484-B507-3353000CEB7F}"/>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596A0ED0-6687-4FD2-991D-1E8465F68C4A}"/>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소관·이용조건</a:t>
            </a:r>
          </a:p>
        </p:txBody>
      </p:sp>
      <p:sp>
        <p:nvSpPr>
          <p:cNvPr id="25" name="">
            <a:extLst xmlns:a="http://schemas.openxmlformats.org/drawingml/2006/main">
              <a:ext uri="{FF2B5EF4-FFF2-40B4-BE49-F238E27FC236}">
                <a16:creationId xmlns:a16="http://schemas.microsoft.com/office/drawing/2014/main" id="{21AEBB23-F09D-4512-8FF7-E3F66F3F7FB2}"/>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EF699B22-CF30-4F66-9D43-D52122C9F410}"/>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5EEE4EF5-A4A2-47BE-9FAB-F69C8F6E382D}"/>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근거형 답변 구성</a:t>
            </a:r>
          </a:p>
        </p:txBody>
      </p:sp>
      <p:sp>
        <p:nvSpPr>
          <p:cNvPr id="28" name="">
            <a:extLst xmlns:a="http://schemas.openxmlformats.org/drawingml/2006/main">
              <a:ext uri="{FF2B5EF4-FFF2-40B4-BE49-F238E27FC236}">
                <a16:creationId xmlns:a16="http://schemas.microsoft.com/office/drawing/2014/main" id="{C7CB7A6D-DEC4-4F33-8482-A2FC5F518F90}"/>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6B3B9582-7C07-41F9-91F4-5BB337AB80E2}"/>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43429EB3-C85F-4CB1-8B50-17E3DDA7ABB9}"/>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위법·상충 안내 </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검사</a:t>
            </a:r>
          </a:p>
        </p:txBody>
      </p:sp>
      <p:sp>
        <p:nvSpPr>
          <p:cNvPr id="31" name="">
            <a:extLst xmlns:a="http://schemas.openxmlformats.org/drawingml/2006/main">
              <a:ext uri="{FF2B5EF4-FFF2-40B4-BE49-F238E27FC236}">
                <a16:creationId xmlns:a16="http://schemas.microsoft.com/office/drawing/2014/main" id="{0D0CAD19-BAC2-45E3-BD10-83DF679F8BB1}"/>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30BD83EB-AFED-4F98-B66D-911233533341}"/>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3E4DCD61-80AB-4866-8F66-5EAD2014D14E}"/>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서비스 담당 검토</a:t>
            </a:r>
          </a:p>
        </p:txBody>
      </p:sp>
      <p:sp>
        <p:nvSpPr>
          <p:cNvPr id="34" name="">
            <a:extLst xmlns:a="http://schemas.openxmlformats.org/drawingml/2006/main">
              <a:ext uri="{FF2B5EF4-FFF2-40B4-BE49-F238E27FC236}">
                <a16:creationId xmlns:a16="http://schemas.microsoft.com/office/drawing/2014/main" id="{06586C1A-BC12-47D1-81C9-A7151D7845AD}"/>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65DA5A6A-9BFC-4253-A824-906E3954CEFB}"/>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E4A289CF-F05E-4EA7-9375-69FDA9D8C613}"/>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신청 경로 안내</a:t>
            </a:r>
          </a:p>
        </p:txBody>
      </p:sp>
      <p:sp>
        <p:nvSpPr>
          <p:cNvPr id="46" name="">
            <a:extLst xmlns:a="http://schemas.openxmlformats.org/drawingml/2006/main">
              <a:ext uri="{FF2B5EF4-FFF2-40B4-BE49-F238E27FC236}">
                <a16:creationId xmlns:a16="http://schemas.microsoft.com/office/drawing/2014/main" id="{F60A8439-0CE2-4864-8EC8-06B89DF455F1}"/>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88323813"/>
      </p:ext>
    </p:extLst>
  </p:cSld>
</p:sld>
</file>

<file path=ppt/slides/slide5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117D719-3B4E-4F4E-8DFD-19539DB6A7F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AX13 / 논리 인터페이스·복구 설계</a:t>
            </a:r>
          </a:p>
        </p:txBody>
      </p:sp>
      <p:sp>
        <p:nvSpPr>
          <p:cNvPr id="2" name="">
            <a:extLst xmlns:a="http://schemas.openxmlformats.org/drawingml/2006/main">
              <a:ext uri="{FF2B5EF4-FFF2-40B4-BE49-F238E27FC236}">
                <a16:creationId xmlns:a16="http://schemas.microsoft.com/office/drawing/2014/main" id="{D54FE832-E452-4DC0-8154-361FA467639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데이터와 예외 처리</a:t>
            </a:r>
          </a:p>
        </p:txBody>
      </p:sp>
      <p:sp>
        <p:nvSpPr>
          <p:cNvPr id="3" name="">
            <a:extLst xmlns:a="http://schemas.openxmlformats.org/drawingml/2006/main">
              <a:ext uri="{FF2B5EF4-FFF2-40B4-BE49-F238E27FC236}">
                <a16:creationId xmlns:a16="http://schemas.microsoft.com/office/drawing/2014/main" id="{AC229A8B-48E8-49E7-9124-6B80D5B804E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C0E07F4-B583-4955-8AFD-0E3F88A9CE3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E8979A5-C800-41C5-999C-88C1A8D3F4D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58</a:t>
            </a:r>
          </a:p>
        </p:txBody>
      </p:sp>
      <p:sp>
        <p:nvSpPr>
          <p:cNvPr id="6" name="">
            <a:extLst xmlns:a="http://schemas.openxmlformats.org/drawingml/2006/main">
              <a:ext uri="{FF2B5EF4-FFF2-40B4-BE49-F238E27FC236}">
                <a16:creationId xmlns:a16="http://schemas.microsoft.com/office/drawing/2014/main" id="{E0DFC083-8740-454B-B8DD-84B224C97B62}"/>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DA53F7A8-922C-42AF-A31F-C33EF6A6E011}"/>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FD70B5DB-35F6-4982-B1B2-D88106A457CE}"/>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90E8A4EB-CC52-4CCD-B32E-B2A2CF4C9461}"/>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공공 안내·응답 기록</a:t>
            </a:r>
          </a:p>
        </p:txBody>
      </p:sp>
      <p:sp>
        <p:nvSpPr>
          <p:cNvPr id="10" name="">
            <a:extLst xmlns:a="http://schemas.openxmlformats.org/drawingml/2006/main">
              <a:ext uri="{FF2B5EF4-FFF2-40B4-BE49-F238E27FC236}">
                <a16:creationId xmlns:a16="http://schemas.microsoft.com/office/drawing/2014/main" id="{51C56157-C74B-4651-AED4-87472093431E}"/>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6CF92C0-14CE-4BCA-9B30-E99E01336520}"/>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E521B46A-3813-4130-992C-E548228DD4E9}"/>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9383045B-182B-4CB8-9816-60C0B2096FF1}"/>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A9EE747-FEC1-43A0-94CF-4313781073FF}"/>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4085455B-0B85-4EF5-BE9B-46C83EFB500E}"/>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요청 업무와 공식 소관·이용조건 식별</a:t>
            </a:r>
          </a:p>
        </p:txBody>
      </p:sp>
      <p:sp>
        <p:nvSpPr>
          <p:cNvPr id="16" name="">
            <a:extLst xmlns:a="http://schemas.openxmlformats.org/drawingml/2006/main">
              <a:ext uri="{FF2B5EF4-FFF2-40B4-BE49-F238E27FC236}">
                <a16:creationId xmlns:a16="http://schemas.microsoft.com/office/drawing/2014/main" id="{8BD2EDE4-D4AC-403B-8875-DA83E89A126D}"/>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5B16EC5-3F36-4387-A332-9C4233A3D8BC}"/>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7E8882D4-6049-48B4-B17B-21302989DDA3}"/>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질문별 정답·변형 질의 일관성·실제 서비스 </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도달 기록</a:t>
            </a:r>
          </a:p>
        </p:txBody>
      </p:sp>
      <p:sp>
        <p:nvSpPr>
          <p:cNvPr id="19" name="">
            <a:extLst xmlns:a="http://schemas.openxmlformats.org/drawingml/2006/main">
              <a:ext uri="{FF2B5EF4-FFF2-40B4-BE49-F238E27FC236}">
                <a16:creationId xmlns:a16="http://schemas.microsoft.com/office/drawing/2014/main" id="{8DA83B78-D0B8-4416-A420-2C1258B625F4}"/>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7A1E05E-1E5C-45FF-A48B-F7A19AE159F9}"/>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35DE49B0-0781-4DD0-A2E6-2CA32EE6568E}"/>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안내 자료</a:t>
            </a:r>
          </a:p>
        </p:txBody>
      </p:sp>
      <p:sp>
        <p:nvSpPr>
          <p:cNvPr id="22" name="">
            <a:extLst xmlns:a="http://schemas.openxmlformats.org/drawingml/2006/main">
              <a:ext uri="{FF2B5EF4-FFF2-40B4-BE49-F238E27FC236}">
                <a16:creationId xmlns:a16="http://schemas.microsoft.com/office/drawing/2014/main" id="{CD422EFA-2DCD-4CC2-817A-FED51D4CDC14}"/>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E1D332D-14E6-4CDA-B997-8424FA0CB6C8}"/>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B1165501-5E56-448C-A70D-DBC137898406}"/>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챗봇 답변·연결</a:t>
            </a:r>
          </a:p>
        </p:txBody>
      </p:sp>
      <p:sp>
        <p:nvSpPr>
          <p:cNvPr id="25" name="">
            <a:extLst xmlns:a="http://schemas.openxmlformats.org/drawingml/2006/main">
              <a:ext uri="{FF2B5EF4-FFF2-40B4-BE49-F238E27FC236}">
                <a16:creationId xmlns:a16="http://schemas.microsoft.com/office/drawing/2014/main" id="{640AB52C-E5C5-4608-BBCC-BFD289356140}"/>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72C79282-7DEC-446F-9325-2B9370C64FDA}"/>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질문 표현 변경·상충 규정·폐지된 서비스</a:t>
            </a:r>
          </a:p>
        </p:txBody>
      </p:sp>
      <p:sp>
        <p:nvSpPr>
          <p:cNvPr id="27" name="">
            <a:extLst xmlns:a="http://schemas.openxmlformats.org/drawingml/2006/main">
              <a:ext uri="{FF2B5EF4-FFF2-40B4-BE49-F238E27FC236}">
                <a16:creationId xmlns:a16="http://schemas.microsoft.com/office/drawing/2014/main" id="{571E39F3-BAF1-4AE0-9DC9-706D9E762314}"/>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A87A3F3-117C-4990-8FC8-413ABCA0E765}"/>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OTI 반론을 함께 보존한 근거별 평가</a:t>
            </a:r>
          </a:p>
        </p:txBody>
      </p:sp>
      <p:sp>
        <p:nvSpPr>
          <p:cNvPr id="29" name="">
            <a:extLst xmlns:a="http://schemas.openxmlformats.org/drawingml/2006/main">
              <a:ext uri="{FF2B5EF4-FFF2-40B4-BE49-F238E27FC236}">
                <a16:creationId xmlns:a16="http://schemas.microsoft.com/office/drawing/2014/main" id="{1D25FD12-43A5-43B7-BD6A-D9161E88745F}"/>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CFB0B89D-5BCA-4670-B71E-F46FC4FAB16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회귀시험·오답 보완·계약 산출물의 대사</a:t>
            </a:r>
          </a:p>
        </p:txBody>
      </p:sp>
      <p:sp>
        <p:nvSpPr>
          <p:cNvPr id="31" name="">
            <a:extLst xmlns:a="http://schemas.openxmlformats.org/drawingml/2006/main">
              <a:ext uri="{FF2B5EF4-FFF2-40B4-BE49-F238E27FC236}">
                <a16:creationId xmlns:a16="http://schemas.microsoft.com/office/drawing/2014/main" id="{8B55D1CB-2EEF-4D0A-9E6C-359EEB36FD5F}"/>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661262F5-BB9A-4A0B-8CC0-DB5AD4FFFF7B}"/>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질문별 정답·변형 질의 일관성·실제 서비스 도달 기록</a:t>
            </a:r>
          </a:p>
        </p:txBody>
      </p:sp>
    </p:spTree>
    <p:extLst>
      <p:ext uri="{BB962C8B-B14F-4D97-AF65-F5344CB8AC3E}">
        <p14:creationId xmlns:p14="http://schemas.microsoft.com/office/powerpoint/2010/main" val="242626540"/>
      </p:ext>
    </p:extLst>
  </p:cSld>
</p:sld>
</file>

<file path=ppt/slides/slide5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CBF53FE-5BF0-44DF-90ED-6F5E47FB045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AX13 / CCK 비교·재현 시험 설계</a:t>
            </a:r>
          </a:p>
        </p:txBody>
      </p:sp>
      <p:sp>
        <p:nvSpPr>
          <p:cNvPr id="2" name="">
            <a:extLst xmlns:a="http://schemas.openxmlformats.org/drawingml/2006/main">
              <a:ext uri="{FF2B5EF4-FFF2-40B4-BE49-F238E27FC236}">
                <a16:creationId xmlns:a16="http://schemas.microsoft.com/office/drawing/2014/main" id="{B75ED399-A7E4-48F5-B66B-53F2F2A9AF1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벤치마킹</a:t>
            </a:r>
          </a:p>
        </p:txBody>
      </p:sp>
      <p:sp>
        <p:nvSpPr>
          <p:cNvPr id="3" name="">
            <a:extLst xmlns:a="http://schemas.openxmlformats.org/drawingml/2006/main">
              <a:ext uri="{FF2B5EF4-FFF2-40B4-BE49-F238E27FC236}">
                <a16:creationId xmlns:a16="http://schemas.microsoft.com/office/drawing/2014/main" id="{2FA624E1-7C02-48B3-8EAA-124A5C9006E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9F293E9-F4A8-4455-BF81-B8538B6B957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DAAB3DD-B2A6-4FFE-9FA4-D7673DC2FE5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59</a:t>
            </a:r>
          </a:p>
        </p:txBody>
      </p:sp>
      <p:sp>
        <p:nvSpPr>
          <p:cNvPr id="6" name="">
            <a:extLst xmlns:a="http://schemas.openxmlformats.org/drawingml/2006/main">
              <a:ext uri="{FF2B5EF4-FFF2-40B4-BE49-F238E27FC236}">
                <a16:creationId xmlns:a16="http://schemas.microsoft.com/office/drawing/2014/main" id="{39C73ED9-59A8-4195-A478-6D6CC012FE88}"/>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재발 방지 조건</a:t>
            </a:r>
          </a:p>
        </p:txBody>
      </p:sp>
      <p:sp>
        <p:nvSpPr>
          <p:cNvPr id="7" name="">
            <a:extLst xmlns:a="http://schemas.openxmlformats.org/drawingml/2006/main">
              <a:ext uri="{FF2B5EF4-FFF2-40B4-BE49-F238E27FC236}">
                <a16:creationId xmlns:a16="http://schemas.microsoft.com/office/drawing/2014/main" id="{3350F12C-E170-4370-B1F3-D05252AF4A78}"/>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 완결 조건과 책임 범위 정의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독립 평가셋·계약 산출물 추적</a:t>
            </a:r>
          </a:p>
        </p:txBody>
      </p:sp>
      <p:sp>
        <p:nvSpPr>
          <p:cNvPr id="8" name="">
            <a:extLst xmlns:a="http://schemas.openxmlformats.org/drawingml/2006/main">
              <a:ext uri="{FF2B5EF4-FFF2-40B4-BE49-F238E27FC236}">
                <a16:creationId xmlns:a16="http://schemas.microsoft.com/office/drawing/2014/main" id="{20695F67-752B-4F88-AFC5-AC7DC21990E6}"/>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요인·시정 쟁점</a:t>
            </a:r>
          </a:p>
        </p:txBody>
      </p:sp>
      <p:sp>
        <p:nvSpPr>
          <p:cNvPr id="9" name="">
            <a:extLst xmlns:a="http://schemas.openxmlformats.org/drawingml/2006/main">
              <a:ext uri="{FF2B5EF4-FFF2-40B4-BE49-F238E27FC236}">
                <a16:creationId xmlns:a16="http://schemas.microsoft.com/office/drawing/2014/main" id="{E8AEE10F-3120-47E5-9E31-1F29096D1E55}"/>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감사에서 지적된 부정확·비일관 답변</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통합서비스 계획·계약 감독의 미비</a:t>
            </a:r>
          </a:p>
        </p:txBody>
      </p:sp>
      <p:sp>
        <p:nvSpPr>
          <p:cNvPr id="10" name="">
            <a:extLst xmlns:a="http://schemas.openxmlformats.org/drawingml/2006/main">
              <a:ext uri="{FF2B5EF4-FFF2-40B4-BE49-F238E27FC236}">
                <a16:creationId xmlns:a16="http://schemas.microsoft.com/office/drawing/2014/main" id="{F30D8C82-A346-414D-A855-500FB397DB16}"/>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B0564112-D831-4B5F-8F77-9D91B9567C8E}"/>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OTI 반론을 함께 보존한 근거별 평가</a:t>
            </a:r>
          </a:p>
        </p:txBody>
      </p:sp>
      <p:sp>
        <p:nvSpPr>
          <p:cNvPr id="12" name="">
            <a:extLst xmlns:a="http://schemas.openxmlformats.org/drawingml/2006/main">
              <a:ext uri="{FF2B5EF4-FFF2-40B4-BE49-F238E27FC236}">
                <a16:creationId xmlns:a16="http://schemas.microsoft.com/office/drawing/2014/main" id="{8B4A5818-9A16-4728-AAF4-0EA7AB890022}"/>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1898B70E-208D-460A-A972-BE08C37A160F}"/>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사업자가 허가 조건을 질문해 공식 안내로 이동</a:t>
            </a:r>
          </a:p>
        </p:txBody>
      </p:sp>
      <p:sp>
        <p:nvSpPr>
          <p:cNvPr id="14" name="">
            <a:extLst xmlns:a="http://schemas.openxmlformats.org/drawingml/2006/main">
              <a:ext uri="{FF2B5EF4-FFF2-40B4-BE49-F238E27FC236}">
                <a16:creationId xmlns:a16="http://schemas.microsoft.com/office/drawing/2014/main" id="{F575DE7A-36AF-463D-AEC2-17B72C4EED3F}"/>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6C8E4CEB-F009-4618-AAF4-B1B1AC95265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동일 질문 표현 변경·상충 규정·폐지된 서비스</a:t>
            </a:r>
          </a:p>
        </p:txBody>
      </p:sp>
      <p:sp>
        <p:nvSpPr>
          <p:cNvPr id="16" name="">
            <a:extLst xmlns:a="http://schemas.openxmlformats.org/drawingml/2006/main">
              <a:ext uri="{FF2B5EF4-FFF2-40B4-BE49-F238E27FC236}">
                <a16:creationId xmlns:a16="http://schemas.microsoft.com/office/drawing/2014/main" id="{E90703AC-D951-40CC-BBF3-F825DC51FBA2}"/>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B289BDEC-5E44-455B-8F40-D63F9DF0B2A8}"/>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질문별 정답·변형 질의 일관성·실제 서비스 도달 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록</a:t>
            </a:r>
          </a:p>
        </p:txBody>
      </p:sp>
    </p:spTree>
    <p:extLst>
      <p:ext uri="{BB962C8B-B14F-4D97-AF65-F5344CB8AC3E}">
        <p14:creationId xmlns:p14="http://schemas.microsoft.com/office/powerpoint/2010/main" val="1142765238"/>
      </p:ext>
    </p:extLst>
  </p:cSld>
</p:sld>
</file>

<file path=ppt/slides/slide6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271F4E8-9563-4226-8E8E-3D2BA4446E3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AX14 / 시범 / 해외</a:t>
            </a:r>
          </a:p>
        </p:txBody>
      </p:sp>
      <p:sp>
        <p:nvSpPr>
          <p:cNvPr id="2" name="">
            <a:extLst xmlns:a="http://schemas.openxmlformats.org/drawingml/2006/main">
              <a:ext uri="{FF2B5EF4-FFF2-40B4-BE49-F238E27FC236}">
                <a16:creationId xmlns:a16="http://schemas.microsoft.com/office/drawing/2014/main" id="{E608CCD7-974F-416D-A8D5-EE80EEF8F2E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DHL Protex AI 안전 실증</a:t>
            </a:r>
          </a:p>
        </p:txBody>
      </p:sp>
      <p:sp>
        <p:nvSpPr>
          <p:cNvPr id="3" name="">
            <a:extLst xmlns:a="http://schemas.openxmlformats.org/drawingml/2006/main">
              <a:ext uri="{FF2B5EF4-FFF2-40B4-BE49-F238E27FC236}">
                <a16:creationId xmlns:a16="http://schemas.microsoft.com/office/drawing/2014/main" id="{22E10A45-D1ED-409C-9E03-298B8811ABB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75DCCA7-105C-47AF-B78B-3F5B20FB28F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A81C83B-B448-49BD-886D-BC2B2E643D5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60</a:t>
            </a:r>
          </a:p>
        </p:txBody>
      </p:sp>
      <p:sp>
        <p:nvSpPr>
          <p:cNvPr id="6" name="">
            <a:extLst xmlns:a="http://schemas.openxmlformats.org/drawingml/2006/main">
              <a:ext uri="{FF2B5EF4-FFF2-40B4-BE49-F238E27FC236}">
                <a16:creationId xmlns:a16="http://schemas.microsoft.com/office/drawing/2014/main" id="{C75B3F58-A06F-4F6A-9EE5-7E27899006A0}"/>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B9C07C69-2D0B-4F10-81FF-BA6C0707CBCD}"/>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물류 작업장의 영상에서 위험 행동·근접 상황을 선별해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안전 담당자의 예방 조치를 돕는 사례. 탐지 이후의 검토</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·조치 연결이 현장 적용의 핵심.</a:t>
            </a:r>
          </a:p>
        </p:txBody>
      </p:sp>
      <p:sp>
        <p:nvSpPr>
          <p:cNvPr id="8" name="">
            <a:extLst xmlns:a="http://schemas.openxmlformats.org/drawingml/2006/main">
              <a:ext uri="{FF2B5EF4-FFF2-40B4-BE49-F238E27FC236}">
                <a16:creationId xmlns:a16="http://schemas.microsoft.com/office/drawing/2014/main" id="{7CA57A67-1561-4220-B759-5AD43FBCB46A}"/>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CD71860F-DCC5-45E1-8AF0-36F0630A4C6C}"/>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구역·작업시간·영상 접근범위를 지정하고 위험 후보를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사건 단위로 저장하는 구조의 재구성. 담당자가 현장 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황을 확인해 개선 조치를 기록하고 재발 여부를 검토하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흐름.</a:t>
            </a:r>
          </a:p>
        </p:txBody>
      </p:sp>
      <p:sp>
        <p:nvSpPr>
          <p:cNvPr id="10" name="">
            <a:extLst xmlns:a="http://schemas.openxmlformats.org/drawingml/2006/main">
              <a:ext uri="{FF2B5EF4-FFF2-40B4-BE49-F238E27FC236}">
                <a16:creationId xmlns:a16="http://schemas.microsoft.com/office/drawing/2014/main" id="{FBFE4AAA-A17D-49DE-A271-17EA1EC64514}"/>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20FB66BC-0832-4C51-A68E-4D2F6196B9BC}"/>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시설·사업장 적용에서 카메라 설치만으로 안전 효과를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주장하기 어려운 유형. 구역·작업별 오경보와 중요 미탐,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경보 확인·조치 시간, 조치 후 재발을 분리해 평가할 필요.</a:t>
            </a:r>
          </a:p>
        </p:txBody>
      </p:sp>
      <p:sp>
        <p:nvSpPr>
          <p:cNvPr id="12" name="">
            <a:extLst xmlns:a="http://schemas.openxmlformats.org/drawingml/2006/main">
              <a:ext uri="{FF2B5EF4-FFF2-40B4-BE49-F238E27FC236}">
                <a16:creationId xmlns:a16="http://schemas.microsoft.com/office/drawing/2014/main" id="{307BB88C-DE9C-4467-AC60-0D549F5C89F5}"/>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11F126AB-6598-4A9C-A209-6D528F8A2F39}"/>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사건 사전·검토 큐·조치 이력</a:t>
            </a:r>
          </a:p>
        </p:txBody>
      </p:sp>
      <p:sp>
        <p:nvSpPr>
          <p:cNvPr id="14" name="">
            <a:extLst xmlns:a="http://schemas.openxmlformats.org/drawingml/2006/main">
              <a:ext uri="{FF2B5EF4-FFF2-40B4-BE49-F238E27FC236}">
                <a16:creationId xmlns:a16="http://schemas.microsoft.com/office/drawing/2014/main" id="{99B0EBCF-5B04-4781-995F-03371E58BF8B}"/>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D0E2BFE-233E-4EC6-918D-BD7B3DA9E0A8}"/>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오탐·미탐·사람 가림·조치 누락 시나리오</a:t>
            </a:r>
          </a:p>
        </p:txBody>
      </p:sp>
      <p:sp>
        <p:nvSpPr>
          <p:cNvPr id="16" name="">
            <a:extLst xmlns:a="http://schemas.openxmlformats.org/drawingml/2006/main">
              <a:ext uri="{FF2B5EF4-FFF2-40B4-BE49-F238E27FC236}">
                <a16:creationId xmlns:a16="http://schemas.microsoft.com/office/drawing/2014/main" id="{CECD9BF9-ABAC-472D-ABE1-AC378E7BEC70}"/>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A7098F7A-3F50-44F5-B355-4D23DD06D9CC}"/>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위험 확인시간 / 조치 이행률</a:t>
            </a:r>
          </a:p>
        </p:txBody>
      </p:sp>
      <p:sp>
        <p:nvSpPr>
          <p:cNvPr id="18" name="">
            <a:extLst xmlns:a="http://schemas.openxmlformats.org/drawingml/2006/main">
              <a:ext uri="{FF2B5EF4-FFF2-40B4-BE49-F238E27FC236}">
                <a16:creationId xmlns:a16="http://schemas.microsoft.com/office/drawing/2014/main" id="{12DDC8D8-4C34-49BD-BB9B-A587BB88A3D0}"/>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PoC 범위 · 전 사업장 확산·재해 감소 실측과 구분</a:t>
            </a:r>
          </a:p>
        </p:txBody>
      </p:sp>
    </p:spTree>
    <p:extLst>
      <p:ext uri="{BB962C8B-B14F-4D97-AF65-F5344CB8AC3E}">
        <p14:creationId xmlns:p14="http://schemas.microsoft.com/office/powerpoint/2010/main" val="9730709"/>
      </p:ext>
    </p:extLst>
  </p:cSld>
</p:sld>
</file>

<file path=ppt/slides/slide6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CE5B9855-6E23-4D47-A685-2479BA656071}"/>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70DB1157-B885-4D76-ACBF-B4E7478F02FA}"/>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3F5E3BF9-A2F0-4D66-BF63-2C5A4E09D45E}"/>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A0B44F37-8ABC-49BB-9EF9-E5618B113A53}"/>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AD23CD97-73FC-439A-B1B4-4F9D5B8272A0}"/>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53171888-CC6A-4085-BBC7-F326EE53B67C}"/>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0D3BC816-4640-4330-B5E7-40E4ABA34DA1}"/>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ABAE1C04-5993-4BD1-8AD4-3F48415F54F3}"/>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0E86CE4E-2281-4560-9066-5475C1660EEE}"/>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D96833E4-88D3-4344-99AA-9F082D7D1C10}"/>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72D4B695-E7B2-45E7-9DB9-194BDE62DD9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AX14 / 관측·안전 판정·현장 조치·환류</a:t>
            </a:r>
          </a:p>
        </p:txBody>
      </p:sp>
      <p:sp>
        <p:nvSpPr>
          <p:cNvPr id="2" name="">
            <a:extLst xmlns:a="http://schemas.openxmlformats.org/drawingml/2006/main">
              <a:ext uri="{FF2B5EF4-FFF2-40B4-BE49-F238E27FC236}">
                <a16:creationId xmlns:a16="http://schemas.microsoft.com/office/drawing/2014/main" id="{96D484A2-2AE2-4078-8263-ADA91797BC8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DHL Protex AI 안전 실증 · 세부 서비스 구조</a:t>
            </a:r>
          </a:p>
        </p:txBody>
      </p:sp>
      <p:sp>
        <p:nvSpPr>
          <p:cNvPr id="3" name="">
            <a:extLst xmlns:a="http://schemas.openxmlformats.org/drawingml/2006/main">
              <a:ext uri="{FF2B5EF4-FFF2-40B4-BE49-F238E27FC236}">
                <a16:creationId xmlns:a16="http://schemas.microsoft.com/office/drawing/2014/main" id="{C83C86DA-8918-4C3C-83BC-221ADDEFBAA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1699829-3517-4EC4-9BD4-F70C4A3EA32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E78A273-6B2B-44D3-9E6D-7CD27CAA821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61</a:t>
            </a:r>
          </a:p>
        </p:txBody>
      </p:sp>
      <p:sp>
        <p:nvSpPr>
          <p:cNvPr id="6" name="">
            <a:extLst xmlns:a="http://schemas.openxmlformats.org/drawingml/2006/main">
              <a:ext uri="{FF2B5EF4-FFF2-40B4-BE49-F238E27FC236}">
                <a16:creationId xmlns:a16="http://schemas.microsoft.com/office/drawing/2014/main" id="{17A3ABD5-984A-49C3-B6F4-A1F962D957A9}"/>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현장 영상 → 위험 이벤트 탐지 → 안전 담당 검토 → 예방 조치</a:t>
            </a:r>
          </a:p>
        </p:txBody>
      </p:sp>
      <p:sp>
        <p:nvSpPr>
          <p:cNvPr id="7" name="">
            <a:extLst xmlns:a="http://schemas.openxmlformats.org/drawingml/2006/main">
              <a:ext uri="{FF2B5EF4-FFF2-40B4-BE49-F238E27FC236}">
                <a16:creationId xmlns:a16="http://schemas.microsoft.com/office/drawing/2014/main" id="{B4D7A3F5-05E0-48DA-A796-D56379936E03}"/>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337838DE-358B-4E46-9F9E-643C993EB3A3}"/>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F46A7861-D36A-4313-AAB3-A76F0ECCF0C5}"/>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영상·구역 지도</a:t>
            </a:r>
          </a:p>
        </p:txBody>
      </p:sp>
      <p:sp>
        <p:nvSpPr>
          <p:cNvPr id="10" name="">
            <a:extLst xmlns:a="http://schemas.openxmlformats.org/drawingml/2006/main">
              <a:ext uri="{FF2B5EF4-FFF2-40B4-BE49-F238E27FC236}">
                <a16:creationId xmlns:a16="http://schemas.microsoft.com/office/drawing/2014/main" id="{6574B26D-A6BF-4A14-9C04-04162EEDF98C}"/>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99E895FA-C755-4E20-941F-F508F79FDA44}"/>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E26AA74D-5B25-45CD-8B73-680707744600}"/>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사건·위치 정합화</a:t>
            </a:r>
          </a:p>
        </p:txBody>
      </p:sp>
      <p:sp>
        <p:nvSpPr>
          <p:cNvPr id="13" name="">
            <a:extLst xmlns:a="http://schemas.openxmlformats.org/drawingml/2006/main">
              <a:ext uri="{FF2B5EF4-FFF2-40B4-BE49-F238E27FC236}">
                <a16:creationId xmlns:a16="http://schemas.microsoft.com/office/drawing/2014/main" id="{4B4D1C0C-3360-4C7A-B8A6-B29EA7E4805E}"/>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3C8EB94D-DD53-4F94-A9E6-7C77DCF6E1B7}"/>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1F1886BA-22A2-41CB-87FF-DCA488140C31}"/>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위험 행동 탐지</a:t>
            </a:r>
          </a:p>
        </p:txBody>
      </p:sp>
      <p:sp>
        <p:nvSpPr>
          <p:cNvPr id="16" name="">
            <a:extLst xmlns:a="http://schemas.openxmlformats.org/drawingml/2006/main">
              <a:ext uri="{FF2B5EF4-FFF2-40B4-BE49-F238E27FC236}">
                <a16:creationId xmlns:a16="http://schemas.microsoft.com/office/drawing/2014/main" id="{FE0F3667-D0E8-4AFC-A172-47AE79D390BF}"/>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BC367E2D-8F50-4CE1-A26D-D17B755E509E}"/>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D6F862A8-7393-432A-A94A-C2590CD65ABE}"/>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오경보·미탐 검사</a:t>
            </a:r>
          </a:p>
        </p:txBody>
      </p:sp>
      <p:sp>
        <p:nvSpPr>
          <p:cNvPr id="19" name="">
            <a:extLst xmlns:a="http://schemas.openxmlformats.org/drawingml/2006/main">
              <a:ext uri="{FF2B5EF4-FFF2-40B4-BE49-F238E27FC236}">
                <a16:creationId xmlns:a16="http://schemas.microsoft.com/office/drawing/2014/main" id="{A5B19655-4345-4DA8-B026-2D65BFFC75E6}"/>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F59B3755-FD47-41E3-A178-76F9B488259A}"/>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CFE8AF35-427E-4AE0-A6D5-470FA0D7CE82}"/>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개선 조치 인계</a:t>
            </a:r>
          </a:p>
        </p:txBody>
      </p:sp>
      <p:sp>
        <p:nvSpPr>
          <p:cNvPr id="22" name="">
            <a:extLst xmlns:a="http://schemas.openxmlformats.org/drawingml/2006/main">
              <a:ext uri="{FF2B5EF4-FFF2-40B4-BE49-F238E27FC236}">
                <a16:creationId xmlns:a16="http://schemas.microsoft.com/office/drawing/2014/main" id="{3ADC2548-2E48-44C3-8541-931A71371AA6}"/>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D2EC48BA-8806-45EB-ABCC-BE529B957296}"/>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958C77B2-5295-464E-96F8-9BCC3D1E6ECA}"/>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구역·작업 맥락</a:t>
            </a:r>
          </a:p>
        </p:txBody>
      </p:sp>
      <p:sp>
        <p:nvSpPr>
          <p:cNvPr id="25" name="">
            <a:extLst xmlns:a="http://schemas.openxmlformats.org/drawingml/2006/main">
              <a:ext uri="{FF2B5EF4-FFF2-40B4-BE49-F238E27FC236}">
                <a16:creationId xmlns:a16="http://schemas.microsoft.com/office/drawing/2014/main" id="{14E34B1E-2040-4674-8F74-9CB77C7E1FEF}"/>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940DFFD0-10A5-4806-949F-4DC2251D4C1F}"/>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90C0B844-DA34-49AF-9613-BE7CE3F0229D}"/>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영상·이력 조회</a:t>
            </a:r>
          </a:p>
        </p:txBody>
      </p:sp>
      <p:sp>
        <p:nvSpPr>
          <p:cNvPr id="28" name="">
            <a:extLst xmlns:a="http://schemas.openxmlformats.org/drawingml/2006/main">
              <a:ext uri="{FF2B5EF4-FFF2-40B4-BE49-F238E27FC236}">
                <a16:creationId xmlns:a16="http://schemas.microsoft.com/office/drawing/2014/main" id="{8186CEC7-FA37-4B0F-9330-053F40F43E82}"/>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553F4345-9EC3-4F59-8F39-DFF797BABC89}"/>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02AE5FD1-7E64-4839-AE1E-5E4CB5317961}"/>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 열람정책</a:t>
            </a:r>
          </a:p>
        </p:txBody>
      </p:sp>
      <p:sp>
        <p:nvSpPr>
          <p:cNvPr id="31" name="">
            <a:extLst xmlns:a="http://schemas.openxmlformats.org/drawingml/2006/main">
              <a:ext uri="{FF2B5EF4-FFF2-40B4-BE49-F238E27FC236}">
                <a16:creationId xmlns:a16="http://schemas.microsoft.com/office/drawing/2014/main" id="{DB9EA599-095A-4D2A-BF4D-8051356F8B8C}"/>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E513C6B1-5762-4444-8E78-A2CD25C5225E}"/>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1255FB12-3243-4727-A782-734467E9C666}"/>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 담당 확인</a:t>
            </a:r>
          </a:p>
        </p:txBody>
      </p:sp>
      <p:sp>
        <p:nvSpPr>
          <p:cNvPr id="34" name="">
            <a:extLst xmlns:a="http://schemas.openxmlformats.org/drawingml/2006/main">
              <a:ext uri="{FF2B5EF4-FFF2-40B4-BE49-F238E27FC236}">
                <a16:creationId xmlns:a16="http://schemas.microsoft.com/office/drawing/2014/main" id="{9E0E77AE-F4F1-40D8-8306-32D9F9158905}"/>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FD61F78B-74EC-4B41-B101-90D3A0DDB18E}"/>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601DF205-419D-4805-9542-D341BD7CB30D}"/>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재발·조치 추적</a:t>
            </a:r>
          </a:p>
        </p:txBody>
      </p:sp>
      <p:sp>
        <p:nvSpPr>
          <p:cNvPr id="47" name="">
            <a:extLst xmlns:a="http://schemas.openxmlformats.org/drawingml/2006/main">
              <a:ext uri="{FF2B5EF4-FFF2-40B4-BE49-F238E27FC236}">
                <a16:creationId xmlns:a16="http://schemas.microsoft.com/office/drawing/2014/main" id="{A7AA31F3-46EA-472B-8401-87923AFBE207}"/>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600647223"/>
      </p:ext>
    </p:extLst>
  </p:cSld>
</p:sld>
</file>

<file path=ppt/slides/slide6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659EFBD-5B73-4502-94F1-0030BE0F521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AX14 / 논리 인터페이스·복구 설계</a:t>
            </a:r>
          </a:p>
        </p:txBody>
      </p:sp>
      <p:sp>
        <p:nvSpPr>
          <p:cNvPr id="2" name="">
            <a:extLst xmlns:a="http://schemas.openxmlformats.org/drawingml/2006/main">
              <a:ext uri="{FF2B5EF4-FFF2-40B4-BE49-F238E27FC236}">
                <a16:creationId xmlns:a16="http://schemas.microsoft.com/office/drawing/2014/main" id="{4F38E238-EF50-4CD5-B895-7CB5F48E55F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DHL Protex AI 안전 실증 · 데이터와 예외 처리</a:t>
            </a:r>
          </a:p>
        </p:txBody>
      </p:sp>
      <p:sp>
        <p:nvSpPr>
          <p:cNvPr id="3" name="">
            <a:extLst xmlns:a="http://schemas.openxmlformats.org/drawingml/2006/main">
              <a:ext uri="{FF2B5EF4-FFF2-40B4-BE49-F238E27FC236}">
                <a16:creationId xmlns:a16="http://schemas.microsoft.com/office/drawing/2014/main" id="{27A3C24E-9EA1-43F0-8052-162C9D16FAF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2FDE8B6-2C67-44C9-B032-F7F6D0AF5DE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668AB10-1044-48CF-82E7-832640ED1E7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62</a:t>
            </a:r>
          </a:p>
        </p:txBody>
      </p:sp>
      <p:sp>
        <p:nvSpPr>
          <p:cNvPr id="6" name="">
            <a:extLst xmlns:a="http://schemas.openxmlformats.org/drawingml/2006/main">
              <a:ext uri="{FF2B5EF4-FFF2-40B4-BE49-F238E27FC236}">
                <a16:creationId xmlns:a16="http://schemas.microsoft.com/office/drawing/2014/main" id="{8F77D12C-057F-449E-B67B-63926AD6E463}"/>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13718B85-E7DB-4AFB-9BB8-00767039E6ED}"/>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1C86F481-E886-4A49-93BB-5A96FD11840A}"/>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E5A2C99C-1322-4F26-93D7-AF7AE40EEA7A}"/>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이벤트·조치 기록</a:t>
            </a:r>
          </a:p>
        </p:txBody>
      </p:sp>
      <p:sp>
        <p:nvSpPr>
          <p:cNvPr id="10" name="">
            <a:extLst xmlns:a="http://schemas.openxmlformats.org/drawingml/2006/main">
              <a:ext uri="{FF2B5EF4-FFF2-40B4-BE49-F238E27FC236}">
                <a16:creationId xmlns:a16="http://schemas.microsoft.com/office/drawing/2014/main" id="{DA24E152-85F6-4430-851F-C6828DCCBD82}"/>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45FA378-C5F9-4063-A7E8-FA5563328C83}"/>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3473372D-AE0D-4BF4-8F86-DDDC7E0616BD}"/>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38DF6579-3366-485E-91C9-8BF31EA60269}"/>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783A81E-B919-47AD-9BE6-9423C70DA796}"/>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F5F7FD4B-32F0-4B85-91D7-DA558D5209CE}"/>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이벤트</a:t>
            </a:r>
          </a:p>
        </p:txBody>
      </p:sp>
      <p:sp>
        <p:nvSpPr>
          <p:cNvPr id="16" name="">
            <a:extLst xmlns:a="http://schemas.openxmlformats.org/drawingml/2006/main">
              <a:ext uri="{FF2B5EF4-FFF2-40B4-BE49-F238E27FC236}">
                <a16:creationId xmlns:a16="http://schemas.microsoft.com/office/drawing/2014/main" id="{45EFE9C6-8AEF-4BB1-AC0A-735ACB2B983B}"/>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C27ECAE-8C72-491F-9327-117C4E0FBF7E}"/>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CBD24FC7-95EB-4DB1-B7C4-BE191F88CF1B}"/>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영상 열람정책</a:t>
            </a:r>
          </a:p>
        </p:txBody>
      </p:sp>
      <p:sp>
        <p:nvSpPr>
          <p:cNvPr id="19" name="">
            <a:extLst xmlns:a="http://schemas.openxmlformats.org/drawingml/2006/main">
              <a:ext uri="{FF2B5EF4-FFF2-40B4-BE49-F238E27FC236}">
                <a16:creationId xmlns:a16="http://schemas.microsoft.com/office/drawing/2014/main" id="{3E50CF55-DC97-491C-BB28-DBBC0BDBD44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ACF9AF8-CE24-4925-9588-E93F2FC5B2C2}"/>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4E99B7BA-912C-4C85-BE8F-8D5D94C70D5D}"/>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예방 조치</a:t>
            </a:r>
          </a:p>
        </p:txBody>
      </p:sp>
      <p:sp>
        <p:nvSpPr>
          <p:cNvPr id="22" name="">
            <a:extLst xmlns:a="http://schemas.openxmlformats.org/drawingml/2006/main">
              <a:ext uri="{FF2B5EF4-FFF2-40B4-BE49-F238E27FC236}">
                <a16:creationId xmlns:a16="http://schemas.microsoft.com/office/drawing/2014/main" id="{C8E9F347-0145-45DF-8F22-E1ACAE679A79}"/>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3FF0605-EDB2-4E12-9BB3-BEA582FE5F84}"/>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ED89B8C1-E17E-40BC-A20C-C328836FA003}"/>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오탐·누락·조치 완료와 재발 여부 추적</a:t>
            </a:r>
          </a:p>
        </p:txBody>
      </p:sp>
      <p:sp>
        <p:nvSpPr>
          <p:cNvPr id="25" name="">
            <a:extLst xmlns:a="http://schemas.openxmlformats.org/drawingml/2006/main">
              <a:ext uri="{FF2B5EF4-FFF2-40B4-BE49-F238E27FC236}">
                <a16:creationId xmlns:a16="http://schemas.microsoft.com/office/drawing/2014/main" id="{FC83DA7F-1AFF-4589-9D86-21CA35238815}"/>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17DDDF29-1BA8-4CD4-9107-15F4242DB3EF}"/>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가림·조명 변화·작업 동선 변경·비위험 행동</a:t>
            </a:r>
          </a:p>
        </p:txBody>
      </p:sp>
      <p:sp>
        <p:nvSpPr>
          <p:cNvPr id="27" name="">
            <a:extLst xmlns:a="http://schemas.openxmlformats.org/drawingml/2006/main">
              <a:ext uri="{FF2B5EF4-FFF2-40B4-BE49-F238E27FC236}">
                <a16:creationId xmlns:a16="http://schemas.microsoft.com/office/drawing/2014/main" id="{70DBA487-6CEB-41AD-AA2B-374ACC9D0A70}"/>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0DD6EE9-F7C3-48D2-94CF-A0E6A346AC01}"/>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오경보·중요 미탐과 조치 이행 측정</a:t>
            </a:r>
          </a:p>
        </p:txBody>
      </p:sp>
      <p:sp>
        <p:nvSpPr>
          <p:cNvPr id="29" name="">
            <a:extLst xmlns:a="http://schemas.openxmlformats.org/drawingml/2006/main">
              <a:ext uri="{FF2B5EF4-FFF2-40B4-BE49-F238E27FC236}">
                <a16:creationId xmlns:a16="http://schemas.microsoft.com/office/drawing/2014/main" id="{CED69ED7-175D-430D-A147-28CBF32007BC}"/>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DB806E3C-9124-464A-897A-41E576390ED1}"/>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오탐·누락·조치 완료와 재발 여부 추적</a:t>
            </a:r>
          </a:p>
        </p:txBody>
      </p:sp>
      <p:sp>
        <p:nvSpPr>
          <p:cNvPr id="31" name="">
            <a:extLst xmlns:a="http://schemas.openxmlformats.org/drawingml/2006/main">
              <a:ext uri="{FF2B5EF4-FFF2-40B4-BE49-F238E27FC236}">
                <a16:creationId xmlns:a16="http://schemas.microsoft.com/office/drawing/2014/main" id="{FA5BC8BE-3999-4C90-B5E7-7CC884BDF033}"/>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0388FD1-FD95-467E-9749-61DEECFDFC39}"/>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사건 표본별 오탐·미탐과 확인·조치 완료 이력</a:t>
            </a:r>
          </a:p>
        </p:txBody>
      </p:sp>
    </p:spTree>
    <p:extLst>
      <p:ext uri="{BB962C8B-B14F-4D97-AF65-F5344CB8AC3E}">
        <p14:creationId xmlns:p14="http://schemas.microsoft.com/office/powerpoint/2010/main" val="578023674"/>
      </p:ext>
    </p:extLst>
  </p:cSld>
</p:sld>
</file>

<file path=ppt/slides/slide6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31298C1-5B31-4C4E-80A6-A28BCEC5B05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AX14 / CCK 비교·재현 시험 설계</a:t>
            </a:r>
          </a:p>
        </p:txBody>
      </p:sp>
      <p:sp>
        <p:nvSpPr>
          <p:cNvPr id="2" name="">
            <a:extLst xmlns:a="http://schemas.openxmlformats.org/drawingml/2006/main">
              <a:ext uri="{FF2B5EF4-FFF2-40B4-BE49-F238E27FC236}">
                <a16:creationId xmlns:a16="http://schemas.microsoft.com/office/drawing/2014/main" id="{580B05D4-4CD1-47DB-B2A9-6A6CE316F63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DHL Protex AI 안전 실증 · 벤치마킹</a:t>
            </a:r>
          </a:p>
        </p:txBody>
      </p:sp>
      <p:sp>
        <p:nvSpPr>
          <p:cNvPr id="3" name="">
            <a:extLst xmlns:a="http://schemas.openxmlformats.org/drawingml/2006/main">
              <a:ext uri="{FF2B5EF4-FFF2-40B4-BE49-F238E27FC236}">
                <a16:creationId xmlns:a16="http://schemas.microsoft.com/office/drawing/2014/main" id="{302209D9-EC5B-40CC-9871-0FD30512CE4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2567172-FF1B-4B2A-B872-87138FCE53A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101952D-49A6-4DCF-83AA-8466075085C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63</a:t>
            </a:r>
          </a:p>
        </p:txBody>
      </p:sp>
      <p:sp>
        <p:nvSpPr>
          <p:cNvPr id="6" name="">
            <a:extLst xmlns:a="http://schemas.openxmlformats.org/drawingml/2006/main">
              <a:ext uri="{FF2B5EF4-FFF2-40B4-BE49-F238E27FC236}">
                <a16:creationId xmlns:a16="http://schemas.microsoft.com/office/drawing/2014/main" id="{7668EBE8-6AA2-48BA-940D-557FDCB04F3F}"/>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8E52686D-751B-47CE-AE0A-73E2B66E5142}"/>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현장 영상에서 위험 이벤트 선별</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 담당자의 예방 조치 연결</a:t>
            </a:r>
          </a:p>
        </p:txBody>
      </p:sp>
      <p:sp>
        <p:nvSpPr>
          <p:cNvPr id="8" name="">
            <a:extLst xmlns:a="http://schemas.openxmlformats.org/drawingml/2006/main">
              <a:ext uri="{FF2B5EF4-FFF2-40B4-BE49-F238E27FC236}">
                <a16:creationId xmlns:a16="http://schemas.microsoft.com/office/drawing/2014/main" id="{700E162A-2E9C-476F-AD54-9A9B8E91D828}"/>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4BD3D00B-7B4C-40C7-9F88-62E7283D7AB5}"/>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카메라 위치·작업 유형별 편차</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실증 탐지와 실제 재해 감소의 차이</a:t>
            </a:r>
          </a:p>
        </p:txBody>
      </p:sp>
      <p:sp>
        <p:nvSpPr>
          <p:cNvPr id="10" name="">
            <a:extLst xmlns:a="http://schemas.openxmlformats.org/drawingml/2006/main">
              <a:ext uri="{FF2B5EF4-FFF2-40B4-BE49-F238E27FC236}">
                <a16:creationId xmlns:a16="http://schemas.microsoft.com/office/drawing/2014/main" id="{221A8288-1BF2-472E-9988-2846D621AF5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A79E81C9-D264-4606-B8F4-0205D28DDC25}"/>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오경보·중요 미탐과 조치 이행 측정</a:t>
            </a:r>
          </a:p>
        </p:txBody>
      </p:sp>
      <p:sp>
        <p:nvSpPr>
          <p:cNvPr id="12" name="">
            <a:extLst xmlns:a="http://schemas.openxmlformats.org/drawingml/2006/main">
              <a:ext uri="{FF2B5EF4-FFF2-40B4-BE49-F238E27FC236}">
                <a16:creationId xmlns:a16="http://schemas.microsoft.com/office/drawing/2014/main" id="{393C17AB-B44B-4B63-960C-4EA36B06D655}"/>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8B79FFB9-3877-498F-9F73-A5A9C3430990}"/>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영상에서 위험 상황을 발견하고 담당자가 조치 등</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록</a:t>
            </a:r>
          </a:p>
        </p:txBody>
      </p:sp>
      <p:sp>
        <p:nvSpPr>
          <p:cNvPr id="14" name="">
            <a:extLst xmlns:a="http://schemas.openxmlformats.org/drawingml/2006/main">
              <a:ext uri="{FF2B5EF4-FFF2-40B4-BE49-F238E27FC236}">
                <a16:creationId xmlns:a16="http://schemas.microsoft.com/office/drawing/2014/main" id="{F0D7CBF0-81A2-435A-B2DC-D41436F1797C}"/>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ED338F5A-0C5E-40EE-A33F-121C06435316}"/>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가림·조명 변화·작업 동선 변경·비위험 행동</a:t>
            </a:r>
          </a:p>
        </p:txBody>
      </p:sp>
      <p:sp>
        <p:nvSpPr>
          <p:cNvPr id="16" name="">
            <a:extLst xmlns:a="http://schemas.openxmlformats.org/drawingml/2006/main">
              <a:ext uri="{FF2B5EF4-FFF2-40B4-BE49-F238E27FC236}">
                <a16:creationId xmlns:a16="http://schemas.microsoft.com/office/drawing/2014/main" id="{52F6310F-DCF5-439F-B772-9A657A915AFE}"/>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41A038A4-10E3-481D-B2E8-722B00A635E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사건 표본별 오탐·미탐과 확인·조치 완료 이력</a:t>
            </a:r>
          </a:p>
        </p:txBody>
      </p:sp>
    </p:spTree>
    <p:extLst>
      <p:ext uri="{BB962C8B-B14F-4D97-AF65-F5344CB8AC3E}">
        <p14:creationId xmlns:p14="http://schemas.microsoft.com/office/powerpoint/2010/main" val="1841960992"/>
      </p:ext>
    </p:extLst>
  </p:cSld>
</p:sld>
</file>

<file path=ppt/slides/slide6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2D709F6-FEE2-47F2-B23A-A53710D6DC3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AX15 / 성공 / 국내</a:t>
            </a:r>
          </a:p>
        </p:txBody>
      </p:sp>
      <p:sp>
        <p:nvSpPr>
          <p:cNvPr id="2" name="">
            <a:extLst xmlns:a="http://schemas.openxmlformats.org/drawingml/2006/main">
              <a:ext uri="{FF2B5EF4-FFF2-40B4-BE49-F238E27FC236}">
                <a16:creationId xmlns:a16="http://schemas.microsoft.com/office/drawing/2014/main" id="{3EE8E8D4-E2E3-4004-AAD4-6E845BE75A6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국세청 AI 전화상담</a:t>
            </a:r>
          </a:p>
        </p:txBody>
      </p:sp>
      <p:sp>
        <p:nvSpPr>
          <p:cNvPr id="3" name="">
            <a:extLst xmlns:a="http://schemas.openxmlformats.org/drawingml/2006/main">
              <a:ext uri="{FF2B5EF4-FFF2-40B4-BE49-F238E27FC236}">
                <a16:creationId xmlns:a16="http://schemas.microsoft.com/office/drawing/2014/main" id="{97B51055-CACC-4080-937B-B7E3EF0DF8C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C13A761-002D-43F2-9718-D6063347A2C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8A2D969-F830-4CBE-A264-5790B3E4B25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64</a:t>
            </a:r>
          </a:p>
        </p:txBody>
      </p:sp>
      <p:sp>
        <p:nvSpPr>
          <p:cNvPr id="6" name="">
            <a:extLst xmlns:a="http://schemas.openxmlformats.org/drawingml/2006/main">
              <a:ext uri="{FF2B5EF4-FFF2-40B4-BE49-F238E27FC236}">
                <a16:creationId xmlns:a16="http://schemas.microsoft.com/office/drawing/2014/main" id="{21134C20-4E2A-4168-A7C0-EB8B4E2B6DEF}"/>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000C055D-6C6F-47BE-9160-358F2E403DF0}"/>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반복 세무 문의를 전화 채널에서 안내하고 복잡한 질문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상담원에게 연결하는 음성 상담 사례. 상담내용의 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위와 적용 연도를 정확히 식별하는 작업이 중요.</a:t>
            </a:r>
          </a:p>
        </p:txBody>
      </p:sp>
      <p:sp>
        <p:nvSpPr>
          <p:cNvPr id="8" name="">
            <a:extLst xmlns:a="http://schemas.openxmlformats.org/drawingml/2006/main">
              <a:ext uri="{FF2B5EF4-FFF2-40B4-BE49-F238E27FC236}">
                <a16:creationId xmlns:a16="http://schemas.microsoft.com/office/drawing/2014/main" id="{1288A281-F454-4F1E-B5BD-5300344C485F}"/>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42FC0DE9-6669-4394-9111-A36CBE1D99DC}"/>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발화의 세목·기간·질문 목적을 정리하고 승인 지식을 찾</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아 음성으로 안내하는 구조의 재구성. 응답이 불분명하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거나 예외 판단이 필요한 경우 대화 맥락을 상담원에게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전달.</a:t>
            </a:r>
          </a:p>
        </p:txBody>
      </p:sp>
      <p:sp>
        <p:nvSpPr>
          <p:cNvPr id="10" name="">
            <a:extLst xmlns:a="http://schemas.openxmlformats.org/drawingml/2006/main">
              <a:ext uri="{FF2B5EF4-FFF2-40B4-BE49-F238E27FC236}">
                <a16:creationId xmlns:a16="http://schemas.microsoft.com/office/drawing/2014/main" id="{8CEAE9D3-26B8-4EFA-9E46-042BF0E00A20}"/>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F786654C-12FD-43CC-9415-8FF3C13CFB58}"/>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음성 민원 접점에서 인식률만으로 검수하지 않고 필수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항목 확인과 인계 성공을 포함할 근거. 시범 운영과 전국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확대 계획, 실제 해결률을 각각 구분한 비교 필요.</a:t>
            </a:r>
          </a:p>
        </p:txBody>
      </p:sp>
      <p:sp>
        <p:nvSpPr>
          <p:cNvPr id="12" name="">
            <a:extLst xmlns:a="http://schemas.openxmlformats.org/drawingml/2006/main">
              <a:ext uri="{FF2B5EF4-FFF2-40B4-BE49-F238E27FC236}">
                <a16:creationId xmlns:a16="http://schemas.microsoft.com/office/drawing/2014/main" id="{EE8627B1-F7DF-4984-9CFE-E3E79539C47C}"/>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D7B0F937-172F-4C13-B927-81EE21C4A395}"/>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발화 정리·확인·소관 서비스·상담 인계</a:t>
            </a:r>
          </a:p>
        </p:txBody>
      </p:sp>
      <p:sp>
        <p:nvSpPr>
          <p:cNvPr id="14" name="">
            <a:extLst xmlns:a="http://schemas.openxmlformats.org/drawingml/2006/main">
              <a:ext uri="{FF2B5EF4-FFF2-40B4-BE49-F238E27FC236}">
                <a16:creationId xmlns:a16="http://schemas.microsoft.com/office/drawing/2014/main" id="{ACE193BB-7A8A-4DC7-AEBA-4031A18F608C}"/>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BA1D8D90-D989-427D-A286-75A68B436379}"/>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고령·소음·중도 정정·상담 전환 과업 시험</a:t>
            </a:r>
          </a:p>
        </p:txBody>
      </p:sp>
      <p:sp>
        <p:nvSpPr>
          <p:cNvPr id="16" name="">
            <a:extLst xmlns:a="http://schemas.openxmlformats.org/drawingml/2006/main">
              <a:ext uri="{FF2B5EF4-FFF2-40B4-BE49-F238E27FC236}">
                <a16:creationId xmlns:a16="http://schemas.microsoft.com/office/drawing/2014/main" id="{EC04212A-69C5-495F-BDD9-DCF0545D75DD}"/>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690898DB-95FD-4AE7-AE58-28433FBF2055}"/>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안내 도달률 / 포기율 / 재문의율</a:t>
            </a:r>
          </a:p>
        </p:txBody>
      </p:sp>
      <p:sp>
        <p:nvSpPr>
          <p:cNvPr id="18" name="">
            <a:extLst xmlns:a="http://schemas.openxmlformats.org/drawingml/2006/main">
              <a:ext uri="{FF2B5EF4-FFF2-40B4-BE49-F238E27FC236}">
                <a16:creationId xmlns:a16="http://schemas.microsoft.com/office/drawing/2014/main" id="{BC1FFC90-03C5-4AD9-A0F2-6E1995576132}"/>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시범 운영과 이후 확대 계획 구분 · 개인별 과세 판단 자동화로 해석 금지</a:t>
            </a:r>
          </a:p>
        </p:txBody>
      </p:sp>
    </p:spTree>
    <p:extLst>
      <p:ext uri="{BB962C8B-B14F-4D97-AF65-F5344CB8AC3E}">
        <p14:creationId xmlns:p14="http://schemas.microsoft.com/office/powerpoint/2010/main" val="174995595"/>
      </p:ext>
    </p:extLst>
  </p:cSld>
</p:sld>
</file>

<file path=ppt/slides/slide6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4FD0FF3A-7B37-462A-903E-87B84D79892B}"/>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2A6F0B11-460D-457A-9A85-B0C441D7C5C0}"/>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EA774BC5-34AC-40A8-8255-FD94A9DAA868}"/>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83EE2E46-8CF8-4641-A9BA-86B74A365F72}"/>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B5688BA9-C56A-4D5A-925A-495B1B57A05C}"/>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6074F822-6382-4ACD-ADCF-9903CF54CCA0}"/>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D2F8FDA6-B245-471D-AA6B-A46E4E82F408}"/>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DD194E80-E459-4C6D-AABE-5318995B4501}"/>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95B40B0C-0D3F-4A94-BD13-2D0A7E403B12}"/>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27415B88-75B9-4A9C-AFE4-C6EF1A55B3F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AX15 / 입력 구조화·확인·업무시스템 처리</a:t>
            </a:r>
          </a:p>
        </p:txBody>
      </p:sp>
      <p:sp>
        <p:nvSpPr>
          <p:cNvPr id="2" name="">
            <a:extLst xmlns:a="http://schemas.openxmlformats.org/drawingml/2006/main">
              <a:ext uri="{FF2B5EF4-FFF2-40B4-BE49-F238E27FC236}">
                <a16:creationId xmlns:a16="http://schemas.microsoft.com/office/drawing/2014/main" id="{FDDCB2DB-DECF-4F99-9CB9-DEB5A310043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국세청 AI 전화상담 · 세부 서비스 구조</a:t>
            </a:r>
          </a:p>
        </p:txBody>
      </p:sp>
      <p:sp>
        <p:nvSpPr>
          <p:cNvPr id="3" name="">
            <a:extLst xmlns:a="http://schemas.openxmlformats.org/drawingml/2006/main">
              <a:ext uri="{FF2B5EF4-FFF2-40B4-BE49-F238E27FC236}">
                <a16:creationId xmlns:a16="http://schemas.microsoft.com/office/drawing/2014/main" id="{95DE0E33-DA0C-41A0-8A60-D92F317AB73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34AD8EE-0833-48C7-B741-9CE27D1B5E1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AE17A6E-9D6A-4058-8881-F6881801AC8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65</a:t>
            </a:r>
          </a:p>
        </p:txBody>
      </p:sp>
      <p:sp>
        <p:nvSpPr>
          <p:cNvPr id="6" name="">
            <a:extLst xmlns:a="http://schemas.openxmlformats.org/drawingml/2006/main">
              <a:ext uri="{FF2B5EF4-FFF2-40B4-BE49-F238E27FC236}">
                <a16:creationId xmlns:a16="http://schemas.microsoft.com/office/drawing/2014/main" id="{CB7AACCE-58BD-44C1-A53C-DD0F81ECB5D8}"/>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전화 발화 → 질의 의도 분류 → 세무 안내 → 추가 상담 연결</a:t>
            </a:r>
          </a:p>
        </p:txBody>
      </p:sp>
      <p:sp>
        <p:nvSpPr>
          <p:cNvPr id="7" name="">
            <a:extLst xmlns:a="http://schemas.openxmlformats.org/drawingml/2006/main">
              <a:ext uri="{FF2B5EF4-FFF2-40B4-BE49-F238E27FC236}">
                <a16:creationId xmlns:a16="http://schemas.microsoft.com/office/drawing/2014/main" id="{A667AF9E-AA2A-4366-B693-CF5801F939ED}"/>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0FE53EE4-3FF5-4180-BD9F-7CD9CD067310}"/>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067110F2-FA17-49B1-A3D8-46F9E29DDC83}"/>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전화 상담 접점</a:t>
            </a:r>
          </a:p>
        </p:txBody>
      </p:sp>
      <p:sp>
        <p:nvSpPr>
          <p:cNvPr id="10" name="">
            <a:extLst xmlns:a="http://schemas.openxmlformats.org/drawingml/2006/main">
              <a:ext uri="{FF2B5EF4-FFF2-40B4-BE49-F238E27FC236}">
                <a16:creationId xmlns:a16="http://schemas.microsoft.com/office/drawing/2014/main" id="{966C2091-DD2D-4B80-8B0F-5908DBE718F4}"/>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14F16608-899A-4605-8B28-FB3583A63C3D}"/>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D4698815-1692-4C1E-BBBE-E8E2D3A5AD6B}"/>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세목·기간 확인</a:t>
            </a:r>
          </a:p>
        </p:txBody>
      </p:sp>
      <p:sp>
        <p:nvSpPr>
          <p:cNvPr id="13" name="">
            <a:extLst xmlns:a="http://schemas.openxmlformats.org/drawingml/2006/main">
              <a:ext uri="{FF2B5EF4-FFF2-40B4-BE49-F238E27FC236}">
                <a16:creationId xmlns:a16="http://schemas.microsoft.com/office/drawing/2014/main" id="{BD70B6AD-DBE2-4AB9-9984-EE5AE4615EA4}"/>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EA4F59E4-47A2-46A3-88BF-1BE6657981AB}"/>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FB922194-19EC-4E40-A228-FDF77CF32EDF}"/>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발화·의도 처리</a:t>
            </a:r>
          </a:p>
        </p:txBody>
      </p:sp>
      <p:sp>
        <p:nvSpPr>
          <p:cNvPr id="16" name="">
            <a:extLst xmlns:a="http://schemas.openxmlformats.org/drawingml/2006/main">
              <a:ext uri="{FF2B5EF4-FFF2-40B4-BE49-F238E27FC236}">
                <a16:creationId xmlns:a16="http://schemas.microsoft.com/office/drawing/2014/main" id="{F819D0E9-6D35-406F-AD0A-FED835B17DCE}"/>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DD7CF770-DC1A-4FC1-9714-68F5F072E8EF}"/>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D762292D-2C75-42D0-8395-EA85E1184E83}"/>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핵심 조건 확인</a:t>
            </a:r>
          </a:p>
        </p:txBody>
      </p:sp>
      <p:sp>
        <p:nvSpPr>
          <p:cNvPr id="19" name="">
            <a:extLst xmlns:a="http://schemas.openxmlformats.org/drawingml/2006/main">
              <a:ext uri="{FF2B5EF4-FFF2-40B4-BE49-F238E27FC236}">
                <a16:creationId xmlns:a16="http://schemas.microsoft.com/office/drawing/2014/main" id="{C3880C10-AEF8-4087-8623-47F70F07B493}"/>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8FE5286D-0106-4A00-9EAD-A3B51CD525A9}"/>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6F960AEA-2A4D-4CC3-A982-EB42916BC657}"/>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이용자·상담원</a:t>
            </a:r>
          </a:p>
        </p:txBody>
      </p:sp>
      <p:sp>
        <p:nvSpPr>
          <p:cNvPr id="22" name="">
            <a:extLst xmlns:a="http://schemas.openxmlformats.org/drawingml/2006/main">
              <a:ext uri="{FF2B5EF4-FFF2-40B4-BE49-F238E27FC236}">
                <a16:creationId xmlns:a16="http://schemas.microsoft.com/office/drawing/2014/main" id="{22FE62C7-BE4A-4A5E-8EF2-5DFB8BA9E633}"/>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E3979AFF-12BF-4A22-B4C3-803653BCA6F0}"/>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B9DE72E3-0DE5-4781-82CB-4D99362F2CF5}"/>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음성 안내·인계</a:t>
            </a:r>
          </a:p>
        </p:txBody>
      </p:sp>
      <p:sp>
        <p:nvSpPr>
          <p:cNvPr id="25" name="">
            <a:extLst xmlns:a="http://schemas.openxmlformats.org/drawingml/2006/main">
              <a:ext uri="{FF2B5EF4-FFF2-40B4-BE49-F238E27FC236}">
                <a16:creationId xmlns:a16="http://schemas.microsoft.com/office/drawing/2014/main" id="{64574A0F-469B-4B80-B901-AAA1BC2E9D23}"/>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35A5F9EA-EBB0-466D-8279-AF7CC840BF37}"/>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6E11168B-5C09-4748-86CF-BE0718418674}"/>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세무 상담자료</a:t>
            </a:r>
          </a:p>
        </p:txBody>
      </p:sp>
      <p:sp>
        <p:nvSpPr>
          <p:cNvPr id="28" name="">
            <a:extLst xmlns:a="http://schemas.openxmlformats.org/drawingml/2006/main">
              <a:ext uri="{FF2B5EF4-FFF2-40B4-BE49-F238E27FC236}">
                <a16:creationId xmlns:a16="http://schemas.microsoft.com/office/drawing/2014/main" id="{1A066D5F-8675-4F01-A7D1-01D4401E0DE7}"/>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C7E2B840-B2E4-4A41-A608-6BF0171BEF0E}"/>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20B46ED0-4B22-4941-8464-C5722297E760}"/>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승인 지식 검색</a:t>
            </a:r>
          </a:p>
        </p:txBody>
      </p:sp>
      <p:sp>
        <p:nvSpPr>
          <p:cNvPr id="31" name="">
            <a:extLst xmlns:a="http://schemas.openxmlformats.org/drawingml/2006/main">
              <a:ext uri="{FF2B5EF4-FFF2-40B4-BE49-F238E27FC236}">
                <a16:creationId xmlns:a16="http://schemas.microsoft.com/office/drawing/2014/main" id="{EC796DD5-DE3C-43E8-964C-A3B96323A113}"/>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2ADF7DF4-6E91-491E-B2F9-A0CD40069325}"/>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040D1DFF-F9CE-4287-9D8D-C95C3EEBBC80}"/>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지식·상담 이력</a:t>
            </a:r>
          </a:p>
        </p:txBody>
      </p:sp>
      <p:sp>
        <p:nvSpPr>
          <p:cNvPr id="34" name="">
            <a:extLst xmlns:a="http://schemas.openxmlformats.org/drawingml/2006/main">
              <a:ext uri="{FF2B5EF4-FFF2-40B4-BE49-F238E27FC236}">
                <a16:creationId xmlns:a16="http://schemas.microsoft.com/office/drawing/2014/main" id="{AB67EB8E-7628-4E95-A4F7-7153774F1ECB}"/>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322C55E0-1816-491C-8B5B-F1A5C2C73B73}"/>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1B1E1F0F-2EA0-454A-B8C8-2CFAEF4FEA6E}"/>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반복 문의 분석</a:t>
            </a:r>
          </a:p>
        </p:txBody>
      </p:sp>
      <p:sp>
        <p:nvSpPr>
          <p:cNvPr id="46" name="">
            <a:extLst xmlns:a="http://schemas.openxmlformats.org/drawingml/2006/main">
              <a:ext uri="{FF2B5EF4-FFF2-40B4-BE49-F238E27FC236}">
                <a16:creationId xmlns:a16="http://schemas.microsoft.com/office/drawing/2014/main" id="{FF0D1DD2-9FF0-4021-967A-62E3A8952588}"/>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128493361"/>
      </p:ext>
    </p:extLst>
  </p:cSld>
</p:sld>
</file>

<file path=ppt/slides/slide6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5FFC939-5023-4940-B2CF-8D581D274EF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AX15 / 논리 인터페이스·복구 설계</a:t>
            </a:r>
          </a:p>
        </p:txBody>
      </p:sp>
      <p:sp>
        <p:nvSpPr>
          <p:cNvPr id="2" name="">
            <a:extLst xmlns:a="http://schemas.openxmlformats.org/drawingml/2006/main">
              <a:ext uri="{FF2B5EF4-FFF2-40B4-BE49-F238E27FC236}">
                <a16:creationId xmlns:a16="http://schemas.microsoft.com/office/drawing/2014/main" id="{C1FA28DF-CC3D-43F8-B981-242E90C1AE2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국세청 AI 전화상담 · 데이터와 예외 처리</a:t>
            </a:r>
          </a:p>
        </p:txBody>
      </p:sp>
      <p:sp>
        <p:nvSpPr>
          <p:cNvPr id="3" name="">
            <a:extLst xmlns:a="http://schemas.openxmlformats.org/drawingml/2006/main">
              <a:ext uri="{FF2B5EF4-FFF2-40B4-BE49-F238E27FC236}">
                <a16:creationId xmlns:a16="http://schemas.microsoft.com/office/drawing/2014/main" id="{5B82E35B-3D2B-4D63-83EB-F7175E6FE86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7C23D21-00FB-4034-ACBB-A04F230928A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D7192B0-A39D-4705-8588-6790BC63127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66</a:t>
            </a:r>
          </a:p>
        </p:txBody>
      </p:sp>
      <p:sp>
        <p:nvSpPr>
          <p:cNvPr id="6" name="">
            <a:extLst xmlns:a="http://schemas.openxmlformats.org/drawingml/2006/main">
              <a:ext uri="{FF2B5EF4-FFF2-40B4-BE49-F238E27FC236}">
                <a16:creationId xmlns:a16="http://schemas.microsoft.com/office/drawing/2014/main" id="{C2E8ECBA-0496-4DBD-9FD7-15F560F591E3}"/>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B8BD342A-B272-4946-9D02-65F179A1D851}"/>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23148EC8-BDB6-4ACB-BF61-7B27C5908705}"/>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6CEB21CA-2C00-4B16-AC3C-FE17CFBADB25}"/>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발화에서 세목·기간·문의 목적 확인</a:t>
            </a:r>
          </a:p>
        </p:txBody>
      </p:sp>
      <p:sp>
        <p:nvSpPr>
          <p:cNvPr id="10" name="">
            <a:extLst xmlns:a="http://schemas.openxmlformats.org/drawingml/2006/main">
              <a:ext uri="{FF2B5EF4-FFF2-40B4-BE49-F238E27FC236}">
                <a16:creationId xmlns:a16="http://schemas.microsoft.com/office/drawing/2014/main" id="{BEBBA931-E064-44FD-BAD5-7E0063085873}"/>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231CD15-9C5C-4BBB-8F38-75AE391F95D5}"/>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A0667D77-2DC0-47C0-9CA4-134F92BDDE31}"/>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전화 발화</a:t>
            </a:r>
          </a:p>
        </p:txBody>
      </p:sp>
      <p:sp>
        <p:nvSpPr>
          <p:cNvPr id="13" name="">
            <a:extLst xmlns:a="http://schemas.openxmlformats.org/drawingml/2006/main">
              <a:ext uri="{FF2B5EF4-FFF2-40B4-BE49-F238E27FC236}">
                <a16:creationId xmlns:a16="http://schemas.microsoft.com/office/drawing/2014/main" id="{DB63CD6F-0BCF-4997-9442-514331585405}"/>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D85A19C-8B01-4BB8-8D78-638371255DD4}"/>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45306A46-E387-4C75-AD91-455E10BC501B}"/>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세무 안내 지식</a:t>
            </a:r>
          </a:p>
        </p:txBody>
      </p:sp>
      <p:sp>
        <p:nvSpPr>
          <p:cNvPr id="16" name="">
            <a:extLst xmlns:a="http://schemas.openxmlformats.org/drawingml/2006/main">
              <a:ext uri="{FF2B5EF4-FFF2-40B4-BE49-F238E27FC236}">
                <a16:creationId xmlns:a16="http://schemas.microsoft.com/office/drawing/2014/main" id="{252EFFEF-D572-4DFA-A317-B2F8F358E535}"/>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A211E07-2933-4A95-9A8D-6EAB98883405}"/>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EDAA917E-1D36-4E1F-A74A-3A9739A7F079}"/>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세무 안내</a:t>
            </a:r>
          </a:p>
        </p:txBody>
      </p:sp>
      <p:sp>
        <p:nvSpPr>
          <p:cNvPr id="19" name="">
            <a:extLst xmlns:a="http://schemas.openxmlformats.org/drawingml/2006/main">
              <a:ext uri="{FF2B5EF4-FFF2-40B4-BE49-F238E27FC236}">
                <a16:creationId xmlns:a16="http://schemas.microsoft.com/office/drawing/2014/main" id="{54C75F62-69A5-45F0-9120-38E9BC0C31A0}"/>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48DFEB1-EBF8-4D1F-9FED-0D162E598C80}"/>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A2252C86-50EB-404F-B82A-33FFDF75C59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후속 상담</a:t>
            </a:r>
          </a:p>
        </p:txBody>
      </p:sp>
      <p:sp>
        <p:nvSpPr>
          <p:cNvPr id="22" name="">
            <a:extLst xmlns:a="http://schemas.openxmlformats.org/drawingml/2006/main">
              <a:ext uri="{FF2B5EF4-FFF2-40B4-BE49-F238E27FC236}">
                <a16:creationId xmlns:a16="http://schemas.microsoft.com/office/drawing/2014/main" id="{017987AF-9B60-40EC-A01F-2CBA60AA8665}"/>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3BCF5CF-A55A-4DBB-9CE5-4982C68EED34}"/>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D4FF6FF8-324E-493C-A49F-7202EFF58C1D}"/>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후속 상담</a:t>
            </a:r>
          </a:p>
        </p:txBody>
      </p:sp>
      <p:sp>
        <p:nvSpPr>
          <p:cNvPr id="25" name="">
            <a:extLst xmlns:a="http://schemas.openxmlformats.org/drawingml/2006/main">
              <a:ext uri="{FF2B5EF4-FFF2-40B4-BE49-F238E27FC236}">
                <a16:creationId xmlns:a16="http://schemas.microsoft.com/office/drawing/2014/main" id="{AAD0F0EC-C778-45F8-B668-142A9353F202}"/>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E9EC35AA-B160-4111-B1BC-A4CF6478B202}"/>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발화 인식 실패·다른 귀속연도·개인별 과세 판단 요청</a:t>
            </a:r>
          </a:p>
        </p:txBody>
      </p:sp>
      <p:sp>
        <p:nvSpPr>
          <p:cNvPr id="27" name="">
            <a:extLst xmlns:a="http://schemas.openxmlformats.org/drawingml/2006/main">
              <a:ext uri="{FF2B5EF4-FFF2-40B4-BE49-F238E27FC236}">
                <a16:creationId xmlns:a16="http://schemas.microsoft.com/office/drawing/2014/main" id="{5CE18462-BD1E-4840-83DE-DC6D9768C6BF}"/>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27C7D86C-7B9F-4965-BE5E-12558E4C34F6}"/>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핵심 발화 확인·전문 상담 전환</a:t>
            </a:r>
          </a:p>
        </p:txBody>
      </p:sp>
      <p:sp>
        <p:nvSpPr>
          <p:cNvPr id="29" name="">
            <a:extLst xmlns:a="http://schemas.openxmlformats.org/drawingml/2006/main">
              <a:ext uri="{FF2B5EF4-FFF2-40B4-BE49-F238E27FC236}">
                <a16:creationId xmlns:a16="http://schemas.microsoft.com/office/drawing/2014/main" id="{1F632D00-B170-4BE9-A5FB-D527EE8BD97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30F61FA6-7D42-4C26-A234-90A66C11A57E}"/>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상담 이관·반복 문의·안내 오류 점검</a:t>
            </a:r>
          </a:p>
        </p:txBody>
      </p:sp>
      <p:sp>
        <p:nvSpPr>
          <p:cNvPr id="31" name="">
            <a:extLst xmlns:a="http://schemas.openxmlformats.org/drawingml/2006/main">
              <a:ext uri="{FF2B5EF4-FFF2-40B4-BE49-F238E27FC236}">
                <a16:creationId xmlns:a16="http://schemas.microsoft.com/office/drawing/2014/main" id="{3696D6DE-BE8B-40F0-A89B-9B5B155F6F81}"/>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6037667-FCD3-413A-8BEF-5FFBD2CA10D4}"/>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필수 항목 인식표와 상담원 인계·해결 여부</a:t>
            </a:r>
          </a:p>
        </p:txBody>
      </p:sp>
    </p:spTree>
    <p:extLst>
      <p:ext uri="{BB962C8B-B14F-4D97-AF65-F5344CB8AC3E}">
        <p14:creationId xmlns:p14="http://schemas.microsoft.com/office/powerpoint/2010/main" val="159858426"/>
      </p:ext>
    </p:extLst>
  </p:cSld>
</p:sld>
</file>

<file path=ppt/slides/slide6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EC0E7C5-8F37-498B-BA9C-1C5370D1157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AX15 / CCK 비교·재현 시험 설계</a:t>
            </a:r>
          </a:p>
        </p:txBody>
      </p:sp>
      <p:sp>
        <p:nvSpPr>
          <p:cNvPr id="2" name="">
            <a:extLst xmlns:a="http://schemas.openxmlformats.org/drawingml/2006/main">
              <a:ext uri="{FF2B5EF4-FFF2-40B4-BE49-F238E27FC236}">
                <a16:creationId xmlns:a16="http://schemas.microsoft.com/office/drawing/2014/main" id="{4CD886C4-67D2-42A9-B71F-F0FE106E00F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국세청 AI 전화상담 · 벤치마킹</a:t>
            </a:r>
          </a:p>
        </p:txBody>
      </p:sp>
      <p:sp>
        <p:nvSpPr>
          <p:cNvPr id="3" name="">
            <a:extLst xmlns:a="http://schemas.openxmlformats.org/drawingml/2006/main">
              <a:ext uri="{FF2B5EF4-FFF2-40B4-BE49-F238E27FC236}">
                <a16:creationId xmlns:a16="http://schemas.microsoft.com/office/drawing/2014/main" id="{D2C5C57B-1ECD-4866-8852-3E8CE4E48B6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9AC176B-EDA9-4EDF-86CC-546E83F5865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F5A7846-C06F-4F11-A9A8-C9FD72F2BDF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67</a:t>
            </a:r>
          </a:p>
        </p:txBody>
      </p:sp>
      <p:sp>
        <p:nvSpPr>
          <p:cNvPr id="6" name="">
            <a:extLst xmlns:a="http://schemas.openxmlformats.org/drawingml/2006/main">
              <a:ext uri="{FF2B5EF4-FFF2-40B4-BE49-F238E27FC236}">
                <a16:creationId xmlns:a16="http://schemas.microsoft.com/office/drawing/2014/main" id="{3ABB3D65-CCFE-4409-B84F-BDFA5F0D8E3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04A65814-1348-4973-9DF3-86C1BD48B494}"/>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전화 채널과 세무 안내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시범 적용 후 확대 검토</a:t>
            </a:r>
          </a:p>
        </p:txBody>
      </p:sp>
      <p:sp>
        <p:nvSpPr>
          <p:cNvPr id="8" name="">
            <a:extLst xmlns:a="http://schemas.openxmlformats.org/drawingml/2006/main">
              <a:ext uri="{FF2B5EF4-FFF2-40B4-BE49-F238E27FC236}">
                <a16:creationId xmlns:a16="http://schemas.microsoft.com/office/drawing/2014/main" id="{BE16CE66-E2AD-4799-92A8-D9C9CCD9CEB0}"/>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9BF91DC1-D0BC-4841-BEB2-7456E98C8C0C}"/>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예외 세무상담의 잘못된 안내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시범 성과와 전국 운영의 혼동</a:t>
            </a:r>
          </a:p>
        </p:txBody>
      </p:sp>
      <p:sp>
        <p:nvSpPr>
          <p:cNvPr id="10" name="">
            <a:extLst xmlns:a="http://schemas.openxmlformats.org/drawingml/2006/main">
              <a:ext uri="{FF2B5EF4-FFF2-40B4-BE49-F238E27FC236}">
                <a16:creationId xmlns:a16="http://schemas.microsoft.com/office/drawing/2014/main" id="{3332E620-5D4E-4E3A-A181-015EA1A00012}"/>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3ABA128D-25C5-4DA1-95D6-C0E9E5AC9916}"/>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핵심 발화 확인·전문 상담 전환</a:t>
            </a:r>
          </a:p>
        </p:txBody>
      </p:sp>
      <p:sp>
        <p:nvSpPr>
          <p:cNvPr id="12" name="">
            <a:extLst xmlns:a="http://schemas.openxmlformats.org/drawingml/2006/main">
              <a:ext uri="{FF2B5EF4-FFF2-40B4-BE49-F238E27FC236}">
                <a16:creationId xmlns:a16="http://schemas.microsoft.com/office/drawing/2014/main" id="{97EDC37A-51FA-4B61-A4E5-4E6FFEDB673E}"/>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BA6F8751-D11E-4195-A129-4731BD0D040E}"/>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납세자의 세목·귀속연도를 확인한 뒤 안내·상담 전</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환</a:t>
            </a:r>
          </a:p>
        </p:txBody>
      </p:sp>
      <p:sp>
        <p:nvSpPr>
          <p:cNvPr id="14" name="">
            <a:extLst xmlns:a="http://schemas.openxmlformats.org/drawingml/2006/main">
              <a:ext uri="{FF2B5EF4-FFF2-40B4-BE49-F238E27FC236}">
                <a16:creationId xmlns:a16="http://schemas.microsoft.com/office/drawing/2014/main" id="{02A3F0FE-3C43-4A2B-A168-680B65C2D2C1}"/>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4650DB28-AC4C-431D-A41B-2BC085F6FE70}"/>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발화 인식 실패·다른 귀속연도·개인별 과세 판단 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청</a:t>
            </a:r>
          </a:p>
        </p:txBody>
      </p:sp>
      <p:sp>
        <p:nvSpPr>
          <p:cNvPr id="16" name="">
            <a:extLst xmlns:a="http://schemas.openxmlformats.org/drawingml/2006/main">
              <a:ext uri="{FF2B5EF4-FFF2-40B4-BE49-F238E27FC236}">
                <a16:creationId xmlns:a16="http://schemas.microsoft.com/office/drawing/2014/main" id="{2814F5E6-931A-4E86-A135-63342E78B583}"/>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C44AB1FC-3C0D-4A60-BA3B-B586EBD50659}"/>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필수 항목 인식표와 상담원 인계·해결 여부</a:t>
            </a:r>
          </a:p>
        </p:txBody>
      </p:sp>
    </p:spTree>
    <p:extLst>
      <p:ext uri="{BB962C8B-B14F-4D97-AF65-F5344CB8AC3E}">
        <p14:creationId xmlns:p14="http://schemas.microsoft.com/office/powerpoint/2010/main" val="1093422956"/>
      </p:ext>
    </p:extLst>
  </p:cSld>
</p:sld>
</file>

<file path=ppt/slides/slide6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92E3351-E316-4AFD-B35C-423F78E5F14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AX16 / 계획 / 해외</a:t>
            </a:r>
          </a:p>
        </p:txBody>
      </p:sp>
      <p:sp>
        <p:nvSpPr>
          <p:cNvPr id="2" name="">
            <a:extLst xmlns:a="http://schemas.openxmlformats.org/drawingml/2006/main">
              <a:ext uri="{FF2B5EF4-FFF2-40B4-BE49-F238E27FC236}">
                <a16:creationId xmlns:a16="http://schemas.microsoft.com/office/drawing/2014/main" id="{DD97B294-B557-4CCA-918A-73088D88682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버스 충돌경고 확대</a:t>
            </a:r>
          </a:p>
        </p:txBody>
      </p:sp>
      <p:sp>
        <p:nvSpPr>
          <p:cNvPr id="3" name="">
            <a:extLst xmlns:a="http://schemas.openxmlformats.org/drawingml/2006/main">
              <a:ext uri="{FF2B5EF4-FFF2-40B4-BE49-F238E27FC236}">
                <a16:creationId xmlns:a16="http://schemas.microsoft.com/office/drawing/2014/main" id="{083D731D-9A37-4446-A300-123D252634B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E3A678D-F963-439D-BEA9-43228E2701E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B297C52-2389-44DD-B03D-F8D1E26558D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68</a:t>
            </a:r>
          </a:p>
        </p:txBody>
      </p:sp>
      <p:sp>
        <p:nvSpPr>
          <p:cNvPr id="6" name="">
            <a:extLst xmlns:a="http://schemas.openxmlformats.org/drawingml/2006/main">
              <a:ext uri="{FF2B5EF4-FFF2-40B4-BE49-F238E27FC236}">
                <a16:creationId xmlns:a16="http://schemas.microsoft.com/office/drawing/2014/main" id="{B55D367A-63DD-42A2-B647-C226C67C24C5}"/>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3B80DD26-E0A1-4901-9E12-00E18133C179}"/>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버스 주변 위험을 감지해 운전자에게 즉시 경고하는 안</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전 지원 사례. 운전자의 판단과 대응을 전제로 한 경고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시스템이며 운행 후 위험 이벤트 검토와도 연결.</a:t>
            </a:r>
          </a:p>
        </p:txBody>
      </p:sp>
      <p:sp>
        <p:nvSpPr>
          <p:cNvPr id="8" name="">
            <a:extLst xmlns:a="http://schemas.openxmlformats.org/drawingml/2006/main">
              <a:ext uri="{FF2B5EF4-FFF2-40B4-BE49-F238E27FC236}">
                <a16:creationId xmlns:a16="http://schemas.microsoft.com/office/drawing/2014/main" id="{52D4A228-3C91-4331-B6AE-08E8E862118E}"/>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03579369-91DE-4EDA-9B88-AB792B1F9BA1}"/>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차량·시간·주변 상황을 센서·영상과 맞추고 위험 후보에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서 경고로 이어지는 지연을 관리하는 구조. 경고 발생,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운전자 반응, 실제 위험 여부를 서로 다른 기록으로 보존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하는 CCK 분석.</a:t>
            </a:r>
          </a:p>
        </p:txBody>
      </p:sp>
      <p:sp>
        <p:nvSpPr>
          <p:cNvPr id="10" name="">
            <a:extLst xmlns:a="http://schemas.openxmlformats.org/drawingml/2006/main">
              <a:ext uri="{FF2B5EF4-FFF2-40B4-BE49-F238E27FC236}">
                <a16:creationId xmlns:a16="http://schemas.microsoft.com/office/drawing/2014/main" id="{37D827A6-B08F-47F6-B7E2-0734C9B8485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07AD6998-E39C-4A49-81C8-817278C20719}"/>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적용에서는 경보 과다로 인한 무시와 중요한 위험의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미탐을 동시에 확인할 필요. 차량·도로·시간대별 경보 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연·정확도·수용성을 비교하고 보급 규모를 사고 감소 실적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으로 환산하지 않는 평가.</a:t>
            </a:r>
          </a:p>
        </p:txBody>
      </p:sp>
      <p:sp>
        <p:nvSpPr>
          <p:cNvPr id="12" name="">
            <a:extLst xmlns:a="http://schemas.openxmlformats.org/drawingml/2006/main">
              <a:ext uri="{FF2B5EF4-FFF2-40B4-BE49-F238E27FC236}">
                <a16:creationId xmlns:a16="http://schemas.microsoft.com/office/drawing/2014/main" id="{3ACF938C-C79C-433D-BABF-C9431706275C}"/>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0F155961-5BEC-4F1D-9C36-5C9D3F55ECAD}"/>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장치 상태·경고 이력·점검 항목 매핑</a:t>
            </a:r>
          </a:p>
        </p:txBody>
      </p:sp>
      <p:sp>
        <p:nvSpPr>
          <p:cNvPr id="14" name="">
            <a:extLst xmlns:a="http://schemas.openxmlformats.org/drawingml/2006/main">
              <a:ext uri="{FF2B5EF4-FFF2-40B4-BE49-F238E27FC236}">
                <a16:creationId xmlns:a16="http://schemas.microsoft.com/office/drawing/2014/main" id="{752F5354-694B-408A-8F70-D11E9AD4D05E}"/>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B58F89E4-87EB-42ED-BD84-39B2590E53F4}"/>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결측·장치 고장·과경보 및 점검 증빙 대조</a:t>
            </a:r>
          </a:p>
        </p:txBody>
      </p:sp>
      <p:sp>
        <p:nvSpPr>
          <p:cNvPr id="16" name="">
            <a:extLst xmlns:a="http://schemas.openxmlformats.org/drawingml/2006/main">
              <a:ext uri="{FF2B5EF4-FFF2-40B4-BE49-F238E27FC236}">
                <a16:creationId xmlns:a16="http://schemas.microsoft.com/office/drawing/2014/main" id="{FA1C419D-1114-4367-AFE4-59F4AB783F76}"/>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24029D10-1AF8-4975-8B6B-D261320D2923}"/>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경고 신뢰도 / 증빙 누락률</a:t>
            </a:r>
          </a:p>
        </p:txBody>
      </p:sp>
      <p:sp>
        <p:nvSpPr>
          <p:cNvPr id="18" name="">
            <a:extLst xmlns:a="http://schemas.openxmlformats.org/drawingml/2006/main">
              <a:ext uri="{FF2B5EF4-FFF2-40B4-BE49-F238E27FC236}">
                <a16:creationId xmlns:a16="http://schemas.microsoft.com/office/drawing/2014/main" id="{84AFF747-D5AE-4C92-8F19-BF80A61129A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계획·조달 단계와 전 차량 운영 성과 구분</a:t>
            </a:r>
          </a:p>
        </p:txBody>
      </p:sp>
    </p:spTree>
    <p:extLst>
      <p:ext uri="{BB962C8B-B14F-4D97-AF65-F5344CB8AC3E}">
        <p14:creationId xmlns:p14="http://schemas.microsoft.com/office/powerpoint/2010/main" val="1014890217"/>
      </p:ext>
    </p:extLst>
  </p:cSld>
</p:sld>
</file>

<file path=ppt/slides/slide6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42BA8A62-75BB-449B-BFB5-EA272A91DA8A}"/>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5E6FB69D-D55B-49CC-921B-4AFEFC50827B}"/>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BF4DE6EA-650F-4CF1-B20B-2F579A4EA53A}"/>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105BA816-83D1-4F69-A1F1-EF32D498E33F}"/>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9059AE77-F1F3-4F56-8C35-30A71C3A4D79}"/>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FF98562C-6C7E-4CB3-A5F9-49C7D719364F}"/>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35EA9408-B881-426A-8139-E940F08FEAB1}"/>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CFCFCF44-3E0A-48CE-B696-AB710C6621EA}"/>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946AC481-017C-49E7-9566-2F95511E4FE3}"/>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54304ADC-8667-4FBE-A326-D2F4C5D043EC}"/>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6E908411-27A0-4AA6-998B-D92C64431C6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AX16 / 관측·안전 판정·현장 조치·환류</a:t>
            </a:r>
          </a:p>
        </p:txBody>
      </p:sp>
      <p:sp>
        <p:nvSpPr>
          <p:cNvPr id="2" name="">
            <a:extLst xmlns:a="http://schemas.openxmlformats.org/drawingml/2006/main">
              <a:ext uri="{FF2B5EF4-FFF2-40B4-BE49-F238E27FC236}">
                <a16:creationId xmlns:a16="http://schemas.microsoft.com/office/drawing/2014/main" id="{62D6E869-89D4-4A19-AF49-3752F0BD34A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버스 충돌경고 확대 · 세부 서비스 구조</a:t>
            </a:r>
          </a:p>
        </p:txBody>
      </p:sp>
      <p:sp>
        <p:nvSpPr>
          <p:cNvPr id="3" name="">
            <a:extLst xmlns:a="http://schemas.openxmlformats.org/drawingml/2006/main">
              <a:ext uri="{FF2B5EF4-FFF2-40B4-BE49-F238E27FC236}">
                <a16:creationId xmlns:a16="http://schemas.microsoft.com/office/drawing/2014/main" id="{B4C5B58E-6CF7-421F-AFDB-9D3E845E3A4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81DA4BA-8240-42D2-989A-AD61AD832EE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6FCF108-796E-4970-9B70-14508BC3878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69</a:t>
            </a:r>
          </a:p>
        </p:txBody>
      </p:sp>
      <p:sp>
        <p:nvSpPr>
          <p:cNvPr id="6" name="">
            <a:extLst xmlns:a="http://schemas.openxmlformats.org/drawingml/2006/main">
              <a:ext uri="{FF2B5EF4-FFF2-40B4-BE49-F238E27FC236}">
                <a16:creationId xmlns:a16="http://schemas.microsoft.com/office/drawing/2014/main" id="{D3CC631A-D37F-4597-9425-46FBFE652F41}"/>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차량 센서·영상 → 위험 판단 → 운전자 경고 → 운행 안전 검토</a:t>
            </a:r>
          </a:p>
        </p:txBody>
      </p:sp>
      <p:sp>
        <p:nvSpPr>
          <p:cNvPr id="7" name="">
            <a:extLst xmlns:a="http://schemas.openxmlformats.org/drawingml/2006/main">
              <a:ext uri="{FF2B5EF4-FFF2-40B4-BE49-F238E27FC236}">
                <a16:creationId xmlns:a16="http://schemas.microsoft.com/office/drawing/2014/main" id="{8AF2092D-7B47-43A5-AE30-8D396ACBE53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0D5F38EE-8A66-4097-A391-A97685CD6CF6}"/>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4B2323A4-83B5-4A88-87E1-957AD8F24B87}"/>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영상·센서 자료</a:t>
            </a:r>
          </a:p>
        </p:txBody>
      </p:sp>
      <p:sp>
        <p:nvSpPr>
          <p:cNvPr id="10" name="">
            <a:extLst xmlns:a="http://schemas.openxmlformats.org/drawingml/2006/main">
              <a:ext uri="{FF2B5EF4-FFF2-40B4-BE49-F238E27FC236}">
                <a16:creationId xmlns:a16="http://schemas.microsoft.com/office/drawing/2014/main" id="{272A32A4-B4D6-4530-8767-C935F24E4000}"/>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9CF62324-F9ED-447A-AAC5-1FA85FB33510}"/>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A931F7E5-0C47-47B3-89DF-E2DAE384716C}"/>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시간 동기화</a:t>
            </a:r>
          </a:p>
        </p:txBody>
      </p:sp>
      <p:sp>
        <p:nvSpPr>
          <p:cNvPr id="13" name="">
            <a:extLst xmlns:a="http://schemas.openxmlformats.org/drawingml/2006/main">
              <a:ext uri="{FF2B5EF4-FFF2-40B4-BE49-F238E27FC236}">
                <a16:creationId xmlns:a16="http://schemas.microsoft.com/office/drawing/2014/main" id="{8E967F14-D612-4818-8186-9DC52DE42302}"/>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4F890B1A-75B3-4CDF-AD91-40061B97DD38}"/>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2412E828-AE8B-4937-B491-E2DE2774C8B5}"/>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충돌 위험 탐지</a:t>
            </a:r>
          </a:p>
        </p:txBody>
      </p:sp>
      <p:sp>
        <p:nvSpPr>
          <p:cNvPr id="16" name="">
            <a:extLst xmlns:a="http://schemas.openxmlformats.org/drawingml/2006/main">
              <a:ext uri="{FF2B5EF4-FFF2-40B4-BE49-F238E27FC236}">
                <a16:creationId xmlns:a16="http://schemas.microsoft.com/office/drawing/2014/main" id="{00D1BA2B-BE70-4339-86FF-1DEAEE1880C6}"/>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2728AD3-B767-4C4E-BE94-81A373A0C69B}"/>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577C07DE-932D-4B8E-8CAD-13F56520BC4B}"/>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경보 지연 검사</a:t>
            </a:r>
          </a:p>
        </p:txBody>
      </p:sp>
      <p:sp>
        <p:nvSpPr>
          <p:cNvPr id="19" name="">
            <a:extLst xmlns:a="http://schemas.openxmlformats.org/drawingml/2006/main">
              <a:ext uri="{FF2B5EF4-FFF2-40B4-BE49-F238E27FC236}">
                <a16:creationId xmlns:a16="http://schemas.microsoft.com/office/drawing/2014/main" id="{9C9CC166-416F-42A0-888E-EB16A961DD85}"/>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44914EA3-6022-4199-80FE-7DBCE3F92BF9}"/>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A27452C9-990F-40CA-813C-B60A98EDE960}"/>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위험 경고 전달</a:t>
            </a:r>
          </a:p>
        </p:txBody>
      </p:sp>
      <p:sp>
        <p:nvSpPr>
          <p:cNvPr id="22" name="">
            <a:extLst xmlns:a="http://schemas.openxmlformats.org/drawingml/2006/main">
              <a:ext uri="{FF2B5EF4-FFF2-40B4-BE49-F238E27FC236}">
                <a16:creationId xmlns:a16="http://schemas.microsoft.com/office/drawing/2014/main" id="{7FEF8B1F-4094-4783-8516-47D3F570CD6D}"/>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57425948-6C57-4D63-BEE9-F5776FC92EE1}"/>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A4F64B02-74B8-49DB-B34E-5BFB8ACA8EEC}"/>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차량·주변 맥락</a:t>
            </a:r>
          </a:p>
        </p:txBody>
      </p:sp>
      <p:sp>
        <p:nvSpPr>
          <p:cNvPr id="25" name="">
            <a:extLst xmlns:a="http://schemas.openxmlformats.org/drawingml/2006/main">
              <a:ext uri="{FF2B5EF4-FFF2-40B4-BE49-F238E27FC236}">
                <a16:creationId xmlns:a16="http://schemas.microsoft.com/office/drawing/2014/main" id="{4FB0E63E-378F-43C5-8186-8A92390274D8}"/>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5190559A-D681-4C51-AB2F-3F6BA000609F}"/>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9D76E84D-BDBD-412F-BD7A-4BCCB266DC75}"/>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영상·센서 조회</a:t>
            </a:r>
          </a:p>
        </p:txBody>
      </p:sp>
      <p:sp>
        <p:nvSpPr>
          <p:cNvPr id="28" name="">
            <a:extLst xmlns:a="http://schemas.openxmlformats.org/drawingml/2006/main">
              <a:ext uri="{FF2B5EF4-FFF2-40B4-BE49-F238E27FC236}">
                <a16:creationId xmlns:a16="http://schemas.microsoft.com/office/drawing/2014/main" id="{85DD4C95-F1AE-4321-8DFC-A7B3E94E124D}"/>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8C2E9818-E206-4C4C-9E56-D5B770F3475D}"/>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7A941974-A6CA-4E6E-BFF5-297E3B4E552C}"/>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차량 안전 경계</a:t>
            </a:r>
          </a:p>
        </p:txBody>
      </p:sp>
      <p:sp>
        <p:nvSpPr>
          <p:cNvPr id="31" name="">
            <a:extLst xmlns:a="http://schemas.openxmlformats.org/drawingml/2006/main">
              <a:ext uri="{FF2B5EF4-FFF2-40B4-BE49-F238E27FC236}">
                <a16:creationId xmlns:a16="http://schemas.microsoft.com/office/drawing/2014/main" id="{3DA2FCEA-A46A-42D4-AA1C-1C9270003357}"/>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D5E460AB-CFB3-4103-BAD8-5252ACEBE6CA}"/>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F66430CC-34FF-433D-B802-BDA7F636FD8F}"/>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운전자 상황 판단</a:t>
            </a:r>
          </a:p>
        </p:txBody>
      </p:sp>
      <p:sp>
        <p:nvSpPr>
          <p:cNvPr id="34" name="">
            <a:extLst xmlns:a="http://schemas.openxmlformats.org/drawingml/2006/main">
              <a:ext uri="{FF2B5EF4-FFF2-40B4-BE49-F238E27FC236}">
                <a16:creationId xmlns:a16="http://schemas.microsoft.com/office/drawing/2014/main" id="{97778D57-56C5-4EC4-9B84-064C229BEE59}"/>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EB68DC4D-FC1E-46C4-984F-8571E65B814B}"/>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BD3D7DA8-EC10-4868-BEC5-BCA3B5B01242}"/>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운행 후 검토</a:t>
            </a:r>
          </a:p>
        </p:txBody>
      </p:sp>
      <p:sp>
        <p:nvSpPr>
          <p:cNvPr id="47" name="">
            <a:extLst xmlns:a="http://schemas.openxmlformats.org/drawingml/2006/main">
              <a:ext uri="{FF2B5EF4-FFF2-40B4-BE49-F238E27FC236}">
                <a16:creationId xmlns:a16="http://schemas.microsoft.com/office/drawing/2014/main" id="{E9FA5C0F-046C-4471-B81A-C9E4954D3AA5}"/>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229759079"/>
      </p:ext>
    </p:extLst>
  </p:cSld>
</p:sld>
</file>

<file path=ppt/slides/slide7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086A083-03C3-4D23-8640-ABA4B725482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AX16 / 논리 인터페이스·복구 설계</a:t>
            </a:r>
          </a:p>
        </p:txBody>
      </p:sp>
      <p:sp>
        <p:nvSpPr>
          <p:cNvPr id="2" name="">
            <a:extLst xmlns:a="http://schemas.openxmlformats.org/drawingml/2006/main">
              <a:ext uri="{FF2B5EF4-FFF2-40B4-BE49-F238E27FC236}">
                <a16:creationId xmlns:a16="http://schemas.microsoft.com/office/drawing/2014/main" id="{9167BAB9-4913-4951-8E8F-B80129A4FBF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버스 충돌경고 확대 · 데이터와 예외 처리</a:t>
            </a:r>
          </a:p>
        </p:txBody>
      </p:sp>
      <p:sp>
        <p:nvSpPr>
          <p:cNvPr id="3" name="">
            <a:extLst xmlns:a="http://schemas.openxmlformats.org/drawingml/2006/main">
              <a:ext uri="{FF2B5EF4-FFF2-40B4-BE49-F238E27FC236}">
                <a16:creationId xmlns:a16="http://schemas.microsoft.com/office/drawing/2014/main" id="{D364AB43-8A4A-4967-AE2E-20C28EA5EDA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AED3B71-1C01-4F05-8ABE-772734E3A15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42FACA1-FDD7-48BD-A550-6FE3FEF44C8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70</a:t>
            </a:r>
          </a:p>
        </p:txBody>
      </p:sp>
      <p:sp>
        <p:nvSpPr>
          <p:cNvPr id="6" name="">
            <a:extLst xmlns:a="http://schemas.openxmlformats.org/drawingml/2006/main">
              <a:ext uri="{FF2B5EF4-FFF2-40B4-BE49-F238E27FC236}">
                <a16:creationId xmlns:a16="http://schemas.microsoft.com/office/drawing/2014/main" id="{C8617E02-B1A2-45A1-B354-FFC8A815E04B}"/>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4E9BD5BF-C482-4803-B628-B50084BD378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A9724715-84B0-4AEE-9549-5C538200B2A8}"/>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26E8C456-B8F6-46E4-9751-DA478F2BB839}"/>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위험 이벤트 기록</a:t>
            </a:r>
          </a:p>
        </p:txBody>
      </p:sp>
      <p:sp>
        <p:nvSpPr>
          <p:cNvPr id="10" name="">
            <a:extLst xmlns:a="http://schemas.openxmlformats.org/drawingml/2006/main">
              <a:ext uri="{FF2B5EF4-FFF2-40B4-BE49-F238E27FC236}">
                <a16:creationId xmlns:a16="http://schemas.microsoft.com/office/drawing/2014/main" id="{BB25DD2D-EC56-41E5-85A5-899405DE44B8}"/>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59956DC-1E3E-4466-9DB2-0B248FE8D75C}"/>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619FB84A-41F4-431F-B235-5107F302B0C1}"/>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E3F6D73C-3195-436A-A3C9-F13422C18030}"/>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F3F904-122B-4BDA-927B-D95F376FD356}"/>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40E79EF3-F0AB-4F27-B81D-6CE075FE56DC}"/>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경고</a:t>
            </a:r>
          </a:p>
        </p:txBody>
      </p:sp>
      <p:sp>
        <p:nvSpPr>
          <p:cNvPr id="16" name="">
            <a:extLst xmlns:a="http://schemas.openxmlformats.org/drawingml/2006/main">
              <a:ext uri="{FF2B5EF4-FFF2-40B4-BE49-F238E27FC236}">
                <a16:creationId xmlns:a16="http://schemas.microsoft.com/office/drawing/2014/main" id="{9EAAF13B-203E-41E1-A5D6-5FD1934A58B6}"/>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33C1E51-6707-4DB8-9C92-4DABDC9D0E5C}"/>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DE3D695C-E3E7-4828-BE37-3E0B981006DB}"/>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차량 안전 경계</a:t>
            </a:r>
          </a:p>
        </p:txBody>
      </p:sp>
      <p:sp>
        <p:nvSpPr>
          <p:cNvPr id="19" name="">
            <a:extLst xmlns:a="http://schemas.openxmlformats.org/drawingml/2006/main">
              <a:ext uri="{FF2B5EF4-FFF2-40B4-BE49-F238E27FC236}">
                <a16:creationId xmlns:a16="http://schemas.microsoft.com/office/drawing/2014/main" id="{D6BB572A-E1AC-476D-B854-05ACBBA7A06B}"/>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798E572-EB77-418C-BD37-7C9345F1BA99}"/>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9F3275E5-AA44-4081-8DE2-4386033EC94D}"/>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운행 후 검토</a:t>
            </a:r>
          </a:p>
        </p:txBody>
      </p:sp>
      <p:sp>
        <p:nvSpPr>
          <p:cNvPr id="22" name="">
            <a:extLst xmlns:a="http://schemas.openxmlformats.org/drawingml/2006/main">
              <a:ext uri="{FF2B5EF4-FFF2-40B4-BE49-F238E27FC236}">
                <a16:creationId xmlns:a16="http://schemas.microsoft.com/office/drawing/2014/main" id="{12C6DE3C-CFC0-42E6-8929-CCDFC557EF77}"/>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51131A2-EC83-4073-B389-424B215B1642}"/>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C3765EB5-405A-42A5-BE62-F0C5B2ED70AF}"/>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오경보·미탐과 운전자 반응의 표본 확인</a:t>
            </a:r>
          </a:p>
        </p:txBody>
      </p:sp>
      <p:sp>
        <p:nvSpPr>
          <p:cNvPr id="25" name="">
            <a:extLst xmlns:a="http://schemas.openxmlformats.org/drawingml/2006/main">
              <a:ext uri="{FF2B5EF4-FFF2-40B4-BE49-F238E27FC236}">
                <a16:creationId xmlns:a16="http://schemas.microsoft.com/office/drawing/2014/main" id="{EA1D9A2C-C7D8-4519-962E-DCDC96C8C707}"/>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AE7B61A1-1253-457F-9631-5C6B16160C0B}"/>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우천·야간·가림·정차 상태의 비위험 객체</a:t>
            </a:r>
          </a:p>
        </p:txBody>
      </p:sp>
      <p:sp>
        <p:nvSpPr>
          <p:cNvPr id="27" name="">
            <a:extLst xmlns:a="http://schemas.openxmlformats.org/drawingml/2006/main">
              <a:ext uri="{FF2B5EF4-FFF2-40B4-BE49-F238E27FC236}">
                <a16:creationId xmlns:a16="http://schemas.microsoft.com/office/drawing/2014/main" id="{D20C821E-B4A5-4E61-8886-457A5BA3E305}"/>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190D591F-3E0B-4796-9D9C-709939BF65D4}"/>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경보 지연·오탐·운전자 수용성 평가</a:t>
            </a:r>
          </a:p>
        </p:txBody>
      </p:sp>
      <p:sp>
        <p:nvSpPr>
          <p:cNvPr id="29" name="">
            <a:extLst xmlns:a="http://schemas.openxmlformats.org/drawingml/2006/main">
              <a:ext uri="{FF2B5EF4-FFF2-40B4-BE49-F238E27FC236}">
                <a16:creationId xmlns:a16="http://schemas.microsoft.com/office/drawing/2014/main" id="{3E708C5D-26C3-4A83-8A49-45BACE1205AB}"/>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1996B15C-7385-475F-8C80-F063DBFE9DFC}"/>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오경보·미탐과 운전자 반응의 표본 확인</a:t>
            </a:r>
          </a:p>
        </p:txBody>
      </p:sp>
      <p:sp>
        <p:nvSpPr>
          <p:cNvPr id="31" name="">
            <a:extLst xmlns:a="http://schemas.openxmlformats.org/drawingml/2006/main">
              <a:ext uri="{FF2B5EF4-FFF2-40B4-BE49-F238E27FC236}">
                <a16:creationId xmlns:a16="http://schemas.microsoft.com/office/drawing/2014/main" id="{52E9865B-6FC9-4416-A860-407BDF655570}"/>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B6CA817-0E5C-4A04-870A-2E4627F09A8A}"/>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환경별 경고 적정성과 운전자 반응의 표본 기록</a:t>
            </a:r>
          </a:p>
        </p:txBody>
      </p:sp>
    </p:spTree>
    <p:extLst>
      <p:ext uri="{BB962C8B-B14F-4D97-AF65-F5344CB8AC3E}">
        <p14:creationId xmlns:p14="http://schemas.microsoft.com/office/powerpoint/2010/main" val="14407403"/>
      </p:ext>
    </p:extLst>
  </p:cSld>
</p:sld>
</file>

<file path=ppt/slides/slide7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7B5450F-2218-47D9-913E-24ED21499D9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AX16 / CCK 비교·재현 시험 설계</a:t>
            </a:r>
          </a:p>
        </p:txBody>
      </p:sp>
      <p:sp>
        <p:nvSpPr>
          <p:cNvPr id="2" name="">
            <a:extLst xmlns:a="http://schemas.openxmlformats.org/drawingml/2006/main">
              <a:ext uri="{FF2B5EF4-FFF2-40B4-BE49-F238E27FC236}">
                <a16:creationId xmlns:a16="http://schemas.microsoft.com/office/drawing/2014/main" id="{AF242DA3-3B29-42EA-8218-222B80455D1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버스 충돌경고 확대 · 벤치마킹</a:t>
            </a:r>
          </a:p>
        </p:txBody>
      </p:sp>
      <p:sp>
        <p:nvSpPr>
          <p:cNvPr id="3" name="">
            <a:extLst xmlns:a="http://schemas.openxmlformats.org/drawingml/2006/main">
              <a:ext uri="{FF2B5EF4-FFF2-40B4-BE49-F238E27FC236}">
                <a16:creationId xmlns:a16="http://schemas.microsoft.com/office/drawing/2014/main" id="{46CC8C51-B50E-4B81-A188-C24B840FF10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BE70D0E-1FCE-4F32-9BC4-7413ACDE830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9B818A9-8DCC-4DA8-9A23-0E9E77BC29D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71</a:t>
            </a:r>
          </a:p>
        </p:txBody>
      </p:sp>
      <p:sp>
        <p:nvSpPr>
          <p:cNvPr id="6" name="">
            <a:extLst xmlns:a="http://schemas.openxmlformats.org/drawingml/2006/main">
              <a:ext uri="{FF2B5EF4-FFF2-40B4-BE49-F238E27FC236}">
                <a16:creationId xmlns:a16="http://schemas.microsoft.com/office/drawing/2014/main" id="{C0AF6F63-D278-4007-8513-D6C15D11FBC5}"/>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064CBA7C-0952-4917-9C64-5BAFC768EBD6}"/>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차량의 위험 인지와 즉시 경고</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운전자 대응을 전제로 한 안전 지원</a:t>
            </a:r>
          </a:p>
        </p:txBody>
      </p:sp>
      <p:sp>
        <p:nvSpPr>
          <p:cNvPr id="8" name="">
            <a:extLst xmlns:a="http://schemas.openxmlformats.org/drawingml/2006/main">
              <a:ext uri="{FF2B5EF4-FFF2-40B4-BE49-F238E27FC236}">
                <a16:creationId xmlns:a16="http://schemas.microsoft.com/office/drawing/2014/main" id="{BF6C4820-F792-4596-89D5-780E58539F9B}"/>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ECEFBB34-521A-418A-BFA0-413A9E9BFA09}"/>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경보 과다에 따른 무시 위험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확대 계획을 사고 감소 실적으로 해석</a:t>
            </a:r>
          </a:p>
        </p:txBody>
      </p:sp>
      <p:sp>
        <p:nvSpPr>
          <p:cNvPr id="10" name="">
            <a:extLst xmlns:a="http://schemas.openxmlformats.org/drawingml/2006/main">
              <a:ext uri="{FF2B5EF4-FFF2-40B4-BE49-F238E27FC236}">
                <a16:creationId xmlns:a16="http://schemas.microsoft.com/office/drawing/2014/main" id="{F7D3E8ED-D751-4311-8FB8-D9DE98D3D41D}"/>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39B8E616-80E3-4970-B0A5-9A50087BC2BE}"/>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경보 지연·오탐·운전자 수용성 평가</a:t>
            </a:r>
          </a:p>
        </p:txBody>
      </p:sp>
      <p:sp>
        <p:nvSpPr>
          <p:cNvPr id="12" name="">
            <a:extLst xmlns:a="http://schemas.openxmlformats.org/drawingml/2006/main">
              <a:ext uri="{FF2B5EF4-FFF2-40B4-BE49-F238E27FC236}">
                <a16:creationId xmlns:a16="http://schemas.microsoft.com/office/drawing/2014/main" id="{29F07B29-C5A1-4AF5-87B3-F1234D41A2D0}"/>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65A7BFA5-2E5C-419C-BCB8-7D7621C4F14F}"/>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운행 중 접근 위험을 감지하고 운전자에게 경고</a:t>
            </a:r>
          </a:p>
        </p:txBody>
      </p:sp>
      <p:sp>
        <p:nvSpPr>
          <p:cNvPr id="14" name="">
            <a:extLst xmlns:a="http://schemas.openxmlformats.org/drawingml/2006/main">
              <a:ext uri="{FF2B5EF4-FFF2-40B4-BE49-F238E27FC236}">
                <a16:creationId xmlns:a16="http://schemas.microsoft.com/office/drawing/2014/main" id="{D785837E-94A0-4488-AFF4-13EB3A9223A5}"/>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1B4755DE-B5F0-4B81-937D-6849A7F42E2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우천·야간·가림·정차 상태의 비위험 객체</a:t>
            </a:r>
          </a:p>
        </p:txBody>
      </p:sp>
      <p:sp>
        <p:nvSpPr>
          <p:cNvPr id="16" name="">
            <a:extLst xmlns:a="http://schemas.openxmlformats.org/drawingml/2006/main">
              <a:ext uri="{FF2B5EF4-FFF2-40B4-BE49-F238E27FC236}">
                <a16:creationId xmlns:a16="http://schemas.microsoft.com/office/drawing/2014/main" id="{8F2B0D31-6BF9-42B7-ADA1-4B644965CB8F}"/>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4B57194F-7BAF-4C69-8173-8214392E531E}"/>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환경별 경고 적정성과 운전자 반응의 표본 기록</a:t>
            </a:r>
          </a:p>
        </p:txBody>
      </p:sp>
    </p:spTree>
    <p:extLst>
      <p:ext uri="{BB962C8B-B14F-4D97-AF65-F5344CB8AC3E}">
        <p14:creationId xmlns:p14="http://schemas.microsoft.com/office/powerpoint/2010/main" val="1479279906"/>
      </p:ext>
    </p:extLst>
  </p:cSld>
</p:sld>
</file>

<file path=ppt/slides/slide7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556162E-973D-4FBF-B801-76C23630B1F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AX17 / 혼합 / 국내</a:t>
            </a:r>
          </a:p>
        </p:txBody>
      </p:sp>
      <p:sp>
        <p:nvSpPr>
          <p:cNvPr id="2" name="">
            <a:extLst xmlns:a="http://schemas.openxmlformats.org/drawingml/2006/main">
              <a:ext uri="{FF2B5EF4-FFF2-40B4-BE49-F238E27FC236}">
                <a16:creationId xmlns:a16="http://schemas.microsoft.com/office/drawing/2014/main" id="{3609F16A-1891-472B-975F-D1A39BD3155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코레일 자동검측·AI 확대</a:t>
            </a:r>
          </a:p>
        </p:txBody>
      </p:sp>
      <p:sp>
        <p:nvSpPr>
          <p:cNvPr id="3" name="">
            <a:extLst xmlns:a="http://schemas.openxmlformats.org/drawingml/2006/main">
              <a:ext uri="{FF2B5EF4-FFF2-40B4-BE49-F238E27FC236}">
                <a16:creationId xmlns:a16="http://schemas.microsoft.com/office/drawing/2014/main" id="{40F98E00-CD87-44AB-9FB6-5435B097B0E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CABAB5A-C97A-43CA-84C3-1D07B4C4C66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4929AFA-5BAD-470E-A0F5-10B545A4825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72</a:t>
            </a:r>
          </a:p>
        </p:txBody>
      </p:sp>
      <p:sp>
        <p:nvSpPr>
          <p:cNvPr id="6" name="">
            <a:extLst xmlns:a="http://schemas.openxmlformats.org/drawingml/2006/main">
              <a:ext uri="{FF2B5EF4-FFF2-40B4-BE49-F238E27FC236}">
                <a16:creationId xmlns:a16="http://schemas.microsoft.com/office/drawing/2014/main" id="{BFC253D6-8A95-4183-8F57-33BCEFDA1CC2}"/>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C3FE4489-FD0C-4820-B11F-6FB963C9130B}"/>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철도 설비의 자동검측 자료를 유지보수 검토에 활용하는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사례. 검측 데이터 확보, AI 이상 분석, 현장 정비 판단</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은 서로 다른 기능·사업 범위.</a:t>
            </a:r>
          </a:p>
        </p:txBody>
      </p:sp>
      <p:sp>
        <p:nvSpPr>
          <p:cNvPr id="8" name="">
            <a:extLst xmlns:a="http://schemas.openxmlformats.org/drawingml/2006/main">
              <a:ext uri="{FF2B5EF4-FFF2-40B4-BE49-F238E27FC236}">
                <a16:creationId xmlns:a16="http://schemas.microsoft.com/office/drawing/2014/main" id="{CA9E2049-05B2-4161-9D51-17312241525A}"/>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9E18E986-4853-4533-AC40-6F912B168EB8}"/>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노선·설비 ID·검측구간을 기준으로 관측값과 과거 정비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이력을 결합하고 이상 후보를 점검자에게 제공하는 재구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성. 현장 확인과 조치 후 재검측을 연결해 후보의 유효성</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확인.</a:t>
            </a:r>
          </a:p>
        </p:txBody>
      </p:sp>
      <p:sp>
        <p:nvSpPr>
          <p:cNvPr id="10" name="">
            <a:extLst xmlns:a="http://schemas.openxmlformats.org/drawingml/2006/main">
              <a:ext uri="{FF2B5EF4-FFF2-40B4-BE49-F238E27FC236}">
                <a16:creationId xmlns:a16="http://schemas.microsoft.com/office/drawing/2014/main" id="{9122150C-5FEB-49F7-A222-EE3F2CB7A643}"/>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E9145B63-D23F-4364-98BE-808C1C78ED1D}"/>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철도 안전 업무에서는 기존 자동검측 장비와 추가 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석 모델을 분리해 재사용 범위를 산정할 필요. 실제 결함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정답, 설비별 탐지 편차, 정비 조치·재점검 증빙을 검수에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연결.</a:t>
            </a:r>
          </a:p>
        </p:txBody>
      </p:sp>
      <p:sp>
        <p:nvSpPr>
          <p:cNvPr id="12" name="">
            <a:extLst xmlns:a="http://schemas.openxmlformats.org/drawingml/2006/main">
              <a:ext uri="{FF2B5EF4-FFF2-40B4-BE49-F238E27FC236}">
                <a16:creationId xmlns:a16="http://schemas.microsoft.com/office/drawing/2014/main" id="{DF00D8E9-41E3-488A-B717-8C6C5DF3CE03}"/>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41361804-DC0E-4786-992F-F17F884FFA1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설비 ID·판정 기준·검사 시점 대사</a:t>
            </a:r>
          </a:p>
        </p:txBody>
      </p:sp>
      <p:sp>
        <p:nvSpPr>
          <p:cNvPr id="14" name="">
            <a:extLst xmlns:a="http://schemas.openxmlformats.org/drawingml/2006/main">
              <a:ext uri="{FF2B5EF4-FFF2-40B4-BE49-F238E27FC236}">
                <a16:creationId xmlns:a16="http://schemas.microsoft.com/office/drawing/2014/main" id="{6638AAC4-49DF-45D9-92D3-73693559B3E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ED222DCF-6230-4309-9E53-E368D8DE02F5}"/>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정상·이상·판정 변경 및 미조치 자료 재현</a:t>
            </a:r>
          </a:p>
        </p:txBody>
      </p:sp>
      <p:sp>
        <p:nvSpPr>
          <p:cNvPr id="16" name="">
            <a:extLst xmlns:a="http://schemas.openxmlformats.org/drawingml/2006/main">
              <a:ext uri="{FF2B5EF4-FFF2-40B4-BE49-F238E27FC236}">
                <a16:creationId xmlns:a16="http://schemas.microsoft.com/office/drawing/2014/main" id="{C34C2000-01DB-4ED0-A1F2-B7895695E730}"/>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DA6B5B9E-95B7-4171-B709-0BA68CD84ED8}"/>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검사 검토시간 / 증거 누락률</a:t>
            </a:r>
          </a:p>
        </p:txBody>
      </p:sp>
      <p:sp>
        <p:nvSpPr>
          <p:cNvPr id="18" name="">
            <a:extLst xmlns:a="http://schemas.openxmlformats.org/drawingml/2006/main">
              <a:ext uri="{FF2B5EF4-FFF2-40B4-BE49-F238E27FC236}">
                <a16:creationId xmlns:a16="http://schemas.microsoft.com/office/drawing/2014/main" id="{9D611C8A-2BFA-4FB7-85B1-E0D0D0039014}"/>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현재 검측 기능과 향후 AI 확대 구분 · 안전 감소 효과의 인과 검증 별도</a:t>
            </a:r>
          </a:p>
        </p:txBody>
      </p:sp>
    </p:spTree>
    <p:extLst>
      <p:ext uri="{BB962C8B-B14F-4D97-AF65-F5344CB8AC3E}">
        <p14:creationId xmlns:p14="http://schemas.microsoft.com/office/powerpoint/2010/main" val="928682974"/>
      </p:ext>
    </p:extLst>
  </p:cSld>
</p:sld>
</file>

<file path=ppt/slides/slide7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61278B5B-845E-4D3D-96CE-D573AF2AB466}"/>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1ABF9EDB-49DE-4E28-BFB8-E978D44EA1F4}"/>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63AB0677-DA5A-4D03-B24F-83A22705A002}"/>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D8BBAD77-75D6-4445-9F24-19374576FA22}"/>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2D5335E2-47CF-4B14-8F19-C8C79E00DB14}"/>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EE787084-90CC-410D-817A-3B5FA7285E6E}"/>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9A2401A8-4BEF-48A2-AED0-F5CD24A980F6}"/>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2DFB7F3E-09DE-49EB-A716-EA2810659FA6}"/>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8813E6D0-20EE-48CF-ACBB-C93080635005}"/>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0CB77218-0D4F-4772-840B-3F9CA531D713}"/>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80854D06-2090-482E-B2EF-D7A3D97353C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AX17 / 관측·안전 판정·현장 조치·환류</a:t>
            </a:r>
          </a:p>
        </p:txBody>
      </p:sp>
      <p:sp>
        <p:nvSpPr>
          <p:cNvPr id="2" name="">
            <a:extLst xmlns:a="http://schemas.openxmlformats.org/drawingml/2006/main">
              <a:ext uri="{FF2B5EF4-FFF2-40B4-BE49-F238E27FC236}">
                <a16:creationId xmlns:a16="http://schemas.microsoft.com/office/drawing/2014/main" id="{545F3AD5-9866-4D0F-AB98-0FC79AF6860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코레일 자동검측·AI 확대 · 세부 서비스 구조</a:t>
            </a:r>
          </a:p>
        </p:txBody>
      </p:sp>
      <p:sp>
        <p:nvSpPr>
          <p:cNvPr id="3" name="">
            <a:extLst xmlns:a="http://schemas.openxmlformats.org/drawingml/2006/main">
              <a:ext uri="{FF2B5EF4-FFF2-40B4-BE49-F238E27FC236}">
                <a16:creationId xmlns:a16="http://schemas.microsoft.com/office/drawing/2014/main" id="{A62CE5F4-44A0-477B-8FBB-19D30EC66E9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681AB5C-17FC-4E03-AA2D-FB648D6EEF6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FEDD24D-92D1-46C8-983A-84F5D18BEEF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73</a:t>
            </a:r>
          </a:p>
        </p:txBody>
      </p:sp>
      <p:sp>
        <p:nvSpPr>
          <p:cNvPr id="6" name="">
            <a:extLst xmlns:a="http://schemas.openxmlformats.org/drawingml/2006/main">
              <a:ext uri="{FF2B5EF4-FFF2-40B4-BE49-F238E27FC236}">
                <a16:creationId xmlns:a16="http://schemas.microsoft.com/office/drawing/2014/main" id="{B7ABF86F-74E4-41E3-83E7-B388EFBD18A7}"/>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검측·영상 수집 → 이상 후보 추출 → 전문가 확인 → 정비·검사 이력</a:t>
            </a:r>
          </a:p>
        </p:txBody>
      </p:sp>
      <p:sp>
        <p:nvSpPr>
          <p:cNvPr id="7" name="">
            <a:extLst xmlns:a="http://schemas.openxmlformats.org/drawingml/2006/main">
              <a:ext uri="{FF2B5EF4-FFF2-40B4-BE49-F238E27FC236}">
                <a16:creationId xmlns:a16="http://schemas.microsoft.com/office/drawing/2014/main" id="{02F07BF3-248B-40BF-8DA9-D7981CAE03E7}"/>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15541CD4-C5F7-4916-92AA-F7D08F6EA034}"/>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029B3BEB-FB68-4503-8377-13CAC6ECBD4B}"/>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설비·검측 자료</a:t>
            </a:r>
          </a:p>
        </p:txBody>
      </p:sp>
      <p:sp>
        <p:nvSpPr>
          <p:cNvPr id="10" name="">
            <a:extLst xmlns:a="http://schemas.openxmlformats.org/drawingml/2006/main">
              <a:ext uri="{FF2B5EF4-FFF2-40B4-BE49-F238E27FC236}">
                <a16:creationId xmlns:a16="http://schemas.microsoft.com/office/drawing/2014/main" id="{BE28DA4A-673F-4FFD-9CE4-7F599FB23429}"/>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C3B67766-47B9-4247-BB75-DFE7AE463B65}"/>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EF5CC56A-0CE4-4D86-BCEF-5BB55760CE0A}"/>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위치·단위 정합화</a:t>
            </a:r>
          </a:p>
        </p:txBody>
      </p:sp>
      <p:sp>
        <p:nvSpPr>
          <p:cNvPr id="13" name="">
            <a:extLst xmlns:a="http://schemas.openxmlformats.org/drawingml/2006/main">
              <a:ext uri="{FF2B5EF4-FFF2-40B4-BE49-F238E27FC236}">
                <a16:creationId xmlns:a16="http://schemas.microsoft.com/office/drawing/2014/main" id="{B0BD7B33-9484-4CBD-B34A-E8C9646DCF0A}"/>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AC6BBE98-4947-4E73-8B0B-B13FF740339E}"/>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98875289-45B2-46CE-B178-4286BEECD4A4}"/>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이상 후보 분석</a:t>
            </a:r>
          </a:p>
        </p:txBody>
      </p:sp>
      <p:sp>
        <p:nvSpPr>
          <p:cNvPr id="16" name="">
            <a:extLst xmlns:a="http://schemas.openxmlformats.org/drawingml/2006/main">
              <a:ext uri="{FF2B5EF4-FFF2-40B4-BE49-F238E27FC236}">
                <a16:creationId xmlns:a16="http://schemas.microsoft.com/office/drawing/2014/main" id="{72745656-74A2-437F-B587-34DD2EF16A7D}"/>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EDF577D-0983-4CA1-A1C8-7C231F6B4A0D}"/>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918D6452-81B7-405E-813D-CFA80B19C3AF}"/>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결함 기준 대조</a:t>
            </a:r>
          </a:p>
        </p:txBody>
      </p:sp>
      <p:sp>
        <p:nvSpPr>
          <p:cNvPr id="19" name="">
            <a:extLst xmlns:a="http://schemas.openxmlformats.org/drawingml/2006/main">
              <a:ext uri="{FF2B5EF4-FFF2-40B4-BE49-F238E27FC236}">
                <a16:creationId xmlns:a16="http://schemas.microsoft.com/office/drawing/2014/main" id="{3A7970FC-2A28-4A19-AD05-8DFA907A7BCE}"/>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5A4FD8F1-9C73-4BC0-9D11-49DD9739C2D3}"/>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2A315C3B-A72C-4BB7-B4FF-440D030F81AF}"/>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정비계획 반영</a:t>
            </a:r>
          </a:p>
        </p:txBody>
      </p:sp>
      <p:sp>
        <p:nvSpPr>
          <p:cNvPr id="22" name="">
            <a:extLst xmlns:a="http://schemas.openxmlformats.org/drawingml/2006/main">
              <a:ext uri="{FF2B5EF4-FFF2-40B4-BE49-F238E27FC236}">
                <a16:creationId xmlns:a16="http://schemas.microsoft.com/office/drawing/2014/main" id="{E2781A11-69A6-4C05-8793-FED2B1C82869}"/>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FA5FC082-3623-4D2E-9C30-4EB67F8FDB51}"/>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B12ED59B-56B1-438D-AA86-450BE256355F}"/>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노선·설비 ID</a:t>
            </a:r>
          </a:p>
        </p:txBody>
      </p:sp>
      <p:sp>
        <p:nvSpPr>
          <p:cNvPr id="25" name="">
            <a:extLst xmlns:a="http://schemas.openxmlformats.org/drawingml/2006/main">
              <a:ext uri="{FF2B5EF4-FFF2-40B4-BE49-F238E27FC236}">
                <a16:creationId xmlns:a16="http://schemas.microsoft.com/office/drawing/2014/main" id="{4E97E67D-02F3-4618-B680-DDFAB6DD5E28}"/>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54AD300F-6B6C-4277-98A8-D514AAFFC34F}"/>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B91B07F3-283D-4D0C-BEA0-BB71349E26F1}"/>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검측·정비 조회</a:t>
            </a:r>
          </a:p>
        </p:txBody>
      </p:sp>
      <p:sp>
        <p:nvSpPr>
          <p:cNvPr id="28" name="">
            <a:extLst xmlns:a="http://schemas.openxmlformats.org/drawingml/2006/main">
              <a:ext uri="{FF2B5EF4-FFF2-40B4-BE49-F238E27FC236}">
                <a16:creationId xmlns:a16="http://schemas.microsoft.com/office/drawing/2014/main" id="{D392F001-E94E-490C-AEE1-7A8599BEC908}"/>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7260090F-E833-47AB-A283-765BDD9FDC99}"/>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D6E088AB-FAAC-4160-B173-83C136B2EA4F}"/>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점검·판정 기준</a:t>
            </a:r>
          </a:p>
        </p:txBody>
      </p:sp>
      <p:sp>
        <p:nvSpPr>
          <p:cNvPr id="31" name="">
            <a:extLst xmlns:a="http://schemas.openxmlformats.org/drawingml/2006/main">
              <a:ext uri="{FF2B5EF4-FFF2-40B4-BE49-F238E27FC236}">
                <a16:creationId xmlns:a16="http://schemas.microsoft.com/office/drawing/2014/main" id="{06E9A3F1-C238-47A7-8CC7-EDD56A18D337}"/>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3E92C007-1662-4F6A-BFA7-9E950125EDE7}"/>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E8A5DE47-2745-40C9-A80A-0E72B3FCD694}"/>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점검 담당 확인</a:t>
            </a:r>
          </a:p>
        </p:txBody>
      </p:sp>
      <p:sp>
        <p:nvSpPr>
          <p:cNvPr id="34" name="">
            <a:extLst xmlns:a="http://schemas.openxmlformats.org/drawingml/2006/main">
              <a:ext uri="{FF2B5EF4-FFF2-40B4-BE49-F238E27FC236}">
                <a16:creationId xmlns:a16="http://schemas.microsoft.com/office/drawing/2014/main" id="{AE483F22-76C4-4DDA-93D6-A9114B804F26}"/>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3ED96CA2-D1A8-4804-9E4B-2D25C26E1576}"/>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311CC80B-A124-481C-9377-F7AEC18EEC05}"/>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조치 후 재검측</a:t>
            </a:r>
          </a:p>
        </p:txBody>
      </p:sp>
      <p:sp>
        <p:nvSpPr>
          <p:cNvPr id="47" name="">
            <a:extLst xmlns:a="http://schemas.openxmlformats.org/drawingml/2006/main">
              <a:ext uri="{FF2B5EF4-FFF2-40B4-BE49-F238E27FC236}">
                <a16:creationId xmlns:a16="http://schemas.microsoft.com/office/drawing/2014/main" id="{8083174C-24E0-4B83-9288-C30C019C94DE}"/>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706549898"/>
      </p:ext>
    </p:extLst>
  </p:cSld>
</p:sld>
</file>

<file path=ppt/slides/slide7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D3680CB-6FD8-4614-A421-FFAAADDDF50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AX17 / 논리 인터페이스·복구 설계</a:t>
            </a:r>
          </a:p>
        </p:txBody>
      </p:sp>
      <p:sp>
        <p:nvSpPr>
          <p:cNvPr id="2" name="">
            <a:extLst xmlns:a="http://schemas.openxmlformats.org/drawingml/2006/main">
              <a:ext uri="{FF2B5EF4-FFF2-40B4-BE49-F238E27FC236}">
                <a16:creationId xmlns:a16="http://schemas.microsoft.com/office/drawing/2014/main" id="{723B10E8-7E97-43BA-8999-6159501A661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코레일 자동검측·AI 확대 · 데이터와 예외 처리</a:t>
            </a:r>
          </a:p>
        </p:txBody>
      </p:sp>
      <p:sp>
        <p:nvSpPr>
          <p:cNvPr id="3" name="">
            <a:extLst xmlns:a="http://schemas.openxmlformats.org/drawingml/2006/main">
              <a:ext uri="{FF2B5EF4-FFF2-40B4-BE49-F238E27FC236}">
                <a16:creationId xmlns:a16="http://schemas.microsoft.com/office/drawing/2014/main" id="{28F974E1-9421-4D18-97D7-4A01E246621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34C8EFF-7C67-45FA-BDA5-51FE241B17C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A048BE1-DD71-4735-97F0-F1852001314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74</a:t>
            </a:r>
          </a:p>
        </p:txBody>
      </p:sp>
      <p:sp>
        <p:nvSpPr>
          <p:cNvPr id="6" name="">
            <a:extLst xmlns:a="http://schemas.openxmlformats.org/drawingml/2006/main">
              <a:ext uri="{FF2B5EF4-FFF2-40B4-BE49-F238E27FC236}">
                <a16:creationId xmlns:a16="http://schemas.microsoft.com/office/drawing/2014/main" id="{6CD4D56A-D47F-4704-87B7-C0AF40A7F452}"/>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1398699C-6D49-4E56-B3D7-475FEA9B324B}"/>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041D8A35-BE0C-422C-AA14-6ABE1FAA1686}"/>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2B9A21A5-64E5-4B77-B323-933134524CE4}"/>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검측·정비 기록</a:t>
            </a:r>
          </a:p>
        </p:txBody>
      </p:sp>
      <p:sp>
        <p:nvSpPr>
          <p:cNvPr id="10" name="">
            <a:extLst xmlns:a="http://schemas.openxmlformats.org/drawingml/2006/main">
              <a:ext uri="{FF2B5EF4-FFF2-40B4-BE49-F238E27FC236}">
                <a16:creationId xmlns:a16="http://schemas.microsoft.com/office/drawing/2014/main" id="{53FB77E6-741D-4C29-BFDD-8571A860E676}"/>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BC2FE99-3FA7-4203-A962-EF520474DA08}"/>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238B3A68-74A0-4027-8712-58C7C0C5765D}"/>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8F21A3D3-07FC-4E30-9E3A-E1F8A113B85D}"/>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51C3ACE-8406-46B9-9FEC-71AC7AED42D7}"/>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39DF0578-615F-469D-A9AB-0990ACFF0D9E}"/>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전문가 확인</a:t>
            </a:r>
          </a:p>
        </p:txBody>
      </p:sp>
      <p:sp>
        <p:nvSpPr>
          <p:cNvPr id="16" name="">
            <a:extLst xmlns:a="http://schemas.openxmlformats.org/drawingml/2006/main">
              <a:ext uri="{FF2B5EF4-FFF2-40B4-BE49-F238E27FC236}">
                <a16:creationId xmlns:a16="http://schemas.microsoft.com/office/drawing/2014/main" id="{EE292C4C-9ADA-4198-A62C-44A7D2E44916}"/>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703442A-0E09-4AE5-97A3-8CF5863833D7}"/>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04230161-C927-453E-97B5-5B8C634DDD90}"/>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점검·판정 기준</a:t>
            </a:r>
          </a:p>
        </p:txBody>
      </p:sp>
      <p:sp>
        <p:nvSpPr>
          <p:cNvPr id="19" name="">
            <a:extLst xmlns:a="http://schemas.openxmlformats.org/drawingml/2006/main">
              <a:ext uri="{FF2B5EF4-FFF2-40B4-BE49-F238E27FC236}">
                <a16:creationId xmlns:a16="http://schemas.microsoft.com/office/drawing/2014/main" id="{277F86A8-3255-4351-BB6A-E87BE8A216E0}"/>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2463F03-042F-4ACA-8C10-592841C5D105}"/>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1AED5E0D-0075-4775-BDD3-336ED7A3ACEF}"/>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정비 기록</a:t>
            </a:r>
          </a:p>
        </p:txBody>
      </p:sp>
      <p:sp>
        <p:nvSpPr>
          <p:cNvPr id="22" name="">
            <a:extLst xmlns:a="http://schemas.openxmlformats.org/drawingml/2006/main">
              <a:ext uri="{FF2B5EF4-FFF2-40B4-BE49-F238E27FC236}">
                <a16:creationId xmlns:a16="http://schemas.microsoft.com/office/drawing/2014/main" id="{BE563346-82A5-4D4C-8DEE-D081E4BD55E5}"/>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F423B80-C5D8-4C8F-9BEA-095F0980DB83}"/>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CB3C4EAB-2819-4785-BBEB-198A78D802AC}"/>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현장 확인값과 조치 후 재검측 결과 비교</a:t>
            </a:r>
          </a:p>
        </p:txBody>
      </p:sp>
      <p:sp>
        <p:nvSpPr>
          <p:cNvPr id="25" name="">
            <a:extLst xmlns:a="http://schemas.openxmlformats.org/drawingml/2006/main">
              <a:ext uri="{FF2B5EF4-FFF2-40B4-BE49-F238E27FC236}">
                <a16:creationId xmlns:a16="http://schemas.microsoft.com/office/drawing/2014/main" id="{DB93BCE5-7711-4B6D-814C-5B4BCA9D1F60}"/>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E70AF0FF-31CB-4093-9AE7-5CA80AE96B64}"/>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설비 ID 불일치·센서 튐·정비 후 상태 미갱신</a:t>
            </a:r>
          </a:p>
        </p:txBody>
      </p:sp>
      <p:sp>
        <p:nvSpPr>
          <p:cNvPr id="27" name="">
            <a:extLst xmlns:a="http://schemas.openxmlformats.org/drawingml/2006/main">
              <a:ext uri="{FF2B5EF4-FFF2-40B4-BE49-F238E27FC236}">
                <a16:creationId xmlns:a16="http://schemas.microsoft.com/office/drawing/2014/main" id="{14DF26B2-C1D0-4164-B17C-8B62613D8AE0}"/>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D3F29DCC-0FCD-4FC6-9018-926B944F761B}"/>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실제 결함과 검측 후보 대사</a:t>
            </a:r>
          </a:p>
        </p:txBody>
      </p:sp>
      <p:sp>
        <p:nvSpPr>
          <p:cNvPr id="29" name="">
            <a:extLst xmlns:a="http://schemas.openxmlformats.org/drawingml/2006/main">
              <a:ext uri="{FF2B5EF4-FFF2-40B4-BE49-F238E27FC236}">
                <a16:creationId xmlns:a16="http://schemas.microsoft.com/office/drawing/2014/main" id="{2893BB6F-36B7-4E53-97A2-3D219008797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D58F1F6D-EA9A-4B5B-A6F3-31676617D677}"/>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확인값과 조치 후 재검측 결과 비교</a:t>
            </a:r>
          </a:p>
        </p:txBody>
      </p:sp>
      <p:sp>
        <p:nvSpPr>
          <p:cNvPr id="31" name="">
            <a:extLst xmlns:a="http://schemas.openxmlformats.org/drawingml/2006/main">
              <a:ext uri="{FF2B5EF4-FFF2-40B4-BE49-F238E27FC236}">
                <a16:creationId xmlns:a16="http://schemas.microsoft.com/office/drawing/2014/main" id="{48C2716E-464B-4FA2-BC9A-E0E3249D1AF7}"/>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16E6EE07-BBF0-4EEE-9D79-D56B1F36C633}"/>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검측 원천·설비·현장 판정·재검측 연결표</a:t>
            </a:r>
          </a:p>
        </p:txBody>
      </p:sp>
    </p:spTree>
    <p:extLst>
      <p:ext uri="{BB962C8B-B14F-4D97-AF65-F5344CB8AC3E}">
        <p14:creationId xmlns:p14="http://schemas.microsoft.com/office/powerpoint/2010/main" val="800386149"/>
      </p:ext>
    </p:extLst>
  </p:cSld>
</p:sld>
</file>

<file path=ppt/slides/slide7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990EC48-4586-4174-A1A1-332FB007E44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AX17 / CCK 비교·재현 시험 설계</a:t>
            </a:r>
          </a:p>
        </p:txBody>
      </p:sp>
      <p:sp>
        <p:nvSpPr>
          <p:cNvPr id="2" name="">
            <a:extLst xmlns:a="http://schemas.openxmlformats.org/drawingml/2006/main">
              <a:ext uri="{FF2B5EF4-FFF2-40B4-BE49-F238E27FC236}">
                <a16:creationId xmlns:a16="http://schemas.microsoft.com/office/drawing/2014/main" id="{20EA9D65-49F0-46EF-82AE-FA86E67DE1B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코레일 자동검측·AI 확대 · 벤치마킹</a:t>
            </a:r>
          </a:p>
        </p:txBody>
      </p:sp>
      <p:sp>
        <p:nvSpPr>
          <p:cNvPr id="3" name="">
            <a:extLst xmlns:a="http://schemas.openxmlformats.org/drawingml/2006/main">
              <a:ext uri="{FF2B5EF4-FFF2-40B4-BE49-F238E27FC236}">
                <a16:creationId xmlns:a16="http://schemas.microsoft.com/office/drawing/2014/main" id="{2F32C327-3CB5-4F9D-BB21-7DD8E085C9A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AF53E67-F52C-4EFB-9635-65F62DD880F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C8AD705-2988-4502-A4C1-DEE7F5A251A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75</a:t>
            </a:r>
          </a:p>
        </p:txBody>
      </p:sp>
      <p:sp>
        <p:nvSpPr>
          <p:cNvPr id="6" name="">
            <a:extLst xmlns:a="http://schemas.openxmlformats.org/drawingml/2006/main">
              <a:ext uri="{FF2B5EF4-FFF2-40B4-BE49-F238E27FC236}">
                <a16:creationId xmlns:a16="http://schemas.microsoft.com/office/drawing/2014/main" id="{36409B38-325E-42CA-B8DE-49DC7FBD41B1}"/>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C48C2C1E-056C-4215-B8A7-DC5919D1BE0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자동검측 자료의 지속 확보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이상 후보와 정비 이력 연결</a:t>
            </a:r>
          </a:p>
        </p:txBody>
      </p:sp>
      <p:sp>
        <p:nvSpPr>
          <p:cNvPr id="8" name="">
            <a:extLst xmlns:a="http://schemas.openxmlformats.org/drawingml/2006/main">
              <a:ext uri="{FF2B5EF4-FFF2-40B4-BE49-F238E27FC236}">
                <a16:creationId xmlns:a16="http://schemas.microsoft.com/office/drawing/2014/main" id="{2E90E5E7-040D-4534-980F-EC80B61AD978}"/>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C88D335D-AA2F-4598-A233-47454B741660}"/>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자동검측과 AI 개발 범위 혼동</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설비·노선별 탐지 편차</a:t>
            </a:r>
          </a:p>
        </p:txBody>
      </p:sp>
      <p:sp>
        <p:nvSpPr>
          <p:cNvPr id="10" name="">
            <a:extLst xmlns:a="http://schemas.openxmlformats.org/drawingml/2006/main">
              <a:ext uri="{FF2B5EF4-FFF2-40B4-BE49-F238E27FC236}">
                <a16:creationId xmlns:a16="http://schemas.microsoft.com/office/drawing/2014/main" id="{53C64EEB-2A7D-41BC-8AE5-51DB2C263096}"/>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8C9AD7FF-9E2F-475C-AF9C-5134A7B48D54}"/>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실제 결함과 검측 후보 대사</a:t>
            </a:r>
          </a:p>
        </p:txBody>
      </p:sp>
      <p:sp>
        <p:nvSpPr>
          <p:cNvPr id="12" name="">
            <a:extLst xmlns:a="http://schemas.openxmlformats.org/drawingml/2006/main">
              <a:ext uri="{FF2B5EF4-FFF2-40B4-BE49-F238E27FC236}">
                <a16:creationId xmlns:a16="http://schemas.microsoft.com/office/drawing/2014/main" id="{0BF13936-D0C4-49B1-9EFD-BEBBA0D4AD67}"/>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976C7C3A-8EF5-4D44-B547-43C07EA451B1}"/>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검측 이상을 설비대장에 연결하고 점검 대상 선정</a:t>
            </a:r>
          </a:p>
        </p:txBody>
      </p:sp>
      <p:sp>
        <p:nvSpPr>
          <p:cNvPr id="14" name="">
            <a:extLst xmlns:a="http://schemas.openxmlformats.org/drawingml/2006/main">
              <a:ext uri="{FF2B5EF4-FFF2-40B4-BE49-F238E27FC236}">
                <a16:creationId xmlns:a16="http://schemas.microsoft.com/office/drawing/2014/main" id="{DACF3E67-AD67-4287-9F79-C9FC631F8800}"/>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219C4EC4-4AC0-4633-9836-9E268CCB04A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설비 ID 불일치·센서 튐·정비 후 상태 미갱신</a:t>
            </a:r>
          </a:p>
        </p:txBody>
      </p:sp>
      <p:sp>
        <p:nvSpPr>
          <p:cNvPr id="16" name="">
            <a:extLst xmlns:a="http://schemas.openxmlformats.org/drawingml/2006/main">
              <a:ext uri="{FF2B5EF4-FFF2-40B4-BE49-F238E27FC236}">
                <a16:creationId xmlns:a16="http://schemas.microsoft.com/office/drawing/2014/main" id="{E0B28BF5-79DD-43B8-A609-E8CD6A4A50A8}"/>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15F1B6DC-8168-4B75-982B-864F96709601}"/>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검측 원천·설비·현장 판정·재검측 연결표</a:t>
            </a:r>
          </a:p>
        </p:txBody>
      </p:sp>
    </p:spTree>
    <p:extLst>
      <p:ext uri="{BB962C8B-B14F-4D97-AF65-F5344CB8AC3E}">
        <p14:creationId xmlns:p14="http://schemas.microsoft.com/office/powerpoint/2010/main" val="1941821419"/>
      </p:ext>
    </p:extLst>
  </p:cSld>
</p:sld>
</file>

<file path=ppt/slides/slide7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5A6447A-3AF2-41B5-85D4-EBF8585D3D9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AX18 / 성공 / 해외</a:t>
            </a:r>
          </a:p>
        </p:txBody>
      </p:sp>
      <p:sp>
        <p:nvSpPr>
          <p:cNvPr id="2" name="">
            <a:extLst xmlns:a="http://schemas.openxmlformats.org/drawingml/2006/main">
              <a:ext uri="{FF2B5EF4-FFF2-40B4-BE49-F238E27FC236}">
                <a16:creationId xmlns:a16="http://schemas.microsoft.com/office/drawing/2014/main" id="{4E7A17E1-346A-4DC5-9647-4B9136986AE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Network Rail Insight</a:t>
            </a:r>
          </a:p>
        </p:txBody>
      </p:sp>
      <p:sp>
        <p:nvSpPr>
          <p:cNvPr id="3" name="">
            <a:extLst xmlns:a="http://schemas.openxmlformats.org/drawingml/2006/main">
              <a:ext uri="{FF2B5EF4-FFF2-40B4-BE49-F238E27FC236}">
                <a16:creationId xmlns:a16="http://schemas.microsoft.com/office/drawing/2014/main" id="{070661BE-52E3-4DB5-A08B-7232DC76D1D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D1EFCC0-6278-493B-8D4B-AF06902F670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D721506-723E-4115-9FEA-FCED4F45BA0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76</a:t>
            </a:r>
          </a:p>
        </p:txBody>
      </p:sp>
      <p:sp>
        <p:nvSpPr>
          <p:cNvPr id="6" name="">
            <a:extLst xmlns:a="http://schemas.openxmlformats.org/drawingml/2006/main">
              <a:ext uri="{FF2B5EF4-FFF2-40B4-BE49-F238E27FC236}">
                <a16:creationId xmlns:a16="http://schemas.microsoft.com/office/drawing/2014/main" id="{4746C05A-006A-47F0-9372-BC124BCAFBD1}"/>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A2EE5F7E-EFF0-4A9D-A717-D6541EDC6B76}"/>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여러 철도 설비의 관측 자료를 통합해 예방정비 우선순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위를 지원하는 사례. 서로 다른 설비 데이터의 품질과 식</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별자를 맞추는 기반 작업이 주요 전제.</a:t>
            </a:r>
          </a:p>
        </p:txBody>
      </p:sp>
      <p:sp>
        <p:nvSpPr>
          <p:cNvPr id="8" name="">
            <a:extLst xmlns:a="http://schemas.openxmlformats.org/drawingml/2006/main">
              <a:ext uri="{FF2B5EF4-FFF2-40B4-BE49-F238E27FC236}">
                <a16:creationId xmlns:a16="http://schemas.microsoft.com/office/drawing/2014/main" id="{0D466430-E4E8-466E-A97C-8CC4B39D6D2A}"/>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0276D59C-3458-42D8-BC27-309015AA2DCE}"/>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설비 ID에 관측·위치·고장·정비 이력을 연결하고 이상 신</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호를 합쳐 점검 후보를 만드는 구조. 위험 순위는 현장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담당자의 확인 후 정비계획으로 전환하고 실제 결함 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부를 환류.</a:t>
            </a:r>
          </a:p>
        </p:txBody>
      </p:sp>
      <p:sp>
        <p:nvSpPr>
          <p:cNvPr id="10" name="">
            <a:extLst xmlns:a="http://schemas.openxmlformats.org/drawingml/2006/main">
              <a:ext uri="{FF2B5EF4-FFF2-40B4-BE49-F238E27FC236}">
                <a16:creationId xmlns:a16="http://schemas.microsoft.com/office/drawing/2014/main" id="{FAB0641D-BA60-4F4C-B90A-3B7035D534E5}"/>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E533A714-ECD6-4346-9BDC-D75163F3FFF9}"/>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이상 경보를 정비 완료로 처리하지 않는 상태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모델을 적용. 누락 설비, 관측 결측, 실제 결함과 오경보,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점검 후 조치 완료를 함께 추적하는 TS 후속 업무 설계.</a:t>
            </a:r>
          </a:p>
        </p:txBody>
      </p:sp>
      <p:sp>
        <p:nvSpPr>
          <p:cNvPr id="12" name="">
            <a:extLst xmlns:a="http://schemas.openxmlformats.org/drawingml/2006/main">
              <a:ext uri="{FF2B5EF4-FFF2-40B4-BE49-F238E27FC236}">
                <a16:creationId xmlns:a16="http://schemas.microsoft.com/office/drawing/2014/main" id="{FAC23D30-A433-4585-B15F-21426CBD87C2}"/>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64C7C4A6-1B22-436C-A87F-54973D8D664E}"/>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설비별 위험 근거 묶음·담당 배정·기한 관리</a:t>
            </a:r>
          </a:p>
        </p:txBody>
      </p:sp>
      <p:sp>
        <p:nvSpPr>
          <p:cNvPr id="14" name="">
            <a:extLst xmlns:a="http://schemas.openxmlformats.org/drawingml/2006/main">
              <a:ext uri="{FF2B5EF4-FFF2-40B4-BE49-F238E27FC236}">
                <a16:creationId xmlns:a16="http://schemas.microsoft.com/office/drawing/2014/main" id="{68E96A63-8D1D-41A9-9AEC-7669C9DD23FC}"/>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55F640E4-1A75-497B-9F6E-0034A6AF06EF}"/>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결측·상충 신호·미조치 건 우선순위 검증</a:t>
            </a:r>
          </a:p>
        </p:txBody>
      </p:sp>
      <p:sp>
        <p:nvSpPr>
          <p:cNvPr id="16" name="">
            <a:extLst xmlns:a="http://schemas.openxmlformats.org/drawingml/2006/main">
              <a:ext uri="{FF2B5EF4-FFF2-40B4-BE49-F238E27FC236}">
                <a16:creationId xmlns:a16="http://schemas.microsoft.com/office/drawing/2014/main" id="{843B979C-AE28-4F59-B158-685C4E95D2B0}"/>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B5786023-B124-45CF-9BC9-9F6DE98729B5}"/>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점검 준비시간 / 미조치 추적률</a:t>
            </a:r>
          </a:p>
        </p:txBody>
      </p:sp>
      <p:sp>
        <p:nvSpPr>
          <p:cNvPr id="18" name="">
            <a:extLst xmlns:a="http://schemas.openxmlformats.org/drawingml/2006/main">
              <a:ext uri="{FF2B5EF4-FFF2-40B4-BE49-F238E27FC236}">
                <a16:creationId xmlns:a16="http://schemas.microsoft.com/office/drawing/2014/main" id="{9B3E5EA1-8D26-46EE-8F32-7A277111767A}"/>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철도 운영사 사례 · TS의 검사·감독 책임 범위에 맞춘 현지화 필요</a:t>
            </a:r>
          </a:p>
        </p:txBody>
      </p:sp>
    </p:spTree>
    <p:extLst>
      <p:ext uri="{BB962C8B-B14F-4D97-AF65-F5344CB8AC3E}">
        <p14:creationId xmlns:p14="http://schemas.microsoft.com/office/powerpoint/2010/main" val="2112561986"/>
      </p:ext>
    </p:extLst>
  </p:cSld>
</p:sld>
</file>

<file path=ppt/slides/slide7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53EA2B42-6C38-4567-AD2B-F26F5F5B644B}"/>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2EEAD8E6-F684-4DDA-9E63-60423B2E230D}"/>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611CAD56-6E21-4688-978C-D6B3795F5FAA}"/>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D9772777-2428-4EE7-87D9-E0240F87369B}"/>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89E19DB2-DB84-4715-A29B-45ECF66A8B7B}"/>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19688491-B521-43F4-ADD9-9A4FA5C95B93}"/>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B0B0450F-01D9-48C1-8BBB-23944711AAAC}"/>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607ACD2D-F8DB-422C-ACBD-CBFA9956E731}"/>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1EA3EC2C-76D2-455A-AFCE-8F230E018DBA}"/>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CD5E4B7F-4B6E-42A4-8DDC-67C9A359A2D0}"/>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DE33A6F1-8E42-46E9-A30A-F9998B4D531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AX18 / 관측·안전 판정·현장 조치·환류</a:t>
            </a:r>
          </a:p>
        </p:txBody>
      </p:sp>
      <p:sp>
        <p:nvSpPr>
          <p:cNvPr id="2" name="">
            <a:extLst xmlns:a="http://schemas.openxmlformats.org/drawingml/2006/main">
              <a:ext uri="{FF2B5EF4-FFF2-40B4-BE49-F238E27FC236}">
                <a16:creationId xmlns:a16="http://schemas.microsoft.com/office/drawing/2014/main" id="{3476ACA8-2B1D-4E19-A6C7-1EED6FC4A17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Network Rail Insight · 세부 서비스 구조</a:t>
            </a:r>
          </a:p>
        </p:txBody>
      </p:sp>
      <p:sp>
        <p:nvSpPr>
          <p:cNvPr id="3" name="">
            <a:extLst xmlns:a="http://schemas.openxmlformats.org/drawingml/2006/main">
              <a:ext uri="{FF2B5EF4-FFF2-40B4-BE49-F238E27FC236}">
                <a16:creationId xmlns:a16="http://schemas.microsoft.com/office/drawing/2014/main" id="{6B53C9F8-77E1-4A14-820C-87B112B14F2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1B60E17-27D5-462B-A8FB-FC15C9D8B28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8D2192A3-0557-4BCA-8E9D-0391867BAA2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77</a:t>
            </a:r>
          </a:p>
        </p:txBody>
      </p:sp>
      <p:sp>
        <p:nvSpPr>
          <p:cNvPr id="6" name="">
            <a:extLst xmlns:a="http://schemas.openxmlformats.org/drawingml/2006/main">
              <a:ext uri="{FF2B5EF4-FFF2-40B4-BE49-F238E27FC236}">
                <a16:creationId xmlns:a16="http://schemas.microsoft.com/office/drawing/2014/main" id="{6929A2FB-EACF-490A-B637-074CBBA1FF61}"/>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설비·검측 자료 → AI 이상 분석 → 정비 우선순위 → 담당자 조치</a:t>
            </a:r>
          </a:p>
        </p:txBody>
      </p:sp>
      <p:sp>
        <p:nvSpPr>
          <p:cNvPr id="7" name="">
            <a:extLst xmlns:a="http://schemas.openxmlformats.org/drawingml/2006/main">
              <a:ext uri="{FF2B5EF4-FFF2-40B4-BE49-F238E27FC236}">
                <a16:creationId xmlns:a16="http://schemas.microsoft.com/office/drawing/2014/main" id="{78437C53-7830-46FE-A3ED-27091CF79D40}"/>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78FB8727-CC3C-4B9A-A0B5-C87005B676D9}"/>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D64EE47A-FBCC-4572-9F46-64792EFD772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관측·설비대장</a:t>
            </a:r>
          </a:p>
        </p:txBody>
      </p:sp>
      <p:sp>
        <p:nvSpPr>
          <p:cNvPr id="10" name="">
            <a:extLst xmlns:a="http://schemas.openxmlformats.org/drawingml/2006/main">
              <a:ext uri="{FF2B5EF4-FFF2-40B4-BE49-F238E27FC236}">
                <a16:creationId xmlns:a16="http://schemas.microsoft.com/office/drawing/2014/main" id="{8F8C18C6-21C1-4F0D-B1D0-2A03CC5B62E6}"/>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48228A28-6847-4D90-A678-9CEB2F8BE030}"/>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65C32502-6492-4526-A516-AC1C9E2A6AFC}"/>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설비 식별자 통합</a:t>
            </a:r>
          </a:p>
        </p:txBody>
      </p:sp>
      <p:sp>
        <p:nvSpPr>
          <p:cNvPr id="13" name="">
            <a:extLst xmlns:a="http://schemas.openxmlformats.org/drawingml/2006/main">
              <a:ext uri="{FF2B5EF4-FFF2-40B4-BE49-F238E27FC236}">
                <a16:creationId xmlns:a16="http://schemas.microsoft.com/office/drawing/2014/main" id="{CD0F74B1-A0E1-46A9-B66E-E5954747B306}"/>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5E53A64C-FE79-483C-85C6-870DEAECAC60}"/>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668DF7AC-92E3-48DB-95E1-A090DEF5C6A6}"/>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이상 신호 결합</a:t>
            </a:r>
          </a:p>
        </p:txBody>
      </p:sp>
      <p:sp>
        <p:nvSpPr>
          <p:cNvPr id="16" name="">
            <a:extLst xmlns:a="http://schemas.openxmlformats.org/drawingml/2006/main">
              <a:ext uri="{FF2B5EF4-FFF2-40B4-BE49-F238E27FC236}">
                <a16:creationId xmlns:a16="http://schemas.microsoft.com/office/drawing/2014/main" id="{15FC06C6-65C8-48D4-9745-810FB70ACF7B}"/>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48DCFB2F-B810-4406-91CE-7F0E5FA0CB5D}"/>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004AD77A-7502-4778-B585-442AA2E668C6}"/>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누락 설비 검사</a:t>
            </a:r>
          </a:p>
        </p:txBody>
      </p:sp>
      <p:sp>
        <p:nvSpPr>
          <p:cNvPr id="19" name="">
            <a:extLst xmlns:a="http://schemas.openxmlformats.org/drawingml/2006/main">
              <a:ext uri="{FF2B5EF4-FFF2-40B4-BE49-F238E27FC236}">
                <a16:creationId xmlns:a16="http://schemas.microsoft.com/office/drawing/2014/main" id="{8A2A4C91-029A-4D75-9E2C-83AC776464D2}"/>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7D0B2B86-9CFD-4F19-B3D4-5FB0EB4FC564}"/>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B969009C-32A9-432D-8CD0-B46A95FCC1F7}"/>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정비 우선순위</a:t>
            </a:r>
          </a:p>
        </p:txBody>
      </p:sp>
      <p:sp>
        <p:nvSpPr>
          <p:cNvPr id="22" name="">
            <a:extLst xmlns:a="http://schemas.openxmlformats.org/drawingml/2006/main">
              <a:ext uri="{FF2B5EF4-FFF2-40B4-BE49-F238E27FC236}">
                <a16:creationId xmlns:a16="http://schemas.microsoft.com/office/drawing/2014/main" id="{8FCB3F79-D2FF-4572-9F54-E05F9CC6203C}"/>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C169F09E-5AC1-4BEC-967D-0E9FB8871051}"/>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F9E4428E-3E81-4A4D-BB2A-4B3A0A9A3D26}"/>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위치·고장 맥락</a:t>
            </a:r>
          </a:p>
        </p:txBody>
      </p:sp>
      <p:sp>
        <p:nvSpPr>
          <p:cNvPr id="25" name="">
            <a:extLst xmlns:a="http://schemas.openxmlformats.org/drawingml/2006/main">
              <a:ext uri="{FF2B5EF4-FFF2-40B4-BE49-F238E27FC236}">
                <a16:creationId xmlns:a16="http://schemas.microsoft.com/office/drawing/2014/main" id="{B652187F-C8C3-494A-8203-D937556F1EF7}"/>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84797503-754C-4617-9C0A-4D272F238C7B}"/>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D49F1244-57F1-4BD9-B3A7-FD8F1220A953}"/>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다종 관측 조회</a:t>
            </a:r>
          </a:p>
        </p:txBody>
      </p:sp>
      <p:sp>
        <p:nvSpPr>
          <p:cNvPr id="28" name="">
            <a:extLst xmlns:a="http://schemas.openxmlformats.org/drawingml/2006/main">
              <a:ext uri="{FF2B5EF4-FFF2-40B4-BE49-F238E27FC236}">
                <a16:creationId xmlns:a16="http://schemas.microsoft.com/office/drawing/2014/main" id="{569747D8-7109-4F8F-8875-56D89BBAB579}"/>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1085A523-5EFB-4407-AC05-CEC4E5F0FDD5}"/>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32C6FCDE-F51A-4A81-8474-1BE1F7A85361}"/>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설비 관리 책임</a:t>
            </a:r>
          </a:p>
        </p:txBody>
      </p:sp>
      <p:sp>
        <p:nvSpPr>
          <p:cNvPr id="31" name="">
            <a:extLst xmlns:a="http://schemas.openxmlformats.org/drawingml/2006/main">
              <a:ext uri="{FF2B5EF4-FFF2-40B4-BE49-F238E27FC236}">
                <a16:creationId xmlns:a16="http://schemas.microsoft.com/office/drawing/2014/main" id="{352BEC8E-F643-45EE-A67F-A7A931DFD932}"/>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3F9C3C17-9D0E-4AB2-96AB-4A3F6C658AB9}"/>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76905940-C3A4-4F1E-8B16-778DEE048616}"/>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현장 점검 확인</a:t>
            </a:r>
          </a:p>
        </p:txBody>
      </p:sp>
      <p:sp>
        <p:nvSpPr>
          <p:cNvPr id="34" name="">
            <a:extLst xmlns:a="http://schemas.openxmlformats.org/drawingml/2006/main">
              <a:ext uri="{FF2B5EF4-FFF2-40B4-BE49-F238E27FC236}">
                <a16:creationId xmlns:a16="http://schemas.microsoft.com/office/drawing/2014/main" id="{F8DFD02D-C05F-4DE1-9EF6-CC42339697F5}"/>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5C6A146D-45CA-4B06-B78D-DA9B91C20819}"/>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F6D0C76D-2CC3-40C0-9BA8-96FE6892191B}"/>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결함 결과 환류</a:t>
            </a:r>
          </a:p>
        </p:txBody>
      </p:sp>
      <p:sp>
        <p:nvSpPr>
          <p:cNvPr id="47" name="">
            <a:extLst xmlns:a="http://schemas.openxmlformats.org/drawingml/2006/main">
              <a:ext uri="{FF2B5EF4-FFF2-40B4-BE49-F238E27FC236}">
                <a16:creationId xmlns:a16="http://schemas.microsoft.com/office/drawing/2014/main" id="{AE4C9EA2-DF71-4E67-8D80-9C18FE7CF413}"/>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22823942"/>
      </p:ext>
    </p:extLst>
  </p:cSld>
</p:sld>
</file>

<file path=ppt/slides/slide7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119F1DF3-E780-438C-B5BD-0AD23ECA5EB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AX18 / 논리 인터페이스·복구 설계</a:t>
            </a:r>
          </a:p>
        </p:txBody>
      </p:sp>
      <p:sp>
        <p:nvSpPr>
          <p:cNvPr id="2" name="">
            <a:extLst xmlns:a="http://schemas.openxmlformats.org/drawingml/2006/main">
              <a:ext uri="{FF2B5EF4-FFF2-40B4-BE49-F238E27FC236}">
                <a16:creationId xmlns:a16="http://schemas.microsoft.com/office/drawing/2014/main" id="{2C22A237-F444-429E-B7DA-1ED422FFB46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Network Rail Insight · 데이터와 예외 처리</a:t>
            </a:r>
          </a:p>
        </p:txBody>
      </p:sp>
      <p:sp>
        <p:nvSpPr>
          <p:cNvPr id="3" name="">
            <a:extLst xmlns:a="http://schemas.openxmlformats.org/drawingml/2006/main">
              <a:ext uri="{FF2B5EF4-FFF2-40B4-BE49-F238E27FC236}">
                <a16:creationId xmlns:a16="http://schemas.microsoft.com/office/drawing/2014/main" id="{A686BAD8-7E71-4796-88BE-91F9A3A09A2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B9A37E7-AB35-415B-B3E2-9B3EFA8816C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81816888-1E96-4319-84D7-734C01709A8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78</a:t>
            </a:r>
          </a:p>
        </p:txBody>
      </p:sp>
      <p:sp>
        <p:nvSpPr>
          <p:cNvPr id="6" name="">
            <a:extLst xmlns:a="http://schemas.openxmlformats.org/drawingml/2006/main">
              <a:ext uri="{FF2B5EF4-FFF2-40B4-BE49-F238E27FC236}">
                <a16:creationId xmlns:a16="http://schemas.microsoft.com/office/drawing/2014/main" id="{0E9598C4-9ECF-4AB4-8E4D-EFF0AEFABC7A}"/>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A80AAE66-1416-458E-A858-537A05F05416}"/>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016031E5-A266-4539-A239-DE99ACB903C5}"/>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33B46454-EC34-4F85-A666-265BF3122DBD}"/>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설비·이상 이력</a:t>
            </a:r>
          </a:p>
        </p:txBody>
      </p:sp>
      <p:sp>
        <p:nvSpPr>
          <p:cNvPr id="10" name="">
            <a:extLst xmlns:a="http://schemas.openxmlformats.org/drawingml/2006/main">
              <a:ext uri="{FF2B5EF4-FFF2-40B4-BE49-F238E27FC236}">
                <a16:creationId xmlns:a16="http://schemas.microsoft.com/office/drawing/2014/main" id="{2F03F643-0420-4E72-A40A-75DDEFC9B0E6}"/>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E89AF14-523D-49EA-B63E-25AAD36F6CB2}"/>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E00266A9-4C1A-4A68-9D2D-D9401FCE176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3AE7F5E1-0288-4D2D-AA9C-9B5234A84A30}"/>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8072B09-F078-4282-A8CA-4231B8BB39D5}"/>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3C00A736-D8C3-4023-84DD-6C31D88105A3}"/>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정비 우선순위</a:t>
            </a:r>
          </a:p>
        </p:txBody>
      </p:sp>
      <p:sp>
        <p:nvSpPr>
          <p:cNvPr id="16" name="">
            <a:extLst xmlns:a="http://schemas.openxmlformats.org/drawingml/2006/main">
              <a:ext uri="{FF2B5EF4-FFF2-40B4-BE49-F238E27FC236}">
                <a16:creationId xmlns:a16="http://schemas.microsoft.com/office/drawing/2014/main" id="{A1442FF6-8B00-4CFF-9B29-9D9E94FC6282}"/>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BBC95D7-A888-401E-AB2D-FCB47C4B615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4F1DF9E2-D5A5-4EC0-8BD3-0DA5065E0FAC}"/>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설비 관리 책임</a:t>
            </a:r>
          </a:p>
        </p:txBody>
      </p:sp>
      <p:sp>
        <p:nvSpPr>
          <p:cNvPr id="19" name="">
            <a:extLst xmlns:a="http://schemas.openxmlformats.org/drawingml/2006/main">
              <a:ext uri="{FF2B5EF4-FFF2-40B4-BE49-F238E27FC236}">
                <a16:creationId xmlns:a16="http://schemas.microsoft.com/office/drawing/2014/main" id="{1DC067DF-2FB6-4297-A21F-C3BCF309C819}"/>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EDD9C6C-D2B2-4125-876A-11674CC953FE}"/>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3E6BEDB8-E8AA-4816-9810-FB716EE86A5D}"/>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조치·재점검</a:t>
            </a:r>
          </a:p>
        </p:txBody>
      </p:sp>
      <p:sp>
        <p:nvSpPr>
          <p:cNvPr id="22" name="">
            <a:extLst xmlns:a="http://schemas.openxmlformats.org/drawingml/2006/main">
              <a:ext uri="{FF2B5EF4-FFF2-40B4-BE49-F238E27FC236}">
                <a16:creationId xmlns:a16="http://schemas.microsoft.com/office/drawing/2014/main" id="{11361D89-1349-481F-944E-C52A0313CC1F}"/>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153E399-8E1D-40F7-8B96-4462B607442E}"/>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A7329CF8-9BCB-44FC-B450-B659F1EFE67A}"/>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현장 판정과 실제 결함을 다음 분석에 반영</a:t>
            </a:r>
          </a:p>
        </p:txBody>
      </p:sp>
      <p:sp>
        <p:nvSpPr>
          <p:cNvPr id="25" name="">
            <a:extLst xmlns:a="http://schemas.openxmlformats.org/drawingml/2006/main">
              <a:ext uri="{FF2B5EF4-FFF2-40B4-BE49-F238E27FC236}">
                <a16:creationId xmlns:a16="http://schemas.microsoft.com/office/drawing/2014/main" id="{8C5BBBC4-8BE3-42F0-86FE-50C656A31DEB}"/>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FBEEFAB2-46FC-48D4-9588-01B8CE4E70C9}"/>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데이터 지연·상충 신호·정비 완료 이력 누락</a:t>
            </a:r>
          </a:p>
        </p:txBody>
      </p:sp>
      <p:sp>
        <p:nvSpPr>
          <p:cNvPr id="27" name="">
            <a:extLst xmlns:a="http://schemas.openxmlformats.org/drawingml/2006/main">
              <a:ext uri="{FF2B5EF4-FFF2-40B4-BE49-F238E27FC236}">
                <a16:creationId xmlns:a16="http://schemas.microsoft.com/office/drawing/2014/main" id="{4C53442A-B501-48A3-9543-3A981D3EFC29}"/>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6D1BA6B4-5C7D-44A7-8AE8-14CEF8011160}"/>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 설비·중요 결함 별도 평가</a:t>
            </a:r>
          </a:p>
        </p:txBody>
      </p:sp>
      <p:sp>
        <p:nvSpPr>
          <p:cNvPr id="29" name="">
            <a:extLst xmlns:a="http://schemas.openxmlformats.org/drawingml/2006/main">
              <a:ext uri="{FF2B5EF4-FFF2-40B4-BE49-F238E27FC236}">
                <a16:creationId xmlns:a16="http://schemas.microsoft.com/office/drawing/2014/main" id="{A83B2C6F-059F-46A6-A427-F7DFFDA80CF9}"/>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90E5E7C1-F00A-42C2-95D5-45D061DFB0EA}"/>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판정과 실제 결함을 다음 분석에 반영</a:t>
            </a:r>
          </a:p>
        </p:txBody>
      </p:sp>
      <p:sp>
        <p:nvSpPr>
          <p:cNvPr id="31" name="">
            <a:extLst xmlns:a="http://schemas.openxmlformats.org/drawingml/2006/main">
              <a:ext uri="{FF2B5EF4-FFF2-40B4-BE49-F238E27FC236}">
                <a16:creationId xmlns:a16="http://schemas.microsoft.com/office/drawing/2014/main" id="{7FAB98AE-DDE8-4793-868B-F9AC7AC59BAE}"/>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BF00D791-8F23-4FAA-A51F-B40E495865F6}"/>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우선순위 근거와 현장 확인·정비 결과 대사</a:t>
            </a:r>
          </a:p>
        </p:txBody>
      </p:sp>
    </p:spTree>
    <p:extLst>
      <p:ext uri="{BB962C8B-B14F-4D97-AF65-F5344CB8AC3E}">
        <p14:creationId xmlns:p14="http://schemas.microsoft.com/office/powerpoint/2010/main" val="1479351120"/>
      </p:ext>
    </p:extLst>
  </p:cSld>
</p:sld>
</file>

<file path=ppt/slides/slide7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DF86F54-46C9-4582-A60A-AF184DA9BC0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AX18 / CCK 비교·재현 시험 설계</a:t>
            </a:r>
          </a:p>
        </p:txBody>
      </p:sp>
      <p:sp>
        <p:nvSpPr>
          <p:cNvPr id="2" name="">
            <a:extLst xmlns:a="http://schemas.openxmlformats.org/drawingml/2006/main">
              <a:ext uri="{FF2B5EF4-FFF2-40B4-BE49-F238E27FC236}">
                <a16:creationId xmlns:a16="http://schemas.microsoft.com/office/drawing/2014/main" id="{B495CE45-4268-4442-AB35-5C67DE2AEDD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Network Rail Insight · 벤치마킹</a:t>
            </a:r>
          </a:p>
        </p:txBody>
      </p:sp>
      <p:sp>
        <p:nvSpPr>
          <p:cNvPr id="3" name="">
            <a:extLst xmlns:a="http://schemas.openxmlformats.org/drawingml/2006/main">
              <a:ext uri="{FF2B5EF4-FFF2-40B4-BE49-F238E27FC236}">
                <a16:creationId xmlns:a16="http://schemas.microsoft.com/office/drawing/2014/main" id="{091C7B00-794A-45BA-A606-06E29050018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1B5632E-1114-455C-94B8-D0A8A838D28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1E8AAA4-4BD6-4016-9773-D680D27FAF5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79</a:t>
            </a:r>
          </a:p>
        </p:txBody>
      </p:sp>
      <p:sp>
        <p:nvSpPr>
          <p:cNvPr id="6" name="">
            <a:extLst xmlns:a="http://schemas.openxmlformats.org/drawingml/2006/main">
              <a:ext uri="{FF2B5EF4-FFF2-40B4-BE49-F238E27FC236}">
                <a16:creationId xmlns:a16="http://schemas.microsoft.com/office/drawing/2014/main" id="{745AFF7A-8AFE-47F3-A196-220C1609D8AD}"/>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D05F2F69-13CD-4E94-A9EF-BC46FA8E22D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여러 설비 자료의 통합 분석</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정비 우선순위와 현장 조치 연결</a:t>
            </a:r>
          </a:p>
        </p:txBody>
      </p:sp>
      <p:sp>
        <p:nvSpPr>
          <p:cNvPr id="8" name="">
            <a:extLst xmlns:a="http://schemas.openxmlformats.org/drawingml/2006/main">
              <a:ext uri="{FF2B5EF4-FFF2-40B4-BE49-F238E27FC236}">
                <a16:creationId xmlns:a16="http://schemas.microsoft.com/office/drawing/2014/main" id="{3218D527-D866-4138-96C1-406BEA78AC1E}"/>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2F4CA256-8095-4918-B664-4061317E523C}"/>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설비별 데이터 품질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권고를 정비 완료로 간주하는 위험</a:t>
            </a:r>
          </a:p>
        </p:txBody>
      </p:sp>
      <p:sp>
        <p:nvSpPr>
          <p:cNvPr id="10" name="">
            <a:extLst xmlns:a="http://schemas.openxmlformats.org/drawingml/2006/main">
              <a:ext uri="{FF2B5EF4-FFF2-40B4-BE49-F238E27FC236}">
                <a16:creationId xmlns:a16="http://schemas.microsoft.com/office/drawing/2014/main" id="{E28033EE-B1C3-4218-AD4B-FCE59BF00BF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E10BFF28-3B3B-424A-888E-A1D9219A4EBE}"/>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누락 설비·중요 결함 별도 평가</a:t>
            </a:r>
          </a:p>
        </p:txBody>
      </p:sp>
      <p:sp>
        <p:nvSpPr>
          <p:cNvPr id="12" name="">
            <a:extLst xmlns:a="http://schemas.openxmlformats.org/drawingml/2006/main">
              <a:ext uri="{FF2B5EF4-FFF2-40B4-BE49-F238E27FC236}">
                <a16:creationId xmlns:a16="http://schemas.microsoft.com/office/drawing/2014/main" id="{67EF3094-ED5B-42BD-AFA9-61D4E136C689}"/>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7E0A0E0F-E0B8-4DA6-92BD-3EF85F984FB7}"/>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설비의 여러 관측 신호로 정비 우선순위를 검토</a:t>
            </a:r>
          </a:p>
        </p:txBody>
      </p:sp>
      <p:sp>
        <p:nvSpPr>
          <p:cNvPr id="14" name="">
            <a:extLst xmlns:a="http://schemas.openxmlformats.org/drawingml/2006/main">
              <a:ext uri="{FF2B5EF4-FFF2-40B4-BE49-F238E27FC236}">
                <a16:creationId xmlns:a16="http://schemas.microsoft.com/office/drawing/2014/main" id="{AF79C9AB-7244-4E3F-83F9-F4C15D503131}"/>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817E965C-2E5F-4EB9-BB8F-5807B3B3E2EB}"/>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데이터 지연·상충 신호·정비 완료 이력 누락</a:t>
            </a:r>
          </a:p>
        </p:txBody>
      </p:sp>
      <p:sp>
        <p:nvSpPr>
          <p:cNvPr id="16" name="">
            <a:extLst xmlns:a="http://schemas.openxmlformats.org/drawingml/2006/main">
              <a:ext uri="{FF2B5EF4-FFF2-40B4-BE49-F238E27FC236}">
                <a16:creationId xmlns:a16="http://schemas.microsoft.com/office/drawing/2014/main" id="{DA13DCC5-C638-49A2-9469-C8B0781BE498}"/>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9E0A9A0A-E4C3-47A0-A281-F105B1AE1921}"/>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우선순위 근거와 현장 확인·정비 결과 대사</a:t>
            </a:r>
          </a:p>
        </p:txBody>
      </p:sp>
    </p:spTree>
    <p:extLst>
      <p:ext uri="{BB962C8B-B14F-4D97-AF65-F5344CB8AC3E}">
        <p14:creationId xmlns:p14="http://schemas.microsoft.com/office/powerpoint/2010/main" val="41073582"/>
      </p:ext>
    </p:extLst>
  </p:cSld>
</p:sld>
</file>

<file path=ppt/slides/slide8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DEC3252-387D-410F-84A0-168588CB543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AX19 / 성공 / 국내</a:t>
            </a:r>
          </a:p>
        </p:txBody>
      </p:sp>
      <p:sp>
        <p:nvSpPr>
          <p:cNvPr id="2" name="">
            <a:extLst xmlns:a="http://schemas.openxmlformats.org/drawingml/2006/main">
              <a:ext uri="{FF2B5EF4-FFF2-40B4-BE49-F238E27FC236}">
                <a16:creationId xmlns:a16="http://schemas.microsoft.com/office/drawing/2014/main" id="{FFCB464B-5924-4EF9-9663-68D8E482DF9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청년농업인 특화 AI 상담</a:t>
            </a:r>
          </a:p>
        </p:txBody>
      </p:sp>
      <p:sp>
        <p:nvSpPr>
          <p:cNvPr id="3" name="">
            <a:extLst xmlns:a="http://schemas.openxmlformats.org/drawingml/2006/main">
              <a:ext uri="{FF2B5EF4-FFF2-40B4-BE49-F238E27FC236}">
                <a16:creationId xmlns:a16="http://schemas.microsoft.com/office/drawing/2014/main" id="{17CC20BB-A2D1-4B55-8F3F-8135116D3FD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198B102-49DF-49C1-A05C-5FF0CB8DAE6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52EA676-1A1A-4CAB-A31D-5599CA43551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80</a:t>
            </a:r>
          </a:p>
        </p:txBody>
      </p:sp>
      <p:sp>
        <p:nvSpPr>
          <p:cNvPr id="6" name="">
            <a:extLst xmlns:a="http://schemas.openxmlformats.org/drawingml/2006/main">
              <a:ext uri="{FF2B5EF4-FFF2-40B4-BE49-F238E27FC236}">
                <a16:creationId xmlns:a16="http://schemas.microsoft.com/office/drawing/2014/main" id="{9DD657C7-4D0A-418E-A7C1-6FAA6139758B}"/>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1283FA47-F8BA-4DA5-8DFA-C3445674A79F}"/>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농업인이 작물·지역·생육 상황에 맞는 전문지식을 찾도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록 지원하는 상담 사례. 범용 질문 답변에 현장 문맥과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전문가 확인을 결합하는 유형.</a:t>
            </a:r>
          </a:p>
        </p:txBody>
      </p:sp>
      <p:sp>
        <p:nvSpPr>
          <p:cNvPr id="8" name="">
            <a:extLst xmlns:a="http://schemas.openxmlformats.org/drawingml/2006/main">
              <a:ext uri="{FF2B5EF4-FFF2-40B4-BE49-F238E27FC236}">
                <a16:creationId xmlns:a16="http://schemas.microsoft.com/office/drawing/2014/main" id="{45ECF821-201B-4994-801A-085F8EAE46CA}"/>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C6FD66BC-6855-4904-8DF9-DAF18F3F6E23}"/>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입력에서 작물·생육단계·지역·문제 상황을 정리한 뒤 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련 기술자료를 검색하고 원문 근거를 안내하는 구조의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재구성. 정보가 부족하거나 지역 예외가 있는 질문은 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가 확인·전문가 상담으로 연결.</a:t>
            </a:r>
          </a:p>
        </p:txBody>
      </p:sp>
      <p:sp>
        <p:nvSpPr>
          <p:cNvPr id="10" name="">
            <a:extLst xmlns:a="http://schemas.openxmlformats.org/drawingml/2006/main">
              <a:ext uri="{FF2B5EF4-FFF2-40B4-BE49-F238E27FC236}">
                <a16:creationId xmlns:a16="http://schemas.microsoft.com/office/drawing/2014/main" id="{6EA61FDB-01E4-49B3-89C6-4CB097250D4D}"/>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0F640EF9-4574-45D1-B7DC-4F459F6C1D90}"/>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업무에는 차량·시설·지역·시행일 등 도메인 문맥을 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저 확보하는 방식으로 현지화. 평균 정답률보다 상황별 오</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류와 전문가 전환율, 실제 업무에 맞는 안내인지의 검토가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중요.</a:t>
            </a:r>
          </a:p>
        </p:txBody>
      </p:sp>
      <p:sp>
        <p:nvSpPr>
          <p:cNvPr id="12" name="">
            <a:extLst xmlns:a="http://schemas.openxmlformats.org/drawingml/2006/main">
              <a:ext uri="{FF2B5EF4-FFF2-40B4-BE49-F238E27FC236}">
                <a16:creationId xmlns:a16="http://schemas.microsoft.com/office/drawing/2014/main" id="{BEB00A61-74E8-45DE-ACB7-B0E28E0BF7FB}"/>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06867EA0-387A-441A-86F3-0B969E8264AE}"/>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업종·지역·자격 조건·지원 절차 사전</a:t>
            </a:r>
          </a:p>
        </p:txBody>
      </p:sp>
      <p:sp>
        <p:nvSpPr>
          <p:cNvPr id="14" name="">
            <a:extLst xmlns:a="http://schemas.openxmlformats.org/drawingml/2006/main">
              <a:ext uri="{FF2B5EF4-FFF2-40B4-BE49-F238E27FC236}">
                <a16:creationId xmlns:a16="http://schemas.microsoft.com/office/drawing/2014/main" id="{34FB5295-EFCB-407A-A2F7-8B993A168E52}"/>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091BE6D5-FB20-469F-B654-98EBAC0EE0CE}"/>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업종·지역별 답변 근거와 신청 조건 대조</a:t>
            </a:r>
          </a:p>
        </p:txBody>
      </p:sp>
      <p:sp>
        <p:nvSpPr>
          <p:cNvPr id="16" name="">
            <a:extLst xmlns:a="http://schemas.openxmlformats.org/drawingml/2006/main">
              <a:ext uri="{FF2B5EF4-FFF2-40B4-BE49-F238E27FC236}">
                <a16:creationId xmlns:a16="http://schemas.microsoft.com/office/drawing/2014/main" id="{C95EEF12-BBB0-46F3-8F9D-DB08F326AA76}"/>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8CEBB4C6-5686-44FB-AAF5-9FC2C41F0553}"/>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정보 탐색시간 / 조건 오안내율</a:t>
            </a:r>
          </a:p>
        </p:txBody>
      </p:sp>
      <p:sp>
        <p:nvSpPr>
          <p:cNvPr id="18" name="">
            <a:extLst xmlns:a="http://schemas.openxmlformats.org/drawingml/2006/main">
              <a:ext uri="{FF2B5EF4-FFF2-40B4-BE49-F238E27FC236}">
                <a16:creationId xmlns:a16="http://schemas.microsoft.com/office/drawing/2014/main" id="{778B981D-7BC6-43C2-A8C7-B9125DF44974}"/>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기관 실증 사례 수록 · 정착·소득 개선 인과효과 실측과 구분</a:t>
            </a:r>
          </a:p>
        </p:txBody>
      </p:sp>
    </p:spTree>
    <p:extLst>
      <p:ext uri="{BB962C8B-B14F-4D97-AF65-F5344CB8AC3E}">
        <p14:creationId xmlns:p14="http://schemas.microsoft.com/office/powerpoint/2010/main" val="141567140"/>
      </p:ext>
    </p:extLst>
  </p:cSld>
</p:sld>
</file>

<file path=ppt/slides/slide8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86B77221-1731-4C9D-8039-2927535ECE1A}"/>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BAF8FED9-9F53-476F-874B-0B211305BE32}"/>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A3203F8F-B969-4899-A1A5-396081402B00}"/>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5C956247-029F-4A6C-905E-F9F2975877CA}"/>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F67AABBE-70F9-44F2-8D60-9598AF268514}"/>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DF8DF2B9-A176-41C8-8783-E9A050ABC9FB}"/>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B68802A9-F995-4899-86D8-0C4B5CDC709F}"/>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F7B0E916-9639-483B-8AA7-BB7F3613AF4B}"/>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E8EBE00A-9962-4A51-AB76-92073927673F}"/>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CF5083EA-EBA0-49C3-8701-2AEE1DB6B66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AX19 / 지식 갱신·검색·근거 응답</a:t>
            </a:r>
          </a:p>
        </p:txBody>
      </p:sp>
      <p:sp>
        <p:nvSpPr>
          <p:cNvPr id="2" name="">
            <a:extLst xmlns:a="http://schemas.openxmlformats.org/drawingml/2006/main">
              <a:ext uri="{FF2B5EF4-FFF2-40B4-BE49-F238E27FC236}">
                <a16:creationId xmlns:a16="http://schemas.microsoft.com/office/drawing/2014/main" id="{7C667605-3B61-4F5C-A39E-814D254CBFA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청년농업인 특화 AI 상담 · 세부 서비스 구조</a:t>
            </a:r>
          </a:p>
        </p:txBody>
      </p:sp>
      <p:sp>
        <p:nvSpPr>
          <p:cNvPr id="3" name="">
            <a:extLst xmlns:a="http://schemas.openxmlformats.org/drawingml/2006/main">
              <a:ext uri="{FF2B5EF4-FFF2-40B4-BE49-F238E27FC236}">
                <a16:creationId xmlns:a16="http://schemas.microsoft.com/office/drawing/2014/main" id="{C4FFD324-9428-4595-95BA-04A5DC548ED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6E7191B-F690-4ECB-8A4F-89808809848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DCC9F35-772C-4FF6-82D7-773E69196FD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81</a:t>
            </a:r>
          </a:p>
        </p:txBody>
      </p:sp>
      <p:sp>
        <p:nvSpPr>
          <p:cNvPr id="6" name="">
            <a:extLst xmlns:a="http://schemas.openxmlformats.org/drawingml/2006/main">
              <a:ext uri="{FF2B5EF4-FFF2-40B4-BE49-F238E27FC236}">
                <a16:creationId xmlns:a16="http://schemas.microsoft.com/office/drawing/2014/main" id="{136DD9FC-E54C-4620-B1C1-4083AABCFB98}"/>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영농 지식 → 위치·작물 맥락 → 전문 상담 → 현업·이용자 평가</a:t>
            </a:r>
          </a:p>
        </p:txBody>
      </p:sp>
      <p:sp>
        <p:nvSpPr>
          <p:cNvPr id="7" name="">
            <a:extLst xmlns:a="http://schemas.openxmlformats.org/drawingml/2006/main">
              <a:ext uri="{FF2B5EF4-FFF2-40B4-BE49-F238E27FC236}">
                <a16:creationId xmlns:a16="http://schemas.microsoft.com/office/drawing/2014/main" id="{0CB189D6-BED9-4BF9-A9FE-F843079947FF}"/>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47FFC45A-CFB1-477F-859C-D8C1A32FF658}"/>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239797B9-82D8-4415-AF5F-3E85CF1371BC}"/>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기술·상담 자료</a:t>
            </a:r>
          </a:p>
        </p:txBody>
      </p:sp>
      <p:sp>
        <p:nvSpPr>
          <p:cNvPr id="10" name="">
            <a:extLst xmlns:a="http://schemas.openxmlformats.org/drawingml/2006/main">
              <a:ext uri="{FF2B5EF4-FFF2-40B4-BE49-F238E27FC236}">
                <a16:creationId xmlns:a16="http://schemas.microsoft.com/office/drawing/2014/main" id="{5D4FC078-9095-4BEC-8DA7-03ABEDD5989E}"/>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9D98BBC7-2906-443A-8CA2-0AE19A3F9468}"/>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3A13F634-12CE-49D2-B3FF-AE7FC8EB2C24}"/>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작물·지역 태깅</a:t>
            </a:r>
          </a:p>
        </p:txBody>
      </p:sp>
      <p:sp>
        <p:nvSpPr>
          <p:cNvPr id="13" name="">
            <a:extLst xmlns:a="http://schemas.openxmlformats.org/drawingml/2006/main">
              <a:ext uri="{FF2B5EF4-FFF2-40B4-BE49-F238E27FC236}">
                <a16:creationId xmlns:a16="http://schemas.microsoft.com/office/drawing/2014/main" id="{9CF3FE60-7C8E-4308-A885-263B2C35A0CD}"/>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54E60F84-50AD-4337-9FC0-0C5109889080}"/>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40FCDFBF-375D-49AF-A5FB-14D22023BF62}"/>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문서·평가셋</a:t>
            </a:r>
          </a:p>
        </p:txBody>
      </p:sp>
      <p:sp>
        <p:nvSpPr>
          <p:cNvPr id="16" name="">
            <a:extLst xmlns:a="http://schemas.openxmlformats.org/drawingml/2006/main">
              <a:ext uri="{FF2B5EF4-FFF2-40B4-BE49-F238E27FC236}">
                <a16:creationId xmlns:a16="http://schemas.microsoft.com/office/drawing/2014/main" id="{205D8CF3-A5F2-4E91-83D8-94EEE0ECD6DF}"/>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A1B36A05-B0D7-485C-8248-72B178692153}"/>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19093492-C711-4766-9E67-46314ACF6844}"/>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농업 지식 검색</a:t>
            </a:r>
          </a:p>
        </p:txBody>
      </p:sp>
      <p:sp>
        <p:nvSpPr>
          <p:cNvPr id="19" name="">
            <a:extLst xmlns:a="http://schemas.openxmlformats.org/drawingml/2006/main">
              <a:ext uri="{FF2B5EF4-FFF2-40B4-BE49-F238E27FC236}">
                <a16:creationId xmlns:a16="http://schemas.microsoft.com/office/drawing/2014/main" id="{ADF35FBD-2FB1-46F1-87F6-5A6AC9BA31A8}"/>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A8D1911B-67E8-4EA6-8C87-87D405C2625C}"/>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AE111BF7-3D59-4B85-9F08-7E4EB875FBE1}"/>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영농 질의 접점</a:t>
            </a:r>
          </a:p>
        </p:txBody>
      </p:sp>
      <p:sp>
        <p:nvSpPr>
          <p:cNvPr id="22" name="">
            <a:extLst xmlns:a="http://schemas.openxmlformats.org/drawingml/2006/main">
              <a:ext uri="{FF2B5EF4-FFF2-40B4-BE49-F238E27FC236}">
                <a16:creationId xmlns:a16="http://schemas.microsoft.com/office/drawing/2014/main" id="{500B6F76-5E0B-417A-A9EA-C93E53850812}"/>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44B3A0B8-0F51-4E12-9792-FA10D88A1246}"/>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9CDC42B9-C138-466A-86AE-110D7850605A}"/>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작물·생육단계</a:t>
            </a:r>
          </a:p>
        </p:txBody>
      </p:sp>
      <p:sp>
        <p:nvSpPr>
          <p:cNvPr id="25" name="">
            <a:extLst xmlns:a="http://schemas.openxmlformats.org/drawingml/2006/main">
              <a:ext uri="{FF2B5EF4-FFF2-40B4-BE49-F238E27FC236}">
                <a16:creationId xmlns:a16="http://schemas.microsoft.com/office/drawing/2014/main" id="{0013515A-ADD0-42C4-A8B5-6AFC5E2ED568}"/>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E3E574DD-BCD2-4214-BBAC-5B384B44C595}"/>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5194B100-CEEA-485B-983B-56FE20EF0C1B}"/>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맥락형 상담 생성</a:t>
            </a:r>
          </a:p>
        </p:txBody>
      </p:sp>
      <p:sp>
        <p:nvSpPr>
          <p:cNvPr id="28" name="">
            <a:extLst xmlns:a="http://schemas.openxmlformats.org/drawingml/2006/main">
              <a:ext uri="{FF2B5EF4-FFF2-40B4-BE49-F238E27FC236}">
                <a16:creationId xmlns:a16="http://schemas.microsoft.com/office/drawing/2014/main" id="{699A43AD-128B-4CF4-A958-39A4F3C4C0E9}"/>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F8A31DA2-2C2B-46E0-9492-C48651567891}"/>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FBA30359-716A-4687-B1CC-CF04533F55C0}"/>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지역·상황 대조</a:t>
            </a:r>
          </a:p>
        </p:txBody>
      </p:sp>
      <p:sp>
        <p:nvSpPr>
          <p:cNvPr id="31" name="">
            <a:extLst xmlns:a="http://schemas.openxmlformats.org/drawingml/2006/main">
              <a:ext uri="{FF2B5EF4-FFF2-40B4-BE49-F238E27FC236}">
                <a16:creationId xmlns:a16="http://schemas.microsoft.com/office/drawing/2014/main" id="{02DBD706-2CCE-4B92-9E95-FBB1424F580E}"/>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900557EB-AD32-4797-95F1-1B849E00B245}"/>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263779AB-2561-4F08-90B6-97B91F5809AC}"/>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전문가 확인</a:t>
            </a:r>
          </a:p>
        </p:txBody>
      </p:sp>
      <p:sp>
        <p:nvSpPr>
          <p:cNvPr id="34" name="">
            <a:extLst xmlns:a="http://schemas.openxmlformats.org/drawingml/2006/main">
              <a:ext uri="{FF2B5EF4-FFF2-40B4-BE49-F238E27FC236}">
                <a16:creationId xmlns:a16="http://schemas.microsoft.com/office/drawing/2014/main" id="{95A7DD48-BBD7-4C64-8FBD-220E2D5FAA5C}"/>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93282CA7-F4DF-4B1E-A816-E8B9A4127EC3}"/>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08670ACB-505B-4174-A47E-4E82720545ED}"/>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원문·상담 연결</a:t>
            </a:r>
          </a:p>
        </p:txBody>
      </p:sp>
      <p:sp>
        <p:nvSpPr>
          <p:cNvPr id="46" name="">
            <a:extLst xmlns:a="http://schemas.openxmlformats.org/drawingml/2006/main">
              <a:ext uri="{FF2B5EF4-FFF2-40B4-BE49-F238E27FC236}">
                <a16:creationId xmlns:a16="http://schemas.microsoft.com/office/drawing/2014/main" id="{C6C0B72B-DEB4-45EE-9878-C235C303C385}"/>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948981755"/>
      </p:ext>
    </p:extLst>
  </p:cSld>
</p:sld>
</file>

<file path=ppt/slides/slide8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65865E6-A9CC-464D-BF7D-0EBE2E7E69A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AX19 / 논리 인터페이스·복구 설계</a:t>
            </a:r>
          </a:p>
        </p:txBody>
      </p:sp>
      <p:sp>
        <p:nvSpPr>
          <p:cNvPr id="2" name="">
            <a:extLst xmlns:a="http://schemas.openxmlformats.org/drawingml/2006/main">
              <a:ext uri="{FF2B5EF4-FFF2-40B4-BE49-F238E27FC236}">
                <a16:creationId xmlns:a16="http://schemas.microsoft.com/office/drawing/2014/main" id="{72519675-096F-4370-8D27-7C147E7A7C0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청년농업인 특화 AI 상담 · 데이터와 예외 처리</a:t>
            </a:r>
          </a:p>
        </p:txBody>
      </p:sp>
      <p:sp>
        <p:nvSpPr>
          <p:cNvPr id="3" name="">
            <a:extLst xmlns:a="http://schemas.openxmlformats.org/drawingml/2006/main">
              <a:ext uri="{FF2B5EF4-FFF2-40B4-BE49-F238E27FC236}">
                <a16:creationId xmlns:a16="http://schemas.microsoft.com/office/drawing/2014/main" id="{3E977A0A-4B4D-4532-9462-9320AA746B2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DE917AE-662C-4DFC-805A-887031BACC4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D1E79A8-E62F-486E-AEAD-07688383B79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82</a:t>
            </a:r>
          </a:p>
        </p:txBody>
      </p:sp>
      <p:sp>
        <p:nvSpPr>
          <p:cNvPr id="6" name="">
            <a:extLst xmlns:a="http://schemas.openxmlformats.org/drawingml/2006/main">
              <a:ext uri="{FF2B5EF4-FFF2-40B4-BE49-F238E27FC236}">
                <a16:creationId xmlns:a16="http://schemas.microsoft.com/office/drawing/2014/main" id="{8E470D1B-FE2A-4C93-909A-BBA99498DBE9}"/>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CF76B63-EE79-431C-B5C6-D29A7A1817F1}"/>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E71DEAC7-E04E-4199-B014-80500259601B}"/>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85049999-878B-4A67-83D0-C76B1B4A591B}"/>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영농 지식</a:t>
            </a:r>
          </a:p>
        </p:txBody>
      </p:sp>
      <p:sp>
        <p:nvSpPr>
          <p:cNvPr id="10" name="">
            <a:extLst xmlns:a="http://schemas.openxmlformats.org/drawingml/2006/main">
              <a:ext uri="{FF2B5EF4-FFF2-40B4-BE49-F238E27FC236}">
                <a16:creationId xmlns:a16="http://schemas.microsoft.com/office/drawing/2014/main" id="{3E39A7D9-752A-4F81-AF2A-869B7DC62867}"/>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5DC6FC5-E09D-410E-B6B0-E4E455D54CEC}"/>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A50293E9-64CA-4D5B-830B-D5D895572B62}"/>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A6AA70DA-0603-4782-8DF7-EE2EC0259466}"/>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059900C-7A0A-4766-A84E-A05149F8EC0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6EF53B0E-A36E-4660-8AB8-B5FFB7D5B0D9}"/>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작물·지역·생육단계·문제 상황 확인</a:t>
            </a:r>
          </a:p>
        </p:txBody>
      </p:sp>
      <p:sp>
        <p:nvSpPr>
          <p:cNvPr id="16" name="">
            <a:extLst xmlns:a="http://schemas.openxmlformats.org/drawingml/2006/main">
              <a:ext uri="{FF2B5EF4-FFF2-40B4-BE49-F238E27FC236}">
                <a16:creationId xmlns:a16="http://schemas.microsoft.com/office/drawing/2014/main" id="{A4F238EB-53B8-48FA-9199-DCA52D464256}"/>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61DC900-B147-4B9D-BBE8-3E635F2AF33D}"/>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4B51E9CE-96FC-4BB4-B4D4-1318CCD4079B}"/>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조건별 근거 일치와 전문가 전환 판정표</a:t>
            </a:r>
          </a:p>
        </p:txBody>
      </p:sp>
      <p:sp>
        <p:nvSpPr>
          <p:cNvPr id="19" name="">
            <a:extLst xmlns:a="http://schemas.openxmlformats.org/drawingml/2006/main">
              <a:ext uri="{FF2B5EF4-FFF2-40B4-BE49-F238E27FC236}">
                <a16:creationId xmlns:a16="http://schemas.microsoft.com/office/drawing/2014/main" id="{F09017D4-7AE2-44EC-BFDF-63DCDC58AACC}"/>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2018568-6C1B-4194-A4B9-6B41E592DAD7}"/>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0BA0E19E-2990-409C-BE45-16A96A4D5082}"/>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관련 영농 근거</a:t>
            </a:r>
          </a:p>
        </p:txBody>
      </p:sp>
      <p:sp>
        <p:nvSpPr>
          <p:cNvPr id="22" name="">
            <a:extLst xmlns:a="http://schemas.openxmlformats.org/drawingml/2006/main">
              <a:ext uri="{FF2B5EF4-FFF2-40B4-BE49-F238E27FC236}">
                <a16:creationId xmlns:a16="http://schemas.microsoft.com/office/drawing/2014/main" id="{4AA851DC-E685-4CAE-9AB1-C2AA9532B526}"/>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E9CF1FC-B8FB-49CF-B8FB-FF3C197B0999}"/>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776096AA-2B6B-4FDA-A68B-3ECA2B51E805}"/>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상담 답변</a:t>
            </a:r>
          </a:p>
        </p:txBody>
      </p:sp>
      <p:sp>
        <p:nvSpPr>
          <p:cNvPr id="25" name="">
            <a:extLst xmlns:a="http://schemas.openxmlformats.org/drawingml/2006/main">
              <a:ext uri="{FF2B5EF4-FFF2-40B4-BE49-F238E27FC236}">
                <a16:creationId xmlns:a16="http://schemas.microsoft.com/office/drawing/2014/main" id="{74B19184-CB1F-45CB-9846-C1E7A34CBF43}"/>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8401D585-F074-4C9A-938A-61E48A40400D}"/>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다른 작물 지침·증상 누락·전문가 판단이 필요한 요청</a:t>
            </a:r>
          </a:p>
        </p:txBody>
      </p:sp>
      <p:sp>
        <p:nvSpPr>
          <p:cNvPr id="27" name="">
            <a:extLst xmlns:a="http://schemas.openxmlformats.org/drawingml/2006/main">
              <a:ext uri="{FF2B5EF4-FFF2-40B4-BE49-F238E27FC236}">
                <a16:creationId xmlns:a16="http://schemas.microsoft.com/office/drawing/2014/main" id="{19124907-8969-4DF9-B30B-7E02A529C641}"/>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276C8E35-1E49-47F7-808D-75BF4224B556}"/>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지역·작물별 정답 및 전문가 전환</a:t>
            </a:r>
          </a:p>
        </p:txBody>
      </p:sp>
      <p:sp>
        <p:nvSpPr>
          <p:cNvPr id="29" name="">
            <a:extLst xmlns:a="http://schemas.openxmlformats.org/drawingml/2006/main">
              <a:ext uri="{FF2B5EF4-FFF2-40B4-BE49-F238E27FC236}">
                <a16:creationId xmlns:a16="http://schemas.microsoft.com/office/drawing/2014/main" id="{9287AC69-D7D8-49FB-9888-A26325640DDF}"/>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5682F6D0-3A39-4F27-9E71-EEA62E769549}"/>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작물·상황별 오답과 현장 적용성 검토</a:t>
            </a:r>
          </a:p>
        </p:txBody>
      </p:sp>
      <p:sp>
        <p:nvSpPr>
          <p:cNvPr id="31" name="">
            <a:extLst xmlns:a="http://schemas.openxmlformats.org/drawingml/2006/main">
              <a:ext uri="{FF2B5EF4-FFF2-40B4-BE49-F238E27FC236}">
                <a16:creationId xmlns:a16="http://schemas.microsoft.com/office/drawing/2014/main" id="{2380D89F-190B-4D5F-9882-2B4161FC9BCF}"/>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5247B11B-4604-4EDA-9FF2-AB6C7ABD0C0B}"/>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조건별 근거 일치와 전문가 전환 판정표</a:t>
            </a:r>
          </a:p>
        </p:txBody>
      </p:sp>
    </p:spTree>
    <p:extLst>
      <p:ext uri="{BB962C8B-B14F-4D97-AF65-F5344CB8AC3E}">
        <p14:creationId xmlns:p14="http://schemas.microsoft.com/office/powerpoint/2010/main" val="127627511"/>
      </p:ext>
    </p:extLst>
  </p:cSld>
</p:sld>
</file>

<file path=ppt/slides/slide8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9F63B20-4744-47F0-823C-4EA8A1421C2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AX19 / CCK 비교·재현 시험 설계</a:t>
            </a:r>
          </a:p>
        </p:txBody>
      </p:sp>
      <p:sp>
        <p:nvSpPr>
          <p:cNvPr id="2" name="">
            <a:extLst xmlns:a="http://schemas.openxmlformats.org/drawingml/2006/main">
              <a:ext uri="{FF2B5EF4-FFF2-40B4-BE49-F238E27FC236}">
                <a16:creationId xmlns:a16="http://schemas.microsoft.com/office/drawing/2014/main" id="{63D5F812-82B2-4955-9FD9-47EAEFD4BA2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청년농업인 특화 AI 상담 · 벤치마킹</a:t>
            </a:r>
          </a:p>
        </p:txBody>
      </p:sp>
      <p:sp>
        <p:nvSpPr>
          <p:cNvPr id="3" name="">
            <a:extLst xmlns:a="http://schemas.openxmlformats.org/drawingml/2006/main">
              <a:ext uri="{FF2B5EF4-FFF2-40B4-BE49-F238E27FC236}">
                <a16:creationId xmlns:a16="http://schemas.microsoft.com/office/drawing/2014/main" id="{A6BE71A4-1C14-410C-9041-84767592721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2BF9BB6-C67D-438C-9D4C-1F135BE4F00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B1EBA55-C826-455F-A515-58C46B9A64E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83</a:t>
            </a:r>
          </a:p>
        </p:txBody>
      </p:sp>
      <p:sp>
        <p:nvSpPr>
          <p:cNvPr id="6" name="">
            <a:extLst xmlns:a="http://schemas.openxmlformats.org/drawingml/2006/main">
              <a:ext uri="{FF2B5EF4-FFF2-40B4-BE49-F238E27FC236}">
                <a16:creationId xmlns:a16="http://schemas.microsoft.com/office/drawing/2014/main" id="{4E0FEFCD-0BF2-4F14-8456-81A73E67EDF0}"/>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5892DF22-727D-4B65-BDEF-7747A03786BD}"/>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작물·위치 맥락의 전문 지식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전문가·이용자 사전 평가</a:t>
            </a:r>
          </a:p>
        </p:txBody>
      </p:sp>
      <p:sp>
        <p:nvSpPr>
          <p:cNvPr id="8" name="">
            <a:extLst xmlns:a="http://schemas.openxmlformats.org/drawingml/2006/main">
              <a:ext uri="{FF2B5EF4-FFF2-40B4-BE49-F238E27FC236}">
                <a16:creationId xmlns:a16="http://schemas.microsoft.com/office/drawing/2014/main" id="{84D875A9-A81E-48C8-BC1F-000F2B4F86F6}"/>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BFA60643-207D-4694-B8B1-922FE4A4495E}"/>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지역·생육환경 예외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상담 답변과 현장 적합성의 간극</a:t>
            </a:r>
          </a:p>
        </p:txBody>
      </p:sp>
      <p:sp>
        <p:nvSpPr>
          <p:cNvPr id="10" name="">
            <a:extLst xmlns:a="http://schemas.openxmlformats.org/drawingml/2006/main">
              <a:ext uri="{FF2B5EF4-FFF2-40B4-BE49-F238E27FC236}">
                <a16:creationId xmlns:a16="http://schemas.microsoft.com/office/drawing/2014/main" id="{E11043F1-9579-4C50-9A50-C1E68EC6EE9D}"/>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6B697CAD-FC8C-4221-A42D-25E2471345CD}"/>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지역·작물별 정답 및 전문가 전환</a:t>
            </a:r>
          </a:p>
        </p:txBody>
      </p:sp>
      <p:sp>
        <p:nvSpPr>
          <p:cNvPr id="12" name="">
            <a:extLst xmlns:a="http://schemas.openxmlformats.org/drawingml/2006/main">
              <a:ext uri="{FF2B5EF4-FFF2-40B4-BE49-F238E27FC236}">
                <a16:creationId xmlns:a16="http://schemas.microsoft.com/office/drawing/2014/main" id="{3B755458-505C-497D-B2D8-AD5C92A9C579}"/>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F70181F-94E6-4A96-9A51-AC1DBE025707}"/>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작물·지역·생육단계에 맞는 기술 지식 안내</a:t>
            </a:r>
          </a:p>
        </p:txBody>
      </p:sp>
      <p:sp>
        <p:nvSpPr>
          <p:cNvPr id="14" name="">
            <a:extLst xmlns:a="http://schemas.openxmlformats.org/drawingml/2006/main">
              <a:ext uri="{FF2B5EF4-FFF2-40B4-BE49-F238E27FC236}">
                <a16:creationId xmlns:a16="http://schemas.microsoft.com/office/drawing/2014/main" id="{503875AC-1F75-41AB-BCEF-5B14579922DD}"/>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D34C7FB-A465-4433-80CC-67A7F6C282D7}"/>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작물 지침·증상 누락·전문가 판단이 필요한 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청</a:t>
            </a:r>
          </a:p>
        </p:txBody>
      </p:sp>
      <p:sp>
        <p:nvSpPr>
          <p:cNvPr id="16" name="">
            <a:extLst xmlns:a="http://schemas.openxmlformats.org/drawingml/2006/main">
              <a:ext uri="{FF2B5EF4-FFF2-40B4-BE49-F238E27FC236}">
                <a16:creationId xmlns:a16="http://schemas.microsoft.com/office/drawing/2014/main" id="{08BAF84F-1C9C-467C-92D7-E01577F20A7F}"/>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51A38EB7-914B-4787-98F8-AFB51FD93EBC}"/>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조건별 근거 일치와 전문가 전환 판정표</a:t>
            </a:r>
          </a:p>
        </p:txBody>
      </p:sp>
    </p:spTree>
    <p:extLst>
      <p:ext uri="{BB962C8B-B14F-4D97-AF65-F5344CB8AC3E}">
        <p14:creationId xmlns:p14="http://schemas.microsoft.com/office/powerpoint/2010/main" val="1666619937"/>
      </p:ext>
    </p:extLst>
  </p:cSld>
</p:sld>
</file>

<file path=ppt/slides/slide8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9F9E8FF-4EC8-42AB-8100-EB7C676484B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AX20 / 성공 / 국내</a:t>
            </a:r>
          </a:p>
        </p:txBody>
      </p:sp>
      <p:sp>
        <p:nvSpPr>
          <p:cNvPr id="2" name="">
            <a:extLst xmlns:a="http://schemas.openxmlformats.org/drawingml/2006/main">
              <a:ext uri="{FF2B5EF4-FFF2-40B4-BE49-F238E27FC236}">
                <a16:creationId xmlns:a16="http://schemas.microsoft.com/office/drawing/2014/main" id="{F318D3C3-C9B8-4899-AD64-517D72F7AE7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K-인파관리지원시스템</a:t>
            </a:r>
          </a:p>
        </p:txBody>
      </p:sp>
      <p:sp>
        <p:nvSpPr>
          <p:cNvPr id="3" name="">
            <a:extLst xmlns:a="http://schemas.openxmlformats.org/drawingml/2006/main">
              <a:ext uri="{FF2B5EF4-FFF2-40B4-BE49-F238E27FC236}">
                <a16:creationId xmlns:a16="http://schemas.microsoft.com/office/drawing/2014/main" id="{CE059174-1E70-4DBD-84F7-2711C5E52DA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B330E09-521A-46DD-B370-04FD99B6EA6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AF11812-7EF0-45A9-B209-E79F97791D7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84</a:t>
            </a:r>
          </a:p>
        </p:txBody>
      </p:sp>
      <p:sp>
        <p:nvSpPr>
          <p:cNvPr id="6" name="">
            <a:extLst xmlns:a="http://schemas.openxmlformats.org/drawingml/2006/main">
              <a:ext uri="{FF2B5EF4-FFF2-40B4-BE49-F238E27FC236}">
                <a16:creationId xmlns:a16="http://schemas.microsoft.com/office/drawing/2014/main" id="{B240F76B-7656-4E3E-AC3A-6672BD1B1188}"/>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68044027-246B-4760-A8E3-9952A8111A85}"/>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유동인구와 공간정보를 결합해 밀집 위험을 상황실과 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장 대응부서에 전달하는 사례. 추정 밀집도와 실제 현장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상태를 확인하는 조직적 대응이 결합된 구조.</a:t>
            </a:r>
          </a:p>
        </p:txBody>
      </p:sp>
      <p:sp>
        <p:nvSpPr>
          <p:cNvPr id="8" name="">
            <a:extLst xmlns:a="http://schemas.openxmlformats.org/drawingml/2006/main">
              <a:ext uri="{FF2B5EF4-FFF2-40B4-BE49-F238E27FC236}">
                <a16:creationId xmlns:a16="http://schemas.microsoft.com/office/drawing/2014/main" id="{E6ED212E-4EE5-4D3F-B2C4-2D91F9C383E5}"/>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8D9AE7B9-2592-454D-A6F9-D787E57C6767}"/>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시간·구역·행사 맥락에 따라 집계 자료를 정합화하고 GI</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S 상황판과 경보를 생성하는 재구성. 경보 발생, 상황실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확인, 현장 출동·통제, 결과 보고를 별도 상태로 연결.</a:t>
            </a:r>
          </a:p>
        </p:txBody>
      </p:sp>
      <p:sp>
        <p:nvSpPr>
          <p:cNvPr id="10" name="">
            <a:extLst xmlns:a="http://schemas.openxmlformats.org/drawingml/2006/main">
              <a:ext uri="{FF2B5EF4-FFF2-40B4-BE49-F238E27FC236}">
                <a16:creationId xmlns:a16="http://schemas.microsoft.com/office/drawing/2014/main" id="{B9942BE6-E312-43C5-9D87-310F7DBDC1D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2CDF6FD4-42FF-4CFE-838B-D68FBC2042E7}"/>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교통·시설 안전 적용에서 집계 공간 단위와 관측 편차</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를 먼저 확인할 필요. 오경보·미탐 외에 알림 수신·확인·대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응까지 걸린 시간과 담당 부서의 인계 누락을 검수할 대상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t>
            </a:r>
          </a:p>
        </p:txBody>
      </p:sp>
      <p:sp>
        <p:nvSpPr>
          <p:cNvPr id="12" name="">
            <a:extLst xmlns:a="http://schemas.openxmlformats.org/drawingml/2006/main">
              <a:ext uri="{FF2B5EF4-FFF2-40B4-BE49-F238E27FC236}">
                <a16:creationId xmlns:a16="http://schemas.microsoft.com/office/drawing/2014/main" id="{770DF09A-FB39-46AD-8F3E-30C3ECDE98FF}"/>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DB913FCF-5053-40BD-A86B-BB3DCB61FEF3}"/>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장소·시간·단계·담당 기관 매핑</a:t>
            </a:r>
          </a:p>
        </p:txBody>
      </p:sp>
      <p:sp>
        <p:nvSpPr>
          <p:cNvPr id="14" name="">
            <a:extLst xmlns:a="http://schemas.openxmlformats.org/drawingml/2006/main">
              <a:ext uri="{FF2B5EF4-FFF2-40B4-BE49-F238E27FC236}">
                <a16:creationId xmlns:a16="http://schemas.microsoft.com/office/drawing/2014/main" id="{98C00F8F-288A-4A3B-9F1F-C75F3A457720}"/>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A75004FF-63FD-4788-8DE4-9D744768CD56}"/>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자료 지연·경계 지역·알림 미수신 시험</a:t>
            </a:r>
          </a:p>
        </p:txBody>
      </p:sp>
      <p:sp>
        <p:nvSpPr>
          <p:cNvPr id="16" name="">
            <a:extLst xmlns:a="http://schemas.openxmlformats.org/drawingml/2006/main">
              <a:ext uri="{FF2B5EF4-FFF2-40B4-BE49-F238E27FC236}">
                <a16:creationId xmlns:a16="http://schemas.microsoft.com/office/drawing/2014/main" id="{39A416C7-4349-49F0-89A5-FCACE2377C85}"/>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B3766DF2-8671-40B0-8E2B-4FDEA50FE896}"/>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상황 전파시간 / 조치 누락률</a:t>
            </a:r>
          </a:p>
        </p:txBody>
      </p:sp>
      <p:sp>
        <p:nvSpPr>
          <p:cNvPr id="18" name="">
            <a:extLst xmlns:a="http://schemas.openxmlformats.org/drawingml/2006/main">
              <a:ext uri="{FF2B5EF4-FFF2-40B4-BE49-F238E27FC236}">
                <a16:creationId xmlns:a16="http://schemas.microsoft.com/office/drawing/2014/main" id="{4F0CCC68-E4A7-4546-AF10-0CC39CDB5739}"/>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데이터 분석 운영 사례 · 생성형 AI 아님 · 사고 감소 인과효과 별도</a:t>
            </a:r>
          </a:p>
        </p:txBody>
      </p:sp>
    </p:spTree>
    <p:extLst>
      <p:ext uri="{BB962C8B-B14F-4D97-AF65-F5344CB8AC3E}">
        <p14:creationId xmlns:p14="http://schemas.microsoft.com/office/powerpoint/2010/main" val="705747101"/>
      </p:ext>
    </p:extLst>
  </p:cSld>
</p:sld>
</file>

<file path=ppt/slides/slide8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B0A287E3-7F5D-4BE3-ACF9-DB7B2619FFC3}"/>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2FAA5E7B-0EF3-49FC-A369-E813696AF16E}"/>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7101DD5E-CF71-4559-AF7F-CF548E9E9E15}"/>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4FE4EF8D-093A-49DE-8900-6904EB7F740C}"/>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5D714B8E-0F24-4FC3-A66F-20719936CAB1}"/>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AF3910DA-8D63-4EBA-97AD-B413184C45D4}"/>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3A2C225C-B364-45F3-A5E3-A790A44D6F2C}"/>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2B5594C1-DAA3-40A9-88DF-2AAA9B3F94DA}"/>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4E30E8FC-32E4-4B3B-B106-D20B0BC0DB89}"/>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1AFECDA6-BAD7-4732-B5B8-FC408F641467}"/>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8D23576B-7E0A-40FE-8534-9C578272C5D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AX20 / 관측·안전 판정·현장 조치·환류</a:t>
            </a:r>
          </a:p>
        </p:txBody>
      </p:sp>
      <p:sp>
        <p:nvSpPr>
          <p:cNvPr id="2" name="">
            <a:extLst xmlns:a="http://schemas.openxmlformats.org/drawingml/2006/main">
              <a:ext uri="{FF2B5EF4-FFF2-40B4-BE49-F238E27FC236}">
                <a16:creationId xmlns:a16="http://schemas.microsoft.com/office/drawing/2014/main" id="{860E5AA2-522E-495B-BEF6-5D122111085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K-인파관리지원시스템 · 세부 서비스 구조</a:t>
            </a:r>
          </a:p>
        </p:txBody>
      </p:sp>
      <p:sp>
        <p:nvSpPr>
          <p:cNvPr id="3" name="">
            <a:extLst xmlns:a="http://schemas.openxmlformats.org/drawingml/2006/main">
              <a:ext uri="{FF2B5EF4-FFF2-40B4-BE49-F238E27FC236}">
                <a16:creationId xmlns:a16="http://schemas.microsoft.com/office/drawing/2014/main" id="{A503B4A4-9761-49BE-A03B-9E8673EDEDF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8DA747E-E2E0-4351-8A70-86FC01AE165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8FCC7318-9982-49AF-824D-8BCC7A433C4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85</a:t>
            </a:r>
          </a:p>
        </p:txBody>
      </p:sp>
      <p:sp>
        <p:nvSpPr>
          <p:cNvPr id="6" name="">
            <a:extLst xmlns:a="http://schemas.openxmlformats.org/drawingml/2006/main">
              <a:ext uri="{FF2B5EF4-FFF2-40B4-BE49-F238E27FC236}">
                <a16:creationId xmlns:a16="http://schemas.microsoft.com/office/drawing/2014/main" id="{F3C21876-D578-4033-9B5F-7BB13625A675}"/>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유동인구·공간정보 → 밀집도 분석 → GIS·위험 알림 → 지자체 대응</a:t>
            </a:r>
          </a:p>
        </p:txBody>
      </p:sp>
      <p:sp>
        <p:nvSpPr>
          <p:cNvPr id="7" name="">
            <a:extLst xmlns:a="http://schemas.openxmlformats.org/drawingml/2006/main">
              <a:ext uri="{FF2B5EF4-FFF2-40B4-BE49-F238E27FC236}">
                <a16:creationId xmlns:a16="http://schemas.microsoft.com/office/drawing/2014/main" id="{1E1947E2-0B18-4F89-AF7F-5FE03613769F}"/>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207EE14B-F71D-48E8-9A24-E5A161CBA189}"/>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7F0E4425-2F17-4F93-BA77-3C91142D0E96}"/>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유동인구·GIS</a:t>
            </a:r>
          </a:p>
        </p:txBody>
      </p:sp>
      <p:sp>
        <p:nvSpPr>
          <p:cNvPr id="10" name="">
            <a:extLst xmlns:a="http://schemas.openxmlformats.org/drawingml/2006/main">
              <a:ext uri="{FF2B5EF4-FFF2-40B4-BE49-F238E27FC236}">
                <a16:creationId xmlns:a16="http://schemas.microsoft.com/office/drawing/2014/main" id="{63736CA0-FFE0-4F1D-8D01-7F4773F4BCD6}"/>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06C507CC-247B-45E0-B635-27F4488F97F5}"/>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EFC7F8EF-48E8-4B46-B46C-AD7C742D47AF}"/>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시간·구역 정합화</a:t>
            </a:r>
          </a:p>
        </p:txBody>
      </p:sp>
      <p:sp>
        <p:nvSpPr>
          <p:cNvPr id="13" name="">
            <a:extLst xmlns:a="http://schemas.openxmlformats.org/drawingml/2006/main">
              <a:ext uri="{FF2B5EF4-FFF2-40B4-BE49-F238E27FC236}">
                <a16:creationId xmlns:a16="http://schemas.microsoft.com/office/drawing/2014/main" id="{12EB07C2-070D-4C65-B8D0-0982B56AAD6F}"/>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2F31BAD6-A6CD-4C26-BFC9-F1933B474AF8}"/>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71467BD6-D263-494C-B522-D926B63B5220}"/>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밀집 위험 분석</a:t>
            </a:r>
          </a:p>
        </p:txBody>
      </p:sp>
      <p:sp>
        <p:nvSpPr>
          <p:cNvPr id="16" name="">
            <a:extLst xmlns:a="http://schemas.openxmlformats.org/drawingml/2006/main">
              <a:ext uri="{FF2B5EF4-FFF2-40B4-BE49-F238E27FC236}">
                <a16:creationId xmlns:a16="http://schemas.microsoft.com/office/drawing/2014/main" id="{1EE9F79A-F253-4B02-BD6E-84F371035934}"/>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AD0EE1C2-7484-4E55-9480-1AE7CE231C4E}"/>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34FA197D-9132-4379-9A80-479DA919CBA1}"/>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관측·추정 대조</a:t>
            </a:r>
          </a:p>
        </p:txBody>
      </p:sp>
      <p:sp>
        <p:nvSpPr>
          <p:cNvPr id="19" name="">
            <a:extLst xmlns:a="http://schemas.openxmlformats.org/drawingml/2006/main">
              <a:ext uri="{FF2B5EF4-FFF2-40B4-BE49-F238E27FC236}">
                <a16:creationId xmlns:a16="http://schemas.microsoft.com/office/drawing/2014/main" id="{2B3426B3-0BE6-4471-99B2-0C6E8383C4C5}"/>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96A6512E-18CD-4E4F-BEF3-43C7F343BEC4}"/>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71C40080-E76D-4B7D-90A8-4B6538F64D70}"/>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현장 대응 알림</a:t>
            </a:r>
          </a:p>
        </p:txBody>
      </p:sp>
      <p:sp>
        <p:nvSpPr>
          <p:cNvPr id="22" name="">
            <a:extLst xmlns:a="http://schemas.openxmlformats.org/drawingml/2006/main">
              <a:ext uri="{FF2B5EF4-FFF2-40B4-BE49-F238E27FC236}">
                <a16:creationId xmlns:a16="http://schemas.microsoft.com/office/drawing/2014/main" id="{59967A37-0FD2-453E-9206-DE9209181F0C}"/>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AAE78CDE-343B-41BF-9702-D4E8D78E19DC}"/>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AAB51642-F2A4-4056-9C4F-99828D0595DC}"/>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구역·행사 맥락</a:t>
            </a:r>
          </a:p>
        </p:txBody>
      </p:sp>
      <p:sp>
        <p:nvSpPr>
          <p:cNvPr id="25" name="">
            <a:extLst xmlns:a="http://schemas.openxmlformats.org/drawingml/2006/main">
              <a:ext uri="{FF2B5EF4-FFF2-40B4-BE49-F238E27FC236}">
                <a16:creationId xmlns:a16="http://schemas.microsoft.com/office/drawing/2014/main" id="{894B8EFD-277F-47D3-A04E-764FB282E931}"/>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6801F70A-FE3F-4C24-ADA7-A9B9459CC296}"/>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7FFAFB3B-898A-4ED4-9A31-636EC4F2C42F}"/>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인구·공간 조회</a:t>
            </a:r>
          </a:p>
        </p:txBody>
      </p:sp>
      <p:sp>
        <p:nvSpPr>
          <p:cNvPr id="28" name="">
            <a:extLst xmlns:a="http://schemas.openxmlformats.org/drawingml/2006/main">
              <a:ext uri="{FF2B5EF4-FFF2-40B4-BE49-F238E27FC236}">
                <a16:creationId xmlns:a16="http://schemas.microsoft.com/office/drawing/2014/main" id="{D633E951-63EC-4F4F-8219-3DCC427747A5}"/>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04BC8EDD-580F-4D02-809B-9900B321F797}"/>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42C42A0E-5C36-45C3-928C-903344E4F357}"/>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집계·경보 기준</a:t>
            </a:r>
          </a:p>
        </p:txBody>
      </p:sp>
      <p:sp>
        <p:nvSpPr>
          <p:cNvPr id="31" name="">
            <a:extLst xmlns:a="http://schemas.openxmlformats.org/drawingml/2006/main">
              <a:ext uri="{FF2B5EF4-FFF2-40B4-BE49-F238E27FC236}">
                <a16:creationId xmlns:a16="http://schemas.microsoft.com/office/drawing/2014/main" id="{6D587B3E-EC77-4A7B-BC30-CF27B09245EB}"/>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1F7E8056-37B8-4087-A634-8809D9F94E2F}"/>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DA89D778-F691-4895-9129-BB305D61CB39}"/>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상황실 확인</a:t>
            </a:r>
          </a:p>
        </p:txBody>
      </p:sp>
      <p:sp>
        <p:nvSpPr>
          <p:cNvPr id="34" name="">
            <a:extLst xmlns:a="http://schemas.openxmlformats.org/drawingml/2006/main">
              <a:ext uri="{FF2B5EF4-FFF2-40B4-BE49-F238E27FC236}">
                <a16:creationId xmlns:a16="http://schemas.microsoft.com/office/drawing/2014/main" id="{21E29B3C-6EE3-4FD4-91D3-2382983AD14D}"/>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EEC1C1C3-8BCD-4005-B1D7-6AA6D14000AA}"/>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8737F5A4-B9EE-4D0D-8E71-40F7DC395114}"/>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대응시간 추적</a:t>
            </a:r>
          </a:p>
        </p:txBody>
      </p:sp>
      <p:sp>
        <p:nvSpPr>
          <p:cNvPr id="47" name="">
            <a:extLst xmlns:a="http://schemas.openxmlformats.org/drawingml/2006/main">
              <a:ext uri="{FF2B5EF4-FFF2-40B4-BE49-F238E27FC236}">
                <a16:creationId xmlns:a16="http://schemas.microsoft.com/office/drawing/2014/main" id="{C88A9811-DB58-424D-9B5C-22D16831810C}"/>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92000432"/>
      </p:ext>
    </p:extLst>
  </p:cSld>
</p:sld>
</file>

<file path=ppt/slides/slide8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656C6A8-926D-449B-BFFF-B3DD9949494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AX20 / 논리 인터페이스·복구 설계</a:t>
            </a:r>
          </a:p>
        </p:txBody>
      </p:sp>
      <p:sp>
        <p:nvSpPr>
          <p:cNvPr id="2" name="">
            <a:extLst xmlns:a="http://schemas.openxmlformats.org/drawingml/2006/main">
              <a:ext uri="{FF2B5EF4-FFF2-40B4-BE49-F238E27FC236}">
                <a16:creationId xmlns:a16="http://schemas.microsoft.com/office/drawing/2014/main" id="{2222813A-AFDA-480C-A5F0-85BC348DE8E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K-인파관리지원시스템 · 데이터와 예외 처리</a:t>
            </a:r>
          </a:p>
        </p:txBody>
      </p:sp>
      <p:sp>
        <p:nvSpPr>
          <p:cNvPr id="3" name="">
            <a:extLst xmlns:a="http://schemas.openxmlformats.org/drawingml/2006/main">
              <a:ext uri="{FF2B5EF4-FFF2-40B4-BE49-F238E27FC236}">
                <a16:creationId xmlns:a16="http://schemas.microsoft.com/office/drawing/2014/main" id="{B9298517-60F2-44DE-8343-A73E9479792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42889B7-797B-4F18-B176-A545994EDB9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8C7B816-7932-404B-868C-C8DC0EE6C6A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86</a:t>
            </a:r>
          </a:p>
        </p:txBody>
      </p:sp>
      <p:sp>
        <p:nvSpPr>
          <p:cNvPr id="6" name="">
            <a:extLst xmlns:a="http://schemas.openxmlformats.org/drawingml/2006/main">
              <a:ext uri="{FF2B5EF4-FFF2-40B4-BE49-F238E27FC236}">
                <a16:creationId xmlns:a16="http://schemas.microsoft.com/office/drawing/2014/main" id="{090CFAF4-9468-43D8-B12D-DAA1EEFC0A70}"/>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D5536E20-DC4F-4434-A58C-2EC38F87448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028A6119-8D34-492E-A0E1-654B89C10E98}"/>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36A22B34-3907-4DC3-BB1F-060609125119}"/>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지역별 밀집 이력</a:t>
            </a:r>
          </a:p>
        </p:txBody>
      </p:sp>
      <p:sp>
        <p:nvSpPr>
          <p:cNvPr id="10" name="">
            <a:extLst xmlns:a="http://schemas.openxmlformats.org/drawingml/2006/main">
              <a:ext uri="{FF2B5EF4-FFF2-40B4-BE49-F238E27FC236}">
                <a16:creationId xmlns:a16="http://schemas.microsoft.com/office/drawing/2014/main" id="{A9C91C4D-641D-4B13-AC8F-B8D6AE233A29}"/>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1CB1B0D-B2D8-419A-85B9-6F83306E24EA}"/>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268221ED-FE02-417E-99B0-E0FC2591749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F2EDB778-9DFD-430D-8064-22D0CD3E3AD8}"/>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38D0545-77D1-4145-B6AF-67770D73FE0B}"/>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0D3EC2C0-E8FC-4522-95BB-8DDB9ACF3DBD}"/>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위험 알림</a:t>
            </a:r>
          </a:p>
        </p:txBody>
      </p:sp>
      <p:sp>
        <p:nvSpPr>
          <p:cNvPr id="16" name="">
            <a:extLst xmlns:a="http://schemas.openxmlformats.org/drawingml/2006/main">
              <a:ext uri="{FF2B5EF4-FFF2-40B4-BE49-F238E27FC236}">
                <a16:creationId xmlns:a16="http://schemas.microsoft.com/office/drawing/2014/main" id="{B44FE2E6-A651-409A-9FA8-B964F66927CB}"/>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E8327A6-A37E-45E5-8B9B-5F772555A243}"/>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E18F448F-E600-4016-A302-B9F9B8DCC0A2}"/>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집계·경보 기준</a:t>
            </a:r>
          </a:p>
        </p:txBody>
      </p:sp>
      <p:sp>
        <p:nvSpPr>
          <p:cNvPr id="19" name="">
            <a:extLst xmlns:a="http://schemas.openxmlformats.org/drawingml/2006/main">
              <a:ext uri="{FF2B5EF4-FFF2-40B4-BE49-F238E27FC236}">
                <a16:creationId xmlns:a16="http://schemas.microsoft.com/office/drawing/2014/main" id="{F9A5424E-4DA5-4F0D-95E6-2EF7922D55DF}"/>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BD311F9-727F-49E8-AE90-9BB6AE72897F}"/>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3E4638E8-A4B3-4E80-B0DD-6D049B4C4E51}"/>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현장 대응</a:t>
            </a:r>
          </a:p>
        </p:txBody>
      </p:sp>
      <p:sp>
        <p:nvSpPr>
          <p:cNvPr id="22" name="">
            <a:extLst xmlns:a="http://schemas.openxmlformats.org/drawingml/2006/main">
              <a:ext uri="{FF2B5EF4-FFF2-40B4-BE49-F238E27FC236}">
                <a16:creationId xmlns:a16="http://schemas.microsoft.com/office/drawing/2014/main" id="{BF16E31C-0F3F-4237-B760-7CD4CD358623}"/>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4403ABC-0881-46ED-801B-A444FEAE98CF}"/>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6EC4A850-449A-447D-BD55-2973BFC3C809}"/>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실제 밀집상태·경보·대응시간 대조</a:t>
            </a:r>
          </a:p>
        </p:txBody>
      </p:sp>
      <p:sp>
        <p:nvSpPr>
          <p:cNvPr id="25" name="">
            <a:extLst xmlns:a="http://schemas.openxmlformats.org/drawingml/2006/main">
              <a:ext uri="{FF2B5EF4-FFF2-40B4-BE49-F238E27FC236}">
                <a16:creationId xmlns:a16="http://schemas.microsoft.com/office/drawing/2014/main" id="{032750C7-674B-44D5-B116-55E720CA3A69}"/>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C9FDE740-0F35-4654-8746-776789771C82}"/>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집계 지연·통신 표본 편향·구역 경계 변경</a:t>
            </a:r>
          </a:p>
        </p:txBody>
      </p:sp>
      <p:sp>
        <p:nvSpPr>
          <p:cNvPr id="27" name="">
            <a:extLst xmlns:a="http://schemas.openxmlformats.org/drawingml/2006/main">
              <a:ext uri="{FF2B5EF4-FFF2-40B4-BE49-F238E27FC236}">
                <a16:creationId xmlns:a16="http://schemas.microsoft.com/office/drawing/2014/main" id="{4292F8D8-AA2B-475F-B269-5C84BDADF8E9}"/>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144AECE1-B330-491D-852D-E07AD281C945}"/>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공간·시간 단위 대사와 조치 확인</a:t>
            </a:r>
          </a:p>
        </p:txBody>
      </p:sp>
      <p:sp>
        <p:nvSpPr>
          <p:cNvPr id="29" name="">
            <a:extLst xmlns:a="http://schemas.openxmlformats.org/drawingml/2006/main">
              <a:ext uri="{FF2B5EF4-FFF2-40B4-BE49-F238E27FC236}">
                <a16:creationId xmlns:a16="http://schemas.microsoft.com/office/drawing/2014/main" id="{3EF1F6DE-6493-4CAE-9052-7265F59256C8}"/>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7B952286-4BEF-4C83-9462-C52FDDE58D7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실제 밀집상태·경보·대응시간 대조</a:t>
            </a:r>
          </a:p>
        </p:txBody>
      </p:sp>
      <p:sp>
        <p:nvSpPr>
          <p:cNvPr id="31" name="">
            <a:extLst xmlns:a="http://schemas.openxmlformats.org/drawingml/2006/main">
              <a:ext uri="{FF2B5EF4-FFF2-40B4-BE49-F238E27FC236}">
                <a16:creationId xmlns:a16="http://schemas.microsoft.com/office/drawing/2014/main" id="{35CF30BF-8983-442F-A1AA-44C824B6AE1A}"/>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8E961207-4B62-44A2-97BC-58669FAF5DA1}"/>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밀집상태 대비 경보·전파·조치 시각</a:t>
            </a:r>
          </a:p>
        </p:txBody>
      </p:sp>
    </p:spTree>
    <p:extLst>
      <p:ext uri="{BB962C8B-B14F-4D97-AF65-F5344CB8AC3E}">
        <p14:creationId xmlns:p14="http://schemas.microsoft.com/office/powerpoint/2010/main" val="1344861654"/>
      </p:ext>
    </p:extLst>
  </p:cSld>
</p:sld>
</file>

<file path=ppt/slides/slide8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2BB294F-20CF-4B64-A93F-93DA65900B8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AX20 / CCK 비교·재현 시험 설계</a:t>
            </a:r>
          </a:p>
        </p:txBody>
      </p:sp>
      <p:sp>
        <p:nvSpPr>
          <p:cNvPr id="2" name="">
            <a:extLst xmlns:a="http://schemas.openxmlformats.org/drawingml/2006/main">
              <a:ext uri="{FF2B5EF4-FFF2-40B4-BE49-F238E27FC236}">
                <a16:creationId xmlns:a16="http://schemas.microsoft.com/office/drawing/2014/main" id="{891EFAD4-7F32-458B-963C-BF67AC1F6A5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K-인파관리지원시스템 · 벤치마킹</a:t>
            </a:r>
          </a:p>
        </p:txBody>
      </p:sp>
      <p:sp>
        <p:nvSpPr>
          <p:cNvPr id="3" name="">
            <a:extLst xmlns:a="http://schemas.openxmlformats.org/drawingml/2006/main">
              <a:ext uri="{FF2B5EF4-FFF2-40B4-BE49-F238E27FC236}">
                <a16:creationId xmlns:a16="http://schemas.microsoft.com/office/drawing/2014/main" id="{02471ACC-47EC-43D3-B7E6-D8426F906BE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A0B7339-24AE-4200-889A-9A0B586FC84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5E75C55-0E25-4520-A5FB-3C269F2B84A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87</a:t>
            </a:r>
          </a:p>
        </p:txBody>
      </p:sp>
      <p:sp>
        <p:nvSpPr>
          <p:cNvPr id="6" name="">
            <a:extLst xmlns:a="http://schemas.openxmlformats.org/drawingml/2006/main">
              <a:ext uri="{FF2B5EF4-FFF2-40B4-BE49-F238E27FC236}">
                <a16:creationId xmlns:a16="http://schemas.microsoft.com/office/drawing/2014/main" id="{AA0FE667-9A04-4299-B12F-DA96B66C07D1}"/>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B3C07712-CE60-42AA-98C4-998B6C630E4D}"/>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공간정보와 유동인구의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상황판·알림과 지자체 대응 연결</a:t>
            </a:r>
          </a:p>
        </p:txBody>
      </p:sp>
      <p:sp>
        <p:nvSpPr>
          <p:cNvPr id="8" name="">
            <a:extLst xmlns:a="http://schemas.openxmlformats.org/drawingml/2006/main">
              <a:ext uri="{FF2B5EF4-FFF2-40B4-BE49-F238E27FC236}">
                <a16:creationId xmlns:a16="http://schemas.microsoft.com/office/drawing/2014/main" id="{7CF1F9AB-0913-4AD0-8A98-CB83683C1F89}"/>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BB069F03-6099-4A88-B763-B8287B9977E8}"/>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추정 인구와 실제 밀집의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알림 발생과 대응 완료의 혼동</a:t>
            </a:r>
          </a:p>
        </p:txBody>
      </p:sp>
      <p:sp>
        <p:nvSpPr>
          <p:cNvPr id="10" name="">
            <a:extLst xmlns:a="http://schemas.openxmlformats.org/drawingml/2006/main">
              <a:ext uri="{FF2B5EF4-FFF2-40B4-BE49-F238E27FC236}">
                <a16:creationId xmlns:a16="http://schemas.microsoft.com/office/drawing/2014/main" id="{3A192180-384D-4FD2-B30A-E86949DB3E02}"/>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C9DE7565-E8A2-4288-9CEE-F71BE41DD1E9}"/>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공간·시간 단위 대사와 조치 확인</a:t>
            </a:r>
          </a:p>
        </p:txBody>
      </p:sp>
      <p:sp>
        <p:nvSpPr>
          <p:cNvPr id="12" name="">
            <a:extLst xmlns:a="http://schemas.openxmlformats.org/drawingml/2006/main">
              <a:ext uri="{FF2B5EF4-FFF2-40B4-BE49-F238E27FC236}">
                <a16:creationId xmlns:a16="http://schemas.microsoft.com/office/drawing/2014/main" id="{EC9E600C-9A80-4FA6-A8DE-2FEDE04FAEB0}"/>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96CB0A8-74A6-41E2-842E-3660EE2FF31E}"/>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구역별 인파 밀집을 파악하고 현장 확인 요청</a:t>
            </a:r>
          </a:p>
        </p:txBody>
      </p:sp>
      <p:sp>
        <p:nvSpPr>
          <p:cNvPr id="14" name="">
            <a:extLst xmlns:a="http://schemas.openxmlformats.org/drawingml/2006/main">
              <a:ext uri="{FF2B5EF4-FFF2-40B4-BE49-F238E27FC236}">
                <a16:creationId xmlns:a16="http://schemas.microsoft.com/office/drawing/2014/main" id="{3D4BED98-1423-42B9-81DE-FB8A81A4D088}"/>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3A48367C-2651-4BB8-8072-D9BB0A76ECFC}"/>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집계 지연·통신 표본 편향·구역 경계 변경</a:t>
            </a:r>
          </a:p>
        </p:txBody>
      </p:sp>
      <p:sp>
        <p:nvSpPr>
          <p:cNvPr id="16" name="">
            <a:extLst xmlns:a="http://schemas.openxmlformats.org/drawingml/2006/main">
              <a:ext uri="{FF2B5EF4-FFF2-40B4-BE49-F238E27FC236}">
                <a16:creationId xmlns:a16="http://schemas.microsoft.com/office/drawing/2014/main" id="{B805FB21-E466-46BA-BD1B-E486E2E94A1F}"/>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EAED131E-8EDF-49DE-B5BC-D80B70386A4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현장 밀집상태 대비 경보·전파·조치 시각</a:t>
            </a:r>
          </a:p>
        </p:txBody>
      </p:sp>
    </p:spTree>
    <p:extLst>
      <p:ext uri="{BB962C8B-B14F-4D97-AF65-F5344CB8AC3E}">
        <p14:creationId xmlns:p14="http://schemas.microsoft.com/office/powerpoint/2010/main" val="750435035"/>
      </p:ext>
    </p:extLst>
  </p:cSld>
</p:sld>
</file>

<file path=ppt/slides/slide8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AFA4B07-5E3C-4C36-BA94-B4263B4A5D0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AX21 / 시범 / 국내</a:t>
            </a:r>
          </a:p>
        </p:txBody>
      </p:sp>
      <p:sp>
        <p:nvSpPr>
          <p:cNvPr id="2" name="">
            <a:extLst xmlns:a="http://schemas.openxmlformats.org/drawingml/2006/main">
              <a:ext uri="{FF2B5EF4-FFF2-40B4-BE49-F238E27FC236}">
                <a16:creationId xmlns:a16="http://schemas.microsoft.com/office/drawing/2014/main" id="{2F58CFD8-B510-40B7-B631-66B5F2373F5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항공안전 이슈 분석 AI PoC</a:t>
            </a:r>
          </a:p>
        </p:txBody>
      </p:sp>
      <p:sp>
        <p:nvSpPr>
          <p:cNvPr id="3" name="">
            <a:extLst xmlns:a="http://schemas.openxmlformats.org/drawingml/2006/main">
              <a:ext uri="{FF2B5EF4-FFF2-40B4-BE49-F238E27FC236}">
                <a16:creationId xmlns:a16="http://schemas.microsoft.com/office/drawing/2014/main" id="{1ACA0A15-990E-4CF6-A09E-F5B9D3A28B2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2468162-6AFE-48C1-BDCF-F4B51DFA7F2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F23D1B6-8E49-44EE-B4CA-5B6FF495F5A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88</a:t>
            </a:r>
          </a:p>
        </p:txBody>
      </p:sp>
      <p:sp>
        <p:nvSpPr>
          <p:cNvPr id="6" name="">
            <a:extLst xmlns:a="http://schemas.openxmlformats.org/drawingml/2006/main">
              <a:ext uri="{FF2B5EF4-FFF2-40B4-BE49-F238E27FC236}">
                <a16:creationId xmlns:a16="http://schemas.microsoft.com/office/drawing/2014/main" id="{48334977-933A-412F-80B0-811DA3793E10}"/>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17B9B28C-D17E-40CB-933C-4C193D7D547B}"/>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항공안전 관련 기사에서 사건과 위험 요인을 찾아 분석</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원의 검토를 돕는 사례. 다국어 자료의 번역·요약과 정해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진 안전 분류체계 적용이 결합된 업무.</a:t>
            </a:r>
          </a:p>
        </p:txBody>
      </p:sp>
      <p:sp>
        <p:nvSpPr>
          <p:cNvPr id="8" name="">
            <a:extLst xmlns:a="http://schemas.openxmlformats.org/drawingml/2006/main">
              <a:ext uri="{FF2B5EF4-FFF2-40B4-BE49-F238E27FC236}">
                <a16:creationId xmlns:a16="http://schemas.microsoft.com/office/drawing/2014/main" id="{9764A5B9-79BF-4461-917F-DE868EF6D9E4}"/>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DE7F5289-B3C8-4336-9FC4-E5E139EDE163}"/>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기사 출처·발생일·항공업무를 식별한 뒤 번역문과 원문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연결하고 위험 태그 후보를 제시하는 재구성. 분석원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수정값과 판정 근거를 보존해 분류 누락·오역을 회귀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평가.</a:t>
            </a:r>
          </a:p>
        </p:txBody>
      </p:sp>
      <p:sp>
        <p:nvSpPr>
          <p:cNvPr id="10" name="">
            <a:extLst xmlns:a="http://schemas.openxmlformats.org/drawingml/2006/main">
              <a:ext uri="{FF2B5EF4-FFF2-40B4-BE49-F238E27FC236}">
                <a16:creationId xmlns:a16="http://schemas.microsoft.com/office/drawing/2014/main" id="{A8E76823-4C42-439C-8B79-082D055014D1}"/>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500AE5E6-E956-4302-98F3-281FC352817D}"/>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적용에서는 기사량 처리보다 사건·시각·위험등급의 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확한 추출과 근거 추적을 우선. 원문 대비 중요 사건 누락,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분류체계 개정, 다국어 전문용어 오역을 독립 시험할 필요</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t>
            </a:r>
          </a:p>
        </p:txBody>
      </p:sp>
      <p:sp>
        <p:nvSpPr>
          <p:cNvPr id="12" name="">
            <a:extLst xmlns:a="http://schemas.openxmlformats.org/drawingml/2006/main">
              <a:ext uri="{FF2B5EF4-FFF2-40B4-BE49-F238E27FC236}">
                <a16:creationId xmlns:a16="http://schemas.microsoft.com/office/drawing/2014/main" id="{C7C75D5B-8E40-4542-8EFE-B0E82B77B7A9}"/>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27518C5B-FEF2-4C0A-A829-27C12D21E1DB}"/>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안전 이슈 분류셋·근거 위치·검토 기록</a:t>
            </a:r>
          </a:p>
        </p:txBody>
      </p:sp>
      <p:sp>
        <p:nvSpPr>
          <p:cNvPr id="14" name="">
            <a:extLst xmlns:a="http://schemas.openxmlformats.org/drawingml/2006/main">
              <a:ext uri="{FF2B5EF4-FFF2-40B4-BE49-F238E27FC236}">
                <a16:creationId xmlns:a16="http://schemas.microsoft.com/office/drawing/2014/main" id="{3985D85A-4878-493A-96B6-2E41E53E0415}"/>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0F6E5574-8BF5-44B8-B46E-3BA16447706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위험 유형별 누락·오분류·번역 오류 평가</a:t>
            </a:r>
          </a:p>
        </p:txBody>
      </p:sp>
      <p:sp>
        <p:nvSpPr>
          <p:cNvPr id="16" name="">
            <a:extLst xmlns:a="http://schemas.openxmlformats.org/drawingml/2006/main">
              <a:ext uri="{FF2B5EF4-FFF2-40B4-BE49-F238E27FC236}">
                <a16:creationId xmlns:a16="http://schemas.microsoft.com/office/drawing/2014/main" id="{80716EC0-61F7-4803-ADDD-196437D823CF}"/>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8C0DE0E1-D5C0-4414-8561-A901037FEB61}"/>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분류 재현율 / 검토 포함 소요시간</a:t>
            </a:r>
          </a:p>
        </p:txBody>
      </p:sp>
      <p:sp>
        <p:nvSpPr>
          <p:cNvPr id="18" name="">
            <a:extLst xmlns:a="http://schemas.openxmlformats.org/drawingml/2006/main">
              <a:ext uri="{FF2B5EF4-FFF2-40B4-BE49-F238E27FC236}">
                <a16:creationId xmlns:a16="http://schemas.microsoft.com/office/drawing/2014/main" id="{A450AEEA-2937-41E6-B12F-449F2CBDC41A}"/>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PoC 범위 · 운영 생산성 실측으로 해석 금지</a:t>
            </a:r>
          </a:p>
        </p:txBody>
      </p:sp>
    </p:spTree>
    <p:extLst>
      <p:ext uri="{BB962C8B-B14F-4D97-AF65-F5344CB8AC3E}">
        <p14:creationId xmlns:p14="http://schemas.microsoft.com/office/powerpoint/2010/main" val="1004432014"/>
      </p:ext>
    </p:extLst>
  </p:cSld>
</p:sld>
</file>

<file path=ppt/slides/slide8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BA6CFEA3-4674-4A5D-BAA4-335BB623A573}"/>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E9B9CDCF-1963-4F4C-BB61-FF46E62A5692}"/>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D35D8F60-9DC8-49C8-902C-24DF4CA06E51}"/>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271243D3-9C62-49EA-9548-10E7BF272A24}"/>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83604D8D-BFDA-420A-AE4F-C2E152213A11}"/>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90C3F366-AB01-40C1-8BA4-736C1E364124}"/>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691A0C6B-3CA0-479B-A461-C08E363273B9}"/>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7CF58AC2-C0FD-4CE3-B019-3C4606BB7E8A}"/>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5BFF0D9F-3E48-4240-9D3F-074B6EC6D362}"/>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5A655311-BEDB-4D17-B891-2B21923ADEF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AX21 / 원문 추출·대조·사람 확정</a:t>
            </a:r>
          </a:p>
        </p:txBody>
      </p:sp>
      <p:sp>
        <p:nvSpPr>
          <p:cNvPr id="2" name="">
            <a:extLst xmlns:a="http://schemas.openxmlformats.org/drawingml/2006/main">
              <a:ext uri="{FF2B5EF4-FFF2-40B4-BE49-F238E27FC236}">
                <a16:creationId xmlns:a16="http://schemas.microsoft.com/office/drawing/2014/main" id="{C2242668-82E3-4280-B192-F095352FAEA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항공안전 이슈 분석 AI PoC · 세부 서비스 구조</a:t>
            </a:r>
          </a:p>
        </p:txBody>
      </p:sp>
      <p:sp>
        <p:nvSpPr>
          <p:cNvPr id="3" name="">
            <a:extLst xmlns:a="http://schemas.openxmlformats.org/drawingml/2006/main">
              <a:ext uri="{FF2B5EF4-FFF2-40B4-BE49-F238E27FC236}">
                <a16:creationId xmlns:a16="http://schemas.microsoft.com/office/drawing/2014/main" id="{1A12882E-374E-44CC-B061-BBD70E5A858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EC3BC66-5491-4002-A094-BDBEB3EA074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C6117CE-3F0C-4146-A850-5BD00D11590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89</a:t>
            </a:r>
          </a:p>
        </p:txBody>
      </p:sp>
      <p:sp>
        <p:nvSpPr>
          <p:cNvPr id="6" name="">
            <a:extLst xmlns:a="http://schemas.openxmlformats.org/drawingml/2006/main">
              <a:ext uri="{FF2B5EF4-FFF2-40B4-BE49-F238E27FC236}">
                <a16:creationId xmlns:a16="http://schemas.microsoft.com/office/drawing/2014/main" id="{F05DBF8D-DDF7-4B1F-92FC-FC8C6D782D6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항공안전 기사 → 전처리·RAG → 요약·위험 분류 → 분석원 재검토</a:t>
            </a:r>
          </a:p>
        </p:txBody>
      </p:sp>
      <p:sp>
        <p:nvSpPr>
          <p:cNvPr id="7" name="">
            <a:extLst xmlns:a="http://schemas.openxmlformats.org/drawingml/2006/main">
              <a:ext uri="{FF2B5EF4-FFF2-40B4-BE49-F238E27FC236}">
                <a16:creationId xmlns:a16="http://schemas.microsoft.com/office/drawing/2014/main" id="{C0C13088-6804-46D9-B480-A8E2E954373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F59816F5-C1E1-4723-8B9A-CB57D1E4B294}"/>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987295FB-BBBE-4A20-BDFE-08FB99D2DB00}"/>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기사 수집 접점</a:t>
            </a:r>
          </a:p>
        </p:txBody>
      </p:sp>
      <p:sp>
        <p:nvSpPr>
          <p:cNvPr id="10" name="">
            <a:extLst xmlns:a="http://schemas.openxmlformats.org/drawingml/2006/main">
              <a:ext uri="{FF2B5EF4-FFF2-40B4-BE49-F238E27FC236}">
                <a16:creationId xmlns:a16="http://schemas.microsoft.com/office/drawing/2014/main" id="{EA003B92-1AC4-4750-8883-37DD58F4411B}"/>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45A0D2A3-5DCA-435E-ADA7-6BBA50356AC5}"/>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C7DA4F07-E07B-40F9-AB52-AC91564775F9}"/>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번역·요약·태깅</a:t>
            </a:r>
          </a:p>
        </p:txBody>
      </p:sp>
      <p:sp>
        <p:nvSpPr>
          <p:cNvPr id="13" name="">
            <a:extLst xmlns:a="http://schemas.openxmlformats.org/drawingml/2006/main">
              <a:ext uri="{FF2B5EF4-FFF2-40B4-BE49-F238E27FC236}">
                <a16:creationId xmlns:a16="http://schemas.microsoft.com/office/drawing/2014/main" id="{00CD1FEA-6E2D-4F51-83B6-A83755D071C5}"/>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91115167-903F-4201-821C-A09DD01490CA}"/>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0987E613-B28A-4571-B392-D52ECA56FEE4}"/>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사건·등급 대조</a:t>
            </a:r>
          </a:p>
        </p:txBody>
      </p:sp>
      <p:sp>
        <p:nvSpPr>
          <p:cNvPr id="16" name="">
            <a:extLst xmlns:a="http://schemas.openxmlformats.org/drawingml/2006/main">
              <a:ext uri="{FF2B5EF4-FFF2-40B4-BE49-F238E27FC236}">
                <a16:creationId xmlns:a16="http://schemas.microsoft.com/office/drawing/2014/main" id="{89FBDF56-2CD5-4DA3-B4CD-AE9D5EF4189E}"/>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A5EE6327-934F-4079-ADCD-3FD5B16539CD}"/>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785DF280-516E-4266-BDDE-1A9A575C74F8}"/>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분석원 수정</a:t>
            </a:r>
          </a:p>
        </p:txBody>
      </p:sp>
      <p:sp>
        <p:nvSpPr>
          <p:cNvPr id="19" name="">
            <a:extLst xmlns:a="http://schemas.openxmlformats.org/drawingml/2006/main">
              <a:ext uri="{FF2B5EF4-FFF2-40B4-BE49-F238E27FC236}">
                <a16:creationId xmlns:a16="http://schemas.microsoft.com/office/drawing/2014/main" id="{F9C70B51-6441-4622-9CCE-FBF7E50C033A}"/>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0401BF9B-1222-48E6-B9C9-E12E9F59C1C3}"/>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FFABCEB0-4246-40DD-B262-06742F9252F0}"/>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검토 보고서</a:t>
            </a:r>
          </a:p>
        </p:txBody>
      </p:sp>
      <p:sp>
        <p:nvSpPr>
          <p:cNvPr id="22" name="">
            <a:extLst xmlns:a="http://schemas.openxmlformats.org/drawingml/2006/main">
              <a:ext uri="{FF2B5EF4-FFF2-40B4-BE49-F238E27FC236}">
                <a16:creationId xmlns:a16="http://schemas.microsoft.com/office/drawing/2014/main" id="{D9BC2AEF-ADAA-4C64-B3C4-E4959E9F21A9}"/>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4BFAB47-1909-459E-8AD3-D0768A84689B}"/>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B8541E22-5288-4815-8734-D781EC6BB3B5}"/>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기사·안전 분류</a:t>
            </a:r>
          </a:p>
        </p:txBody>
      </p:sp>
      <p:sp>
        <p:nvSpPr>
          <p:cNvPr id="25" name="">
            <a:extLst xmlns:a="http://schemas.openxmlformats.org/drawingml/2006/main">
              <a:ext uri="{FF2B5EF4-FFF2-40B4-BE49-F238E27FC236}">
                <a16:creationId xmlns:a16="http://schemas.microsoft.com/office/drawing/2014/main" id="{B79CFA87-488E-4985-B6C8-5C4437F6888E}"/>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022377F1-CBBB-43FB-B37D-B39437DE19FE}"/>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F44C8D38-E767-4126-B955-B74E7EB316B8}"/>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번역·판본 정리</a:t>
            </a:r>
          </a:p>
        </p:txBody>
      </p:sp>
      <p:sp>
        <p:nvSpPr>
          <p:cNvPr id="28" name="">
            <a:extLst xmlns:a="http://schemas.openxmlformats.org/drawingml/2006/main">
              <a:ext uri="{FF2B5EF4-FFF2-40B4-BE49-F238E27FC236}">
                <a16:creationId xmlns:a16="http://schemas.microsoft.com/office/drawing/2014/main" id="{61A1FBA2-1D2F-405B-8BE7-396B918F709C}"/>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89251A57-78EE-4FE0-87A4-52429175A97A}"/>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6BC57CF0-F053-4A91-8E33-C149805E4ED1}"/>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분류 지식 검색</a:t>
            </a:r>
          </a:p>
        </p:txBody>
      </p:sp>
      <p:sp>
        <p:nvSpPr>
          <p:cNvPr id="31" name="">
            <a:extLst xmlns:a="http://schemas.openxmlformats.org/drawingml/2006/main">
              <a:ext uri="{FF2B5EF4-FFF2-40B4-BE49-F238E27FC236}">
                <a16:creationId xmlns:a16="http://schemas.microsoft.com/office/drawing/2014/main" id="{4D8022EB-8E71-4ABD-BD69-84C3852B6985}"/>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D03746B3-FF63-4AC4-BE4A-7E376D2D5FCB}"/>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29E1A6F2-B706-4773-A75B-7F8BB131B4C5}"/>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기사·분류 이력</a:t>
            </a:r>
          </a:p>
        </p:txBody>
      </p:sp>
      <p:sp>
        <p:nvSpPr>
          <p:cNvPr id="34" name="">
            <a:extLst xmlns:a="http://schemas.openxmlformats.org/drawingml/2006/main">
              <a:ext uri="{FF2B5EF4-FFF2-40B4-BE49-F238E27FC236}">
                <a16:creationId xmlns:a16="http://schemas.microsoft.com/office/drawing/2014/main" id="{08E07EB0-5B1F-42C3-BCD8-C24F60B9CB73}"/>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3A463715-1C3F-475F-9150-DE59372449B8}"/>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5A1C1D9B-736A-4D4F-8CBA-9A523AA570D9}"/>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누락 회귀평가</a:t>
            </a:r>
          </a:p>
        </p:txBody>
      </p:sp>
      <p:sp>
        <p:nvSpPr>
          <p:cNvPr id="46" name="">
            <a:extLst xmlns:a="http://schemas.openxmlformats.org/drawingml/2006/main">
              <a:ext uri="{FF2B5EF4-FFF2-40B4-BE49-F238E27FC236}">
                <a16:creationId xmlns:a16="http://schemas.microsoft.com/office/drawing/2014/main" id="{F66A240A-4C99-40B1-B9A1-15B35F8E2D0D}"/>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301984269"/>
      </p:ext>
    </p:extLst>
  </p:cSld>
</p:sld>
</file>

<file path=ppt/slides/slide9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5FC4C09-CDC4-4D4B-B118-810B9B7B360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AX21 / 논리 인터페이스·복구 설계</a:t>
            </a:r>
          </a:p>
        </p:txBody>
      </p:sp>
      <p:sp>
        <p:nvSpPr>
          <p:cNvPr id="2" name="">
            <a:extLst xmlns:a="http://schemas.openxmlformats.org/drawingml/2006/main">
              <a:ext uri="{FF2B5EF4-FFF2-40B4-BE49-F238E27FC236}">
                <a16:creationId xmlns:a16="http://schemas.microsoft.com/office/drawing/2014/main" id="{EF24B34C-0C69-42CB-A00D-CCCAE40402D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항공안전 이슈 분석 AI PoC · 데이터와 예외 처리</a:t>
            </a:r>
          </a:p>
        </p:txBody>
      </p:sp>
      <p:sp>
        <p:nvSpPr>
          <p:cNvPr id="3" name="">
            <a:extLst xmlns:a="http://schemas.openxmlformats.org/drawingml/2006/main">
              <a:ext uri="{FF2B5EF4-FFF2-40B4-BE49-F238E27FC236}">
                <a16:creationId xmlns:a16="http://schemas.microsoft.com/office/drawing/2014/main" id="{F688011B-A66A-4300-A110-019A4EDDC5B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ACC8151-DB48-4AC0-B8C0-3BF58EECF10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90B6964-AC7D-4C1A-A164-D29AE02C3E1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90</a:t>
            </a:r>
          </a:p>
        </p:txBody>
      </p:sp>
      <p:sp>
        <p:nvSpPr>
          <p:cNvPr id="6" name="">
            <a:extLst xmlns:a="http://schemas.openxmlformats.org/drawingml/2006/main">
              <a:ext uri="{FF2B5EF4-FFF2-40B4-BE49-F238E27FC236}">
                <a16:creationId xmlns:a16="http://schemas.microsoft.com/office/drawing/2014/main" id="{0D42D39C-C2F6-437C-920C-7759E891D34E}"/>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5AF802F7-AE39-42F2-9C3C-DB342D21C2A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CDFD2AD1-6D82-4F7C-80A8-882F6660B72A}"/>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B1E3D8D7-0438-4AE0-A5A9-1296213EE830}"/>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기사·위험 분류체계</a:t>
            </a:r>
          </a:p>
        </p:txBody>
      </p:sp>
      <p:sp>
        <p:nvSpPr>
          <p:cNvPr id="10" name="">
            <a:extLst xmlns:a="http://schemas.openxmlformats.org/drawingml/2006/main">
              <a:ext uri="{FF2B5EF4-FFF2-40B4-BE49-F238E27FC236}">
                <a16:creationId xmlns:a16="http://schemas.microsoft.com/office/drawing/2014/main" id="{43808F02-8904-401B-8919-F9C2EA4CB7F0}"/>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AE9F7F7-A256-48FB-9C72-83EF425CDC49}"/>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95728B4A-A5D8-40AA-A919-1CAE540DAFB7}"/>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A77A0BC2-D5C2-4532-90B3-0652C28A736B}"/>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4A7F07A-AEBF-4C11-8D39-29CB0E8248CC}"/>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DBAFC36E-0852-4231-BBEA-9C35640C1417}"/>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요약·위험 태그</a:t>
            </a:r>
          </a:p>
        </p:txBody>
      </p:sp>
      <p:sp>
        <p:nvSpPr>
          <p:cNvPr id="16" name="">
            <a:extLst xmlns:a="http://schemas.openxmlformats.org/drawingml/2006/main">
              <a:ext uri="{FF2B5EF4-FFF2-40B4-BE49-F238E27FC236}">
                <a16:creationId xmlns:a16="http://schemas.microsoft.com/office/drawing/2014/main" id="{3385A632-EB24-4555-AB0B-C2045874517F}"/>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91BBBA1-EEC7-4540-859C-04494025430D}"/>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9286F195-190B-42E8-B5F9-36B0482A7F81}"/>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분석용 문서</a:t>
            </a:r>
          </a:p>
        </p:txBody>
      </p:sp>
      <p:sp>
        <p:nvSpPr>
          <p:cNvPr id="19" name="">
            <a:extLst xmlns:a="http://schemas.openxmlformats.org/drawingml/2006/main">
              <a:ext uri="{FF2B5EF4-FFF2-40B4-BE49-F238E27FC236}">
                <a16:creationId xmlns:a16="http://schemas.microsoft.com/office/drawing/2014/main" id="{B30A5F1D-9EFD-4277-8488-73E1181A7C45}"/>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7BDC7C2-080E-49E3-93A8-39AA425F38A9}"/>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F4070720-A77A-442D-81E2-289C44E90B01}"/>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요약·위험 태그</a:t>
            </a:r>
          </a:p>
        </p:txBody>
      </p:sp>
      <p:sp>
        <p:nvSpPr>
          <p:cNvPr id="22" name="">
            <a:extLst xmlns:a="http://schemas.openxmlformats.org/drawingml/2006/main">
              <a:ext uri="{FF2B5EF4-FFF2-40B4-BE49-F238E27FC236}">
                <a16:creationId xmlns:a16="http://schemas.microsoft.com/office/drawing/2014/main" id="{A605414B-BCE1-4734-913B-9FE303A918FD}"/>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37585AB-7646-4752-AC12-3A79CBA7A1BC}"/>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12763E22-D549-4C45-AAFB-3298F377F53B}"/>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분석원 수정</a:t>
            </a:r>
          </a:p>
        </p:txBody>
      </p:sp>
      <p:sp>
        <p:nvSpPr>
          <p:cNvPr id="25" name="">
            <a:extLst xmlns:a="http://schemas.openxmlformats.org/drawingml/2006/main">
              <a:ext uri="{FF2B5EF4-FFF2-40B4-BE49-F238E27FC236}">
                <a16:creationId xmlns:a16="http://schemas.microsoft.com/office/drawing/2014/main" id="{5E9AD1BA-DD14-41D5-9CF2-E6CB0369EDCB}"/>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E246A454-C84A-4437-9E08-88B0E75AB756}"/>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다른 사건의 혼합·번역 부정문 오류·분류 중복</a:t>
            </a:r>
          </a:p>
        </p:txBody>
      </p:sp>
      <p:sp>
        <p:nvSpPr>
          <p:cNvPr id="27" name="">
            <a:extLst xmlns:a="http://schemas.openxmlformats.org/drawingml/2006/main">
              <a:ext uri="{FF2B5EF4-FFF2-40B4-BE49-F238E27FC236}">
                <a16:creationId xmlns:a16="http://schemas.microsoft.com/office/drawing/2014/main" id="{88CF243C-F98B-4C90-917A-9A09894CBF5E}"/>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626537F8-D44C-4905-AEC5-79930DDA7987}"/>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원문 사건·시각·위험등급 대조</a:t>
            </a:r>
          </a:p>
        </p:txBody>
      </p:sp>
      <p:sp>
        <p:nvSpPr>
          <p:cNvPr id="29" name="">
            <a:extLst xmlns:a="http://schemas.openxmlformats.org/drawingml/2006/main">
              <a:ext uri="{FF2B5EF4-FFF2-40B4-BE49-F238E27FC236}">
                <a16:creationId xmlns:a16="http://schemas.microsoft.com/office/drawing/2014/main" id="{85E3ADC2-7F0F-4A16-BE26-BC9E01F4CBFA}"/>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8A97A3AB-E793-462F-A43C-B3288245BDB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분석원 수정과 분류 누락의 회귀 평가</a:t>
            </a:r>
          </a:p>
        </p:txBody>
      </p:sp>
      <p:sp>
        <p:nvSpPr>
          <p:cNvPr id="31" name="">
            <a:extLst xmlns:a="http://schemas.openxmlformats.org/drawingml/2006/main">
              <a:ext uri="{FF2B5EF4-FFF2-40B4-BE49-F238E27FC236}">
                <a16:creationId xmlns:a16="http://schemas.microsoft.com/office/drawing/2014/main" id="{A71FF214-35A3-4FA1-9980-0AC799730CC8}"/>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A2CBC27-04B5-4565-8A3B-758E8EC9D682}"/>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원문 구간과 번역·분류·분석원 수정 연결표</a:t>
            </a:r>
          </a:p>
        </p:txBody>
      </p:sp>
    </p:spTree>
    <p:extLst>
      <p:ext uri="{BB962C8B-B14F-4D97-AF65-F5344CB8AC3E}">
        <p14:creationId xmlns:p14="http://schemas.microsoft.com/office/powerpoint/2010/main" val="814827317"/>
      </p:ext>
    </p:extLst>
  </p:cSld>
</p:sld>
</file>

<file path=ppt/slides/slide9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9786BF6-52DC-4A22-BF70-44301BB1CC4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AX21 / CCK 비교·재현 시험 설계</a:t>
            </a:r>
          </a:p>
        </p:txBody>
      </p:sp>
      <p:sp>
        <p:nvSpPr>
          <p:cNvPr id="2" name="">
            <a:extLst xmlns:a="http://schemas.openxmlformats.org/drawingml/2006/main">
              <a:ext uri="{FF2B5EF4-FFF2-40B4-BE49-F238E27FC236}">
                <a16:creationId xmlns:a16="http://schemas.microsoft.com/office/drawing/2014/main" id="{71D3C15F-3C3D-438C-A252-A96CDF5E42D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항공안전 이슈 분석 AI PoC · 벤치마킹</a:t>
            </a:r>
          </a:p>
        </p:txBody>
      </p:sp>
      <p:sp>
        <p:nvSpPr>
          <p:cNvPr id="3" name="">
            <a:extLst xmlns:a="http://schemas.openxmlformats.org/drawingml/2006/main">
              <a:ext uri="{FF2B5EF4-FFF2-40B4-BE49-F238E27FC236}">
                <a16:creationId xmlns:a16="http://schemas.microsoft.com/office/drawing/2014/main" id="{5E841D72-087D-4F8C-A27D-407CAD83183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32244A9-9F8A-406E-8235-65A9993F8F7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84D7508-D089-4910-95F3-7D5C7412163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91</a:t>
            </a:r>
          </a:p>
        </p:txBody>
      </p:sp>
      <p:sp>
        <p:nvSpPr>
          <p:cNvPr id="6" name="">
            <a:extLst xmlns:a="http://schemas.openxmlformats.org/drawingml/2006/main">
              <a:ext uri="{FF2B5EF4-FFF2-40B4-BE49-F238E27FC236}">
                <a16:creationId xmlns:a16="http://schemas.microsoft.com/office/drawing/2014/main" id="{5C8C17C1-5DAA-46DE-8040-7000C58E7BD5}"/>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E9F2C285-AB86-4085-A07E-1B986BA65713}"/>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분류체계에 맞춘 번역·요약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 분석원의 재검토</a:t>
            </a:r>
          </a:p>
        </p:txBody>
      </p:sp>
      <p:sp>
        <p:nvSpPr>
          <p:cNvPr id="8" name="">
            <a:extLst xmlns:a="http://schemas.openxmlformats.org/drawingml/2006/main">
              <a:ext uri="{FF2B5EF4-FFF2-40B4-BE49-F238E27FC236}">
                <a16:creationId xmlns:a16="http://schemas.microsoft.com/office/drawing/2014/main" id="{E978FC58-E5B9-4C8E-997D-94D91E9999C8}"/>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3C1CDA92-2F20-4AB5-9D4C-54A7BE0A66F5}"/>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다국어 용어·위험 분류 오류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기사 요약에서 중요 사건 누락</a:t>
            </a:r>
          </a:p>
        </p:txBody>
      </p:sp>
      <p:sp>
        <p:nvSpPr>
          <p:cNvPr id="10" name="">
            <a:extLst xmlns:a="http://schemas.openxmlformats.org/drawingml/2006/main">
              <a:ext uri="{FF2B5EF4-FFF2-40B4-BE49-F238E27FC236}">
                <a16:creationId xmlns:a16="http://schemas.microsoft.com/office/drawing/2014/main" id="{A75A88B7-90B9-4A25-A765-B93AF2CA2219}"/>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A79E051D-A06E-431B-A1E9-8280E1FCD34F}"/>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원문 사건·시각·위험등급 대조</a:t>
            </a:r>
          </a:p>
        </p:txBody>
      </p:sp>
      <p:sp>
        <p:nvSpPr>
          <p:cNvPr id="12" name="">
            <a:extLst xmlns:a="http://schemas.openxmlformats.org/drawingml/2006/main">
              <a:ext uri="{FF2B5EF4-FFF2-40B4-BE49-F238E27FC236}">
                <a16:creationId xmlns:a16="http://schemas.microsoft.com/office/drawing/2014/main" id="{23F66BFA-E6E1-471C-BDF1-E33D8474A154}"/>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17FC5889-2015-4C31-A9CA-7D05D26A194E}"/>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기사의 사건·번역·분류 근거를 분석원이 검토</a:t>
            </a:r>
          </a:p>
        </p:txBody>
      </p:sp>
      <p:sp>
        <p:nvSpPr>
          <p:cNvPr id="14" name="">
            <a:extLst xmlns:a="http://schemas.openxmlformats.org/drawingml/2006/main">
              <a:ext uri="{FF2B5EF4-FFF2-40B4-BE49-F238E27FC236}">
                <a16:creationId xmlns:a16="http://schemas.microsoft.com/office/drawing/2014/main" id="{A2F5CBE8-C89D-4553-9B98-611DC3373C8E}"/>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FEC008AF-056B-4CB7-AFC0-57C30EA0C160}"/>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사건의 혼합·번역 부정문 오류·분류 중복</a:t>
            </a:r>
          </a:p>
        </p:txBody>
      </p:sp>
      <p:sp>
        <p:nvSpPr>
          <p:cNvPr id="16" name="">
            <a:extLst xmlns:a="http://schemas.openxmlformats.org/drawingml/2006/main">
              <a:ext uri="{FF2B5EF4-FFF2-40B4-BE49-F238E27FC236}">
                <a16:creationId xmlns:a16="http://schemas.microsoft.com/office/drawing/2014/main" id="{F6F163E2-BE61-41C7-9C57-73D1E4460C17}"/>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A474F409-C3DC-436A-9B25-FCFFB61D24DD}"/>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원문 구간과 번역·분류·분석원 수정 연결표</a:t>
            </a:r>
          </a:p>
        </p:txBody>
      </p:sp>
    </p:spTree>
    <p:extLst>
      <p:ext uri="{BB962C8B-B14F-4D97-AF65-F5344CB8AC3E}">
        <p14:creationId xmlns:p14="http://schemas.microsoft.com/office/powerpoint/2010/main" val="1431721703"/>
      </p:ext>
    </p:extLst>
  </p:cSld>
</p:sld>
</file>

<file path=ppt/slides/slide9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1208C5E-A706-4A90-A673-963D3A1CE13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AX22 / 시범 / 국내</a:t>
            </a:r>
          </a:p>
        </p:txBody>
      </p:sp>
      <p:sp>
        <p:nvSpPr>
          <p:cNvPr id="2" name="">
            <a:extLst xmlns:a="http://schemas.openxmlformats.org/drawingml/2006/main">
              <a:ext uri="{FF2B5EF4-FFF2-40B4-BE49-F238E27FC236}">
                <a16:creationId xmlns:a16="http://schemas.microsoft.com/office/drawing/2014/main" id="{71F60CFC-20EE-4E74-A070-7C39233DB1B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도시철도 교통안전 GPT</a:t>
            </a:r>
          </a:p>
        </p:txBody>
      </p:sp>
      <p:sp>
        <p:nvSpPr>
          <p:cNvPr id="3" name="">
            <a:extLst xmlns:a="http://schemas.openxmlformats.org/drawingml/2006/main">
              <a:ext uri="{FF2B5EF4-FFF2-40B4-BE49-F238E27FC236}">
                <a16:creationId xmlns:a16="http://schemas.microsoft.com/office/drawing/2014/main" id="{70FD191B-206B-49BF-A96D-165A1BBC299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E70AA71-9E06-49EF-9237-5043B65116C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DBA7EDC-B5BA-456B-BE5B-900ECFF40DE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92</a:t>
            </a:r>
          </a:p>
        </p:txBody>
      </p:sp>
      <p:sp>
        <p:nvSpPr>
          <p:cNvPr id="6" name="">
            <a:extLst xmlns:a="http://schemas.openxmlformats.org/drawingml/2006/main">
              <a:ext uri="{FF2B5EF4-FFF2-40B4-BE49-F238E27FC236}">
                <a16:creationId xmlns:a16="http://schemas.microsoft.com/office/drawing/2014/main" id="{58165AB9-480C-46CE-9B43-CBC5875AE2CC}"/>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6F4670D6-FF1A-4064-BC35-13821793F0B1}"/>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도시철도 안전 업무에서 법령·사규·매뉴얼을 함께 검색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하는 질의응답 사례. 자료가 여러 위치와 판본으로 존재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할 때 관련 조문을 찾는 작업의 지원.</a:t>
            </a:r>
          </a:p>
        </p:txBody>
      </p:sp>
      <p:sp>
        <p:nvSpPr>
          <p:cNvPr id="8" name="">
            <a:extLst xmlns:a="http://schemas.openxmlformats.org/drawingml/2006/main">
              <a:ext uri="{FF2B5EF4-FFF2-40B4-BE49-F238E27FC236}">
                <a16:creationId xmlns:a16="http://schemas.microsoft.com/office/drawing/2014/main" id="{E8C426CE-383F-483B-A8CB-6A618FF567EB}"/>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D9F1B107-12D1-4DB3-82C8-C170DE2B55A8}"/>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질의의 업무·설비·적용 시점을 바탕으로 유효 문서를 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색하고 조문 위치를 포함한 답변을 구성하는 재구성. 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장 담당자가 예외 조건과 시행일을 확인한 후 업무에 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고하는 흐름.</a:t>
            </a:r>
          </a:p>
        </p:txBody>
      </p:sp>
      <p:sp>
        <p:nvSpPr>
          <p:cNvPr id="10" name="">
            <a:extLst xmlns:a="http://schemas.openxmlformats.org/drawingml/2006/main">
              <a:ext uri="{FF2B5EF4-FFF2-40B4-BE49-F238E27FC236}">
                <a16:creationId xmlns:a16="http://schemas.microsoft.com/office/drawing/2014/main" id="{E21DC406-BDBD-4514-99C4-B94A2B67A7A9}"/>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90D968A6-96D7-4759-AB9B-0FA738764443}"/>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검색 답변과 안전 승인 권한을 분리하고 개정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전후 충돌 답변을 시험할 근거. 구판 회수, 조문 위치 일치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예외 조건 누락과 검토시간을 TS 부서별로 측정할 필요.</a:t>
            </a:r>
          </a:p>
        </p:txBody>
      </p:sp>
      <p:sp>
        <p:nvSpPr>
          <p:cNvPr id="12" name="">
            <a:extLst xmlns:a="http://schemas.openxmlformats.org/drawingml/2006/main">
              <a:ext uri="{FF2B5EF4-FFF2-40B4-BE49-F238E27FC236}">
                <a16:creationId xmlns:a16="http://schemas.microsoft.com/office/drawing/2014/main" id="{AFC7A051-C4E3-4B28-8F00-DA8C182B1CA5}"/>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775D7EC-32ED-42F6-AAAF-503B6F366420}"/>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규정 효력일·폐지 문서·업무별 평가셋</a:t>
            </a:r>
          </a:p>
        </p:txBody>
      </p:sp>
      <p:sp>
        <p:nvSpPr>
          <p:cNvPr id="14" name="">
            <a:extLst xmlns:a="http://schemas.openxmlformats.org/drawingml/2006/main">
              <a:ext uri="{FF2B5EF4-FFF2-40B4-BE49-F238E27FC236}">
                <a16:creationId xmlns:a16="http://schemas.microsoft.com/office/drawing/2014/main" id="{58DEC6BE-5AA1-4D5D-B507-CA057ABE37F5}"/>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7BF1CA57-B82B-4948-86D5-35D074ED3A70}"/>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질문의 개정 전후 근거·답변 일치 시험</a:t>
            </a:r>
          </a:p>
        </p:txBody>
      </p:sp>
      <p:sp>
        <p:nvSpPr>
          <p:cNvPr id="16" name="">
            <a:extLst xmlns:a="http://schemas.openxmlformats.org/drawingml/2006/main">
              <a:ext uri="{FF2B5EF4-FFF2-40B4-BE49-F238E27FC236}">
                <a16:creationId xmlns:a16="http://schemas.microsoft.com/office/drawing/2014/main" id="{CE521777-D45D-4057-9E12-249F14AEE46D}"/>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A6E6B7CF-17B2-4BF7-96C2-CE2CC40BB42E}"/>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근거 정확도 / 검토시간</a:t>
            </a:r>
          </a:p>
        </p:txBody>
      </p:sp>
      <p:sp>
        <p:nvSpPr>
          <p:cNvPr id="18" name="">
            <a:extLst xmlns:a="http://schemas.openxmlformats.org/drawingml/2006/main">
              <a:ext uri="{FF2B5EF4-FFF2-40B4-BE49-F238E27FC236}">
                <a16:creationId xmlns:a16="http://schemas.microsoft.com/office/drawing/2014/main" id="{58BCD1DA-966F-43F8-BCA6-F9D3E8EC9381}"/>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실증과 기대효과 소개 · 사고 예방의 인과성과 수치 미제시</a:t>
            </a:r>
          </a:p>
        </p:txBody>
      </p:sp>
    </p:spTree>
    <p:extLst>
      <p:ext uri="{BB962C8B-B14F-4D97-AF65-F5344CB8AC3E}">
        <p14:creationId xmlns:p14="http://schemas.microsoft.com/office/powerpoint/2010/main" val="12016330"/>
      </p:ext>
    </p:extLst>
  </p:cSld>
</p:sld>
</file>

<file path=ppt/slides/slide9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CA82E346-A813-4892-BECF-F24F6D51E5C0}"/>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E55ACD4A-27AE-4BB7-AE63-836B3EC43A0F}"/>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8E70D703-38E6-41A6-92AE-63FFDD073D30}"/>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6A2B2B76-8731-4AAD-A56F-31C0D0D61557}"/>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3C046C10-72B4-4DE3-9410-D31A2C0B5E27}"/>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D0368ECF-3537-4518-89F5-C193A3C05880}"/>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495CF29E-84E8-49BC-96DF-E8650DF129F3}"/>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3FA9A4DA-40AB-4ABE-9358-56787C5623B9}"/>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B5C6D545-1D53-43A2-9501-61156D7804E6}"/>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385F9113-F308-4F07-BB3A-CCF3EDFDC4C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AX22 / 지식 갱신·검색·근거 응답</a:t>
            </a:r>
          </a:p>
        </p:txBody>
      </p:sp>
      <p:sp>
        <p:nvSpPr>
          <p:cNvPr id="2" name="">
            <a:extLst xmlns:a="http://schemas.openxmlformats.org/drawingml/2006/main">
              <a:ext uri="{FF2B5EF4-FFF2-40B4-BE49-F238E27FC236}">
                <a16:creationId xmlns:a16="http://schemas.microsoft.com/office/drawing/2014/main" id="{02D87A1B-C5E3-4192-BCE0-1881CF5C2FD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도시철도 교통안전 GPT · 세부 서비스 구조</a:t>
            </a:r>
          </a:p>
        </p:txBody>
      </p:sp>
      <p:sp>
        <p:nvSpPr>
          <p:cNvPr id="3" name="">
            <a:extLst xmlns:a="http://schemas.openxmlformats.org/drawingml/2006/main">
              <a:ext uri="{FF2B5EF4-FFF2-40B4-BE49-F238E27FC236}">
                <a16:creationId xmlns:a16="http://schemas.microsoft.com/office/drawing/2014/main" id="{42F7DA92-C980-4FA0-9D50-A36EB9B69C2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190E15C-0686-451F-B15B-8DE610587B0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362F588-6E55-490A-AE86-C67383B7058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93</a:t>
            </a:r>
          </a:p>
        </p:txBody>
      </p:sp>
      <p:sp>
        <p:nvSpPr>
          <p:cNvPr id="6" name="">
            <a:extLst xmlns:a="http://schemas.openxmlformats.org/drawingml/2006/main">
              <a:ext uri="{FF2B5EF4-FFF2-40B4-BE49-F238E27FC236}">
                <a16:creationId xmlns:a16="http://schemas.microsoft.com/office/drawing/2014/main" id="{EFF20061-2F5D-40D9-A5AE-6782DC2CAA5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법령·사규·매뉴얼 → 전처리·검색 → 안전 Q&amp;A → 안전 담당 검토</a:t>
            </a:r>
          </a:p>
        </p:txBody>
      </p:sp>
      <p:sp>
        <p:nvSpPr>
          <p:cNvPr id="7" name="">
            <a:extLst xmlns:a="http://schemas.openxmlformats.org/drawingml/2006/main">
              <a:ext uri="{FF2B5EF4-FFF2-40B4-BE49-F238E27FC236}">
                <a16:creationId xmlns:a16="http://schemas.microsoft.com/office/drawing/2014/main" id="{50613D1F-52A5-4544-AE5C-EC12E1CCDF47}"/>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7EABB125-9301-4845-860E-7046655F2784}"/>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7F2CA1F5-D058-4B9A-B0FB-8976473D3F88}"/>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법령·사규·매뉴얼</a:t>
            </a:r>
          </a:p>
        </p:txBody>
      </p:sp>
      <p:sp>
        <p:nvSpPr>
          <p:cNvPr id="10" name="">
            <a:extLst xmlns:a="http://schemas.openxmlformats.org/drawingml/2006/main">
              <a:ext uri="{FF2B5EF4-FFF2-40B4-BE49-F238E27FC236}">
                <a16:creationId xmlns:a16="http://schemas.microsoft.com/office/drawing/2014/main" id="{47E415E5-1ED1-48B2-9E7A-66C05129EC60}"/>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7D8A171F-89B7-4C14-929F-1F8BBAB23BE7}"/>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A2C3C3C6-9EFD-4715-9237-CD57D137FA82}"/>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조문·개정일 색인</a:t>
            </a:r>
          </a:p>
        </p:txBody>
      </p:sp>
      <p:sp>
        <p:nvSpPr>
          <p:cNvPr id="13" name="">
            <a:extLst xmlns:a="http://schemas.openxmlformats.org/drawingml/2006/main">
              <a:ext uri="{FF2B5EF4-FFF2-40B4-BE49-F238E27FC236}">
                <a16:creationId xmlns:a16="http://schemas.microsoft.com/office/drawing/2014/main" id="{AECF1041-AF4E-44F9-8944-F40970DE9D38}"/>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7E011A9E-5508-4DEC-A0EB-E018A77860F1}"/>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5E053488-1476-4149-A61B-AF5420DEF52F}"/>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유효 문서·답변</a:t>
            </a:r>
          </a:p>
        </p:txBody>
      </p:sp>
      <p:sp>
        <p:nvSpPr>
          <p:cNvPr id="16" name="">
            <a:extLst xmlns:a="http://schemas.openxmlformats.org/drawingml/2006/main">
              <a:ext uri="{FF2B5EF4-FFF2-40B4-BE49-F238E27FC236}">
                <a16:creationId xmlns:a16="http://schemas.microsoft.com/office/drawing/2014/main" id="{FC6265CC-BB4B-43BE-A9BA-D77BECC4C672}"/>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D7B9AAFA-A92D-4F8C-9932-AEF3A071421E}"/>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1800F971-8592-4AD2-95D7-0EA8842F00CA}"/>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유효 조문 검색</a:t>
            </a:r>
          </a:p>
        </p:txBody>
      </p:sp>
      <p:sp>
        <p:nvSpPr>
          <p:cNvPr id="19" name="">
            <a:extLst xmlns:a="http://schemas.openxmlformats.org/drawingml/2006/main">
              <a:ext uri="{FF2B5EF4-FFF2-40B4-BE49-F238E27FC236}">
                <a16:creationId xmlns:a16="http://schemas.microsoft.com/office/drawing/2014/main" id="{92908937-D634-4310-89F1-49DB696FAFB5}"/>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38FE3F79-B2B9-4394-810E-023CDFE4335A}"/>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60FDDF60-0139-4F76-BCAF-DD71C956389F}"/>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안전업무 질의</a:t>
            </a:r>
          </a:p>
        </p:txBody>
      </p:sp>
      <p:sp>
        <p:nvSpPr>
          <p:cNvPr id="22" name="">
            <a:extLst xmlns:a="http://schemas.openxmlformats.org/drawingml/2006/main">
              <a:ext uri="{FF2B5EF4-FFF2-40B4-BE49-F238E27FC236}">
                <a16:creationId xmlns:a16="http://schemas.microsoft.com/office/drawing/2014/main" id="{DA06DEB6-2B10-4E66-8688-4984F4BDEF27}"/>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07FC0626-EA7F-4D1F-A7E4-2A7CD17D0314}"/>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6A947037-EDFF-40A7-8E97-43792D422A66}"/>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설비·적용시점</a:t>
            </a:r>
          </a:p>
        </p:txBody>
      </p:sp>
      <p:sp>
        <p:nvSpPr>
          <p:cNvPr id="25" name="">
            <a:extLst xmlns:a="http://schemas.openxmlformats.org/drawingml/2006/main">
              <a:ext uri="{FF2B5EF4-FFF2-40B4-BE49-F238E27FC236}">
                <a16:creationId xmlns:a16="http://schemas.microsoft.com/office/drawing/2014/main" id="{FCC475B4-A95E-43D8-81BD-7C16818D22B3}"/>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B034A4F9-2D57-4B39-88C9-702FFCF6A908}"/>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AEDB5F57-CB58-44C8-BE76-19042EBE3C37}"/>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 답변 생성</a:t>
            </a:r>
          </a:p>
        </p:txBody>
      </p:sp>
      <p:sp>
        <p:nvSpPr>
          <p:cNvPr id="28" name="">
            <a:extLst xmlns:a="http://schemas.openxmlformats.org/drawingml/2006/main">
              <a:ext uri="{FF2B5EF4-FFF2-40B4-BE49-F238E27FC236}">
                <a16:creationId xmlns:a16="http://schemas.microsoft.com/office/drawing/2014/main" id="{7252D5BA-F9C5-4BF0-A905-F03CCDBFBCA3}"/>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5CF0EE0D-8939-42C9-BC04-9613841ED85D}"/>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99F4BFB6-07C3-4699-BAAE-BBFE79D4760B}"/>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시행일·예외 대조</a:t>
            </a:r>
          </a:p>
        </p:txBody>
      </p:sp>
      <p:sp>
        <p:nvSpPr>
          <p:cNvPr id="31" name="">
            <a:extLst xmlns:a="http://schemas.openxmlformats.org/drawingml/2006/main">
              <a:ext uri="{FF2B5EF4-FFF2-40B4-BE49-F238E27FC236}">
                <a16:creationId xmlns:a16="http://schemas.microsoft.com/office/drawing/2014/main" id="{9B440ADB-4950-430B-9886-864489C35199}"/>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24E7976A-A757-4A28-8AB2-90B7485483EE}"/>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06947BB6-E9D5-40DE-947A-FB91D1E68F47}"/>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현장 담당 검토</a:t>
            </a:r>
          </a:p>
        </p:txBody>
      </p:sp>
      <p:sp>
        <p:nvSpPr>
          <p:cNvPr id="34" name="">
            <a:extLst xmlns:a="http://schemas.openxmlformats.org/drawingml/2006/main">
              <a:ext uri="{FF2B5EF4-FFF2-40B4-BE49-F238E27FC236}">
                <a16:creationId xmlns:a16="http://schemas.microsoft.com/office/drawing/2014/main" id="{F60A8CF6-84DA-4E44-ACE6-FB5511BFF85C}"/>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67DCEF7D-D7BB-47BB-8B73-44A93FF1C3ED}"/>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2AE3EFD7-E354-43A3-BADE-62AA8CF073FA}"/>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안전업무 참고</a:t>
            </a:r>
          </a:p>
        </p:txBody>
      </p:sp>
      <p:sp>
        <p:nvSpPr>
          <p:cNvPr id="46" name="">
            <a:extLst xmlns:a="http://schemas.openxmlformats.org/drawingml/2006/main">
              <a:ext uri="{FF2B5EF4-FFF2-40B4-BE49-F238E27FC236}">
                <a16:creationId xmlns:a16="http://schemas.microsoft.com/office/drawing/2014/main" id="{422CB458-30AF-4214-8CD3-EB4E157AE806}"/>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78899594"/>
      </p:ext>
    </p:extLst>
  </p:cSld>
</p:sld>
</file>

<file path=ppt/slides/slide9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C72C5CB-8933-471D-8440-7CBD2AE80DD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AX22 / 논리 인터페이스·복구 설계</a:t>
            </a:r>
          </a:p>
        </p:txBody>
      </p:sp>
      <p:sp>
        <p:nvSpPr>
          <p:cNvPr id="2" name="">
            <a:extLst xmlns:a="http://schemas.openxmlformats.org/drawingml/2006/main">
              <a:ext uri="{FF2B5EF4-FFF2-40B4-BE49-F238E27FC236}">
                <a16:creationId xmlns:a16="http://schemas.microsoft.com/office/drawing/2014/main" id="{D7F4C521-D752-4745-AA98-9643DDA094C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도시철도 교통안전 GPT · 데이터와 예외 처리</a:t>
            </a:r>
          </a:p>
        </p:txBody>
      </p:sp>
      <p:sp>
        <p:nvSpPr>
          <p:cNvPr id="3" name="">
            <a:extLst xmlns:a="http://schemas.openxmlformats.org/drawingml/2006/main">
              <a:ext uri="{FF2B5EF4-FFF2-40B4-BE49-F238E27FC236}">
                <a16:creationId xmlns:a16="http://schemas.microsoft.com/office/drawing/2014/main" id="{AF87C5D6-7493-428B-9644-78E22FEF3AF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422828B-DA54-4EED-8127-17BE790F710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F4B67D9-FCBA-4D2D-A468-CF084208321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94</a:t>
            </a:r>
          </a:p>
        </p:txBody>
      </p:sp>
      <p:sp>
        <p:nvSpPr>
          <p:cNvPr id="6" name="">
            <a:extLst xmlns:a="http://schemas.openxmlformats.org/drawingml/2006/main">
              <a:ext uri="{FF2B5EF4-FFF2-40B4-BE49-F238E27FC236}">
                <a16:creationId xmlns:a16="http://schemas.microsoft.com/office/drawing/2014/main" id="{B6B0D0EB-0AD0-4BDF-AB6B-0A38E38EECE2}"/>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4B26289E-BEBD-4F7D-A3A4-8C65A785D686}"/>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8C09CD20-605B-40FC-915B-E68A557EB0C9}"/>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D790410F-6714-4D18-B44E-6A392C3E7A70}"/>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안전 규정·매뉴얼</a:t>
            </a:r>
          </a:p>
        </p:txBody>
      </p:sp>
      <p:sp>
        <p:nvSpPr>
          <p:cNvPr id="10" name="">
            <a:extLst xmlns:a="http://schemas.openxmlformats.org/drawingml/2006/main">
              <a:ext uri="{FF2B5EF4-FFF2-40B4-BE49-F238E27FC236}">
                <a16:creationId xmlns:a16="http://schemas.microsoft.com/office/drawing/2014/main" id="{3FE535FE-4BA2-497E-B18E-0CF88EB81F1E}"/>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D0DA016-E412-4764-8004-3646A257BD2F}"/>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CE48F70A-0BFD-42B1-95C5-C396E1FB7FD4}"/>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8E9093F9-8975-4B7C-AFFA-9DD5C7878377}"/>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DF58FE7-F026-49B2-A2FA-55C39ED0DBF7}"/>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D2660505-CCA0-45E4-95EC-D50882135C45}"/>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업무·설비·적용 시점 확인</a:t>
            </a:r>
          </a:p>
        </p:txBody>
      </p:sp>
      <p:sp>
        <p:nvSpPr>
          <p:cNvPr id="16" name="">
            <a:extLst xmlns:a="http://schemas.openxmlformats.org/drawingml/2006/main">
              <a:ext uri="{FF2B5EF4-FFF2-40B4-BE49-F238E27FC236}">
                <a16:creationId xmlns:a16="http://schemas.microsoft.com/office/drawing/2014/main" id="{10264DA9-2DAC-4E1B-AF08-4C62BD7369DB}"/>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95BC999-1DA1-468E-8DCF-99EAF73A2AC7}"/>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CC60F131-004E-4A93-8F1E-1520160C88F0}"/>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판본·조문 정답표와 충돌 경고·응답 보류 결</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과</a:t>
            </a:r>
          </a:p>
        </p:txBody>
      </p:sp>
      <p:sp>
        <p:nvSpPr>
          <p:cNvPr id="19" name="">
            <a:extLst xmlns:a="http://schemas.openxmlformats.org/drawingml/2006/main">
              <a:ext uri="{FF2B5EF4-FFF2-40B4-BE49-F238E27FC236}">
                <a16:creationId xmlns:a16="http://schemas.microsoft.com/office/drawing/2014/main" id="{DFD934DD-AAF1-444C-8925-6BB36292E9B8}"/>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80F8BB6-769B-4845-93C9-06BA6E513CC7}"/>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D66CA42B-33A0-4CF5-8187-F73302B907BB}"/>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관련 조문</a:t>
            </a:r>
          </a:p>
        </p:txBody>
      </p:sp>
      <p:sp>
        <p:nvSpPr>
          <p:cNvPr id="22" name="">
            <a:extLst xmlns:a="http://schemas.openxmlformats.org/drawingml/2006/main">
              <a:ext uri="{FF2B5EF4-FFF2-40B4-BE49-F238E27FC236}">
                <a16:creationId xmlns:a16="http://schemas.microsoft.com/office/drawing/2014/main" id="{60976641-0B65-4FD8-8D82-E98830FE09A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95655AB-F74B-4036-A9F9-A2821A989836}"/>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ABFC87D1-2738-430F-B618-4BA7ECA1E7C9}"/>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근거 답변</a:t>
            </a:r>
          </a:p>
        </p:txBody>
      </p:sp>
      <p:sp>
        <p:nvSpPr>
          <p:cNvPr id="25" name="">
            <a:extLst xmlns:a="http://schemas.openxmlformats.org/drawingml/2006/main">
              <a:ext uri="{FF2B5EF4-FFF2-40B4-BE49-F238E27FC236}">
                <a16:creationId xmlns:a16="http://schemas.microsoft.com/office/drawing/2014/main" id="{B63E6D03-5C15-4505-B034-248340E27B04}"/>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AFD0603F-B969-409F-8608-B01EFCAB1F35}"/>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폐지 규정·상위 법령과 사규 충돌·근거 부재</a:t>
            </a:r>
          </a:p>
        </p:txBody>
      </p:sp>
      <p:sp>
        <p:nvSpPr>
          <p:cNvPr id="27" name="">
            <a:extLst xmlns:a="http://schemas.openxmlformats.org/drawingml/2006/main">
              <a:ext uri="{FF2B5EF4-FFF2-40B4-BE49-F238E27FC236}">
                <a16:creationId xmlns:a16="http://schemas.microsoft.com/office/drawing/2014/main" id="{169ED1C9-774E-4C9A-A1C9-768011BBDA22}"/>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4C51C37F-61CB-4C5E-A137-575A93998F81}"/>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시행일·조문 위치·예외 조건 검증</a:t>
            </a:r>
          </a:p>
        </p:txBody>
      </p:sp>
      <p:sp>
        <p:nvSpPr>
          <p:cNvPr id="29" name="">
            <a:extLst xmlns:a="http://schemas.openxmlformats.org/drawingml/2006/main">
              <a:ext uri="{FF2B5EF4-FFF2-40B4-BE49-F238E27FC236}">
                <a16:creationId xmlns:a16="http://schemas.microsoft.com/office/drawing/2014/main" id="{2A76C9E1-F6B8-4209-81BB-60ABCA9C826B}"/>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216A80E8-43AB-4E36-A14B-F69CD011E6B1}"/>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개정 후 구버전 인용과 충돌 답변 시험</a:t>
            </a:r>
          </a:p>
        </p:txBody>
      </p:sp>
      <p:sp>
        <p:nvSpPr>
          <p:cNvPr id="31" name="">
            <a:extLst xmlns:a="http://schemas.openxmlformats.org/drawingml/2006/main">
              <a:ext uri="{FF2B5EF4-FFF2-40B4-BE49-F238E27FC236}">
                <a16:creationId xmlns:a16="http://schemas.microsoft.com/office/drawing/2014/main" id="{345451B2-C46F-4777-A2E0-037133E0CB95}"/>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A6FCE8BF-6EA5-43C8-AEEE-121DCB036270}"/>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판본·조문 정답표와 충돌 경고·응답 보류 결과</a:t>
            </a:r>
          </a:p>
        </p:txBody>
      </p:sp>
    </p:spTree>
    <p:extLst>
      <p:ext uri="{BB962C8B-B14F-4D97-AF65-F5344CB8AC3E}">
        <p14:creationId xmlns:p14="http://schemas.microsoft.com/office/powerpoint/2010/main" val="1417809032"/>
      </p:ext>
    </p:extLst>
  </p:cSld>
</p:sld>
</file>

<file path=ppt/slides/slide9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ED44417-8DAD-4320-8BB8-F1DC298ACFF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AX22 / CCK 비교·재현 시험 설계</a:t>
            </a:r>
          </a:p>
        </p:txBody>
      </p:sp>
      <p:sp>
        <p:nvSpPr>
          <p:cNvPr id="2" name="">
            <a:extLst xmlns:a="http://schemas.openxmlformats.org/drawingml/2006/main">
              <a:ext uri="{FF2B5EF4-FFF2-40B4-BE49-F238E27FC236}">
                <a16:creationId xmlns:a16="http://schemas.microsoft.com/office/drawing/2014/main" id="{06D0C40F-FEE5-4616-8AD1-D40F2A0A3C6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도시철도 교통안전 GPT · 벤치마킹</a:t>
            </a:r>
          </a:p>
        </p:txBody>
      </p:sp>
      <p:sp>
        <p:nvSpPr>
          <p:cNvPr id="3" name="">
            <a:extLst xmlns:a="http://schemas.openxmlformats.org/drawingml/2006/main">
              <a:ext uri="{FF2B5EF4-FFF2-40B4-BE49-F238E27FC236}">
                <a16:creationId xmlns:a16="http://schemas.microsoft.com/office/drawing/2014/main" id="{1F9DF0F0-4270-4C55-84FC-68E9DEBCFD4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6DA1D47-8ED1-47B1-B78F-BA658CF63CF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87E7365-C596-4644-99C3-C3BA65769BE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95</a:t>
            </a:r>
          </a:p>
        </p:txBody>
      </p:sp>
      <p:sp>
        <p:nvSpPr>
          <p:cNvPr id="6" name="">
            <a:extLst xmlns:a="http://schemas.openxmlformats.org/drawingml/2006/main">
              <a:ext uri="{FF2B5EF4-FFF2-40B4-BE49-F238E27FC236}">
                <a16:creationId xmlns:a16="http://schemas.microsoft.com/office/drawing/2014/main" id="{9D7EDA67-FD6B-4D63-970B-57350192FF3E}"/>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23240CD9-1A3F-4E72-893F-9C697A2D962F}"/>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법령·사규·매뉴얼의 통합 검색</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 담당자의 근거 검토</a:t>
            </a:r>
          </a:p>
        </p:txBody>
      </p:sp>
      <p:sp>
        <p:nvSpPr>
          <p:cNvPr id="8" name="">
            <a:extLst xmlns:a="http://schemas.openxmlformats.org/drawingml/2006/main">
              <a:ext uri="{FF2B5EF4-FFF2-40B4-BE49-F238E27FC236}">
                <a16:creationId xmlns:a16="http://schemas.microsoft.com/office/drawing/2014/main" id="{BEFF0E07-148E-4237-822B-2DD2E7F44BB3}"/>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1C65C261-3EFE-4172-ADEC-59D2A3198E18}"/>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폐지·개정 전 문서 인용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질의응답을 안전 승인으로 오인</a:t>
            </a:r>
          </a:p>
        </p:txBody>
      </p:sp>
      <p:sp>
        <p:nvSpPr>
          <p:cNvPr id="10" name="">
            <a:extLst xmlns:a="http://schemas.openxmlformats.org/drawingml/2006/main">
              <a:ext uri="{FF2B5EF4-FFF2-40B4-BE49-F238E27FC236}">
                <a16:creationId xmlns:a16="http://schemas.microsoft.com/office/drawing/2014/main" id="{82B9DFA7-5AB9-4611-83A5-4E685AAAAF3D}"/>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B3E85972-2A32-4C41-9D39-6E5E6CB183EC}"/>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시행일·조문 위치·예외 조건 검증</a:t>
            </a:r>
          </a:p>
        </p:txBody>
      </p:sp>
      <p:sp>
        <p:nvSpPr>
          <p:cNvPr id="12" name="">
            <a:extLst xmlns:a="http://schemas.openxmlformats.org/drawingml/2006/main">
              <a:ext uri="{FF2B5EF4-FFF2-40B4-BE49-F238E27FC236}">
                <a16:creationId xmlns:a16="http://schemas.microsoft.com/office/drawing/2014/main" id="{A94AA96B-3A7C-43BE-8517-4F19CFDD468A}"/>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0D2D154-04F6-490C-AE69-B97AC065D1CE}"/>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현장 질문에 적용 시점의 안전 규정과 조문 제공</a:t>
            </a:r>
          </a:p>
        </p:txBody>
      </p:sp>
      <p:sp>
        <p:nvSpPr>
          <p:cNvPr id="14" name="">
            <a:extLst xmlns:a="http://schemas.openxmlformats.org/drawingml/2006/main">
              <a:ext uri="{FF2B5EF4-FFF2-40B4-BE49-F238E27FC236}">
                <a16:creationId xmlns:a16="http://schemas.microsoft.com/office/drawing/2014/main" id="{0A789A15-171A-43D0-9EE5-E0F013D31A1A}"/>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B1E2DA9F-8449-4629-A267-5EE32093A492}"/>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폐지 규정·상위 법령과 사규 충돌·근거 부재</a:t>
            </a:r>
          </a:p>
        </p:txBody>
      </p:sp>
      <p:sp>
        <p:nvSpPr>
          <p:cNvPr id="16" name="">
            <a:extLst xmlns:a="http://schemas.openxmlformats.org/drawingml/2006/main">
              <a:ext uri="{FF2B5EF4-FFF2-40B4-BE49-F238E27FC236}">
                <a16:creationId xmlns:a16="http://schemas.microsoft.com/office/drawing/2014/main" id="{24B25F42-C375-4896-9A9E-DDCF250E08B2}"/>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D8896E95-50EF-4F4E-B945-F9ADFD2598B5}"/>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판본·조문 정답표와 충돌 경고·응답 보류 결과</a:t>
            </a:r>
          </a:p>
        </p:txBody>
      </p:sp>
    </p:spTree>
    <p:extLst>
      <p:ext uri="{BB962C8B-B14F-4D97-AF65-F5344CB8AC3E}">
        <p14:creationId xmlns:p14="http://schemas.microsoft.com/office/powerpoint/2010/main" val="1225955865"/>
      </p:ext>
    </p:extLst>
  </p:cSld>
</p:sld>
</file>

<file path=ppt/slides/slide9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057A365-F9E1-4A12-9EFB-5AECC110CAB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AX23 / 시범 / 국내</a:t>
            </a:r>
          </a:p>
        </p:txBody>
      </p:sp>
      <p:sp>
        <p:nvSpPr>
          <p:cNvPr id="2" name="">
            <a:extLst xmlns:a="http://schemas.openxmlformats.org/drawingml/2006/main">
              <a:ext uri="{FF2B5EF4-FFF2-40B4-BE49-F238E27FC236}">
                <a16:creationId xmlns:a16="http://schemas.microsoft.com/office/drawing/2014/main" id="{30E80ADF-DFD1-49CB-A8C7-B90B3FC0919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경찰 AI 교통안전 시스템</a:t>
            </a:r>
          </a:p>
        </p:txBody>
      </p:sp>
      <p:sp>
        <p:nvSpPr>
          <p:cNvPr id="3" name="">
            <a:extLst xmlns:a="http://schemas.openxmlformats.org/drawingml/2006/main">
              <a:ext uri="{FF2B5EF4-FFF2-40B4-BE49-F238E27FC236}">
                <a16:creationId xmlns:a16="http://schemas.microsoft.com/office/drawing/2014/main" id="{B83FC035-B4B4-4F6C-B2AD-52414B100D3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E69CE9A-4EA3-485E-9C24-9FA2B50574B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A4E4982-D1C9-4500-B3C6-6108E81F336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96</a:t>
            </a:r>
          </a:p>
        </p:txBody>
      </p:sp>
      <p:sp>
        <p:nvSpPr>
          <p:cNvPr id="6" name="">
            <a:extLst xmlns:a="http://schemas.openxmlformats.org/drawingml/2006/main">
              <a:ext uri="{FF2B5EF4-FFF2-40B4-BE49-F238E27FC236}">
                <a16:creationId xmlns:a16="http://schemas.microsoft.com/office/drawing/2014/main" id="{98E759D8-1019-4B58-8C97-A07CEDED9AEA}"/>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7DD4C1AB-0AB1-4BAE-A699-F0E8F1D268E8}"/>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사고·단속·시설·기상·교통량을 결합해 지역별 교통 위험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분석하는 사례. 다양한 원천의 시간·공간 단위를 맞추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고 현장 실증으로 예측을 평가하는 유형.</a:t>
            </a:r>
          </a:p>
        </p:txBody>
      </p:sp>
      <p:sp>
        <p:nvSpPr>
          <p:cNvPr id="8" name="">
            <a:extLst xmlns:a="http://schemas.openxmlformats.org/drawingml/2006/main">
              <a:ext uri="{FF2B5EF4-FFF2-40B4-BE49-F238E27FC236}">
                <a16:creationId xmlns:a16="http://schemas.microsoft.com/office/drawing/2014/main" id="{55662D4C-B68F-4C96-A950-64CFD7B9354B}"/>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7379EAB5-FAFF-438A-80F4-EB117541239A}"/>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자료를 정합화하고 결측·표본 편차를 검사한 뒤 학</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습·평가 특징을 구성하는 재구성. 위험 순위는 단속·시설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개선 담당자의 검토 자료로 전달하고 실제 개입 결과를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별도 기록.</a:t>
            </a:r>
          </a:p>
        </p:txBody>
      </p:sp>
      <p:sp>
        <p:nvSpPr>
          <p:cNvPr id="10" name="">
            <a:extLst xmlns:a="http://schemas.openxmlformats.org/drawingml/2006/main">
              <a:ext uri="{FF2B5EF4-FFF2-40B4-BE49-F238E27FC236}">
                <a16:creationId xmlns:a16="http://schemas.microsoft.com/office/drawing/2014/main" id="{5C453D4E-6527-4B8F-9E09-E424F632028D}"/>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9E75E793-AFE1-4516-B810-94D0621D92A6}"/>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 비교에서는 시간·지역 분리 평가로 데이터 누수를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막고 희귀 사고의 미탐을 별도로 확인. 예측 성능과 개입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후 사고 변화의 인과효과를 구분하고 관할 부서별 조치 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력을 연결할 필요.</a:t>
            </a:r>
          </a:p>
        </p:txBody>
      </p:sp>
      <p:sp>
        <p:nvSpPr>
          <p:cNvPr id="12" name="">
            <a:extLst xmlns:a="http://schemas.openxmlformats.org/drawingml/2006/main">
              <a:ext uri="{FF2B5EF4-FFF2-40B4-BE49-F238E27FC236}">
                <a16:creationId xmlns:a16="http://schemas.microsoft.com/office/drawing/2014/main" id="{9DA04688-AD0E-4903-AD7A-C8D98552A700}"/>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854C6F87-E841-4671-8589-9585D812DBAC}"/>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지역·도로·시점 정규화 및 개선 이력 연결</a:t>
            </a:r>
          </a:p>
        </p:txBody>
      </p:sp>
      <p:sp>
        <p:nvSpPr>
          <p:cNvPr id="14" name="">
            <a:extLst xmlns:a="http://schemas.openxmlformats.org/drawingml/2006/main">
              <a:ext uri="{FF2B5EF4-FFF2-40B4-BE49-F238E27FC236}">
                <a16:creationId xmlns:a16="http://schemas.microsoft.com/office/drawing/2014/main" id="{BA28FB82-EF85-46B9-964A-05269A3B02A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12714BF8-1AA8-4CAC-A5CA-31DC2621C6DE}"/>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시간·지역 분리 검증과 데이터 누락 시험</a:t>
            </a:r>
          </a:p>
        </p:txBody>
      </p:sp>
      <p:sp>
        <p:nvSpPr>
          <p:cNvPr id="16" name="">
            <a:extLst xmlns:a="http://schemas.openxmlformats.org/drawingml/2006/main">
              <a:ext uri="{FF2B5EF4-FFF2-40B4-BE49-F238E27FC236}">
                <a16:creationId xmlns:a16="http://schemas.microsoft.com/office/drawing/2014/main" id="{9911CED0-D723-4F47-91F9-A49CDC880E32}"/>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12CC2D27-230D-48DE-B1E9-3785BC8BB6F2}"/>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위험 탐지율 / 예방 조치 이행률</a:t>
            </a:r>
          </a:p>
        </p:txBody>
      </p:sp>
      <p:sp>
        <p:nvSpPr>
          <p:cNvPr id="18" name="">
            <a:extLst xmlns:a="http://schemas.openxmlformats.org/drawingml/2006/main">
              <a:ext uri="{FF2B5EF4-FFF2-40B4-BE49-F238E27FC236}">
                <a16:creationId xmlns:a16="http://schemas.microsoft.com/office/drawing/2014/main" id="{581F4575-F14E-46E4-A303-2E7BDDFCF875}"/>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지역 실증 범위 · 전국 사고 감소 성과로 확대 불가</a:t>
            </a:r>
          </a:p>
        </p:txBody>
      </p:sp>
    </p:spTree>
    <p:extLst>
      <p:ext uri="{BB962C8B-B14F-4D97-AF65-F5344CB8AC3E}">
        <p14:creationId xmlns:p14="http://schemas.microsoft.com/office/powerpoint/2010/main" val="1566176128"/>
      </p:ext>
    </p:extLst>
  </p:cSld>
</p:sld>
</file>

<file path=ppt/slides/slide9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38" name="">
            <a:extLst xmlns:a="http://schemas.openxmlformats.org/drawingml/2006/main">
              <a:ext uri="{FF2B5EF4-FFF2-40B4-BE49-F238E27FC236}">
                <a16:creationId xmlns:a16="http://schemas.microsoft.com/office/drawing/2014/main" id="{2E7F5C45-6D69-4844-A402-5EA684D55429}"/>
              </a:ext>
            </a:extLst>
          </p:cNvPr>
          <p:cNvCxnSpPr>
            <a:stCxn xmlns:a="http://schemas.openxmlformats.org/drawingml/2006/main" id="28" idx="0"/>
            <a:endCxn xmlns:a="http://schemas.openxmlformats.org/drawingml/2006/main" id="13" idx="2"/>
          </p:cNvCxnSpPr>
          <p:nvPr/>
        </p:nvCxnSpPr>
        <p:spPr>
          <a:xfrm xmlns:a="http://schemas.openxmlformats.org/drawingml/2006/main" flipV="1">
            <a:off x="10620375" y="2905125"/>
            <a:ext cx="0" cy="13716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37" name="">
            <a:extLst xmlns:a="http://schemas.openxmlformats.org/drawingml/2006/main">
              <a:ext uri="{FF2B5EF4-FFF2-40B4-BE49-F238E27FC236}">
                <a16:creationId xmlns:a16="http://schemas.microsoft.com/office/drawing/2014/main" id="{6A479F45-568F-4A6D-A728-C5688E313BC5}"/>
              </a:ext>
            </a:extLst>
          </p:cNvPr>
          <p:cNvCxnSpPr>
            <a:stCxn xmlns:a="http://schemas.openxmlformats.org/drawingml/2006/main" id="25" idx="3"/>
            <a:endCxn xmlns:a="http://schemas.openxmlformats.org/drawingml/2006/main" id="28" idx="1"/>
          </p:cNvCxnSpPr>
          <p:nvPr/>
        </p:nvCxnSpPr>
        <p:spPr>
          <a:xfrm xmlns:a="http://schemas.openxmlformats.org/drawingml/2006/main">
            <a:off x="9358313" y="48291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6" name="">
            <a:extLst xmlns:a="http://schemas.openxmlformats.org/drawingml/2006/main">
              <a:ext uri="{FF2B5EF4-FFF2-40B4-BE49-F238E27FC236}">
                <a16:creationId xmlns:a16="http://schemas.microsoft.com/office/drawing/2014/main" id="{C9DD3030-51B5-4A21-9739-6779F5940871}"/>
              </a:ext>
            </a:extLst>
          </p:cNvPr>
          <p:cNvCxnSpPr>
            <a:stCxn xmlns:a="http://schemas.openxmlformats.org/drawingml/2006/main" id="22" idx="3"/>
            <a:endCxn xmlns:a="http://schemas.openxmlformats.org/drawingml/2006/main" id="25" idx="1"/>
          </p:cNvCxnSpPr>
          <p:nvPr/>
        </p:nvCxnSpPr>
        <p:spPr>
          <a:xfrm xmlns:a="http://schemas.openxmlformats.org/drawingml/2006/main">
            <a:off x="7096125"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5" name="">
            <a:extLst xmlns:a="http://schemas.openxmlformats.org/drawingml/2006/main">
              <a:ext uri="{FF2B5EF4-FFF2-40B4-BE49-F238E27FC236}">
                <a16:creationId xmlns:a16="http://schemas.microsoft.com/office/drawing/2014/main" id="{6279AF0C-4D29-480C-929D-B9D1A142A660}"/>
              </a:ext>
            </a:extLst>
          </p:cNvPr>
          <p:cNvCxnSpPr>
            <a:stCxn xmlns:a="http://schemas.openxmlformats.org/drawingml/2006/main" id="19" idx="3"/>
            <a:endCxn xmlns:a="http://schemas.openxmlformats.org/drawingml/2006/main" id="22" idx="1"/>
          </p:cNvCxnSpPr>
          <p:nvPr/>
        </p:nvCxnSpPr>
        <p:spPr>
          <a:xfrm xmlns:a="http://schemas.openxmlformats.org/drawingml/2006/main">
            <a:off x="4833938" y="4829175"/>
            <a:ext cx="261937"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4" name="">
            <a:extLst xmlns:a="http://schemas.openxmlformats.org/drawingml/2006/main">
              <a:ext uri="{FF2B5EF4-FFF2-40B4-BE49-F238E27FC236}">
                <a16:creationId xmlns:a16="http://schemas.microsoft.com/office/drawing/2014/main" id="{02B250DF-6D82-4A62-ADE6-5682D3461C3F}"/>
              </a:ext>
            </a:extLst>
          </p:cNvPr>
          <p:cNvCxnSpPr>
            <a:stCxn xmlns:a="http://schemas.openxmlformats.org/drawingml/2006/main" id="16" idx="3"/>
            <a:endCxn xmlns:a="http://schemas.openxmlformats.org/drawingml/2006/main" id="19"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3" name="">
            <a:extLst xmlns:a="http://schemas.openxmlformats.org/drawingml/2006/main">
              <a:ext uri="{FF2B5EF4-FFF2-40B4-BE49-F238E27FC236}">
                <a16:creationId xmlns:a16="http://schemas.microsoft.com/office/drawing/2014/main" id="{23F6B448-1E71-4B4B-B5BE-03F8D25B96D0}"/>
              </a:ext>
            </a:extLst>
          </p:cNvPr>
          <p:cNvCxnSpPr>
            <a:stCxn xmlns:a="http://schemas.openxmlformats.org/drawingml/2006/main" id="13" idx="1"/>
            <a:endCxn xmlns:a="http://schemas.openxmlformats.org/drawingml/2006/main" id="16" idx="3"/>
          </p:cNvCxnSpPr>
          <p:nvPr/>
        </p:nvCxnSpPr>
        <p:spPr>
          <a:xfrm xmlns:a="http://schemas.openxmlformats.org/drawingml/2006/main" flipH="1">
            <a:off x="2571750" y="2352675"/>
            <a:ext cx="7048500" cy="24765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2" name="">
            <a:extLst xmlns:a="http://schemas.openxmlformats.org/drawingml/2006/main">
              <a:ext uri="{FF2B5EF4-FFF2-40B4-BE49-F238E27FC236}">
                <a16:creationId xmlns:a16="http://schemas.microsoft.com/office/drawing/2014/main" id="{807B9AC2-BA30-446D-823B-291BF3573927}"/>
              </a:ext>
            </a:extLst>
          </p:cNvPr>
          <p:cNvCxnSpPr>
            <a:stCxn xmlns:a="http://schemas.openxmlformats.org/drawingml/2006/main" id="10" idx="3"/>
            <a:endCxn xmlns:a="http://schemas.openxmlformats.org/drawingml/2006/main" id="13" idx="1"/>
          </p:cNvCxnSpPr>
          <p:nvPr/>
        </p:nvCxnSpPr>
        <p:spPr>
          <a:xfrm xmlns:a="http://schemas.openxmlformats.org/drawingml/2006/main">
            <a:off x="7096125" y="2352675"/>
            <a:ext cx="2524125"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1" name="">
            <a:extLst xmlns:a="http://schemas.openxmlformats.org/drawingml/2006/main">
              <a:ext uri="{FF2B5EF4-FFF2-40B4-BE49-F238E27FC236}">
                <a16:creationId xmlns:a16="http://schemas.microsoft.com/office/drawing/2014/main" id="{36D02E95-FD6C-42EA-AAF3-5B2BD51EE175}"/>
              </a:ext>
            </a:extLst>
          </p:cNvPr>
          <p:cNvCxnSpPr>
            <a:stCxn xmlns:a="http://schemas.openxmlformats.org/drawingml/2006/main" id="7" idx="3"/>
            <a:endCxn xmlns:a="http://schemas.openxmlformats.org/drawingml/2006/main" id="13" idx="1"/>
          </p:cNvCxnSpPr>
          <p:nvPr/>
        </p:nvCxnSpPr>
        <p:spPr>
          <a:xfrm xmlns:a="http://schemas.openxmlformats.org/drawingml/2006/main">
            <a:off x="2571750" y="2352675"/>
            <a:ext cx="70485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0" name="">
            <a:extLst xmlns:a="http://schemas.openxmlformats.org/drawingml/2006/main">
              <a:ext uri="{FF2B5EF4-FFF2-40B4-BE49-F238E27FC236}">
                <a16:creationId xmlns:a16="http://schemas.microsoft.com/office/drawing/2014/main" id="{0F29C287-F137-4AF5-8C88-783DDC4FC37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AX23 / 복수 자료 결합·분석·검토·평가</a:t>
            </a:r>
          </a:p>
        </p:txBody>
      </p:sp>
      <p:sp>
        <p:nvSpPr>
          <p:cNvPr id="2" name="">
            <a:extLst xmlns:a="http://schemas.openxmlformats.org/drawingml/2006/main">
              <a:ext uri="{FF2B5EF4-FFF2-40B4-BE49-F238E27FC236}">
                <a16:creationId xmlns:a16="http://schemas.microsoft.com/office/drawing/2014/main" id="{EDDF64F4-33CB-4BD7-BCEA-91C69025B2B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경찰 AI 교통안전 시스템 · 세부 서비스 구조</a:t>
            </a:r>
          </a:p>
        </p:txBody>
      </p:sp>
      <p:sp>
        <p:nvSpPr>
          <p:cNvPr id="3" name="">
            <a:extLst xmlns:a="http://schemas.openxmlformats.org/drawingml/2006/main">
              <a:ext uri="{FF2B5EF4-FFF2-40B4-BE49-F238E27FC236}">
                <a16:creationId xmlns:a16="http://schemas.microsoft.com/office/drawing/2014/main" id="{7836153E-0308-4C2D-9E47-FE4A7DF9775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127BF0E-85A1-45B3-9C6D-690DF47B529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606A31C-ECC4-4795-98AB-A8409A35992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97</a:t>
            </a:r>
          </a:p>
        </p:txBody>
      </p:sp>
      <p:sp>
        <p:nvSpPr>
          <p:cNvPr id="6" name="">
            <a:extLst xmlns:a="http://schemas.openxmlformats.org/drawingml/2006/main">
              <a:ext uri="{FF2B5EF4-FFF2-40B4-BE49-F238E27FC236}">
                <a16:creationId xmlns:a16="http://schemas.microsoft.com/office/drawing/2014/main" id="{C0E5E69F-F706-4B66-8109-2FFA2A03A338}"/>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민관 교통 데이터 → 전처리·MLOps → 사고 위험 예측 → 지역 실증·현장 대응</a:t>
            </a:r>
          </a:p>
        </p:txBody>
      </p:sp>
      <p:sp>
        <p:nvSpPr>
          <p:cNvPr id="7" name="">
            <a:extLst xmlns:a="http://schemas.openxmlformats.org/drawingml/2006/main">
              <a:ext uri="{FF2B5EF4-FFF2-40B4-BE49-F238E27FC236}">
                <a16:creationId xmlns:a16="http://schemas.microsoft.com/office/drawing/2014/main" id="{C4E70C08-E9BD-4B82-85D5-71FDA3143E55}"/>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45F320D0-54AB-4784-BFC0-55ACF2325B66}"/>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4BC0C105-132A-4AD0-89EB-D259176F353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사고·기상·시설</a:t>
            </a:r>
          </a:p>
        </p:txBody>
      </p:sp>
      <p:sp>
        <p:nvSpPr>
          <p:cNvPr id="10" name="">
            <a:extLst xmlns:a="http://schemas.openxmlformats.org/drawingml/2006/main">
              <a:ext uri="{FF2B5EF4-FFF2-40B4-BE49-F238E27FC236}">
                <a16:creationId xmlns:a16="http://schemas.microsoft.com/office/drawing/2014/main" id="{81F2E4E0-4DC2-4038-A0D9-E546A81364C4}"/>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653B36E6-31A0-447D-9B95-6FB62E6E3A65}"/>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2" name="">
            <a:extLst xmlns:a="http://schemas.openxmlformats.org/drawingml/2006/main">
              <a:ext uri="{FF2B5EF4-FFF2-40B4-BE49-F238E27FC236}">
                <a16:creationId xmlns:a16="http://schemas.microsoft.com/office/drawing/2014/main" id="{41B8A95C-0C93-4F3A-9204-BDA6AF795363}"/>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교통 특징 조회</a:t>
            </a:r>
          </a:p>
        </p:txBody>
      </p:sp>
      <p:sp>
        <p:nvSpPr>
          <p:cNvPr id="13" name="">
            <a:extLst xmlns:a="http://schemas.openxmlformats.org/drawingml/2006/main">
              <a:ext uri="{FF2B5EF4-FFF2-40B4-BE49-F238E27FC236}">
                <a16:creationId xmlns:a16="http://schemas.microsoft.com/office/drawing/2014/main" id="{5CA9CE30-929C-4376-BB14-723BEB68415D}"/>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99EA9BF7-63E4-4652-8A83-B3BC6DB46230}"/>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5" name="">
            <a:extLst xmlns:a="http://schemas.openxmlformats.org/drawingml/2006/main">
              <a:ext uri="{FF2B5EF4-FFF2-40B4-BE49-F238E27FC236}">
                <a16:creationId xmlns:a16="http://schemas.microsoft.com/office/drawing/2014/main" id="{8582C535-14DE-4710-BE61-F52DD36C2F10}"/>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시공간·결측 정리</a:t>
            </a:r>
          </a:p>
        </p:txBody>
      </p:sp>
      <p:sp>
        <p:nvSpPr>
          <p:cNvPr id="16" name="">
            <a:extLst xmlns:a="http://schemas.openxmlformats.org/drawingml/2006/main">
              <a:ext uri="{FF2B5EF4-FFF2-40B4-BE49-F238E27FC236}">
                <a16:creationId xmlns:a16="http://schemas.microsoft.com/office/drawing/2014/main" id="{ADA1AEFA-3FB4-4B04-BC25-D217BD7B5403}"/>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5AF23D2-6CE3-4EF1-B6F8-8B0372CC6491}"/>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8" name="">
            <a:extLst xmlns:a="http://schemas.openxmlformats.org/drawingml/2006/main">
              <a:ext uri="{FF2B5EF4-FFF2-40B4-BE49-F238E27FC236}">
                <a16:creationId xmlns:a16="http://schemas.microsoft.com/office/drawing/2014/main" id="{34AA0EAE-1718-4C05-9AE8-FD36D10ADB37}"/>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위험 순위 예측</a:t>
            </a:r>
          </a:p>
        </p:txBody>
      </p:sp>
      <p:sp>
        <p:nvSpPr>
          <p:cNvPr id="19" name="">
            <a:extLst xmlns:a="http://schemas.openxmlformats.org/drawingml/2006/main">
              <a:ext uri="{FF2B5EF4-FFF2-40B4-BE49-F238E27FC236}">
                <a16:creationId xmlns:a16="http://schemas.microsoft.com/office/drawing/2014/main" id="{D457CC58-D938-484D-8332-A42CFB4CCD28}"/>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36B28FC7-79C1-4215-8E6E-BAC6963AD841}"/>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21" name="">
            <a:extLst xmlns:a="http://schemas.openxmlformats.org/drawingml/2006/main">
              <a:ext uri="{FF2B5EF4-FFF2-40B4-BE49-F238E27FC236}">
                <a16:creationId xmlns:a16="http://schemas.microsoft.com/office/drawing/2014/main" id="{59EA946D-9736-488D-9C88-87071971B256}"/>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누수·편향 검사</a:t>
            </a:r>
          </a:p>
        </p:txBody>
      </p:sp>
      <p:sp>
        <p:nvSpPr>
          <p:cNvPr id="22" name="">
            <a:extLst xmlns:a="http://schemas.openxmlformats.org/drawingml/2006/main">
              <a:ext uri="{FF2B5EF4-FFF2-40B4-BE49-F238E27FC236}">
                <a16:creationId xmlns:a16="http://schemas.microsoft.com/office/drawing/2014/main" id="{5E63A5BD-FD05-4341-9E66-28D4E042D2D3}"/>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066450AC-5889-4328-BF59-1EF2CCE27780}"/>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4" name="">
            <a:extLst xmlns:a="http://schemas.openxmlformats.org/drawingml/2006/main">
              <a:ext uri="{FF2B5EF4-FFF2-40B4-BE49-F238E27FC236}">
                <a16:creationId xmlns:a16="http://schemas.microsoft.com/office/drawing/2014/main" id="{135F4B31-537C-4EB9-B537-372C97838E8A}"/>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 담당 검토</a:t>
            </a:r>
          </a:p>
        </p:txBody>
      </p:sp>
      <p:sp>
        <p:nvSpPr>
          <p:cNvPr id="25" name="">
            <a:extLst xmlns:a="http://schemas.openxmlformats.org/drawingml/2006/main">
              <a:ext uri="{FF2B5EF4-FFF2-40B4-BE49-F238E27FC236}">
                <a16:creationId xmlns:a16="http://schemas.microsoft.com/office/drawing/2014/main" id="{95AE9C1D-D9FE-4438-885B-EFA8C38C139C}"/>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E5A53829-269D-496A-AD04-2D1574109113}"/>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7" name="">
            <a:extLst xmlns:a="http://schemas.openxmlformats.org/drawingml/2006/main">
              <a:ext uri="{FF2B5EF4-FFF2-40B4-BE49-F238E27FC236}">
                <a16:creationId xmlns:a16="http://schemas.microsoft.com/office/drawing/2014/main" id="{CD7AE829-52E9-425B-BBA7-99ED3B957A9D}"/>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단속·시설 계획</a:t>
            </a:r>
          </a:p>
        </p:txBody>
      </p:sp>
      <p:sp>
        <p:nvSpPr>
          <p:cNvPr id="28" name="">
            <a:extLst xmlns:a="http://schemas.openxmlformats.org/drawingml/2006/main">
              <a:ext uri="{FF2B5EF4-FFF2-40B4-BE49-F238E27FC236}">
                <a16:creationId xmlns:a16="http://schemas.microsoft.com/office/drawing/2014/main" id="{5025A7C8-8A73-4324-9FB4-0F403BADC6EF}"/>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0A5773D6-F18D-4B38-8D53-383700CAF9C8}"/>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0" name="">
            <a:extLst xmlns:a="http://schemas.openxmlformats.org/drawingml/2006/main">
              <a:ext uri="{FF2B5EF4-FFF2-40B4-BE49-F238E27FC236}">
                <a16:creationId xmlns:a16="http://schemas.microsoft.com/office/drawing/2014/main" id="{EE55D85E-6876-40CA-AB7B-6DB2B2D7AFD4}"/>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지역 실증 평가</a:t>
            </a:r>
          </a:p>
        </p:txBody>
      </p:sp>
      <p:sp>
        <p:nvSpPr>
          <p:cNvPr id="39" name="">
            <a:extLst xmlns:a="http://schemas.openxmlformats.org/drawingml/2006/main">
              <a:ext uri="{FF2B5EF4-FFF2-40B4-BE49-F238E27FC236}">
                <a16:creationId xmlns:a16="http://schemas.microsoft.com/office/drawing/2014/main" id="{CC427866-F304-4011-BF36-F26F3C7585F6}"/>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616645354"/>
      </p:ext>
    </p:extLst>
  </p:cSld>
</p:sld>
</file>

<file path=ppt/slides/slide9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ECA99D7-1F13-4CA5-8D9B-FCE3684FBAC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AX23 / 논리 인터페이스·복구 설계</a:t>
            </a:r>
          </a:p>
        </p:txBody>
      </p:sp>
      <p:sp>
        <p:nvSpPr>
          <p:cNvPr id="2" name="">
            <a:extLst xmlns:a="http://schemas.openxmlformats.org/drawingml/2006/main">
              <a:ext uri="{FF2B5EF4-FFF2-40B4-BE49-F238E27FC236}">
                <a16:creationId xmlns:a16="http://schemas.microsoft.com/office/drawing/2014/main" id="{56CBA28A-6108-49D4-8EAF-34C025C6F40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경찰 AI 교통안전 시스템 · 데이터와 예외 처리</a:t>
            </a:r>
          </a:p>
        </p:txBody>
      </p:sp>
      <p:sp>
        <p:nvSpPr>
          <p:cNvPr id="3" name="">
            <a:extLst xmlns:a="http://schemas.openxmlformats.org/drawingml/2006/main">
              <a:ext uri="{FF2B5EF4-FFF2-40B4-BE49-F238E27FC236}">
                <a16:creationId xmlns:a16="http://schemas.microsoft.com/office/drawing/2014/main" id="{D0ACE2C4-B876-4B43-8AB6-0D71F07FCF5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A07F39A-30FF-4C89-9EF4-F391AEAE424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5D9D4F3-22CB-473A-92E0-D696D49A812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98</a:t>
            </a:r>
          </a:p>
        </p:txBody>
      </p:sp>
      <p:sp>
        <p:nvSpPr>
          <p:cNvPr id="6" name="">
            <a:extLst xmlns:a="http://schemas.openxmlformats.org/drawingml/2006/main">
              <a:ext uri="{FF2B5EF4-FFF2-40B4-BE49-F238E27FC236}">
                <a16:creationId xmlns:a16="http://schemas.microsoft.com/office/drawing/2014/main" id="{C5717E44-4CCD-4398-B232-E5C746EC1D1B}"/>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4B3F0139-46D1-45E7-B2F0-6BE8C923CD2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D27BE734-D23D-423F-B1C9-533D8266EC11}"/>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자료</a:t>
            </a:r>
          </a:p>
        </p:txBody>
      </p:sp>
      <p:sp>
        <p:nvSpPr>
          <p:cNvPr id="9" name="">
            <a:extLst xmlns:a="http://schemas.openxmlformats.org/drawingml/2006/main">
              <a:ext uri="{FF2B5EF4-FFF2-40B4-BE49-F238E27FC236}">
                <a16:creationId xmlns:a16="http://schemas.microsoft.com/office/drawing/2014/main" id="{201EC7EC-648F-4236-9019-3DBBBBD2B6B4}"/>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지역별 위험 특징</a:t>
            </a:r>
          </a:p>
        </p:txBody>
      </p:sp>
      <p:sp>
        <p:nvSpPr>
          <p:cNvPr id="10" name="">
            <a:extLst xmlns:a="http://schemas.openxmlformats.org/drawingml/2006/main">
              <a:ext uri="{FF2B5EF4-FFF2-40B4-BE49-F238E27FC236}">
                <a16:creationId xmlns:a16="http://schemas.microsoft.com/office/drawing/2014/main" id="{B3F1DE17-1C57-4A46-A30D-5D7BE1E826AC}"/>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083E252-2B54-40AB-8C1C-CEBCB454826D}"/>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비교 자료</a:t>
            </a:r>
          </a:p>
        </p:txBody>
      </p:sp>
      <p:sp>
        <p:nvSpPr>
          <p:cNvPr id="12" name="">
            <a:extLst xmlns:a="http://schemas.openxmlformats.org/drawingml/2006/main">
              <a:ext uri="{FF2B5EF4-FFF2-40B4-BE49-F238E27FC236}">
                <a16:creationId xmlns:a16="http://schemas.microsoft.com/office/drawing/2014/main" id="{822E88EF-D81B-421B-BA35-DCE7824213EF}"/>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학습·평가 특징</a:t>
            </a:r>
          </a:p>
        </p:txBody>
      </p:sp>
      <p:sp>
        <p:nvSpPr>
          <p:cNvPr id="13" name="">
            <a:extLst xmlns:a="http://schemas.openxmlformats.org/drawingml/2006/main">
              <a:ext uri="{FF2B5EF4-FFF2-40B4-BE49-F238E27FC236}">
                <a16:creationId xmlns:a16="http://schemas.microsoft.com/office/drawing/2014/main" id="{777DA392-6FCF-4508-B621-34BF93E6BF69}"/>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70986C8-6DF0-4BFF-8509-91C97CD3A467}"/>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정합화 특징</a:t>
            </a:r>
          </a:p>
        </p:txBody>
      </p:sp>
      <p:sp>
        <p:nvSpPr>
          <p:cNvPr id="15" name="">
            <a:extLst xmlns:a="http://schemas.openxmlformats.org/drawingml/2006/main">
              <a:ext uri="{FF2B5EF4-FFF2-40B4-BE49-F238E27FC236}">
                <a16:creationId xmlns:a16="http://schemas.microsoft.com/office/drawing/2014/main" id="{614C1051-9B9B-43A2-ADFA-73C5F150E2D2}"/>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6" name="">
            <a:extLst xmlns:a="http://schemas.openxmlformats.org/drawingml/2006/main">
              <a:ext uri="{FF2B5EF4-FFF2-40B4-BE49-F238E27FC236}">
                <a16:creationId xmlns:a16="http://schemas.microsoft.com/office/drawing/2014/main" id="{3EC506A3-C7E5-402C-BB56-365E30B7BC78}"/>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D34981B-7C47-4FD9-9EF6-5DAA6C8B2E0E}"/>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예측·분류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결과</a:t>
            </a:r>
          </a:p>
        </p:txBody>
      </p:sp>
      <p:sp>
        <p:nvSpPr>
          <p:cNvPr id="18" name="">
            <a:extLst xmlns:a="http://schemas.openxmlformats.org/drawingml/2006/main">
              <a:ext uri="{FF2B5EF4-FFF2-40B4-BE49-F238E27FC236}">
                <a16:creationId xmlns:a16="http://schemas.microsoft.com/office/drawing/2014/main" id="{DEE4B446-F419-4ED7-AC47-893F2A715CD8}"/>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위험 순위</a:t>
            </a:r>
          </a:p>
        </p:txBody>
      </p:sp>
      <p:sp>
        <p:nvSpPr>
          <p:cNvPr id="19" name="">
            <a:extLst xmlns:a="http://schemas.openxmlformats.org/drawingml/2006/main">
              <a:ext uri="{FF2B5EF4-FFF2-40B4-BE49-F238E27FC236}">
                <a16:creationId xmlns:a16="http://schemas.microsoft.com/office/drawing/2014/main" id="{FBE26A0E-71EF-4C95-87B5-5FE7DAF8FB08}"/>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5B300F8-BD77-4419-8E60-82AA3ABBAF77}"/>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오차·편향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확인</a:t>
            </a:r>
          </a:p>
        </p:txBody>
      </p:sp>
      <p:sp>
        <p:nvSpPr>
          <p:cNvPr id="21" name="">
            <a:extLst xmlns:a="http://schemas.openxmlformats.org/drawingml/2006/main">
              <a:ext uri="{FF2B5EF4-FFF2-40B4-BE49-F238E27FC236}">
                <a16:creationId xmlns:a16="http://schemas.microsoft.com/office/drawing/2014/main" id="{3400B56E-9A94-4E9A-9A9B-9D7BB142816B}"/>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위험 순위</a:t>
            </a:r>
          </a:p>
        </p:txBody>
      </p:sp>
      <p:sp>
        <p:nvSpPr>
          <p:cNvPr id="22" name="">
            <a:extLst xmlns:a="http://schemas.openxmlformats.org/drawingml/2006/main">
              <a:ext uri="{FF2B5EF4-FFF2-40B4-BE49-F238E27FC236}">
                <a16:creationId xmlns:a16="http://schemas.microsoft.com/office/drawing/2014/main" id="{9890747F-7A10-4102-944C-B4179583832A}"/>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25FD103-2EBB-41C6-9968-EEF6423D1DDF}"/>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적용 결과</a:t>
            </a:r>
          </a:p>
        </p:txBody>
      </p:sp>
      <p:sp>
        <p:nvSpPr>
          <p:cNvPr id="24" name="">
            <a:extLst xmlns:a="http://schemas.openxmlformats.org/drawingml/2006/main">
              <a:ext uri="{FF2B5EF4-FFF2-40B4-BE49-F238E27FC236}">
                <a16:creationId xmlns:a16="http://schemas.microsoft.com/office/drawing/2014/main" id="{F74570BC-A75F-45B5-A312-B4DBF4D6F9DD}"/>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현장 조치 검토</a:t>
            </a:r>
          </a:p>
        </p:txBody>
      </p:sp>
      <p:sp>
        <p:nvSpPr>
          <p:cNvPr id="25" name="">
            <a:extLst xmlns:a="http://schemas.openxmlformats.org/drawingml/2006/main">
              <a:ext uri="{FF2B5EF4-FFF2-40B4-BE49-F238E27FC236}">
                <a16:creationId xmlns:a16="http://schemas.microsoft.com/office/drawing/2014/main" id="{5B7814A0-6BFA-4666-A5F3-8E9ECA2A8449}"/>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EF295946-ADFE-4248-978F-9A432F3D8D41}"/>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공간 코드 변경·기상 결측·학습 이후 자료 유입</a:t>
            </a:r>
          </a:p>
        </p:txBody>
      </p:sp>
      <p:sp>
        <p:nvSpPr>
          <p:cNvPr id="27" name="">
            <a:extLst xmlns:a="http://schemas.openxmlformats.org/drawingml/2006/main">
              <a:ext uri="{FF2B5EF4-FFF2-40B4-BE49-F238E27FC236}">
                <a16:creationId xmlns:a16="http://schemas.microsoft.com/office/drawing/2014/main" id="{F28A90F3-F426-4EF1-86E6-F31ABB36BD6B}"/>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764C3935-644B-4E3C-8EA4-B965E3A62515}"/>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시간·지역 분리 평가와 누수 차단</a:t>
            </a:r>
          </a:p>
        </p:txBody>
      </p:sp>
      <p:sp>
        <p:nvSpPr>
          <p:cNvPr id="29" name="">
            <a:extLst xmlns:a="http://schemas.openxmlformats.org/drawingml/2006/main">
              <a:ext uri="{FF2B5EF4-FFF2-40B4-BE49-F238E27FC236}">
                <a16:creationId xmlns:a16="http://schemas.microsoft.com/office/drawing/2014/main" id="{54B95707-38E7-4674-933E-E78043955957}"/>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D466660C-6288-46A7-9DDC-89BB5E3555A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예측 오차·지역 편차·개입 후 지표 평가</a:t>
            </a:r>
          </a:p>
        </p:txBody>
      </p:sp>
      <p:sp>
        <p:nvSpPr>
          <p:cNvPr id="31" name="">
            <a:extLst xmlns:a="http://schemas.openxmlformats.org/drawingml/2006/main">
              <a:ext uri="{FF2B5EF4-FFF2-40B4-BE49-F238E27FC236}">
                <a16:creationId xmlns:a16="http://schemas.microsoft.com/office/drawing/2014/main" id="{2FF48BAC-750E-48BB-8E91-1A3B7F9E6DFD}"/>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D97D1EAE-E877-4204-B427-4CF967C7EE1B}"/>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시공간 분리 평가와 지역별 오차·대응 기록</a:t>
            </a:r>
          </a:p>
        </p:txBody>
      </p:sp>
    </p:spTree>
    <p:extLst>
      <p:ext uri="{BB962C8B-B14F-4D97-AF65-F5344CB8AC3E}">
        <p14:creationId xmlns:p14="http://schemas.microsoft.com/office/powerpoint/2010/main" val="911143011"/>
      </p:ext>
    </p:extLst>
  </p:cSld>
</p:sld>
</file>

<file path=ppt/slides/slide9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97D12CC-0000-448C-9C6F-F96E3615A79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AX23 / CCK 비교·재현 시험 설계</a:t>
            </a:r>
          </a:p>
        </p:txBody>
      </p:sp>
      <p:sp>
        <p:nvSpPr>
          <p:cNvPr id="2" name="">
            <a:extLst xmlns:a="http://schemas.openxmlformats.org/drawingml/2006/main">
              <a:ext uri="{FF2B5EF4-FFF2-40B4-BE49-F238E27FC236}">
                <a16:creationId xmlns:a16="http://schemas.microsoft.com/office/drawing/2014/main" id="{863BFAF1-2EF2-4587-90E9-3D73C5AA1CD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경찰 AI 교통안전 시스템 · 벤치마킹</a:t>
            </a:r>
          </a:p>
        </p:txBody>
      </p:sp>
      <p:sp>
        <p:nvSpPr>
          <p:cNvPr id="3" name="">
            <a:extLst xmlns:a="http://schemas.openxmlformats.org/drawingml/2006/main">
              <a:ext uri="{FF2B5EF4-FFF2-40B4-BE49-F238E27FC236}">
                <a16:creationId xmlns:a16="http://schemas.microsoft.com/office/drawing/2014/main" id="{7219DE0E-E7B0-46F1-83CC-8CFDED7B798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562E704-9537-4D6C-BC04-BEB6DDB7075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EF3FAE2-718C-44C6-AB23-3B483790A4B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99</a:t>
            </a:r>
          </a:p>
        </p:txBody>
      </p:sp>
      <p:sp>
        <p:nvSpPr>
          <p:cNvPr id="6" name="">
            <a:extLst xmlns:a="http://schemas.openxmlformats.org/drawingml/2006/main">
              <a:ext uri="{FF2B5EF4-FFF2-40B4-BE49-F238E27FC236}">
                <a16:creationId xmlns:a16="http://schemas.microsoft.com/office/drawing/2014/main" id="{57AB6B6C-54BE-4359-A2FA-B86911C6BD08}"/>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7BB2CB50-2F7F-4B0F-8A56-C0FE95A75E68}"/>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사고·시설·기상·교통량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지역 현장 실증으로 위험 검토</a:t>
            </a:r>
          </a:p>
        </p:txBody>
      </p:sp>
      <p:sp>
        <p:nvSpPr>
          <p:cNvPr id="8" name="">
            <a:extLst xmlns:a="http://schemas.openxmlformats.org/drawingml/2006/main">
              <a:ext uri="{FF2B5EF4-FFF2-40B4-BE49-F238E27FC236}">
                <a16:creationId xmlns:a16="http://schemas.microsoft.com/office/drawing/2014/main" id="{1A8209CA-E97A-4C2D-8D73-3B01A086E4BF}"/>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D8FE544D-55D9-4BBC-95F0-057B0936F8F1}"/>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희귀 사고의 표본 불균형</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예측지표를 예방 효과로 환산</a:t>
            </a:r>
          </a:p>
        </p:txBody>
      </p:sp>
      <p:sp>
        <p:nvSpPr>
          <p:cNvPr id="10" name="">
            <a:extLst xmlns:a="http://schemas.openxmlformats.org/drawingml/2006/main">
              <a:ext uri="{FF2B5EF4-FFF2-40B4-BE49-F238E27FC236}">
                <a16:creationId xmlns:a16="http://schemas.microsoft.com/office/drawing/2014/main" id="{3D75590D-FDCD-43F6-97D8-4BAC6621104D}"/>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F638E2D3-0CB3-4449-B516-6CC1C1E8B461}"/>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시간·지역 분리 평가와 누수 차단</a:t>
            </a:r>
          </a:p>
        </p:txBody>
      </p:sp>
      <p:sp>
        <p:nvSpPr>
          <p:cNvPr id="12" name="">
            <a:extLst xmlns:a="http://schemas.openxmlformats.org/drawingml/2006/main">
              <a:ext uri="{FF2B5EF4-FFF2-40B4-BE49-F238E27FC236}">
                <a16:creationId xmlns:a16="http://schemas.microsoft.com/office/drawing/2014/main" id="{0939023A-6435-476F-AB2C-BA794711AA84}"/>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5DFDDC7-3B41-42A7-A169-1C1C2D61B902}"/>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같은 지역·기간의 사고 위험을 분석하고 대응 후보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선정</a:t>
            </a:r>
          </a:p>
        </p:txBody>
      </p:sp>
      <p:sp>
        <p:nvSpPr>
          <p:cNvPr id="14" name="">
            <a:extLst xmlns:a="http://schemas.openxmlformats.org/drawingml/2006/main">
              <a:ext uri="{FF2B5EF4-FFF2-40B4-BE49-F238E27FC236}">
                <a16:creationId xmlns:a16="http://schemas.microsoft.com/office/drawing/2014/main" id="{A087F8D0-8B93-4760-87A5-AAD32E036F55}"/>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4804FE7C-F7AC-4A59-A1DF-64F112088354}"/>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공간 코드 변경·기상 결측·학습 이후 자료 유입</a:t>
            </a:r>
          </a:p>
        </p:txBody>
      </p:sp>
      <p:sp>
        <p:nvSpPr>
          <p:cNvPr id="16" name="">
            <a:extLst xmlns:a="http://schemas.openxmlformats.org/drawingml/2006/main">
              <a:ext uri="{FF2B5EF4-FFF2-40B4-BE49-F238E27FC236}">
                <a16:creationId xmlns:a16="http://schemas.microsoft.com/office/drawing/2014/main" id="{04423E51-2D49-4E64-ACDD-77758834C907}"/>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DDBB873F-6063-4FF3-8AA9-6AE114CD9130}"/>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시공간 분리 평가와 지역별 오차·대응 기록</a:t>
            </a:r>
          </a:p>
        </p:txBody>
      </p:sp>
    </p:spTree>
    <p:extLst>
      <p:ext uri="{BB962C8B-B14F-4D97-AF65-F5344CB8AC3E}">
        <p14:creationId xmlns:p14="http://schemas.microsoft.com/office/powerpoint/2010/main" val="88841382"/>
      </p:ext>
    </p:extLst>
  </p:cSld>
</p:sld>
</file>

<file path=ppt/slides/slide10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4872866-ED03-46B8-B958-6A3867BA95C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AX24 / 시범 / 국내</a:t>
            </a:r>
          </a:p>
        </p:txBody>
      </p:sp>
      <p:sp>
        <p:nvSpPr>
          <p:cNvPr id="2" name="">
            <a:extLst xmlns:a="http://schemas.openxmlformats.org/drawingml/2006/main">
              <a:ext uri="{FF2B5EF4-FFF2-40B4-BE49-F238E27FC236}">
                <a16:creationId xmlns:a16="http://schemas.microsoft.com/office/drawing/2014/main" id="{67312406-CD8C-4208-B4B4-23B5642456F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국가 R&amp;D 사업비 Risk 지원</a:t>
            </a:r>
          </a:p>
        </p:txBody>
      </p:sp>
      <p:sp>
        <p:nvSpPr>
          <p:cNvPr id="3" name="">
            <a:extLst xmlns:a="http://schemas.openxmlformats.org/drawingml/2006/main">
              <a:ext uri="{FF2B5EF4-FFF2-40B4-BE49-F238E27FC236}">
                <a16:creationId xmlns:a16="http://schemas.microsoft.com/office/drawing/2014/main" id="{D4F9A4D9-194E-469C-9116-09847D80429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AF2393B-258E-44ED-9E10-70F07E566FA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AC177AF-38A4-4CCB-A027-307695EF101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100</a:t>
            </a:r>
          </a:p>
        </p:txBody>
      </p:sp>
      <p:sp>
        <p:nvSpPr>
          <p:cNvPr id="6" name="">
            <a:extLst xmlns:a="http://schemas.openxmlformats.org/drawingml/2006/main">
              <a:ext uri="{FF2B5EF4-FFF2-40B4-BE49-F238E27FC236}">
                <a16:creationId xmlns:a16="http://schemas.microsoft.com/office/drawing/2014/main" id="{A0F8F4F0-22C5-49E1-99D2-659329BBCF0C}"/>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CDE32FA4-CD58-4FCE-B5AA-9E2E32CC7EEE}"/>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연구비 집행 자료와 부처·사업별 지침을 연결해 상담·증</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빙·서식 작성을 지원하는 사례. 같은 지출 항목도 사업·</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협약연도에 따라 적용 기준이 다른 업무.</a:t>
            </a:r>
          </a:p>
        </p:txBody>
      </p:sp>
      <p:sp>
        <p:nvSpPr>
          <p:cNvPr id="8" name="">
            <a:extLst xmlns:a="http://schemas.openxmlformats.org/drawingml/2006/main">
              <a:ext uri="{FF2B5EF4-FFF2-40B4-BE49-F238E27FC236}">
                <a16:creationId xmlns:a16="http://schemas.microsoft.com/office/drawing/2014/main" id="{62A50E04-41EA-41FC-BFA3-0D3B1AA8B4B9}"/>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ACF0F26D-5825-4E3E-BC7E-ECC9F5ADE2D7}"/>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부처·사업·협약기간·집행항목을 먼저 식별하고 해당 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본의 규정과 거래증빙을 대조하는 재구성. 누락 서류·예</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외 조건·서식 초안을 담당 검토자에게 전달하는 흐름.</a:t>
            </a:r>
          </a:p>
        </p:txBody>
      </p:sp>
      <p:sp>
        <p:nvSpPr>
          <p:cNvPr id="10" name="">
            <a:extLst xmlns:a="http://schemas.openxmlformats.org/drawingml/2006/main">
              <a:ext uri="{FF2B5EF4-FFF2-40B4-BE49-F238E27FC236}">
                <a16:creationId xmlns:a16="http://schemas.microsoft.com/office/drawing/2014/main" id="{6AB9A012-7E14-4DB4-AC71-7BFEA40485EA}"/>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D09A1E9C-E812-4140-B461-27FE0FF3664E}"/>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 AI PMS에 적용할 경우 지침 검색·양식 재사용과 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 집행 판단을 분리. 사업 변경·연차 차이·증빙 누락 시험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을 수행하고 요구사항·검수·제출 증빙의 추적에 연결할 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a:t>
            </a:r>
          </a:p>
        </p:txBody>
      </p:sp>
      <p:sp>
        <p:nvSpPr>
          <p:cNvPr id="12" name="">
            <a:extLst xmlns:a="http://schemas.openxmlformats.org/drawingml/2006/main">
              <a:ext uri="{FF2B5EF4-FFF2-40B4-BE49-F238E27FC236}">
                <a16:creationId xmlns:a16="http://schemas.microsoft.com/office/drawing/2014/main" id="{82218112-7A72-425C-BB27-9477374E952A}"/>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82628AAD-7F51-485C-A812-ED6854D57C1C}"/>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부처·사업·계약 판본·증빙 요구 매핑</a:t>
            </a:r>
          </a:p>
        </p:txBody>
      </p:sp>
      <p:sp>
        <p:nvSpPr>
          <p:cNvPr id="14" name="">
            <a:extLst xmlns:a="http://schemas.openxmlformats.org/drawingml/2006/main">
              <a:ext uri="{FF2B5EF4-FFF2-40B4-BE49-F238E27FC236}">
                <a16:creationId xmlns:a16="http://schemas.microsoft.com/office/drawing/2014/main" id="{38528944-CCAC-44D9-9DE8-90BA059B4E93}"/>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0CB3BA99-26DE-41C5-A70C-2398EE571D91}"/>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유효 규정·증빙 누락·목적 외 자료 차단 시험</a:t>
            </a:r>
          </a:p>
        </p:txBody>
      </p:sp>
      <p:sp>
        <p:nvSpPr>
          <p:cNvPr id="16" name="">
            <a:extLst xmlns:a="http://schemas.openxmlformats.org/drawingml/2006/main">
              <a:ext uri="{FF2B5EF4-FFF2-40B4-BE49-F238E27FC236}">
                <a16:creationId xmlns:a16="http://schemas.microsoft.com/office/drawing/2014/main" id="{72C8F1DC-FC62-4895-A5EF-0F16FEB03B49}"/>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A0DAE71D-803D-456C-978D-8D7BAD22A20A}"/>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보완 왕복 횟수 / 검토 소요시간</a:t>
            </a:r>
          </a:p>
        </p:txBody>
      </p:sp>
      <p:sp>
        <p:nvSpPr>
          <p:cNvPr id="18" name="">
            <a:extLst xmlns:a="http://schemas.openxmlformats.org/drawingml/2006/main">
              <a:ext uri="{FF2B5EF4-FFF2-40B4-BE49-F238E27FC236}">
                <a16:creationId xmlns:a16="http://schemas.microsoft.com/office/drawing/2014/main" id="{7EED3A5F-8208-495E-952A-5561CD80329C}"/>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성과 항목이 기대효과 중심 · 행정 부담 감소 실측 별도</a:t>
            </a:r>
          </a:p>
        </p:txBody>
      </p:sp>
    </p:spTree>
    <p:extLst>
      <p:ext uri="{BB962C8B-B14F-4D97-AF65-F5344CB8AC3E}">
        <p14:creationId xmlns:p14="http://schemas.microsoft.com/office/powerpoint/2010/main" val="97539693"/>
      </p:ext>
    </p:extLst>
  </p:cSld>
</p:sld>
</file>

<file path=ppt/slides/slide10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8174B686-71CF-440B-8FBC-374386BFFF3A}"/>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4A9286DD-E8C3-4CEE-B95F-6D78A2D7451A}"/>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C5F15215-9FF2-4359-8212-84C762402858}"/>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5AD06BEB-FE0D-4C92-8DA9-95638EE4F001}"/>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B3275114-AE1D-4E49-A395-EB0B81F804E9}"/>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ECCB68CA-9F83-4109-866A-01CBC4A1854B}"/>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2E636456-1F90-4EDE-8F38-D1EFD2D63718}"/>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55625864-BB94-477E-B076-0C2A83BEC407}"/>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B0BA16D5-ED3C-46D7-BC42-334D9F9CD49B}"/>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D99A113D-FE8F-4D9B-AC98-2BFB9FE4E90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AX24 / 원문 추출·대조·사람 확정</a:t>
            </a:r>
          </a:p>
        </p:txBody>
      </p:sp>
      <p:sp>
        <p:nvSpPr>
          <p:cNvPr id="2" name="">
            <a:extLst xmlns:a="http://schemas.openxmlformats.org/drawingml/2006/main">
              <a:ext uri="{FF2B5EF4-FFF2-40B4-BE49-F238E27FC236}">
                <a16:creationId xmlns:a16="http://schemas.microsoft.com/office/drawing/2014/main" id="{702C6F0A-35A8-4A92-8CAD-3DA089711A2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국가 R&amp;D 사업비 Risk 지원 · 세부 서비스 구조</a:t>
            </a:r>
          </a:p>
        </p:txBody>
      </p:sp>
      <p:sp>
        <p:nvSpPr>
          <p:cNvPr id="3" name="">
            <a:extLst xmlns:a="http://schemas.openxmlformats.org/drawingml/2006/main">
              <a:ext uri="{FF2B5EF4-FFF2-40B4-BE49-F238E27FC236}">
                <a16:creationId xmlns:a16="http://schemas.microsoft.com/office/drawing/2014/main" id="{A48033CD-16EE-4FF0-BB41-DE2A3D2679D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FC52563-9B8B-428C-A70F-D9634153CB6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112F813-3539-4DE5-A66D-CC793142492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101</a:t>
            </a:r>
          </a:p>
        </p:txBody>
      </p:sp>
      <p:sp>
        <p:nvSpPr>
          <p:cNvPr id="6" name="">
            <a:extLst xmlns:a="http://schemas.openxmlformats.org/drawingml/2006/main">
              <a:ext uri="{FF2B5EF4-FFF2-40B4-BE49-F238E27FC236}">
                <a16:creationId xmlns:a16="http://schemas.microsoft.com/office/drawing/2014/main" id="{EB7E44CA-8743-4AC2-B25B-1C848F260C7D}"/>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부처 지침·집행자료 → 규정 질의 → 서식·증빙 정리 → 연구자·기관 검토</a:t>
            </a:r>
          </a:p>
        </p:txBody>
      </p:sp>
      <p:sp>
        <p:nvSpPr>
          <p:cNvPr id="7" name="">
            <a:extLst xmlns:a="http://schemas.openxmlformats.org/drawingml/2006/main">
              <a:ext uri="{FF2B5EF4-FFF2-40B4-BE49-F238E27FC236}">
                <a16:creationId xmlns:a16="http://schemas.microsoft.com/office/drawing/2014/main" id="{5CCE2E15-C534-41CF-9F0F-D7692749764D}"/>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619328B3-2653-4582-A1C8-FE290D7D1BC9}"/>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6BBBD6D9-0A32-4C25-A5EF-0AE7EE56D69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연구비 질의</a:t>
            </a:r>
          </a:p>
        </p:txBody>
      </p:sp>
      <p:sp>
        <p:nvSpPr>
          <p:cNvPr id="10" name="">
            <a:extLst xmlns:a="http://schemas.openxmlformats.org/drawingml/2006/main">
              <a:ext uri="{FF2B5EF4-FFF2-40B4-BE49-F238E27FC236}">
                <a16:creationId xmlns:a16="http://schemas.microsoft.com/office/drawing/2014/main" id="{02B2A404-A1F2-4B4A-8885-32BF4456FA1D}"/>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19CF9571-672B-4828-9415-B274C58A5864}"/>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21119760-5A40-4D70-AF8F-48D2DE7FA756}"/>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조건 비교·서식</a:t>
            </a:r>
          </a:p>
        </p:txBody>
      </p:sp>
      <p:sp>
        <p:nvSpPr>
          <p:cNvPr id="13" name="">
            <a:extLst xmlns:a="http://schemas.openxmlformats.org/drawingml/2006/main">
              <a:ext uri="{FF2B5EF4-FFF2-40B4-BE49-F238E27FC236}">
                <a16:creationId xmlns:a16="http://schemas.microsoft.com/office/drawing/2014/main" id="{6B616883-19D3-4AF5-BD12-B45B9756062C}"/>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8B718BC2-FB4C-4921-A582-D88CEDE36DEB}"/>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F6C9D665-AA05-46DE-A63B-A360646BBBDC}"/>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판본·누락 검사</a:t>
            </a:r>
          </a:p>
        </p:txBody>
      </p:sp>
      <p:sp>
        <p:nvSpPr>
          <p:cNvPr id="16" name="">
            <a:extLst xmlns:a="http://schemas.openxmlformats.org/drawingml/2006/main">
              <a:ext uri="{FF2B5EF4-FFF2-40B4-BE49-F238E27FC236}">
                <a16:creationId xmlns:a16="http://schemas.microsoft.com/office/drawing/2014/main" id="{C390A14B-5E6A-4454-AAE5-42456DAA9890}"/>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C529835F-EF36-4452-AA18-BD75DD41CD03}"/>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13866417-720F-495B-BE72-AC248B08D265}"/>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기관 검토자 확인</a:t>
            </a:r>
          </a:p>
        </p:txBody>
      </p:sp>
      <p:sp>
        <p:nvSpPr>
          <p:cNvPr id="19" name="">
            <a:extLst xmlns:a="http://schemas.openxmlformats.org/drawingml/2006/main">
              <a:ext uri="{FF2B5EF4-FFF2-40B4-BE49-F238E27FC236}">
                <a16:creationId xmlns:a16="http://schemas.microsoft.com/office/drawing/2014/main" id="{8DC8644B-2097-4AD6-AE7E-F5364C8676AE}"/>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7AE756AD-6C74-4713-BD4A-403CFCDC0104}"/>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82BB90CE-A0C6-4435-9B27-DC8C11BEBC61}"/>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보완·집행 검토</a:t>
            </a:r>
          </a:p>
        </p:txBody>
      </p:sp>
      <p:sp>
        <p:nvSpPr>
          <p:cNvPr id="22" name="">
            <a:extLst xmlns:a="http://schemas.openxmlformats.org/drawingml/2006/main">
              <a:ext uri="{FF2B5EF4-FFF2-40B4-BE49-F238E27FC236}">
                <a16:creationId xmlns:a16="http://schemas.microsoft.com/office/drawing/2014/main" id="{4431A487-4C0B-486A-BB75-F4A5F510B217}"/>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E979BE14-441D-4074-A5DF-CEBF5D8CDA7A}"/>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0CF95FC3-4309-42F2-8B05-D233224CFC57}"/>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지침·거래 증빙</a:t>
            </a:r>
          </a:p>
        </p:txBody>
      </p:sp>
      <p:sp>
        <p:nvSpPr>
          <p:cNvPr id="25" name="">
            <a:extLst xmlns:a="http://schemas.openxmlformats.org/drawingml/2006/main">
              <a:ext uri="{FF2B5EF4-FFF2-40B4-BE49-F238E27FC236}">
                <a16:creationId xmlns:a16="http://schemas.microsoft.com/office/drawing/2014/main" id="{C3165110-0234-44FD-BD75-2589FEC5815B}"/>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95877877-C4E4-4F36-B270-9416EC2E48FD}"/>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59BF9776-D81D-45E0-B8B3-C6C3FD2DC8E6}"/>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판본·항목 연결</a:t>
            </a:r>
          </a:p>
        </p:txBody>
      </p:sp>
      <p:sp>
        <p:nvSpPr>
          <p:cNvPr id="28" name="">
            <a:extLst xmlns:a="http://schemas.openxmlformats.org/drawingml/2006/main">
              <a:ext uri="{FF2B5EF4-FFF2-40B4-BE49-F238E27FC236}">
                <a16:creationId xmlns:a16="http://schemas.microsoft.com/office/drawing/2014/main" id="{3FE3DD4C-C64F-44BA-B3F3-4284828F39AC}"/>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2D5001CF-5C59-47AA-9B35-DA7AF614D3F9}"/>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0B36D502-50E2-4931-9D67-CB70521F2157}"/>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규정·증빙 조회</a:t>
            </a:r>
          </a:p>
        </p:txBody>
      </p:sp>
      <p:sp>
        <p:nvSpPr>
          <p:cNvPr id="31" name="">
            <a:extLst xmlns:a="http://schemas.openxmlformats.org/drawingml/2006/main">
              <a:ext uri="{FF2B5EF4-FFF2-40B4-BE49-F238E27FC236}">
                <a16:creationId xmlns:a16="http://schemas.microsoft.com/office/drawing/2014/main" id="{CA93D6F5-FE99-4E40-8FDA-773870C15843}"/>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6A13F589-0299-4E92-AD44-92817E85924D}"/>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E9C6F490-3483-46DF-B120-F737319F3A2E}"/>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집행·근거 기록</a:t>
            </a:r>
          </a:p>
        </p:txBody>
      </p:sp>
      <p:sp>
        <p:nvSpPr>
          <p:cNvPr id="34" name="">
            <a:extLst xmlns:a="http://schemas.openxmlformats.org/drawingml/2006/main">
              <a:ext uri="{FF2B5EF4-FFF2-40B4-BE49-F238E27FC236}">
                <a16:creationId xmlns:a16="http://schemas.microsoft.com/office/drawing/2014/main" id="{4C345884-4CCC-4B80-A978-2908A6267E78}"/>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E9733498-3052-44AD-83FC-6A268133A046}"/>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5A2FA93C-C8B1-41E0-A8CF-7AC5C2D7C763}"/>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오분류 추적</a:t>
            </a:r>
          </a:p>
        </p:txBody>
      </p:sp>
      <p:sp>
        <p:nvSpPr>
          <p:cNvPr id="46" name="">
            <a:extLst xmlns:a="http://schemas.openxmlformats.org/drawingml/2006/main">
              <a:ext uri="{FF2B5EF4-FFF2-40B4-BE49-F238E27FC236}">
                <a16:creationId xmlns:a16="http://schemas.microsoft.com/office/drawing/2014/main" id="{D0E29CD2-DDA3-4A6F-BE4C-E35E1A1F14F3}"/>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414941096"/>
      </p:ext>
    </p:extLst>
  </p:cSld>
</p:sld>
</file>

<file path=ppt/slides/slide10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F50B611-C6C9-4C99-914D-183C11349DB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AX24 / 논리 인터페이스·복구 설계</a:t>
            </a:r>
          </a:p>
        </p:txBody>
      </p:sp>
      <p:sp>
        <p:nvSpPr>
          <p:cNvPr id="2" name="">
            <a:extLst xmlns:a="http://schemas.openxmlformats.org/drawingml/2006/main">
              <a:ext uri="{FF2B5EF4-FFF2-40B4-BE49-F238E27FC236}">
                <a16:creationId xmlns:a16="http://schemas.microsoft.com/office/drawing/2014/main" id="{B1ADAAB7-8AE3-4916-829E-2D40E5CE758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국가 R&amp;D 사업비 Risk 지원 · 데이터와 예외 처리</a:t>
            </a:r>
          </a:p>
        </p:txBody>
      </p:sp>
      <p:sp>
        <p:nvSpPr>
          <p:cNvPr id="3" name="">
            <a:extLst xmlns:a="http://schemas.openxmlformats.org/drawingml/2006/main">
              <a:ext uri="{FF2B5EF4-FFF2-40B4-BE49-F238E27FC236}">
                <a16:creationId xmlns:a16="http://schemas.microsoft.com/office/drawing/2014/main" id="{DF061E61-C969-4D6A-9668-A4AD229D12F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C904C5A-1A58-44C2-AA2C-7330306B45D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0FD1D22-81CC-43A7-AB5D-C4DEDDA4D40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102</a:t>
            </a:r>
          </a:p>
        </p:txBody>
      </p:sp>
      <p:sp>
        <p:nvSpPr>
          <p:cNvPr id="6" name="">
            <a:extLst xmlns:a="http://schemas.openxmlformats.org/drawingml/2006/main">
              <a:ext uri="{FF2B5EF4-FFF2-40B4-BE49-F238E27FC236}">
                <a16:creationId xmlns:a16="http://schemas.microsoft.com/office/drawing/2014/main" id="{F0E1533C-D645-45E0-A0E2-4EDFD977B8CB}"/>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A007C9AF-F2B1-44BE-B6F4-97C8CFE5DEF5}"/>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F10F472F-1704-4274-BC5F-96A0711FAD38}"/>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61ECE30E-1BAC-42EB-9D7C-2F1BE5534A3B}"/>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지침·증빙 기록</a:t>
            </a:r>
          </a:p>
        </p:txBody>
      </p:sp>
      <p:sp>
        <p:nvSpPr>
          <p:cNvPr id="10" name="">
            <a:extLst xmlns:a="http://schemas.openxmlformats.org/drawingml/2006/main">
              <a:ext uri="{FF2B5EF4-FFF2-40B4-BE49-F238E27FC236}">
                <a16:creationId xmlns:a16="http://schemas.microsoft.com/office/drawing/2014/main" id="{133AF464-990D-4F5B-B050-3E8930433E7E}"/>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8C66534-1A65-419D-9B3C-D3CF8ED7E21D}"/>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60AD475F-677B-4BEC-A7E3-CC186C4E0A41}"/>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DA2B8D36-1D00-4D12-B586-F463E59B4B5E}"/>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4D60010-DC9A-44AA-A512-BB9D518097AA}"/>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6553BBEB-3D63-4E75-A824-B03466F09F20}"/>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서식·증빙 목록</a:t>
            </a:r>
          </a:p>
        </p:txBody>
      </p:sp>
      <p:sp>
        <p:nvSpPr>
          <p:cNvPr id="16" name="">
            <a:extLst xmlns:a="http://schemas.openxmlformats.org/drawingml/2006/main">
              <a:ext uri="{FF2B5EF4-FFF2-40B4-BE49-F238E27FC236}">
                <a16:creationId xmlns:a16="http://schemas.microsoft.com/office/drawing/2014/main" id="{37634058-F437-4A4C-B0AF-1542E567983C}"/>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2BBE33E-91EA-45A2-9AE0-65021ECCAFFA}"/>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58E73B7B-40D3-4945-AE1D-2F69F9114DBB}"/>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적용 규정</a:t>
            </a:r>
          </a:p>
        </p:txBody>
      </p:sp>
      <p:sp>
        <p:nvSpPr>
          <p:cNvPr id="19" name="">
            <a:extLst xmlns:a="http://schemas.openxmlformats.org/drawingml/2006/main">
              <a:ext uri="{FF2B5EF4-FFF2-40B4-BE49-F238E27FC236}">
                <a16:creationId xmlns:a16="http://schemas.microsoft.com/office/drawing/2014/main" id="{F8A1AC58-340B-49F2-8DC2-D01265889F70}"/>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19CCA09-E458-43A7-8348-6F96F83192BC}"/>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C7B43848-AF22-4CB0-A46A-0B226E5E82E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서식·증빙 목록</a:t>
            </a:r>
          </a:p>
        </p:txBody>
      </p:sp>
      <p:sp>
        <p:nvSpPr>
          <p:cNvPr id="22" name="">
            <a:extLst xmlns:a="http://schemas.openxmlformats.org/drawingml/2006/main">
              <a:ext uri="{FF2B5EF4-FFF2-40B4-BE49-F238E27FC236}">
                <a16:creationId xmlns:a16="http://schemas.microsoft.com/office/drawing/2014/main" id="{11223568-128C-44C6-903B-0FDF3926838B}"/>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C912CA6-097F-40BD-94C9-4F5054700CFE}"/>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B80F0CCE-3C17-4737-AA55-819A1DB91075}"/>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보완·검토 결과</a:t>
            </a:r>
          </a:p>
        </p:txBody>
      </p:sp>
      <p:sp>
        <p:nvSpPr>
          <p:cNvPr id="25" name="">
            <a:extLst xmlns:a="http://schemas.openxmlformats.org/drawingml/2006/main">
              <a:ext uri="{FF2B5EF4-FFF2-40B4-BE49-F238E27FC236}">
                <a16:creationId xmlns:a16="http://schemas.microsoft.com/office/drawing/2014/main" id="{5887ACE5-1E94-45BF-853F-275CEF01DFE3}"/>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E7CAB14F-3121-4D82-ADBF-84068655BDEA}"/>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다른 부처 지침·기간 외 거래·중복 집행 증빙</a:t>
            </a:r>
          </a:p>
        </p:txBody>
      </p:sp>
      <p:sp>
        <p:nvSpPr>
          <p:cNvPr id="27" name="">
            <a:extLst xmlns:a="http://schemas.openxmlformats.org/drawingml/2006/main">
              <a:ext uri="{FF2B5EF4-FFF2-40B4-BE49-F238E27FC236}">
                <a16:creationId xmlns:a16="http://schemas.microsoft.com/office/drawing/2014/main" id="{4131DA16-1F0F-466F-BD0B-173216941005}"/>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DAEC9BD4-3C2A-4CED-8AC8-467BB2406FAD}"/>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사업·판본별 의무와 예외 대사</a:t>
            </a:r>
          </a:p>
        </p:txBody>
      </p:sp>
      <p:sp>
        <p:nvSpPr>
          <p:cNvPr id="29" name="">
            <a:extLst xmlns:a="http://schemas.openxmlformats.org/drawingml/2006/main">
              <a:ext uri="{FF2B5EF4-FFF2-40B4-BE49-F238E27FC236}">
                <a16:creationId xmlns:a16="http://schemas.microsoft.com/office/drawing/2014/main" id="{286295CF-259C-4F67-99E7-023AB6FB338D}"/>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91C7989E-5971-43BA-B8BF-76984D8C4F51}"/>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오분류·증빙 누락과 검토 결과 추적</a:t>
            </a:r>
          </a:p>
        </p:txBody>
      </p:sp>
      <p:sp>
        <p:nvSpPr>
          <p:cNvPr id="31" name="">
            <a:extLst xmlns:a="http://schemas.openxmlformats.org/drawingml/2006/main">
              <a:ext uri="{FF2B5EF4-FFF2-40B4-BE49-F238E27FC236}">
                <a16:creationId xmlns:a16="http://schemas.microsoft.com/office/drawing/2014/main" id="{51CD9DFE-6A62-4504-8163-361FC6246239}"/>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561198FC-97D8-4DEA-90AE-B2BF5044D867}"/>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요건·거래·증빙·검토자 연결표와 누락 검출 결과</a:t>
            </a:r>
          </a:p>
        </p:txBody>
      </p:sp>
    </p:spTree>
    <p:extLst>
      <p:ext uri="{BB962C8B-B14F-4D97-AF65-F5344CB8AC3E}">
        <p14:creationId xmlns:p14="http://schemas.microsoft.com/office/powerpoint/2010/main" val="78379690"/>
      </p:ext>
    </p:extLst>
  </p:cSld>
</p:sld>
</file>

<file path=ppt/slides/slide10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14F2A61-5ADE-4C89-9028-E2E5DA429DC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AX24 / CCK 비교·재현 시험 설계</a:t>
            </a:r>
          </a:p>
        </p:txBody>
      </p:sp>
      <p:sp>
        <p:nvSpPr>
          <p:cNvPr id="2" name="">
            <a:extLst xmlns:a="http://schemas.openxmlformats.org/drawingml/2006/main">
              <a:ext uri="{FF2B5EF4-FFF2-40B4-BE49-F238E27FC236}">
                <a16:creationId xmlns:a16="http://schemas.microsoft.com/office/drawing/2014/main" id="{440EBD2F-3355-4B0C-9E64-627B1DB8643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국가 R&amp;D 사업비 Risk 지원 · 벤치마킹</a:t>
            </a:r>
          </a:p>
        </p:txBody>
      </p:sp>
      <p:sp>
        <p:nvSpPr>
          <p:cNvPr id="3" name="">
            <a:extLst xmlns:a="http://schemas.openxmlformats.org/drawingml/2006/main">
              <a:ext uri="{FF2B5EF4-FFF2-40B4-BE49-F238E27FC236}">
                <a16:creationId xmlns:a16="http://schemas.microsoft.com/office/drawing/2014/main" id="{996F88A9-010A-49B3-9FB3-EDDE19C73C5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F759208-04F3-46E0-BF69-5466C754D54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D17E2E3-507C-40AB-AD5E-F94C292F3ED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103</a:t>
            </a:r>
          </a:p>
        </p:txBody>
      </p:sp>
      <p:sp>
        <p:nvSpPr>
          <p:cNvPr id="6" name="">
            <a:extLst xmlns:a="http://schemas.openxmlformats.org/drawingml/2006/main">
              <a:ext uri="{FF2B5EF4-FFF2-40B4-BE49-F238E27FC236}">
                <a16:creationId xmlns:a16="http://schemas.microsoft.com/office/drawing/2014/main" id="{6A1551D0-019D-48E9-B301-6D35BED1FF51}"/>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4F0BE2BB-2B83-42D3-83FF-8783B8BA18A1}"/>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부처 지침과 집행 자료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서식·증빙을 검토 과정에 결합</a:t>
            </a:r>
          </a:p>
        </p:txBody>
      </p:sp>
      <p:sp>
        <p:nvSpPr>
          <p:cNvPr id="8" name="">
            <a:extLst xmlns:a="http://schemas.openxmlformats.org/drawingml/2006/main">
              <a:ext uri="{FF2B5EF4-FFF2-40B4-BE49-F238E27FC236}">
                <a16:creationId xmlns:a16="http://schemas.microsoft.com/office/drawing/2014/main" id="{36F76AC5-5E5F-4CC3-A266-CF67B766B323}"/>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DCF7B463-97FD-44E4-8612-5CD77F643C61}"/>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부처·연차별 집행기준 혼용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서식 생성과 적정 집행 판정의 혼동</a:t>
            </a:r>
          </a:p>
        </p:txBody>
      </p:sp>
      <p:sp>
        <p:nvSpPr>
          <p:cNvPr id="10" name="">
            <a:extLst xmlns:a="http://schemas.openxmlformats.org/drawingml/2006/main">
              <a:ext uri="{FF2B5EF4-FFF2-40B4-BE49-F238E27FC236}">
                <a16:creationId xmlns:a16="http://schemas.microsoft.com/office/drawing/2014/main" id="{EE08733A-C212-44B8-8A65-DC1CF126F9B4}"/>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49375DD9-B012-4040-B916-6C2E7225C8B8}"/>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사업·판본별 의무와 예외 대사</a:t>
            </a:r>
          </a:p>
        </p:txBody>
      </p:sp>
      <p:sp>
        <p:nvSpPr>
          <p:cNvPr id="12" name="">
            <a:extLst xmlns:a="http://schemas.openxmlformats.org/drawingml/2006/main">
              <a:ext uri="{FF2B5EF4-FFF2-40B4-BE49-F238E27FC236}">
                <a16:creationId xmlns:a16="http://schemas.microsoft.com/office/drawing/2014/main" id="{570F3041-BC23-40E4-BE54-C5029BAEEA8F}"/>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419B5C51-4F83-48ED-AF65-DA7EAD4CD8D1}"/>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부처·사업·협약기간에 맞는 집행 조건과 증빙 확인</a:t>
            </a:r>
          </a:p>
        </p:txBody>
      </p:sp>
      <p:sp>
        <p:nvSpPr>
          <p:cNvPr id="14" name="">
            <a:extLst xmlns:a="http://schemas.openxmlformats.org/drawingml/2006/main">
              <a:ext uri="{FF2B5EF4-FFF2-40B4-BE49-F238E27FC236}">
                <a16:creationId xmlns:a16="http://schemas.microsoft.com/office/drawing/2014/main" id="{FF2AF2AD-14A1-4D65-8CEA-B354566ECD6B}"/>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6DDEE20F-8130-4418-867D-DD4ABEBAA2FB}"/>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부처 지침·기간 외 거래·중복 집행 증빙</a:t>
            </a:r>
          </a:p>
        </p:txBody>
      </p:sp>
      <p:sp>
        <p:nvSpPr>
          <p:cNvPr id="16" name="">
            <a:extLst xmlns:a="http://schemas.openxmlformats.org/drawingml/2006/main">
              <a:ext uri="{FF2B5EF4-FFF2-40B4-BE49-F238E27FC236}">
                <a16:creationId xmlns:a16="http://schemas.microsoft.com/office/drawing/2014/main" id="{AAD30673-CAAC-4935-980C-9DE71EB1D61B}"/>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020E759E-C643-4C8A-901C-3B531DB32C41}"/>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요건·거래·증빙·검토자 연결표와 누락 검출 결과</a:t>
            </a:r>
          </a:p>
        </p:txBody>
      </p:sp>
    </p:spTree>
    <p:extLst>
      <p:ext uri="{BB962C8B-B14F-4D97-AF65-F5344CB8AC3E}">
        <p14:creationId xmlns:p14="http://schemas.microsoft.com/office/powerpoint/2010/main" val="193680822"/>
      </p:ext>
    </p:extLst>
  </p:cSld>
</p:sld>
</file>

<file path=ppt/slides/slide10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BFFA35C-D95D-42A9-9D69-A319464FB39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AX25 / 시범 / 국내</a:t>
            </a:r>
          </a:p>
        </p:txBody>
      </p:sp>
      <p:sp>
        <p:nvSpPr>
          <p:cNvPr id="2" name="">
            <a:extLst xmlns:a="http://schemas.openxmlformats.org/drawingml/2006/main">
              <a:ext uri="{FF2B5EF4-FFF2-40B4-BE49-F238E27FC236}">
                <a16:creationId xmlns:a16="http://schemas.microsoft.com/office/drawing/2014/main" id="{2E999B9B-22F2-4BDD-8271-C8CD0A438FE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조달청 e-제안요청 도움</a:t>
            </a:r>
          </a:p>
        </p:txBody>
      </p:sp>
      <p:sp>
        <p:nvSpPr>
          <p:cNvPr id="3" name="">
            <a:extLst xmlns:a="http://schemas.openxmlformats.org/drawingml/2006/main">
              <a:ext uri="{FF2B5EF4-FFF2-40B4-BE49-F238E27FC236}">
                <a16:creationId xmlns:a16="http://schemas.microsoft.com/office/drawing/2014/main" id="{DED2814A-FD1A-42EB-AE3C-D53191AA621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C92725E-2B9D-4745-B869-25EB8090DE1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8F9256B-63D6-4647-918B-35125054E67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104</a:t>
            </a:r>
          </a:p>
        </p:txBody>
      </p:sp>
      <p:sp>
        <p:nvSpPr>
          <p:cNvPr id="6" name="">
            <a:extLst xmlns:a="http://schemas.openxmlformats.org/drawingml/2006/main">
              <a:ext uri="{FF2B5EF4-FFF2-40B4-BE49-F238E27FC236}">
                <a16:creationId xmlns:a16="http://schemas.microsoft.com/office/drawing/2014/main" id="{8D3AFC36-8B45-4843-91BF-A251606E8531}"/>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A13EA759-E76C-4A82-AFF0-A7843285977B}"/>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RFP와 사업 수요를 분석해 목차·키워드·요구사항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초안을 만드는 지원 사례. 과거 문서를 재활용하면서 신</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규 범위와 기존 의무의 중복을 피하는 작업이 핵심.</a:t>
            </a:r>
          </a:p>
        </p:txBody>
      </p:sp>
      <p:sp>
        <p:nvSpPr>
          <p:cNvPr id="8" name="">
            <a:extLst xmlns:a="http://schemas.openxmlformats.org/drawingml/2006/main">
              <a:ext uri="{FF2B5EF4-FFF2-40B4-BE49-F238E27FC236}">
                <a16:creationId xmlns:a16="http://schemas.microsoft.com/office/drawing/2014/main" id="{15BDECEF-C4E8-47D5-B199-89FD546E801F}"/>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9EFC2EEB-67B2-4C22-A71C-631A31C74735}"/>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사업 목적·현재 시스템·추가 개발 범위를 입력하고 목차</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별 요구 후보를 구성하는 재구성. 담당자가 출처·누락·중</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복·검수 가능성을 확인한 뒤 요구 ID와 시험 항목을 연결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a:t>
            </a:r>
          </a:p>
        </p:txBody>
      </p:sp>
      <p:sp>
        <p:nvSpPr>
          <p:cNvPr id="10" name="">
            <a:extLst xmlns:a="http://schemas.openxmlformats.org/drawingml/2006/main">
              <a:ext uri="{FF2B5EF4-FFF2-40B4-BE49-F238E27FC236}">
                <a16:creationId xmlns:a16="http://schemas.microsoft.com/office/drawing/2014/main" id="{AF12FDE8-3B5A-4C60-B0B0-66A9A6A0BEF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D44D6D36-3F68-4A83-AECE-43EE869EE117}"/>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 제안·사업관리 스킬에서는 문서 생성보다 근거와 요</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구·검수의 추적을 공통 기능으로 활용. 기존 과업 복사, 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검수기준, 법령 판본 혼용을 포함한 검토 시나리오 필요.</a:t>
            </a:r>
          </a:p>
        </p:txBody>
      </p:sp>
      <p:sp>
        <p:nvSpPr>
          <p:cNvPr id="12" name="">
            <a:extLst xmlns:a="http://schemas.openxmlformats.org/drawingml/2006/main">
              <a:ext uri="{FF2B5EF4-FFF2-40B4-BE49-F238E27FC236}">
                <a16:creationId xmlns:a16="http://schemas.microsoft.com/office/drawing/2014/main" id="{A85A8D04-A149-47B4-9264-B15CD4708ECF}"/>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E2671207-B313-46B9-869C-5ECC7AA0BE36}"/>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요구ID·원문·산출물·검수의 누락 검사</a:t>
            </a:r>
          </a:p>
        </p:txBody>
      </p:sp>
      <p:sp>
        <p:nvSpPr>
          <p:cNvPr id="14" name="">
            <a:extLst xmlns:a="http://schemas.openxmlformats.org/drawingml/2006/main">
              <a:ext uri="{FF2B5EF4-FFF2-40B4-BE49-F238E27FC236}">
                <a16:creationId xmlns:a16="http://schemas.microsoft.com/office/drawing/2014/main" id="{BD4D55EA-99A0-4E32-AB7A-A221C6264ED8}"/>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1FEDCE5B-A489-4BDE-8664-038C6D6EBD0B}"/>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누락·중복·상충 요구 및 근거 없는 성능 목표 탐지</a:t>
            </a:r>
          </a:p>
        </p:txBody>
      </p:sp>
      <p:sp>
        <p:nvSpPr>
          <p:cNvPr id="16" name="">
            <a:extLst xmlns:a="http://schemas.openxmlformats.org/drawingml/2006/main">
              <a:ext uri="{FF2B5EF4-FFF2-40B4-BE49-F238E27FC236}">
                <a16:creationId xmlns:a16="http://schemas.microsoft.com/office/drawing/2014/main" id="{90770BE0-BA7A-44F9-8D65-16AE9FD86D10}"/>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48E8DFBB-1896-404A-81C7-84E91CD08FAF}"/>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작성·보완 시간 / 추적 누락률</a:t>
            </a:r>
          </a:p>
        </p:txBody>
      </p:sp>
      <p:sp>
        <p:nvSpPr>
          <p:cNvPr id="18" name="">
            <a:extLst xmlns:a="http://schemas.openxmlformats.org/drawingml/2006/main">
              <a:ext uri="{FF2B5EF4-FFF2-40B4-BE49-F238E27FC236}">
                <a16:creationId xmlns:a16="http://schemas.microsoft.com/office/drawing/2014/main" id="{70BD9476-015C-4A44-9FAE-3896A3F1345A}"/>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작성 지원 범위 · 요구사항·예산의 자동 승인과 구분</a:t>
            </a:r>
          </a:p>
        </p:txBody>
      </p:sp>
    </p:spTree>
    <p:extLst>
      <p:ext uri="{BB962C8B-B14F-4D97-AF65-F5344CB8AC3E}">
        <p14:creationId xmlns:p14="http://schemas.microsoft.com/office/powerpoint/2010/main" val="1779163849"/>
      </p:ext>
    </p:extLst>
  </p:cSld>
</p:sld>
</file>

<file path=ppt/slides/slide10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ECE31A24-DD5D-4CBE-9B96-593D2757A31E}"/>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94EF440A-CE84-482B-9F5D-DD54D53E6C93}"/>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6C3B6466-07DC-40BE-8C99-26C640516B23}"/>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35435283-EB63-4ED2-B431-B02EB31D08E4}"/>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5FE4DE59-E8A4-4BE5-819B-B75D432F3C00}"/>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14B2A8BE-F8F2-447F-AA98-B0EF27239B68}"/>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0B461D6B-E2F3-4F98-8CBA-5F0541BE46AD}"/>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087360F7-4350-439B-A60B-B385511DE19C}"/>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8BCFF503-C2AE-4C98-8F0C-0F22A9FF1C4D}"/>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6E583BC5-DC1F-47B4-81E4-F8572FFBC01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AX25 / 원문 추출·대조·사람 확정</a:t>
            </a:r>
          </a:p>
        </p:txBody>
      </p:sp>
      <p:sp>
        <p:nvSpPr>
          <p:cNvPr id="2" name="">
            <a:extLst xmlns:a="http://schemas.openxmlformats.org/drawingml/2006/main">
              <a:ext uri="{FF2B5EF4-FFF2-40B4-BE49-F238E27FC236}">
                <a16:creationId xmlns:a16="http://schemas.microsoft.com/office/drawing/2014/main" id="{3A11E669-6022-4757-9946-794C1510DF9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조달청 e-제안요청 도움 · 세부 서비스 구조</a:t>
            </a:r>
          </a:p>
        </p:txBody>
      </p:sp>
      <p:sp>
        <p:nvSpPr>
          <p:cNvPr id="3" name="">
            <a:extLst xmlns:a="http://schemas.openxmlformats.org/drawingml/2006/main">
              <a:ext uri="{FF2B5EF4-FFF2-40B4-BE49-F238E27FC236}">
                <a16:creationId xmlns:a16="http://schemas.microsoft.com/office/drawing/2014/main" id="{99DF40CF-34F3-48FF-9528-CB0578418DD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309E609-33E5-4210-BF65-D39054CC815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4F668B1-2DC9-4F53-ADB7-0B50C2D13B0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105</a:t>
            </a:r>
          </a:p>
        </p:txBody>
      </p:sp>
      <p:sp>
        <p:nvSpPr>
          <p:cNvPr id="6" name="">
            <a:extLst xmlns:a="http://schemas.openxmlformats.org/drawingml/2006/main">
              <a:ext uri="{FF2B5EF4-FFF2-40B4-BE49-F238E27FC236}">
                <a16:creationId xmlns:a16="http://schemas.microsoft.com/office/drawing/2014/main" id="{56C9AF41-D406-4426-93B4-0088F54C2EA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기존 RFP → 목차·키워드 추출 → 담당자 검증 → 초안 구성</a:t>
            </a:r>
          </a:p>
        </p:txBody>
      </p:sp>
      <p:sp>
        <p:nvSpPr>
          <p:cNvPr id="7" name="">
            <a:extLst xmlns:a="http://schemas.openxmlformats.org/drawingml/2006/main">
              <a:ext uri="{FF2B5EF4-FFF2-40B4-BE49-F238E27FC236}">
                <a16:creationId xmlns:a16="http://schemas.microsoft.com/office/drawing/2014/main" id="{FD2D7902-6643-41A1-B9CF-9E221023BD04}"/>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BF47CD19-712F-4D5E-92C4-660C5EB488E8}"/>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52370672-81F4-4DFF-ADB8-CEA1426395B0}"/>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RFP 작성 요청</a:t>
            </a:r>
          </a:p>
        </p:txBody>
      </p:sp>
      <p:sp>
        <p:nvSpPr>
          <p:cNvPr id="10" name="">
            <a:extLst xmlns:a="http://schemas.openxmlformats.org/drawingml/2006/main">
              <a:ext uri="{FF2B5EF4-FFF2-40B4-BE49-F238E27FC236}">
                <a16:creationId xmlns:a16="http://schemas.microsoft.com/office/drawing/2014/main" id="{83210B29-89C0-4916-A610-487A88C171DC}"/>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1B5441A5-0FB5-47A2-8DDE-D399C18AB6D0}"/>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5B44E523-C68F-47CF-8271-9BB170C286FD}"/>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목차·초안 생성</a:t>
            </a:r>
          </a:p>
        </p:txBody>
      </p:sp>
      <p:sp>
        <p:nvSpPr>
          <p:cNvPr id="13" name="">
            <a:extLst xmlns:a="http://schemas.openxmlformats.org/drawingml/2006/main">
              <a:ext uri="{FF2B5EF4-FFF2-40B4-BE49-F238E27FC236}">
                <a16:creationId xmlns:a16="http://schemas.microsoft.com/office/drawing/2014/main" id="{9E2464D7-23CE-4C2F-AA81-04C01615F001}"/>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B8A001CF-7356-4C46-A7B5-ACB0B1836CDC}"/>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CE88D379-4B04-4436-AEC7-89161005BF66}"/>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중복·누락 대조</a:t>
            </a:r>
          </a:p>
        </p:txBody>
      </p:sp>
      <p:sp>
        <p:nvSpPr>
          <p:cNvPr id="16" name="">
            <a:extLst xmlns:a="http://schemas.openxmlformats.org/drawingml/2006/main">
              <a:ext uri="{FF2B5EF4-FFF2-40B4-BE49-F238E27FC236}">
                <a16:creationId xmlns:a16="http://schemas.microsoft.com/office/drawing/2014/main" id="{3F1A6F95-40ED-4253-AFF5-067EE28D20E3}"/>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14A6EA87-DD8E-4AB9-8B3D-CCEF98EE1E13}"/>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F0A8A11E-2642-48F1-8EE6-F721D0EC8C9C}"/>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발주 담당 검토</a:t>
            </a:r>
          </a:p>
        </p:txBody>
      </p:sp>
      <p:sp>
        <p:nvSpPr>
          <p:cNvPr id="19" name="">
            <a:extLst xmlns:a="http://schemas.openxmlformats.org/drawingml/2006/main">
              <a:ext uri="{FF2B5EF4-FFF2-40B4-BE49-F238E27FC236}">
                <a16:creationId xmlns:a16="http://schemas.microsoft.com/office/drawing/2014/main" id="{4893E6A0-2C32-4D6D-9A5E-F433D46EE372}"/>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EC6363C9-2B06-4A31-AA55-F481C1E9E876}"/>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36938EB2-0388-4774-BE4D-B56CF8A9B355}"/>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요구·검수 명세</a:t>
            </a:r>
          </a:p>
        </p:txBody>
      </p:sp>
      <p:sp>
        <p:nvSpPr>
          <p:cNvPr id="22" name="">
            <a:extLst xmlns:a="http://schemas.openxmlformats.org/drawingml/2006/main">
              <a:ext uri="{FF2B5EF4-FFF2-40B4-BE49-F238E27FC236}">
                <a16:creationId xmlns:a16="http://schemas.microsoft.com/office/drawing/2014/main" id="{C4E91EE6-2417-4C41-9B5F-6490974A9E21}"/>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7A57CFC3-A3B6-4D0A-B012-1AEDDA558C4B}"/>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C5094232-BD4D-45CF-B052-F82200D28D63}"/>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기존 RFP·수요</a:t>
            </a:r>
          </a:p>
        </p:txBody>
      </p:sp>
      <p:sp>
        <p:nvSpPr>
          <p:cNvPr id="25" name="">
            <a:extLst xmlns:a="http://schemas.openxmlformats.org/drawingml/2006/main">
              <a:ext uri="{FF2B5EF4-FFF2-40B4-BE49-F238E27FC236}">
                <a16:creationId xmlns:a16="http://schemas.microsoft.com/office/drawing/2014/main" id="{34CA9A7D-8B8A-4979-94EC-D49F1A73F4BF}"/>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8901770A-F637-4F78-B1DC-3596824A5525}"/>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05D20576-6C7D-442C-B2A7-B650F3EF1A04}"/>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목차·ID 구조화</a:t>
            </a:r>
          </a:p>
        </p:txBody>
      </p:sp>
      <p:sp>
        <p:nvSpPr>
          <p:cNvPr id="28" name="">
            <a:extLst xmlns:a="http://schemas.openxmlformats.org/drawingml/2006/main">
              <a:ext uri="{FF2B5EF4-FFF2-40B4-BE49-F238E27FC236}">
                <a16:creationId xmlns:a16="http://schemas.microsoft.com/office/drawing/2014/main" id="{7C2F51B3-4830-4EFE-A272-DDDD4793DE2C}"/>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D525BC93-4F2F-4DA4-88C7-2B29A19A1369}"/>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5D88C36B-811B-4A3E-8F9E-0BD0C48D458C}"/>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지침·요구 조회</a:t>
            </a:r>
          </a:p>
        </p:txBody>
      </p:sp>
      <p:sp>
        <p:nvSpPr>
          <p:cNvPr id="31" name="">
            <a:extLst xmlns:a="http://schemas.openxmlformats.org/drawingml/2006/main">
              <a:ext uri="{FF2B5EF4-FFF2-40B4-BE49-F238E27FC236}">
                <a16:creationId xmlns:a16="http://schemas.microsoft.com/office/drawing/2014/main" id="{F8A1BD94-C2A5-425D-A6FA-D1B870DCF291}"/>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449AB605-1928-4E8D-9F58-B9FE83AB116F}"/>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930345FF-B13E-45A9-A589-3FC9B18EC42B}"/>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요구·검수 원장</a:t>
            </a:r>
          </a:p>
        </p:txBody>
      </p:sp>
      <p:sp>
        <p:nvSpPr>
          <p:cNvPr id="34" name="">
            <a:extLst xmlns:a="http://schemas.openxmlformats.org/drawingml/2006/main">
              <a:ext uri="{FF2B5EF4-FFF2-40B4-BE49-F238E27FC236}">
                <a16:creationId xmlns:a16="http://schemas.microsoft.com/office/drawing/2014/main" id="{765F8DFF-C033-411B-A27C-615E0F77CC52}"/>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E8E780DC-E066-45C3-A2F6-8BE144D55F46}"/>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88589F8F-BEB2-4894-9380-B29C6A37FC0C}"/>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변경 추적</a:t>
            </a:r>
          </a:p>
        </p:txBody>
      </p:sp>
      <p:sp>
        <p:nvSpPr>
          <p:cNvPr id="46" name="">
            <a:extLst xmlns:a="http://schemas.openxmlformats.org/drawingml/2006/main">
              <a:ext uri="{FF2B5EF4-FFF2-40B4-BE49-F238E27FC236}">
                <a16:creationId xmlns:a16="http://schemas.microsoft.com/office/drawing/2014/main" id="{175EDA95-DA39-443B-818A-6C8603371CCF}"/>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370317038"/>
      </p:ext>
    </p:extLst>
  </p:cSld>
</p:sld>
</file>

<file path=ppt/slides/slide10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8D061CF-FBA2-4FB1-B1C1-3B8C4FA1301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AX25 / 논리 인터페이스·복구 설계</a:t>
            </a:r>
          </a:p>
        </p:txBody>
      </p:sp>
      <p:sp>
        <p:nvSpPr>
          <p:cNvPr id="2" name="">
            <a:extLst xmlns:a="http://schemas.openxmlformats.org/drawingml/2006/main">
              <a:ext uri="{FF2B5EF4-FFF2-40B4-BE49-F238E27FC236}">
                <a16:creationId xmlns:a16="http://schemas.microsoft.com/office/drawing/2014/main" id="{5DBBAF60-5C18-4C82-91E3-F292F4C4441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조달청 e-제안요청 도움 · 데이터와 예외 처리</a:t>
            </a:r>
          </a:p>
        </p:txBody>
      </p:sp>
      <p:sp>
        <p:nvSpPr>
          <p:cNvPr id="3" name="">
            <a:extLst xmlns:a="http://schemas.openxmlformats.org/drawingml/2006/main">
              <a:ext uri="{FF2B5EF4-FFF2-40B4-BE49-F238E27FC236}">
                <a16:creationId xmlns:a16="http://schemas.microsoft.com/office/drawing/2014/main" id="{035F9770-A0F3-45C2-954B-6A45587A0C8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6B9F438-EF71-4DD4-AC06-1327B352A13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83A6DB66-3A52-42FF-BC98-FCF1999385C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106</a:t>
            </a:r>
          </a:p>
        </p:txBody>
      </p:sp>
      <p:sp>
        <p:nvSpPr>
          <p:cNvPr id="6" name="">
            <a:extLst xmlns:a="http://schemas.openxmlformats.org/drawingml/2006/main">
              <a:ext uri="{FF2B5EF4-FFF2-40B4-BE49-F238E27FC236}">
                <a16:creationId xmlns:a16="http://schemas.microsoft.com/office/drawing/2014/main" id="{B57F8191-8325-4EA0-B2DC-4BD57DC43D6A}"/>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5E24185E-6BD8-4303-AB2E-DC4B7AC75A84}"/>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DDCF486C-0F38-4622-96AF-66BB0AA918DE}"/>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4EBF81C2-FD3D-4E64-8436-41A48FF92FB7}"/>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요구·검수 자료</a:t>
            </a:r>
          </a:p>
        </p:txBody>
      </p:sp>
      <p:sp>
        <p:nvSpPr>
          <p:cNvPr id="10" name="">
            <a:extLst xmlns:a="http://schemas.openxmlformats.org/drawingml/2006/main">
              <a:ext uri="{FF2B5EF4-FFF2-40B4-BE49-F238E27FC236}">
                <a16:creationId xmlns:a16="http://schemas.microsoft.com/office/drawing/2014/main" id="{DC471531-D8E3-4EEE-B471-73F62E43A8CC}"/>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E047B50-E3C5-47F2-8DC6-D2CCA4BC9EE6}"/>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EE5EE07F-5C5C-4D09-8EC9-FF0C41A95A7B}"/>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88C52F8D-0E57-48F8-BA64-BA242F7A216F}"/>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2E55670-10A3-4786-BFDC-BEFDB38F5344}"/>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8B6D45DC-AFC5-4194-8B2F-A8817ADF1AE0}"/>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검증된 목차</a:t>
            </a:r>
          </a:p>
        </p:txBody>
      </p:sp>
      <p:sp>
        <p:nvSpPr>
          <p:cNvPr id="16" name="">
            <a:extLst xmlns:a="http://schemas.openxmlformats.org/drawingml/2006/main">
              <a:ext uri="{FF2B5EF4-FFF2-40B4-BE49-F238E27FC236}">
                <a16:creationId xmlns:a16="http://schemas.microsoft.com/office/drawing/2014/main" id="{1B84057C-31B3-4EC3-A6DB-121977F2B1B9}"/>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11FAD8C-C41E-4F6E-8617-6684388CC1D3}"/>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27515319-4A1A-4954-B799-C08BC9E1A14A}"/>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요구 후보</a:t>
            </a:r>
          </a:p>
        </p:txBody>
      </p:sp>
      <p:sp>
        <p:nvSpPr>
          <p:cNvPr id="19" name="">
            <a:extLst xmlns:a="http://schemas.openxmlformats.org/drawingml/2006/main">
              <a:ext uri="{FF2B5EF4-FFF2-40B4-BE49-F238E27FC236}">
                <a16:creationId xmlns:a16="http://schemas.microsoft.com/office/drawing/2014/main" id="{1C875EBC-7D7A-40B1-BC9E-7D48D0ACA338}"/>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9B03381-605F-431F-BB59-0CA9A2C10845}"/>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59140FE6-EACF-444C-B7E5-1B8385702F9E}"/>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검증된 목차</a:t>
            </a:r>
          </a:p>
        </p:txBody>
      </p:sp>
      <p:sp>
        <p:nvSpPr>
          <p:cNvPr id="22" name="">
            <a:extLst xmlns:a="http://schemas.openxmlformats.org/drawingml/2006/main">
              <a:ext uri="{FF2B5EF4-FFF2-40B4-BE49-F238E27FC236}">
                <a16:creationId xmlns:a16="http://schemas.microsoft.com/office/drawing/2014/main" id="{F4357DC5-CF51-47DB-AEB9-A9DFD3764AE8}"/>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E943355-546F-456B-910E-DDD0043DA5F7}"/>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BD5DB4EA-3293-43A6-B051-0DA6E574F27D}"/>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RFP 초안</a:t>
            </a:r>
          </a:p>
        </p:txBody>
      </p:sp>
      <p:sp>
        <p:nvSpPr>
          <p:cNvPr id="25" name="">
            <a:extLst xmlns:a="http://schemas.openxmlformats.org/drawingml/2006/main">
              <a:ext uri="{FF2B5EF4-FFF2-40B4-BE49-F238E27FC236}">
                <a16:creationId xmlns:a16="http://schemas.microsoft.com/office/drawing/2014/main" id="{BDF7B49E-27A1-41C3-83AC-60CB3C0AC94C}"/>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A3BF35F0-DD19-40E4-9316-96921C9AF91C}"/>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기존 계약 중복·수치 근거 부재·검수 불가능 요구</a:t>
            </a:r>
          </a:p>
        </p:txBody>
      </p:sp>
      <p:sp>
        <p:nvSpPr>
          <p:cNvPr id="27" name="">
            <a:extLst xmlns:a="http://schemas.openxmlformats.org/drawingml/2006/main">
              <a:ext uri="{FF2B5EF4-FFF2-40B4-BE49-F238E27FC236}">
                <a16:creationId xmlns:a16="http://schemas.microsoft.com/office/drawing/2014/main" id="{6FBA470B-AA69-4B2B-B867-DAE7F3C4F57B}"/>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218ADAE6-B285-4F8D-AE44-E2CC6C91DEFD}"/>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 범위·기존 의무·검수 연결 확인</a:t>
            </a:r>
          </a:p>
        </p:txBody>
      </p:sp>
      <p:sp>
        <p:nvSpPr>
          <p:cNvPr id="29" name="">
            <a:extLst xmlns:a="http://schemas.openxmlformats.org/drawingml/2006/main">
              <a:ext uri="{FF2B5EF4-FFF2-40B4-BE49-F238E27FC236}">
                <a16:creationId xmlns:a16="http://schemas.microsoft.com/office/drawing/2014/main" id="{3DC27B80-13E6-41D2-89C8-63DD02AEA92F}"/>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DB82B315-4895-4848-9732-2BFEFA995992}"/>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수정 이력과 요구사항·검수 연결 누락 검사</a:t>
            </a:r>
          </a:p>
        </p:txBody>
      </p:sp>
      <p:sp>
        <p:nvSpPr>
          <p:cNvPr id="31" name="">
            <a:extLst xmlns:a="http://schemas.openxmlformats.org/drawingml/2006/main">
              <a:ext uri="{FF2B5EF4-FFF2-40B4-BE49-F238E27FC236}">
                <a16:creationId xmlns:a16="http://schemas.microsoft.com/office/drawing/2014/main" id="{E9E809E3-B3B4-4853-A6D2-859DF101F123}"/>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DF945DE-64CD-4B9F-9BC7-01E0411E86F3}"/>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요구사항별 범위·출처·검수 연결 및 담당자 수정 기록</a:t>
            </a:r>
          </a:p>
        </p:txBody>
      </p:sp>
    </p:spTree>
    <p:extLst>
      <p:ext uri="{BB962C8B-B14F-4D97-AF65-F5344CB8AC3E}">
        <p14:creationId xmlns:p14="http://schemas.microsoft.com/office/powerpoint/2010/main" val="136718568"/>
      </p:ext>
    </p:extLst>
  </p:cSld>
</p:sld>
</file>

<file path=ppt/slides/slide10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D98C490-62CB-4397-A77E-AD863E7A10E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AX25 / CCK 비교·재현 시험 설계</a:t>
            </a:r>
          </a:p>
        </p:txBody>
      </p:sp>
      <p:sp>
        <p:nvSpPr>
          <p:cNvPr id="2" name="">
            <a:extLst xmlns:a="http://schemas.openxmlformats.org/drawingml/2006/main">
              <a:ext uri="{FF2B5EF4-FFF2-40B4-BE49-F238E27FC236}">
                <a16:creationId xmlns:a16="http://schemas.microsoft.com/office/drawing/2014/main" id="{16C4DCC2-1E2B-40F9-A432-87EA9871AB6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조달청 e-제안요청 도움 · 벤치마킹</a:t>
            </a:r>
          </a:p>
        </p:txBody>
      </p:sp>
      <p:sp>
        <p:nvSpPr>
          <p:cNvPr id="3" name="">
            <a:extLst xmlns:a="http://schemas.openxmlformats.org/drawingml/2006/main">
              <a:ext uri="{FF2B5EF4-FFF2-40B4-BE49-F238E27FC236}">
                <a16:creationId xmlns:a16="http://schemas.microsoft.com/office/drawing/2014/main" id="{C64403EC-FA21-43D6-BD82-409E1ACC11B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4AB14D9-2CC3-45B8-B079-D3978A2F928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B521774-D133-43D7-A168-B8EE8D6329D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107</a:t>
            </a:r>
          </a:p>
        </p:txBody>
      </p:sp>
      <p:sp>
        <p:nvSpPr>
          <p:cNvPr id="6" name="">
            <a:extLst xmlns:a="http://schemas.openxmlformats.org/drawingml/2006/main">
              <a:ext uri="{FF2B5EF4-FFF2-40B4-BE49-F238E27FC236}">
                <a16:creationId xmlns:a16="http://schemas.microsoft.com/office/drawing/2014/main" id="{F2296BA9-EC8C-4240-AFE6-E1A1ADF80DD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B5F5C6AE-BE80-48C8-B209-42FFE7E9BF6A}"/>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RFP 목차·키워드의 구조화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사용자 검증을 통한 초안 구성</a:t>
            </a:r>
          </a:p>
        </p:txBody>
      </p:sp>
      <p:sp>
        <p:nvSpPr>
          <p:cNvPr id="8" name="">
            <a:extLst xmlns:a="http://schemas.openxmlformats.org/drawingml/2006/main">
              <a:ext uri="{FF2B5EF4-FFF2-40B4-BE49-F238E27FC236}">
                <a16:creationId xmlns:a16="http://schemas.microsoft.com/office/drawing/2014/main" id="{6C5F140C-E8A3-4B97-A9C0-9CF1863AB433}"/>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C4985511-EA69-4239-9403-2B7EC9C49828}"/>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과거 과업의 무비판적 재사용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필수 요구·검수 항목 누락</a:t>
            </a:r>
          </a:p>
        </p:txBody>
      </p:sp>
      <p:sp>
        <p:nvSpPr>
          <p:cNvPr id="10" name="">
            <a:extLst xmlns:a="http://schemas.openxmlformats.org/drawingml/2006/main">
              <a:ext uri="{FF2B5EF4-FFF2-40B4-BE49-F238E27FC236}">
                <a16:creationId xmlns:a16="http://schemas.microsoft.com/office/drawing/2014/main" id="{DD1BA79A-5864-4AA8-82F3-4CCC688EA8BC}"/>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8E369900-2362-4BAA-9B50-C690F8EF9E50}"/>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사업 범위·기존 의무·검수 연결 확인</a:t>
            </a:r>
          </a:p>
        </p:txBody>
      </p:sp>
      <p:sp>
        <p:nvSpPr>
          <p:cNvPr id="12" name="">
            <a:extLst xmlns:a="http://schemas.openxmlformats.org/drawingml/2006/main">
              <a:ext uri="{FF2B5EF4-FFF2-40B4-BE49-F238E27FC236}">
                <a16:creationId xmlns:a16="http://schemas.microsoft.com/office/drawing/2014/main" id="{2BE383F9-47F1-4656-A164-C342CBAA5333}"/>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5B31F077-6F63-4799-B574-367C31C8F215}"/>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 범위에 맞는 RFP 요구와 검수 초안 구성</a:t>
            </a:r>
          </a:p>
        </p:txBody>
      </p:sp>
      <p:sp>
        <p:nvSpPr>
          <p:cNvPr id="14" name="">
            <a:extLst xmlns:a="http://schemas.openxmlformats.org/drawingml/2006/main">
              <a:ext uri="{FF2B5EF4-FFF2-40B4-BE49-F238E27FC236}">
                <a16:creationId xmlns:a16="http://schemas.microsoft.com/office/drawing/2014/main" id="{5E7ACA0E-F3A6-48D0-965B-32AACF5711CA}"/>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0BFB8618-9B8C-4E95-97D5-85548646D08A}"/>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계약 중복·수치 근거 부재·검수 불가능 요구</a:t>
            </a:r>
          </a:p>
        </p:txBody>
      </p:sp>
      <p:sp>
        <p:nvSpPr>
          <p:cNvPr id="16" name="">
            <a:extLst xmlns:a="http://schemas.openxmlformats.org/drawingml/2006/main">
              <a:ext uri="{FF2B5EF4-FFF2-40B4-BE49-F238E27FC236}">
                <a16:creationId xmlns:a16="http://schemas.microsoft.com/office/drawing/2014/main" id="{5E2433DB-8D55-4339-BF91-C778927ADDDD}"/>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668FB9F1-9462-49C4-929B-1CE799FF6789}"/>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요구사항별 범위·출처·검수 연결 및 담당자 수정 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록</a:t>
            </a:r>
          </a:p>
        </p:txBody>
      </p:sp>
    </p:spTree>
    <p:extLst>
      <p:ext uri="{BB962C8B-B14F-4D97-AF65-F5344CB8AC3E}">
        <p14:creationId xmlns:p14="http://schemas.microsoft.com/office/powerpoint/2010/main" val="955449421"/>
      </p:ext>
    </p:extLst>
  </p:cSld>
</p:sld>
</file>

<file path=ppt/slides/slide10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30F04F5-1D53-4DC5-90EB-D4F3E9C2988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AX26 / 시범 / 국내</a:t>
            </a:r>
          </a:p>
        </p:txBody>
      </p:sp>
      <p:sp>
        <p:nvSpPr>
          <p:cNvPr id="2" name="">
            <a:extLst xmlns:a="http://schemas.openxmlformats.org/drawingml/2006/main">
              <a:ext uri="{FF2B5EF4-FFF2-40B4-BE49-F238E27FC236}">
                <a16:creationId xmlns:a16="http://schemas.microsoft.com/office/drawing/2014/main" id="{A639172E-C900-4E4E-84D5-77C6C247B27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교육행정 응대 AI PoC</a:t>
            </a:r>
          </a:p>
        </p:txBody>
      </p:sp>
      <p:sp>
        <p:nvSpPr>
          <p:cNvPr id="3" name="">
            <a:extLst xmlns:a="http://schemas.openxmlformats.org/drawingml/2006/main">
              <a:ext uri="{FF2B5EF4-FFF2-40B4-BE49-F238E27FC236}">
                <a16:creationId xmlns:a16="http://schemas.microsoft.com/office/drawing/2014/main" id="{7846CE26-77A2-42A1-9251-029B19DF537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35D9AF5-F7AD-4D41-85D3-CCB79D14FA2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F46BBFD-0746-48BF-AE13-843A4BF1DA6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108</a:t>
            </a:r>
          </a:p>
        </p:txBody>
      </p:sp>
      <p:sp>
        <p:nvSpPr>
          <p:cNvPr id="6" name="">
            <a:extLst xmlns:a="http://schemas.openxmlformats.org/drawingml/2006/main">
              <a:ext uri="{FF2B5EF4-FFF2-40B4-BE49-F238E27FC236}">
                <a16:creationId xmlns:a16="http://schemas.microsoft.com/office/drawing/2014/main" id="{56210C13-EDE4-485D-B475-3889DC6995D1}"/>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04BE5696-15EC-431D-A931-09824EA7A933}"/>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학교급·학년도별 학교생활기록부 지침을 교직원 질의에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연결하는 사례. 같은 질문이라도 적용 연도·학교급·업무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상황에 따라 근거가 달라지는 규정형 업무.</a:t>
            </a:r>
          </a:p>
        </p:txBody>
      </p:sp>
      <p:sp>
        <p:nvSpPr>
          <p:cNvPr id="8" name="">
            <a:extLst xmlns:a="http://schemas.openxmlformats.org/drawingml/2006/main">
              <a:ext uri="{FF2B5EF4-FFF2-40B4-BE49-F238E27FC236}">
                <a16:creationId xmlns:a16="http://schemas.microsoft.com/office/drawing/2014/main" id="{D19E2EE4-D354-4924-977D-C6AEB2B3E2A6}"/>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18876FE5-C268-4263-A04F-DAF7CF2BEDD9}"/>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질의 문맥을 확보한 뒤 해당 지침 판본과 페이지를 검색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해 근거를 제공하는 재구성. 답변의 편집·검토 과정에서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 원문 페이지와 적용 조건을 함께 보존.</a:t>
            </a:r>
          </a:p>
        </p:txBody>
      </p:sp>
      <p:sp>
        <p:nvSpPr>
          <p:cNvPr id="10" name="">
            <a:extLst xmlns:a="http://schemas.openxmlformats.org/drawingml/2006/main">
              <a:ext uri="{FF2B5EF4-FFF2-40B4-BE49-F238E27FC236}">
                <a16:creationId xmlns:a16="http://schemas.microsoft.com/office/drawing/2014/main" id="{8106B2CE-DCA3-435F-B7F6-DF04AE435DF4}"/>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A3219F99-B7E0-439B-9C63-952CBC2E5563}"/>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조직 네이티브 AI에서는 소속·직무뿐 아니라 업무 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상과 시행일을 검색 조건으로 추가하는 참고. 연도 혼용·</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학교급 혼용·예외 조항 누락에 해당하는 TS 도메인 시험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셋의 별도 구성.</a:t>
            </a:r>
          </a:p>
        </p:txBody>
      </p:sp>
      <p:sp>
        <p:nvSpPr>
          <p:cNvPr id="12" name="">
            <a:extLst xmlns:a="http://schemas.openxmlformats.org/drawingml/2006/main">
              <a:ext uri="{FF2B5EF4-FFF2-40B4-BE49-F238E27FC236}">
                <a16:creationId xmlns:a16="http://schemas.microsoft.com/office/drawing/2014/main" id="{D1AF97EC-1BDA-444A-A6AA-E8212774A9F5}"/>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56F8FECF-A7D2-444D-A996-875DAF706D94}"/>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직무별 검색 필터·출처 페이지·오류 피드백</a:t>
            </a:r>
          </a:p>
        </p:txBody>
      </p:sp>
      <p:sp>
        <p:nvSpPr>
          <p:cNvPr id="14" name="">
            <a:extLst xmlns:a="http://schemas.openxmlformats.org/drawingml/2006/main">
              <a:ext uri="{FF2B5EF4-FFF2-40B4-BE49-F238E27FC236}">
                <a16:creationId xmlns:a16="http://schemas.microsoft.com/office/drawing/2014/main" id="{0468DEB9-9503-4DD4-B2DA-FDB9C48F8763}"/>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DB1D670D-1616-4ACF-800D-A35EB17DF251}"/>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부서·직무 변경 전후 검색 근거 대조</a:t>
            </a:r>
          </a:p>
        </p:txBody>
      </p:sp>
      <p:sp>
        <p:nvSpPr>
          <p:cNvPr id="16" name="">
            <a:extLst xmlns:a="http://schemas.openxmlformats.org/drawingml/2006/main">
              <a:ext uri="{FF2B5EF4-FFF2-40B4-BE49-F238E27FC236}">
                <a16:creationId xmlns:a16="http://schemas.microsoft.com/office/drawing/2014/main" id="{F8B72F4A-C657-45AC-8984-2D1F2FF2356D}"/>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0CABB5D5-8E3F-4051-B145-AB88BB8135DD}"/>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근거 일치율 / 보완시간</a:t>
            </a:r>
          </a:p>
        </p:txBody>
      </p:sp>
      <p:sp>
        <p:nvSpPr>
          <p:cNvPr id="18" name="">
            <a:extLst xmlns:a="http://schemas.openxmlformats.org/drawingml/2006/main">
              <a:ext uri="{FF2B5EF4-FFF2-40B4-BE49-F238E27FC236}">
                <a16:creationId xmlns:a16="http://schemas.microsoft.com/office/drawing/2014/main" id="{197F1DED-AB3A-4DC5-8CF0-F3652A606416}"/>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선정 문서·업무 범위의 PoC · 전체 교육행정 자동화와 구분</a:t>
            </a:r>
          </a:p>
        </p:txBody>
      </p:sp>
    </p:spTree>
    <p:extLst>
      <p:ext uri="{BB962C8B-B14F-4D97-AF65-F5344CB8AC3E}">
        <p14:creationId xmlns:p14="http://schemas.microsoft.com/office/powerpoint/2010/main" val="894636810"/>
      </p:ext>
    </p:extLst>
  </p:cSld>
</p:sld>
</file>

<file path=ppt/slides/slide10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F6DDDAF6-BFF4-42F4-981D-7E0959E9270C}"/>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239D90DC-E855-4C98-9140-12D133206CFB}"/>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9C45E372-4014-488A-A4F1-5E554B431FD8}"/>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4A6D12A5-5A70-405E-8E88-AA6151224AFB}"/>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0EB57295-359B-4A57-A54C-463C3A3D027F}"/>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17E82F12-B417-4045-83E3-45233AC7FDD8}"/>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5814AD8D-A1BF-48B6-B985-448E605E9A84}"/>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6F7BFA47-9E73-44E7-89B5-5902F04BCD41}"/>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C9FDEF41-FC3D-4E3B-9D18-55C4CDB53D38}"/>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57875388-5CCC-4B99-BCD4-012D65863AA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AX26 / 지식 갱신·검색·근거 응답</a:t>
            </a:r>
          </a:p>
        </p:txBody>
      </p:sp>
      <p:sp>
        <p:nvSpPr>
          <p:cNvPr id="2" name="">
            <a:extLst xmlns:a="http://schemas.openxmlformats.org/drawingml/2006/main">
              <a:ext uri="{FF2B5EF4-FFF2-40B4-BE49-F238E27FC236}">
                <a16:creationId xmlns:a16="http://schemas.microsoft.com/office/drawing/2014/main" id="{97EC616B-8351-4137-8497-CA4C15BAE53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교육행정 응대 AI PoC · 세부 서비스 구조</a:t>
            </a:r>
          </a:p>
        </p:txBody>
      </p:sp>
      <p:sp>
        <p:nvSpPr>
          <p:cNvPr id="3" name="">
            <a:extLst xmlns:a="http://schemas.openxmlformats.org/drawingml/2006/main">
              <a:ext uri="{FF2B5EF4-FFF2-40B4-BE49-F238E27FC236}">
                <a16:creationId xmlns:a16="http://schemas.microsoft.com/office/drawing/2014/main" id="{DB7A68BC-AE64-4B2E-9922-1A537FAB6CD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6CA2209-4D9F-4461-B17D-05B3C3AE777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09A2870-3F11-47F5-AD5C-CE36691D4A7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109</a:t>
            </a:r>
          </a:p>
        </p:txBody>
      </p:sp>
      <p:sp>
        <p:nvSpPr>
          <p:cNvPr id="6" name="">
            <a:extLst xmlns:a="http://schemas.openxmlformats.org/drawingml/2006/main">
              <a:ext uri="{FF2B5EF4-FFF2-40B4-BE49-F238E27FC236}">
                <a16:creationId xmlns:a16="http://schemas.microsoft.com/office/drawing/2014/main" id="{756ED863-D49F-4614-BFC9-B6CF54BDCAFD}"/>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학교급별 지침 → 문서 전처리·RAG → 근거 페이지 답변 → 교직원 검증</a:t>
            </a:r>
          </a:p>
        </p:txBody>
      </p:sp>
      <p:sp>
        <p:nvSpPr>
          <p:cNvPr id="7" name="">
            <a:extLst xmlns:a="http://schemas.openxmlformats.org/drawingml/2006/main">
              <a:ext uri="{FF2B5EF4-FFF2-40B4-BE49-F238E27FC236}">
                <a16:creationId xmlns:a16="http://schemas.microsoft.com/office/drawing/2014/main" id="{EE42F4C7-7A82-4F4F-BD7B-03272E8EF1A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9D7B9E39-81FF-4E15-95B0-81ECCC037B41}"/>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C7AEF57A-CFAC-4F54-95ED-5E952DF42803}"/>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지침·질의응답</a:t>
            </a:r>
          </a:p>
        </p:txBody>
      </p:sp>
      <p:sp>
        <p:nvSpPr>
          <p:cNvPr id="10" name="">
            <a:extLst xmlns:a="http://schemas.openxmlformats.org/drawingml/2006/main">
              <a:ext uri="{FF2B5EF4-FFF2-40B4-BE49-F238E27FC236}">
                <a16:creationId xmlns:a16="http://schemas.microsoft.com/office/drawing/2014/main" id="{33B07D9B-0FD1-4C8B-B931-B4AAA2EE8FF9}"/>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F2F155FF-027C-469E-8C65-ACA1708184AA}"/>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8088D370-7AC1-4FB9-926D-D1B469C41CB4}"/>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페이지·판본 색인</a:t>
            </a:r>
          </a:p>
        </p:txBody>
      </p:sp>
      <p:sp>
        <p:nvSpPr>
          <p:cNvPr id="13" name="">
            <a:extLst xmlns:a="http://schemas.openxmlformats.org/drawingml/2006/main">
              <a:ext uri="{FF2B5EF4-FFF2-40B4-BE49-F238E27FC236}">
                <a16:creationId xmlns:a16="http://schemas.microsoft.com/office/drawing/2014/main" id="{AFA03F77-806F-498B-83DC-ECE88AB7505E}"/>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43FB461D-E415-4904-A900-593C1D058FA3}"/>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28987955-ECE1-450E-8327-4E6E3CB8DE96}"/>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지침·평가셋</a:t>
            </a:r>
          </a:p>
        </p:txBody>
      </p:sp>
      <p:sp>
        <p:nvSpPr>
          <p:cNvPr id="16" name="">
            <a:extLst xmlns:a="http://schemas.openxmlformats.org/drawingml/2006/main">
              <a:ext uri="{FF2B5EF4-FFF2-40B4-BE49-F238E27FC236}">
                <a16:creationId xmlns:a16="http://schemas.microsoft.com/office/drawing/2014/main" id="{EE1F335A-1EC0-4703-B9CE-C027D0919869}"/>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05F0A78D-0584-445F-9E4D-AE6FF142D050}"/>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69564D2E-65A0-4FA6-982B-D20F4DED66A4}"/>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유효 지침 검색</a:t>
            </a:r>
          </a:p>
        </p:txBody>
      </p:sp>
      <p:sp>
        <p:nvSpPr>
          <p:cNvPr id="19" name="">
            <a:extLst xmlns:a="http://schemas.openxmlformats.org/drawingml/2006/main">
              <a:ext uri="{FF2B5EF4-FFF2-40B4-BE49-F238E27FC236}">
                <a16:creationId xmlns:a16="http://schemas.microsoft.com/office/drawing/2014/main" id="{C314793B-2C57-46D9-8056-5A0C64E5E712}"/>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AB1A93C2-B12B-4604-9E4F-5342B89C7679}"/>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7F336BC9-C98E-4188-81B7-4172E5059B7F}"/>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교직원 질의</a:t>
            </a:r>
          </a:p>
        </p:txBody>
      </p:sp>
      <p:sp>
        <p:nvSpPr>
          <p:cNvPr id="22" name="">
            <a:extLst xmlns:a="http://schemas.openxmlformats.org/drawingml/2006/main">
              <a:ext uri="{FF2B5EF4-FFF2-40B4-BE49-F238E27FC236}">
                <a16:creationId xmlns:a16="http://schemas.microsoft.com/office/drawing/2014/main" id="{2E5952B7-F5D6-4D14-BBD4-B976C1A166B0}"/>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DF6570EC-B50B-44EF-B646-274FE149FA42}"/>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6A4055AD-C9AD-4570-882A-BF223CCC069D}"/>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학교급·학년도</a:t>
            </a:r>
          </a:p>
        </p:txBody>
      </p:sp>
      <p:sp>
        <p:nvSpPr>
          <p:cNvPr id="25" name="">
            <a:extLst xmlns:a="http://schemas.openxmlformats.org/drawingml/2006/main">
              <a:ext uri="{FF2B5EF4-FFF2-40B4-BE49-F238E27FC236}">
                <a16:creationId xmlns:a16="http://schemas.microsoft.com/office/drawing/2014/main" id="{714DB5D5-6513-4AB4-ABCC-1ED82736596D}"/>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B0C82F00-9103-4932-89AC-7112B665AFA6}"/>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BF843EEF-E106-434E-829E-6504343B9750}"/>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 답변 생성</a:t>
            </a:r>
          </a:p>
        </p:txBody>
      </p:sp>
      <p:sp>
        <p:nvSpPr>
          <p:cNvPr id="28" name="">
            <a:extLst xmlns:a="http://schemas.openxmlformats.org/drawingml/2006/main">
              <a:ext uri="{FF2B5EF4-FFF2-40B4-BE49-F238E27FC236}">
                <a16:creationId xmlns:a16="http://schemas.microsoft.com/office/drawing/2014/main" id="{FA6C4270-C09E-4886-8B5E-A5681F021133}"/>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A649127D-E268-4241-9131-CF366A5D34EA}"/>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7118BF23-ACD1-4372-96F0-C120A869913C}"/>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페이지·예외 대조</a:t>
            </a:r>
          </a:p>
        </p:txBody>
      </p:sp>
      <p:sp>
        <p:nvSpPr>
          <p:cNvPr id="31" name="">
            <a:extLst xmlns:a="http://schemas.openxmlformats.org/drawingml/2006/main">
              <a:ext uri="{FF2B5EF4-FFF2-40B4-BE49-F238E27FC236}">
                <a16:creationId xmlns:a16="http://schemas.microsoft.com/office/drawing/2014/main" id="{3FADE2AB-6858-4953-84CE-19E990033BA0}"/>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C89B8367-6BEE-4B05-85DB-E819A0DB9E0C}"/>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D2625D95-EF58-487E-A00A-FBDDA78D7556}"/>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교직원 원문 확인</a:t>
            </a:r>
          </a:p>
        </p:txBody>
      </p:sp>
      <p:sp>
        <p:nvSpPr>
          <p:cNvPr id="34" name="">
            <a:extLst xmlns:a="http://schemas.openxmlformats.org/drawingml/2006/main">
              <a:ext uri="{FF2B5EF4-FFF2-40B4-BE49-F238E27FC236}">
                <a16:creationId xmlns:a16="http://schemas.microsoft.com/office/drawing/2014/main" id="{5654F5B5-286F-416E-AE3C-F693C00430B6}"/>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9D7B9F07-B9E3-4428-AB76-D56180BAF492}"/>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1BDE2280-CD95-45D7-95D3-E974E544BA3F}"/>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행정업무 적용</a:t>
            </a:r>
          </a:p>
        </p:txBody>
      </p:sp>
      <p:sp>
        <p:nvSpPr>
          <p:cNvPr id="46" name="">
            <a:extLst xmlns:a="http://schemas.openxmlformats.org/drawingml/2006/main">
              <a:ext uri="{FF2B5EF4-FFF2-40B4-BE49-F238E27FC236}">
                <a16:creationId xmlns:a16="http://schemas.microsoft.com/office/drawing/2014/main" id="{4D6E72B1-E010-4930-8EC3-4A7CC247C5E3}"/>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194664852"/>
      </p:ext>
    </p:extLst>
  </p:cSld>
</p:sld>
</file>

<file path=ppt/slides/slide11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08A8E4B-6EE1-4D3A-9716-410C88EE1BC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AX26 / 논리 인터페이스·복구 설계</a:t>
            </a:r>
          </a:p>
        </p:txBody>
      </p:sp>
      <p:sp>
        <p:nvSpPr>
          <p:cNvPr id="2" name="">
            <a:extLst xmlns:a="http://schemas.openxmlformats.org/drawingml/2006/main">
              <a:ext uri="{FF2B5EF4-FFF2-40B4-BE49-F238E27FC236}">
                <a16:creationId xmlns:a16="http://schemas.microsoft.com/office/drawing/2014/main" id="{5BBD0EED-EE7D-4846-8DBE-1412FA1D31D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교육행정 응대 AI PoC · 데이터와 예외 처리</a:t>
            </a:r>
          </a:p>
        </p:txBody>
      </p:sp>
      <p:sp>
        <p:nvSpPr>
          <p:cNvPr id="3" name="">
            <a:extLst xmlns:a="http://schemas.openxmlformats.org/drawingml/2006/main">
              <a:ext uri="{FF2B5EF4-FFF2-40B4-BE49-F238E27FC236}">
                <a16:creationId xmlns:a16="http://schemas.microsoft.com/office/drawing/2014/main" id="{476597BD-7520-452F-9BB8-756CCC1358B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72D291C-6F35-4115-9AC3-F97137150EC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F143A6C-1D73-496B-9983-377D254340E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110</a:t>
            </a:r>
          </a:p>
        </p:txBody>
      </p:sp>
      <p:sp>
        <p:nvSpPr>
          <p:cNvPr id="6" name="">
            <a:extLst xmlns:a="http://schemas.openxmlformats.org/drawingml/2006/main">
              <a:ext uri="{FF2B5EF4-FFF2-40B4-BE49-F238E27FC236}">
                <a16:creationId xmlns:a16="http://schemas.microsoft.com/office/drawing/2014/main" id="{B7E07DD0-DA1D-4A60-85B8-916FE1424F09}"/>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45213A4E-F0DF-44C1-A371-DD5BCA757545}"/>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B6A6B258-8FBA-4E54-936B-4FAA918B586D}"/>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E74263E8-3710-4DFC-A77C-6DC12E7B73F2}"/>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학교급별 지침</a:t>
            </a:r>
          </a:p>
        </p:txBody>
      </p:sp>
      <p:sp>
        <p:nvSpPr>
          <p:cNvPr id="10" name="">
            <a:extLst xmlns:a="http://schemas.openxmlformats.org/drawingml/2006/main">
              <a:ext uri="{FF2B5EF4-FFF2-40B4-BE49-F238E27FC236}">
                <a16:creationId xmlns:a16="http://schemas.microsoft.com/office/drawing/2014/main" id="{FBC10546-EE8D-4B20-B02C-45F1193FE2DA}"/>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FD1038A-C7AD-4F12-849E-B9E293B5FB70}"/>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B611ACCE-54B9-46C1-A8E8-9DEE2B524A5A}"/>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68605E1E-8415-4340-8E39-9C71DF871AA4}"/>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6B07342-ED99-460A-BD30-D1BFFB8D9370}"/>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9C5B21CA-7C36-4FCD-BB70-AF6541AF9531}"/>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학교급·학년도·업무 상황 확인</a:t>
            </a:r>
          </a:p>
        </p:txBody>
      </p:sp>
      <p:sp>
        <p:nvSpPr>
          <p:cNvPr id="16" name="">
            <a:extLst xmlns:a="http://schemas.openxmlformats.org/drawingml/2006/main">
              <a:ext uri="{FF2B5EF4-FFF2-40B4-BE49-F238E27FC236}">
                <a16:creationId xmlns:a16="http://schemas.microsoft.com/office/drawing/2014/main" id="{28A9592A-566E-4C18-B35B-BF985010D59D}"/>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610BA46-CC7E-4C85-B11B-79B7B2C6A584}"/>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82AED138-4C7A-4696-906F-AC516835507A}"/>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학년도별 정답·근거 페이지·예외 적용 대조</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표</a:t>
            </a:r>
          </a:p>
        </p:txBody>
      </p:sp>
      <p:sp>
        <p:nvSpPr>
          <p:cNvPr id="19" name="">
            <a:extLst xmlns:a="http://schemas.openxmlformats.org/drawingml/2006/main">
              <a:ext uri="{FF2B5EF4-FFF2-40B4-BE49-F238E27FC236}">
                <a16:creationId xmlns:a16="http://schemas.microsoft.com/office/drawing/2014/main" id="{7720190A-4AA2-4C14-9284-E8380E0EB49A}"/>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919ACC4-4FD3-420C-8826-DF6C5A0BDE65}"/>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A985453D-8915-4766-844C-02F893253B70}"/>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관련 지침</a:t>
            </a:r>
          </a:p>
        </p:txBody>
      </p:sp>
      <p:sp>
        <p:nvSpPr>
          <p:cNvPr id="22" name="">
            <a:extLst xmlns:a="http://schemas.openxmlformats.org/drawingml/2006/main">
              <a:ext uri="{FF2B5EF4-FFF2-40B4-BE49-F238E27FC236}">
                <a16:creationId xmlns:a16="http://schemas.microsoft.com/office/drawing/2014/main" id="{E384587A-18C3-487C-945B-A011F87E89B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237C22E-A811-43A7-8BEE-1D2795BB8961}"/>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B451C521-3D00-46BC-BEBD-6745A924AC6B}"/>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근거 페이지 답변</a:t>
            </a:r>
          </a:p>
        </p:txBody>
      </p:sp>
      <p:sp>
        <p:nvSpPr>
          <p:cNvPr id="25" name="">
            <a:extLst xmlns:a="http://schemas.openxmlformats.org/drawingml/2006/main">
              <a:ext uri="{FF2B5EF4-FFF2-40B4-BE49-F238E27FC236}">
                <a16:creationId xmlns:a16="http://schemas.microsoft.com/office/drawing/2014/main" id="{F8DA4E72-F0AB-4509-9CD9-7A756BA3AD94}"/>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FAB31463-0743-4607-B22F-D1AD12800140}"/>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이전 학년도 혼입·예외 조건 누락·원문 페이지 변경</a:t>
            </a:r>
          </a:p>
        </p:txBody>
      </p:sp>
      <p:sp>
        <p:nvSpPr>
          <p:cNvPr id="27" name="">
            <a:extLst xmlns:a="http://schemas.openxmlformats.org/drawingml/2006/main">
              <a:ext uri="{FF2B5EF4-FFF2-40B4-BE49-F238E27FC236}">
                <a16:creationId xmlns:a16="http://schemas.microsoft.com/office/drawing/2014/main" id="{142DA3BF-272E-401A-BEEB-611FFE78796A}"/>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1260EFD8-2ECC-4DA9-9676-A69EDCE3F602}"/>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학교급·연도·원문 페이지 대조</a:t>
            </a:r>
          </a:p>
        </p:txBody>
      </p:sp>
      <p:sp>
        <p:nvSpPr>
          <p:cNvPr id="29" name="">
            <a:extLst xmlns:a="http://schemas.openxmlformats.org/drawingml/2006/main">
              <a:ext uri="{FF2B5EF4-FFF2-40B4-BE49-F238E27FC236}">
                <a16:creationId xmlns:a16="http://schemas.microsoft.com/office/drawing/2014/main" id="{7FF51C5B-3218-4201-8E14-873FA252CBB1}"/>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4896B2E5-2FD4-4E02-B471-6016A9CE58CA}"/>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학년도 혼용·예외 조항 누락의 평가</a:t>
            </a:r>
          </a:p>
        </p:txBody>
      </p:sp>
      <p:sp>
        <p:nvSpPr>
          <p:cNvPr id="31" name="">
            <a:extLst xmlns:a="http://schemas.openxmlformats.org/drawingml/2006/main">
              <a:ext uri="{FF2B5EF4-FFF2-40B4-BE49-F238E27FC236}">
                <a16:creationId xmlns:a16="http://schemas.microsoft.com/office/drawing/2014/main" id="{39C678E2-A5FC-48A1-B1F4-AFCA0BB50E4A}"/>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BDB70C9B-70EE-44B6-9762-B3A1D574F237}"/>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학년도별 정답·근거 페이지·예외 적용 대조표</a:t>
            </a:r>
          </a:p>
        </p:txBody>
      </p:sp>
    </p:spTree>
    <p:extLst>
      <p:ext uri="{BB962C8B-B14F-4D97-AF65-F5344CB8AC3E}">
        <p14:creationId xmlns:p14="http://schemas.microsoft.com/office/powerpoint/2010/main" val="1793316656"/>
      </p:ext>
    </p:extLst>
  </p:cSld>
</p:sld>
</file>

<file path=ppt/slides/slide11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32057BF-9103-428C-AE0E-0B6C4B98626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AX26 / CCK 비교·재현 시험 설계</a:t>
            </a:r>
          </a:p>
        </p:txBody>
      </p:sp>
      <p:sp>
        <p:nvSpPr>
          <p:cNvPr id="2" name="">
            <a:extLst xmlns:a="http://schemas.openxmlformats.org/drawingml/2006/main">
              <a:ext uri="{FF2B5EF4-FFF2-40B4-BE49-F238E27FC236}">
                <a16:creationId xmlns:a16="http://schemas.microsoft.com/office/drawing/2014/main" id="{A82B7877-0557-447E-B232-A79233D69E4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교육행정 응대 AI PoC · 벤치마킹</a:t>
            </a:r>
          </a:p>
        </p:txBody>
      </p:sp>
      <p:sp>
        <p:nvSpPr>
          <p:cNvPr id="3" name="">
            <a:extLst xmlns:a="http://schemas.openxmlformats.org/drawingml/2006/main">
              <a:ext uri="{FF2B5EF4-FFF2-40B4-BE49-F238E27FC236}">
                <a16:creationId xmlns:a16="http://schemas.microsoft.com/office/drawing/2014/main" id="{8E6850FE-0946-45EE-9E28-261DB3F6D97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9FF405A-731C-4427-96CF-B8C3330F94E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4F8BC46-9B92-493A-89EB-517EC8BF476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111</a:t>
            </a:r>
          </a:p>
        </p:txBody>
      </p:sp>
      <p:sp>
        <p:nvSpPr>
          <p:cNvPr id="6" name="">
            <a:extLst xmlns:a="http://schemas.openxmlformats.org/drawingml/2006/main">
              <a:ext uri="{FF2B5EF4-FFF2-40B4-BE49-F238E27FC236}">
                <a16:creationId xmlns:a16="http://schemas.microsoft.com/office/drawing/2014/main" id="{F44C7C8C-6F6F-4BAE-B2BE-FA8E3BA40B2E}"/>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61EBFD17-3447-4C85-815E-8F94D813D379}"/>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학교급별 지침의 분리</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답변과 원문 페이지의 연결</a:t>
            </a:r>
          </a:p>
        </p:txBody>
      </p:sp>
      <p:sp>
        <p:nvSpPr>
          <p:cNvPr id="8" name="">
            <a:extLst xmlns:a="http://schemas.openxmlformats.org/drawingml/2006/main">
              <a:ext uri="{FF2B5EF4-FFF2-40B4-BE49-F238E27FC236}">
                <a16:creationId xmlns:a16="http://schemas.microsoft.com/office/drawing/2014/main" id="{88A1FD49-BC76-44FB-88E9-9FA99DA61CCF}"/>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240C7796-9657-44B2-A640-E02F8669B6BB}"/>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학교급·적용 연도 혼용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유사 질문의 예외 답변 누락</a:t>
            </a:r>
          </a:p>
        </p:txBody>
      </p:sp>
      <p:sp>
        <p:nvSpPr>
          <p:cNvPr id="10" name="">
            <a:extLst xmlns:a="http://schemas.openxmlformats.org/drawingml/2006/main">
              <a:ext uri="{FF2B5EF4-FFF2-40B4-BE49-F238E27FC236}">
                <a16:creationId xmlns:a16="http://schemas.microsoft.com/office/drawing/2014/main" id="{10A1DD21-1460-4ABB-9F0B-4C3BA17DD77D}"/>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F6B10CB6-05EE-4689-8D48-998B2380D776}"/>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학교급·연도·원문 페이지 대조</a:t>
            </a:r>
          </a:p>
        </p:txBody>
      </p:sp>
      <p:sp>
        <p:nvSpPr>
          <p:cNvPr id="12" name="">
            <a:extLst xmlns:a="http://schemas.openxmlformats.org/drawingml/2006/main">
              <a:ext uri="{FF2B5EF4-FFF2-40B4-BE49-F238E27FC236}">
                <a16:creationId xmlns:a16="http://schemas.microsoft.com/office/drawing/2014/main" id="{8216EA19-C4CC-4DC8-98B6-93A001A76BB2}"/>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7A5C75B-971D-4688-AC10-082A074D4C6D}"/>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학년도·학교급에 맞는 생활기록부 지침 안내</a:t>
            </a:r>
          </a:p>
        </p:txBody>
      </p:sp>
      <p:sp>
        <p:nvSpPr>
          <p:cNvPr id="14" name="">
            <a:extLst xmlns:a="http://schemas.openxmlformats.org/drawingml/2006/main">
              <a:ext uri="{FF2B5EF4-FFF2-40B4-BE49-F238E27FC236}">
                <a16:creationId xmlns:a16="http://schemas.microsoft.com/office/drawing/2014/main" id="{EB8E1224-5289-4EB3-A300-DDED4E67E1D8}"/>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7BDF9358-996D-481F-98CD-D906EAEA3940}"/>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이전 학년도 혼입·예외 조건 누락·원문 페이지 변경</a:t>
            </a:r>
          </a:p>
        </p:txBody>
      </p:sp>
      <p:sp>
        <p:nvSpPr>
          <p:cNvPr id="16" name="">
            <a:extLst xmlns:a="http://schemas.openxmlformats.org/drawingml/2006/main">
              <a:ext uri="{FF2B5EF4-FFF2-40B4-BE49-F238E27FC236}">
                <a16:creationId xmlns:a16="http://schemas.microsoft.com/office/drawing/2014/main" id="{F621FD0F-638C-4AB5-B81E-38DE4C89D70D}"/>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FC0627EB-5DE4-4569-8CF1-9F7496A05A75}"/>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학년도별 정답·근거 페이지·예외 적용 대조표</a:t>
            </a:r>
          </a:p>
        </p:txBody>
      </p:sp>
    </p:spTree>
    <p:extLst>
      <p:ext uri="{BB962C8B-B14F-4D97-AF65-F5344CB8AC3E}">
        <p14:creationId xmlns:p14="http://schemas.microsoft.com/office/powerpoint/2010/main" val="146416970"/>
      </p:ext>
    </p:extLst>
  </p:cSld>
</p:sld>
</file>

<file path=ppt/slides/slide11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AACCEE7-8E67-47E2-99EB-05465E16918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ST-01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84E3A5DC-A961-4DBA-847D-4CA01C9BE2A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지역·취약계층 안전조치 근거 지원</a:t>
            </a:r>
          </a:p>
        </p:txBody>
      </p:sp>
      <p:sp>
        <p:nvSpPr>
          <p:cNvPr id="3" name="">
            <a:extLst xmlns:a="http://schemas.openxmlformats.org/drawingml/2006/main">
              <a:ext uri="{FF2B5EF4-FFF2-40B4-BE49-F238E27FC236}">
                <a16:creationId xmlns:a16="http://schemas.microsoft.com/office/drawing/2014/main" id="{62AC3349-C492-4763-87CF-E093281511A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60D3AB1-9416-4736-8BFB-63EA2CF2592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4B2A749-3B15-4A8D-BF43-B5C0EA62D6D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112</a:t>
            </a:r>
          </a:p>
        </p:txBody>
      </p:sp>
      <p:sp>
        <p:nvSpPr>
          <p:cNvPr id="6" name="">
            <a:extLst xmlns:a="http://schemas.openxmlformats.org/drawingml/2006/main">
              <a:ext uri="{FF2B5EF4-FFF2-40B4-BE49-F238E27FC236}">
                <a16:creationId xmlns:a16="http://schemas.microsoft.com/office/drawing/2014/main" id="{B8CD6293-9BFA-4AB9-BC4A-B12E12F02935}"/>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사고취약 수단·계층 정밀 안전망 구축</a:t>
            </a:r>
          </a:p>
        </p:txBody>
      </p:sp>
      <p:sp>
        <p:nvSpPr>
          <p:cNvPr id="7" name="">
            <a:extLst xmlns:a="http://schemas.openxmlformats.org/drawingml/2006/main">
              <a:ext uri="{FF2B5EF4-FFF2-40B4-BE49-F238E27FC236}">
                <a16:creationId xmlns:a16="http://schemas.microsoft.com/office/drawing/2014/main" id="{CA9CD160-D084-4A8D-9CBC-CEEC3C048740}"/>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4AFB2AC-EDC1-4EA3-8B2E-E3114653FBBF}"/>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교통안전처</a:t>
            </a:r>
          </a:p>
        </p:txBody>
      </p:sp>
      <p:sp>
        <p:nvSpPr>
          <p:cNvPr id="9" name="">
            <a:extLst xmlns:a="http://schemas.openxmlformats.org/drawingml/2006/main">
              <a:ext uri="{FF2B5EF4-FFF2-40B4-BE49-F238E27FC236}">
                <a16:creationId xmlns:a16="http://schemas.microsoft.com/office/drawing/2014/main" id="{5404032A-BA9F-486E-8E63-5F9B2000B4A0}"/>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운수회사 안전관리</a:t>
            </a:r>
          </a:p>
        </p:txBody>
      </p:sp>
      <p:sp>
        <p:nvSpPr>
          <p:cNvPr id="10" name="">
            <a:extLst xmlns:a="http://schemas.openxmlformats.org/drawingml/2006/main">
              <a:ext uri="{FF2B5EF4-FFF2-40B4-BE49-F238E27FC236}">
                <a16:creationId xmlns:a16="http://schemas.microsoft.com/office/drawing/2014/main" id="{6993ED6C-A1B3-4843-8BB4-90E85B045803}"/>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교통안전수단점검에 관한 업무 총괄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7. 운수회사 안전관리 및 교통사고 예방사업</a:t>
            </a:r>
          </a:p>
        </p:txBody>
      </p:sp>
      <p:sp>
        <p:nvSpPr>
          <p:cNvPr id="11" name="">
            <a:extLst xmlns:a="http://schemas.openxmlformats.org/drawingml/2006/main">
              <a:ext uri="{FF2B5EF4-FFF2-40B4-BE49-F238E27FC236}">
                <a16:creationId xmlns:a16="http://schemas.microsoft.com/office/drawing/2014/main" id="{6035173E-C8AC-4A24-BDCE-6C067C0E91E2}"/>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24E69D-3EB2-4A3D-996D-73C28DA0C9EF}"/>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실증사업처</a:t>
            </a:r>
          </a:p>
        </p:txBody>
      </p:sp>
      <p:sp>
        <p:nvSpPr>
          <p:cNvPr id="13" name="">
            <a:extLst xmlns:a="http://schemas.openxmlformats.org/drawingml/2006/main">
              <a:ext uri="{FF2B5EF4-FFF2-40B4-BE49-F238E27FC236}">
                <a16:creationId xmlns:a16="http://schemas.microsoft.com/office/drawing/2014/main" id="{9B1DB0E2-BE65-4415-910A-B22D868ABEB0}"/>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교통시설·사각지대 점검</a:t>
            </a:r>
          </a:p>
        </p:txBody>
      </p:sp>
      <p:sp>
        <p:nvSpPr>
          <p:cNvPr id="14" name="">
            <a:extLst xmlns:a="http://schemas.openxmlformats.org/drawingml/2006/main">
              <a:ext uri="{FF2B5EF4-FFF2-40B4-BE49-F238E27FC236}">
                <a16:creationId xmlns:a16="http://schemas.microsoft.com/office/drawing/2014/main" id="{1652D64B-9B78-40C2-9048-C11873195DF8}"/>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7. 교통시설 안전진단ㆍ점검ㆍ평가에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9. 교통안전 사각지대 교통안전점검에 관한 업무</a:t>
            </a:r>
          </a:p>
        </p:txBody>
      </p:sp>
      <p:sp>
        <p:nvSpPr>
          <p:cNvPr id="15" name="">
            <a:extLst xmlns:a="http://schemas.openxmlformats.org/drawingml/2006/main">
              <a:ext uri="{FF2B5EF4-FFF2-40B4-BE49-F238E27FC236}">
                <a16:creationId xmlns:a16="http://schemas.microsoft.com/office/drawing/2014/main" id="{AEE078D2-7F23-4755-96BE-DEAF4D394102}"/>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79AE03E-C082-420F-A4A4-C6BF03483221}"/>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데이터융복합처</a:t>
            </a:r>
          </a:p>
        </p:txBody>
      </p:sp>
      <p:sp>
        <p:nvSpPr>
          <p:cNvPr id="17" name="">
            <a:extLst xmlns:a="http://schemas.openxmlformats.org/drawingml/2006/main">
              <a:ext uri="{FF2B5EF4-FFF2-40B4-BE49-F238E27FC236}">
                <a16:creationId xmlns:a16="http://schemas.microsoft.com/office/drawing/2014/main" id="{3BE2B12D-9AF4-4E7D-9FC7-2761AD8DABED}"/>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운행기록 분석</a:t>
            </a:r>
          </a:p>
        </p:txBody>
      </p:sp>
      <p:sp>
        <p:nvSpPr>
          <p:cNvPr id="18" name="">
            <a:extLst xmlns:a="http://schemas.openxmlformats.org/drawingml/2006/main">
              <a:ext uri="{FF2B5EF4-FFF2-40B4-BE49-F238E27FC236}">
                <a16:creationId xmlns:a16="http://schemas.microsoft.com/office/drawing/2014/main" id="{5188D060-ED06-4DCB-90E5-029375EE6025}"/>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운행기록데이터 관리·분석·활용 및 정책지원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교통안전정보관리체계 운영에 관한 업무</a:t>
            </a:r>
          </a:p>
        </p:txBody>
      </p:sp>
      <p:sp>
        <p:nvSpPr>
          <p:cNvPr id="19" name="">
            <a:extLst xmlns:a="http://schemas.openxmlformats.org/drawingml/2006/main">
              <a:ext uri="{FF2B5EF4-FFF2-40B4-BE49-F238E27FC236}">
                <a16:creationId xmlns:a16="http://schemas.microsoft.com/office/drawing/2014/main" id="{FE490D09-A558-480C-A1E3-2D3FECC71422}"/>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85F08C7-CCE7-4D4A-9A0E-81422BF814EC}"/>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모빌리티연구처</a:t>
            </a:r>
          </a:p>
        </p:txBody>
      </p:sp>
      <p:sp>
        <p:nvSpPr>
          <p:cNvPr id="21" name="">
            <a:extLst xmlns:a="http://schemas.openxmlformats.org/drawingml/2006/main">
              <a:ext uri="{FF2B5EF4-FFF2-40B4-BE49-F238E27FC236}">
                <a16:creationId xmlns:a16="http://schemas.microsoft.com/office/drawing/2014/main" id="{B60B348E-9B84-49A1-8E75-0DAFB605B865}"/>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교통약자 실태조사</a:t>
            </a:r>
          </a:p>
        </p:txBody>
      </p:sp>
      <p:sp>
        <p:nvSpPr>
          <p:cNvPr id="22" name="">
            <a:extLst xmlns:a="http://schemas.openxmlformats.org/drawingml/2006/main">
              <a:ext uri="{FF2B5EF4-FFF2-40B4-BE49-F238E27FC236}">
                <a16:creationId xmlns:a16="http://schemas.microsoft.com/office/drawing/2014/main" id="{F152A27C-F80D-47F1-A7C8-47E3B981AAB6}"/>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23. 교통약자 이동편의실태조사 및 자료관리</a:t>
            </a:r>
          </a:p>
        </p:txBody>
      </p:sp>
      <p:sp>
        <p:nvSpPr>
          <p:cNvPr id="23" name="">
            <a:extLst xmlns:a="http://schemas.openxmlformats.org/drawingml/2006/main">
              <a:ext uri="{FF2B5EF4-FFF2-40B4-BE49-F238E27FC236}">
                <a16:creationId xmlns:a16="http://schemas.microsoft.com/office/drawing/2014/main" id="{CAAA3406-535E-4662-8366-8BC68E9101A6}"/>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991379752"/>
      </p:ext>
    </p:extLst>
  </p:cSld>
</p:sld>
</file>

<file path=ppt/slides/slide11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AD92FF89-F815-45A7-9F02-1751A65D4F3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ST-01 / CCK 재사용·추가 개발·검수·기대효과</a:t>
            </a:r>
          </a:p>
        </p:txBody>
      </p:sp>
      <p:sp>
        <p:nvSpPr>
          <p:cNvPr id="2" name="">
            <a:extLst xmlns:a="http://schemas.openxmlformats.org/drawingml/2006/main">
              <a:ext uri="{FF2B5EF4-FFF2-40B4-BE49-F238E27FC236}">
                <a16:creationId xmlns:a16="http://schemas.microsoft.com/office/drawing/2014/main" id="{3EB535C1-AC81-49F7-B51C-6CA79AB1B6B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지역·취약계층 안전조치 근거 지원</a:t>
            </a:r>
          </a:p>
        </p:txBody>
      </p:sp>
      <p:sp>
        <p:nvSpPr>
          <p:cNvPr id="3" name="">
            <a:extLst xmlns:a="http://schemas.openxmlformats.org/drawingml/2006/main">
              <a:ext uri="{FF2B5EF4-FFF2-40B4-BE49-F238E27FC236}">
                <a16:creationId xmlns:a16="http://schemas.microsoft.com/office/drawing/2014/main" id="{FA2E5EDE-9522-49DD-AFF0-B8F5B9E9972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15EC017-56EE-42F6-8B81-559C798312C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A55F183-1491-43BE-86C1-4952F8D3304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113</a:t>
            </a:r>
          </a:p>
        </p:txBody>
      </p:sp>
      <p:sp>
        <p:nvSpPr>
          <p:cNvPr id="6" name="">
            <a:extLst xmlns:a="http://schemas.openxmlformats.org/drawingml/2006/main">
              <a:ext uri="{FF2B5EF4-FFF2-40B4-BE49-F238E27FC236}">
                <a16:creationId xmlns:a16="http://schemas.microsoft.com/office/drawing/2014/main" id="{D5420DB6-F0AF-4FF3-9F26-D215D7AFBD16}"/>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BDABFD4E-D05E-4498-88BD-8AC109C3FF12}"/>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점검 기준 검색·요약</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Audin·JET의 증빙 검토·항목 구조화</a:t>
            </a:r>
          </a:p>
        </p:txBody>
      </p:sp>
      <p:sp>
        <p:nvSpPr>
          <p:cNvPr id="8" name="">
            <a:extLst xmlns:a="http://schemas.openxmlformats.org/drawingml/2006/main">
              <a:ext uri="{FF2B5EF4-FFF2-40B4-BE49-F238E27FC236}">
                <a16:creationId xmlns:a16="http://schemas.microsoft.com/office/drawing/2014/main" id="{165AF4F3-05CA-4581-BFB9-D3459ADCD062}"/>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47D7BB06-61BF-4EF2-8616-F4845751B742}"/>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관할·대상 코드 사전</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점검항목–증거–조치 연결표</a:t>
            </a:r>
          </a:p>
        </p:txBody>
      </p:sp>
      <p:sp>
        <p:nvSpPr>
          <p:cNvPr id="10" name="">
            <a:extLst xmlns:a="http://schemas.openxmlformats.org/drawingml/2006/main">
              <a:ext uri="{FF2B5EF4-FFF2-40B4-BE49-F238E27FC236}">
                <a16:creationId xmlns:a16="http://schemas.microsoft.com/office/drawing/2014/main" id="{8B0C99F4-805A-4E4C-9FD3-1B311209F290}"/>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ADDB0A02-4B76-4565-8C86-826C5AD6F5A3}"/>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위험 검토시간·조치 누락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검토 완료시간 중앙값 / 미조치 탐지 건수 ÷ 실제 미조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치 건수</a:t>
            </a:r>
          </a:p>
        </p:txBody>
      </p:sp>
      <p:sp>
        <p:nvSpPr>
          <p:cNvPr id="12" name="">
            <a:extLst xmlns:a="http://schemas.openxmlformats.org/drawingml/2006/main">
              <a:ext uri="{FF2B5EF4-FFF2-40B4-BE49-F238E27FC236}">
                <a16:creationId xmlns:a16="http://schemas.microsoft.com/office/drawing/2014/main" id="{817E8D0D-B404-473C-B67B-CD2FB52018B7}"/>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F2FD5F27-7DF8-4460-8CAF-558951073F11}"/>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기간·지역 불일치, 증빙 없는 완료 건 주입</a:t>
            </a:r>
          </a:p>
        </p:txBody>
      </p:sp>
      <p:sp>
        <p:nvSpPr>
          <p:cNvPr id="14" name="">
            <a:extLst xmlns:a="http://schemas.openxmlformats.org/drawingml/2006/main">
              <a:ext uri="{FF2B5EF4-FFF2-40B4-BE49-F238E27FC236}">
                <a16:creationId xmlns:a16="http://schemas.microsoft.com/office/drawing/2014/main" id="{C3838052-B9A9-46DB-9CA2-BCE167443394}"/>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1A4F9D79-F8F4-41BE-92B8-BF786976613A}"/>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원천 위치 표시·불일치 보류·미조치 유지</a:t>
            </a:r>
          </a:p>
        </p:txBody>
      </p:sp>
      <p:sp>
        <p:nvSpPr>
          <p:cNvPr id="16" name="">
            <a:extLst xmlns:a="http://schemas.openxmlformats.org/drawingml/2006/main">
              <a:ext uri="{FF2B5EF4-FFF2-40B4-BE49-F238E27FC236}">
                <a16:creationId xmlns:a16="http://schemas.microsoft.com/office/drawing/2014/main" id="{C8E8F62D-A25E-41DB-AE65-54329AEF405E}"/>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328295A2-D090-4F8C-8A49-5C2CB4D39B10}"/>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대사표·누락 탐지 결과·검토 이력</a:t>
            </a:r>
          </a:p>
        </p:txBody>
      </p:sp>
      <p:sp>
        <p:nvSpPr>
          <p:cNvPr id="18" name="">
            <a:extLst xmlns:a="http://schemas.openxmlformats.org/drawingml/2006/main">
              <a:ext uri="{FF2B5EF4-FFF2-40B4-BE49-F238E27FC236}">
                <a16:creationId xmlns:a16="http://schemas.microsoft.com/office/drawing/2014/main" id="{67C4FEAB-532A-4148-A906-1D387D225389}"/>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BM-ST-01-R01 / BM-ST-01-T01</a:t>
            </a:r>
          </a:p>
        </p:txBody>
      </p:sp>
      <p:sp>
        <p:nvSpPr>
          <p:cNvPr id="19" name="">
            <a:extLst xmlns:a="http://schemas.openxmlformats.org/drawingml/2006/main">
              <a:ext uri="{FF2B5EF4-FFF2-40B4-BE49-F238E27FC236}">
                <a16:creationId xmlns:a16="http://schemas.microsoft.com/office/drawing/2014/main" id="{16CB881D-99B2-4EAA-8352-64DC8F2A3F47}"/>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360301014"/>
      </p:ext>
    </p:extLst>
  </p:cSld>
</p:sld>
</file>

<file path=ppt/slides/slide11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4246162-9667-49A5-A577-00D394D8504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ST-02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020E554D-3057-4C67-8B7F-3C8EEB50BB1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검사·소비자 권익 검토 지원</a:t>
            </a:r>
          </a:p>
        </p:txBody>
      </p:sp>
      <p:sp>
        <p:nvSpPr>
          <p:cNvPr id="3" name="">
            <a:extLst xmlns:a="http://schemas.openxmlformats.org/drawingml/2006/main">
              <a:ext uri="{FF2B5EF4-FFF2-40B4-BE49-F238E27FC236}">
                <a16:creationId xmlns:a16="http://schemas.microsoft.com/office/drawing/2014/main" id="{10C8A4EF-E639-4A47-8150-771548F7018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39425EF-8B2F-474A-806C-DD8851C3EF1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B924FDA-79FB-44B3-99B2-40E401D3836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114</a:t>
            </a:r>
          </a:p>
        </p:txBody>
      </p:sp>
      <p:sp>
        <p:nvSpPr>
          <p:cNvPr id="6" name="">
            <a:extLst xmlns:a="http://schemas.openxmlformats.org/drawingml/2006/main">
              <a:ext uri="{FF2B5EF4-FFF2-40B4-BE49-F238E27FC236}">
                <a16:creationId xmlns:a16="http://schemas.microsoft.com/office/drawing/2014/main" id="{D2895DC6-2729-4821-9A8E-24207DEB0257}"/>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자동차 안전관리 및 소비자 권익 강화</a:t>
            </a:r>
          </a:p>
        </p:txBody>
      </p:sp>
      <p:sp>
        <p:nvSpPr>
          <p:cNvPr id="7" name="">
            <a:extLst xmlns:a="http://schemas.openxmlformats.org/drawingml/2006/main">
              <a:ext uri="{FF2B5EF4-FFF2-40B4-BE49-F238E27FC236}">
                <a16:creationId xmlns:a16="http://schemas.microsoft.com/office/drawing/2014/main" id="{F2EA6898-C903-4C05-8959-F71785282217}"/>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742E6E-371E-4036-B676-0A6D9E2C99D0}"/>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검사기획처</a:t>
            </a:r>
          </a:p>
        </p:txBody>
      </p:sp>
      <p:sp>
        <p:nvSpPr>
          <p:cNvPr id="9" name="">
            <a:extLst xmlns:a="http://schemas.openxmlformats.org/drawingml/2006/main">
              <a:ext uri="{FF2B5EF4-FFF2-40B4-BE49-F238E27FC236}">
                <a16:creationId xmlns:a16="http://schemas.microsoft.com/office/drawing/2014/main" id="{88FFA239-ABBF-4D2E-9ED1-0AFEC0EAFB1E}"/>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검사제도·품질 관리</a:t>
            </a:r>
          </a:p>
        </p:txBody>
      </p:sp>
      <p:sp>
        <p:nvSpPr>
          <p:cNvPr id="10" name="">
            <a:extLst xmlns:a="http://schemas.openxmlformats.org/drawingml/2006/main">
              <a:ext uri="{FF2B5EF4-FFF2-40B4-BE49-F238E27FC236}">
                <a16:creationId xmlns:a16="http://schemas.microsoft.com/office/drawing/2014/main" id="{2EECD177-0EED-40C0-81CA-36F3FBCD1A89}"/>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자동차검사 품질강화 및 공공성 강화 관련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21. 검사표준서비스, 검사프로세스 개선‧관리</a:t>
            </a:r>
          </a:p>
        </p:txBody>
      </p:sp>
      <p:sp>
        <p:nvSpPr>
          <p:cNvPr id="11" name="">
            <a:extLst xmlns:a="http://schemas.openxmlformats.org/drawingml/2006/main">
              <a:ext uri="{FF2B5EF4-FFF2-40B4-BE49-F238E27FC236}">
                <a16:creationId xmlns:a16="http://schemas.microsoft.com/office/drawing/2014/main" id="{0AAE5278-1F21-4D95-B3FB-83981B162B9F}"/>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74AF02F-B2C4-4D2B-A0B4-28DEF6965EB3}"/>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기술승인처</a:t>
            </a:r>
          </a:p>
        </p:txBody>
      </p:sp>
      <p:sp>
        <p:nvSpPr>
          <p:cNvPr id="13" name="">
            <a:extLst xmlns:a="http://schemas.openxmlformats.org/drawingml/2006/main">
              <a:ext uri="{FF2B5EF4-FFF2-40B4-BE49-F238E27FC236}">
                <a16:creationId xmlns:a16="http://schemas.microsoft.com/office/drawing/2014/main" id="{A841FB8B-2C3A-4314-9B2C-A470871C3F0F}"/>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튜닝 승인·검사</a:t>
            </a:r>
          </a:p>
        </p:txBody>
      </p:sp>
      <p:sp>
        <p:nvSpPr>
          <p:cNvPr id="14" name="">
            <a:extLst xmlns:a="http://schemas.openxmlformats.org/drawingml/2006/main">
              <a:ext uri="{FF2B5EF4-FFF2-40B4-BE49-F238E27FC236}">
                <a16:creationId xmlns:a16="http://schemas.microsoft.com/office/drawing/2014/main" id="{22C55F4C-5B82-4177-8D96-34EA15F8FBB6}"/>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튜닝승인 및 튜닝검사, 안전검사 등에 관한 업무</a:t>
            </a:r>
          </a:p>
        </p:txBody>
      </p:sp>
      <p:sp>
        <p:nvSpPr>
          <p:cNvPr id="15" name="">
            <a:extLst xmlns:a="http://schemas.openxmlformats.org/drawingml/2006/main">
              <a:ext uri="{FF2B5EF4-FFF2-40B4-BE49-F238E27FC236}">
                <a16:creationId xmlns:a16="http://schemas.microsoft.com/office/drawing/2014/main" id="{7CAA7302-EEE8-4F8A-8DE5-91DFA497AE56}"/>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CFDF45C-89C8-4071-949D-643BC36CF49A}"/>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자동차안전연구원</a:t>
            </a:r>
          </a:p>
        </p:txBody>
      </p:sp>
      <p:sp>
        <p:nvSpPr>
          <p:cNvPr id="17" name="">
            <a:extLst xmlns:a="http://schemas.openxmlformats.org/drawingml/2006/main">
              <a:ext uri="{FF2B5EF4-FFF2-40B4-BE49-F238E27FC236}">
                <a16:creationId xmlns:a16="http://schemas.microsoft.com/office/drawing/2014/main" id="{7C7CE6D1-0ADE-4457-9480-45739C7242C0}"/>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제작결함 조사·안전도평가</a:t>
            </a:r>
          </a:p>
        </p:txBody>
      </p:sp>
      <p:sp>
        <p:nvSpPr>
          <p:cNvPr id="18" name="">
            <a:extLst xmlns:a="http://schemas.openxmlformats.org/drawingml/2006/main">
              <a:ext uri="{FF2B5EF4-FFF2-40B4-BE49-F238E27FC236}">
                <a16:creationId xmlns:a16="http://schemas.microsoft.com/office/drawing/2014/main" id="{4208A98A-042D-482B-8BEF-1CECF1C63749}"/>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법령·업무 원장 기반 요약 / 세부 직제 확인</a:t>
            </a:r>
          </a:p>
        </p:txBody>
      </p:sp>
      <p:sp>
        <p:nvSpPr>
          <p:cNvPr id="19" name="">
            <a:extLst xmlns:a="http://schemas.openxmlformats.org/drawingml/2006/main">
              <a:ext uri="{FF2B5EF4-FFF2-40B4-BE49-F238E27FC236}">
                <a16:creationId xmlns:a16="http://schemas.microsoft.com/office/drawing/2014/main" id="{869C6843-B7B1-4448-8CA7-BB2F6E4341A7}"/>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93D9E69-7BF9-4C1C-AAB5-9249FDD95500}"/>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자동차정보처</a:t>
            </a:r>
          </a:p>
        </p:txBody>
      </p:sp>
      <p:sp>
        <p:nvSpPr>
          <p:cNvPr id="21" name="">
            <a:extLst xmlns:a="http://schemas.openxmlformats.org/drawingml/2006/main">
              <a:ext uri="{FF2B5EF4-FFF2-40B4-BE49-F238E27FC236}">
                <a16:creationId xmlns:a16="http://schemas.microsoft.com/office/drawing/2014/main" id="{6BE7EEEB-5C30-49DC-BB5D-74EC0CE8DA3F}"/>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자동차 이력·정보 관리</a:t>
            </a:r>
          </a:p>
        </p:txBody>
      </p:sp>
      <p:sp>
        <p:nvSpPr>
          <p:cNvPr id="22" name="">
            <a:extLst xmlns:a="http://schemas.openxmlformats.org/drawingml/2006/main">
              <a:ext uri="{FF2B5EF4-FFF2-40B4-BE49-F238E27FC236}">
                <a16:creationId xmlns:a16="http://schemas.microsoft.com/office/drawing/2014/main" id="{2A6FB630-2161-4A0B-90E4-8D0448FBEA0E}"/>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자동차토털이력관리시스템 운영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자동차정보 통합서비스 제공 업무</a:t>
            </a:r>
          </a:p>
        </p:txBody>
      </p:sp>
      <p:sp>
        <p:nvSpPr>
          <p:cNvPr id="23" name="">
            <a:extLst xmlns:a="http://schemas.openxmlformats.org/drawingml/2006/main">
              <a:ext uri="{FF2B5EF4-FFF2-40B4-BE49-F238E27FC236}">
                <a16:creationId xmlns:a16="http://schemas.microsoft.com/office/drawing/2014/main" id="{9182EAB6-3A9E-4825-B283-38BCCDC92287}"/>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809218575"/>
      </p:ext>
    </p:extLst>
  </p:cSld>
</p:sld>
</file>

<file path=ppt/slides/slide11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BFF2869-57CC-4ECC-B935-79FD37C9F0C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ST-02 / CCK 재사용·추가 개발·검수·기대효과</a:t>
            </a:r>
          </a:p>
        </p:txBody>
      </p:sp>
      <p:sp>
        <p:nvSpPr>
          <p:cNvPr id="2" name="">
            <a:extLst xmlns:a="http://schemas.openxmlformats.org/drawingml/2006/main">
              <a:ext uri="{FF2B5EF4-FFF2-40B4-BE49-F238E27FC236}">
                <a16:creationId xmlns:a16="http://schemas.microsoft.com/office/drawing/2014/main" id="{4D5921A3-79CF-47F4-B21D-B40486A1022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검사·소비자 권익 검토 지원</a:t>
            </a:r>
          </a:p>
        </p:txBody>
      </p:sp>
      <p:sp>
        <p:nvSpPr>
          <p:cNvPr id="3" name="">
            <a:extLst xmlns:a="http://schemas.openxmlformats.org/drawingml/2006/main">
              <a:ext uri="{FF2B5EF4-FFF2-40B4-BE49-F238E27FC236}">
                <a16:creationId xmlns:a16="http://schemas.microsoft.com/office/drawing/2014/main" id="{4686E727-6D81-4A46-B6C4-54CC45766F5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4595CA0-E251-42DA-ACE1-8413494DFA0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71E42FC-D863-415E-83AA-0F4492B7A7D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115</a:t>
            </a:r>
          </a:p>
        </p:txBody>
      </p:sp>
      <p:sp>
        <p:nvSpPr>
          <p:cNvPr id="6" name="">
            <a:extLst xmlns:a="http://schemas.openxmlformats.org/drawingml/2006/main">
              <a:ext uri="{FF2B5EF4-FFF2-40B4-BE49-F238E27FC236}">
                <a16:creationId xmlns:a16="http://schemas.microsoft.com/office/drawing/2014/main" id="{CD60CD4E-C07F-4492-BADA-D4CFD2633335}"/>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0B4F0610-4B3A-452D-AA6A-A552BD1E41D9}"/>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기준 검색·서식 초안</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Audin·Foundry의 근거 검토·절차 구성</a:t>
            </a:r>
          </a:p>
        </p:txBody>
      </p:sp>
      <p:sp>
        <p:nvSpPr>
          <p:cNvPr id="8" name="">
            <a:extLst xmlns:a="http://schemas.openxmlformats.org/drawingml/2006/main">
              <a:ext uri="{FF2B5EF4-FFF2-40B4-BE49-F238E27FC236}">
                <a16:creationId xmlns:a16="http://schemas.microsoft.com/office/drawing/2014/main" id="{2D9A498F-64FB-4C6E-BDEF-850A9E94E043}"/>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933C952A-E996-4EE4-9AAA-A413BAA94EBB}"/>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차량–검사–민원 사건 연결 명세</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기준 개정·신청일 판정 규칙</a:t>
            </a:r>
          </a:p>
        </p:txBody>
      </p:sp>
      <p:sp>
        <p:nvSpPr>
          <p:cNvPr id="10" name="">
            <a:extLst xmlns:a="http://schemas.openxmlformats.org/drawingml/2006/main">
              <a:ext uri="{FF2B5EF4-FFF2-40B4-BE49-F238E27FC236}">
                <a16:creationId xmlns:a16="http://schemas.microsoft.com/office/drawing/2014/main" id="{86BD64D2-7522-4414-8359-333E85D4469A}"/>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86378892-1620-4B2E-8681-2ACDC0BD47B2}"/>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보완 반복·검토 누락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업무건당 보완 횟수 / 필수 증빙 누락 건수 ÷ 평가 건수</a:t>
            </a:r>
          </a:p>
        </p:txBody>
      </p:sp>
      <p:sp>
        <p:nvSpPr>
          <p:cNvPr id="12" name="">
            <a:extLst xmlns:a="http://schemas.openxmlformats.org/drawingml/2006/main">
              <a:ext uri="{FF2B5EF4-FFF2-40B4-BE49-F238E27FC236}">
                <a16:creationId xmlns:a16="http://schemas.microsoft.com/office/drawing/2014/main" id="{61408311-F77B-4A29-BEE7-9C792AE08AAA}"/>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BBC60FFB-6C75-4D3C-9198-88B1BA4B1E7A}"/>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개정 전후 신청, 다른 차량 증빙, 누락서류 주입</a:t>
            </a:r>
          </a:p>
        </p:txBody>
      </p:sp>
      <p:sp>
        <p:nvSpPr>
          <p:cNvPr id="14" name="">
            <a:extLst xmlns:a="http://schemas.openxmlformats.org/drawingml/2006/main">
              <a:ext uri="{FF2B5EF4-FFF2-40B4-BE49-F238E27FC236}">
                <a16:creationId xmlns:a16="http://schemas.microsoft.com/office/drawing/2014/main" id="{B5DE9E9B-E698-4C07-A120-2A0502D6B900}"/>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A6F615FA-7AD0-4AD9-8F5C-7D574BF7FD50}"/>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해당 판본·차량 일치·불완전 건 승인 보류</a:t>
            </a:r>
          </a:p>
        </p:txBody>
      </p:sp>
      <p:sp>
        <p:nvSpPr>
          <p:cNvPr id="16" name="">
            <a:extLst xmlns:a="http://schemas.openxmlformats.org/drawingml/2006/main">
              <a:ext uri="{FF2B5EF4-FFF2-40B4-BE49-F238E27FC236}">
                <a16:creationId xmlns:a16="http://schemas.microsoft.com/office/drawing/2014/main" id="{DCE68279-DF91-4676-8042-1BB8A387C9AC}"/>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46DF578A-6796-40F3-AC5A-261BD098BA62}"/>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판본 대조표·보완 목록·승인 차단 로그</a:t>
            </a:r>
          </a:p>
        </p:txBody>
      </p:sp>
      <p:sp>
        <p:nvSpPr>
          <p:cNvPr id="18" name="">
            <a:extLst xmlns:a="http://schemas.openxmlformats.org/drawingml/2006/main">
              <a:ext uri="{FF2B5EF4-FFF2-40B4-BE49-F238E27FC236}">
                <a16:creationId xmlns:a16="http://schemas.microsoft.com/office/drawing/2014/main" id="{77F4B7C8-BAF2-4B08-9893-EEA08B1FA7CA}"/>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BM-ST-02-R01 / BM-ST-02-T01</a:t>
            </a:r>
          </a:p>
        </p:txBody>
      </p:sp>
      <p:sp>
        <p:nvSpPr>
          <p:cNvPr id="19" name="">
            <a:extLst xmlns:a="http://schemas.openxmlformats.org/drawingml/2006/main">
              <a:ext uri="{FF2B5EF4-FFF2-40B4-BE49-F238E27FC236}">
                <a16:creationId xmlns:a16="http://schemas.microsoft.com/office/drawing/2014/main" id="{E244724F-EA51-4576-91E4-55D26E41BA1B}"/>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1445337168"/>
      </p:ext>
    </p:extLst>
  </p:cSld>
</p:sld>
</file>

<file path=ppt/slides/slide11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29401E2-F584-4CB6-839A-E8554D3B359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ST-03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3D31564A-E2C8-4C08-AACC-9855F46F313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중대사고 예방·보고 완전성</a:t>
            </a:r>
          </a:p>
        </p:txBody>
      </p:sp>
      <p:sp>
        <p:nvSpPr>
          <p:cNvPr id="3" name="">
            <a:extLst xmlns:a="http://schemas.openxmlformats.org/drawingml/2006/main">
              <a:ext uri="{FF2B5EF4-FFF2-40B4-BE49-F238E27FC236}">
                <a16:creationId xmlns:a16="http://schemas.microsoft.com/office/drawing/2014/main" id="{0A81414A-C5FE-408E-B886-D19C3428D2E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27A15EF-0E42-4009-A0B8-C5D04E7E47F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E3F6DC7-2353-4ECD-8BE7-1A26CE19B8D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116</a:t>
            </a:r>
          </a:p>
        </p:txBody>
      </p:sp>
      <p:sp>
        <p:nvSpPr>
          <p:cNvPr id="6" name="">
            <a:extLst xmlns:a="http://schemas.openxmlformats.org/drawingml/2006/main">
              <a:ext uri="{FF2B5EF4-FFF2-40B4-BE49-F238E27FC236}">
                <a16:creationId xmlns:a16="http://schemas.microsoft.com/office/drawing/2014/main" id="{72C61DA1-9430-4819-925E-DA8C22795EF4}"/>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중대사고 예방 능동적 안전관리체계 구축</a:t>
            </a:r>
          </a:p>
        </p:txBody>
      </p:sp>
      <p:sp>
        <p:nvSpPr>
          <p:cNvPr id="7" name="">
            <a:extLst xmlns:a="http://schemas.openxmlformats.org/drawingml/2006/main">
              <a:ext uri="{FF2B5EF4-FFF2-40B4-BE49-F238E27FC236}">
                <a16:creationId xmlns:a16="http://schemas.microsoft.com/office/drawing/2014/main" id="{E79AC373-A323-4A1D-8190-2171C0B4D057}"/>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F2849FD-35B5-47B7-B495-48DABB77F330}"/>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안전보건실</a:t>
            </a:r>
          </a:p>
        </p:txBody>
      </p:sp>
      <p:sp>
        <p:nvSpPr>
          <p:cNvPr id="9" name="">
            <a:extLst xmlns:a="http://schemas.openxmlformats.org/drawingml/2006/main">
              <a:ext uri="{FF2B5EF4-FFF2-40B4-BE49-F238E27FC236}">
                <a16:creationId xmlns:a16="http://schemas.microsoft.com/office/drawing/2014/main" id="{C7C12EA7-7E91-4700-8CD9-8492D90B0D5D}"/>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사업장 안전·재발방지</a:t>
            </a:r>
          </a:p>
        </p:txBody>
      </p:sp>
      <p:sp>
        <p:nvSpPr>
          <p:cNvPr id="10" name="">
            <a:extLst xmlns:a="http://schemas.openxmlformats.org/drawingml/2006/main">
              <a:ext uri="{FF2B5EF4-FFF2-40B4-BE49-F238E27FC236}">
                <a16:creationId xmlns:a16="http://schemas.microsoft.com/office/drawing/2014/main" id="{C9880F64-138C-4D34-B16C-CE0B882F3EF3}"/>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산업재해 신고, 사고대응 및 재발방지 조치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중대재해처벌법 안전보건의무 이행점검에 관한 업무</a:t>
            </a:r>
          </a:p>
        </p:txBody>
      </p:sp>
      <p:sp>
        <p:nvSpPr>
          <p:cNvPr id="11" name="">
            <a:extLst xmlns:a="http://schemas.openxmlformats.org/drawingml/2006/main">
              <a:ext uri="{FF2B5EF4-FFF2-40B4-BE49-F238E27FC236}">
                <a16:creationId xmlns:a16="http://schemas.microsoft.com/office/drawing/2014/main" id="{36D58E4E-C49B-40E1-8066-0B7B36526F60}"/>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F0F0FEA-147B-4BCB-A238-F9244CFB706B}"/>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교통안전처</a:t>
            </a:r>
          </a:p>
        </p:txBody>
      </p:sp>
      <p:sp>
        <p:nvSpPr>
          <p:cNvPr id="13" name="">
            <a:extLst xmlns:a="http://schemas.openxmlformats.org/drawingml/2006/main">
              <a:ext uri="{FF2B5EF4-FFF2-40B4-BE49-F238E27FC236}">
                <a16:creationId xmlns:a16="http://schemas.microsoft.com/office/drawing/2014/main" id="{767EFA06-0471-4AFF-9F93-D83195E731C0}"/>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운수회사 예방대책</a:t>
            </a:r>
          </a:p>
        </p:txBody>
      </p:sp>
      <p:sp>
        <p:nvSpPr>
          <p:cNvPr id="14" name="">
            <a:extLst xmlns:a="http://schemas.openxmlformats.org/drawingml/2006/main">
              <a:ext uri="{FF2B5EF4-FFF2-40B4-BE49-F238E27FC236}">
                <a16:creationId xmlns:a16="http://schemas.microsoft.com/office/drawing/2014/main" id="{53ABE4A4-CDA2-4222-9ACB-4DA505EA7D63}"/>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교통사고예방대책 수립 및 교통안전사업 개발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7. 운수회사 안전관리 및 교통사고 예방사업</a:t>
            </a:r>
          </a:p>
        </p:txBody>
      </p:sp>
      <p:sp>
        <p:nvSpPr>
          <p:cNvPr id="15" name="">
            <a:extLst xmlns:a="http://schemas.openxmlformats.org/drawingml/2006/main">
              <a:ext uri="{FF2B5EF4-FFF2-40B4-BE49-F238E27FC236}">
                <a16:creationId xmlns:a16="http://schemas.microsoft.com/office/drawing/2014/main" id="{687FF843-F4F7-4338-AE4E-E20BF8AD2200}"/>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C5A88CC-494D-4C93-8E7F-85AE4BD2C6B7}"/>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실증사업처</a:t>
            </a:r>
          </a:p>
        </p:txBody>
      </p:sp>
      <p:sp>
        <p:nvSpPr>
          <p:cNvPr id="17" name="">
            <a:extLst xmlns:a="http://schemas.openxmlformats.org/drawingml/2006/main">
              <a:ext uri="{FF2B5EF4-FFF2-40B4-BE49-F238E27FC236}">
                <a16:creationId xmlns:a16="http://schemas.microsoft.com/office/drawing/2014/main" id="{E2302115-ACA6-4D96-8B0A-F96C47C0E95F}"/>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교통시설 안전점검</a:t>
            </a:r>
          </a:p>
        </p:txBody>
      </p:sp>
      <p:sp>
        <p:nvSpPr>
          <p:cNvPr id="18" name="">
            <a:extLst xmlns:a="http://schemas.openxmlformats.org/drawingml/2006/main">
              <a:ext uri="{FF2B5EF4-FFF2-40B4-BE49-F238E27FC236}">
                <a16:creationId xmlns:a16="http://schemas.microsoft.com/office/drawing/2014/main" id="{F4AEE21C-5CAF-4666-A36A-924C09FC3692}"/>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7. 교통시설 안전진단ㆍ점검ㆍ평가에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교통시설설치ㆍ관리자의 교통안전관리규정 적정성 및 이행여부 확인평가</a:t>
            </a:r>
          </a:p>
        </p:txBody>
      </p:sp>
      <p:sp>
        <p:nvSpPr>
          <p:cNvPr id="19" name="">
            <a:extLst xmlns:a="http://schemas.openxmlformats.org/drawingml/2006/main">
              <a:ext uri="{FF2B5EF4-FFF2-40B4-BE49-F238E27FC236}">
                <a16:creationId xmlns:a16="http://schemas.microsoft.com/office/drawing/2014/main" id="{B8374D3A-782C-4232-A2C0-165EC139DB8A}"/>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FCF318E-B0BC-4B84-8824-0AA720521082}"/>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철도안전처</a:t>
            </a:r>
          </a:p>
        </p:txBody>
      </p:sp>
      <p:sp>
        <p:nvSpPr>
          <p:cNvPr id="21" name="">
            <a:extLst xmlns:a="http://schemas.openxmlformats.org/drawingml/2006/main">
              <a:ext uri="{FF2B5EF4-FFF2-40B4-BE49-F238E27FC236}">
                <a16:creationId xmlns:a16="http://schemas.microsoft.com/office/drawing/2014/main" id="{2F4E8486-F6E4-4B6A-9626-A5C248F37FA2}"/>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철도사고 분석</a:t>
            </a:r>
          </a:p>
        </p:txBody>
      </p:sp>
      <p:sp>
        <p:nvSpPr>
          <p:cNvPr id="22" name="">
            <a:extLst xmlns:a="http://schemas.openxmlformats.org/drawingml/2006/main">
              <a:ext uri="{FF2B5EF4-FFF2-40B4-BE49-F238E27FC236}">
                <a16:creationId xmlns:a16="http://schemas.microsoft.com/office/drawing/2014/main" id="{1EA917BB-51E8-4C51-BF73-93DBA3BDDAF1}"/>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철도사고(철도준사고 포함) 자료 원인분석 및 정책자료 제공</a:t>
            </a:r>
          </a:p>
        </p:txBody>
      </p:sp>
      <p:sp>
        <p:nvSpPr>
          <p:cNvPr id="23" name="">
            <a:extLst xmlns:a="http://schemas.openxmlformats.org/drawingml/2006/main">
              <a:ext uri="{FF2B5EF4-FFF2-40B4-BE49-F238E27FC236}">
                <a16:creationId xmlns:a16="http://schemas.microsoft.com/office/drawing/2014/main" id="{0683F797-7F4E-491C-A5CF-BB8612FC77B9}"/>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396070740"/>
      </p:ext>
    </p:extLst>
  </p:cSld>
</p:sld>
</file>

<file path=ppt/slides/slide11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060AAB5-375D-48E6-864C-BE6ACA67541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ST-03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37F9434B-F875-404B-BCBD-909BC1AC0D1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중대사고 예방·보고 완전성</a:t>
            </a:r>
          </a:p>
        </p:txBody>
      </p:sp>
      <p:sp>
        <p:nvSpPr>
          <p:cNvPr id="3" name="">
            <a:extLst xmlns:a="http://schemas.openxmlformats.org/drawingml/2006/main">
              <a:ext uri="{FF2B5EF4-FFF2-40B4-BE49-F238E27FC236}">
                <a16:creationId xmlns:a16="http://schemas.microsoft.com/office/drawing/2014/main" id="{5694C3E2-A34C-44F8-B97B-569950E58AE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8E5F25A-5518-466C-A596-16C2C8A4D8B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9662B0B-81A9-4ABC-BA0C-C03AC8B7B72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117</a:t>
            </a:r>
          </a:p>
        </p:txBody>
      </p:sp>
      <p:sp>
        <p:nvSpPr>
          <p:cNvPr id="6" name="">
            <a:extLst xmlns:a="http://schemas.openxmlformats.org/drawingml/2006/main">
              <a:ext uri="{FF2B5EF4-FFF2-40B4-BE49-F238E27FC236}">
                <a16:creationId xmlns:a16="http://schemas.microsoft.com/office/drawing/2014/main" id="{C5C3679E-245E-4118-94F0-9C41EA98B602}"/>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중대사고 예방 능동적 안전관리체계 구축</a:t>
            </a:r>
          </a:p>
        </p:txBody>
      </p:sp>
      <p:sp>
        <p:nvSpPr>
          <p:cNvPr id="7" name="">
            <a:extLst xmlns:a="http://schemas.openxmlformats.org/drawingml/2006/main">
              <a:ext uri="{FF2B5EF4-FFF2-40B4-BE49-F238E27FC236}">
                <a16:creationId xmlns:a16="http://schemas.microsoft.com/office/drawing/2014/main" id="{B97DFA2F-9D0E-48D0-962E-99FEC0E04B6E}"/>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116F194-7C9A-4FD7-A3F3-526BECB493F8}"/>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철도승인처</a:t>
            </a:r>
          </a:p>
        </p:txBody>
      </p:sp>
      <p:sp>
        <p:nvSpPr>
          <p:cNvPr id="9" name="">
            <a:extLst xmlns:a="http://schemas.openxmlformats.org/drawingml/2006/main">
              <a:ext uri="{FF2B5EF4-FFF2-40B4-BE49-F238E27FC236}">
                <a16:creationId xmlns:a16="http://schemas.microsoft.com/office/drawing/2014/main" id="{C6A2446F-2EBC-4A40-A1BF-A4149A77DBD7}"/>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철도 안전관리체계 승인</a:t>
            </a:r>
          </a:p>
        </p:txBody>
      </p:sp>
      <p:sp>
        <p:nvSpPr>
          <p:cNvPr id="10" name="">
            <a:extLst xmlns:a="http://schemas.openxmlformats.org/drawingml/2006/main">
              <a:ext uri="{FF2B5EF4-FFF2-40B4-BE49-F238E27FC236}">
                <a16:creationId xmlns:a16="http://schemas.microsoft.com/office/drawing/2014/main" id="{09FC6F7B-F605-49E1-9221-FEBF613D3767}"/>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철도안전관리체계 승인업무(최초·변경) 시행</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철도안전관리체계 기술기준 제·개정 및 관리</a:t>
            </a:r>
          </a:p>
        </p:txBody>
      </p:sp>
      <p:sp>
        <p:nvSpPr>
          <p:cNvPr id="11" name="">
            <a:extLst xmlns:a="http://schemas.openxmlformats.org/drawingml/2006/main">
              <a:ext uri="{FF2B5EF4-FFF2-40B4-BE49-F238E27FC236}">
                <a16:creationId xmlns:a16="http://schemas.microsoft.com/office/drawing/2014/main" id="{8BF2F26D-ED2D-40C7-B1FD-2B6F26705392}"/>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15C6B3A-C0F2-4257-BAA8-1CB2CBE3ECAE}"/>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철도검사처</a:t>
            </a:r>
          </a:p>
        </p:txBody>
      </p:sp>
      <p:sp>
        <p:nvSpPr>
          <p:cNvPr id="13" name="">
            <a:extLst xmlns:a="http://schemas.openxmlformats.org/drawingml/2006/main">
              <a:ext uri="{FF2B5EF4-FFF2-40B4-BE49-F238E27FC236}">
                <a16:creationId xmlns:a16="http://schemas.microsoft.com/office/drawing/2014/main" id="{7482CC48-64D6-4E55-9254-BCF3F44D90B6}"/>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철도 안전관리체계 검사</a:t>
            </a:r>
          </a:p>
        </p:txBody>
      </p:sp>
      <p:sp>
        <p:nvSpPr>
          <p:cNvPr id="14" name="">
            <a:extLst xmlns:a="http://schemas.openxmlformats.org/drawingml/2006/main">
              <a:ext uri="{FF2B5EF4-FFF2-40B4-BE49-F238E27FC236}">
                <a16:creationId xmlns:a16="http://schemas.microsoft.com/office/drawing/2014/main" id="{FEACC04A-A904-45DE-8C43-8DB1AADAF11F}"/>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철도안전관리체계 수시검사 시행</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철도사고 및 운행장애 초기대응 점검 시행</a:t>
            </a:r>
          </a:p>
        </p:txBody>
      </p:sp>
      <p:sp>
        <p:nvSpPr>
          <p:cNvPr id="15" name="">
            <a:extLst xmlns:a="http://schemas.openxmlformats.org/drawingml/2006/main">
              <a:ext uri="{FF2B5EF4-FFF2-40B4-BE49-F238E27FC236}">
                <a16:creationId xmlns:a16="http://schemas.microsoft.com/office/drawing/2014/main" id="{42D7F303-6024-44EC-BEDB-C408927B64A9}"/>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C3CAD5F-7CB1-41DA-81F0-CF5F875C0DFB}"/>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항공안전처</a:t>
            </a:r>
          </a:p>
        </p:txBody>
      </p:sp>
      <p:sp>
        <p:nvSpPr>
          <p:cNvPr id="17" name="">
            <a:extLst xmlns:a="http://schemas.openxmlformats.org/drawingml/2006/main">
              <a:ext uri="{FF2B5EF4-FFF2-40B4-BE49-F238E27FC236}">
                <a16:creationId xmlns:a16="http://schemas.microsoft.com/office/drawing/2014/main" id="{BDB39532-F883-4C2C-8CB3-9EA5A402726B}"/>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항공안전·사고조사</a:t>
            </a:r>
          </a:p>
        </p:txBody>
      </p:sp>
      <p:sp>
        <p:nvSpPr>
          <p:cNvPr id="18" name="">
            <a:extLst xmlns:a="http://schemas.openxmlformats.org/drawingml/2006/main">
              <a:ext uri="{FF2B5EF4-FFF2-40B4-BE49-F238E27FC236}">
                <a16:creationId xmlns:a16="http://schemas.microsoft.com/office/drawing/2014/main" id="{8B9DFFDF-B80E-4227-A461-49AC4C84440C}"/>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항공안전‧항공보안 자율보고의 접수·분석 및 전파업무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13. 초경량비행장치 사고조사 업무</a:t>
            </a:r>
          </a:p>
        </p:txBody>
      </p:sp>
      <p:sp>
        <p:nvSpPr>
          <p:cNvPr id="19" name="">
            <a:extLst xmlns:a="http://schemas.openxmlformats.org/drawingml/2006/main">
              <a:ext uri="{FF2B5EF4-FFF2-40B4-BE49-F238E27FC236}">
                <a16:creationId xmlns:a16="http://schemas.microsoft.com/office/drawing/2014/main" id="{3F2EEA9C-9842-4ADD-902B-646FC219C514}"/>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367812264"/>
      </p:ext>
    </p:extLst>
  </p:cSld>
</p:sld>
</file>

<file path=ppt/slides/slide11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6D274E9-BDA7-4B5F-B537-54DA3753F9A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ST-03 / CCK 재사용·추가 개발·검수·기대효과</a:t>
            </a:r>
          </a:p>
        </p:txBody>
      </p:sp>
      <p:sp>
        <p:nvSpPr>
          <p:cNvPr id="2" name="">
            <a:extLst xmlns:a="http://schemas.openxmlformats.org/drawingml/2006/main">
              <a:ext uri="{FF2B5EF4-FFF2-40B4-BE49-F238E27FC236}">
                <a16:creationId xmlns:a16="http://schemas.microsoft.com/office/drawing/2014/main" id="{14782307-10D1-4C49-8B30-E76E6615493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중대사고 예방·보고 완전성</a:t>
            </a:r>
          </a:p>
        </p:txBody>
      </p:sp>
      <p:sp>
        <p:nvSpPr>
          <p:cNvPr id="3" name="">
            <a:extLst xmlns:a="http://schemas.openxmlformats.org/drawingml/2006/main">
              <a:ext uri="{FF2B5EF4-FFF2-40B4-BE49-F238E27FC236}">
                <a16:creationId xmlns:a16="http://schemas.microsoft.com/office/drawing/2014/main" id="{EFF3DEF4-63AD-411B-9738-9CD6EF806C2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1FA08AC-7691-4654-8391-5DB68936AA1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98F8F6C-7C25-4EBE-8544-0984A2FF273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118</a:t>
            </a:r>
          </a:p>
        </p:txBody>
      </p:sp>
      <p:sp>
        <p:nvSpPr>
          <p:cNvPr id="6" name="">
            <a:extLst xmlns:a="http://schemas.openxmlformats.org/drawingml/2006/main">
              <a:ext uri="{FF2B5EF4-FFF2-40B4-BE49-F238E27FC236}">
                <a16:creationId xmlns:a16="http://schemas.microsoft.com/office/drawing/2014/main" id="{241C967B-A279-4E1B-A895-3C6304C26CC6}"/>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2E4F33E4-C107-44D8-B747-815E48C8E742}"/>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Audin·JET의 증거·항목 검토</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Connor 명세의 실행·로그 경계</a:t>
            </a:r>
          </a:p>
        </p:txBody>
      </p:sp>
      <p:sp>
        <p:nvSpPr>
          <p:cNvPr id="8" name="">
            <a:extLst xmlns:a="http://schemas.openxmlformats.org/drawingml/2006/main">
              <a:ext uri="{FF2B5EF4-FFF2-40B4-BE49-F238E27FC236}">
                <a16:creationId xmlns:a16="http://schemas.microsoft.com/office/drawing/2014/main" id="{69E465CE-3B8A-4B21-9A76-6D2FC5F31955}"/>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0A58C09D-00BE-4980-9BCB-6FF30DD501A1}"/>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분야별 보고 항목 사전</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원시 증거–사건–보고서 추적표</a:t>
            </a:r>
          </a:p>
        </p:txBody>
      </p:sp>
      <p:sp>
        <p:nvSpPr>
          <p:cNvPr id="10" name="">
            <a:extLst xmlns:a="http://schemas.openxmlformats.org/drawingml/2006/main">
              <a:ext uri="{FF2B5EF4-FFF2-40B4-BE49-F238E27FC236}">
                <a16:creationId xmlns:a16="http://schemas.microsoft.com/office/drawing/2014/main" id="{FBAEFB1A-1DB4-4609-B0CE-D41DD9F5051B}"/>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FA17A648-C199-407A-B70F-39E7C362078B}"/>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보고 누락·재점검 지연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필수 사건 재현 건수 ÷ 정답 사건 수 / 재점검 기한 초과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율</a:t>
            </a:r>
          </a:p>
        </p:txBody>
      </p:sp>
      <p:sp>
        <p:nvSpPr>
          <p:cNvPr id="12" name="">
            <a:extLst xmlns:a="http://schemas.openxmlformats.org/drawingml/2006/main">
              <a:ext uri="{FF2B5EF4-FFF2-40B4-BE49-F238E27FC236}">
                <a16:creationId xmlns:a16="http://schemas.microsoft.com/office/drawing/2014/main" id="{7E1CE72B-1D1E-4736-9271-05B8137C015A}"/>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1F8DCB1D-1534-48A6-8E5A-368E3ADA9D30}"/>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사고 후 사건 삭제, 시각 충돌, 미이행 조치 주입</a:t>
            </a:r>
          </a:p>
        </p:txBody>
      </p:sp>
      <p:sp>
        <p:nvSpPr>
          <p:cNvPr id="14" name="">
            <a:extLst xmlns:a="http://schemas.openxmlformats.org/drawingml/2006/main">
              <a:ext uri="{FF2B5EF4-FFF2-40B4-BE49-F238E27FC236}">
                <a16:creationId xmlns:a16="http://schemas.microsoft.com/office/drawing/2014/main" id="{57DD9520-FDE2-47CF-8D3E-2F6A2C8C9DD7}"/>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C63E3815-8179-4EE3-A4D4-E840CF63C7AE}"/>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누락 경고·원시 근거 추적·종결 차단</a:t>
            </a:r>
          </a:p>
        </p:txBody>
      </p:sp>
      <p:sp>
        <p:nvSpPr>
          <p:cNvPr id="16" name="">
            <a:extLst xmlns:a="http://schemas.openxmlformats.org/drawingml/2006/main">
              <a:ext uri="{FF2B5EF4-FFF2-40B4-BE49-F238E27FC236}">
                <a16:creationId xmlns:a16="http://schemas.microsoft.com/office/drawing/2014/main" id="{AFED8452-8F04-4709-89A2-49C8B3E0253F}"/>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EC90FC61-6188-4625-835A-522D6E2C05DE}"/>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사건별 정답표·탐지 결과·종결 시도 로그</a:t>
            </a:r>
          </a:p>
        </p:txBody>
      </p:sp>
      <p:sp>
        <p:nvSpPr>
          <p:cNvPr id="18" name="">
            <a:extLst xmlns:a="http://schemas.openxmlformats.org/drawingml/2006/main">
              <a:ext uri="{FF2B5EF4-FFF2-40B4-BE49-F238E27FC236}">
                <a16:creationId xmlns:a16="http://schemas.microsoft.com/office/drawing/2014/main" id="{9B5A03F1-CC82-425D-869C-22CC7A2A90E2}"/>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BM-ST-03-R01 / BM-ST-03-T01</a:t>
            </a:r>
          </a:p>
        </p:txBody>
      </p:sp>
      <p:sp>
        <p:nvSpPr>
          <p:cNvPr id="19" name="">
            <a:extLst xmlns:a="http://schemas.openxmlformats.org/drawingml/2006/main">
              <a:ext uri="{FF2B5EF4-FFF2-40B4-BE49-F238E27FC236}">
                <a16:creationId xmlns:a16="http://schemas.microsoft.com/office/drawing/2014/main" id="{5B65CDB0-7836-492E-8892-8AF773C04359}"/>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309278496"/>
      </p:ext>
    </p:extLst>
  </p:cSld>
</p:sld>
</file>

<file path=ppt/slides/slide11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5271F59-5C7C-409A-8328-DF25B0C14AF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ST-04 / TS 담당 부서·실제 업무 / 1차 공통 기반</a:t>
            </a:r>
          </a:p>
        </p:txBody>
      </p:sp>
      <p:sp>
        <p:nvSpPr>
          <p:cNvPr id="2" name="">
            <a:extLst xmlns:a="http://schemas.openxmlformats.org/drawingml/2006/main">
              <a:ext uri="{FF2B5EF4-FFF2-40B4-BE49-F238E27FC236}">
                <a16:creationId xmlns:a16="http://schemas.microsoft.com/office/drawing/2014/main" id="{F5990F24-2EFB-4181-9C8B-FCEE02F908E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네이티브 공통 기반</a:t>
            </a:r>
          </a:p>
        </p:txBody>
      </p:sp>
      <p:sp>
        <p:nvSpPr>
          <p:cNvPr id="3" name="">
            <a:extLst xmlns:a="http://schemas.openxmlformats.org/drawingml/2006/main">
              <a:ext uri="{FF2B5EF4-FFF2-40B4-BE49-F238E27FC236}">
                <a16:creationId xmlns:a16="http://schemas.microsoft.com/office/drawing/2014/main" id="{9290C0EF-6A16-46D2-96D5-6A3706F7307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07ECF44-C4ED-41E7-94B6-F8EDF664BD4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B5AE36C-21DF-4760-8E38-73A2BCD13AB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119</a:t>
            </a:r>
          </a:p>
        </p:txBody>
      </p:sp>
      <p:sp>
        <p:nvSpPr>
          <p:cNvPr id="6" name="">
            <a:extLst xmlns:a="http://schemas.openxmlformats.org/drawingml/2006/main">
              <a:ext uri="{FF2B5EF4-FFF2-40B4-BE49-F238E27FC236}">
                <a16:creationId xmlns:a16="http://schemas.microsoft.com/office/drawing/2014/main" id="{E0F3FD05-B1B6-48CD-A469-1F3D435924EA}"/>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교통안전체계 인공지능 대전환</a:t>
            </a:r>
          </a:p>
        </p:txBody>
      </p:sp>
      <p:sp>
        <p:nvSpPr>
          <p:cNvPr id="7" name="">
            <a:extLst xmlns:a="http://schemas.openxmlformats.org/drawingml/2006/main">
              <a:ext uri="{FF2B5EF4-FFF2-40B4-BE49-F238E27FC236}">
                <a16:creationId xmlns:a16="http://schemas.microsoft.com/office/drawing/2014/main" id="{E2ACD23B-CA1E-4B45-A4FE-7A091490AA68}"/>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1BF1087-699E-4270-9CB0-3332868D687E}"/>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AI미래전략실</a:t>
            </a:r>
          </a:p>
        </p:txBody>
      </p:sp>
      <p:sp>
        <p:nvSpPr>
          <p:cNvPr id="9" name="">
            <a:extLst xmlns:a="http://schemas.openxmlformats.org/drawingml/2006/main">
              <a:ext uri="{FF2B5EF4-FFF2-40B4-BE49-F238E27FC236}">
                <a16:creationId xmlns:a16="http://schemas.microsoft.com/office/drawing/2014/main" id="{4ABAEAA0-9EA8-43F1-A65F-D6DAFEB9F1AF}"/>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AI 전략·윤리</a:t>
            </a:r>
          </a:p>
        </p:txBody>
      </p:sp>
      <p:sp>
        <p:nvSpPr>
          <p:cNvPr id="10" name="">
            <a:extLst xmlns:a="http://schemas.openxmlformats.org/drawingml/2006/main">
              <a:ext uri="{FF2B5EF4-FFF2-40B4-BE49-F238E27FC236}">
                <a16:creationId xmlns:a16="http://schemas.microsoft.com/office/drawing/2014/main" id="{5B2E9695-4B1F-4C24-A268-D470FB82CFBD}"/>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인공지능(AI) 전환 전략 수립․조정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인공지능(AI) 제도 및 지침, 윤리기준 관리</a:t>
            </a:r>
          </a:p>
        </p:txBody>
      </p:sp>
      <p:sp>
        <p:nvSpPr>
          <p:cNvPr id="11" name="">
            <a:extLst xmlns:a="http://schemas.openxmlformats.org/drawingml/2006/main">
              <a:ext uri="{FF2B5EF4-FFF2-40B4-BE49-F238E27FC236}">
                <a16:creationId xmlns:a16="http://schemas.microsoft.com/office/drawing/2014/main" id="{4F997F65-8C0A-4E1B-A9B3-C8CA98227A24}"/>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B2E5C6D-67CA-4981-BC5C-0A966D6DCA45}"/>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AI혁신처</a:t>
            </a:r>
          </a:p>
        </p:txBody>
      </p:sp>
      <p:sp>
        <p:nvSpPr>
          <p:cNvPr id="13" name="">
            <a:extLst xmlns:a="http://schemas.openxmlformats.org/drawingml/2006/main">
              <a:ext uri="{FF2B5EF4-FFF2-40B4-BE49-F238E27FC236}">
                <a16:creationId xmlns:a16="http://schemas.microsoft.com/office/drawing/2014/main" id="{A9369E4A-8BCB-407B-8AFC-B60D049D872A}"/>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AI 사업 조정·데이터 표준</a:t>
            </a:r>
          </a:p>
        </p:txBody>
      </p:sp>
      <p:sp>
        <p:nvSpPr>
          <p:cNvPr id="14" name="">
            <a:extLst xmlns:a="http://schemas.openxmlformats.org/drawingml/2006/main">
              <a:ext uri="{FF2B5EF4-FFF2-40B4-BE49-F238E27FC236}">
                <a16:creationId xmlns:a16="http://schemas.microsoft.com/office/drawing/2014/main" id="{959BB990-9123-4954-80DF-D6968596A2B9}"/>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인공지능(AI) 활용 서비스 구축 지원 및 성과관리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인공지능(AI) 데이터 표준화 및 데이터 스페이스 구축</a:t>
            </a:r>
          </a:p>
        </p:txBody>
      </p:sp>
      <p:sp>
        <p:nvSpPr>
          <p:cNvPr id="15" name="">
            <a:extLst xmlns:a="http://schemas.openxmlformats.org/drawingml/2006/main">
              <a:ext uri="{FF2B5EF4-FFF2-40B4-BE49-F238E27FC236}">
                <a16:creationId xmlns:a16="http://schemas.microsoft.com/office/drawing/2014/main" id="{819F7978-8790-4BFA-A27C-D77BACB216D4}"/>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24CE0FA-BC02-4815-A6C1-75E6D6814617}"/>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AI서비스개발팀</a:t>
            </a:r>
          </a:p>
        </p:txBody>
      </p:sp>
      <p:sp>
        <p:nvSpPr>
          <p:cNvPr id="17" name="">
            <a:extLst xmlns:a="http://schemas.openxmlformats.org/drawingml/2006/main">
              <a:ext uri="{FF2B5EF4-FFF2-40B4-BE49-F238E27FC236}">
                <a16:creationId xmlns:a16="http://schemas.microsoft.com/office/drawing/2014/main" id="{8298E86C-B705-4421-B3DA-FB045741D796}"/>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공통플랫폼·모델 품질</a:t>
            </a:r>
          </a:p>
        </p:txBody>
      </p:sp>
      <p:sp>
        <p:nvSpPr>
          <p:cNvPr id="18" name="">
            <a:extLst xmlns:a="http://schemas.openxmlformats.org/drawingml/2006/main">
              <a:ext uri="{FF2B5EF4-FFF2-40B4-BE49-F238E27FC236}">
                <a16:creationId xmlns:a16="http://schemas.microsoft.com/office/drawing/2014/main" id="{5B06FF70-B847-4756-B976-1F9E19D5F2F5}"/>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인공지능(AI) 공통플랫폼 구축․운영 인공지능(AI) 모델 고도화․품질관리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인공지능(AI) 시범 서비스(PoC) 추진</a:t>
            </a:r>
          </a:p>
        </p:txBody>
      </p:sp>
      <p:sp>
        <p:nvSpPr>
          <p:cNvPr id="19" name="">
            <a:extLst xmlns:a="http://schemas.openxmlformats.org/drawingml/2006/main">
              <a:ext uri="{FF2B5EF4-FFF2-40B4-BE49-F238E27FC236}">
                <a16:creationId xmlns:a16="http://schemas.microsoft.com/office/drawing/2014/main" id="{953825F0-2120-4C92-A479-4CF5B1144020}"/>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E54BC72-F20B-4D24-85BF-01C766135840}"/>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예산처</a:t>
            </a:r>
          </a:p>
        </p:txBody>
      </p:sp>
      <p:sp>
        <p:nvSpPr>
          <p:cNvPr id="21" name="">
            <a:extLst xmlns:a="http://schemas.openxmlformats.org/drawingml/2006/main">
              <a:ext uri="{FF2B5EF4-FFF2-40B4-BE49-F238E27FC236}">
                <a16:creationId xmlns:a16="http://schemas.microsoft.com/office/drawing/2014/main" id="{31EFE52F-1539-41BC-B8BC-C1F148D14746}"/>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조직·분장·전결 관리</a:t>
            </a:r>
          </a:p>
        </p:txBody>
      </p:sp>
      <p:sp>
        <p:nvSpPr>
          <p:cNvPr id="22" name="">
            <a:extLst xmlns:a="http://schemas.openxmlformats.org/drawingml/2006/main">
              <a:ext uri="{FF2B5EF4-FFF2-40B4-BE49-F238E27FC236}">
                <a16:creationId xmlns:a16="http://schemas.microsoft.com/office/drawing/2014/main" id="{79EC158D-D7A4-4CA6-906F-DA99A6A94147}"/>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조직 및 정원관리 총괄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9. 위임전결에 관한 사항</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업무분장 조정‧관리</a:t>
            </a:r>
          </a:p>
        </p:txBody>
      </p:sp>
      <p:sp>
        <p:nvSpPr>
          <p:cNvPr id="23" name="">
            <a:extLst xmlns:a="http://schemas.openxmlformats.org/drawingml/2006/main">
              <a:ext uri="{FF2B5EF4-FFF2-40B4-BE49-F238E27FC236}">
                <a16:creationId xmlns:a16="http://schemas.microsoft.com/office/drawing/2014/main" id="{525B50BC-93BE-413C-9E9D-FAB926A0CF91}"/>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780570961"/>
      </p:ext>
    </p:extLst>
  </p:cSld>
</p:sld>
</file>

<file path=ppt/slides/slide12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FE437E7-36C2-4EA0-B8B3-E1D31490F55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ST-04 / TS 담당 부서·실제 업무 / 1차 공통 기반</a:t>
            </a:r>
          </a:p>
        </p:txBody>
      </p:sp>
      <p:sp>
        <p:nvSpPr>
          <p:cNvPr id="2" name="">
            <a:extLst xmlns:a="http://schemas.openxmlformats.org/drawingml/2006/main">
              <a:ext uri="{FF2B5EF4-FFF2-40B4-BE49-F238E27FC236}">
                <a16:creationId xmlns:a16="http://schemas.microsoft.com/office/drawing/2014/main" id="{574F7D4A-A853-412F-91B8-BF3F3690560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네이티브 공통 기반</a:t>
            </a:r>
          </a:p>
        </p:txBody>
      </p:sp>
      <p:sp>
        <p:nvSpPr>
          <p:cNvPr id="3" name="">
            <a:extLst xmlns:a="http://schemas.openxmlformats.org/drawingml/2006/main">
              <a:ext uri="{FF2B5EF4-FFF2-40B4-BE49-F238E27FC236}">
                <a16:creationId xmlns:a16="http://schemas.microsoft.com/office/drawing/2014/main" id="{9D37A3C2-BB62-460F-9F82-C7F840AB8CC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B69A88B-59CA-49DB-9358-0B91ADAE169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AF3AED6-A012-4993-894F-DF5BA91CCC3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120</a:t>
            </a:r>
          </a:p>
        </p:txBody>
      </p:sp>
      <p:sp>
        <p:nvSpPr>
          <p:cNvPr id="6" name="">
            <a:extLst xmlns:a="http://schemas.openxmlformats.org/drawingml/2006/main">
              <a:ext uri="{FF2B5EF4-FFF2-40B4-BE49-F238E27FC236}">
                <a16:creationId xmlns:a16="http://schemas.microsoft.com/office/drawing/2014/main" id="{AD2A0062-F98D-46BB-B288-55A02C6FF4E7}"/>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교통안전체계 인공지능 대전환</a:t>
            </a:r>
          </a:p>
        </p:txBody>
      </p:sp>
      <p:sp>
        <p:nvSpPr>
          <p:cNvPr id="7" name="">
            <a:extLst xmlns:a="http://schemas.openxmlformats.org/drawingml/2006/main">
              <a:ext uri="{FF2B5EF4-FFF2-40B4-BE49-F238E27FC236}">
                <a16:creationId xmlns:a16="http://schemas.microsoft.com/office/drawing/2014/main" id="{46AD53C1-EFF5-487A-8436-E5B2798597CA}"/>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55546CE-96AC-4C25-861F-5F0517332ABE}"/>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인재개발처</a:t>
            </a:r>
          </a:p>
        </p:txBody>
      </p:sp>
      <p:sp>
        <p:nvSpPr>
          <p:cNvPr id="9" name="">
            <a:extLst xmlns:a="http://schemas.openxmlformats.org/drawingml/2006/main">
              <a:ext uri="{FF2B5EF4-FFF2-40B4-BE49-F238E27FC236}">
                <a16:creationId xmlns:a16="http://schemas.microsoft.com/office/drawing/2014/main" id="{0BA8F41B-7471-43BB-85FA-86F3A0E1770E}"/>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발령·인사정보 관리</a:t>
            </a:r>
          </a:p>
        </p:txBody>
      </p:sp>
      <p:sp>
        <p:nvSpPr>
          <p:cNvPr id="10" name="">
            <a:extLst xmlns:a="http://schemas.openxmlformats.org/drawingml/2006/main">
              <a:ext uri="{FF2B5EF4-FFF2-40B4-BE49-F238E27FC236}">
                <a16:creationId xmlns:a16="http://schemas.microsoft.com/office/drawing/2014/main" id="{20DCE451-F9ED-456B-976A-FE3D8B842FC2}"/>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직원의 채용, 승진, 전보 등 임용 및 보직에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인사통계자료․인사정보 관리 및 인사 관련 제증명 발급</a:t>
            </a:r>
          </a:p>
        </p:txBody>
      </p:sp>
      <p:sp>
        <p:nvSpPr>
          <p:cNvPr id="11" name="">
            <a:extLst xmlns:a="http://schemas.openxmlformats.org/drawingml/2006/main">
              <a:ext uri="{FF2B5EF4-FFF2-40B4-BE49-F238E27FC236}">
                <a16:creationId xmlns:a16="http://schemas.microsoft.com/office/drawing/2014/main" id="{4B6C9795-B4E7-431E-AD21-C2D30550B760}"/>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BE93ABA-0DA2-430E-B771-AE5508AC70CC}"/>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디지털기획처</a:t>
            </a:r>
          </a:p>
        </p:txBody>
      </p:sp>
      <p:sp>
        <p:nvSpPr>
          <p:cNvPr id="13" name="">
            <a:extLst xmlns:a="http://schemas.openxmlformats.org/drawingml/2006/main">
              <a:ext uri="{FF2B5EF4-FFF2-40B4-BE49-F238E27FC236}">
                <a16:creationId xmlns:a16="http://schemas.microsoft.com/office/drawing/2014/main" id="{C9A09086-29F4-4409-9189-BF7BA75D66D1}"/>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정보화·데이터 품질</a:t>
            </a:r>
          </a:p>
        </p:txBody>
      </p:sp>
      <p:sp>
        <p:nvSpPr>
          <p:cNvPr id="14" name="">
            <a:extLst xmlns:a="http://schemas.openxmlformats.org/drawingml/2006/main">
              <a:ext uri="{FF2B5EF4-FFF2-40B4-BE49-F238E27FC236}">
                <a16:creationId xmlns:a16="http://schemas.microsoft.com/office/drawing/2014/main" id="{886B3C7F-4E09-4CF8-90D8-504D246935A8}"/>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13. 정보화사업 사전검토(과업지시서 등) 및 시스템 구축 지원(기술분야)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20. 데이터 품질관리</a:t>
            </a:r>
          </a:p>
        </p:txBody>
      </p:sp>
      <p:sp>
        <p:nvSpPr>
          <p:cNvPr id="15" name="">
            <a:extLst xmlns:a="http://schemas.openxmlformats.org/drawingml/2006/main">
              <a:ext uri="{FF2B5EF4-FFF2-40B4-BE49-F238E27FC236}">
                <a16:creationId xmlns:a16="http://schemas.microsoft.com/office/drawing/2014/main" id="{4B79BEC2-C092-4FBF-93CE-C2FD7FB8ED12}"/>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36A1A7A-22CA-4F64-926D-B8349C25E606}"/>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정보보안처</a:t>
            </a:r>
          </a:p>
        </p:txBody>
      </p:sp>
      <p:sp>
        <p:nvSpPr>
          <p:cNvPr id="17" name="">
            <a:extLst xmlns:a="http://schemas.openxmlformats.org/drawingml/2006/main">
              <a:ext uri="{FF2B5EF4-FFF2-40B4-BE49-F238E27FC236}">
                <a16:creationId xmlns:a16="http://schemas.microsoft.com/office/drawing/2014/main" id="{C7DBFF42-1604-43D7-92D7-096F05366B94}"/>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보안·개인정보 관리</a:t>
            </a:r>
          </a:p>
        </p:txBody>
      </p:sp>
      <p:sp>
        <p:nvSpPr>
          <p:cNvPr id="18" name="">
            <a:extLst xmlns:a="http://schemas.openxmlformats.org/drawingml/2006/main">
              <a:ext uri="{FF2B5EF4-FFF2-40B4-BE49-F238E27FC236}">
                <a16:creationId xmlns:a16="http://schemas.microsoft.com/office/drawing/2014/main" id="{668CF5FE-514E-48DA-82AE-7A37A8E9C774}"/>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정보보안 업무총괄 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개인정보보호 업무총괄 관리</a:t>
            </a:r>
          </a:p>
        </p:txBody>
      </p:sp>
      <p:sp>
        <p:nvSpPr>
          <p:cNvPr id="19" name="">
            <a:extLst xmlns:a="http://schemas.openxmlformats.org/drawingml/2006/main">
              <a:ext uri="{FF2B5EF4-FFF2-40B4-BE49-F238E27FC236}">
                <a16:creationId xmlns:a16="http://schemas.microsoft.com/office/drawing/2014/main" id="{ECCF653C-2B51-4ABC-B5D2-A9D847A004BA}"/>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2032760202"/>
      </p:ext>
    </p:extLst>
  </p:cSld>
</p:sld>
</file>

<file path=ppt/slides/slide12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4D149B9-02B2-4EE7-892A-E50CE8A7DF6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ST-04 / CCK 재사용·추가 개발·검수·기대효과</a:t>
            </a:r>
          </a:p>
        </p:txBody>
      </p:sp>
      <p:sp>
        <p:nvSpPr>
          <p:cNvPr id="2" name="">
            <a:extLst xmlns:a="http://schemas.openxmlformats.org/drawingml/2006/main">
              <a:ext uri="{FF2B5EF4-FFF2-40B4-BE49-F238E27FC236}">
                <a16:creationId xmlns:a16="http://schemas.microsoft.com/office/drawing/2014/main" id="{E8870FE0-54AB-4517-933D-8DC72F94A3F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네이티브 공통 기반</a:t>
            </a:r>
          </a:p>
        </p:txBody>
      </p:sp>
      <p:sp>
        <p:nvSpPr>
          <p:cNvPr id="3" name="">
            <a:extLst xmlns:a="http://schemas.openxmlformats.org/drawingml/2006/main">
              <a:ext uri="{FF2B5EF4-FFF2-40B4-BE49-F238E27FC236}">
                <a16:creationId xmlns:a16="http://schemas.microsoft.com/office/drawing/2014/main" id="{06075D53-C2E2-45E0-8EFB-FCA9425EE1F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CF6057C-21B6-4267-BBAB-F1B8D5A71A4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67976F7-80CD-4F61-B12B-749ECC54D28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121</a:t>
            </a:r>
          </a:p>
        </p:txBody>
      </p:sp>
      <p:sp>
        <p:nvSpPr>
          <p:cNvPr id="6" name="">
            <a:extLst xmlns:a="http://schemas.openxmlformats.org/drawingml/2006/main">
              <a:ext uri="{FF2B5EF4-FFF2-40B4-BE49-F238E27FC236}">
                <a16:creationId xmlns:a16="http://schemas.microsoft.com/office/drawing/2014/main" id="{296B36DF-E327-4E8F-9073-824D407BAB6F}"/>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C204BE2F-9E52-4251-8060-AAAD6D666581}"/>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대화·검색·서식·스킬</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Connor 명세의 실행·로그 경계</a:t>
            </a:r>
          </a:p>
        </p:txBody>
      </p:sp>
      <p:sp>
        <p:nvSpPr>
          <p:cNvPr id="8" name="">
            <a:extLst xmlns:a="http://schemas.openxmlformats.org/drawingml/2006/main">
              <a:ext uri="{FF2B5EF4-FFF2-40B4-BE49-F238E27FC236}">
                <a16:creationId xmlns:a16="http://schemas.microsoft.com/office/drawing/2014/main" id="{8B8169B7-C75C-4D3E-88A7-75ACEA175844}"/>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1F2C3FA6-A55D-41F2-9388-ED028D9A5CBA}"/>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사람–조직–직무–업무 관계·효력일 모델</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업무 분류기·검색 전 정책 집행 연결</a:t>
            </a:r>
          </a:p>
        </p:txBody>
      </p:sp>
      <p:sp>
        <p:nvSpPr>
          <p:cNvPr id="10" name="">
            <a:extLst xmlns:a="http://schemas.openxmlformats.org/drawingml/2006/main">
              <a:ext uri="{FF2B5EF4-FFF2-40B4-BE49-F238E27FC236}">
                <a16:creationId xmlns:a16="http://schemas.microsoft.com/office/drawing/2014/main" id="{C1520636-620F-44C8-9273-2FE78A047C77}"/>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4509443D-7C36-40D4-B74F-A261C9521BE6}"/>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반복 맥락 입력·부서 간 오인계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직무·업무 분류 정답 건수 ÷ 평가 건수 / 변경 전파 지연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 비인가 노출 건수</a:t>
            </a:r>
          </a:p>
        </p:txBody>
      </p:sp>
      <p:sp>
        <p:nvSpPr>
          <p:cNvPr id="12" name="">
            <a:extLst xmlns:a="http://schemas.openxmlformats.org/drawingml/2006/main">
              <a:ext uri="{FF2B5EF4-FFF2-40B4-BE49-F238E27FC236}">
                <a16:creationId xmlns:a16="http://schemas.microsoft.com/office/drawing/2014/main" id="{AB2BA857-7418-42F1-A8BE-5997325DE58B}"/>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7F30DB85-D5BE-4D34-AE66-CE6E5D740507}"/>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동명이인·겸직·전보·회수 전후 동일 요청</a:t>
            </a:r>
          </a:p>
        </p:txBody>
      </p:sp>
      <p:sp>
        <p:nvSpPr>
          <p:cNvPr id="14" name="">
            <a:extLst xmlns:a="http://schemas.openxmlformats.org/drawingml/2006/main">
              <a:ext uri="{FF2B5EF4-FFF2-40B4-BE49-F238E27FC236}">
                <a16:creationId xmlns:a16="http://schemas.microsoft.com/office/drawing/2014/main" id="{145F0225-88E8-485C-8F89-332946EFBEDA}"/>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F4C7D488-05CB-4182-A1BE-858316C13D43}"/>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정답 조직·업무·서식 일치, 모호한 식별 보류, 비인가 </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노출·실행 0건 기준안</a:t>
            </a:r>
          </a:p>
        </p:txBody>
      </p:sp>
      <p:sp>
        <p:nvSpPr>
          <p:cNvPr id="16" name="">
            <a:extLst xmlns:a="http://schemas.openxmlformats.org/drawingml/2006/main">
              <a:ext uri="{FF2B5EF4-FFF2-40B4-BE49-F238E27FC236}">
                <a16:creationId xmlns:a16="http://schemas.microsoft.com/office/drawing/2014/main" id="{C98975B5-9AC1-496C-85F7-C9796E123D00}"/>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DA51D87B-5D7A-4BCE-A779-16944EC25195}"/>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신원 매핑 정답셋·교차권한 결과·변경 전파·복구 기록</a:t>
            </a:r>
          </a:p>
        </p:txBody>
      </p:sp>
      <p:sp>
        <p:nvSpPr>
          <p:cNvPr id="18" name="">
            <a:extLst xmlns:a="http://schemas.openxmlformats.org/drawingml/2006/main">
              <a:ext uri="{FF2B5EF4-FFF2-40B4-BE49-F238E27FC236}">
                <a16:creationId xmlns:a16="http://schemas.microsoft.com/office/drawing/2014/main" id="{B21D8AAB-7291-45B8-874C-C116BE44AC46}"/>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BM-ST-04-R01 / BM-ST-04-T01</a:t>
            </a:r>
          </a:p>
        </p:txBody>
      </p:sp>
      <p:sp>
        <p:nvSpPr>
          <p:cNvPr id="19" name="">
            <a:extLst xmlns:a="http://schemas.openxmlformats.org/drawingml/2006/main">
              <a:ext uri="{FF2B5EF4-FFF2-40B4-BE49-F238E27FC236}">
                <a16:creationId xmlns:a16="http://schemas.microsoft.com/office/drawing/2014/main" id="{5FA12C0A-8EF2-4C71-B15C-609E59241C95}"/>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1330352945"/>
      </p:ext>
    </p:extLst>
  </p:cSld>
</p:sld>
</file>

<file path=ppt/slides/slide12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4BEF649-5752-4352-9C73-11F02C5035A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ST-05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33495565-1EA5-4B40-B553-439F455E3B3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모빌리티 실증 증거·안전 검증</a:t>
            </a:r>
          </a:p>
        </p:txBody>
      </p:sp>
      <p:sp>
        <p:nvSpPr>
          <p:cNvPr id="3" name="">
            <a:extLst xmlns:a="http://schemas.openxmlformats.org/drawingml/2006/main">
              <a:ext uri="{FF2B5EF4-FFF2-40B4-BE49-F238E27FC236}">
                <a16:creationId xmlns:a16="http://schemas.microsoft.com/office/drawing/2014/main" id="{33B20EA1-993E-4964-95FB-A8084A2BFF4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6F4B24B-462F-4C11-8868-AA1C66EA990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41BD94A-494D-4879-A42A-58FBBEC70ED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122</a:t>
            </a:r>
          </a:p>
        </p:txBody>
      </p:sp>
      <p:sp>
        <p:nvSpPr>
          <p:cNvPr id="6" name="">
            <a:extLst xmlns:a="http://schemas.openxmlformats.org/drawingml/2006/main">
              <a:ext uri="{FF2B5EF4-FFF2-40B4-BE49-F238E27FC236}">
                <a16:creationId xmlns:a16="http://schemas.microsoft.com/office/drawing/2014/main" id="{F7807C84-4CBA-46F8-B98F-7BB497BB93F3}"/>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K-AI 기반 안전한 미래 모빌리티 실현</a:t>
            </a:r>
          </a:p>
        </p:txBody>
      </p:sp>
      <p:sp>
        <p:nvSpPr>
          <p:cNvPr id="7" name="">
            <a:extLst xmlns:a="http://schemas.openxmlformats.org/drawingml/2006/main">
              <a:ext uri="{FF2B5EF4-FFF2-40B4-BE49-F238E27FC236}">
                <a16:creationId xmlns:a16="http://schemas.microsoft.com/office/drawing/2014/main" id="{6DE9F599-9EAB-4DDF-8185-86F390CD0E08}"/>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FCBE2D5-D0FD-4337-898D-9CC45485603E}"/>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자동차안전연구원</a:t>
            </a:r>
          </a:p>
        </p:txBody>
      </p:sp>
      <p:sp>
        <p:nvSpPr>
          <p:cNvPr id="9" name="">
            <a:extLst xmlns:a="http://schemas.openxmlformats.org/drawingml/2006/main">
              <a:ext uri="{FF2B5EF4-FFF2-40B4-BE49-F238E27FC236}">
                <a16:creationId xmlns:a16="http://schemas.microsoft.com/office/drawing/2014/main" id="{3739BF77-FBF4-47F6-B502-82CF7B79B9DE}"/>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미래차 안전 연구·평가</a:t>
            </a:r>
          </a:p>
        </p:txBody>
      </p:sp>
      <p:sp>
        <p:nvSpPr>
          <p:cNvPr id="10" name="">
            <a:extLst xmlns:a="http://schemas.openxmlformats.org/drawingml/2006/main">
              <a:ext uri="{FF2B5EF4-FFF2-40B4-BE49-F238E27FC236}">
                <a16:creationId xmlns:a16="http://schemas.microsoft.com/office/drawing/2014/main" id="{E57E8CF6-5693-4ACF-8E09-E19F1AC8BCBC}"/>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법령·업무 원장 기반 요약 / 세부 직제 확인</a:t>
            </a:r>
          </a:p>
        </p:txBody>
      </p:sp>
      <p:sp>
        <p:nvSpPr>
          <p:cNvPr id="11" name="">
            <a:extLst xmlns:a="http://schemas.openxmlformats.org/drawingml/2006/main">
              <a:ext uri="{FF2B5EF4-FFF2-40B4-BE49-F238E27FC236}">
                <a16:creationId xmlns:a16="http://schemas.microsoft.com/office/drawing/2014/main" id="{F0A65922-29E1-438C-9190-C38974565850}"/>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176ECE2-F2A4-4927-AEC5-3BD5B02AEBCD}"/>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첨단연구개발처</a:t>
            </a:r>
          </a:p>
        </p:txBody>
      </p:sp>
      <p:sp>
        <p:nvSpPr>
          <p:cNvPr id="13" name="">
            <a:extLst xmlns:a="http://schemas.openxmlformats.org/drawingml/2006/main">
              <a:ext uri="{FF2B5EF4-FFF2-40B4-BE49-F238E27FC236}">
                <a16:creationId xmlns:a16="http://schemas.microsoft.com/office/drawing/2014/main" id="{A36F987C-2354-4D67-A8E5-AC146DD550EB}"/>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미래차 검사기술 연구</a:t>
            </a:r>
          </a:p>
        </p:txBody>
      </p:sp>
      <p:sp>
        <p:nvSpPr>
          <p:cNvPr id="14" name="">
            <a:extLst xmlns:a="http://schemas.openxmlformats.org/drawingml/2006/main">
              <a:ext uri="{FF2B5EF4-FFF2-40B4-BE49-F238E27FC236}">
                <a16:creationId xmlns:a16="http://schemas.microsoft.com/office/drawing/2014/main" id="{5B941FB4-FBCE-4DBA-9636-3D28439649AE}"/>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검사기준 및 검사방법 개발에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자율주행자동차 등 검사기술 개발</a:t>
            </a:r>
          </a:p>
        </p:txBody>
      </p:sp>
      <p:sp>
        <p:nvSpPr>
          <p:cNvPr id="15" name="">
            <a:extLst xmlns:a="http://schemas.openxmlformats.org/drawingml/2006/main">
              <a:ext uri="{FF2B5EF4-FFF2-40B4-BE49-F238E27FC236}">
                <a16:creationId xmlns:a16="http://schemas.microsoft.com/office/drawing/2014/main" id="{E6A91673-7A65-4E6E-9000-5B9FCA8D4F5B}"/>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C37FCA2-F6FB-4587-BBC6-32AB280736C7}"/>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규제혁신처</a:t>
            </a:r>
          </a:p>
        </p:txBody>
      </p:sp>
      <p:sp>
        <p:nvSpPr>
          <p:cNvPr id="17" name="">
            <a:extLst xmlns:a="http://schemas.openxmlformats.org/drawingml/2006/main">
              <a:ext uri="{FF2B5EF4-FFF2-40B4-BE49-F238E27FC236}">
                <a16:creationId xmlns:a16="http://schemas.microsoft.com/office/drawing/2014/main" id="{AB45ED15-C392-427E-8EA7-73B54C4C1F50}"/>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실증특례 접수·승인 지원</a:t>
            </a:r>
          </a:p>
        </p:txBody>
      </p:sp>
      <p:sp>
        <p:nvSpPr>
          <p:cNvPr id="18" name="">
            <a:extLst xmlns:a="http://schemas.openxmlformats.org/drawingml/2006/main">
              <a:ext uri="{FF2B5EF4-FFF2-40B4-BE49-F238E27FC236}">
                <a16:creationId xmlns:a16="http://schemas.microsoft.com/office/drawing/2014/main" id="{DCE82C76-B753-4810-8502-EB5682D90724}"/>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모빌리티 실증특례 접수 및 승인 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실증특례 통합검토위원회 구성, 운영</a:t>
            </a:r>
          </a:p>
        </p:txBody>
      </p:sp>
      <p:sp>
        <p:nvSpPr>
          <p:cNvPr id="19" name="">
            <a:extLst xmlns:a="http://schemas.openxmlformats.org/drawingml/2006/main">
              <a:ext uri="{FF2B5EF4-FFF2-40B4-BE49-F238E27FC236}">
                <a16:creationId xmlns:a16="http://schemas.microsoft.com/office/drawing/2014/main" id="{48CAB2DB-EC13-4093-A63B-DCB10C917960}"/>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82BA747-1D5F-444B-9229-8624E80A29BD}"/>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실증사업처</a:t>
            </a:r>
          </a:p>
        </p:txBody>
      </p:sp>
      <p:sp>
        <p:nvSpPr>
          <p:cNvPr id="21" name="">
            <a:extLst xmlns:a="http://schemas.openxmlformats.org/drawingml/2006/main">
              <a:ext uri="{FF2B5EF4-FFF2-40B4-BE49-F238E27FC236}">
                <a16:creationId xmlns:a16="http://schemas.microsoft.com/office/drawing/2014/main" id="{D2F4C6DF-452B-4E87-80B2-5BAF28E8B810}"/>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특화도시·시범사업 지원</a:t>
            </a:r>
          </a:p>
        </p:txBody>
      </p:sp>
      <p:sp>
        <p:nvSpPr>
          <p:cNvPr id="22" name="">
            <a:extLst xmlns:a="http://schemas.openxmlformats.org/drawingml/2006/main">
              <a:ext uri="{FF2B5EF4-FFF2-40B4-BE49-F238E27FC236}">
                <a16:creationId xmlns:a16="http://schemas.microsoft.com/office/drawing/2014/main" id="{E11B646F-7359-4AF3-BED7-D962FF6A1BD0}"/>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모빌리티 특화도시 사업지원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첨단모빌리티 시범사업과 대상지역 지정요청 접수</a:t>
            </a:r>
          </a:p>
        </p:txBody>
      </p:sp>
      <p:sp>
        <p:nvSpPr>
          <p:cNvPr id="23" name="">
            <a:extLst xmlns:a="http://schemas.openxmlformats.org/drawingml/2006/main">
              <a:ext uri="{FF2B5EF4-FFF2-40B4-BE49-F238E27FC236}">
                <a16:creationId xmlns:a16="http://schemas.microsoft.com/office/drawing/2014/main" id="{7BB9B472-111F-41D0-A68C-CCBB0E16234E}"/>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04405088"/>
      </p:ext>
    </p:extLst>
  </p:cSld>
</p:sld>
</file>

<file path=ppt/slides/slide12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E8B700E-ED8B-4560-AA86-DD6965E2DED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ST-05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7BE0E5DA-3BBF-4540-AEDC-7EAABCF9244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모빌리티 실증 증거·안전 검증</a:t>
            </a:r>
          </a:p>
        </p:txBody>
      </p:sp>
      <p:sp>
        <p:nvSpPr>
          <p:cNvPr id="3" name="">
            <a:extLst xmlns:a="http://schemas.openxmlformats.org/drawingml/2006/main">
              <a:ext uri="{FF2B5EF4-FFF2-40B4-BE49-F238E27FC236}">
                <a16:creationId xmlns:a16="http://schemas.microsoft.com/office/drawing/2014/main" id="{628A45D0-205C-45AE-B74C-6B5C08CE3FC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117D64-FBD5-4D20-B5D3-F34CB584179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D010E81-23C2-45FE-94B6-3ADFA2E9BB7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123</a:t>
            </a:r>
          </a:p>
        </p:txBody>
      </p:sp>
      <p:sp>
        <p:nvSpPr>
          <p:cNvPr id="6" name="">
            <a:extLst xmlns:a="http://schemas.openxmlformats.org/drawingml/2006/main">
              <a:ext uri="{FF2B5EF4-FFF2-40B4-BE49-F238E27FC236}">
                <a16:creationId xmlns:a16="http://schemas.microsoft.com/office/drawing/2014/main" id="{FD4E9EE3-E308-45F0-84A4-A4FD35A85A6E}"/>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K-AI 기반 안전한 미래 모빌리티 실현</a:t>
            </a:r>
          </a:p>
        </p:txBody>
      </p:sp>
      <p:sp>
        <p:nvSpPr>
          <p:cNvPr id="7" name="">
            <a:extLst xmlns:a="http://schemas.openxmlformats.org/drawingml/2006/main">
              <a:ext uri="{FF2B5EF4-FFF2-40B4-BE49-F238E27FC236}">
                <a16:creationId xmlns:a16="http://schemas.microsoft.com/office/drawing/2014/main" id="{616030AD-3976-4BCC-8831-DD599D51F07A}"/>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3C3FE82-C4E4-4208-8D90-39B8EBD7F879}"/>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드론관리처</a:t>
            </a:r>
          </a:p>
        </p:txBody>
      </p:sp>
      <p:sp>
        <p:nvSpPr>
          <p:cNvPr id="9" name="">
            <a:extLst xmlns:a="http://schemas.openxmlformats.org/drawingml/2006/main">
              <a:ext uri="{FF2B5EF4-FFF2-40B4-BE49-F238E27FC236}">
                <a16:creationId xmlns:a16="http://schemas.microsoft.com/office/drawing/2014/main" id="{E2A3FCAC-5393-4B94-A005-01201BF008A9}"/>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드론 안전관리·연구</a:t>
            </a:r>
          </a:p>
        </p:txBody>
      </p:sp>
      <p:sp>
        <p:nvSpPr>
          <p:cNvPr id="10" name="">
            <a:extLst xmlns:a="http://schemas.openxmlformats.org/drawingml/2006/main">
              <a:ext uri="{FF2B5EF4-FFF2-40B4-BE49-F238E27FC236}">
                <a16:creationId xmlns:a16="http://schemas.microsoft.com/office/drawing/2014/main" id="{C5450AE7-042B-4E7D-A5AD-CAC77F647BC0}"/>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초경량비행장치 사용사업체 안전관리 및 지도점검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무인비행장치(드론) 관련 신규사업 개발 및 안전연구(UTM, 안티드론, 드론택시․택배 등)</a:t>
            </a:r>
          </a:p>
        </p:txBody>
      </p:sp>
      <p:sp>
        <p:nvSpPr>
          <p:cNvPr id="11" name="">
            <a:extLst xmlns:a="http://schemas.openxmlformats.org/drawingml/2006/main">
              <a:ext uri="{FF2B5EF4-FFF2-40B4-BE49-F238E27FC236}">
                <a16:creationId xmlns:a16="http://schemas.microsoft.com/office/drawing/2014/main" id="{BF1D745B-103B-4B55-8D9F-2BFFEB4E58F8}"/>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672245076"/>
      </p:ext>
    </p:extLst>
  </p:cSld>
</p:sld>
</file>

<file path=ppt/slides/slide12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F5D175D-27B4-41D7-8957-5226A2EDC81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ST-05 / CCK 재사용·추가 개발·검수·기대효과</a:t>
            </a:r>
          </a:p>
        </p:txBody>
      </p:sp>
      <p:sp>
        <p:nvSpPr>
          <p:cNvPr id="2" name="">
            <a:extLst xmlns:a="http://schemas.openxmlformats.org/drawingml/2006/main">
              <a:ext uri="{FF2B5EF4-FFF2-40B4-BE49-F238E27FC236}">
                <a16:creationId xmlns:a16="http://schemas.microsoft.com/office/drawing/2014/main" id="{0CA9ED23-105F-4CE5-B166-E54931452A8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모빌리티 실증 증거·안전 검증</a:t>
            </a:r>
          </a:p>
        </p:txBody>
      </p:sp>
      <p:sp>
        <p:nvSpPr>
          <p:cNvPr id="3" name="">
            <a:extLst xmlns:a="http://schemas.openxmlformats.org/drawingml/2006/main">
              <a:ext uri="{FF2B5EF4-FFF2-40B4-BE49-F238E27FC236}">
                <a16:creationId xmlns:a16="http://schemas.microsoft.com/office/drawing/2014/main" id="{06B7FE8A-5A89-40E0-BFA0-AFD7B179265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A1D4D42-08A5-4FA3-B489-C054F7E3103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22FBD76-2865-4BD9-A874-61DE73A43E9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124</a:t>
            </a:r>
          </a:p>
        </p:txBody>
      </p:sp>
      <p:sp>
        <p:nvSpPr>
          <p:cNvPr id="6" name="">
            <a:extLst xmlns:a="http://schemas.openxmlformats.org/drawingml/2006/main">
              <a:ext uri="{FF2B5EF4-FFF2-40B4-BE49-F238E27FC236}">
                <a16:creationId xmlns:a16="http://schemas.microsoft.com/office/drawing/2014/main" id="{6EAC2F1E-BE04-493B-8FCB-45D63D01A967}"/>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7038E9B2-86CC-4B0C-ADC4-426273F4F539}"/>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기술 기준 검색</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JET·Audin의 구조화 검토·증거 대사</a:t>
            </a:r>
          </a:p>
        </p:txBody>
      </p:sp>
      <p:sp>
        <p:nvSpPr>
          <p:cNvPr id="8" name="">
            <a:extLst xmlns:a="http://schemas.openxmlformats.org/drawingml/2006/main">
              <a:ext uri="{FF2B5EF4-FFF2-40B4-BE49-F238E27FC236}">
                <a16:creationId xmlns:a16="http://schemas.microsoft.com/office/drawing/2014/main" id="{6C617421-D34F-4339-AA05-E8DF7F1B2E5B}"/>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5DA1129F-68A8-4674-B3F9-C42A11B5D7E0}"/>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실증조건–요구조건–시험 ID 연결</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조건 변경 영향·재검증 목록</a:t>
            </a:r>
          </a:p>
        </p:txBody>
      </p:sp>
      <p:sp>
        <p:nvSpPr>
          <p:cNvPr id="10" name="">
            <a:extLst xmlns:a="http://schemas.openxmlformats.org/drawingml/2006/main">
              <a:ext uri="{FF2B5EF4-FFF2-40B4-BE49-F238E27FC236}">
                <a16:creationId xmlns:a16="http://schemas.microsoft.com/office/drawing/2014/main" id="{BB0D9543-304F-41AD-9865-CF0B25D5B49E}"/>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22DA5E62-F88D-4AA6-8B1B-755C7570113F}"/>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실증 검토 재작업·시험 증거 누락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증거 연결 완료 시험 수 ÷ 대상 시험 수 / 변경 후 재검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토 소요시간</a:t>
            </a:r>
          </a:p>
        </p:txBody>
      </p:sp>
      <p:sp>
        <p:nvSpPr>
          <p:cNvPr id="12" name="">
            <a:extLst xmlns:a="http://schemas.openxmlformats.org/drawingml/2006/main">
              <a:ext uri="{FF2B5EF4-FFF2-40B4-BE49-F238E27FC236}">
                <a16:creationId xmlns:a16="http://schemas.microsoft.com/office/drawing/2014/main" id="{5A670461-68B7-482D-AD52-E2426DCD4285}"/>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2F0FF6B9-BDF3-4F32-B83C-2EC01B410BCB}"/>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운행조건 변경, 로그 누락, 시험판본 불일치</a:t>
            </a:r>
          </a:p>
        </p:txBody>
      </p:sp>
      <p:sp>
        <p:nvSpPr>
          <p:cNvPr id="14" name="">
            <a:extLst xmlns:a="http://schemas.openxmlformats.org/drawingml/2006/main">
              <a:ext uri="{FF2B5EF4-FFF2-40B4-BE49-F238E27FC236}">
                <a16:creationId xmlns:a16="http://schemas.microsoft.com/office/drawing/2014/main" id="{7F15CCC5-153E-466F-89BC-825766049E5C}"/>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781798EA-A40A-4737-BC43-3BAA9A5DF777}"/>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변경 영향 시험 재선정·증거 미비 보류</a:t>
            </a:r>
          </a:p>
        </p:txBody>
      </p:sp>
      <p:sp>
        <p:nvSpPr>
          <p:cNvPr id="16" name="">
            <a:extLst xmlns:a="http://schemas.openxmlformats.org/drawingml/2006/main">
              <a:ext uri="{FF2B5EF4-FFF2-40B4-BE49-F238E27FC236}">
                <a16:creationId xmlns:a16="http://schemas.microsoft.com/office/drawing/2014/main" id="{534E2FDA-9E3C-494D-B1DE-121208401C6C}"/>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B97BDA04-2C7F-49E0-B71F-966D162887F1}"/>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요구–시험–증거 추적표·재검증 결과</a:t>
            </a:r>
          </a:p>
        </p:txBody>
      </p:sp>
      <p:sp>
        <p:nvSpPr>
          <p:cNvPr id="18" name="">
            <a:extLst xmlns:a="http://schemas.openxmlformats.org/drawingml/2006/main">
              <a:ext uri="{FF2B5EF4-FFF2-40B4-BE49-F238E27FC236}">
                <a16:creationId xmlns:a16="http://schemas.microsoft.com/office/drawing/2014/main" id="{15DBD101-6156-43D9-A075-2BD6348AEE96}"/>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BM-ST-05-R01 / BM-ST-05-T01</a:t>
            </a:r>
          </a:p>
        </p:txBody>
      </p:sp>
      <p:sp>
        <p:nvSpPr>
          <p:cNvPr id="19" name="">
            <a:extLst xmlns:a="http://schemas.openxmlformats.org/drawingml/2006/main">
              <a:ext uri="{FF2B5EF4-FFF2-40B4-BE49-F238E27FC236}">
                <a16:creationId xmlns:a16="http://schemas.microsoft.com/office/drawing/2014/main" id="{5366D01C-3D29-4913-9418-6A1E1C23B6C5}"/>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692049049"/>
      </p:ext>
    </p:extLst>
  </p:cSld>
</p:sld>
</file>

<file path=ppt/slides/slide12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9E45CBE-60A9-4BAD-ABE6-74D8ED8608B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ST-06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1388FBDA-AA28-450D-9A93-04B4CCC7166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친환경 운행·탄소 검증 지원</a:t>
            </a:r>
          </a:p>
        </p:txBody>
      </p:sp>
      <p:sp>
        <p:nvSpPr>
          <p:cNvPr id="3" name="">
            <a:extLst xmlns:a="http://schemas.openxmlformats.org/drawingml/2006/main">
              <a:ext uri="{FF2B5EF4-FFF2-40B4-BE49-F238E27FC236}">
                <a16:creationId xmlns:a16="http://schemas.microsoft.com/office/drawing/2014/main" id="{3EAA0969-512B-4022-950D-BC3BCEA9463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A1C1D66-AE0F-42B6-9EEC-48E51FDDD1F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B9000F2-3241-4288-92CA-86AE22D6090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125</a:t>
            </a:r>
          </a:p>
        </p:txBody>
      </p:sp>
      <p:sp>
        <p:nvSpPr>
          <p:cNvPr id="6" name="">
            <a:extLst xmlns:a="http://schemas.openxmlformats.org/drawingml/2006/main">
              <a:ext uri="{FF2B5EF4-FFF2-40B4-BE49-F238E27FC236}">
                <a16:creationId xmlns:a16="http://schemas.microsoft.com/office/drawing/2014/main" id="{C778DBC0-53DF-4D8A-93C3-29A6AD7CD518}"/>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기후위기 대응 친환경 전환 가속화</a:t>
            </a:r>
          </a:p>
        </p:txBody>
      </p:sp>
      <p:sp>
        <p:nvSpPr>
          <p:cNvPr id="7" name="">
            <a:extLst xmlns:a="http://schemas.openxmlformats.org/drawingml/2006/main">
              <a:ext uri="{FF2B5EF4-FFF2-40B4-BE49-F238E27FC236}">
                <a16:creationId xmlns:a16="http://schemas.microsoft.com/office/drawing/2014/main" id="{F0369314-D8D8-44FD-AC80-E25FBA4B5D4D}"/>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BB348F8-1653-4BE0-A73A-253002E551C6}"/>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기후탄소물류처</a:t>
            </a:r>
          </a:p>
        </p:txBody>
      </p:sp>
      <p:sp>
        <p:nvSpPr>
          <p:cNvPr id="9" name="">
            <a:extLst xmlns:a="http://schemas.openxmlformats.org/drawingml/2006/main">
              <a:ext uri="{FF2B5EF4-FFF2-40B4-BE49-F238E27FC236}">
                <a16:creationId xmlns:a16="http://schemas.microsoft.com/office/drawing/2014/main" id="{C8DA6AC0-21A1-4008-AC6F-3E694481D5AE}"/>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교통물류 정책·실적 관리</a:t>
            </a:r>
          </a:p>
        </p:txBody>
      </p:sp>
      <p:sp>
        <p:nvSpPr>
          <p:cNvPr id="10" name="">
            <a:extLst xmlns:a="http://schemas.openxmlformats.org/drawingml/2006/main">
              <a:ext uri="{FF2B5EF4-FFF2-40B4-BE49-F238E27FC236}">
                <a16:creationId xmlns:a16="http://schemas.microsoft.com/office/drawing/2014/main" id="{8F4AE1A9-B4BD-40AA-921A-FAD3A8A8E808}"/>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화물운송실적관리시스템 운영에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교통물류 정책관련 연구‧사업 업무</a:t>
            </a:r>
          </a:p>
        </p:txBody>
      </p:sp>
      <p:sp>
        <p:nvSpPr>
          <p:cNvPr id="11" name="">
            <a:extLst xmlns:a="http://schemas.openxmlformats.org/drawingml/2006/main">
              <a:ext uri="{FF2B5EF4-FFF2-40B4-BE49-F238E27FC236}">
                <a16:creationId xmlns:a16="http://schemas.microsoft.com/office/drawing/2014/main" id="{2EEF0B19-DF84-4259-8DA7-8CB60C5812EA}"/>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BF11871-C26B-437B-8CC7-1237CCB435DE}"/>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탄소중립정책팀</a:t>
            </a:r>
          </a:p>
        </p:txBody>
      </p:sp>
      <p:sp>
        <p:nvSpPr>
          <p:cNvPr id="13" name="">
            <a:extLst xmlns:a="http://schemas.openxmlformats.org/drawingml/2006/main">
              <a:ext uri="{FF2B5EF4-FFF2-40B4-BE49-F238E27FC236}">
                <a16:creationId xmlns:a16="http://schemas.microsoft.com/office/drawing/2014/main" id="{43921CB2-89FB-4F85-B5DA-33885324E00C}"/>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온실가스 조사·감축지원</a:t>
            </a:r>
          </a:p>
        </p:txBody>
      </p:sp>
      <p:sp>
        <p:nvSpPr>
          <p:cNvPr id="14" name="">
            <a:extLst xmlns:a="http://schemas.openxmlformats.org/drawingml/2006/main">
              <a:ext uri="{FF2B5EF4-FFF2-40B4-BE49-F238E27FC236}">
                <a16:creationId xmlns:a16="http://schemas.microsoft.com/office/drawing/2014/main" id="{06409CBF-7473-424F-8C94-652D94D3A9DB}"/>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1. 교통부문 온실가스 배출량 조사사업(배출량 조사, 계수개발, 목표관리제, KOTEMS 등) 운영 및 관리 업무</a:t>
            </a:r>
          </a:p>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3. 교통부문 온실가스 감축 추진 등을 위한 배출권거래제 외부사업, 국제항공탄소 상쇄제도 및 국제감축 등 </a:t>
            </a:r>
          </a:p>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감축지원 사업 발굴, 운영·관리 업무</a:t>
            </a:r>
          </a:p>
        </p:txBody>
      </p:sp>
      <p:sp>
        <p:nvSpPr>
          <p:cNvPr id="15" name="">
            <a:extLst xmlns:a="http://schemas.openxmlformats.org/drawingml/2006/main">
              <a:ext uri="{FF2B5EF4-FFF2-40B4-BE49-F238E27FC236}">
                <a16:creationId xmlns:a16="http://schemas.microsoft.com/office/drawing/2014/main" id="{EB8B5762-47EA-4FB3-9405-488E33716D0C}"/>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0868157-CF74-4464-8D69-D4861B29FBDD}"/>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데이터융복합처</a:t>
            </a:r>
          </a:p>
        </p:txBody>
      </p:sp>
      <p:sp>
        <p:nvSpPr>
          <p:cNvPr id="17" name="">
            <a:extLst xmlns:a="http://schemas.openxmlformats.org/drawingml/2006/main">
              <a:ext uri="{FF2B5EF4-FFF2-40B4-BE49-F238E27FC236}">
                <a16:creationId xmlns:a16="http://schemas.microsoft.com/office/drawing/2014/main" id="{35DCC919-5612-4BB2-9BA5-E9F4B99B8626}"/>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친환경차 안전 정책</a:t>
            </a:r>
          </a:p>
        </p:txBody>
      </p:sp>
      <p:sp>
        <p:nvSpPr>
          <p:cNvPr id="18" name="">
            <a:extLst xmlns:a="http://schemas.openxmlformats.org/drawingml/2006/main">
              <a:ext uri="{FF2B5EF4-FFF2-40B4-BE49-F238E27FC236}">
                <a16:creationId xmlns:a16="http://schemas.microsoft.com/office/drawing/2014/main" id="{69444C04-DA83-424B-B281-43816D115B51}"/>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18. 사업부서 추진 중 친환경차 안전확보 업무에 대한 총괄 정책 업무</a:t>
            </a:r>
          </a:p>
        </p:txBody>
      </p:sp>
      <p:sp>
        <p:nvSpPr>
          <p:cNvPr id="19" name="">
            <a:extLst xmlns:a="http://schemas.openxmlformats.org/drawingml/2006/main">
              <a:ext uri="{FF2B5EF4-FFF2-40B4-BE49-F238E27FC236}">
                <a16:creationId xmlns:a16="http://schemas.microsoft.com/office/drawing/2014/main" id="{D44C42ED-C18A-4DF4-971D-475290E21D99}"/>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219892739"/>
      </p:ext>
    </p:extLst>
  </p:cSld>
</p:sld>
</file>

<file path=ppt/slides/slide12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EBB89CE4-A460-487B-843F-5953AC6412F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ST-06 / CCK 재사용·추가 개발·검수·기대효과</a:t>
            </a:r>
          </a:p>
        </p:txBody>
      </p:sp>
      <p:sp>
        <p:nvSpPr>
          <p:cNvPr id="2" name="">
            <a:extLst xmlns:a="http://schemas.openxmlformats.org/drawingml/2006/main">
              <a:ext uri="{FF2B5EF4-FFF2-40B4-BE49-F238E27FC236}">
                <a16:creationId xmlns:a16="http://schemas.microsoft.com/office/drawing/2014/main" id="{38B5608A-4EEA-4B0B-81DF-889524F2D97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친환경 운행·탄소 검증 지원</a:t>
            </a:r>
          </a:p>
        </p:txBody>
      </p:sp>
      <p:sp>
        <p:nvSpPr>
          <p:cNvPr id="3" name="">
            <a:extLst xmlns:a="http://schemas.openxmlformats.org/drawingml/2006/main">
              <a:ext uri="{FF2B5EF4-FFF2-40B4-BE49-F238E27FC236}">
                <a16:creationId xmlns:a16="http://schemas.microsoft.com/office/drawing/2014/main" id="{2B55DFF8-EC04-437A-AD2B-4EE995AA67A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9B9D71D-B545-4486-9015-6C7912A06F6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2F66843-9C1C-4FEB-9268-F050F4291B4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126</a:t>
            </a:r>
          </a:p>
        </p:txBody>
      </p:sp>
      <p:sp>
        <p:nvSpPr>
          <p:cNvPr id="6" name="">
            <a:extLst xmlns:a="http://schemas.openxmlformats.org/drawingml/2006/main">
              <a:ext uri="{FF2B5EF4-FFF2-40B4-BE49-F238E27FC236}">
                <a16:creationId xmlns:a16="http://schemas.microsoft.com/office/drawing/2014/main" id="{73EED1A1-83FD-431F-B338-955B7E6C580C}"/>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08BBDEDB-D0D1-4DB3-B167-4F8DD7DFFB2B}"/>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근거 검색·보고 초안</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Audin·JET의 수치 근거 구조화</a:t>
            </a:r>
          </a:p>
        </p:txBody>
      </p:sp>
      <p:sp>
        <p:nvSpPr>
          <p:cNvPr id="8" name="">
            <a:extLst xmlns:a="http://schemas.openxmlformats.org/drawingml/2006/main">
              <a:ext uri="{FF2B5EF4-FFF2-40B4-BE49-F238E27FC236}">
                <a16:creationId xmlns:a16="http://schemas.microsoft.com/office/drawing/2014/main" id="{28E2E4EB-1502-404D-A60C-4DFBC7074A2B}"/>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36E92009-DCD7-4192-8852-B751D3AE9C28}"/>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활동량–계수–산식 버전 연결</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독립 재계산·결측 판정 모듈</a:t>
            </a:r>
          </a:p>
        </p:txBody>
      </p:sp>
      <p:sp>
        <p:nvSpPr>
          <p:cNvPr id="10" name="">
            <a:extLst xmlns:a="http://schemas.openxmlformats.org/drawingml/2006/main">
              <a:ext uri="{FF2B5EF4-FFF2-40B4-BE49-F238E27FC236}">
                <a16:creationId xmlns:a16="http://schemas.microsoft.com/office/drawing/2014/main" id="{B2AA7AF8-78B5-409D-B35B-04583466DC30}"/>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ACA64ACB-9A0A-4B2A-8DD6-83DC62A98B42}"/>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보고 재계산·산식 오류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산식 오류 건수 ÷ 산정 건수 / 산정 검토시간; 에너지·탄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소 효과는 별도 실측</a:t>
            </a:r>
          </a:p>
        </p:txBody>
      </p:sp>
      <p:sp>
        <p:nvSpPr>
          <p:cNvPr id="12" name="">
            <a:extLst xmlns:a="http://schemas.openxmlformats.org/drawingml/2006/main">
              <a:ext uri="{FF2B5EF4-FFF2-40B4-BE49-F238E27FC236}">
                <a16:creationId xmlns:a16="http://schemas.microsoft.com/office/drawing/2014/main" id="{81E54B7E-42DC-4D50-A9EE-29F80D93767C}"/>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72FC00E5-BB4B-45A7-875E-083E69A0C025}"/>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단위 변환 오류, 기간 중복, 계수 개정, 결측값</a:t>
            </a:r>
          </a:p>
        </p:txBody>
      </p:sp>
      <p:sp>
        <p:nvSpPr>
          <p:cNvPr id="14" name="">
            <a:extLst xmlns:a="http://schemas.openxmlformats.org/drawingml/2006/main">
              <a:ext uri="{FF2B5EF4-FFF2-40B4-BE49-F238E27FC236}">
                <a16:creationId xmlns:a16="http://schemas.microsoft.com/office/drawing/2014/main" id="{4528DEBC-0721-4985-A963-AE72833DFFB8}"/>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FE42B78D-5598-4259-B81A-9BFC615C5452}"/>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독립 계산 일치·누락/이상값 보류</a:t>
            </a:r>
          </a:p>
        </p:txBody>
      </p:sp>
      <p:sp>
        <p:nvSpPr>
          <p:cNvPr id="16" name="">
            <a:extLst xmlns:a="http://schemas.openxmlformats.org/drawingml/2006/main">
              <a:ext uri="{FF2B5EF4-FFF2-40B4-BE49-F238E27FC236}">
                <a16:creationId xmlns:a16="http://schemas.microsoft.com/office/drawing/2014/main" id="{9DCA4EB8-1DE8-4654-9AB8-1408818FD22D}"/>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6CF5B8F3-F86C-4EF6-AE49-20C7154449C3}"/>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입력·계수 판본표·계산 대사·검토 기록</a:t>
            </a:r>
          </a:p>
        </p:txBody>
      </p:sp>
      <p:sp>
        <p:nvSpPr>
          <p:cNvPr id="18" name="">
            <a:extLst xmlns:a="http://schemas.openxmlformats.org/drawingml/2006/main">
              <a:ext uri="{FF2B5EF4-FFF2-40B4-BE49-F238E27FC236}">
                <a16:creationId xmlns:a16="http://schemas.microsoft.com/office/drawing/2014/main" id="{50AD803B-B1FA-4331-B443-F570BC095F1C}"/>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BM-ST-06-R01 / BM-ST-06-T01</a:t>
            </a:r>
          </a:p>
        </p:txBody>
      </p:sp>
      <p:sp>
        <p:nvSpPr>
          <p:cNvPr id="19" name="">
            <a:extLst xmlns:a="http://schemas.openxmlformats.org/drawingml/2006/main">
              <a:ext uri="{FF2B5EF4-FFF2-40B4-BE49-F238E27FC236}">
                <a16:creationId xmlns:a16="http://schemas.microsoft.com/office/drawing/2014/main" id="{8CD9E8E3-22CE-4AB3-8D69-04486D45E8A2}"/>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669039500"/>
      </p:ext>
    </p:extLst>
  </p:cSld>
</p:sld>
</file>

<file path=ppt/slides/slide12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C65D395-23BC-4220-99CC-8F135D63E13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ST-07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778EC835-5C07-4113-89CE-9BA1E786D12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교통데이터 제공·연계 지원</a:t>
            </a:r>
          </a:p>
        </p:txBody>
      </p:sp>
      <p:sp>
        <p:nvSpPr>
          <p:cNvPr id="3" name="">
            <a:extLst xmlns:a="http://schemas.openxmlformats.org/drawingml/2006/main">
              <a:ext uri="{FF2B5EF4-FFF2-40B4-BE49-F238E27FC236}">
                <a16:creationId xmlns:a16="http://schemas.microsoft.com/office/drawing/2014/main" id="{BDA155C8-D4AD-4A07-A200-329F6AF4EA7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816D03C-8C26-4AB1-97F0-94D668A7ECF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D9478B2-8D42-4AF9-9446-050603A6CD4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127</a:t>
            </a:r>
          </a:p>
        </p:txBody>
      </p:sp>
      <p:sp>
        <p:nvSpPr>
          <p:cNvPr id="6" name="">
            <a:extLst xmlns:a="http://schemas.openxmlformats.org/drawingml/2006/main">
              <a:ext uri="{FF2B5EF4-FFF2-40B4-BE49-F238E27FC236}">
                <a16:creationId xmlns:a16="http://schemas.microsoft.com/office/drawing/2014/main" id="{37D3F0F8-A78B-46AE-A626-5706B9701E37}"/>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교통데이터 개방·연계 기반 서비스 편익 증대</a:t>
            </a:r>
          </a:p>
        </p:txBody>
      </p:sp>
      <p:sp>
        <p:nvSpPr>
          <p:cNvPr id="7" name="">
            <a:extLst xmlns:a="http://schemas.openxmlformats.org/drawingml/2006/main">
              <a:ext uri="{FF2B5EF4-FFF2-40B4-BE49-F238E27FC236}">
                <a16:creationId xmlns:a16="http://schemas.microsoft.com/office/drawing/2014/main" id="{D78CEE29-783F-4507-A5D3-9E2051FFC5E9}"/>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AC97859-FFE8-4092-A48F-AD32C9E4F654}"/>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AI혁신처</a:t>
            </a:r>
          </a:p>
        </p:txBody>
      </p:sp>
      <p:sp>
        <p:nvSpPr>
          <p:cNvPr id="9" name="">
            <a:extLst xmlns:a="http://schemas.openxmlformats.org/drawingml/2006/main">
              <a:ext uri="{FF2B5EF4-FFF2-40B4-BE49-F238E27FC236}">
                <a16:creationId xmlns:a16="http://schemas.microsoft.com/office/drawing/2014/main" id="{49AB5507-9796-4322-A05B-1D32537DE94B}"/>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공공데이터 개방·표준</a:t>
            </a:r>
          </a:p>
        </p:txBody>
      </p:sp>
      <p:sp>
        <p:nvSpPr>
          <p:cNvPr id="10" name="">
            <a:extLst xmlns:a="http://schemas.openxmlformats.org/drawingml/2006/main">
              <a:ext uri="{FF2B5EF4-FFF2-40B4-BE49-F238E27FC236}">
                <a16:creationId xmlns:a16="http://schemas.microsoft.com/office/drawing/2014/main" id="{9E0B1617-7DDB-4702-B7E6-555371F236CE}"/>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인공지능(AI) 데이터 표준화 및 데이터 스페이스 구축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공공데이터 개방 및 관련 시스템 구축․관리, 공공데이터 활용성과 평가 대응</a:t>
            </a:r>
          </a:p>
        </p:txBody>
      </p:sp>
      <p:sp>
        <p:nvSpPr>
          <p:cNvPr id="11" name="">
            <a:extLst xmlns:a="http://schemas.openxmlformats.org/drawingml/2006/main">
              <a:ext uri="{FF2B5EF4-FFF2-40B4-BE49-F238E27FC236}">
                <a16:creationId xmlns:a16="http://schemas.microsoft.com/office/drawing/2014/main" id="{F7D33C31-8832-4CA0-879B-9F4CC9553436}"/>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90A0B01-2C6C-4E71-A9CC-AE4A21073DD7}"/>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데이터융복합처</a:t>
            </a:r>
          </a:p>
        </p:txBody>
      </p:sp>
      <p:sp>
        <p:nvSpPr>
          <p:cNvPr id="13" name="">
            <a:extLst xmlns:a="http://schemas.openxmlformats.org/drawingml/2006/main">
              <a:ext uri="{FF2B5EF4-FFF2-40B4-BE49-F238E27FC236}">
                <a16:creationId xmlns:a16="http://schemas.microsoft.com/office/drawing/2014/main" id="{E3EDA141-31D4-4E5C-9F8A-4930302D1B6D}"/>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교통데이터 분석·결합</a:t>
            </a:r>
          </a:p>
        </p:txBody>
      </p:sp>
      <p:sp>
        <p:nvSpPr>
          <p:cNvPr id="14" name="">
            <a:extLst xmlns:a="http://schemas.openxmlformats.org/drawingml/2006/main">
              <a:ext uri="{FF2B5EF4-FFF2-40B4-BE49-F238E27FC236}">
                <a16:creationId xmlns:a16="http://schemas.microsoft.com/office/drawing/2014/main" id="{BD809300-C054-46C8-89E1-E1700E6D52A4}"/>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운행기록데이터 관리·분석·활용 및 정책지원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빅데이터 결합 ․분석․활용 및 교통 빅데이터 플랫폼 구축사업</a:t>
            </a:r>
          </a:p>
        </p:txBody>
      </p:sp>
      <p:sp>
        <p:nvSpPr>
          <p:cNvPr id="15" name="">
            <a:extLst xmlns:a="http://schemas.openxmlformats.org/drawingml/2006/main">
              <a:ext uri="{FF2B5EF4-FFF2-40B4-BE49-F238E27FC236}">
                <a16:creationId xmlns:a16="http://schemas.microsoft.com/office/drawing/2014/main" id="{11A8887C-3CC0-489B-AEE2-13DA8C015646}"/>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34407F3-84B0-4701-BC4E-A981A748B3D0}"/>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자동차정보처</a:t>
            </a:r>
          </a:p>
        </p:txBody>
      </p:sp>
      <p:sp>
        <p:nvSpPr>
          <p:cNvPr id="17" name="">
            <a:extLst xmlns:a="http://schemas.openxmlformats.org/drawingml/2006/main">
              <a:ext uri="{FF2B5EF4-FFF2-40B4-BE49-F238E27FC236}">
                <a16:creationId xmlns:a16="http://schemas.microsoft.com/office/drawing/2014/main" id="{89367D3B-B0AA-4C63-A378-FDEE26EBF54F}"/>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자동차 통합정보 제공</a:t>
            </a:r>
          </a:p>
        </p:txBody>
      </p:sp>
      <p:sp>
        <p:nvSpPr>
          <p:cNvPr id="18" name="">
            <a:extLst xmlns:a="http://schemas.openxmlformats.org/drawingml/2006/main">
              <a:ext uri="{FF2B5EF4-FFF2-40B4-BE49-F238E27FC236}">
                <a16:creationId xmlns:a16="http://schemas.microsoft.com/office/drawing/2014/main" id="{170E1497-D09A-4995-9634-47E2C499144A}"/>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자동차토털이력관리시스템 운영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자동차정보 통합서비스 제공 업무</a:t>
            </a:r>
          </a:p>
        </p:txBody>
      </p:sp>
      <p:sp>
        <p:nvSpPr>
          <p:cNvPr id="19" name="">
            <a:extLst xmlns:a="http://schemas.openxmlformats.org/drawingml/2006/main">
              <a:ext uri="{FF2B5EF4-FFF2-40B4-BE49-F238E27FC236}">
                <a16:creationId xmlns:a16="http://schemas.microsoft.com/office/drawing/2014/main" id="{CD29B036-71BB-48F9-99A0-F5D4804F531C}"/>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E76DE9A-3F14-4D17-B12B-4D8BE23BB024}"/>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모빌리티연구처</a:t>
            </a:r>
          </a:p>
        </p:txBody>
      </p:sp>
      <p:sp>
        <p:nvSpPr>
          <p:cNvPr id="21" name="">
            <a:extLst xmlns:a="http://schemas.openxmlformats.org/drawingml/2006/main">
              <a:ext uri="{FF2B5EF4-FFF2-40B4-BE49-F238E27FC236}">
                <a16:creationId xmlns:a16="http://schemas.microsoft.com/office/drawing/2014/main" id="{31FF00F3-F8F1-4465-B268-36BAF7597757}"/>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택시·대중교통 정보 운영</a:t>
            </a:r>
          </a:p>
        </p:txBody>
      </p:sp>
      <p:sp>
        <p:nvSpPr>
          <p:cNvPr id="22" name="">
            <a:extLst xmlns:a="http://schemas.openxmlformats.org/drawingml/2006/main">
              <a:ext uri="{FF2B5EF4-FFF2-40B4-BE49-F238E27FC236}">
                <a16:creationId xmlns:a16="http://schemas.microsoft.com/office/drawing/2014/main" id="{BA6FEDD2-6A67-489F-821D-79D82DB12A24}"/>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택시 운행정보 관리시스템 구축 및 운영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대중교통정보시스템(TAGO) 운영 등 ITS 관련 업무</a:t>
            </a:r>
          </a:p>
        </p:txBody>
      </p:sp>
      <p:sp>
        <p:nvSpPr>
          <p:cNvPr id="23" name="">
            <a:extLst xmlns:a="http://schemas.openxmlformats.org/drawingml/2006/main">
              <a:ext uri="{FF2B5EF4-FFF2-40B4-BE49-F238E27FC236}">
                <a16:creationId xmlns:a16="http://schemas.microsoft.com/office/drawing/2014/main" id="{1F4406B5-8F87-491D-8134-ADF11563385C}"/>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554124956"/>
      </p:ext>
    </p:extLst>
  </p:cSld>
</p:sld>
</file>

<file path=ppt/slides/slide12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ED52409F-E3BE-4433-AEE6-5CE0B056566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ST-07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BF04F8DB-1E70-4B77-A50E-5879C9CBA46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교통데이터 제공·연계 지원</a:t>
            </a:r>
          </a:p>
        </p:txBody>
      </p:sp>
      <p:sp>
        <p:nvSpPr>
          <p:cNvPr id="3" name="">
            <a:extLst xmlns:a="http://schemas.openxmlformats.org/drawingml/2006/main">
              <a:ext uri="{FF2B5EF4-FFF2-40B4-BE49-F238E27FC236}">
                <a16:creationId xmlns:a16="http://schemas.microsoft.com/office/drawing/2014/main" id="{1972A644-CA0C-487E-BAE7-6EC4A87B04A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954CD50-9BD4-453A-8668-23C96B25097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F26C8D7-F6D0-4C2F-B010-DCB014927F5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128</a:t>
            </a:r>
          </a:p>
        </p:txBody>
      </p:sp>
      <p:sp>
        <p:nvSpPr>
          <p:cNvPr id="6" name="">
            <a:extLst xmlns:a="http://schemas.openxmlformats.org/drawingml/2006/main">
              <a:ext uri="{FF2B5EF4-FFF2-40B4-BE49-F238E27FC236}">
                <a16:creationId xmlns:a16="http://schemas.microsoft.com/office/drawing/2014/main" id="{B42E36E9-47F7-434A-B497-124FB627B3E8}"/>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교통데이터 개방·연계 기반 서비스 편익 증대</a:t>
            </a:r>
          </a:p>
        </p:txBody>
      </p:sp>
      <p:sp>
        <p:nvSpPr>
          <p:cNvPr id="7" name="">
            <a:extLst xmlns:a="http://schemas.openxmlformats.org/drawingml/2006/main">
              <a:ext uri="{FF2B5EF4-FFF2-40B4-BE49-F238E27FC236}">
                <a16:creationId xmlns:a16="http://schemas.microsoft.com/office/drawing/2014/main" id="{A5901B69-4A7F-40D4-8BB5-CF5D905F9C12}"/>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239A9F7-2DE1-4E1C-849A-C0D356C254AF}"/>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정책지원처</a:t>
            </a:r>
          </a:p>
        </p:txBody>
      </p:sp>
      <p:sp>
        <p:nvSpPr>
          <p:cNvPr id="9" name="">
            <a:extLst xmlns:a="http://schemas.openxmlformats.org/drawingml/2006/main">
              <a:ext uri="{FF2B5EF4-FFF2-40B4-BE49-F238E27FC236}">
                <a16:creationId xmlns:a16="http://schemas.microsoft.com/office/drawing/2014/main" id="{F90F2FE3-7DF4-4072-A91D-06B009367595}"/>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현황조사·데이터 관리</a:t>
            </a:r>
          </a:p>
        </p:txBody>
      </p:sp>
      <p:sp>
        <p:nvSpPr>
          <p:cNvPr id="10" name="">
            <a:extLst xmlns:a="http://schemas.openxmlformats.org/drawingml/2006/main">
              <a:ext uri="{FF2B5EF4-FFF2-40B4-BE49-F238E27FC236}">
                <a16:creationId xmlns:a16="http://schemas.microsoft.com/office/drawing/2014/main" id="{6912CA70-9711-4C26-A35A-D1EC095B9A4A}"/>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7. 대중교통 현황조사에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9. 첨단모빌리티 데이터 수집관리 지원</a:t>
            </a:r>
          </a:p>
        </p:txBody>
      </p:sp>
      <p:sp>
        <p:nvSpPr>
          <p:cNvPr id="11" name="">
            <a:extLst xmlns:a="http://schemas.openxmlformats.org/drawingml/2006/main">
              <a:ext uri="{FF2B5EF4-FFF2-40B4-BE49-F238E27FC236}">
                <a16:creationId xmlns:a16="http://schemas.microsoft.com/office/drawing/2014/main" id="{0AA64518-6361-4361-A1F8-64EE4756A66D}"/>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193A43F-D260-4DE4-AB9E-3775C792C421}"/>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디지털기획처</a:t>
            </a:r>
          </a:p>
        </p:txBody>
      </p:sp>
      <p:sp>
        <p:nvSpPr>
          <p:cNvPr id="13" name="">
            <a:extLst xmlns:a="http://schemas.openxmlformats.org/drawingml/2006/main">
              <a:ext uri="{FF2B5EF4-FFF2-40B4-BE49-F238E27FC236}">
                <a16:creationId xmlns:a16="http://schemas.microsoft.com/office/drawing/2014/main" id="{2E4521C2-31DA-4B61-A024-7D07ACE2B4EC}"/>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데이터 품질관리</a:t>
            </a:r>
          </a:p>
        </p:txBody>
      </p:sp>
      <p:sp>
        <p:nvSpPr>
          <p:cNvPr id="14" name="">
            <a:extLst xmlns:a="http://schemas.openxmlformats.org/drawingml/2006/main">
              <a:ext uri="{FF2B5EF4-FFF2-40B4-BE49-F238E27FC236}">
                <a16:creationId xmlns:a16="http://schemas.microsoft.com/office/drawing/2014/main" id="{BC1BFAB8-46FC-4B8B-ACA1-A230DD9D67E1}"/>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20. 데이터 품질관리</a:t>
            </a:r>
          </a:p>
        </p:txBody>
      </p:sp>
      <p:sp>
        <p:nvSpPr>
          <p:cNvPr id="15" name="">
            <a:extLst xmlns:a="http://schemas.openxmlformats.org/drawingml/2006/main">
              <a:ext uri="{FF2B5EF4-FFF2-40B4-BE49-F238E27FC236}">
                <a16:creationId xmlns:a16="http://schemas.microsoft.com/office/drawing/2014/main" id="{38CA5D08-5ADB-444F-884D-DB58F8E5F0DC}"/>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07278C0-E59E-4269-9A4C-79D78C34F857}"/>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정보보안처</a:t>
            </a:r>
          </a:p>
        </p:txBody>
      </p:sp>
      <p:sp>
        <p:nvSpPr>
          <p:cNvPr id="17" name="">
            <a:extLst xmlns:a="http://schemas.openxmlformats.org/drawingml/2006/main">
              <a:ext uri="{FF2B5EF4-FFF2-40B4-BE49-F238E27FC236}">
                <a16:creationId xmlns:a16="http://schemas.microsoft.com/office/drawing/2014/main" id="{925D475D-D381-4F5F-91A0-173D0D7A3809}"/>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개인정보·접근 보안</a:t>
            </a:r>
          </a:p>
        </p:txBody>
      </p:sp>
      <p:sp>
        <p:nvSpPr>
          <p:cNvPr id="18" name="">
            <a:extLst xmlns:a="http://schemas.openxmlformats.org/drawingml/2006/main">
              <a:ext uri="{FF2B5EF4-FFF2-40B4-BE49-F238E27FC236}">
                <a16:creationId xmlns:a16="http://schemas.microsoft.com/office/drawing/2014/main" id="{ECC9B413-0A48-48B4-80ED-79B1BCB9B8E6}"/>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정보보안 및 개인정보보호 관련 제도 및 지침관리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개인정보보호 업무총괄 관리</a:t>
            </a:r>
          </a:p>
        </p:txBody>
      </p:sp>
      <p:sp>
        <p:nvSpPr>
          <p:cNvPr id="19" name="">
            <a:extLst xmlns:a="http://schemas.openxmlformats.org/drawingml/2006/main">
              <a:ext uri="{FF2B5EF4-FFF2-40B4-BE49-F238E27FC236}">
                <a16:creationId xmlns:a16="http://schemas.microsoft.com/office/drawing/2014/main" id="{A4FE78BF-70E4-4AB8-A20A-C6B09C36340A}"/>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469268794"/>
      </p:ext>
    </p:extLst>
  </p:cSld>
</p:sld>
</file>

<file path=ppt/slides/slide12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BE1735F-102F-4547-BE5E-37BCD2F33CB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ST-07 / CCK 재사용·추가 개발·검수·기대효과</a:t>
            </a:r>
          </a:p>
        </p:txBody>
      </p:sp>
      <p:sp>
        <p:nvSpPr>
          <p:cNvPr id="2" name="">
            <a:extLst xmlns:a="http://schemas.openxmlformats.org/drawingml/2006/main">
              <a:ext uri="{FF2B5EF4-FFF2-40B4-BE49-F238E27FC236}">
                <a16:creationId xmlns:a16="http://schemas.microsoft.com/office/drawing/2014/main" id="{7265F109-E1F8-4AF6-B751-DA960D92494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교통데이터 제공·연계 지원</a:t>
            </a:r>
          </a:p>
        </p:txBody>
      </p:sp>
      <p:sp>
        <p:nvSpPr>
          <p:cNvPr id="3" name="">
            <a:extLst xmlns:a="http://schemas.openxmlformats.org/drawingml/2006/main">
              <a:ext uri="{FF2B5EF4-FFF2-40B4-BE49-F238E27FC236}">
                <a16:creationId xmlns:a16="http://schemas.microsoft.com/office/drawing/2014/main" id="{7455013F-2E95-403B-BB1D-CBF54A857BD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1AA145C-2401-47C5-9301-ED383E6C21E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89DACE4-D7E3-4AA1-ADAA-0C5F407A0AE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129</a:t>
            </a:r>
          </a:p>
        </p:txBody>
      </p:sp>
      <p:sp>
        <p:nvSpPr>
          <p:cNvPr id="6" name="">
            <a:extLst xmlns:a="http://schemas.openxmlformats.org/drawingml/2006/main">
              <a:ext uri="{FF2B5EF4-FFF2-40B4-BE49-F238E27FC236}">
                <a16:creationId xmlns:a16="http://schemas.microsoft.com/office/drawing/2014/main" id="{F8FC150E-D294-4660-9340-F3F13AE13D53}"/>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F2389637-AB60-4AD8-8CD9-A611BEA6CD4C}"/>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자료 검색·질의 지원</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Connor 명세의 실행·로그 경계</a:t>
            </a:r>
          </a:p>
        </p:txBody>
      </p:sp>
      <p:sp>
        <p:nvSpPr>
          <p:cNvPr id="8" name="">
            <a:extLst xmlns:a="http://schemas.openxmlformats.org/drawingml/2006/main">
              <a:ext uri="{FF2B5EF4-FFF2-40B4-BE49-F238E27FC236}">
                <a16:creationId xmlns:a16="http://schemas.microsoft.com/office/drawing/2014/main" id="{3B0BA610-D049-4C88-A816-B5B6421DF1F1}"/>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9E4A029F-53F2-4CF9-9B9C-546C05E45C05}"/>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목적·필드별 정책 카탈로그</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요청–승인–제공–회수 연결 어댑터</a:t>
            </a:r>
          </a:p>
        </p:txBody>
      </p:sp>
      <p:sp>
        <p:nvSpPr>
          <p:cNvPr id="10" name="">
            <a:extLst xmlns:a="http://schemas.openxmlformats.org/drawingml/2006/main">
              <a:ext uri="{FF2B5EF4-FFF2-40B4-BE49-F238E27FC236}">
                <a16:creationId xmlns:a16="http://schemas.microsoft.com/office/drawing/2014/main" id="{B6B23BFC-9DA3-4B8F-94D5-E2F3CEC10615}"/>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10C806AF-EBC8-4B8B-BE8E-FEC28591BDB2}"/>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데이터 탐색·연계 보완시간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승인 조건 충족 연계 수 ÷ 연계 시도 수 / 목적 외 노출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건수</a:t>
            </a:r>
          </a:p>
        </p:txBody>
      </p:sp>
      <p:sp>
        <p:nvSpPr>
          <p:cNvPr id="12" name="">
            <a:extLst xmlns:a="http://schemas.openxmlformats.org/drawingml/2006/main">
              <a:ext uri="{FF2B5EF4-FFF2-40B4-BE49-F238E27FC236}">
                <a16:creationId xmlns:a16="http://schemas.microsoft.com/office/drawing/2014/main" id="{1E6D2939-C7F9-4D1A-85E5-B06AE137D4E0}"/>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72D3FC33-B5C1-49DF-9B33-6DFD18BCD625}"/>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공개/내부 필드 혼합, 스키마 변경, 권한 회수</a:t>
            </a:r>
          </a:p>
        </p:txBody>
      </p:sp>
      <p:sp>
        <p:nvSpPr>
          <p:cNvPr id="14" name="">
            <a:extLst xmlns:a="http://schemas.openxmlformats.org/drawingml/2006/main">
              <a:ext uri="{FF2B5EF4-FFF2-40B4-BE49-F238E27FC236}">
                <a16:creationId xmlns:a16="http://schemas.microsoft.com/office/drawing/2014/main" id="{00D5E794-F071-4D24-B599-D5123543AC92}"/>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5CE6D33F-429B-4BD9-A44A-5BF6AFC0E8BE}"/>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허용 필드만 제공·불일치 보류·회수 후 캐시 차단</a:t>
            </a:r>
          </a:p>
        </p:txBody>
      </p:sp>
      <p:sp>
        <p:nvSpPr>
          <p:cNvPr id="16" name="">
            <a:extLst xmlns:a="http://schemas.openxmlformats.org/drawingml/2006/main">
              <a:ext uri="{FF2B5EF4-FFF2-40B4-BE49-F238E27FC236}">
                <a16:creationId xmlns:a16="http://schemas.microsoft.com/office/drawing/2014/main" id="{939E3FA3-2934-49C3-88CD-8A397A5CF58B}"/>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32D465C7-4363-4B6C-83D8-230B86BE4DAA}"/>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필드 대사표·거부셋 결과·회수 로그</a:t>
            </a:r>
          </a:p>
        </p:txBody>
      </p:sp>
      <p:sp>
        <p:nvSpPr>
          <p:cNvPr id="18" name="">
            <a:extLst xmlns:a="http://schemas.openxmlformats.org/drawingml/2006/main">
              <a:ext uri="{FF2B5EF4-FFF2-40B4-BE49-F238E27FC236}">
                <a16:creationId xmlns:a16="http://schemas.microsoft.com/office/drawing/2014/main" id="{752A977C-88B8-4BDE-A0A4-D0FF06A5FE97}"/>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BM-ST-07-R01 / BM-ST-07-T01</a:t>
            </a:r>
          </a:p>
        </p:txBody>
      </p:sp>
      <p:sp>
        <p:nvSpPr>
          <p:cNvPr id="19" name="">
            <a:extLst xmlns:a="http://schemas.openxmlformats.org/drawingml/2006/main">
              <a:ext uri="{FF2B5EF4-FFF2-40B4-BE49-F238E27FC236}">
                <a16:creationId xmlns:a16="http://schemas.microsoft.com/office/drawing/2014/main" id="{110CF2B5-AB1B-4F41-AE22-C752E474AF74}"/>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1264714210"/>
      </p:ext>
    </p:extLst>
  </p:cSld>
</p:sld>
</file>

<file path=ppt/slides/slide13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4930B1A-458C-44F4-871D-AF7B3D7B55E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ST-08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A7CDB997-2D73-4543-90BB-40233B5D900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자연어·음성 이동 서비스 접점</a:t>
            </a:r>
          </a:p>
        </p:txBody>
      </p:sp>
      <p:sp>
        <p:nvSpPr>
          <p:cNvPr id="3" name="">
            <a:extLst xmlns:a="http://schemas.openxmlformats.org/drawingml/2006/main">
              <a:ext uri="{FF2B5EF4-FFF2-40B4-BE49-F238E27FC236}">
                <a16:creationId xmlns:a16="http://schemas.microsoft.com/office/drawing/2014/main" id="{9F10B36D-7538-4757-90A4-9F4B8BDE2DD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851F6D1-8774-4C69-8006-8535696457C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9FBAA09-A9A0-4804-8EA0-7809ADC26AF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130</a:t>
            </a:r>
          </a:p>
        </p:txBody>
      </p:sp>
      <p:sp>
        <p:nvSpPr>
          <p:cNvPr id="6" name="">
            <a:extLst xmlns:a="http://schemas.openxmlformats.org/drawingml/2006/main">
              <a:ext uri="{FF2B5EF4-FFF2-40B4-BE49-F238E27FC236}">
                <a16:creationId xmlns:a16="http://schemas.microsoft.com/office/drawing/2014/main" id="{C0054026-EB69-4853-BCEC-A4FDB456FB48}"/>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생활 밀착형 이동 서비스 확대</a:t>
            </a:r>
          </a:p>
        </p:txBody>
      </p:sp>
      <p:sp>
        <p:nvSpPr>
          <p:cNvPr id="7" name="">
            <a:extLst xmlns:a="http://schemas.openxmlformats.org/drawingml/2006/main">
              <a:ext uri="{FF2B5EF4-FFF2-40B4-BE49-F238E27FC236}">
                <a16:creationId xmlns:a16="http://schemas.microsoft.com/office/drawing/2014/main" id="{D092D578-C0E9-4989-8E05-C78BE8C433BD}"/>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3757E3D-E0FB-4720-85BB-EE4EE7A2AF45}"/>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모빌리티연구처</a:t>
            </a:r>
          </a:p>
        </p:txBody>
      </p:sp>
      <p:sp>
        <p:nvSpPr>
          <p:cNvPr id="9" name="">
            <a:extLst xmlns:a="http://schemas.openxmlformats.org/drawingml/2006/main">
              <a:ext uri="{FF2B5EF4-FFF2-40B4-BE49-F238E27FC236}">
                <a16:creationId xmlns:a16="http://schemas.microsoft.com/office/drawing/2014/main" id="{6D73EBE3-9EBF-4535-A4A3-DEC274599EF4}"/>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이동정보·교통약자 조사</a:t>
            </a:r>
          </a:p>
        </p:txBody>
      </p:sp>
      <p:sp>
        <p:nvSpPr>
          <p:cNvPr id="10" name="">
            <a:extLst xmlns:a="http://schemas.openxmlformats.org/drawingml/2006/main">
              <a:ext uri="{FF2B5EF4-FFF2-40B4-BE49-F238E27FC236}">
                <a16:creationId xmlns:a16="http://schemas.microsoft.com/office/drawing/2014/main" id="{2A9668A4-F730-4056-9048-E35F60A6BE25}"/>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수요응답형(DRT) 대중교통 시스템 구축 및 운영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23. 교통약자 이동편의실태조사 및 자료관리</a:t>
            </a:r>
          </a:p>
        </p:txBody>
      </p:sp>
      <p:sp>
        <p:nvSpPr>
          <p:cNvPr id="11" name="">
            <a:extLst xmlns:a="http://schemas.openxmlformats.org/drawingml/2006/main">
              <a:ext uri="{FF2B5EF4-FFF2-40B4-BE49-F238E27FC236}">
                <a16:creationId xmlns:a16="http://schemas.microsoft.com/office/drawing/2014/main" id="{2C09D004-5B5E-4816-91E9-8A98B654DD9A}"/>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54D4337-A7B5-4FFC-BB4E-557836F54ADC}"/>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정책지원처</a:t>
            </a:r>
          </a:p>
        </p:txBody>
      </p:sp>
      <p:sp>
        <p:nvSpPr>
          <p:cNvPr id="13" name="">
            <a:extLst xmlns:a="http://schemas.openxmlformats.org/drawingml/2006/main">
              <a:ext uri="{FF2B5EF4-FFF2-40B4-BE49-F238E27FC236}">
                <a16:creationId xmlns:a16="http://schemas.microsoft.com/office/drawing/2014/main" id="{C3FDC800-44A2-410E-9CAC-2C0248BAFDC8}"/>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대중교통 현황조사</a:t>
            </a:r>
          </a:p>
        </p:txBody>
      </p:sp>
      <p:sp>
        <p:nvSpPr>
          <p:cNvPr id="14" name="">
            <a:extLst xmlns:a="http://schemas.openxmlformats.org/drawingml/2006/main">
              <a:ext uri="{FF2B5EF4-FFF2-40B4-BE49-F238E27FC236}">
                <a16:creationId xmlns:a16="http://schemas.microsoft.com/office/drawing/2014/main" id="{CD2EEBC1-E5CC-4491-B200-2D78FA2D8206}"/>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7. 대중교통 현황조사에 관한 업무</a:t>
            </a:r>
          </a:p>
        </p:txBody>
      </p:sp>
      <p:sp>
        <p:nvSpPr>
          <p:cNvPr id="15" name="">
            <a:extLst xmlns:a="http://schemas.openxmlformats.org/drawingml/2006/main">
              <a:ext uri="{FF2B5EF4-FFF2-40B4-BE49-F238E27FC236}">
                <a16:creationId xmlns:a16="http://schemas.microsoft.com/office/drawing/2014/main" id="{9C9C90FA-84CC-4D3D-BB56-AEAF91F98B35}"/>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1284F26-A693-4351-8F01-8B9146999EA0}"/>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교통안전처</a:t>
            </a:r>
          </a:p>
        </p:txBody>
      </p:sp>
      <p:sp>
        <p:nvSpPr>
          <p:cNvPr id="17" name="">
            <a:extLst xmlns:a="http://schemas.openxmlformats.org/drawingml/2006/main">
              <a:ext uri="{FF2B5EF4-FFF2-40B4-BE49-F238E27FC236}">
                <a16:creationId xmlns:a16="http://schemas.microsoft.com/office/drawing/2014/main" id="{B2BBD202-A005-40D5-B299-D6FA977779F6}"/>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운수종사자 관리</a:t>
            </a:r>
          </a:p>
        </p:txBody>
      </p:sp>
      <p:sp>
        <p:nvSpPr>
          <p:cNvPr id="18" name="">
            <a:extLst xmlns:a="http://schemas.openxmlformats.org/drawingml/2006/main">
              <a:ext uri="{FF2B5EF4-FFF2-40B4-BE49-F238E27FC236}">
                <a16:creationId xmlns:a16="http://schemas.microsoft.com/office/drawing/2014/main" id="{FB8FF4D8-D362-448B-BE42-9E0BD0E50581}"/>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운수종사자 입․퇴사 정보, 교통사고정보 관리 및 부적격운전자 통보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9. 운수종사자관리정보시스템 운영 및 관리</a:t>
            </a:r>
          </a:p>
        </p:txBody>
      </p:sp>
      <p:sp>
        <p:nvSpPr>
          <p:cNvPr id="19" name="">
            <a:extLst xmlns:a="http://schemas.openxmlformats.org/drawingml/2006/main">
              <a:ext uri="{FF2B5EF4-FFF2-40B4-BE49-F238E27FC236}">
                <a16:creationId xmlns:a16="http://schemas.microsoft.com/office/drawing/2014/main" id="{87D13663-36E6-4E61-9C51-71EF75C7CBD7}"/>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1A49F3E-6564-4838-B44D-0847EDF654EC}"/>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자격교육처</a:t>
            </a:r>
          </a:p>
        </p:txBody>
      </p:sp>
      <p:sp>
        <p:nvSpPr>
          <p:cNvPr id="21" name="">
            <a:extLst xmlns:a="http://schemas.openxmlformats.org/drawingml/2006/main">
              <a:ext uri="{FF2B5EF4-FFF2-40B4-BE49-F238E27FC236}">
                <a16:creationId xmlns:a16="http://schemas.microsoft.com/office/drawing/2014/main" id="{FB9AF2C9-6B9A-46E4-A4E6-3EE909D684C8}"/>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자격·적성검사 운영</a:t>
            </a:r>
          </a:p>
        </p:txBody>
      </p:sp>
      <p:sp>
        <p:nvSpPr>
          <p:cNvPr id="22" name="">
            <a:extLst xmlns:a="http://schemas.openxmlformats.org/drawingml/2006/main">
              <a:ext uri="{FF2B5EF4-FFF2-40B4-BE49-F238E27FC236}">
                <a16:creationId xmlns:a16="http://schemas.microsoft.com/office/drawing/2014/main" id="{083E9042-9F4D-4DC7-9BF4-C3E5E2A6242C}"/>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21. 운전적성정밀검사(신규, 특별, 버스‧택시‧화물 자격유지 등), 국가자격시험(버스, 화물, 택</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 교통안전관리자), 사업계획 수립 및 관련법령 개정 등 제도개선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32. 화물․버스․택시 운전 및 교통안전관리자 자격증 발급 및 관리</a:t>
            </a:r>
          </a:p>
        </p:txBody>
      </p:sp>
      <p:sp>
        <p:nvSpPr>
          <p:cNvPr id="23" name="">
            <a:extLst xmlns:a="http://schemas.openxmlformats.org/drawingml/2006/main">
              <a:ext uri="{FF2B5EF4-FFF2-40B4-BE49-F238E27FC236}">
                <a16:creationId xmlns:a16="http://schemas.microsoft.com/office/drawing/2014/main" id="{4CF71F16-0797-4460-8572-986C7F2EDE20}"/>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711207785"/>
      </p:ext>
    </p:extLst>
  </p:cSld>
</p:sld>
</file>

<file path=ppt/slides/slide13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DA82550-712E-40D3-A908-10E64AC4F84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ST-08 / CCK 재사용·추가 개발·검수·기대효과</a:t>
            </a:r>
          </a:p>
        </p:txBody>
      </p:sp>
      <p:sp>
        <p:nvSpPr>
          <p:cNvPr id="2" name="">
            <a:extLst xmlns:a="http://schemas.openxmlformats.org/drawingml/2006/main">
              <a:ext uri="{FF2B5EF4-FFF2-40B4-BE49-F238E27FC236}">
                <a16:creationId xmlns:a16="http://schemas.microsoft.com/office/drawing/2014/main" id="{CD10CAFE-005D-4750-8A50-CB81F83FAFA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자연어·음성 이동 서비스 접점</a:t>
            </a:r>
          </a:p>
        </p:txBody>
      </p:sp>
      <p:sp>
        <p:nvSpPr>
          <p:cNvPr id="3" name="">
            <a:extLst xmlns:a="http://schemas.openxmlformats.org/drawingml/2006/main">
              <a:ext uri="{FF2B5EF4-FFF2-40B4-BE49-F238E27FC236}">
                <a16:creationId xmlns:a16="http://schemas.microsoft.com/office/drawing/2014/main" id="{69C98D95-8614-402D-9066-253CD66CB26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928D1A2-7CF4-4EC1-B17F-AF3E2AD853A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51FB43E-5F77-4401-A287-931C88AFD76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131</a:t>
            </a:r>
          </a:p>
        </p:txBody>
      </p:sp>
      <p:sp>
        <p:nvSpPr>
          <p:cNvPr id="6" name="">
            <a:extLst xmlns:a="http://schemas.openxmlformats.org/drawingml/2006/main">
              <a:ext uri="{FF2B5EF4-FFF2-40B4-BE49-F238E27FC236}">
                <a16:creationId xmlns:a16="http://schemas.microsoft.com/office/drawing/2014/main" id="{C2F89917-FDE6-4830-9A0F-5E3F76695485}"/>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C5DEDABD-D578-42D6-9571-E14C12B107F0}"/>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공개지식 검색·대화</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JET·Foundry의 필수 입력·절차 설계</a:t>
            </a:r>
          </a:p>
        </p:txBody>
      </p:sp>
      <p:sp>
        <p:nvSpPr>
          <p:cNvPr id="8" name="">
            <a:extLst xmlns:a="http://schemas.openxmlformats.org/drawingml/2006/main">
              <a:ext uri="{FF2B5EF4-FFF2-40B4-BE49-F238E27FC236}">
                <a16:creationId xmlns:a16="http://schemas.microsoft.com/office/drawing/2014/main" id="{43E66465-936D-4F2C-A50E-4E5B2069C297}"/>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C7B6D2B0-5539-4CCF-9031-B674B8E49D6C}"/>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음성 입력·발화 정리 연계</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서비스 라우터·메뉴/상담 복귀 경로</a:t>
            </a:r>
          </a:p>
        </p:txBody>
      </p:sp>
      <p:sp>
        <p:nvSpPr>
          <p:cNvPr id="10" name="">
            <a:extLst xmlns:a="http://schemas.openxmlformats.org/drawingml/2006/main">
              <a:ext uri="{FF2B5EF4-FFF2-40B4-BE49-F238E27FC236}">
                <a16:creationId xmlns:a16="http://schemas.microsoft.com/office/drawing/2014/main" id="{61AD7051-8CF1-47B4-9E90-698E3431F371}"/>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4A052D8E-4CF6-46EF-8C70-BC8F600D3293}"/>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국민의 서비스 탐색·발화 재입력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정확한 서비스 도달 수 ÷ 전체 시도 수 / 사용자군별 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료시간·포기율</a:t>
            </a:r>
          </a:p>
        </p:txBody>
      </p:sp>
      <p:sp>
        <p:nvSpPr>
          <p:cNvPr id="12" name="">
            <a:extLst xmlns:a="http://schemas.openxmlformats.org/drawingml/2006/main">
              <a:ext uri="{FF2B5EF4-FFF2-40B4-BE49-F238E27FC236}">
                <a16:creationId xmlns:a16="http://schemas.microsoft.com/office/drawing/2014/main" id="{11B875B2-0A66-44C1-877E-E1CB0CF2A66A}"/>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62D2C4FE-A587-459E-B20E-71E1C23E6230}"/>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고령·방언·소음·범위 밖 요청과 일반 사용자 과업</a:t>
            </a:r>
          </a:p>
        </p:txBody>
      </p:sp>
      <p:sp>
        <p:nvSpPr>
          <p:cNvPr id="14" name="">
            <a:extLst xmlns:a="http://schemas.openxmlformats.org/drawingml/2006/main">
              <a:ext uri="{FF2B5EF4-FFF2-40B4-BE49-F238E27FC236}">
                <a16:creationId xmlns:a16="http://schemas.microsoft.com/office/drawing/2014/main" id="{E7728A94-18A7-4B50-BDAF-BB470B98320F}"/>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E5A1E0E7-5842-4025-B446-2E73014DEA69}"/>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정확한 창구 연결·사용자 확인·내부자료 차단·상담 전</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환</a:t>
            </a:r>
          </a:p>
        </p:txBody>
      </p:sp>
      <p:sp>
        <p:nvSpPr>
          <p:cNvPr id="16" name="">
            <a:extLst xmlns:a="http://schemas.openxmlformats.org/drawingml/2006/main">
              <a:ext uri="{FF2B5EF4-FFF2-40B4-BE49-F238E27FC236}">
                <a16:creationId xmlns:a16="http://schemas.microsoft.com/office/drawing/2014/main" id="{9B9A3FAA-5A10-4BE0-A906-0A758DF8B887}"/>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01750C90-C10A-44BF-B881-9739271AB71A}"/>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사용자군별 과업 기록·도달률·오인계 결과</a:t>
            </a:r>
          </a:p>
        </p:txBody>
      </p:sp>
      <p:sp>
        <p:nvSpPr>
          <p:cNvPr id="18" name="">
            <a:extLst xmlns:a="http://schemas.openxmlformats.org/drawingml/2006/main">
              <a:ext uri="{FF2B5EF4-FFF2-40B4-BE49-F238E27FC236}">
                <a16:creationId xmlns:a16="http://schemas.microsoft.com/office/drawing/2014/main" id="{3A1E6D94-BFE3-434F-B04C-0FC7286F34FA}"/>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BM-ST-08-R01 / BM-ST-08-T01</a:t>
            </a:r>
          </a:p>
        </p:txBody>
      </p:sp>
      <p:sp>
        <p:nvSpPr>
          <p:cNvPr id="19" name="">
            <a:extLst xmlns:a="http://schemas.openxmlformats.org/drawingml/2006/main">
              <a:ext uri="{FF2B5EF4-FFF2-40B4-BE49-F238E27FC236}">
                <a16:creationId xmlns:a16="http://schemas.microsoft.com/office/drawing/2014/main" id="{DACB7B05-40E0-46EC-ABF4-610EADEA61C8}"/>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547327003"/>
      </p:ext>
    </p:extLst>
  </p:cSld>
</p:sld>
</file>

<file path=ppt/slides/slide13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7878CAF-9779-4DC5-9A0E-25D58A9DEF9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ST-09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3E46DA61-8A9F-428C-9635-F482B6EB16F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지역·산업 지원 검토 근거</a:t>
            </a:r>
          </a:p>
        </p:txBody>
      </p:sp>
      <p:sp>
        <p:nvSpPr>
          <p:cNvPr id="3" name="">
            <a:extLst xmlns:a="http://schemas.openxmlformats.org/drawingml/2006/main">
              <a:ext uri="{FF2B5EF4-FFF2-40B4-BE49-F238E27FC236}">
                <a16:creationId xmlns:a16="http://schemas.microsoft.com/office/drawing/2014/main" id="{DDFBEDFE-533D-42D0-A72D-0A397FFB1C1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9413618-E15B-418B-B4B2-956ED6BEBD1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ED1DBE3-8CF0-492B-A5C7-81DEB812F78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132</a:t>
            </a:r>
          </a:p>
        </p:txBody>
      </p:sp>
      <p:sp>
        <p:nvSpPr>
          <p:cNvPr id="6" name="">
            <a:extLst xmlns:a="http://schemas.openxmlformats.org/drawingml/2006/main">
              <a:ext uri="{FF2B5EF4-FFF2-40B4-BE49-F238E27FC236}">
                <a16:creationId xmlns:a16="http://schemas.microsoft.com/office/drawing/2014/main" id="{F912DBF7-8C11-46DE-B5DC-55CB4C36D37B}"/>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민간·지역·산업 균형 성장 역동성 지원</a:t>
            </a:r>
          </a:p>
        </p:txBody>
      </p:sp>
      <p:sp>
        <p:nvSpPr>
          <p:cNvPr id="7" name="">
            <a:extLst xmlns:a="http://schemas.openxmlformats.org/drawingml/2006/main">
              <a:ext uri="{FF2B5EF4-FFF2-40B4-BE49-F238E27FC236}">
                <a16:creationId xmlns:a16="http://schemas.microsoft.com/office/drawing/2014/main" id="{81178E1C-7946-41B8-B907-B1CC2C6C6D3A}"/>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40963E7-5BDB-4593-AC17-C8FF09F6E9E7}"/>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정책지원처</a:t>
            </a:r>
          </a:p>
        </p:txBody>
      </p:sp>
      <p:sp>
        <p:nvSpPr>
          <p:cNvPr id="9" name="">
            <a:extLst xmlns:a="http://schemas.openxmlformats.org/drawingml/2006/main">
              <a:ext uri="{FF2B5EF4-FFF2-40B4-BE49-F238E27FC236}">
                <a16:creationId xmlns:a16="http://schemas.microsoft.com/office/drawing/2014/main" id="{C96EB0EA-4492-468E-9AAD-61D5EF400EC5}"/>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모빌리티 정책·산업 지원</a:t>
            </a:r>
          </a:p>
        </p:txBody>
      </p:sp>
      <p:sp>
        <p:nvSpPr>
          <p:cNvPr id="10" name="">
            <a:extLst xmlns:a="http://schemas.openxmlformats.org/drawingml/2006/main">
              <a:ext uri="{FF2B5EF4-FFF2-40B4-BE49-F238E27FC236}">
                <a16:creationId xmlns:a16="http://schemas.microsoft.com/office/drawing/2014/main" id="{6B761D3F-D56B-45EA-8718-D169D6D4820D}"/>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모빌리티 정책지원 및 연구수행</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11. 모빌리티 산업활성화 지원 관련 협력 업무</a:t>
            </a:r>
          </a:p>
        </p:txBody>
      </p:sp>
      <p:sp>
        <p:nvSpPr>
          <p:cNvPr id="11" name="">
            <a:extLst xmlns:a="http://schemas.openxmlformats.org/drawingml/2006/main">
              <a:ext uri="{FF2B5EF4-FFF2-40B4-BE49-F238E27FC236}">
                <a16:creationId xmlns:a16="http://schemas.microsoft.com/office/drawing/2014/main" id="{D70FC221-E938-46CA-9ACB-0D29BD034C6C}"/>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7F383AE-4D00-4A52-B39D-B8F002821DAE}"/>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규제혁신처</a:t>
            </a:r>
          </a:p>
        </p:txBody>
      </p:sp>
      <p:sp>
        <p:nvSpPr>
          <p:cNvPr id="13" name="">
            <a:extLst xmlns:a="http://schemas.openxmlformats.org/drawingml/2006/main">
              <a:ext uri="{FF2B5EF4-FFF2-40B4-BE49-F238E27FC236}">
                <a16:creationId xmlns:a16="http://schemas.microsoft.com/office/drawing/2014/main" id="{67507F3B-8753-4883-8878-FC8A193C99EE}"/>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기업 실증특례 지원</a:t>
            </a:r>
          </a:p>
        </p:txBody>
      </p:sp>
      <p:sp>
        <p:nvSpPr>
          <p:cNvPr id="14" name="">
            <a:extLst xmlns:a="http://schemas.openxmlformats.org/drawingml/2006/main">
              <a:ext uri="{FF2B5EF4-FFF2-40B4-BE49-F238E27FC236}">
                <a16:creationId xmlns:a16="http://schemas.microsoft.com/office/drawing/2014/main" id="{BFEAE1DF-29AF-4632-A82D-3A3757449417}"/>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모빌리티 실증특례 접수 및 승인 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모빌리티 실증특례 사업지원</a:t>
            </a:r>
          </a:p>
        </p:txBody>
      </p:sp>
      <p:sp>
        <p:nvSpPr>
          <p:cNvPr id="15" name="">
            <a:extLst xmlns:a="http://schemas.openxmlformats.org/drawingml/2006/main">
              <a:ext uri="{FF2B5EF4-FFF2-40B4-BE49-F238E27FC236}">
                <a16:creationId xmlns:a16="http://schemas.microsoft.com/office/drawing/2014/main" id="{1269A474-E58F-430A-987F-DA1E4B361DEF}"/>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DACD6D9-AAF4-41BA-AAA5-D9DD9B0CCD34}"/>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실증사업처</a:t>
            </a:r>
          </a:p>
        </p:txBody>
      </p:sp>
      <p:sp>
        <p:nvSpPr>
          <p:cNvPr id="17" name="">
            <a:extLst xmlns:a="http://schemas.openxmlformats.org/drawingml/2006/main">
              <a:ext uri="{FF2B5EF4-FFF2-40B4-BE49-F238E27FC236}">
                <a16:creationId xmlns:a16="http://schemas.microsoft.com/office/drawing/2014/main" id="{F1B5B21C-7B1D-465C-8170-3905EB2E3BF9}"/>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지역 특화·시범사업 지원</a:t>
            </a:r>
          </a:p>
        </p:txBody>
      </p:sp>
      <p:sp>
        <p:nvSpPr>
          <p:cNvPr id="18" name="">
            <a:extLst xmlns:a="http://schemas.openxmlformats.org/drawingml/2006/main">
              <a:ext uri="{FF2B5EF4-FFF2-40B4-BE49-F238E27FC236}">
                <a16:creationId xmlns:a16="http://schemas.microsoft.com/office/drawing/2014/main" id="{8ED053FC-1D70-4B90-8E86-2F2DAAE7859D}"/>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모빌리티 특화도시 사업지원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모빌리티 시범도시 사업지원</a:t>
            </a:r>
          </a:p>
        </p:txBody>
      </p:sp>
      <p:sp>
        <p:nvSpPr>
          <p:cNvPr id="19" name="">
            <a:extLst xmlns:a="http://schemas.openxmlformats.org/drawingml/2006/main">
              <a:ext uri="{FF2B5EF4-FFF2-40B4-BE49-F238E27FC236}">
                <a16:creationId xmlns:a16="http://schemas.microsoft.com/office/drawing/2014/main" id="{62546FE7-C9DA-4861-8549-CE8CDA336131}"/>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012028401"/>
      </p:ext>
    </p:extLst>
  </p:cSld>
</p:sld>
</file>

<file path=ppt/slides/slide13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A87220A6-5810-4EAC-B0C3-104E441185B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ST-09 / CCK 재사용·추가 개발·검수·기대효과</a:t>
            </a:r>
          </a:p>
        </p:txBody>
      </p:sp>
      <p:sp>
        <p:nvSpPr>
          <p:cNvPr id="2" name="">
            <a:extLst xmlns:a="http://schemas.openxmlformats.org/drawingml/2006/main">
              <a:ext uri="{FF2B5EF4-FFF2-40B4-BE49-F238E27FC236}">
                <a16:creationId xmlns:a16="http://schemas.microsoft.com/office/drawing/2014/main" id="{E6C7AE0C-4029-4F31-9B88-0E80A98AB2E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지역·산업 지원 검토 근거</a:t>
            </a:r>
          </a:p>
        </p:txBody>
      </p:sp>
      <p:sp>
        <p:nvSpPr>
          <p:cNvPr id="3" name="">
            <a:extLst xmlns:a="http://schemas.openxmlformats.org/drawingml/2006/main">
              <a:ext uri="{FF2B5EF4-FFF2-40B4-BE49-F238E27FC236}">
                <a16:creationId xmlns:a16="http://schemas.microsoft.com/office/drawing/2014/main" id="{B7EE2283-6ADA-4F0D-8972-6E2B7F3B748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B51146D-5198-49BC-9765-7D043E962AC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FB7B23A-C695-4DA8-9EE8-0DA7799BB1B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133</a:t>
            </a:r>
          </a:p>
        </p:txBody>
      </p:sp>
      <p:sp>
        <p:nvSpPr>
          <p:cNvPr id="6" name="">
            <a:extLst xmlns:a="http://schemas.openxmlformats.org/drawingml/2006/main">
              <a:ext uri="{FF2B5EF4-FFF2-40B4-BE49-F238E27FC236}">
                <a16:creationId xmlns:a16="http://schemas.microsoft.com/office/drawing/2014/main" id="{95B751DB-3131-4FC3-B875-B34609F57D49}"/>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F54EC384-2EB9-4FBA-8F47-AE25AB4F7411}"/>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요건 검색·서식 초안</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Audin·Foundry의 증빙·절차 검토</a:t>
            </a:r>
          </a:p>
        </p:txBody>
      </p:sp>
      <p:sp>
        <p:nvSpPr>
          <p:cNvPr id="8" name="">
            <a:extLst xmlns:a="http://schemas.openxmlformats.org/drawingml/2006/main">
              <a:ext uri="{FF2B5EF4-FFF2-40B4-BE49-F238E27FC236}">
                <a16:creationId xmlns:a16="http://schemas.microsoft.com/office/drawing/2014/main" id="{23D0C720-893D-448A-80C2-F61B188B0978}"/>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4CD3DDA8-E1C2-4BF1-A0E8-463B8A44FEA8}"/>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지역·사업별 적용요건 사전</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신청–보완–검토 사건 연결</a:t>
            </a:r>
          </a:p>
        </p:txBody>
      </p:sp>
      <p:sp>
        <p:nvSpPr>
          <p:cNvPr id="10" name="">
            <a:extLst xmlns:a="http://schemas.openxmlformats.org/drawingml/2006/main">
              <a:ext uri="{FF2B5EF4-FFF2-40B4-BE49-F238E27FC236}">
                <a16:creationId xmlns:a16="http://schemas.microsoft.com/office/drawing/2014/main" id="{18FBBB6A-AD27-4A25-A335-928361386A45}"/>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67223F89-EF59-4B8C-B8FF-0F664BDEEA77}"/>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신청 보완 반복·지원 검토시간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신청건당 보완 횟수 / 검토 완료시간; 지역경제 효과는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별도 평가</a:t>
            </a:r>
          </a:p>
        </p:txBody>
      </p:sp>
      <p:sp>
        <p:nvSpPr>
          <p:cNvPr id="12" name="">
            <a:extLst xmlns:a="http://schemas.openxmlformats.org/drawingml/2006/main">
              <a:ext uri="{FF2B5EF4-FFF2-40B4-BE49-F238E27FC236}">
                <a16:creationId xmlns:a16="http://schemas.microsoft.com/office/drawing/2014/main" id="{5F872B28-96F3-4D59-9342-0AAB4740A152}"/>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111BC3CB-4F91-4E44-9331-60DC9CFE2F92}"/>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다른 지역 요건, 만료 특례, 누락 실증자료</a:t>
            </a:r>
          </a:p>
        </p:txBody>
      </p:sp>
      <p:sp>
        <p:nvSpPr>
          <p:cNvPr id="14" name="">
            <a:extLst xmlns:a="http://schemas.openxmlformats.org/drawingml/2006/main">
              <a:ext uri="{FF2B5EF4-FFF2-40B4-BE49-F238E27FC236}">
                <a16:creationId xmlns:a16="http://schemas.microsoft.com/office/drawing/2014/main" id="{927BFEEB-7DFA-4C8C-9647-0D986DF13E76}"/>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7D557B3E-00CB-4ADE-8F89-FEC69355DA33}"/>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해당 조건만 적용·근거 제시·판정 보류</a:t>
            </a:r>
          </a:p>
        </p:txBody>
      </p:sp>
      <p:sp>
        <p:nvSpPr>
          <p:cNvPr id="16" name="">
            <a:extLst xmlns:a="http://schemas.openxmlformats.org/drawingml/2006/main">
              <a:ext uri="{FF2B5EF4-FFF2-40B4-BE49-F238E27FC236}">
                <a16:creationId xmlns:a16="http://schemas.microsoft.com/office/drawing/2014/main" id="{697ECE52-D5B1-4BB0-850D-FC1A458E5C37}"/>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E848BC87-FF72-4D9D-B10A-FB993F5F0149}"/>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요건 대조표·보완 이력·검토자 기록</a:t>
            </a:r>
          </a:p>
        </p:txBody>
      </p:sp>
      <p:sp>
        <p:nvSpPr>
          <p:cNvPr id="18" name="">
            <a:extLst xmlns:a="http://schemas.openxmlformats.org/drawingml/2006/main">
              <a:ext uri="{FF2B5EF4-FFF2-40B4-BE49-F238E27FC236}">
                <a16:creationId xmlns:a16="http://schemas.microsoft.com/office/drawing/2014/main" id="{56BDF6CA-F872-472B-B57A-3A83DEBBA7E7}"/>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BM-ST-09-R01 / BM-ST-09-T01</a:t>
            </a:r>
          </a:p>
        </p:txBody>
      </p:sp>
      <p:sp>
        <p:nvSpPr>
          <p:cNvPr id="19" name="">
            <a:extLst xmlns:a="http://schemas.openxmlformats.org/drawingml/2006/main">
              <a:ext uri="{FF2B5EF4-FFF2-40B4-BE49-F238E27FC236}">
                <a16:creationId xmlns:a16="http://schemas.microsoft.com/office/drawing/2014/main" id="{27E29BE1-6D8A-4435-BBCB-2678EE612821}"/>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1826291167"/>
      </p:ext>
    </p:extLst>
  </p:cSld>
</p:sld>
</file>

<file path=ppt/slides/slide13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9901F82-FC45-4E38-86EB-5853A7561F6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ST-10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0258D093-347A-41FF-9448-A94C35599B7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성과·경영 문서 검토 지원</a:t>
            </a:r>
          </a:p>
        </p:txBody>
      </p:sp>
      <p:sp>
        <p:nvSpPr>
          <p:cNvPr id="3" name="">
            <a:extLst xmlns:a="http://schemas.openxmlformats.org/drawingml/2006/main">
              <a:ext uri="{FF2B5EF4-FFF2-40B4-BE49-F238E27FC236}">
                <a16:creationId xmlns:a16="http://schemas.microsoft.com/office/drawing/2014/main" id="{DB51ED6E-6A20-4318-8222-D00F3BE531E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4D33B3C-1132-4B76-B1DD-40F389712F0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139258B-68AA-46B4-BBB3-2FBAF2A637D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134</a:t>
            </a:r>
          </a:p>
        </p:txBody>
      </p:sp>
      <p:sp>
        <p:nvSpPr>
          <p:cNvPr id="6" name="">
            <a:extLst xmlns:a="http://schemas.openxmlformats.org/drawingml/2006/main">
              <a:ext uri="{FF2B5EF4-FFF2-40B4-BE49-F238E27FC236}">
                <a16:creationId xmlns:a16="http://schemas.microsoft.com/office/drawing/2014/main" id="{B2A38DE3-F714-4D8F-8716-8ECD935C9EE0}"/>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실용·성과·효율 지향 경영체계 구축</a:t>
            </a:r>
          </a:p>
        </p:txBody>
      </p:sp>
      <p:sp>
        <p:nvSpPr>
          <p:cNvPr id="7" name="">
            <a:extLst xmlns:a="http://schemas.openxmlformats.org/drawingml/2006/main">
              <a:ext uri="{FF2B5EF4-FFF2-40B4-BE49-F238E27FC236}">
                <a16:creationId xmlns:a16="http://schemas.microsoft.com/office/drawing/2014/main" id="{FBFA98E3-75C4-4174-9A18-9C419EB8A148}"/>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271E87E-E724-4B07-8477-9FC0B53FD85C}"/>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예산처</a:t>
            </a:r>
          </a:p>
        </p:txBody>
      </p:sp>
      <p:sp>
        <p:nvSpPr>
          <p:cNvPr id="9" name="">
            <a:extLst xmlns:a="http://schemas.openxmlformats.org/drawingml/2006/main">
              <a:ext uri="{FF2B5EF4-FFF2-40B4-BE49-F238E27FC236}">
                <a16:creationId xmlns:a16="http://schemas.microsoft.com/office/drawing/2014/main" id="{0D730DB7-C318-4D43-8970-3B8EBB0CF8E5}"/>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예산 편성·집행 분석</a:t>
            </a:r>
          </a:p>
        </p:txBody>
      </p:sp>
      <p:sp>
        <p:nvSpPr>
          <p:cNvPr id="10" name="">
            <a:extLst xmlns:a="http://schemas.openxmlformats.org/drawingml/2006/main">
              <a:ext uri="{FF2B5EF4-FFF2-40B4-BE49-F238E27FC236}">
                <a16:creationId xmlns:a16="http://schemas.microsoft.com/office/drawing/2014/main" id="{48369005-01C6-4913-9355-29793CCDF289}"/>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예산의 편성‧집행‧운영 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예산집행실적 및 차이분석에 관한 사항</a:t>
            </a:r>
          </a:p>
        </p:txBody>
      </p:sp>
      <p:sp>
        <p:nvSpPr>
          <p:cNvPr id="11" name="">
            <a:extLst xmlns:a="http://schemas.openxmlformats.org/drawingml/2006/main">
              <a:ext uri="{FF2B5EF4-FFF2-40B4-BE49-F238E27FC236}">
                <a16:creationId xmlns:a16="http://schemas.microsoft.com/office/drawing/2014/main" id="{B1AAAD59-498F-4C1C-9A56-DB4795D9454C}"/>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77F247F-C839-4938-9198-5E38BB42AA11}"/>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혁신성과처</a:t>
            </a:r>
          </a:p>
        </p:txBody>
      </p:sp>
      <p:sp>
        <p:nvSpPr>
          <p:cNvPr id="13" name="">
            <a:extLst xmlns:a="http://schemas.openxmlformats.org/drawingml/2006/main">
              <a:ext uri="{FF2B5EF4-FFF2-40B4-BE49-F238E27FC236}">
                <a16:creationId xmlns:a16="http://schemas.microsoft.com/office/drawing/2014/main" id="{E3653D68-E93A-41CE-8756-DA4ADE676817}"/>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기관·부서 성과평가</a:t>
            </a:r>
          </a:p>
        </p:txBody>
      </p:sp>
      <p:sp>
        <p:nvSpPr>
          <p:cNvPr id="14" name="">
            <a:extLst xmlns:a="http://schemas.openxmlformats.org/drawingml/2006/main">
              <a:ext uri="{FF2B5EF4-FFF2-40B4-BE49-F238E27FC236}">
                <a16:creationId xmlns:a16="http://schemas.microsoft.com/office/drawing/2014/main" id="{530BC7C5-CCCF-49F8-932C-E24268C9274B}"/>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내부경영평가(BSC, MBO)에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임원, 부서장 경영계약 및 이행실적 평가에 관한 업무</a:t>
            </a:r>
          </a:p>
        </p:txBody>
      </p:sp>
      <p:sp>
        <p:nvSpPr>
          <p:cNvPr id="15" name="">
            <a:extLst xmlns:a="http://schemas.openxmlformats.org/drawingml/2006/main">
              <a:ext uri="{FF2B5EF4-FFF2-40B4-BE49-F238E27FC236}">
                <a16:creationId xmlns:a16="http://schemas.microsoft.com/office/drawing/2014/main" id="{7B1F7AD0-DA43-4F87-B8DD-ECF4895D2E1D}"/>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C6C07E9-8D4E-4592-9FB0-6DAA612BB31C}"/>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재정회계처</a:t>
            </a:r>
          </a:p>
        </p:txBody>
      </p:sp>
      <p:sp>
        <p:nvSpPr>
          <p:cNvPr id="17" name="">
            <a:extLst xmlns:a="http://schemas.openxmlformats.org/drawingml/2006/main">
              <a:ext uri="{FF2B5EF4-FFF2-40B4-BE49-F238E27FC236}">
                <a16:creationId xmlns:a16="http://schemas.microsoft.com/office/drawing/2014/main" id="{9F1084F5-D813-453B-81AB-D2AC4B0F1E75}"/>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계약·결산 관리</a:t>
            </a:r>
          </a:p>
        </p:txBody>
      </p:sp>
      <p:sp>
        <p:nvSpPr>
          <p:cNvPr id="18" name="">
            <a:extLst xmlns:a="http://schemas.openxmlformats.org/drawingml/2006/main">
              <a:ext uri="{FF2B5EF4-FFF2-40B4-BE49-F238E27FC236}">
                <a16:creationId xmlns:a16="http://schemas.microsoft.com/office/drawing/2014/main" id="{465859F6-A4A4-4107-AA22-B35AAD680D4E}"/>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연간·월간 회계결산 및 연차 결산보고서 작성 보고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구매․공사 및 용역 등의 계약에 관한 사항</a:t>
            </a:r>
          </a:p>
        </p:txBody>
      </p:sp>
      <p:sp>
        <p:nvSpPr>
          <p:cNvPr id="19" name="">
            <a:extLst xmlns:a="http://schemas.openxmlformats.org/drawingml/2006/main">
              <a:ext uri="{FF2B5EF4-FFF2-40B4-BE49-F238E27FC236}">
                <a16:creationId xmlns:a16="http://schemas.microsoft.com/office/drawing/2014/main" id="{7B1432D8-1A81-4523-833D-EF90821A32D4}"/>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E042E89-E113-415D-BA50-9A9DEC1AE736}"/>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운영지원처</a:t>
            </a:r>
          </a:p>
        </p:txBody>
      </p:sp>
      <p:sp>
        <p:nvSpPr>
          <p:cNvPr id="21" name="">
            <a:extLst xmlns:a="http://schemas.openxmlformats.org/drawingml/2006/main">
              <a:ext uri="{FF2B5EF4-FFF2-40B4-BE49-F238E27FC236}">
                <a16:creationId xmlns:a16="http://schemas.microsoft.com/office/drawing/2014/main" id="{6718BC3E-A361-4823-8FB4-5220557BAA5C}"/>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문서·정보공개 관리</a:t>
            </a:r>
          </a:p>
        </p:txBody>
      </p:sp>
      <p:sp>
        <p:nvSpPr>
          <p:cNvPr id="22" name="">
            <a:extLst xmlns:a="http://schemas.openxmlformats.org/drawingml/2006/main">
              <a:ext uri="{FF2B5EF4-FFF2-40B4-BE49-F238E27FC236}">
                <a16:creationId xmlns:a16="http://schemas.microsoft.com/office/drawing/2014/main" id="{01E19322-FC2F-43A9-B662-9534155EF6B1}"/>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문서의 접수·분류·수발·처리 및 보존관리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정보공개제도의 운영 및 관리</a:t>
            </a:r>
          </a:p>
        </p:txBody>
      </p:sp>
      <p:sp>
        <p:nvSpPr>
          <p:cNvPr id="23" name="">
            <a:extLst xmlns:a="http://schemas.openxmlformats.org/drawingml/2006/main">
              <a:ext uri="{FF2B5EF4-FFF2-40B4-BE49-F238E27FC236}">
                <a16:creationId xmlns:a16="http://schemas.microsoft.com/office/drawing/2014/main" id="{F29891BA-BF54-44F1-A35F-F294CF2A49D8}"/>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577113829"/>
      </p:ext>
    </p:extLst>
  </p:cSld>
</p:sld>
</file>

<file path=ppt/slides/slide13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AB02CD7-6E48-418D-8AA6-C64F52B923C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ST-10 / CCK 재사용·추가 개발·검수·기대효과</a:t>
            </a:r>
          </a:p>
        </p:txBody>
      </p:sp>
      <p:sp>
        <p:nvSpPr>
          <p:cNvPr id="2" name="">
            <a:extLst xmlns:a="http://schemas.openxmlformats.org/drawingml/2006/main">
              <a:ext uri="{FF2B5EF4-FFF2-40B4-BE49-F238E27FC236}">
                <a16:creationId xmlns:a16="http://schemas.microsoft.com/office/drawing/2014/main" id="{66D910A7-1627-409D-9697-2A4A40BE292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성과·경영 문서 검토 지원</a:t>
            </a:r>
          </a:p>
        </p:txBody>
      </p:sp>
      <p:sp>
        <p:nvSpPr>
          <p:cNvPr id="3" name="">
            <a:extLst xmlns:a="http://schemas.openxmlformats.org/drawingml/2006/main">
              <a:ext uri="{FF2B5EF4-FFF2-40B4-BE49-F238E27FC236}">
                <a16:creationId xmlns:a16="http://schemas.microsoft.com/office/drawing/2014/main" id="{3AF1D5B9-844A-4F50-A679-4176DD56CDC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7007802-F8DC-47D8-89C0-59EF3E2FED7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12757EC-D80D-4F01-9E60-4A35083B62B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135</a:t>
            </a:r>
          </a:p>
        </p:txBody>
      </p:sp>
      <p:sp>
        <p:nvSpPr>
          <p:cNvPr id="6" name="">
            <a:extLst xmlns:a="http://schemas.openxmlformats.org/drawingml/2006/main">
              <a:ext uri="{FF2B5EF4-FFF2-40B4-BE49-F238E27FC236}">
                <a16:creationId xmlns:a16="http://schemas.microsoft.com/office/drawing/2014/main" id="{A6700944-158B-40A0-AC84-704DD79CB7F1}"/>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900D44FF-2CFD-4B03-B8F6-CEF04810E7C2}"/>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문서 검색·요약·서식</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Audin·JET의 증빙 검토·구조화</a:t>
            </a:r>
          </a:p>
        </p:txBody>
      </p:sp>
      <p:sp>
        <p:nvSpPr>
          <p:cNvPr id="8" name="">
            <a:extLst xmlns:a="http://schemas.openxmlformats.org/drawingml/2006/main">
              <a:ext uri="{FF2B5EF4-FFF2-40B4-BE49-F238E27FC236}">
                <a16:creationId xmlns:a16="http://schemas.microsoft.com/office/drawing/2014/main" id="{07F6A7AC-1D36-497B-8A28-B3F208935470}"/>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8834D967-728C-42F7-BF0C-6E7AAC9497C3}"/>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사업–예산–성과 연결표</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지표 산식 검증·검토시간 계측</a:t>
            </a:r>
          </a:p>
        </p:txBody>
      </p:sp>
      <p:sp>
        <p:nvSpPr>
          <p:cNvPr id="10" name="">
            <a:extLst xmlns:a="http://schemas.openxmlformats.org/drawingml/2006/main">
              <a:ext uri="{FF2B5EF4-FFF2-40B4-BE49-F238E27FC236}">
                <a16:creationId xmlns:a16="http://schemas.microsoft.com/office/drawing/2014/main" id="{A8961248-27A8-43A4-AF81-E6E09E73567C}"/>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B4CDE919-D993-4416-AE59-B182262EA097}"/>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검토·재작업을 포함한 업무시간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최종 검토까지 소요시간 중앙값 / 재작업 건수 ÷ 완료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건수 / 업무당 비용</a:t>
            </a:r>
          </a:p>
        </p:txBody>
      </p:sp>
      <p:sp>
        <p:nvSpPr>
          <p:cNvPr id="12" name="">
            <a:extLst xmlns:a="http://schemas.openxmlformats.org/drawingml/2006/main">
              <a:ext uri="{FF2B5EF4-FFF2-40B4-BE49-F238E27FC236}">
                <a16:creationId xmlns:a16="http://schemas.microsoft.com/office/drawing/2014/main" id="{CB5D9A20-8311-4240-B98A-E20F13FF170E}"/>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AE35569F-B75F-4C81-8865-0FD12B098E15}"/>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집행 중복, 다른 보고기간, 산식 오류, 전결권 부재</a:t>
            </a:r>
          </a:p>
        </p:txBody>
      </p:sp>
      <p:sp>
        <p:nvSpPr>
          <p:cNvPr id="14" name="">
            <a:extLst xmlns:a="http://schemas.openxmlformats.org/drawingml/2006/main">
              <a:ext uri="{FF2B5EF4-FFF2-40B4-BE49-F238E27FC236}">
                <a16:creationId xmlns:a16="http://schemas.microsoft.com/office/drawing/2014/main" id="{686A2BEC-6F43-40FF-9FDD-B8B85B0018A8}"/>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13B85F06-90C1-4D4C-BFF5-3B054AE8699C}"/>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원천 합계 일치·오류 보류·권한별 결과 분리</a:t>
            </a:r>
          </a:p>
        </p:txBody>
      </p:sp>
      <p:sp>
        <p:nvSpPr>
          <p:cNvPr id="16" name="">
            <a:extLst xmlns:a="http://schemas.openxmlformats.org/drawingml/2006/main">
              <a:ext uri="{FF2B5EF4-FFF2-40B4-BE49-F238E27FC236}">
                <a16:creationId xmlns:a16="http://schemas.microsoft.com/office/drawing/2014/main" id="{94A363C8-A6D1-406C-903C-B30828EE492B}"/>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670548B8-4598-4335-8AFA-8E48745C0729}"/>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대사표·업무시간 기록·보완 결과</a:t>
            </a:r>
          </a:p>
        </p:txBody>
      </p:sp>
      <p:sp>
        <p:nvSpPr>
          <p:cNvPr id="18" name="">
            <a:extLst xmlns:a="http://schemas.openxmlformats.org/drawingml/2006/main">
              <a:ext uri="{FF2B5EF4-FFF2-40B4-BE49-F238E27FC236}">
                <a16:creationId xmlns:a16="http://schemas.microsoft.com/office/drawing/2014/main" id="{2B2C935A-7B88-4281-AABB-3F4AE17C77EC}"/>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BM-ST-10-R01 / BM-ST-10-T01</a:t>
            </a:r>
          </a:p>
        </p:txBody>
      </p:sp>
      <p:sp>
        <p:nvSpPr>
          <p:cNvPr id="19" name="">
            <a:extLst xmlns:a="http://schemas.openxmlformats.org/drawingml/2006/main">
              <a:ext uri="{FF2B5EF4-FFF2-40B4-BE49-F238E27FC236}">
                <a16:creationId xmlns:a16="http://schemas.microsoft.com/office/drawing/2014/main" id="{9545ED21-3E10-4E50-9C00-56F968E706E6}"/>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248776064"/>
      </p:ext>
    </p:extLst>
  </p:cSld>
</p:sld>
</file>

<file path=ppt/slides/slide13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6C86081-DCDD-43D2-97C1-57553815D03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ST-11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140E0BDF-1414-4E0E-925F-FDBF6F23588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ESG 증빙·공시 검토 지원</a:t>
            </a:r>
          </a:p>
        </p:txBody>
      </p:sp>
      <p:sp>
        <p:nvSpPr>
          <p:cNvPr id="3" name="">
            <a:extLst xmlns:a="http://schemas.openxmlformats.org/drawingml/2006/main">
              <a:ext uri="{FF2B5EF4-FFF2-40B4-BE49-F238E27FC236}">
                <a16:creationId xmlns:a16="http://schemas.microsoft.com/office/drawing/2014/main" id="{97844680-6C85-4B50-B06A-97C55F377D3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B13F4A3-135B-4516-9C59-6C9E4C518F4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56E20F0-D275-49CD-8DBF-1DE16C029A7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136</a:t>
            </a:r>
          </a:p>
        </p:txBody>
      </p:sp>
      <p:sp>
        <p:nvSpPr>
          <p:cNvPr id="6" name="">
            <a:extLst xmlns:a="http://schemas.openxmlformats.org/drawingml/2006/main">
              <a:ext uri="{FF2B5EF4-FFF2-40B4-BE49-F238E27FC236}">
                <a16:creationId xmlns:a16="http://schemas.microsoft.com/office/drawing/2014/main" id="{644FC89B-132B-4526-B31A-7F5C9D241DF8}"/>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지속가능 ESG 경영성과 실현</a:t>
            </a:r>
          </a:p>
        </p:txBody>
      </p:sp>
      <p:sp>
        <p:nvSpPr>
          <p:cNvPr id="7" name="">
            <a:extLst xmlns:a="http://schemas.openxmlformats.org/drawingml/2006/main">
              <a:ext uri="{FF2B5EF4-FFF2-40B4-BE49-F238E27FC236}">
                <a16:creationId xmlns:a16="http://schemas.microsoft.com/office/drawing/2014/main" id="{CC51BEC0-3075-41D6-B782-B4DF27511FB1}"/>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080FF83-39B7-4555-8787-0D43F0744129}"/>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ESG경영처</a:t>
            </a:r>
          </a:p>
        </p:txBody>
      </p:sp>
      <p:sp>
        <p:nvSpPr>
          <p:cNvPr id="9" name="">
            <a:extLst xmlns:a="http://schemas.openxmlformats.org/drawingml/2006/main">
              <a:ext uri="{FF2B5EF4-FFF2-40B4-BE49-F238E27FC236}">
                <a16:creationId xmlns:a16="http://schemas.microsoft.com/office/drawing/2014/main" id="{9EE72151-D07F-4A72-B90D-930E1ABD7470}"/>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ESG 총괄·보고서</a:t>
            </a:r>
          </a:p>
        </p:txBody>
      </p:sp>
      <p:sp>
        <p:nvSpPr>
          <p:cNvPr id="10" name="">
            <a:extLst xmlns:a="http://schemas.openxmlformats.org/drawingml/2006/main">
              <a:ext uri="{FF2B5EF4-FFF2-40B4-BE49-F238E27FC236}">
                <a16:creationId xmlns:a16="http://schemas.microsoft.com/office/drawing/2014/main" id="{E691753D-AF18-475F-8CE7-F0124613F58B}"/>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ESG․지속가능․윤리․인권경영에 관한 업무 총괄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지속가능경영보고서(ESG보고서) 발간에 관한 업무</a:t>
            </a:r>
          </a:p>
        </p:txBody>
      </p:sp>
      <p:sp>
        <p:nvSpPr>
          <p:cNvPr id="11" name="">
            <a:extLst xmlns:a="http://schemas.openxmlformats.org/drawingml/2006/main">
              <a:ext uri="{FF2B5EF4-FFF2-40B4-BE49-F238E27FC236}">
                <a16:creationId xmlns:a16="http://schemas.microsoft.com/office/drawing/2014/main" id="{A11F61C3-F0D6-4EFC-9621-222425A10CC8}"/>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C58BE5D-4319-48AE-9087-953C72AEDBFB}"/>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안전보건실</a:t>
            </a:r>
          </a:p>
        </p:txBody>
      </p:sp>
      <p:sp>
        <p:nvSpPr>
          <p:cNvPr id="13" name="">
            <a:extLst xmlns:a="http://schemas.openxmlformats.org/drawingml/2006/main">
              <a:ext uri="{FF2B5EF4-FFF2-40B4-BE49-F238E27FC236}">
                <a16:creationId xmlns:a16="http://schemas.microsoft.com/office/drawing/2014/main" id="{F7A8E888-E2E5-49F6-85BD-790552DA4E8E}"/>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안전경영 성과관리</a:t>
            </a:r>
          </a:p>
        </p:txBody>
      </p:sp>
      <p:sp>
        <p:nvSpPr>
          <p:cNvPr id="14" name="">
            <a:extLst xmlns:a="http://schemas.openxmlformats.org/drawingml/2006/main">
              <a:ext uri="{FF2B5EF4-FFF2-40B4-BE49-F238E27FC236}">
                <a16:creationId xmlns:a16="http://schemas.microsoft.com/office/drawing/2014/main" id="{0B107520-08D6-4010-8361-965FB33CF4C1}"/>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안전경영 성과관리 및 안전촉진 활동에 관한 업무</a:t>
            </a:r>
          </a:p>
        </p:txBody>
      </p:sp>
      <p:sp>
        <p:nvSpPr>
          <p:cNvPr id="15" name="">
            <a:extLst xmlns:a="http://schemas.openxmlformats.org/drawingml/2006/main">
              <a:ext uri="{FF2B5EF4-FFF2-40B4-BE49-F238E27FC236}">
                <a16:creationId xmlns:a16="http://schemas.microsoft.com/office/drawing/2014/main" id="{FE3E8811-4A59-4B43-B37B-74DD46FB7DD1}"/>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475E66C-5893-4AB6-A4BD-1B2F36D2B3E0}"/>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기후탄소물류처</a:t>
            </a:r>
          </a:p>
        </p:txBody>
      </p:sp>
      <p:sp>
        <p:nvSpPr>
          <p:cNvPr id="17" name="">
            <a:extLst xmlns:a="http://schemas.openxmlformats.org/drawingml/2006/main">
              <a:ext uri="{FF2B5EF4-FFF2-40B4-BE49-F238E27FC236}">
                <a16:creationId xmlns:a16="http://schemas.microsoft.com/office/drawing/2014/main" id="{6043D922-1D29-4799-9983-3131E1E783D6}"/>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교통물류 정책자료</a:t>
            </a:r>
          </a:p>
        </p:txBody>
      </p:sp>
      <p:sp>
        <p:nvSpPr>
          <p:cNvPr id="18" name="">
            <a:extLst xmlns:a="http://schemas.openxmlformats.org/drawingml/2006/main">
              <a:ext uri="{FF2B5EF4-FFF2-40B4-BE49-F238E27FC236}">
                <a16:creationId xmlns:a16="http://schemas.microsoft.com/office/drawing/2014/main" id="{63851A42-CA6A-4A37-A1F1-4D8DC68E3175}"/>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교통물류 정책관련 연구‧사업 업무</a:t>
            </a:r>
          </a:p>
        </p:txBody>
      </p:sp>
      <p:sp>
        <p:nvSpPr>
          <p:cNvPr id="19" name="">
            <a:extLst xmlns:a="http://schemas.openxmlformats.org/drawingml/2006/main">
              <a:ext uri="{FF2B5EF4-FFF2-40B4-BE49-F238E27FC236}">
                <a16:creationId xmlns:a16="http://schemas.microsoft.com/office/drawing/2014/main" id="{13F8A1DF-8FC7-4FCC-875C-73749D12DD2E}"/>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BD32F89-52E1-484D-90DC-68503C600489}"/>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재정회계처</a:t>
            </a:r>
          </a:p>
        </p:txBody>
      </p:sp>
      <p:sp>
        <p:nvSpPr>
          <p:cNvPr id="21" name="">
            <a:extLst xmlns:a="http://schemas.openxmlformats.org/drawingml/2006/main">
              <a:ext uri="{FF2B5EF4-FFF2-40B4-BE49-F238E27FC236}">
                <a16:creationId xmlns:a16="http://schemas.microsoft.com/office/drawing/2014/main" id="{B9A93DBB-0163-4449-9370-11E6243E0FE5}"/>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회계·계약 증빙</a:t>
            </a:r>
          </a:p>
        </p:txBody>
      </p:sp>
      <p:sp>
        <p:nvSpPr>
          <p:cNvPr id="22" name="">
            <a:extLst xmlns:a="http://schemas.openxmlformats.org/drawingml/2006/main">
              <a:ext uri="{FF2B5EF4-FFF2-40B4-BE49-F238E27FC236}">
                <a16:creationId xmlns:a16="http://schemas.microsoft.com/office/drawing/2014/main" id="{8C27D26D-4581-40DD-A7CE-71F9A5633925}"/>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연간·월간 회계결산 및 연차 결산보고서 작성 보고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회계․계약관련 제도개선 및 회계감사·세무조사에 관한 사항</a:t>
            </a:r>
          </a:p>
        </p:txBody>
      </p:sp>
      <p:sp>
        <p:nvSpPr>
          <p:cNvPr id="23" name="">
            <a:extLst xmlns:a="http://schemas.openxmlformats.org/drawingml/2006/main">
              <a:ext uri="{FF2B5EF4-FFF2-40B4-BE49-F238E27FC236}">
                <a16:creationId xmlns:a16="http://schemas.microsoft.com/office/drawing/2014/main" id="{1590E4E6-CA8E-42A5-BC73-4951C6A92D84}"/>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538561305"/>
      </p:ext>
    </p:extLst>
  </p:cSld>
</p:sld>
</file>

<file path=ppt/slides/slide13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A560C7C-E104-4B5D-A9FB-BCB2C23568C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ST-11 / CCK 재사용·추가 개발·검수·기대효과</a:t>
            </a:r>
          </a:p>
        </p:txBody>
      </p:sp>
      <p:sp>
        <p:nvSpPr>
          <p:cNvPr id="2" name="">
            <a:extLst xmlns:a="http://schemas.openxmlformats.org/drawingml/2006/main">
              <a:ext uri="{FF2B5EF4-FFF2-40B4-BE49-F238E27FC236}">
                <a16:creationId xmlns:a16="http://schemas.microsoft.com/office/drawing/2014/main" id="{E15FFB3A-A9F7-4C85-B444-C41A1295BD9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ESG 증빙·공시 검토 지원</a:t>
            </a:r>
          </a:p>
        </p:txBody>
      </p:sp>
      <p:sp>
        <p:nvSpPr>
          <p:cNvPr id="3" name="">
            <a:extLst xmlns:a="http://schemas.openxmlformats.org/drawingml/2006/main">
              <a:ext uri="{FF2B5EF4-FFF2-40B4-BE49-F238E27FC236}">
                <a16:creationId xmlns:a16="http://schemas.microsoft.com/office/drawing/2014/main" id="{A6CC4F3F-D1A8-4DC0-8748-967DEBC8549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E2BEA67-20F3-4A4C-9B2A-C8B9C9FFA63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570327F-46CA-407F-9D8B-757840DA0C7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137</a:t>
            </a:r>
          </a:p>
        </p:txBody>
      </p:sp>
      <p:sp>
        <p:nvSpPr>
          <p:cNvPr id="6" name="">
            <a:extLst xmlns:a="http://schemas.openxmlformats.org/drawingml/2006/main">
              <a:ext uri="{FF2B5EF4-FFF2-40B4-BE49-F238E27FC236}">
                <a16:creationId xmlns:a16="http://schemas.microsoft.com/office/drawing/2014/main" id="{04E2ADE5-696D-46D9-B8A6-1CE6AA1EC8FB}"/>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E005D53F-9EB3-4199-8B23-83BC1A9E4E71}"/>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공시 초안·근거 검색</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Audin·Torus의 증빙·검토 기록</a:t>
            </a:r>
          </a:p>
        </p:txBody>
      </p:sp>
      <p:sp>
        <p:nvSpPr>
          <p:cNvPr id="8" name="">
            <a:extLst xmlns:a="http://schemas.openxmlformats.org/drawingml/2006/main">
              <a:ext uri="{FF2B5EF4-FFF2-40B4-BE49-F238E27FC236}">
                <a16:creationId xmlns:a16="http://schemas.microsoft.com/office/drawing/2014/main" id="{4002F740-5A77-4692-9F32-1290F3A7C960}"/>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9D8ED06A-FA07-4635-B11C-BA0940604920}"/>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지표–원천–검토자 연결표</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중복 증빙·산식·공시 판본 검증</a:t>
            </a:r>
          </a:p>
        </p:txBody>
      </p:sp>
      <p:sp>
        <p:nvSpPr>
          <p:cNvPr id="10" name="">
            <a:extLst xmlns:a="http://schemas.openxmlformats.org/drawingml/2006/main">
              <a:ext uri="{FF2B5EF4-FFF2-40B4-BE49-F238E27FC236}">
                <a16:creationId xmlns:a16="http://schemas.microsoft.com/office/drawing/2014/main" id="{6030C162-1E89-49F2-8EA8-78627B175273}"/>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7F509D6C-91D3-4DFB-8EEA-5B1B27FF18C8}"/>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공시 근거 누락·검토시간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근거 추적 가능 지표 수 ÷ 대상 지표 수 / 공시 검토 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요시간</a:t>
            </a:r>
          </a:p>
        </p:txBody>
      </p:sp>
      <p:sp>
        <p:nvSpPr>
          <p:cNvPr id="12" name="">
            <a:extLst xmlns:a="http://schemas.openxmlformats.org/drawingml/2006/main">
              <a:ext uri="{FF2B5EF4-FFF2-40B4-BE49-F238E27FC236}">
                <a16:creationId xmlns:a16="http://schemas.microsoft.com/office/drawing/2014/main" id="{9A702A80-F5CC-4A76-8F1F-E8AC82C4608D}"/>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A66F97BF-EBF9-4503-9016-D7DFAC1CE2B1}"/>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중복 실적, 다른 기간 증빙, 근거 없는 수치</a:t>
            </a:r>
          </a:p>
        </p:txBody>
      </p:sp>
      <p:sp>
        <p:nvSpPr>
          <p:cNvPr id="14" name="">
            <a:extLst xmlns:a="http://schemas.openxmlformats.org/drawingml/2006/main">
              <a:ext uri="{FF2B5EF4-FFF2-40B4-BE49-F238E27FC236}">
                <a16:creationId xmlns:a16="http://schemas.microsoft.com/office/drawing/2014/main" id="{EB30809B-1F8E-498F-857F-9A6980965926}"/>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F5DD53CE-D71D-445E-A2AB-B062B560CCA7}"/>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중복 제외·원천 재현·미비 공시 보류</a:t>
            </a:r>
          </a:p>
        </p:txBody>
      </p:sp>
      <p:sp>
        <p:nvSpPr>
          <p:cNvPr id="16" name="">
            <a:extLst xmlns:a="http://schemas.openxmlformats.org/drawingml/2006/main">
              <a:ext uri="{FF2B5EF4-FFF2-40B4-BE49-F238E27FC236}">
                <a16:creationId xmlns:a16="http://schemas.microsoft.com/office/drawing/2014/main" id="{2AD70C4C-000B-4A39-8ECF-EB5F4E992B26}"/>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8478F70B-8015-4AD3-B9F6-73239BF404A7}"/>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지표별 증빙대장·계산 대사·검토 이력</a:t>
            </a:r>
          </a:p>
        </p:txBody>
      </p:sp>
      <p:sp>
        <p:nvSpPr>
          <p:cNvPr id="18" name="">
            <a:extLst xmlns:a="http://schemas.openxmlformats.org/drawingml/2006/main">
              <a:ext uri="{FF2B5EF4-FFF2-40B4-BE49-F238E27FC236}">
                <a16:creationId xmlns:a16="http://schemas.microsoft.com/office/drawing/2014/main" id="{22AB1047-437C-4682-ABE9-324A253B3F49}"/>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BM-ST-11-R01 / BM-ST-11-T01</a:t>
            </a:r>
          </a:p>
        </p:txBody>
      </p:sp>
      <p:sp>
        <p:nvSpPr>
          <p:cNvPr id="19" name="">
            <a:extLst xmlns:a="http://schemas.openxmlformats.org/drawingml/2006/main">
              <a:ext uri="{FF2B5EF4-FFF2-40B4-BE49-F238E27FC236}">
                <a16:creationId xmlns:a16="http://schemas.microsoft.com/office/drawing/2014/main" id="{2FF6C6AD-3B02-4D5E-B4E3-B767ABF8BB39}"/>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1944509113"/>
      </p:ext>
    </p:extLst>
  </p:cSld>
</p:sld>
</file>

<file path=ppt/slides/slide13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DE2BEF2-DEC1-403C-9378-87CFF06C5D1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ST-12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E4CD0932-1E1D-4AD0-93ED-BB344572EAE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협업·참여·공정성 지원</a:t>
            </a:r>
          </a:p>
        </p:txBody>
      </p:sp>
      <p:sp>
        <p:nvSpPr>
          <p:cNvPr id="3" name="">
            <a:extLst xmlns:a="http://schemas.openxmlformats.org/drawingml/2006/main">
              <a:ext uri="{FF2B5EF4-FFF2-40B4-BE49-F238E27FC236}">
                <a16:creationId xmlns:a16="http://schemas.microsoft.com/office/drawing/2014/main" id="{9C6E9ECF-3F58-42D3-9D43-2D32E7B1FCB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69E033B-4979-4413-B856-8D872583325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D6B9787-E145-4C42-8425-592831D8ABC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138</a:t>
            </a:r>
          </a:p>
        </p:txBody>
      </p:sp>
      <p:sp>
        <p:nvSpPr>
          <p:cNvPr id="6" name="">
            <a:extLst xmlns:a="http://schemas.openxmlformats.org/drawingml/2006/main">
              <a:ext uri="{FF2B5EF4-FFF2-40B4-BE49-F238E27FC236}">
                <a16:creationId xmlns:a16="http://schemas.microsoft.com/office/drawing/2014/main" id="{3AC127B5-D5BF-4CC2-B053-13073051B5CF}"/>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자율·참여·소통·공정 조직문화 조성</a:t>
            </a:r>
          </a:p>
        </p:txBody>
      </p:sp>
      <p:sp>
        <p:nvSpPr>
          <p:cNvPr id="7" name="">
            <a:extLst xmlns:a="http://schemas.openxmlformats.org/drawingml/2006/main">
              <a:ext uri="{FF2B5EF4-FFF2-40B4-BE49-F238E27FC236}">
                <a16:creationId xmlns:a16="http://schemas.microsoft.com/office/drawing/2014/main" id="{2F167F64-B69C-4540-81E0-5CBBA618110E}"/>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F3833A7-2727-4FF7-BAAD-7C7D9D2415E5}"/>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인재개발처</a:t>
            </a:r>
          </a:p>
        </p:txBody>
      </p:sp>
      <p:sp>
        <p:nvSpPr>
          <p:cNvPr id="9" name="">
            <a:extLst xmlns:a="http://schemas.openxmlformats.org/drawingml/2006/main">
              <a:ext uri="{FF2B5EF4-FFF2-40B4-BE49-F238E27FC236}">
                <a16:creationId xmlns:a16="http://schemas.microsoft.com/office/drawing/2014/main" id="{C0A5938A-65B0-47B7-A4CF-13CE4582C7B3}"/>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인사·직무교육</a:t>
            </a:r>
          </a:p>
        </p:txBody>
      </p:sp>
      <p:sp>
        <p:nvSpPr>
          <p:cNvPr id="10" name="">
            <a:extLst xmlns:a="http://schemas.openxmlformats.org/drawingml/2006/main">
              <a:ext uri="{FF2B5EF4-FFF2-40B4-BE49-F238E27FC236}">
                <a16:creationId xmlns:a16="http://schemas.microsoft.com/office/drawing/2014/main" id="{D964F216-0031-4502-B94D-6E22BFA2445C}"/>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직원의 채용, 승진, 전보 등 임용 및 보직에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9. 직무교육, 계층교육, 자기계발교육 등 교육훈련 업무 총괄</a:t>
            </a:r>
          </a:p>
        </p:txBody>
      </p:sp>
      <p:sp>
        <p:nvSpPr>
          <p:cNvPr id="11" name="">
            <a:extLst xmlns:a="http://schemas.openxmlformats.org/drawingml/2006/main">
              <a:ext uri="{FF2B5EF4-FFF2-40B4-BE49-F238E27FC236}">
                <a16:creationId xmlns:a16="http://schemas.microsoft.com/office/drawing/2014/main" id="{907E6D9E-322C-4D3E-8773-5C507FE6083F}"/>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B9C6C80-5E3A-40EE-ABB6-0593A1BDD06E}"/>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운영지원처</a:t>
            </a:r>
          </a:p>
        </p:txBody>
      </p:sp>
      <p:sp>
        <p:nvSpPr>
          <p:cNvPr id="13" name="">
            <a:extLst xmlns:a="http://schemas.openxmlformats.org/drawingml/2006/main">
              <a:ext uri="{FF2B5EF4-FFF2-40B4-BE49-F238E27FC236}">
                <a16:creationId xmlns:a16="http://schemas.microsoft.com/office/drawing/2014/main" id="{41EE9360-8159-42A1-92F7-C7E8450D9BEC}"/>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문서·노사관계</a:t>
            </a:r>
          </a:p>
        </p:txBody>
      </p:sp>
      <p:sp>
        <p:nvSpPr>
          <p:cNvPr id="14" name="">
            <a:extLst xmlns:a="http://schemas.openxmlformats.org/drawingml/2006/main">
              <a:ext uri="{FF2B5EF4-FFF2-40B4-BE49-F238E27FC236}">
                <a16:creationId xmlns:a16="http://schemas.microsoft.com/office/drawing/2014/main" id="{F26FDD3B-E415-4710-ABD9-5C48844E5D73}"/>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문서의 접수·분류·수발·처리 및 보존관리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임금․단체협약 등 노사관계 업무에 관한 사항</a:t>
            </a:r>
          </a:p>
        </p:txBody>
      </p:sp>
      <p:sp>
        <p:nvSpPr>
          <p:cNvPr id="15" name="">
            <a:extLst xmlns:a="http://schemas.openxmlformats.org/drawingml/2006/main">
              <a:ext uri="{FF2B5EF4-FFF2-40B4-BE49-F238E27FC236}">
                <a16:creationId xmlns:a16="http://schemas.microsoft.com/office/drawing/2014/main" id="{9FB1A3F4-6E58-4E78-9DD4-55216AFD85CC}"/>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296B282-CBF2-4467-816D-B46DA3038CED}"/>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ESG경영처</a:t>
            </a:r>
          </a:p>
        </p:txBody>
      </p:sp>
      <p:sp>
        <p:nvSpPr>
          <p:cNvPr id="17" name="">
            <a:extLst xmlns:a="http://schemas.openxmlformats.org/drawingml/2006/main">
              <a:ext uri="{FF2B5EF4-FFF2-40B4-BE49-F238E27FC236}">
                <a16:creationId xmlns:a16="http://schemas.microsoft.com/office/drawing/2014/main" id="{B3B8FF1D-BF72-4319-9CFA-5B86CB623B00}"/>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기업문화·내부 소통</a:t>
            </a:r>
          </a:p>
        </p:txBody>
      </p:sp>
      <p:sp>
        <p:nvSpPr>
          <p:cNvPr id="18" name="">
            <a:extLst xmlns:a="http://schemas.openxmlformats.org/drawingml/2006/main">
              <a:ext uri="{FF2B5EF4-FFF2-40B4-BE49-F238E27FC236}">
                <a16:creationId xmlns:a16="http://schemas.microsoft.com/office/drawing/2014/main" id="{09BA5077-D712-4CD2-BEAD-022F5A823008}"/>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기업문화에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내부 소통 채널 운영</a:t>
            </a:r>
          </a:p>
        </p:txBody>
      </p:sp>
      <p:sp>
        <p:nvSpPr>
          <p:cNvPr id="19" name="">
            <a:extLst xmlns:a="http://schemas.openxmlformats.org/drawingml/2006/main">
              <a:ext uri="{FF2B5EF4-FFF2-40B4-BE49-F238E27FC236}">
                <a16:creationId xmlns:a16="http://schemas.microsoft.com/office/drawing/2014/main" id="{29BC53C7-5CD1-435C-A55A-42A304815539}"/>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7B1D77D-AF31-400A-8DA0-5768482C1396}"/>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AI혁신처</a:t>
            </a:r>
          </a:p>
        </p:txBody>
      </p:sp>
      <p:sp>
        <p:nvSpPr>
          <p:cNvPr id="21" name="">
            <a:extLst xmlns:a="http://schemas.openxmlformats.org/drawingml/2006/main">
              <a:ext uri="{FF2B5EF4-FFF2-40B4-BE49-F238E27FC236}">
                <a16:creationId xmlns:a16="http://schemas.microsoft.com/office/drawing/2014/main" id="{88DB91FA-6780-4B3F-B35B-3A91D58DCA78}"/>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AI 역량강화</a:t>
            </a:r>
          </a:p>
        </p:txBody>
      </p:sp>
      <p:sp>
        <p:nvSpPr>
          <p:cNvPr id="22" name="">
            <a:extLst xmlns:a="http://schemas.openxmlformats.org/drawingml/2006/main">
              <a:ext uri="{FF2B5EF4-FFF2-40B4-BE49-F238E27FC236}">
                <a16:creationId xmlns:a16="http://schemas.microsoft.com/office/drawing/2014/main" id="{373EDF5C-A813-4EE3-B44F-01AD84157E6D}"/>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임직원 인공지능(AI) 역량강화 교육 및 역량진단</a:t>
            </a:r>
          </a:p>
        </p:txBody>
      </p:sp>
      <p:sp>
        <p:nvSpPr>
          <p:cNvPr id="23" name="">
            <a:extLst xmlns:a="http://schemas.openxmlformats.org/drawingml/2006/main">
              <a:ext uri="{FF2B5EF4-FFF2-40B4-BE49-F238E27FC236}">
                <a16:creationId xmlns:a16="http://schemas.microsoft.com/office/drawing/2014/main" id="{21D8E0A9-2013-4D90-96B6-49871869DBC9}"/>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627571813"/>
      </p:ext>
    </p:extLst>
  </p:cSld>
</p:sld>
</file>

<file path=ppt/slides/slide13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C14DDCD-9AF0-42DF-A538-015D1569E4E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ST-12 / CCK 재사용·추가 개발·검수·기대효과</a:t>
            </a:r>
          </a:p>
        </p:txBody>
      </p:sp>
      <p:sp>
        <p:nvSpPr>
          <p:cNvPr id="2" name="">
            <a:extLst xmlns:a="http://schemas.openxmlformats.org/drawingml/2006/main">
              <a:ext uri="{FF2B5EF4-FFF2-40B4-BE49-F238E27FC236}">
                <a16:creationId xmlns:a16="http://schemas.microsoft.com/office/drawing/2014/main" id="{AE168DE3-A9BA-43B1-9AA6-B87DA2372CC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협업·참여·공정성 지원</a:t>
            </a:r>
          </a:p>
        </p:txBody>
      </p:sp>
      <p:sp>
        <p:nvSpPr>
          <p:cNvPr id="3" name="">
            <a:extLst xmlns:a="http://schemas.openxmlformats.org/drawingml/2006/main">
              <a:ext uri="{FF2B5EF4-FFF2-40B4-BE49-F238E27FC236}">
                <a16:creationId xmlns:a16="http://schemas.microsoft.com/office/drawing/2014/main" id="{08A61ACC-118F-4B08-886D-65ABE22E7E7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DD969C2-F526-405B-89B1-14B12AAB3B8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6034820-65CF-40A6-8F08-C3AFF6521F9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139</a:t>
            </a:r>
          </a:p>
        </p:txBody>
      </p:sp>
      <p:sp>
        <p:nvSpPr>
          <p:cNvPr id="6" name="">
            <a:extLst xmlns:a="http://schemas.openxmlformats.org/drawingml/2006/main">
              <a:ext uri="{FF2B5EF4-FFF2-40B4-BE49-F238E27FC236}">
                <a16:creationId xmlns:a16="http://schemas.microsoft.com/office/drawing/2014/main" id="{7C451A6F-7084-492C-99B5-6F77A456B553}"/>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2B08D053-72C1-4A68-AFAF-02D4F160C871}"/>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직무 지식 검색·요약</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Foundry·Torus의 인계 절차·기록 명세</a:t>
            </a:r>
          </a:p>
        </p:txBody>
      </p:sp>
      <p:sp>
        <p:nvSpPr>
          <p:cNvPr id="8" name="">
            <a:extLst xmlns:a="http://schemas.openxmlformats.org/drawingml/2006/main">
              <a:ext uri="{FF2B5EF4-FFF2-40B4-BE49-F238E27FC236}">
                <a16:creationId xmlns:a16="http://schemas.microsoft.com/office/drawing/2014/main" id="{8A456525-CA37-410E-B4BB-E53DA95AD69D}"/>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5D0E75A2-B3F0-4FCD-8DB4-24BE7DFA31CB}"/>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겸직·대행·전보별 인계 규칙</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민감 의견 분리·수락/회수 추적</a:t>
            </a:r>
          </a:p>
        </p:txBody>
      </p:sp>
      <p:sp>
        <p:nvSpPr>
          <p:cNvPr id="10" name="">
            <a:extLst xmlns:a="http://schemas.openxmlformats.org/drawingml/2006/main">
              <a:ext uri="{FF2B5EF4-FFF2-40B4-BE49-F238E27FC236}">
                <a16:creationId xmlns:a16="http://schemas.microsoft.com/office/drawing/2014/main" id="{F62EB022-1942-4372-8DFE-06633DADB97D}"/>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F1809A14-FB5A-4719-9471-2614381A8087}"/>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인계 누락·담당자 탐색시간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인계 수락까지 소요시간 / 누락 업무 수 ÷ 대상 업무 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부서별 오류율 차이</a:t>
            </a:r>
          </a:p>
        </p:txBody>
      </p:sp>
      <p:sp>
        <p:nvSpPr>
          <p:cNvPr id="12" name="">
            <a:extLst xmlns:a="http://schemas.openxmlformats.org/drawingml/2006/main">
              <a:ext uri="{FF2B5EF4-FFF2-40B4-BE49-F238E27FC236}">
                <a16:creationId xmlns:a16="http://schemas.microsoft.com/office/drawing/2014/main" id="{8C1C28D8-0277-4F34-BA9C-4F7ACE43DDCE}"/>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49375378-2574-4BE5-AE3E-E439E2AD4D92}"/>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전보 당일, 기간 만료 대행, 민감 의견, 미수락 인계</a:t>
            </a:r>
          </a:p>
        </p:txBody>
      </p:sp>
      <p:sp>
        <p:nvSpPr>
          <p:cNvPr id="14" name="">
            <a:extLst xmlns:a="http://schemas.openxmlformats.org/drawingml/2006/main">
              <a:ext uri="{FF2B5EF4-FFF2-40B4-BE49-F238E27FC236}">
                <a16:creationId xmlns:a16="http://schemas.microsoft.com/office/drawing/2014/main" id="{A2F8FB47-3D9C-4BB7-B55C-447FD90640C5}"/>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3E816A65-176D-458E-8089-195326653ECD}"/>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전임 접근 회수·겸직 맥락 확인·의견 비노출·미수락 </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유지</a:t>
            </a:r>
          </a:p>
        </p:txBody>
      </p:sp>
      <p:sp>
        <p:nvSpPr>
          <p:cNvPr id="16" name="">
            <a:extLst xmlns:a="http://schemas.openxmlformats.org/drawingml/2006/main">
              <a:ext uri="{FF2B5EF4-FFF2-40B4-BE49-F238E27FC236}">
                <a16:creationId xmlns:a16="http://schemas.microsoft.com/office/drawing/2014/main" id="{4E8DC518-7E8C-4793-85E5-18B427BCE447}"/>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5AF9E786-EB16-4CE4-BF5C-BA508C9E2B79}"/>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변경 전후 권한표·인계 수락 기록·거부셋 결과</a:t>
            </a:r>
          </a:p>
        </p:txBody>
      </p:sp>
      <p:sp>
        <p:nvSpPr>
          <p:cNvPr id="18" name="">
            <a:extLst xmlns:a="http://schemas.openxmlformats.org/drawingml/2006/main">
              <a:ext uri="{FF2B5EF4-FFF2-40B4-BE49-F238E27FC236}">
                <a16:creationId xmlns:a16="http://schemas.microsoft.com/office/drawing/2014/main" id="{811802E0-C7D7-4654-9A9F-3910B264F238}"/>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BM-ST-12-R01 / BM-ST-12-T01</a:t>
            </a:r>
          </a:p>
        </p:txBody>
      </p:sp>
      <p:sp>
        <p:nvSpPr>
          <p:cNvPr id="19" name="">
            <a:extLst xmlns:a="http://schemas.openxmlformats.org/drawingml/2006/main">
              <a:ext uri="{FF2B5EF4-FFF2-40B4-BE49-F238E27FC236}">
                <a16:creationId xmlns:a16="http://schemas.microsoft.com/office/drawing/2014/main" id="{B100B3E3-C0C4-4766-A410-F8EB3E017604}"/>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652803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2026-10-16T13:56:13.7120000Z</dcterms:created>
  <dcterms:modified xsi:type="dcterms:W3CDTF">2026-10-16T13:56:13.7120000Z</dcterms:modified>
</coreProperties>
</file>