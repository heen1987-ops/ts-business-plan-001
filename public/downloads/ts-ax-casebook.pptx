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cb37ab73cf42e4" /><Relationship Type="http://schemas.openxmlformats.org/officeDocument/2006/relationships/extended-properties" Target="/docProps/app.xml" Id="R5025cb4a747e497c" /><Relationship Type="http://schemas.openxmlformats.org/officeDocument/2006/relationships/officeDocument" Target="/ppt/presentation.xml" Id="Rd093c812f2a346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1ce4ad3c594533"/>
  </p:sldMasterIdLst>
  <p:notesMasterIdLst>
    <p:notesMasterId xmlns:r="http://schemas.openxmlformats.org/officeDocument/2006/relationships" r:id="Ra84e1598897145b6"/>
  </p:notesMasterIdLst>
  <p:sldIdLst>
    <p:sldId xmlns:r="http://schemas.openxmlformats.org/officeDocument/2006/relationships" id="256" r:id="Ra5031777800b4c9e"/>
    <p:sldId xmlns:r="http://schemas.openxmlformats.org/officeDocument/2006/relationships" id="257" r:id="R15f47b97d6e046fb"/>
    <p:sldId xmlns:r="http://schemas.openxmlformats.org/officeDocument/2006/relationships" id="258" r:id="Rf069731dc12349c9"/>
    <p:sldId xmlns:r="http://schemas.openxmlformats.org/officeDocument/2006/relationships" id="259" r:id="Rfd087c02523a43e2"/>
    <p:sldId xmlns:r="http://schemas.openxmlformats.org/officeDocument/2006/relationships" id="260" r:id="R2435605233d4406d"/>
    <p:sldId xmlns:r="http://schemas.openxmlformats.org/officeDocument/2006/relationships" id="261" r:id="Rf49e299a7b43410d"/>
    <p:sldId xmlns:r="http://schemas.openxmlformats.org/officeDocument/2006/relationships" id="262" r:id="R8a3a39831dbe41f7"/>
    <p:sldId xmlns:r="http://schemas.openxmlformats.org/officeDocument/2006/relationships" id="263" r:id="R1b4288c295ca4126"/>
    <p:sldId xmlns:r="http://schemas.openxmlformats.org/officeDocument/2006/relationships" id="264" r:id="R6ac2bbc6e14643ac"/>
    <p:sldId xmlns:r="http://schemas.openxmlformats.org/officeDocument/2006/relationships" id="265" r:id="R37d8d0d629f84c05"/>
    <p:sldId xmlns:r="http://schemas.openxmlformats.org/officeDocument/2006/relationships" id="266" r:id="R0e80c543809b4232"/>
    <p:sldId xmlns:r="http://schemas.openxmlformats.org/officeDocument/2006/relationships" id="267" r:id="R578441d6301a4ccf"/>
    <p:sldId xmlns:r="http://schemas.openxmlformats.org/officeDocument/2006/relationships" id="268" r:id="Rbd868f48411d4446"/>
    <p:sldId xmlns:r="http://schemas.openxmlformats.org/officeDocument/2006/relationships" id="269" r:id="R29c4fb6160c14e35"/>
    <p:sldId xmlns:r="http://schemas.openxmlformats.org/officeDocument/2006/relationships" id="270" r:id="R93367378c2204096"/>
    <p:sldId xmlns:r="http://schemas.openxmlformats.org/officeDocument/2006/relationships" id="271" r:id="R89ce8b9440764e78"/>
    <p:sldId xmlns:r="http://schemas.openxmlformats.org/officeDocument/2006/relationships" id="272" r:id="R190d65fab2be4a15"/>
    <p:sldId xmlns:r="http://schemas.openxmlformats.org/officeDocument/2006/relationships" id="273" r:id="Rf6855617a6d14d50"/>
    <p:sldId xmlns:r="http://schemas.openxmlformats.org/officeDocument/2006/relationships" id="274" r:id="R14f070eca6b04926"/>
    <p:sldId xmlns:r="http://schemas.openxmlformats.org/officeDocument/2006/relationships" id="275" r:id="Re1dcd44e8bf94ea6"/>
    <p:sldId xmlns:r="http://schemas.openxmlformats.org/officeDocument/2006/relationships" id="276" r:id="Rd442dc2e460047ec"/>
    <p:sldId xmlns:r="http://schemas.openxmlformats.org/officeDocument/2006/relationships" id="277" r:id="R10722ee92bbc4a14"/>
    <p:sldId xmlns:r="http://schemas.openxmlformats.org/officeDocument/2006/relationships" id="278" r:id="R9d2a36aa37be4ae8"/>
    <p:sldId xmlns:r="http://schemas.openxmlformats.org/officeDocument/2006/relationships" id="279" r:id="R414675c685f74773"/>
    <p:sldId xmlns:r="http://schemas.openxmlformats.org/officeDocument/2006/relationships" id="280" r:id="Ra0c98ac3261a4bc6"/>
    <p:sldId xmlns:r="http://schemas.openxmlformats.org/officeDocument/2006/relationships" id="281" r:id="R957479c926a54570"/>
    <p:sldId xmlns:r="http://schemas.openxmlformats.org/officeDocument/2006/relationships" id="282" r:id="Ra37381d791fa431e"/>
    <p:sldId xmlns:r="http://schemas.openxmlformats.org/officeDocument/2006/relationships" id="283" r:id="Rb4e68d1ca2834e8b"/>
    <p:sldId xmlns:r="http://schemas.openxmlformats.org/officeDocument/2006/relationships" id="284" r:id="R2c12a7503d2c46c3"/>
    <p:sldId xmlns:r="http://schemas.openxmlformats.org/officeDocument/2006/relationships" id="285" r:id="R98166d48092440ae"/>
    <p:sldId xmlns:r="http://schemas.openxmlformats.org/officeDocument/2006/relationships" id="286" r:id="Re7ff01d80ca74c0a"/>
    <p:sldId xmlns:r="http://schemas.openxmlformats.org/officeDocument/2006/relationships" id="287" r:id="R9b17d4c2dc89466c"/>
    <p:sldId xmlns:r="http://schemas.openxmlformats.org/officeDocument/2006/relationships" id="288" r:id="Rbe334eac773a408e"/>
    <p:sldId xmlns:r="http://schemas.openxmlformats.org/officeDocument/2006/relationships" id="289" r:id="Rd9988f4900d74380"/>
    <p:sldId xmlns:r="http://schemas.openxmlformats.org/officeDocument/2006/relationships" id="290" r:id="R3a6a5da79ced4592"/>
    <p:sldId xmlns:r="http://schemas.openxmlformats.org/officeDocument/2006/relationships" id="291" r:id="R116992f43ef84424"/>
    <p:sldId xmlns:r="http://schemas.openxmlformats.org/officeDocument/2006/relationships" id="292" r:id="Ra877a76acd844cc5"/>
    <p:sldId xmlns:r="http://schemas.openxmlformats.org/officeDocument/2006/relationships" id="293" r:id="Rb5e681f4e73b462e"/>
    <p:sldId xmlns:r="http://schemas.openxmlformats.org/officeDocument/2006/relationships" id="294" r:id="R6dc15b2028164a0b"/>
    <p:sldId xmlns:r="http://schemas.openxmlformats.org/officeDocument/2006/relationships" id="295" r:id="R101ffe9769584399"/>
    <p:sldId xmlns:r="http://schemas.openxmlformats.org/officeDocument/2006/relationships" id="296" r:id="Re3457b87a2db41ee"/>
    <p:sldId xmlns:r="http://schemas.openxmlformats.org/officeDocument/2006/relationships" id="297" r:id="Rd20d00a9d5504064"/>
    <p:sldId xmlns:r="http://schemas.openxmlformats.org/officeDocument/2006/relationships" id="298" r:id="R262bd9afce4c434b"/>
    <p:sldId xmlns:r="http://schemas.openxmlformats.org/officeDocument/2006/relationships" id="299" r:id="Rf453a92c8f9e4028"/>
    <p:sldId xmlns:r="http://schemas.openxmlformats.org/officeDocument/2006/relationships" id="300" r:id="Rd52b38794eb34f4e"/>
    <p:sldId xmlns:r="http://schemas.openxmlformats.org/officeDocument/2006/relationships" id="301" r:id="R98fefc2d39894307"/>
    <p:sldId xmlns:r="http://schemas.openxmlformats.org/officeDocument/2006/relationships" id="302" r:id="Rb4ba6ef5727f4374"/>
    <p:sldId xmlns:r="http://schemas.openxmlformats.org/officeDocument/2006/relationships" id="303" r:id="R0301bdb95e0e44ee"/>
    <p:sldId xmlns:r="http://schemas.openxmlformats.org/officeDocument/2006/relationships" id="304" r:id="R4da7f3f38a4e46d4"/>
    <p:sldId xmlns:r="http://schemas.openxmlformats.org/officeDocument/2006/relationships" id="305" r:id="R813360b01f0f4318"/>
    <p:sldId xmlns:r="http://schemas.openxmlformats.org/officeDocument/2006/relationships" id="306" r:id="R3568392cb05248da"/>
    <p:sldId xmlns:r="http://schemas.openxmlformats.org/officeDocument/2006/relationships" id="307" r:id="Re5a14cd961ac492b"/>
    <p:sldId xmlns:r="http://schemas.openxmlformats.org/officeDocument/2006/relationships" id="308" r:id="R88b8c00a96ab48fe"/>
    <p:sldId xmlns:r="http://schemas.openxmlformats.org/officeDocument/2006/relationships" id="309" r:id="R108fa7d9334d4660"/>
    <p:sldId xmlns:r="http://schemas.openxmlformats.org/officeDocument/2006/relationships" id="310" r:id="Re8df90c6a7d84476"/>
    <p:sldId xmlns:r="http://schemas.openxmlformats.org/officeDocument/2006/relationships" id="311" r:id="Re8fb8b53a15b41cb"/>
    <p:sldId xmlns:r="http://schemas.openxmlformats.org/officeDocument/2006/relationships" id="312" r:id="Rbbf72f8853194bfa"/>
    <p:sldId xmlns:r="http://schemas.openxmlformats.org/officeDocument/2006/relationships" id="313" r:id="R85db33f9a63b4eaa"/>
    <p:sldId xmlns:r="http://schemas.openxmlformats.org/officeDocument/2006/relationships" id="314" r:id="Rd64ade04a2064ad7"/>
    <p:sldId xmlns:r="http://schemas.openxmlformats.org/officeDocument/2006/relationships" id="315" r:id="Rd1a08705c61449fa"/>
    <p:sldId xmlns:r="http://schemas.openxmlformats.org/officeDocument/2006/relationships" id="316" r:id="R73b144c74e764608"/>
    <p:sldId xmlns:r="http://schemas.openxmlformats.org/officeDocument/2006/relationships" id="317" r:id="R317f09ec6db64238"/>
    <p:sldId xmlns:r="http://schemas.openxmlformats.org/officeDocument/2006/relationships" id="318" r:id="R2bb71889a6304042"/>
    <p:sldId xmlns:r="http://schemas.openxmlformats.org/officeDocument/2006/relationships" id="319" r:id="R05cf1890e4e34c98"/>
    <p:sldId xmlns:r="http://schemas.openxmlformats.org/officeDocument/2006/relationships" id="320" r:id="R62480ff15f494d85"/>
    <p:sldId xmlns:r="http://schemas.openxmlformats.org/officeDocument/2006/relationships" id="321" r:id="Rfc3802992c8547bf"/>
    <p:sldId xmlns:r="http://schemas.openxmlformats.org/officeDocument/2006/relationships" id="322" r:id="R85f497709bfc438b"/>
    <p:sldId xmlns:r="http://schemas.openxmlformats.org/officeDocument/2006/relationships" id="323" r:id="Ra97fbe92135a4543"/>
    <p:sldId xmlns:r="http://schemas.openxmlformats.org/officeDocument/2006/relationships" id="324" r:id="R157b8e8a936b4350"/>
    <p:sldId xmlns:r="http://schemas.openxmlformats.org/officeDocument/2006/relationships" id="325" r:id="R8335698f4c374512"/>
    <p:sldId xmlns:r="http://schemas.openxmlformats.org/officeDocument/2006/relationships" id="326" r:id="R386efec3141d4c05"/>
    <p:sldId xmlns:r="http://schemas.openxmlformats.org/officeDocument/2006/relationships" id="327" r:id="Refb19847aea843ae"/>
    <p:sldId xmlns:r="http://schemas.openxmlformats.org/officeDocument/2006/relationships" id="328" r:id="Rc529a082713a4c66"/>
    <p:sldId xmlns:r="http://schemas.openxmlformats.org/officeDocument/2006/relationships" id="329" r:id="Rbe7ba5eb749f4b94"/>
    <p:sldId xmlns:r="http://schemas.openxmlformats.org/officeDocument/2006/relationships" id="330" r:id="Rafbef4b0b27a4909"/>
    <p:sldId xmlns:r="http://schemas.openxmlformats.org/officeDocument/2006/relationships" id="331" r:id="R604fc852dc714733"/>
    <p:sldId xmlns:r="http://schemas.openxmlformats.org/officeDocument/2006/relationships" id="332" r:id="Rf24230e05d7a4942"/>
    <p:sldId xmlns:r="http://schemas.openxmlformats.org/officeDocument/2006/relationships" id="333" r:id="R5b705090420c4f3d"/>
    <p:sldId xmlns:r="http://schemas.openxmlformats.org/officeDocument/2006/relationships" id="334" r:id="Rd2cc9835c5fe4ce4"/>
    <p:sldId xmlns:r="http://schemas.openxmlformats.org/officeDocument/2006/relationships" id="335" r:id="R0d2c994636f94e33"/>
    <p:sldId xmlns:r="http://schemas.openxmlformats.org/officeDocument/2006/relationships" id="336" r:id="R0a05d506132a43ab"/>
    <p:sldId xmlns:r="http://schemas.openxmlformats.org/officeDocument/2006/relationships" id="337" r:id="R4d15e0b7a39b49f0"/>
    <p:sldId xmlns:r="http://schemas.openxmlformats.org/officeDocument/2006/relationships" id="338" r:id="R488a2c22a4d54d48"/>
    <p:sldId xmlns:r="http://schemas.openxmlformats.org/officeDocument/2006/relationships" id="339" r:id="R5de1e220b20a4715"/>
    <p:sldId xmlns:r="http://schemas.openxmlformats.org/officeDocument/2006/relationships" id="340" r:id="R7f5064865fc94578"/>
    <p:sldId xmlns:r="http://schemas.openxmlformats.org/officeDocument/2006/relationships" id="341" r:id="R75ba1b497d8041f1"/>
    <p:sldId xmlns:r="http://schemas.openxmlformats.org/officeDocument/2006/relationships" id="342" r:id="Ra9666e17b5be4523"/>
    <p:sldId xmlns:r="http://schemas.openxmlformats.org/officeDocument/2006/relationships" id="343" r:id="R360965f525604ce2"/>
    <p:sldId xmlns:r="http://schemas.openxmlformats.org/officeDocument/2006/relationships" id="344" r:id="R6ebc5a76c31e4131"/>
    <p:sldId xmlns:r="http://schemas.openxmlformats.org/officeDocument/2006/relationships" id="345" r:id="R57b0562e85e64f9a"/>
    <p:sldId xmlns:r="http://schemas.openxmlformats.org/officeDocument/2006/relationships" id="346" r:id="Rb9de10ea9bf942b3"/>
    <p:sldId xmlns:r="http://schemas.openxmlformats.org/officeDocument/2006/relationships" id="347" r:id="Rbb64cd15243f46a0"/>
    <p:sldId xmlns:r="http://schemas.openxmlformats.org/officeDocument/2006/relationships" id="348" r:id="Rcca1ec4f6fda45f7"/>
    <p:sldId xmlns:r="http://schemas.openxmlformats.org/officeDocument/2006/relationships" id="349" r:id="R887ddc8fb0054e55"/>
    <p:sldId xmlns:r="http://schemas.openxmlformats.org/officeDocument/2006/relationships" id="350" r:id="Rd834f07eea734b6b"/>
    <p:sldId xmlns:r="http://schemas.openxmlformats.org/officeDocument/2006/relationships" id="351" r:id="Rd2a4457de2bf4951"/>
    <p:sldId xmlns:r="http://schemas.openxmlformats.org/officeDocument/2006/relationships" id="352" r:id="R5521ec2d70494306"/>
    <p:sldId xmlns:r="http://schemas.openxmlformats.org/officeDocument/2006/relationships" id="353" r:id="Ree7594e25043456e"/>
    <p:sldId xmlns:r="http://schemas.openxmlformats.org/officeDocument/2006/relationships" id="354" r:id="R59896c0019d04d6b"/>
    <p:sldId xmlns:r="http://schemas.openxmlformats.org/officeDocument/2006/relationships" id="355" r:id="R8c9671948e5b4b1c"/>
    <p:sldId xmlns:r="http://schemas.openxmlformats.org/officeDocument/2006/relationships" id="356" r:id="R607d8ef3b6bf4f73"/>
    <p:sldId xmlns:r="http://schemas.openxmlformats.org/officeDocument/2006/relationships" id="357" r:id="R761bde78606e4e04"/>
    <p:sldId xmlns:r="http://schemas.openxmlformats.org/officeDocument/2006/relationships" id="358" r:id="Ra2fcf7eb33a54eb4"/>
    <p:sldId xmlns:r="http://schemas.openxmlformats.org/officeDocument/2006/relationships" id="359" r:id="Ra39b235d8fc34ffd"/>
    <p:sldId xmlns:r="http://schemas.openxmlformats.org/officeDocument/2006/relationships" id="360" r:id="R653f252a4a984b90"/>
    <p:sldId xmlns:r="http://schemas.openxmlformats.org/officeDocument/2006/relationships" id="361" r:id="R4dc673161a764b2d"/>
    <p:sldId xmlns:r="http://schemas.openxmlformats.org/officeDocument/2006/relationships" id="362" r:id="R3b168d7901e44846"/>
    <p:sldId xmlns:r="http://schemas.openxmlformats.org/officeDocument/2006/relationships" id="363" r:id="Re9d38c98e8ed40f5"/>
    <p:sldId xmlns:r="http://schemas.openxmlformats.org/officeDocument/2006/relationships" id="364" r:id="R13a4689310d94785"/>
    <p:sldId xmlns:r="http://schemas.openxmlformats.org/officeDocument/2006/relationships" id="365" r:id="R95b5db3303084fef"/>
    <p:sldId xmlns:r="http://schemas.openxmlformats.org/officeDocument/2006/relationships" id="366" r:id="R83d6eedd30b642f4"/>
    <p:sldId xmlns:r="http://schemas.openxmlformats.org/officeDocument/2006/relationships" id="367" r:id="R476e9f9742a64da1"/>
    <p:sldId xmlns:r="http://schemas.openxmlformats.org/officeDocument/2006/relationships" id="368" r:id="R030fda0d3a634741"/>
    <p:sldId xmlns:r="http://schemas.openxmlformats.org/officeDocument/2006/relationships" id="369" r:id="Raa41939c80c84143"/>
    <p:sldId xmlns:r="http://schemas.openxmlformats.org/officeDocument/2006/relationships" id="370" r:id="R0f6cec24851b4d72"/>
    <p:sldId xmlns:r="http://schemas.openxmlformats.org/officeDocument/2006/relationships" id="371" r:id="R9c164ac2e2594f47"/>
    <p:sldId xmlns:r="http://schemas.openxmlformats.org/officeDocument/2006/relationships" id="372" r:id="R2ffe7e38285645df"/>
    <p:sldId xmlns:r="http://schemas.openxmlformats.org/officeDocument/2006/relationships" id="373" r:id="R6fd33c041d0b4ad2"/>
    <p:sldId xmlns:r="http://schemas.openxmlformats.org/officeDocument/2006/relationships" id="374" r:id="R83e864231f934200"/>
    <p:sldId xmlns:r="http://schemas.openxmlformats.org/officeDocument/2006/relationships" id="375" r:id="R87966234c9a140f7"/>
    <p:sldId xmlns:r="http://schemas.openxmlformats.org/officeDocument/2006/relationships" id="376" r:id="Rfab7e6a8e9884065"/>
    <p:sldId xmlns:r="http://schemas.openxmlformats.org/officeDocument/2006/relationships" id="377" r:id="R809f05b2553c452f"/>
    <p:sldId xmlns:r="http://schemas.openxmlformats.org/officeDocument/2006/relationships" id="378" r:id="R886e30e0feac47ed"/>
    <p:sldId xmlns:r="http://schemas.openxmlformats.org/officeDocument/2006/relationships" id="379" r:id="Rc2cf6428fc114b0a"/>
    <p:sldId xmlns:r="http://schemas.openxmlformats.org/officeDocument/2006/relationships" id="380" r:id="R191f121b56e241bd"/>
    <p:sldId xmlns:r="http://schemas.openxmlformats.org/officeDocument/2006/relationships" id="381" r:id="R58c8d5cb55f446a6"/>
    <p:sldId xmlns:r="http://schemas.openxmlformats.org/officeDocument/2006/relationships" id="382" r:id="R73ddbc75eb6c42da"/>
    <p:sldId xmlns:r="http://schemas.openxmlformats.org/officeDocument/2006/relationships" id="383" r:id="R49b25bbfea4c4714"/>
    <p:sldId xmlns:r="http://schemas.openxmlformats.org/officeDocument/2006/relationships" id="384" r:id="R59d4a635e0a24d9a"/>
    <p:sldId xmlns:r="http://schemas.openxmlformats.org/officeDocument/2006/relationships" id="385" r:id="R2626fcd2a8374ad6"/>
    <p:sldId xmlns:r="http://schemas.openxmlformats.org/officeDocument/2006/relationships" id="386" r:id="R8018433b980b4079"/>
    <p:sldId xmlns:r="http://schemas.openxmlformats.org/officeDocument/2006/relationships" id="387" r:id="Rfeea31d5d0c24432"/>
    <p:sldId xmlns:r="http://schemas.openxmlformats.org/officeDocument/2006/relationships" id="388" r:id="R5c7076337e3b49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4b6afe7aa6400f" /><Relationship Type="http://schemas.openxmlformats.org/officeDocument/2006/relationships/slideMaster" Target="/ppt/slideMasters/slideMaster1.xml" Id="R3a1ce4ad3c594533" /><Relationship Type="http://schemas.openxmlformats.org/officeDocument/2006/relationships/notesMaster" Target="/ppt/notesMasters/notesMaster1.xml" Id="Ra84e1598897145b6" /><Relationship Type="http://schemas.openxmlformats.org/officeDocument/2006/relationships/presProps" Target="/ppt/presProps.xml" Id="Rc83bb311d8144787" /><Relationship Type="http://schemas.openxmlformats.org/officeDocument/2006/relationships/tableStyles" Target="/ppt/tableStyles.xml" Id="Rb7d7e3d1df1b459d" /><Relationship Type="http://schemas.openxmlformats.org/officeDocument/2006/relationships/slide" Target="/ppt/slides/slide1.xml" Id="Ra5031777800b4c9e" /><Relationship Type="http://schemas.openxmlformats.org/officeDocument/2006/relationships/slide" Target="/ppt/slides/slide2.xml" Id="R15f47b97d6e046fb" /><Relationship Type="http://schemas.openxmlformats.org/officeDocument/2006/relationships/slide" Target="/ppt/slides/slide3.xml" Id="Rf069731dc12349c9" /><Relationship Type="http://schemas.openxmlformats.org/officeDocument/2006/relationships/slide" Target="/ppt/slides/slide4.xml" Id="Rfd087c02523a43e2" /><Relationship Type="http://schemas.openxmlformats.org/officeDocument/2006/relationships/slide" Target="/ppt/slides/slide5.xml" Id="R2435605233d4406d" /><Relationship Type="http://schemas.openxmlformats.org/officeDocument/2006/relationships/slide" Target="/ppt/slides/slide6.xml" Id="Rf49e299a7b43410d" /><Relationship Type="http://schemas.openxmlformats.org/officeDocument/2006/relationships/slide" Target="/ppt/slides/slide7.xml" Id="R8a3a39831dbe41f7" /><Relationship Type="http://schemas.openxmlformats.org/officeDocument/2006/relationships/slide" Target="/ppt/slides/slide8.xml" Id="R1b4288c295ca4126" /><Relationship Type="http://schemas.openxmlformats.org/officeDocument/2006/relationships/slide" Target="/ppt/slides/slide9.xml" Id="R6ac2bbc6e14643ac" /><Relationship Type="http://schemas.openxmlformats.org/officeDocument/2006/relationships/slide" Target="/ppt/slides/slide10.xml" Id="R37d8d0d629f84c05" /><Relationship Type="http://schemas.openxmlformats.org/officeDocument/2006/relationships/slide" Target="/ppt/slides/slide11.xml" Id="R0e80c543809b4232" /><Relationship Type="http://schemas.openxmlformats.org/officeDocument/2006/relationships/slide" Target="/ppt/slides/slide12.xml" Id="R578441d6301a4ccf" /><Relationship Type="http://schemas.openxmlformats.org/officeDocument/2006/relationships/slide" Target="/ppt/slides/slide13.xml" Id="Rbd868f48411d4446" /><Relationship Type="http://schemas.openxmlformats.org/officeDocument/2006/relationships/slide" Target="/ppt/slides/slide14.xml" Id="R29c4fb6160c14e35" /><Relationship Type="http://schemas.openxmlformats.org/officeDocument/2006/relationships/slide" Target="/ppt/slides/slide15.xml" Id="R93367378c2204096" /><Relationship Type="http://schemas.openxmlformats.org/officeDocument/2006/relationships/slide" Target="/ppt/slides/slide16.xml" Id="R89ce8b9440764e78" /><Relationship Type="http://schemas.openxmlformats.org/officeDocument/2006/relationships/slide" Target="/ppt/slides/slide17.xml" Id="R190d65fab2be4a15" /><Relationship Type="http://schemas.openxmlformats.org/officeDocument/2006/relationships/slide" Target="/ppt/slides/slide18.xml" Id="Rf6855617a6d14d50" /><Relationship Type="http://schemas.openxmlformats.org/officeDocument/2006/relationships/slide" Target="/ppt/slides/slide19.xml" Id="R14f070eca6b04926" /><Relationship Type="http://schemas.openxmlformats.org/officeDocument/2006/relationships/slide" Target="/ppt/slides/slide20.xml" Id="Re1dcd44e8bf94ea6" /><Relationship Type="http://schemas.openxmlformats.org/officeDocument/2006/relationships/slide" Target="/ppt/slides/slide21.xml" Id="Rd442dc2e460047ec" /><Relationship Type="http://schemas.openxmlformats.org/officeDocument/2006/relationships/slide" Target="/ppt/slides/slide22.xml" Id="R10722ee92bbc4a14" /><Relationship Type="http://schemas.openxmlformats.org/officeDocument/2006/relationships/slide" Target="/ppt/slides/slide23.xml" Id="R9d2a36aa37be4ae8" /><Relationship Type="http://schemas.openxmlformats.org/officeDocument/2006/relationships/slide" Target="/ppt/slides/slide24.xml" Id="R414675c685f74773" /><Relationship Type="http://schemas.openxmlformats.org/officeDocument/2006/relationships/slide" Target="/ppt/slides/slide25.xml" Id="Ra0c98ac3261a4bc6" /><Relationship Type="http://schemas.openxmlformats.org/officeDocument/2006/relationships/slide" Target="/ppt/slides/slide26.xml" Id="R957479c926a54570" /><Relationship Type="http://schemas.openxmlformats.org/officeDocument/2006/relationships/slide" Target="/ppt/slides/slide27.xml" Id="Ra37381d791fa431e" /><Relationship Type="http://schemas.openxmlformats.org/officeDocument/2006/relationships/slide" Target="/ppt/slides/slide28.xml" Id="Rb4e68d1ca2834e8b" /><Relationship Type="http://schemas.openxmlformats.org/officeDocument/2006/relationships/slide" Target="/ppt/slides/slide29.xml" Id="R2c12a7503d2c46c3" /><Relationship Type="http://schemas.openxmlformats.org/officeDocument/2006/relationships/slide" Target="/ppt/slides/slide30.xml" Id="R98166d48092440ae" /><Relationship Type="http://schemas.openxmlformats.org/officeDocument/2006/relationships/slide" Target="/ppt/slides/slide31.xml" Id="Re7ff01d80ca74c0a" /><Relationship Type="http://schemas.openxmlformats.org/officeDocument/2006/relationships/slide" Target="/ppt/slides/slide32.xml" Id="R9b17d4c2dc89466c" /><Relationship Type="http://schemas.openxmlformats.org/officeDocument/2006/relationships/slide" Target="/ppt/slides/slide33.xml" Id="Rbe334eac773a408e" /><Relationship Type="http://schemas.openxmlformats.org/officeDocument/2006/relationships/slide" Target="/ppt/slides/slide34.xml" Id="Rd9988f4900d74380" /><Relationship Type="http://schemas.openxmlformats.org/officeDocument/2006/relationships/slide" Target="/ppt/slides/slide35.xml" Id="R3a6a5da79ced4592" /><Relationship Type="http://schemas.openxmlformats.org/officeDocument/2006/relationships/slide" Target="/ppt/slides/slide36.xml" Id="R116992f43ef84424" /><Relationship Type="http://schemas.openxmlformats.org/officeDocument/2006/relationships/slide" Target="/ppt/slides/slide37.xml" Id="Ra877a76acd844cc5" /><Relationship Type="http://schemas.openxmlformats.org/officeDocument/2006/relationships/slide" Target="/ppt/slides/slide38.xml" Id="Rb5e681f4e73b462e" /><Relationship Type="http://schemas.openxmlformats.org/officeDocument/2006/relationships/slide" Target="/ppt/slides/slide39.xml" Id="R6dc15b2028164a0b" /><Relationship Type="http://schemas.openxmlformats.org/officeDocument/2006/relationships/slide" Target="/ppt/slides/slide40.xml" Id="R101ffe9769584399" /><Relationship Type="http://schemas.openxmlformats.org/officeDocument/2006/relationships/slide" Target="/ppt/slides/slide41.xml" Id="Re3457b87a2db41ee" /><Relationship Type="http://schemas.openxmlformats.org/officeDocument/2006/relationships/slide" Target="/ppt/slides/slide42.xml" Id="Rd20d00a9d5504064" /><Relationship Type="http://schemas.openxmlformats.org/officeDocument/2006/relationships/slide" Target="/ppt/slides/slide43.xml" Id="R262bd9afce4c434b" /><Relationship Type="http://schemas.openxmlformats.org/officeDocument/2006/relationships/slide" Target="/ppt/slides/slide44.xml" Id="Rf453a92c8f9e4028" /><Relationship Type="http://schemas.openxmlformats.org/officeDocument/2006/relationships/slide" Target="/ppt/slides/slide45.xml" Id="Rd52b38794eb34f4e" /><Relationship Type="http://schemas.openxmlformats.org/officeDocument/2006/relationships/slide" Target="/ppt/slides/slide46.xml" Id="R98fefc2d39894307" /><Relationship Type="http://schemas.openxmlformats.org/officeDocument/2006/relationships/slide" Target="/ppt/slides/slide47.xml" Id="Rb4ba6ef5727f4374" /><Relationship Type="http://schemas.openxmlformats.org/officeDocument/2006/relationships/slide" Target="/ppt/slides/slide48.xml" Id="R0301bdb95e0e44ee" /><Relationship Type="http://schemas.openxmlformats.org/officeDocument/2006/relationships/slide" Target="/ppt/slides/slide49.xml" Id="R4da7f3f38a4e46d4" /><Relationship Type="http://schemas.openxmlformats.org/officeDocument/2006/relationships/slide" Target="/ppt/slides/slide50.xml" Id="R813360b01f0f4318" /><Relationship Type="http://schemas.openxmlformats.org/officeDocument/2006/relationships/slide" Target="/ppt/slides/slide51.xml" Id="R3568392cb05248da" /><Relationship Type="http://schemas.openxmlformats.org/officeDocument/2006/relationships/slide" Target="/ppt/slides/slide52.xml" Id="Re5a14cd961ac492b" /><Relationship Type="http://schemas.openxmlformats.org/officeDocument/2006/relationships/slide" Target="/ppt/slides/slide53.xml" Id="R88b8c00a96ab48fe" /><Relationship Type="http://schemas.openxmlformats.org/officeDocument/2006/relationships/slide" Target="/ppt/slides/slide54.xml" Id="R108fa7d9334d4660" /><Relationship Type="http://schemas.openxmlformats.org/officeDocument/2006/relationships/slide" Target="/ppt/slides/slide55.xml" Id="Re8df90c6a7d84476" /><Relationship Type="http://schemas.openxmlformats.org/officeDocument/2006/relationships/slide" Target="/ppt/slides/slide56.xml" Id="Re8fb8b53a15b41cb" /><Relationship Type="http://schemas.openxmlformats.org/officeDocument/2006/relationships/slide" Target="/ppt/slides/slide57.xml" Id="Rbbf72f8853194bfa" /><Relationship Type="http://schemas.openxmlformats.org/officeDocument/2006/relationships/slide" Target="/ppt/slides/slide58.xml" Id="R85db33f9a63b4eaa" /><Relationship Type="http://schemas.openxmlformats.org/officeDocument/2006/relationships/slide" Target="/ppt/slides/slide59.xml" Id="Rd64ade04a2064ad7" /><Relationship Type="http://schemas.openxmlformats.org/officeDocument/2006/relationships/slide" Target="/ppt/slides/slide60.xml" Id="Rd1a08705c61449fa" /><Relationship Type="http://schemas.openxmlformats.org/officeDocument/2006/relationships/slide" Target="/ppt/slides/slide61.xml" Id="R73b144c74e764608" /><Relationship Type="http://schemas.openxmlformats.org/officeDocument/2006/relationships/slide" Target="/ppt/slides/slide62.xml" Id="R317f09ec6db64238" /><Relationship Type="http://schemas.openxmlformats.org/officeDocument/2006/relationships/slide" Target="/ppt/slides/slide63.xml" Id="R2bb71889a6304042" /><Relationship Type="http://schemas.openxmlformats.org/officeDocument/2006/relationships/slide" Target="/ppt/slides/slide64.xml" Id="R05cf1890e4e34c98" /><Relationship Type="http://schemas.openxmlformats.org/officeDocument/2006/relationships/slide" Target="/ppt/slides/slide65.xml" Id="R62480ff15f494d85" /><Relationship Type="http://schemas.openxmlformats.org/officeDocument/2006/relationships/slide" Target="/ppt/slides/slide66.xml" Id="Rfc3802992c8547bf" /><Relationship Type="http://schemas.openxmlformats.org/officeDocument/2006/relationships/slide" Target="/ppt/slides/slide67.xml" Id="R85f497709bfc438b" /><Relationship Type="http://schemas.openxmlformats.org/officeDocument/2006/relationships/slide" Target="/ppt/slides/slide68.xml" Id="Ra97fbe92135a4543" /><Relationship Type="http://schemas.openxmlformats.org/officeDocument/2006/relationships/slide" Target="/ppt/slides/slide69.xml" Id="R157b8e8a936b4350" /><Relationship Type="http://schemas.openxmlformats.org/officeDocument/2006/relationships/slide" Target="/ppt/slides/slide70.xml" Id="R8335698f4c374512" /><Relationship Type="http://schemas.openxmlformats.org/officeDocument/2006/relationships/slide" Target="/ppt/slides/slide71.xml" Id="R386efec3141d4c05" /><Relationship Type="http://schemas.openxmlformats.org/officeDocument/2006/relationships/slide" Target="/ppt/slides/slide72.xml" Id="Refb19847aea843ae" /><Relationship Type="http://schemas.openxmlformats.org/officeDocument/2006/relationships/slide" Target="/ppt/slides/slide73.xml" Id="Rc529a082713a4c66" /><Relationship Type="http://schemas.openxmlformats.org/officeDocument/2006/relationships/slide" Target="/ppt/slides/slide74.xml" Id="Rbe7ba5eb749f4b94" /><Relationship Type="http://schemas.openxmlformats.org/officeDocument/2006/relationships/slide" Target="/ppt/slides/slide75.xml" Id="Rafbef4b0b27a4909" /><Relationship Type="http://schemas.openxmlformats.org/officeDocument/2006/relationships/slide" Target="/ppt/slides/slide76.xml" Id="R604fc852dc714733" /><Relationship Type="http://schemas.openxmlformats.org/officeDocument/2006/relationships/slide" Target="/ppt/slides/slide77.xml" Id="Rf24230e05d7a4942" /><Relationship Type="http://schemas.openxmlformats.org/officeDocument/2006/relationships/slide" Target="/ppt/slides/slide78.xml" Id="R5b705090420c4f3d" /><Relationship Type="http://schemas.openxmlformats.org/officeDocument/2006/relationships/slide" Target="/ppt/slides/slide79.xml" Id="Rd2cc9835c5fe4ce4" /><Relationship Type="http://schemas.openxmlformats.org/officeDocument/2006/relationships/slide" Target="/ppt/slides/slide80.xml" Id="R0d2c994636f94e33" /><Relationship Type="http://schemas.openxmlformats.org/officeDocument/2006/relationships/slide" Target="/ppt/slides/slide81.xml" Id="R0a05d506132a43ab" /><Relationship Type="http://schemas.openxmlformats.org/officeDocument/2006/relationships/slide" Target="/ppt/slides/slide82.xml" Id="R4d15e0b7a39b49f0" /><Relationship Type="http://schemas.openxmlformats.org/officeDocument/2006/relationships/slide" Target="/ppt/slides/slide83.xml" Id="R488a2c22a4d54d48" /><Relationship Type="http://schemas.openxmlformats.org/officeDocument/2006/relationships/slide" Target="/ppt/slides/slide84.xml" Id="R5de1e220b20a4715" /><Relationship Type="http://schemas.openxmlformats.org/officeDocument/2006/relationships/slide" Target="/ppt/slides/slide85.xml" Id="R7f5064865fc94578" /><Relationship Type="http://schemas.openxmlformats.org/officeDocument/2006/relationships/slide" Target="/ppt/slides/slide86.xml" Id="R75ba1b497d8041f1" /><Relationship Type="http://schemas.openxmlformats.org/officeDocument/2006/relationships/slide" Target="/ppt/slides/slide87.xml" Id="Ra9666e17b5be4523" /><Relationship Type="http://schemas.openxmlformats.org/officeDocument/2006/relationships/slide" Target="/ppt/slides/slide88.xml" Id="R360965f525604ce2" /><Relationship Type="http://schemas.openxmlformats.org/officeDocument/2006/relationships/slide" Target="/ppt/slides/slide89.xml" Id="R6ebc5a76c31e4131" /><Relationship Type="http://schemas.openxmlformats.org/officeDocument/2006/relationships/slide" Target="/ppt/slides/slide90.xml" Id="R57b0562e85e64f9a" /><Relationship Type="http://schemas.openxmlformats.org/officeDocument/2006/relationships/slide" Target="/ppt/slides/slide91.xml" Id="Rb9de10ea9bf942b3" /><Relationship Type="http://schemas.openxmlformats.org/officeDocument/2006/relationships/slide" Target="/ppt/slides/slide92.xml" Id="Rbb64cd15243f46a0" /><Relationship Type="http://schemas.openxmlformats.org/officeDocument/2006/relationships/slide" Target="/ppt/slides/slide93.xml" Id="Rcca1ec4f6fda45f7" /><Relationship Type="http://schemas.openxmlformats.org/officeDocument/2006/relationships/slide" Target="/ppt/slides/slide94.xml" Id="R887ddc8fb0054e55" /><Relationship Type="http://schemas.openxmlformats.org/officeDocument/2006/relationships/slide" Target="/ppt/slides/slide95.xml" Id="Rd834f07eea734b6b" /><Relationship Type="http://schemas.openxmlformats.org/officeDocument/2006/relationships/slide" Target="/ppt/slides/slide96.xml" Id="Rd2a4457de2bf4951" /><Relationship Type="http://schemas.openxmlformats.org/officeDocument/2006/relationships/slide" Target="/ppt/slides/slide97.xml" Id="R5521ec2d70494306" /><Relationship Type="http://schemas.openxmlformats.org/officeDocument/2006/relationships/slide" Target="/ppt/slides/slide98.xml" Id="Ree7594e25043456e" /><Relationship Type="http://schemas.openxmlformats.org/officeDocument/2006/relationships/slide" Target="/ppt/slides/slide99.xml" Id="R59896c0019d04d6b" /><Relationship Type="http://schemas.openxmlformats.org/officeDocument/2006/relationships/slide" Target="/ppt/slides/slide100.xml" Id="R8c9671948e5b4b1c" /><Relationship Type="http://schemas.openxmlformats.org/officeDocument/2006/relationships/slide" Target="/ppt/slides/slide101.xml" Id="R607d8ef3b6bf4f73" /><Relationship Type="http://schemas.openxmlformats.org/officeDocument/2006/relationships/slide" Target="/ppt/slides/slide102.xml" Id="R761bde78606e4e04" /><Relationship Type="http://schemas.openxmlformats.org/officeDocument/2006/relationships/slide" Target="/ppt/slides/slide103.xml" Id="Ra2fcf7eb33a54eb4" /><Relationship Type="http://schemas.openxmlformats.org/officeDocument/2006/relationships/slide" Target="/ppt/slides/slide104.xml" Id="Ra39b235d8fc34ffd" /><Relationship Type="http://schemas.openxmlformats.org/officeDocument/2006/relationships/slide" Target="/ppt/slides/slide105.xml" Id="R653f252a4a984b90" /><Relationship Type="http://schemas.openxmlformats.org/officeDocument/2006/relationships/slide" Target="/ppt/slides/slide106.xml" Id="R4dc673161a764b2d" /><Relationship Type="http://schemas.openxmlformats.org/officeDocument/2006/relationships/slide" Target="/ppt/slides/slide107.xml" Id="R3b168d7901e44846" /><Relationship Type="http://schemas.openxmlformats.org/officeDocument/2006/relationships/slide" Target="/ppt/slides/slide108.xml" Id="Re9d38c98e8ed40f5" /><Relationship Type="http://schemas.openxmlformats.org/officeDocument/2006/relationships/slide" Target="/ppt/slides/slide109.xml" Id="R13a4689310d94785" /><Relationship Type="http://schemas.openxmlformats.org/officeDocument/2006/relationships/slide" Target="/ppt/slides/slide110.xml" Id="R95b5db3303084fef" /><Relationship Type="http://schemas.openxmlformats.org/officeDocument/2006/relationships/slide" Target="/ppt/slides/slide111.xml" Id="R83d6eedd30b642f4" /><Relationship Type="http://schemas.openxmlformats.org/officeDocument/2006/relationships/slide" Target="/ppt/slides/slide112.xml" Id="R476e9f9742a64da1" /><Relationship Type="http://schemas.openxmlformats.org/officeDocument/2006/relationships/slide" Target="/ppt/slides/slide113.xml" Id="R030fda0d3a634741" /><Relationship Type="http://schemas.openxmlformats.org/officeDocument/2006/relationships/slide" Target="/ppt/slides/slide114.xml" Id="Raa41939c80c84143" /><Relationship Type="http://schemas.openxmlformats.org/officeDocument/2006/relationships/slide" Target="/ppt/slides/slide115.xml" Id="R0f6cec24851b4d72" /><Relationship Type="http://schemas.openxmlformats.org/officeDocument/2006/relationships/slide" Target="/ppt/slides/slide116.xml" Id="R9c164ac2e2594f47" /><Relationship Type="http://schemas.openxmlformats.org/officeDocument/2006/relationships/slide" Target="/ppt/slides/slide117.xml" Id="R2ffe7e38285645df" /><Relationship Type="http://schemas.openxmlformats.org/officeDocument/2006/relationships/slide" Target="/ppt/slides/slide118.xml" Id="R6fd33c041d0b4ad2" /><Relationship Type="http://schemas.openxmlformats.org/officeDocument/2006/relationships/slide" Target="/ppt/slides/slide119.xml" Id="R83e864231f934200" /><Relationship Type="http://schemas.openxmlformats.org/officeDocument/2006/relationships/slide" Target="/ppt/slides/slide120.xml" Id="R87966234c9a140f7" /><Relationship Type="http://schemas.openxmlformats.org/officeDocument/2006/relationships/slide" Target="/ppt/slides/slide121.xml" Id="Rfab7e6a8e9884065" /><Relationship Type="http://schemas.openxmlformats.org/officeDocument/2006/relationships/slide" Target="/ppt/slides/slide122.xml" Id="R809f05b2553c452f" /><Relationship Type="http://schemas.openxmlformats.org/officeDocument/2006/relationships/slide" Target="/ppt/slides/slide123.xml" Id="R886e30e0feac47ed" /><Relationship Type="http://schemas.openxmlformats.org/officeDocument/2006/relationships/slide" Target="/ppt/slides/slide124.xml" Id="Rc2cf6428fc114b0a" /><Relationship Type="http://schemas.openxmlformats.org/officeDocument/2006/relationships/slide" Target="/ppt/slides/slide125.xml" Id="R191f121b56e241bd" /><Relationship Type="http://schemas.openxmlformats.org/officeDocument/2006/relationships/slide" Target="/ppt/slides/slide126.xml" Id="R58c8d5cb55f446a6" /><Relationship Type="http://schemas.openxmlformats.org/officeDocument/2006/relationships/slide" Target="/ppt/slides/slide127.xml" Id="R73ddbc75eb6c42da" /><Relationship Type="http://schemas.openxmlformats.org/officeDocument/2006/relationships/slide" Target="/ppt/slides/slide128.xml" Id="R49b25bbfea4c4714" /><Relationship Type="http://schemas.openxmlformats.org/officeDocument/2006/relationships/slide" Target="/ppt/slides/slide129.xml" Id="R59d4a635e0a24d9a" /><Relationship Type="http://schemas.openxmlformats.org/officeDocument/2006/relationships/slide" Target="/ppt/slides/slide130.xml" Id="R2626fcd2a8374ad6" /><Relationship Type="http://schemas.openxmlformats.org/officeDocument/2006/relationships/slide" Target="/ppt/slides/slide131.xml" Id="R8018433b980b4079" /><Relationship Type="http://schemas.openxmlformats.org/officeDocument/2006/relationships/slide" Target="/ppt/slides/slide132.xml" Id="Rfeea31d5d0c24432" /><Relationship Type="http://schemas.openxmlformats.org/officeDocument/2006/relationships/slide" Target="/ppt/slides/slide133.xml" Id="R5c7076337e3b49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7dda0055e540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932f7808b44aa1" /><Relationship Type="http://schemas.openxmlformats.org/officeDocument/2006/relationships/notesMaster" Target="/ppt/notesMasters/notesMaster1.xml" Id="R6e107958934d4d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d8f0532d034cf5" /><Relationship Type="http://schemas.openxmlformats.org/officeDocument/2006/relationships/notesMaster" Target="/ppt/notesMasters/notesMaster1.xml" Id="R3d95473ec84243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54e4bb080b47fa" /><Relationship Type="http://schemas.openxmlformats.org/officeDocument/2006/relationships/notesMaster" Target="/ppt/notesMasters/notesMaster1.xml" Id="Ref0f7028751d4a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1c2652659b4119" /><Relationship Type="http://schemas.openxmlformats.org/officeDocument/2006/relationships/notesMaster" Target="/ppt/notesMasters/notesMaster1.xml" Id="R16318e5384a745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3d0782cc114db6" /><Relationship Type="http://schemas.openxmlformats.org/officeDocument/2006/relationships/notesMaster" Target="/ppt/notesMasters/notesMaster1.xml" Id="Rb58d0c2faf3c43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60a5f2e5154286" /><Relationship Type="http://schemas.openxmlformats.org/officeDocument/2006/relationships/notesMaster" Target="/ppt/notesMasters/notesMaster1.xml" Id="R52f3b335360348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a1470c44fc4f20" /><Relationship Type="http://schemas.openxmlformats.org/officeDocument/2006/relationships/notesMaster" Target="/ppt/notesMasters/notesMaster1.xml" Id="Rf3549033a84f45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d3214ca163495b" /><Relationship Type="http://schemas.openxmlformats.org/officeDocument/2006/relationships/notesMaster" Target="/ppt/notesMasters/notesMaster1.xml" Id="R43d6f8903fdf4d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55eb818b634778" /><Relationship Type="http://schemas.openxmlformats.org/officeDocument/2006/relationships/notesMaster" Target="/ppt/notesMasters/notesMaster1.xml" Id="R7944aae537b24d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638b54089e44ca6" /><Relationship Type="http://schemas.openxmlformats.org/officeDocument/2006/relationships/notesMaster" Target="/ppt/notesMasters/notesMaster1.xml" Id="R28d730b71c9641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6cc5386f2b4f5a" /><Relationship Type="http://schemas.openxmlformats.org/officeDocument/2006/relationships/notesMaster" Target="/ppt/notesMasters/notesMaster1.xml" Id="Rdcd0e11bc0dc45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0fa2ab7ee847b3" /><Relationship Type="http://schemas.openxmlformats.org/officeDocument/2006/relationships/notesMaster" Target="/ppt/notesMasters/notesMaster1.xml" Id="R4c11635166e148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986aa65ff94778" /><Relationship Type="http://schemas.openxmlformats.org/officeDocument/2006/relationships/notesMaster" Target="/ppt/notesMasters/notesMaster1.xml" Id="R79b646d7628843a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4f2950f3764c00" /><Relationship Type="http://schemas.openxmlformats.org/officeDocument/2006/relationships/notesMaster" Target="/ppt/notesMasters/notesMaster1.xml" Id="Rd0a07e06b9c84d4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873ed224e943c8" /><Relationship Type="http://schemas.openxmlformats.org/officeDocument/2006/relationships/notesMaster" Target="/ppt/notesMasters/notesMaster1.xml" Id="R2381c5aa9b5f427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19a0cf96f7a43ba" /><Relationship Type="http://schemas.openxmlformats.org/officeDocument/2006/relationships/notesMaster" Target="/ppt/notesMasters/notesMaster1.xml" Id="Rb729c92c15884c9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17502078ab54048" /><Relationship Type="http://schemas.openxmlformats.org/officeDocument/2006/relationships/notesMaster" Target="/ppt/notesMasters/notesMaster1.xml" Id="R24c9ed40ec5c495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b27e7c483ad4cee" /><Relationship Type="http://schemas.openxmlformats.org/officeDocument/2006/relationships/notesMaster" Target="/ppt/notesMasters/notesMaster1.xml" Id="R185ba7e4f4914a7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edfe17c8ee446d" /><Relationship Type="http://schemas.openxmlformats.org/officeDocument/2006/relationships/notesMaster" Target="/ppt/notesMasters/notesMaster1.xml" Id="R698e2a4bf3ca4a4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14fd80af0e345f4" /><Relationship Type="http://schemas.openxmlformats.org/officeDocument/2006/relationships/notesMaster" Target="/ppt/notesMasters/notesMaster1.xml" Id="R827b2dc355484a8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5e556fbaf3049b9" /><Relationship Type="http://schemas.openxmlformats.org/officeDocument/2006/relationships/notesMaster" Target="/ppt/notesMasters/notesMaster1.xml" Id="R0e3c9a47445d4ee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7a4df1ec15a4ce5" /><Relationship Type="http://schemas.openxmlformats.org/officeDocument/2006/relationships/notesMaster" Target="/ppt/notesMasters/notesMaster1.xml" Id="Rf54ffbf1edfa426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afcd7e5959349e7" /><Relationship Type="http://schemas.openxmlformats.org/officeDocument/2006/relationships/notesMaster" Target="/ppt/notesMasters/notesMaster1.xml" Id="Rdc4b5ecc5b73457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c45d83fe2af4ebe" /><Relationship Type="http://schemas.openxmlformats.org/officeDocument/2006/relationships/notesMaster" Target="/ppt/notesMasters/notesMaster1.xml" Id="R43417040299d411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1ed533219be4810" /><Relationship Type="http://schemas.openxmlformats.org/officeDocument/2006/relationships/notesMaster" Target="/ppt/notesMasters/notesMaster1.xml" Id="R0030456108904e1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b7e3655e79c4f12" /><Relationship Type="http://schemas.openxmlformats.org/officeDocument/2006/relationships/notesMaster" Target="/ppt/notesMasters/notesMaster1.xml" Id="R98d33912a81c441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f383f98badd47e2" /><Relationship Type="http://schemas.openxmlformats.org/officeDocument/2006/relationships/notesMaster" Target="/ppt/notesMasters/notesMaster1.xml" Id="R64819e71f64044f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e87d202762c44f2" /><Relationship Type="http://schemas.openxmlformats.org/officeDocument/2006/relationships/notesMaster" Target="/ppt/notesMasters/notesMaster1.xml" Id="R623eb0349036495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04b01a6527b49b2" /><Relationship Type="http://schemas.openxmlformats.org/officeDocument/2006/relationships/notesMaster" Target="/ppt/notesMasters/notesMaster1.xml" Id="Rbb427b2336494bf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391fc9b61d04283" /><Relationship Type="http://schemas.openxmlformats.org/officeDocument/2006/relationships/notesMaster" Target="/ppt/notesMasters/notesMaster1.xml" Id="Rbf5fe87ad59e423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7a0b813829f4055" /><Relationship Type="http://schemas.openxmlformats.org/officeDocument/2006/relationships/notesMaster" Target="/ppt/notesMasters/notesMaster1.xml" Id="R625db14989df44d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eb939175e8d410e" /><Relationship Type="http://schemas.openxmlformats.org/officeDocument/2006/relationships/notesMaster" Target="/ppt/notesMasters/notesMaster1.xml" Id="R21dc4ff3760748c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4202910ee454fdb" /><Relationship Type="http://schemas.openxmlformats.org/officeDocument/2006/relationships/notesMaster" Target="/ppt/notesMasters/notesMaster1.xml" Id="R789f3163152947e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8f3b38891484b77" /><Relationship Type="http://schemas.openxmlformats.org/officeDocument/2006/relationships/notesMaster" Target="/ppt/notesMasters/notesMaster1.xml" Id="R4cf032f5be1a4fc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9a0abd2a81e437a" /><Relationship Type="http://schemas.openxmlformats.org/officeDocument/2006/relationships/notesMaster" Target="/ppt/notesMasters/notesMaster1.xml" Id="Re91318b7e5a4497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71da6133f15420a" /><Relationship Type="http://schemas.openxmlformats.org/officeDocument/2006/relationships/notesMaster" Target="/ppt/notesMasters/notesMaster1.xml" Id="Rf3d470bc8c71490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0068c37f9f7454e" /><Relationship Type="http://schemas.openxmlformats.org/officeDocument/2006/relationships/notesMaster" Target="/ppt/notesMasters/notesMaster1.xml" Id="Rc7ad3f8f72b04e2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85b0476a5b144ef" /><Relationship Type="http://schemas.openxmlformats.org/officeDocument/2006/relationships/notesMaster" Target="/ppt/notesMasters/notesMaster1.xml" Id="R1017f3cc729b41a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1f61527f2694e1b" /><Relationship Type="http://schemas.openxmlformats.org/officeDocument/2006/relationships/notesMaster" Target="/ppt/notesMasters/notesMaster1.xml" Id="R8d29dc518e8148e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ef2be111fda4030" /><Relationship Type="http://schemas.openxmlformats.org/officeDocument/2006/relationships/notesMaster" Target="/ppt/notesMasters/notesMaster1.xml" Id="R393fa1093fdb4c5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4f78b9da24646e9" /><Relationship Type="http://schemas.openxmlformats.org/officeDocument/2006/relationships/notesMaster" Target="/ppt/notesMasters/notesMaster1.xml" Id="Rb7af51337881473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e625429e9b5439f" /><Relationship Type="http://schemas.openxmlformats.org/officeDocument/2006/relationships/notesMaster" Target="/ppt/notesMasters/notesMaster1.xml" Id="Rb3f0f0a56044419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cc448a8f91a42e6" /><Relationship Type="http://schemas.openxmlformats.org/officeDocument/2006/relationships/notesMaster" Target="/ppt/notesMasters/notesMaster1.xml" Id="R7c815e2feac1481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ecb7f3ad4754a80" /><Relationship Type="http://schemas.openxmlformats.org/officeDocument/2006/relationships/notesMaster" Target="/ppt/notesMasters/notesMaster1.xml" Id="R1540515d551e474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0b40af1352440bb" /><Relationship Type="http://schemas.openxmlformats.org/officeDocument/2006/relationships/notesMaster" Target="/ppt/notesMasters/notesMaster1.xml" Id="R717ef839ccb64d3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ff328015aa4463c" /><Relationship Type="http://schemas.openxmlformats.org/officeDocument/2006/relationships/notesMaster" Target="/ppt/notesMasters/notesMaster1.xml" Id="R9585ef66a16249f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11504efa9f94786" /><Relationship Type="http://schemas.openxmlformats.org/officeDocument/2006/relationships/notesMaster" Target="/ppt/notesMasters/notesMaster1.xml" Id="Rbbe91f5c68b945a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00ec516e2194e50" /><Relationship Type="http://schemas.openxmlformats.org/officeDocument/2006/relationships/notesMaster" Target="/ppt/notesMasters/notesMaster1.xml" Id="R0cbaa487be064e1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1793a9144454ab3" /><Relationship Type="http://schemas.openxmlformats.org/officeDocument/2006/relationships/notesMaster" Target="/ppt/notesMasters/notesMaster1.xml" Id="R9b2c9152d407436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b61aa0f0fd24cd4" /><Relationship Type="http://schemas.openxmlformats.org/officeDocument/2006/relationships/notesMaster" Target="/ppt/notesMasters/notesMaster1.xml" Id="R31d953eca78f482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06e214b809b45b0" /><Relationship Type="http://schemas.openxmlformats.org/officeDocument/2006/relationships/notesMaster" Target="/ppt/notesMasters/notesMaster1.xml" Id="Re1d06b60bc124aa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f4a53fb676a740b3" /><Relationship Type="http://schemas.openxmlformats.org/officeDocument/2006/relationships/notesMaster" Target="/ppt/notesMasters/notesMaster1.xml" Id="R316a9a6115ec4ff4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76b86942d22485a" /><Relationship Type="http://schemas.openxmlformats.org/officeDocument/2006/relationships/notesMaster" Target="/ppt/notesMasters/notesMaster1.xml" Id="R72a82927ef4c4cd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768ca581f32a4802" /><Relationship Type="http://schemas.openxmlformats.org/officeDocument/2006/relationships/notesMaster" Target="/ppt/notesMasters/notesMaster1.xml" Id="R36e083dfd8d843f1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6b289c7607894224" /><Relationship Type="http://schemas.openxmlformats.org/officeDocument/2006/relationships/notesMaster" Target="/ppt/notesMasters/notesMaster1.xml" Id="Rd2e26981d20140b5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10e83582e507424b" /><Relationship Type="http://schemas.openxmlformats.org/officeDocument/2006/relationships/notesMaster" Target="/ppt/notesMasters/notesMaster1.xml" Id="Rfd553030887c4a37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9c47f7748ed49d5" /><Relationship Type="http://schemas.openxmlformats.org/officeDocument/2006/relationships/notesMaster" Target="/ppt/notesMasters/notesMaster1.xml" Id="Rf0a18057c97b4763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71fa5794da6340b5" /><Relationship Type="http://schemas.openxmlformats.org/officeDocument/2006/relationships/notesMaster" Target="/ppt/notesMasters/notesMaster1.xml" Id="Rd6eb6b9495c74377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6b0815e85deb4448" /><Relationship Type="http://schemas.openxmlformats.org/officeDocument/2006/relationships/notesMaster" Target="/ppt/notesMasters/notesMaster1.xml" Id="R996bcab71c11401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4b313f773be44992" /><Relationship Type="http://schemas.openxmlformats.org/officeDocument/2006/relationships/notesMaster" Target="/ppt/notesMasters/notesMaster1.xml" Id="R2d58bb704c854625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e2a701e128b94efe" /><Relationship Type="http://schemas.openxmlformats.org/officeDocument/2006/relationships/notesMaster" Target="/ppt/notesMasters/notesMaster1.xml" Id="R754374e5deae4b2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2e7c1d5fb6ca4724" /><Relationship Type="http://schemas.openxmlformats.org/officeDocument/2006/relationships/notesMaster" Target="/ppt/notesMasters/notesMaster1.xml" Id="R51fd1e63fbf3490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52783a756c714882" /><Relationship Type="http://schemas.openxmlformats.org/officeDocument/2006/relationships/notesMaster" Target="/ppt/notesMasters/notesMaster1.xml" Id="R05cf464e30c94993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e9aca1ae3fa4cec" /><Relationship Type="http://schemas.openxmlformats.org/officeDocument/2006/relationships/notesMaster" Target="/ppt/notesMasters/notesMaster1.xml" Id="R303fb34734f94c89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16b464d310a9408a" /><Relationship Type="http://schemas.openxmlformats.org/officeDocument/2006/relationships/notesMaster" Target="/ppt/notesMasters/notesMaster1.xml" Id="Rfd022d905bc34a6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52ee94c904dd4312" /><Relationship Type="http://schemas.openxmlformats.org/officeDocument/2006/relationships/notesMaster" Target="/ppt/notesMasters/notesMaster1.xml" Id="R026a0bfb31b04f63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81f37e07829445d4" /><Relationship Type="http://schemas.openxmlformats.org/officeDocument/2006/relationships/notesMaster" Target="/ppt/notesMasters/notesMaster1.xml" Id="Rc8e3209f92f5436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f402c89c797646d6" /><Relationship Type="http://schemas.openxmlformats.org/officeDocument/2006/relationships/notesMaster" Target="/ppt/notesMasters/notesMaster1.xml" Id="R651715f53a604fc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2e9baa3c600540a9" /><Relationship Type="http://schemas.openxmlformats.org/officeDocument/2006/relationships/notesMaster" Target="/ppt/notesMasters/notesMaster1.xml" Id="R34119837b03f48e8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bc75559835e5495e" /><Relationship Type="http://schemas.openxmlformats.org/officeDocument/2006/relationships/notesMaster" Target="/ppt/notesMasters/notesMaster1.xml" Id="R9ea35e317a4449e2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2d5dd744a8194dff" /><Relationship Type="http://schemas.openxmlformats.org/officeDocument/2006/relationships/notesMaster" Target="/ppt/notesMasters/notesMaster1.xml" Id="R3646a3fcb6fc4e2d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4febd70f743f4e5a" /><Relationship Type="http://schemas.openxmlformats.org/officeDocument/2006/relationships/notesMaster" Target="/ppt/notesMasters/notesMaster1.xml" Id="R64888cd9a8154078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74b4389446b4625" /><Relationship Type="http://schemas.openxmlformats.org/officeDocument/2006/relationships/notesMaster" Target="/ppt/notesMasters/notesMaster1.xml" Id="R16d66faef36749a9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fce209323e0b4017" /><Relationship Type="http://schemas.openxmlformats.org/officeDocument/2006/relationships/notesMaster" Target="/ppt/notesMasters/notesMaster1.xml" Id="R09d538ea1445495f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bb3478e7dffd4bfd" /><Relationship Type="http://schemas.openxmlformats.org/officeDocument/2006/relationships/notesMaster" Target="/ppt/notesMasters/notesMaster1.xml" Id="R5eb3bb7fca394b09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d53fe23bd8ea468a" /><Relationship Type="http://schemas.openxmlformats.org/officeDocument/2006/relationships/notesMaster" Target="/ppt/notesMasters/notesMaster1.xml" Id="Rdb36772df3a5480a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2f6b9a4f3ef3469f" /><Relationship Type="http://schemas.openxmlformats.org/officeDocument/2006/relationships/notesMaster" Target="/ppt/notesMasters/notesMaster1.xml" Id="R9912c85460624508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30710085ffa147ab" /><Relationship Type="http://schemas.openxmlformats.org/officeDocument/2006/relationships/notesMaster" Target="/ppt/notesMasters/notesMaster1.xml" Id="Rc2dbdadd7b254062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401f4a6d06864f24" /><Relationship Type="http://schemas.openxmlformats.org/officeDocument/2006/relationships/notesMaster" Target="/ppt/notesMasters/notesMaster1.xml" Id="R8f5b4d6ef1024c03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db1fb4cd87144344" /><Relationship Type="http://schemas.openxmlformats.org/officeDocument/2006/relationships/notesMaster" Target="/ppt/notesMasters/notesMaster1.xml" Id="R9e4c8fe2b42b4ba8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2a19ee2d72b24d45" /><Relationship Type="http://schemas.openxmlformats.org/officeDocument/2006/relationships/notesMaster" Target="/ppt/notesMasters/notesMaster1.xml" Id="Re676cfd64e5a4076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d470135f0a5d4048" /><Relationship Type="http://schemas.openxmlformats.org/officeDocument/2006/relationships/notesMaster" Target="/ppt/notesMasters/notesMaster1.xml" Id="Rd10ef29d6a764b1b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9c904779d7974a28" /><Relationship Type="http://schemas.openxmlformats.org/officeDocument/2006/relationships/notesMaster" Target="/ppt/notesMasters/notesMaster1.xml" Id="R9f46be23c1bb4590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bb6113efae4240d4" /><Relationship Type="http://schemas.openxmlformats.org/officeDocument/2006/relationships/notesMaster" Target="/ppt/notesMasters/notesMaster1.xml" Id="Rc6923dfdb2ac4794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47dc91ce9b3c42b5" /><Relationship Type="http://schemas.openxmlformats.org/officeDocument/2006/relationships/notesMaster" Target="/ppt/notesMasters/notesMaster1.xml" Id="R6ce99c9743ef4540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d3c9d04601924654" /><Relationship Type="http://schemas.openxmlformats.org/officeDocument/2006/relationships/notesMaster" Target="/ppt/notesMasters/notesMaster1.xml" Id="R9039c43358fe4d79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17de7a8f6a904b17" /><Relationship Type="http://schemas.openxmlformats.org/officeDocument/2006/relationships/notesMaster" Target="/ppt/notesMasters/notesMaster1.xml" Id="R64454c8387e04dc1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bea30af498764a57" /><Relationship Type="http://schemas.openxmlformats.org/officeDocument/2006/relationships/notesMaster" Target="/ppt/notesMasters/notesMaster1.xml" Id="Raaad86f8cf324b64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df057a3ae8124b19" /><Relationship Type="http://schemas.openxmlformats.org/officeDocument/2006/relationships/notesMaster" Target="/ppt/notesMasters/notesMaster1.xml" Id="R14053d8d1c274298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ef76f571079b4a2a" /><Relationship Type="http://schemas.openxmlformats.org/officeDocument/2006/relationships/notesMaster" Target="/ppt/notesMasters/notesMaster1.xml" Id="R7a190cbd73fc42e7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244507201aaa42fe" /><Relationship Type="http://schemas.openxmlformats.org/officeDocument/2006/relationships/notesMaster" Target="/ppt/notesMasters/notesMaster1.xml" Id="R83772e78cbaf4a75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d36d44818eab4c00" /><Relationship Type="http://schemas.openxmlformats.org/officeDocument/2006/relationships/notesMaster" Target="/ppt/notesMasters/notesMaster1.xml" Id="R5f213e9dc8014539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911730aa7d854bfd" /><Relationship Type="http://schemas.openxmlformats.org/officeDocument/2006/relationships/notesMaster" Target="/ppt/notesMasters/notesMaster1.xml" Id="R85038e2302f449f3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6dcf37cf0dbe43bb" /><Relationship Type="http://schemas.openxmlformats.org/officeDocument/2006/relationships/notesMaster" Target="/ppt/notesMasters/notesMaster1.xml" Id="Rc5ccad05d76442db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7e031809b83e4c10" /><Relationship Type="http://schemas.openxmlformats.org/officeDocument/2006/relationships/notesMaster" Target="/ppt/notesMasters/notesMaster1.xml" Id="R58e4ef1a89634148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4fc34b6234744ac0" /><Relationship Type="http://schemas.openxmlformats.org/officeDocument/2006/relationships/notesMaster" Target="/ppt/notesMasters/notesMaster1.xml" Id="Rc4058ea27f2a413c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9087fdd307d94484" /><Relationship Type="http://schemas.openxmlformats.org/officeDocument/2006/relationships/notesMaster" Target="/ppt/notesMasters/notesMaster1.xml" Id="Rfb57311d6e4f4338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04b6b4ea3cce450a" /><Relationship Type="http://schemas.openxmlformats.org/officeDocument/2006/relationships/notesMaster" Target="/ppt/notesMasters/notesMaster1.xml" Id="R455c7869d6e448f6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476f549590344fb8" /><Relationship Type="http://schemas.openxmlformats.org/officeDocument/2006/relationships/notesMaster" Target="/ppt/notesMasters/notesMaster1.xml" Id="R9b4ead21ff7f4bb5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3cb141c2f40b48c0" /><Relationship Type="http://schemas.openxmlformats.org/officeDocument/2006/relationships/notesMaster" Target="/ppt/notesMasters/notesMaster1.xml" Id="R4dbfa8c9bfc94678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2362c94e5abe4a7a" /><Relationship Type="http://schemas.openxmlformats.org/officeDocument/2006/relationships/notesMaster" Target="/ppt/notesMasters/notesMaster1.xml" Id="Ra8b1228a6a4f48f7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4393e32fd4624b1e" /><Relationship Type="http://schemas.openxmlformats.org/officeDocument/2006/relationships/notesMaster" Target="/ppt/notesMasters/notesMaster1.xml" Id="R99c1415698884700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15c6d9c5e63e4433" /><Relationship Type="http://schemas.openxmlformats.org/officeDocument/2006/relationships/notesMaster" Target="/ppt/notesMasters/notesMaster1.xml" Id="R2bf9ce64507b4619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f56b8f6f226a48f8" /><Relationship Type="http://schemas.openxmlformats.org/officeDocument/2006/relationships/notesMaster" Target="/ppt/notesMasters/notesMaster1.xml" Id="R862804f0e1834229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4ac275ea0c6e4ea3" /><Relationship Type="http://schemas.openxmlformats.org/officeDocument/2006/relationships/notesMaster" Target="/ppt/notesMasters/notesMaster1.xml" Id="R0cc10bbe21354cab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88ae6b73547a4047" /><Relationship Type="http://schemas.openxmlformats.org/officeDocument/2006/relationships/notesMaster" Target="/ppt/notesMasters/notesMaster1.xml" Id="Rfbec0130d4d948c7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79170fe7cd0c4929" /><Relationship Type="http://schemas.openxmlformats.org/officeDocument/2006/relationships/notesMaster" Target="/ppt/notesMasters/notesMaster1.xml" Id="R00bae435e00c4b3b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d18c73a3f8094e0b" /><Relationship Type="http://schemas.openxmlformats.org/officeDocument/2006/relationships/notesMaster" Target="/ppt/notesMasters/notesMaster1.xml" Id="R26018b3907da4171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89525dd056e545b8" /><Relationship Type="http://schemas.openxmlformats.org/officeDocument/2006/relationships/notesMaster" Target="/ppt/notesMasters/notesMaster1.xml" Id="R2caa9453068d4ae7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a1560c5ce2974979" /><Relationship Type="http://schemas.openxmlformats.org/officeDocument/2006/relationships/notesMaster" Target="/ppt/notesMasters/notesMaster1.xml" Id="R3f20d595717c447f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458c967f9f724428" /><Relationship Type="http://schemas.openxmlformats.org/officeDocument/2006/relationships/notesMaster" Target="/ppt/notesMasters/notesMaster1.xml" Id="R24b9b154b80044cf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787e8ab41c2e4dce" /><Relationship Type="http://schemas.openxmlformats.org/officeDocument/2006/relationships/notesMaster" Target="/ppt/notesMasters/notesMaster1.xml" Id="Rab6af2c22f98462d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75476f56bca449fe" /><Relationship Type="http://schemas.openxmlformats.org/officeDocument/2006/relationships/notesMaster" Target="/ppt/notesMasters/notesMaster1.xml" Id="R3725186b9dcf4809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ee82dcb1bb9e42a2" /><Relationship Type="http://schemas.openxmlformats.org/officeDocument/2006/relationships/notesMaster" Target="/ppt/notesMasters/notesMaster1.xml" Id="Rfb78ca0a791a44cf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4f23da31a03e4376" /><Relationship Type="http://schemas.openxmlformats.org/officeDocument/2006/relationships/notesMaster" Target="/ppt/notesMasters/notesMaster1.xml" Id="R9ac5fb6494124639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0a326c966cba4e9f" /><Relationship Type="http://schemas.openxmlformats.org/officeDocument/2006/relationships/notesMaster" Target="/ppt/notesMasters/notesMaster1.xml" Id="Re2522b1679ff455c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862f3d114df44323" /><Relationship Type="http://schemas.openxmlformats.org/officeDocument/2006/relationships/notesMaster" Target="/ppt/notesMasters/notesMaster1.xml" Id="R2b01b127aa534049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014f8dd659804735" /><Relationship Type="http://schemas.openxmlformats.org/officeDocument/2006/relationships/notesMaster" Target="/ppt/notesMasters/notesMaster1.xml" Id="Rebb5492883594c43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2791617890394d55" /><Relationship Type="http://schemas.openxmlformats.org/officeDocument/2006/relationships/notesMaster" Target="/ppt/notesMasters/notesMaster1.xml" Id="Rbbf29026d0b94937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b78e33b6a6ed447e" /><Relationship Type="http://schemas.openxmlformats.org/officeDocument/2006/relationships/notesMaster" Target="/ppt/notesMasters/notesMaster1.xml" Id="R4e30afbd5155418b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420231bc7afc4085" /><Relationship Type="http://schemas.openxmlformats.org/officeDocument/2006/relationships/notesMaster" Target="/ppt/notesMasters/notesMaster1.xml" Id="Ra1af16aefe4d486d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3cbf5d00b2ec4120" /><Relationship Type="http://schemas.openxmlformats.org/officeDocument/2006/relationships/notesMaster" Target="/ppt/notesMasters/notesMaster1.xml" Id="R5100f20728ab45e3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afb73a5a02e74285" /><Relationship Type="http://schemas.openxmlformats.org/officeDocument/2006/relationships/notesMaster" Target="/ppt/notesMasters/notesMaster1.xml" Id="R7e61c032efe84c87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a8aca5e50bf54ce8" /><Relationship Type="http://schemas.openxmlformats.org/officeDocument/2006/relationships/notesMaster" Target="/ppt/notesMasters/notesMaster1.xml" Id="R9466fe44b6c74827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d98c0a849a5943c6" /><Relationship Type="http://schemas.openxmlformats.org/officeDocument/2006/relationships/notesMaster" Target="/ppt/notesMasters/notesMaster1.xml" Id="R5cbad63baad542ac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0feee52562474c45" /><Relationship Type="http://schemas.openxmlformats.org/officeDocument/2006/relationships/notesMaster" Target="/ppt/notesMasters/notesMaster1.xml" Id="R32c45c7ae9494818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403d8fbbf0a344af" /><Relationship Type="http://schemas.openxmlformats.org/officeDocument/2006/relationships/notesMaster" Target="/ppt/notesMasters/notesMaster1.xml" Id="R56cb167aae9c43c5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4c493b5a2c164127" /><Relationship Type="http://schemas.openxmlformats.org/officeDocument/2006/relationships/notesMaster" Target="/ppt/notesMasters/notesMaster1.xml" Id="R5b573eb0cc4d4af2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2f2401c600944cf4" /><Relationship Type="http://schemas.openxmlformats.org/officeDocument/2006/relationships/notesMaster" Target="/ppt/notesMasters/notesMaster1.xml" Id="R4b0d4666748d42fa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cf52b0e7e18f4218" /><Relationship Type="http://schemas.openxmlformats.org/officeDocument/2006/relationships/notesMaster" Target="/ppt/notesMasters/notesMaster1.xml" Id="R3268edb0f2054a53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8323d0b244d2475b" /><Relationship Type="http://schemas.openxmlformats.org/officeDocument/2006/relationships/notesMaster" Target="/ppt/notesMasters/notesMaster1.xml" Id="R49461808596e4d45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2300e906aeff4f9f" /><Relationship Type="http://schemas.openxmlformats.org/officeDocument/2006/relationships/notesMaster" Target="/ppt/notesMasters/notesMaster1.xml" Id="Ra7f6fede10af4f1c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430d71f3642a48ca" /><Relationship Type="http://schemas.openxmlformats.org/officeDocument/2006/relationships/notesMaster" Target="/ppt/notesMasters/notesMaster1.xml" Id="R806576ed903042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홈페이지와 동일한 사례·분석·요구사항 데이터 사용.</a:t>
            </a:r>
          </a:p>
          <a:p xmlns:a="http://schemas.openxmlformats.org/drawingml/2006/main">
            <a:r>
              <a:t>사실과 요구사항은 출처 기준. 아키텍처의 연결·운영 환류는 CCK 논리 설계. 실제 설치 배치도와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"title": "서울 올빼미버스",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"빅데이터 정책 적용",</a:t>
            </a:r>
          </a:p>
          <a:p xmlns:a="http://schemas.openxmlformats.org/drawingml/2006/main">
            <a:r>
              <a:t>    "period": "2013–2014",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"이동 수요",</a:t>
            </a:r>
          </a:p>
          <a:p xmlns:a="http://schemas.openxmlformats.org/drawingml/2006/main">
            <a:r>
              <a:t>      "교통약자",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"데이터 연계"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"통신 데이터 분석의 심야버스 노선 반영 및 2개 노선에서 9개 노선으로 운영 확대",</a:t>
            </a:r>
          </a:p>
          <a:p xmlns:a="http://schemas.openxmlformats.org/drawingml/2006/main">
            <a:r>
              <a:t>    "limit": "운영기관 발표 · 생성형 AI 사례 아님 · 사고 감소·지역경제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"통신 이동 수요",</a:t>
            </a:r>
          </a:p>
          <a:p xmlns:a="http://schemas.openxmlformats.org/drawingml/2006/main">
            <a:r>
              <a:t>      "시간·지역 분석",</a:t>
            </a:r>
          </a:p>
          <a:p xmlns:a="http://schemas.openxmlformats.org/drawingml/2006/main">
            <a:r>
              <a:t>      "노선 선정",</a:t>
            </a:r>
          </a:p>
          <a:p xmlns:a="http://schemas.openxmlformats.org/drawingml/2006/main">
            <a:r>
              <a:t>      "심야버스 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 요약 · 시스템 배치도 재현 아님",</a:t>
            </a:r>
          </a:p>
          <a:p xmlns:a="http://schemas.openxmlformats.org/drawingml/2006/main">
            <a:r>
              <a:t>    "lesson":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"지역·시간·관할 코드 정규화 / 집계 통계와 현장 근거 대조",</a:t>
            </a:r>
          </a:p>
          <a:p xmlns:a="http://schemas.openxmlformats.org/drawingml/2006/main">
            <a:r>
              <a:t>    "test": "동일 지역·기간의 원천 집계 재현 및 담당 부서 매핑 대조",</a:t>
            </a:r>
          </a:p>
          <a:p xmlns:a="http://schemas.openxmlformats.org/drawingml/2006/main">
            <a:r>
              <a:t>    "metric": "수요 검토 소요시간 / 근거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"canonicalId": "AX01",</a:t>
            </a:r>
          </a:p>
          <a:p xmlns:a="http://schemas.openxmlformats.org/drawingml/2006/main">
            <a:r>
              <a:t>    "purpose": "심야 이동 수요에 맞춘 버스 노선 설계",</a:t>
            </a:r>
          </a:p>
          <a:p xmlns:a="http://schemas.openxmlformats.org/drawingml/2006/main">
            <a:r>
              <a:t>    "users": "교통정책 담당·운송 운영자",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"심야 수요 분포",</a:t>
            </a:r>
          </a:p>
          <a:p xmlns:a="http://schemas.openxmlformats.org/drawingml/2006/main">
            <a:r>
              <a:t>      "노선 후보 비교",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"이동 수요 자료",</a:t>
            </a:r>
          </a:p>
          <a:p xmlns:a="http://schemas.openxmlformats.org/drawingml/2006/main">
            <a:r>
              <a:t>        "detail": "시간대·출발지·도착지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"심야 수요 분포 / 노선 후보 비교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"시간·지역 집계 분석",</a:t>
            </a:r>
          </a:p>
          <a:p xmlns:a="http://schemas.openxmlformats.org/drawingml/2006/main">
            <a:r>
              <a:t>        "detail": "이동량 집계와 노선별 수요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"노선 기획 담당",</a:t>
            </a:r>
          </a:p>
          <a:p xmlns:a="http://schemas.openxmlformats.org/drawingml/2006/main">
            <a:r>
              <a:t>        "detail": "노선 후보를 담당자의 운행계획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"수요·노선 자료",</a:t>
            </a:r>
          </a:p>
          <a:p xmlns:a="http://schemas.openxmlformats.org/drawingml/2006/main">
            <a:r>
              <a:t>        "detail": "통신 수요·노선의 공간 단위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"운행 후 수요 차이를 차기 노선 검토에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"통신 이동 수요",</a:t>
            </a:r>
          </a:p>
          <a:p xmlns:a="http://schemas.openxmlformats.org/drawingml/2006/main">
            <a:r>
              <a:t>        "input": "시간대·출발지·도착지 지정",</a:t>
            </a:r>
          </a:p>
          <a:p xmlns:a="http://schemas.openxmlformats.org/drawingml/2006/main">
            <a:r>
              <a:t>        "process": "통신 수요·노선의 공간 단위 정합화",</a:t>
            </a:r>
          </a:p>
          <a:p xmlns:a="http://schemas.openxmlformats.org/drawingml/2006/main">
            <a:r>
              <a:t>        "output": "시간대별 이동량"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"시간·지역 분석",</a:t>
            </a:r>
          </a:p>
          <a:p xmlns:a="http://schemas.openxmlformats.org/drawingml/2006/main">
            <a:r>
              <a:t>        "input": "시간대별 이동량",</a:t>
            </a:r>
          </a:p>
          <a:p xmlns:a="http://schemas.openxmlformats.org/drawingml/2006/main">
            <a:r>
              <a:t>        "process": "이동량 집계와 노선별 수요 비교",</a:t>
            </a:r>
          </a:p>
          <a:p xmlns:a="http://schemas.openxmlformats.org/drawingml/2006/main">
            <a:r>
              <a:t>        "output": "지역별 수요 분포"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"노선 선정",</a:t>
            </a:r>
          </a:p>
          <a:p xmlns:a="http://schemas.openxmlformats.org/drawingml/2006/main">
            <a:r>
              <a:t>        "input": "지역별 수요 분포",</a:t>
            </a:r>
          </a:p>
          <a:p xmlns:a="http://schemas.openxmlformats.org/drawingml/2006/main">
            <a:r>
              <a:t>        "process": "집계 단위·관측기간 대조",</a:t>
            </a:r>
          </a:p>
          <a:p xmlns:a="http://schemas.openxmlformats.org/drawingml/2006/main">
            <a:r>
              <a:t>        "output": "노선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"심야버스 운영",</a:t>
            </a:r>
          </a:p>
          <a:p xmlns:a="http://schemas.openxmlformats.org/drawingml/2006/main">
            <a:r>
              <a:t>        "input": "노선 후보",</a:t>
            </a:r>
          </a:p>
          <a:p xmlns:a="http://schemas.openxmlformats.org/drawingml/2006/main">
            <a:r>
              <a:t>        "process": "노선 후보를 담당자의 운행계획 검토에 전달",</a:t>
            </a:r>
          </a:p>
          <a:p xmlns:a="http://schemas.openxmlformats.org/drawingml/2006/main">
            <a:r>
              <a:t>        "output": "운영 노선"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"심야 시간대별 이동 수요를 기존 노선과 대조해 미충족 구간 선정",</a:t>
            </a:r>
          </a:p>
          <a:p xmlns:a="http://schemas.openxmlformats.org/drawingml/2006/main">
            <a:r>
              <a:t>      "exception": "지역별 통신 표본 비율 차이·관측기간 불일치",</a:t>
            </a:r>
          </a:p>
          <a:p xmlns:a="http://schemas.openxmlformats.org/drawingml/2006/main">
            <a:r>
              <a:t>      "evidence": "지역·시간 단위 원천 집계 대사표와 노선 후보 선정 사유",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"교통정책 담당·운송 운영자",</a:t>
            </a:r>
          </a:p>
          <a:p xmlns:a="http://schemas.openxmlformats.org/drawingml/2006/main">
            <a:r>
              <a:t>          "processing": "시간대·출발지·도착지 지정",</a:t>
            </a:r>
          </a:p>
          <a:p xmlns:a="http://schemas.openxmlformats.org/drawingml/2006/main">
            <a:r>
              <a:t>          "output": "시간대별 이동량"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"수요·노선 자료",</a:t>
            </a:r>
          </a:p>
          <a:p xmlns:a="http://schemas.openxmlformats.org/drawingml/2006/main">
            <a:r>
              <a:t>          "processing": "통신 수요·노선의 공간 단위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"시간대별 이동량",</a:t>
            </a:r>
          </a:p>
          <a:p xmlns:a="http://schemas.openxmlformats.org/drawingml/2006/main">
            <a:r>
              <a:t>          "processing": "이동량 집계와 노선별 수요 비교",</a:t>
            </a:r>
          </a:p>
          <a:p xmlns:a="http://schemas.openxmlformats.org/drawingml/2006/main">
            <a:r>
              <a:t>          "output": "노선 후보"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"노선 후보",</a:t>
            </a:r>
          </a:p>
          <a:p xmlns:a="http://schemas.openxmlformats.org/drawingml/2006/main">
            <a:r>
              <a:t>          "processing": "노선 후보를 담당자의 운행계획 검토에 전달",</a:t>
            </a:r>
          </a:p>
          <a:p xmlns:a="http://schemas.openxmlformats.org/drawingml/2006/main">
            <a:r>
              <a:t>          "output": "운영 노선"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"운행 후 수요 차이를 차기 노선 검토에 반영",</a:t>
            </a:r>
          </a:p>
          <a:p xmlns:a="http://schemas.openxmlformats.org/drawingml/2006/main">
            <a:r>
              <a:t>          "output":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"운행 후 수요 차이를 차기 노선 검토에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"S01",</a:t>
            </a:r>
          </a:p>
          <a:p xmlns:a="http://schemas.openxmlformats.org/drawingml/2006/main">
            <a:r>
              <a:t>        "title": "서울시 · 올빼미버스 빅데이터 정책",</a:t>
            </a:r>
          </a:p>
          <a:p xmlns:a="http://schemas.openxmlformats.org/drawingml/2006/main">
            <a:r>
              <a:t>        "url": "https://english.seoul.go.kr/smg-taps-big-data-customized-policy/",</a:t>
            </a:r>
          </a:p>
          <a:p xmlns:a="http://schemas.openxmlformats.org/drawingml/2006/main">
            <a:r>
              <a:t>        "published": "2014-04-28",</a:t>
            </a:r>
          </a:p>
          <a:p xmlns:a="http://schemas.openxmlformats.org/drawingml/2006/main">
            <a:r>
              <a:t>        "level": "운영기관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"심야 교통 수요를 실제 노선 결정에 연결한 데이터 기반 정책 사례. 기존 노선·운행계획을 검토하는 담당자가 시간대·지역별 잠재 수요를 함께 비교하는 업무 변화.",</a:t>
            </a:r>
          </a:p>
          <a:p xmlns:a="http://schemas.openxmlformats.org/drawingml/2006/main">
            <a:r>
              <a:t>      "통신 이동량과 노선 정보를 공통 공간 단위로 정리한 뒤 수요 분포와 노선 후보를 비교하는 분석 흐름의 재구성. CCK 적용 시 분석 결과를 담당 관할·교통약자 지원 업무·노선 검토자료로 변환하는 단계의 분리.",</a:t>
            </a:r>
          </a:p>
          <a:p xmlns:a="http://schemas.openxmlformats.org/drawingml/2006/main">
            <a:r>
              <a:t>      "운영 노선 확대 실적과 안전·지역경제 효과의 구분. 통신자료의 대표성, 시간대별 집계 재현성, 실제 승차 수요와의 차이를 확인한 후 TS 업무 검토시간·근거 누락률로 평가할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"노선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"교통정책 담당·운송 운영자",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"시간·지역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"시간대·출발지·도착지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"수요 집계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"시간대별 이동량",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"노선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"이동량 집계와 노선별 수요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"대표성·집계 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"집계 단위·관측기간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"교통정책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"심야 시간대별 이동 수요를 기존 노선과 대조해 미충족 구간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"노선 운영계획",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"노선 후보를 담당자의 운행계획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수요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"운행 후 수요 차이를 차기 노선 검토에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"통신·노선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"수요·노선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"공간 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"통신 수요·노선의 공간 단위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"지역·시간 집계",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"지역·시간 단위 원천 집계 대사표와 노선 후보 선정 사유",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 이용정책",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"지역별 통신 표본 비율 차이·관측기간 불일치",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"시간대·출발지·도착지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"시간대별 이동량",</a:t>
            </a:r>
          </a:p>
          <a:p xmlns:a="http://schemas.openxmlformats.org/drawingml/2006/main">
            <a:r>
              <a:t>          "check": "집계 단위·관측기간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"지역별 수요 분포",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"지역별 통신 표본 비율 차이·관측기간 불일치"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"노선 후보를 담당자의 운행계획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"운영 노선",</a:t>
            </a:r>
          </a:p>
          <a:p xmlns:a="http://schemas.openxmlformats.org/drawingml/2006/main">
            <a:r>
              <a:t>          "check":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"심야 이동 수요에 맞춘 버스 노선 설계 / 심야 수요 분포·노선 후보 비교·운행 검토",</a:t>
            </a:r>
          </a:p>
          <a:p xmlns:a="http://schemas.openxmlformats.org/drawingml/2006/main">
            <a:r>
              <a:t>        "extension": "TS 관할·교통약자·이동 수요를 지역별 업무 사전으로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"지역별 통신 표본 비율 차이·관측기간 불일치",</a:t>
            </a:r>
          </a:p>
          <a:p xmlns:a="http://schemas.openxmlformats.org/drawingml/2006/main">
            <a:r>
              <a:t>        "hold": "집계 단위·관측기간 대조",</a:t>
            </a:r>
          </a:p>
          <a:p xmlns:a="http://schemas.openxmlformats.org/drawingml/2006/main">
            <a:r>
              <a:t>        "recovery": "운행 후 수요 차이를 차기 노선 검토에 반영",</a:t>
            </a:r>
          </a:p>
          <a:p xmlns:a="http://schemas.openxmlformats.org/drawingml/2006/main">
            <a:r>
              <a:t>        "evidence": "지역·시간 단위 원천 집계 대사표와 노선 후보 선정 사유"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"수요·노선 자료",</a:t>
            </a:r>
          </a:p>
          <a:p xmlns:a="http://schemas.openxmlformats.org/drawingml/2006/main">
            <a:r>
              <a:t>        "prepare": "통신 수요·노선의 공간 단위 정합화",</a:t>
            </a:r>
          </a:p>
          <a:p xmlns:a="http://schemas.openxmlformats.org/drawingml/2006/main">
            <a:r>
              <a:t>        "output": "시간대별 이동량",</a:t>
            </a:r>
          </a:p>
          <a:p xmlns:a="http://schemas.openxmlformats.org/drawingml/2006/main">
            <a:r>
              <a:t>        "refresh": "운행 후 수요 차이를 차기 노선 검토에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"통신 수요와 실제 노선의 결합",</a:t>
            </a:r>
          </a:p>
          <a:p xmlns:a="http://schemas.openxmlformats.org/drawingml/2006/main">
            <a:r>
              <a:t>      "심야 시간·지역 단위의 수요 구분"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"휴대전화 자료의 이용자 대표성 차이",</a:t>
            </a:r>
          </a:p>
          <a:p xmlns:a="http://schemas.openxmlformats.org/drawingml/2006/main">
            <a:r>
              <a:t>      "노선 확대와 사고 감소의 인과관계 분리"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"이동 수요 자료",</a:t>
            </a:r>
          </a:p>
          <a:p xmlns:a="http://schemas.openxmlformats.org/drawingml/2006/main">
            <a:r>
              <a:t>      "시간·지역 집계 분석",</a:t>
            </a:r>
          </a:p>
          <a:p xmlns:a="http://schemas.openxmlformats.org/drawingml/2006/main">
            <a:r>
              <a:t>      "수요·노선 자료",</a:t>
            </a:r>
          </a:p>
          <a:p xmlns:a="http://schemas.openxmlformats.org/drawingml/2006/main">
            <a:r>
              <a:t>      "노선 기획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"시간대별 이동량",</a:t>
            </a:r>
          </a:p>
          <a:p xmlns:a="http://schemas.openxmlformats.org/drawingml/2006/main">
            <a:r>
              <a:t>      "지역별 수요 분포",</a:t>
            </a:r>
          </a:p>
          <a:p xmlns:a="http://schemas.openxmlformats.org/drawingml/2006/main">
            <a:r>
              <a:t>      "노선 후보",</a:t>
            </a:r>
          </a:p>
          <a:p xmlns:a="http://schemas.openxmlformats.org/drawingml/2006/main">
            <a:r>
              <a:t>      "운영 노선"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"집계 단위·관측기간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서울시 · 올빼미버스 빅데이터 정책 https://english.seoul.go.kr/smg-taps-big-data-customized-policy/</a:t>
            </a:r>
          </a:p>
          <a:p xmlns:a="http://schemas.openxmlformats.org/drawingml/2006/main">
            <a:r>
              <a:t>홈페이지 https://heen1987-ops.github.io/TS-business-Plan-001/index.html?view=casebook&amp;case=AX01</a:t>
            </a:r>
          </a:p>
          <a:p xmlns:a="http://schemas.openxmlformats.org/drawingml/2006/main">
            <a:r>
              <a:t>한계: 운영기관 발표 · 생성형 AI 사례 아님 · 사고 감소·지역경제 인과효과 별도</a:t>
            </a:r>
          </a:p>
          <a:p xmlns:a="http://schemas.openxmlformats.org/drawingml/2006/main">
            <a:r>
              <a:t>실패 위험: 휴대전화 자료의 이용자 대표성 차이 / 노선 확대와 사고 감소의 인과관계 분리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"title": "서울 올빼미버스",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"빅데이터 정책 적용",</a:t>
            </a:r>
          </a:p>
          <a:p xmlns:a="http://schemas.openxmlformats.org/drawingml/2006/main">
            <a:r>
              <a:t>    "period": "2013–2014",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"이동 수요",</a:t>
            </a:r>
          </a:p>
          <a:p xmlns:a="http://schemas.openxmlformats.org/drawingml/2006/main">
            <a:r>
              <a:t>      "교통약자",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"데이터 연계"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"통신 데이터 분석의 심야버스 노선 반영 및 2개 노선에서 9개 노선으로 운영 확대",</a:t>
            </a:r>
          </a:p>
          <a:p xmlns:a="http://schemas.openxmlformats.org/drawingml/2006/main">
            <a:r>
              <a:t>    "limit": "운영기관 발표 · 생성형 AI 사례 아님 · 사고 감소·지역경제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"통신 이동 수요",</a:t>
            </a:r>
          </a:p>
          <a:p xmlns:a="http://schemas.openxmlformats.org/drawingml/2006/main">
            <a:r>
              <a:t>      "시간·지역 분석",</a:t>
            </a:r>
          </a:p>
          <a:p xmlns:a="http://schemas.openxmlformats.org/drawingml/2006/main">
            <a:r>
              <a:t>      "노선 선정",</a:t>
            </a:r>
          </a:p>
          <a:p xmlns:a="http://schemas.openxmlformats.org/drawingml/2006/main">
            <a:r>
              <a:t>      "심야버스 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 요약 · 시스템 배치도 재현 아님",</a:t>
            </a:r>
          </a:p>
          <a:p xmlns:a="http://schemas.openxmlformats.org/drawingml/2006/main">
            <a:r>
              <a:t>    "lesson":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"지역·시간·관할 코드 정규화 / 집계 통계와 현장 근거 대조",</a:t>
            </a:r>
          </a:p>
          <a:p xmlns:a="http://schemas.openxmlformats.org/drawingml/2006/main">
            <a:r>
              <a:t>    "test": "동일 지역·기간의 원천 집계 재현 및 담당 부서 매핑 대조",</a:t>
            </a:r>
          </a:p>
          <a:p xmlns:a="http://schemas.openxmlformats.org/drawingml/2006/main">
            <a:r>
              <a:t>    "metric": "수요 검토 소요시간 / 근거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"canonicalId": "AX01",</a:t>
            </a:r>
          </a:p>
          <a:p xmlns:a="http://schemas.openxmlformats.org/drawingml/2006/main">
            <a:r>
              <a:t>    "purpose": "심야 이동 수요에 맞춘 버스 노선 설계",</a:t>
            </a:r>
          </a:p>
          <a:p xmlns:a="http://schemas.openxmlformats.org/drawingml/2006/main">
            <a:r>
              <a:t>    "users": "교통정책 담당·운송 운영자",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"심야 수요 분포",</a:t>
            </a:r>
          </a:p>
          <a:p xmlns:a="http://schemas.openxmlformats.org/drawingml/2006/main">
            <a:r>
              <a:t>      "노선 후보 비교",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"이동 수요 자료",</a:t>
            </a:r>
          </a:p>
          <a:p xmlns:a="http://schemas.openxmlformats.org/drawingml/2006/main">
            <a:r>
              <a:t>        "detail": "시간대·출발지·도착지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"심야 수요 분포 / 노선 후보 비교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"시간·지역 집계 분석",</a:t>
            </a:r>
          </a:p>
          <a:p xmlns:a="http://schemas.openxmlformats.org/drawingml/2006/main">
            <a:r>
              <a:t>        "detail": "이동량 집계와 노선별 수요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"노선 기획 담당",</a:t>
            </a:r>
          </a:p>
          <a:p xmlns:a="http://schemas.openxmlformats.org/drawingml/2006/main">
            <a:r>
              <a:t>        "detail": "노선 후보를 담당자의 운행계획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"수요·노선 자료",</a:t>
            </a:r>
          </a:p>
          <a:p xmlns:a="http://schemas.openxmlformats.org/drawingml/2006/main">
            <a:r>
              <a:t>        "detail": "통신 수요·노선의 공간 단위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"운행 후 수요 차이를 차기 노선 검토에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"통신 이동 수요",</a:t>
            </a:r>
          </a:p>
          <a:p xmlns:a="http://schemas.openxmlformats.org/drawingml/2006/main">
            <a:r>
              <a:t>        "input": "시간대·출발지·도착지 지정",</a:t>
            </a:r>
          </a:p>
          <a:p xmlns:a="http://schemas.openxmlformats.org/drawingml/2006/main">
            <a:r>
              <a:t>        "process": "통신 수요·노선의 공간 단위 정합화",</a:t>
            </a:r>
          </a:p>
          <a:p xmlns:a="http://schemas.openxmlformats.org/drawingml/2006/main">
            <a:r>
              <a:t>        "output": "시간대별 이동량"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"시간·지역 분석",</a:t>
            </a:r>
          </a:p>
          <a:p xmlns:a="http://schemas.openxmlformats.org/drawingml/2006/main">
            <a:r>
              <a:t>        "input": "시간대별 이동량",</a:t>
            </a:r>
          </a:p>
          <a:p xmlns:a="http://schemas.openxmlformats.org/drawingml/2006/main">
            <a:r>
              <a:t>        "process": "이동량 집계와 노선별 수요 비교",</a:t>
            </a:r>
          </a:p>
          <a:p xmlns:a="http://schemas.openxmlformats.org/drawingml/2006/main">
            <a:r>
              <a:t>        "output": "지역별 수요 분포"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"노선 선정",</a:t>
            </a:r>
          </a:p>
          <a:p xmlns:a="http://schemas.openxmlformats.org/drawingml/2006/main">
            <a:r>
              <a:t>        "input": "지역별 수요 분포",</a:t>
            </a:r>
          </a:p>
          <a:p xmlns:a="http://schemas.openxmlformats.org/drawingml/2006/main">
            <a:r>
              <a:t>        "process": "집계 단위·관측기간 대조",</a:t>
            </a:r>
          </a:p>
          <a:p xmlns:a="http://schemas.openxmlformats.org/drawingml/2006/main">
            <a:r>
              <a:t>        "output": "노선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"심야버스 운영",</a:t>
            </a:r>
          </a:p>
          <a:p xmlns:a="http://schemas.openxmlformats.org/drawingml/2006/main">
            <a:r>
              <a:t>        "input": "노선 후보",</a:t>
            </a:r>
          </a:p>
          <a:p xmlns:a="http://schemas.openxmlformats.org/drawingml/2006/main">
            <a:r>
              <a:t>        "process": "노선 후보를 담당자의 운행계획 검토에 전달",</a:t>
            </a:r>
          </a:p>
          <a:p xmlns:a="http://schemas.openxmlformats.org/drawingml/2006/main">
            <a:r>
              <a:t>        "output": "운영 노선"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"심야 시간대별 이동 수요를 기존 노선과 대조해 미충족 구간 선정",</a:t>
            </a:r>
          </a:p>
          <a:p xmlns:a="http://schemas.openxmlformats.org/drawingml/2006/main">
            <a:r>
              <a:t>      "exception": "지역별 통신 표본 비율 차이·관측기간 불일치",</a:t>
            </a:r>
          </a:p>
          <a:p xmlns:a="http://schemas.openxmlformats.org/drawingml/2006/main">
            <a:r>
              <a:t>      "evidence": "지역·시간 단위 원천 집계 대사표와 노선 후보 선정 사유",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"교통정책 담당·운송 운영자",</a:t>
            </a:r>
          </a:p>
          <a:p xmlns:a="http://schemas.openxmlformats.org/drawingml/2006/main">
            <a:r>
              <a:t>          "processing": "시간대·출발지·도착지 지정",</a:t>
            </a:r>
          </a:p>
          <a:p xmlns:a="http://schemas.openxmlformats.org/drawingml/2006/main">
            <a:r>
              <a:t>          "output": "시간대별 이동량"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"수요·노선 자료",</a:t>
            </a:r>
          </a:p>
          <a:p xmlns:a="http://schemas.openxmlformats.org/drawingml/2006/main">
            <a:r>
              <a:t>          "processing": "통신 수요·노선의 공간 단위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"시간대별 이동량",</a:t>
            </a:r>
          </a:p>
          <a:p xmlns:a="http://schemas.openxmlformats.org/drawingml/2006/main">
            <a:r>
              <a:t>          "processing": "이동량 집계와 노선별 수요 비교",</a:t>
            </a:r>
          </a:p>
          <a:p xmlns:a="http://schemas.openxmlformats.org/drawingml/2006/main">
            <a:r>
              <a:t>          "output": "노선 후보"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"노선 후보",</a:t>
            </a:r>
          </a:p>
          <a:p xmlns:a="http://schemas.openxmlformats.org/drawingml/2006/main">
            <a:r>
              <a:t>          "processing": "노선 후보를 담당자의 운행계획 검토에 전달",</a:t>
            </a:r>
          </a:p>
          <a:p xmlns:a="http://schemas.openxmlformats.org/drawingml/2006/main">
            <a:r>
              <a:t>          "output": "운영 노선"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"운행 후 수요 차이를 차기 노선 검토에 반영",</a:t>
            </a:r>
          </a:p>
          <a:p xmlns:a="http://schemas.openxmlformats.org/drawingml/2006/main">
            <a:r>
              <a:t>          "output":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"운행 후 수요 차이를 차기 노선 검토에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"S01",</a:t>
            </a:r>
          </a:p>
          <a:p xmlns:a="http://schemas.openxmlformats.org/drawingml/2006/main">
            <a:r>
              <a:t>        "title": "서울시 · 올빼미버스 빅데이터 정책",</a:t>
            </a:r>
          </a:p>
          <a:p xmlns:a="http://schemas.openxmlformats.org/drawingml/2006/main">
            <a:r>
              <a:t>        "url": "https://english.seoul.go.kr/smg-taps-big-data-customized-policy/",</a:t>
            </a:r>
          </a:p>
          <a:p xmlns:a="http://schemas.openxmlformats.org/drawingml/2006/main">
            <a:r>
              <a:t>        "published": "2014-04-28",</a:t>
            </a:r>
          </a:p>
          <a:p xmlns:a="http://schemas.openxmlformats.org/drawingml/2006/main">
            <a:r>
              <a:t>        "level": "운영기관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"심야 교통 수요를 실제 노선 결정에 연결한 데이터 기반 정책 사례. 기존 노선·운행계획을 검토하는 담당자가 시간대·지역별 잠재 수요를 함께 비교하는 업무 변화.",</a:t>
            </a:r>
          </a:p>
          <a:p xmlns:a="http://schemas.openxmlformats.org/drawingml/2006/main">
            <a:r>
              <a:t>      "통신 이동량과 노선 정보를 공통 공간 단위로 정리한 뒤 수요 분포와 노선 후보를 비교하는 분석 흐름의 재구성. CCK 적용 시 분석 결과를 담당 관할·교통약자 지원 업무·노선 검토자료로 변환하는 단계의 분리.",</a:t>
            </a:r>
          </a:p>
          <a:p xmlns:a="http://schemas.openxmlformats.org/drawingml/2006/main">
            <a:r>
              <a:t>      "운영 노선 확대 실적과 안전·지역경제 효과의 구분. 통신자료의 대표성, 시간대별 집계 재현성, 실제 승차 수요와의 차이를 확인한 후 TS 업무 검토시간·근거 누락률로 평가할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"노선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"교통정책 담당·운송 운영자",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"시간·지역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"시간대·출발지·도착지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"수요 집계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"시간대별 이동량",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"노선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"이동량 집계와 노선별 수요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"대표성·집계 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"집계 단위·관측기간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"교통정책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"심야 시간대별 이동 수요를 기존 노선과 대조해 미충족 구간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"노선 운영계획",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"노선 후보를 담당자의 운행계획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수요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"운행 후 수요 차이를 차기 노선 검토에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"통신·노선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"수요·노선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"공간 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"통신 수요·노선의 공간 단위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"지역·시간 집계",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"지역·시간 단위 원천 집계 대사표와 노선 후보 선정 사유",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 이용정책",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"지역별 통신 표본 비율 차이·관측기간 불일치",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"시간대·출발지·도착지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"시간대별 이동량",</a:t>
            </a:r>
          </a:p>
          <a:p xmlns:a="http://schemas.openxmlformats.org/drawingml/2006/main">
            <a:r>
              <a:t>          "check": "집계 단위·관측기간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"지역별 수요 분포",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"지역별 통신 표본 비율 차이·관측기간 불일치"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"노선 후보를 담당자의 운행계획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"운영 노선",</a:t>
            </a:r>
          </a:p>
          <a:p xmlns:a="http://schemas.openxmlformats.org/drawingml/2006/main">
            <a:r>
              <a:t>          "check":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"심야 이동 수요에 맞춘 버스 노선 설계 / 심야 수요 분포·노선 후보 비교·운행 검토",</a:t>
            </a:r>
          </a:p>
          <a:p xmlns:a="http://schemas.openxmlformats.org/drawingml/2006/main">
            <a:r>
              <a:t>        "extension": "TS 관할·교통약자·이동 수요를 지역별 업무 사전으로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"지역별 통신 표본 비율 차이·관측기간 불일치",</a:t>
            </a:r>
          </a:p>
          <a:p xmlns:a="http://schemas.openxmlformats.org/drawingml/2006/main">
            <a:r>
              <a:t>        "hold": "집계 단위·관측기간 대조",</a:t>
            </a:r>
          </a:p>
          <a:p xmlns:a="http://schemas.openxmlformats.org/drawingml/2006/main">
            <a:r>
              <a:t>        "recovery": "운행 후 수요 차이를 차기 노선 검토에 반영",</a:t>
            </a:r>
          </a:p>
          <a:p xmlns:a="http://schemas.openxmlformats.org/drawingml/2006/main">
            <a:r>
              <a:t>        "evidence": "지역·시간 단위 원천 집계 대사표와 노선 후보 선정 사유"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"수요·노선 자료",</a:t>
            </a:r>
          </a:p>
          <a:p xmlns:a="http://schemas.openxmlformats.org/drawingml/2006/main">
            <a:r>
              <a:t>        "prepare": "통신 수요·노선의 공간 단위 정합화",</a:t>
            </a:r>
          </a:p>
          <a:p xmlns:a="http://schemas.openxmlformats.org/drawingml/2006/main">
            <a:r>
              <a:t>        "output": "시간대별 이동량",</a:t>
            </a:r>
          </a:p>
          <a:p xmlns:a="http://schemas.openxmlformats.org/drawingml/2006/main">
            <a:r>
              <a:t>        "refresh": "운행 후 수요 차이를 차기 노선 검토에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"통신 수요와 실제 노선의 결합",</a:t>
            </a:r>
          </a:p>
          <a:p xmlns:a="http://schemas.openxmlformats.org/drawingml/2006/main">
            <a:r>
              <a:t>      "심야 시간·지역 단위의 수요 구분"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"휴대전화 자료의 이용자 대표성 차이",</a:t>
            </a:r>
          </a:p>
          <a:p xmlns:a="http://schemas.openxmlformats.org/drawingml/2006/main">
            <a:r>
              <a:t>      "노선 확대와 사고 감소의 인과관계 분리"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"이동 수요 자료",</a:t>
            </a:r>
          </a:p>
          <a:p xmlns:a="http://schemas.openxmlformats.org/drawingml/2006/main">
            <a:r>
              <a:t>      "시간·지역 집계 분석",</a:t>
            </a:r>
          </a:p>
          <a:p xmlns:a="http://schemas.openxmlformats.org/drawingml/2006/main">
            <a:r>
              <a:t>      "수요·노선 자료",</a:t>
            </a:r>
          </a:p>
          <a:p xmlns:a="http://schemas.openxmlformats.org/drawingml/2006/main">
            <a:r>
              <a:t>      "노선 기획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"시간대별 이동량",</a:t>
            </a:r>
          </a:p>
          <a:p xmlns:a="http://schemas.openxmlformats.org/drawingml/2006/main">
            <a:r>
              <a:t>      "지역별 수요 분포",</a:t>
            </a:r>
          </a:p>
          <a:p xmlns:a="http://schemas.openxmlformats.org/drawingml/2006/main">
            <a:r>
              <a:t>      "노선 후보",</a:t>
            </a:r>
          </a:p>
          <a:p xmlns:a="http://schemas.openxmlformats.org/drawingml/2006/main">
            <a:r>
              <a:t>      "운영 노선"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"집계 단위·관측기간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서울시 · 올빼미버스 빅데이터 정책 https://english.seoul.go.kr/smg-taps-big-data-customized-policy/</a:t>
            </a:r>
          </a:p>
          <a:p xmlns:a="http://schemas.openxmlformats.org/drawingml/2006/main">
            <a:r>
              <a:t>홈페이지 https://heen1987-ops.github.io/TS-business-Plan-001/index.html?view=casebook&amp;case=AX01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"title": "서울 올빼미버스",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"빅데이터 정책 적용",</a:t>
            </a:r>
          </a:p>
          <a:p xmlns:a="http://schemas.openxmlformats.org/drawingml/2006/main">
            <a:r>
              <a:t>    "period": "2013–2014",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"이동 수요",</a:t>
            </a:r>
          </a:p>
          <a:p xmlns:a="http://schemas.openxmlformats.org/drawingml/2006/main">
            <a:r>
              <a:t>      "교통약자",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"데이터 연계"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"통신 데이터 분석의 심야버스 노선 반영 및 2개 노선에서 9개 노선으로 운영 확대",</a:t>
            </a:r>
          </a:p>
          <a:p xmlns:a="http://schemas.openxmlformats.org/drawingml/2006/main">
            <a:r>
              <a:t>    "limit": "운영기관 발표 · 생성형 AI 사례 아님 · 사고 감소·지역경제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"통신 이동 수요",</a:t>
            </a:r>
          </a:p>
          <a:p xmlns:a="http://schemas.openxmlformats.org/drawingml/2006/main">
            <a:r>
              <a:t>      "시간·지역 분석",</a:t>
            </a:r>
          </a:p>
          <a:p xmlns:a="http://schemas.openxmlformats.org/drawingml/2006/main">
            <a:r>
              <a:t>      "노선 선정",</a:t>
            </a:r>
          </a:p>
          <a:p xmlns:a="http://schemas.openxmlformats.org/drawingml/2006/main">
            <a:r>
              <a:t>      "심야버스 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 요약 · 시스템 배치도 재현 아님",</a:t>
            </a:r>
          </a:p>
          <a:p xmlns:a="http://schemas.openxmlformats.org/drawingml/2006/main">
            <a:r>
              <a:t>    "lesson":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"지역·시간·관할 코드 정규화 / 집계 통계와 현장 근거 대조",</a:t>
            </a:r>
          </a:p>
          <a:p xmlns:a="http://schemas.openxmlformats.org/drawingml/2006/main">
            <a:r>
              <a:t>    "test": "동일 지역·기간의 원천 집계 재현 및 담당 부서 매핑 대조",</a:t>
            </a:r>
          </a:p>
          <a:p xmlns:a="http://schemas.openxmlformats.org/drawingml/2006/main">
            <a:r>
              <a:t>    "metric": "수요 검토 소요시간 / 근거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"canonicalId": "AX01",</a:t>
            </a:r>
          </a:p>
          <a:p xmlns:a="http://schemas.openxmlformats.org/drawingml/2006/main">
            <a:r>
              <a:t>    "purpose": "심야 이동 수요에 맞춘 버스 노선 설계",</a:t>
            </a:r>
          </a:p>
          <a:p xmlns:a="http://schemas.openxmlformats.org/drawingml/2006/main">
            <a:r>
              <a:t>    "users": "교통정책 담당·운송 운영자",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"심야 수요 분포",</a:t>
            </a:r>
          </a:p>
          <a:p xmlns:a="http://schemas.openxmlformats.org/drawingml/2006/main">
            <a:r>
              <a:t>      "노선 후보 비교",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"이동 수요 자료",</a:t>
            </a:r>
          </a:p>
          <a:p xmlns:a="http://schemas.openxmlformats.org/drawingml/2006/main">
            <a:r>
              <a:t>        "detail": "시간대·출발지·도착지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"심야 수요 분포 / 노선 후보 비교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"시간·지역 집계 분석",</a:t>
            </a:r>
          </a:p>
          <a:p xmlns:a="http://schemas.openxmlformats.org/drawingml/2006/main">
            <a:r>
              <a:t>        "detail": "이동량 집계와 노선별 수요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"노선 기획 담당",</a:t>
            </a:r>
          </a:p>
          <a:p xmlns:a="http://schemas.openxmlformats.org/drawingml/2006/main">
            <a:r>
              <a:t>        "detail": "노선 후보를 담당자의 운행계획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"수요·노선 자료",</a:t>
            </a:r>
          </a:p>
          <a:p xmlns:a="http://schemas.openxmlformats.org/drawingml/2006/main">
            <a:r>
              <a:t>        "detail": "통신 수요·노선의 공간 단위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"운행 후 수요 차이를 차기 노선 검토에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"통신 이동 수요",</a:t>
            </a:r>
          </a:p>
          <a:p xmlns:a="http://schemas.openxmlformats.org/drawingml/2006/main">
            <a:r>
              <a:t>        "input": "시간대·출발지·도착지 지정",</a:t>
            </a:r>
          </a:p>
          <a:p xmlns:a="http://schemas.openxmlformats.org/drawingml/2006/main">
            <a:r>
              <a:t>        "process": "통신 수요·노선의 공간 단위 정합화",</a:t>
            </a:r>
          </a:p>
          <a:p xmlns:a="http://schemas.openxmlformats.org/drawingml/2006/main">
            <a:r>
              <a:t>        "output": "시간대별 이동량"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"시간·지역 분석",</a:t>
            </a:r>
          </a:p>
          <a:p xmlns:a="http://schemas.openxmlformats.org/drawingml/2006/main">
            <a:r>
              <a:t>        "input": "시간대별 이동량",</a:t>
            </a:r>
          </a:p>
          <a:p xmlns:a="http://schemas.openxmlformats.org/drawingml/2006/main">
            <a:r>
              <a:t>        "process": "이동량 집계와 노선별 수요 비교",</a:t>
            </a:r>
          </a:p>
          <a:p xmlns:a="http://schemas.openxmlformats.org/drawingml/2006/main">
            <a:r>
              <a:t>        "output": "지역별 수요 분포"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"노선 선정",</a:t>
            </a:r>
          </a:p>
          <a:p xmlns:a="http://schemas.openxmlformats.org/drawingml/2006/main">
            <a:r>
              <a:t>        "input": "지역별 수요 분포",</a:t>
            </a:r>
          </a:p>
          <a:p xmlns:a="http://schemas.openxmlformats.org/drawingml/2006/main">
            <a:r>
              <a:t>        "process": "집계 단위·관측기간 대조",</a:t>
            </a:r>
          </a:p>
          <a:p xmlns:a="http://schemas.openxmlformats.org/drawingml/2006/main">
            <a:r>
              <a:t>        "output": "노선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"심야버스 운영",</a:t>
            </a:r>
          </a:p>
          <a:p xmlns:a="http://schemas.openxmlformats.org/drawingml/2006/main">
            <a:r>
              <a:t>        "input": "노선 후보",</a:t>
            </a:r>
          </a:p>
          <a:p xmlns:a="http://schemas.openxmlformats.org/drawingml/2006/main">
            <a:r>
              <a:t>        "process": "노선 후보를 담당자의 운행계획 검토에 전달",</a:t>
            </a:r>
          </a:p>
          <a:p xmlns:a="http://schemas.openxmlformats.org/drawingml/2006/main">
            <a:r>
              <a:t>        "output": "운영 노선"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"심야 시간대별 이동 수요를 기존 노선과 대조해 미충족 구간 선정",</a:t>
            </a:r>
          </a:p>
          <a:p xmlns:a="http://schemas.openxmlformats.org/drawingml/2006/main">
            <a:r>
              <a:t>      "exception": "지역별 통신 표본 비율 차이·관측기간 불일치",</a:t>
            </a:r>
          </a:p>
          <a:p xmlns:a="http://schemas.openxmlformats.org/drawingml/2006/main">
            <a:r>
              <a:t>      "evidence": "지역·시간 단위 원천 집계 대사표와 노선 후보 선정 사유",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"교통정책 담당·운송 운영자",</a:t>
            </a:r>
          </a:p>
          <a:p xmlns:a="http://schemas.openxmlformats.org/drawingml/2006/main">
            <a:r>
              <a:t>          "processing": "시간대·출발지·도착지 지정",</a:t>
            </a:r>
          </a:p>
          <a:p xmlns:a="http://schemas.openxmlformats.org/drawingml/2006/main">
            <a:r>
              <a:t>          "output": "시간대별 이동량"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"수요·노선 자료",</a:t>
            </a:r>
          </a:p>
          <a:p xmlns:a="http://schemas.openxmlformats.org/drawingml/2006/main">
            <a:r>
              <a:t>          "processing": "통신 수요·노선의 공간 단위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"시간대별 이동량",</a:t>
            </a:r>
          </a:p>
          <a:p xmlns:a="http://schemas.openxmlformats.org/drawingml/2006/main">
            <a:r>
              <a:t>          "processing": "이동량 집계와 노선별 수요 비교",</a:t>
            </a:r>
          </a:p>
          <a:p xmlns:a="http://schemas.openxmlformats.org/drawingml/2006/main">
            <a:r>
              <a:t>          "output": "노선 후보"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"노선 후보",</a:t>
            </a:r>
          </a:p>
          <a:p xmlns:a="http://schemas.openxmlformats.org/drawingml/2006/main">
            <a:r>
              <a:t>          "processing": "노선 후보를 담당자의 운행계획 검토에 전달",</a:t>
            </a:r>
          </a:p>
          <a:p xmlns:a="http://schemas.openxmlformats.org/drawingml/2006/main">
            <a:r>
              <a:t>          "output": "운영 노선"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"운행 후 수요 차이를 차기 노선 검토에 반영",</a:t>
            </a:r>
          </a:p>
          <a:p xmlns:a="http://schemas.openxmlformats.org/drawingml/2006/main">
            <a:r>
              <a:t>          "output":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"운행 후 수요 차이를 차기 노선 검토에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"S01",</a:t>
            </a:r>
          </a:p>
          <a:p xmlns:a="http://schemas.openxmlformats.org/drawingml/2006/main">
            <a:r>
              <a:t>        "title": "서울시 · 올빼미버스 빅데이터 정책",</a:t>
            </a:r>
          </a:p>
          <a:p xmlns:a="http://schemas.openxmlformats.org/drawingml/2006/main">
            <a:r>
              <a:t>        "url": "https://english.seoul.go.kr/smg-taps-big-data-customized-policy/",</a:t>
            </a:r>
          </a:p>
          <a:p xmlns:a="http://schemas.openxmlformats.org/drawingml/2006/main">
            <a:r>
              <a:t>        "published": "2014-04-28",</a:t>
            </a:r>
          </a:p>
          <a:p xmlns:a="http://schemas.openxmlformats.org/drawingml/2006/main">
            <a:r>
              <a:t>        "level": "운영기관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"심야 교통 수요를 실제 노선 결정에 연결한 데이터 기반 정책 사례. 기존 노선·운행계획을 검토하는 담당자가 시간대·지역별 잠재 수요를 함께 비교하는 업무 변화.",</a:t>
            </a:r>
          </a:p>
          <a:p xmlns:a="http://schemas.openxmlformats.org/drawingml/2006/main">
            <a:r>
              <a:t>      "통신 이동량과 노선 정보를 공통 공간 단위로 정리한 뒤 수요 분포와 노선 후보를 비교하는 분석 흐름의 재구성. CCK 적용 시 분석 결과를 담당 관할·교통약자 지원 업무·노선 검토자료로 변환하는 단계의 분리.",</a:t>
            </a:r>
          </a:p>
          <a:p xmlns:a="http://schemas.openxmlformats.org/drawingml/2006/main">
            <a:r>
              <a:t>      "운영 노선 확대 실적과 안전·지역경제 효과의 구분. 통신자료의 대표성, 시간대별 집계 재현성, 실제 승차 수요와의 차이를 확인한 후 TS 업무 검토시간·근거 누락률로 평가할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"노선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"교통정책 담당·운송 운영자",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"시간·지역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"시간대·출발지·도착지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"수요 집계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"시간대별 이동량",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"노선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"이동량 집계와 노선별 수요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"대표성·집계 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"집계 단위·관측기간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"교통정책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"심야 시간대별 이동 수요를 기존 노선과 대조해 미충족 구간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"노선 운영계획",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"노선 후보를 담당자의 운행계획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수요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"운행 후 수요 차이를 차기 노선 검토에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"통신·노선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"수요·노선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"공간 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"통신 수요·노선의 공간 단위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"지역·시간 집계",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"지역·시간 단위 원천 집계 대사표와 노선 후보 선정 사유",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 이용정책",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"지역별 통신 표본 비율 차이·관측기간 불일치",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"시간대·출발지·도착지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"시간대별 이동량",</a:t>
            </a:r>
          </a:p>
          <a:p xmlns:a="http://schemas.openxmlformats.org/drawingml/2006/main">
            <a:r>
              <a:t>          "check": "집계 단위·관측기간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"지역별 수요 분포",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"지역별 통신 표본 비율 차이·관측기간 불일치"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"노선 후보를 담당자의 운행계획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"운영 노선",</a:t>
            </a:r>
          </a:p>
          <a:p xmlns:a="http://schemas.openxmlformats.org/drawingml/2006/main">
            <a:r>
              <a:t>          "check":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"심야 이동 수요에 맞춘 버스 노선 설계 / 심야 수요 분포·노선 후보 비교·운행 검토",</a:t>
            </a:r>
          </a:p>
          <a:p xmlns:a="http://schemas.openxmlformats.org/drawingml/2006/main">
            <a:r>
              <a:t>        "extension": "TS 관할·교통약자·이동 수요를 지역별 업무 사전으로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"지역별 통신 표본 비율 차이·관측기간 불일치",</a:t>
            </a:r>
          </a:p>
          <a:p xmlns:a="http://schemas.openxmlformats.org/drawingml/2006/main">
            <a:r>
              <a:t>        "hold": "집계 단위·관측기간 대조",</a:t>
            </a:r>
          </a:p>
          <a:p xmlns:a="http://schemas.openxmlformats.org/drawingml/2006/main">
            <a:r>
              <a:t>        "recovery": "운행 후 수요 차이를 차기 노선 검토에 반영",</a:t>
            </a:r>
          </a:p>
          <a:p xmlns:a="http://schemas.openxmlformats.org/drawingml/2006/main">
            <a:r>
              <a:t>        "evidence": "지역·시간 단위 원천 집계 대사표와 노선 후보 선정 사유"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"수요·노선 자료",</a:t>
            </a:r>
          </a:p>
          <a:p xmlns:a="http://schemas.openxmlformats.org/drawingml/2006/main">
            <a:r>
              <a:t>        "prepare": "통신 수요·노선의 공간 단위 정합화",</a:t>
            </a:r>
          </a:p>
          <a:p xmlns:a="http://schemas.openxmlformats.org/drawingml/2006/main">
            <a:r>
              <a:t>        "output": "시간대별 이동량",</a:t>
            </a:r>
          </a:p>
          <a:p xmlns:a="http://schemas.openxmlformats.org/drawingml/2006/main">
            <a:r>
              <a:t>        "refresh": "운행 후 수요 차이를 차기 노선 검토에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"통신 수요와 실제 노선의 결합",</a:t>
            </a:r>
          </a:p>
          <a:p xmlns:a="http://schemas.openxmlformats.org/drawingml/2006/main">
            <a:r>
              <a:t>      "심야 시간·지역 단위의 수요 구분"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"휴대전화 자료의 이용자 대표성 차이",</a:t>
            </a:r>
          </a:p>
          <a:p xmlns:a="http://schemas.openxmlformats.org/drawingml/2006/main">
            <a:r>
              <a:t>      "노선 확대와 사고 감소의 인과관계 분리"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"이동 수요 자료",</a:t>
            </a:r>
          </a:p>
          <a:p xmlns:a="http://schemas.openxmlformats.org/drawingml/2006/main">
            <a:r>
              <a:t>      "시간·지역 집계 분석",</a:t>
            </a:r>
          </a:p>
          <a:p xmlns:a="http://schemas.openxmlformats.org/drawingml/2006/main">
            <a:r>
              <a:t>      "수요·노선 자료",</a:t>
            </a:r>
          </a:p>
          <a:p xmlns:a="http://schemas.openxmlformats.org/drawingml/2006/main">
            <a:r>
              <a:t>      "노선 기획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"시간대별 이동량",</a:t>
            </a:r>
          </a:p>
          <a:p xmlns:a="http://schemas.openxmlformats.org/drawingml/2006/main">
            <a:r>
              <a:t>      "지역별 수요 분포",</a:t>
            </a:r>
          </a:p>
          <a:p xmlns:a="http://schemas.openxmlformats.org/drawingml/2006/main">
            <a:r>
              <a:t>      "노선 후보",</a:t>
            </a:r>
          </a:p>
          <a:p xmlns:a="http://schemas.openxmlformats.org/drawingml/2006/main">
            <a:r>
              <a:t>      "운영 노선"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"집계 단위·관측기간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서울시 · 올빼미버스 빅데이터 정책 https://english.seoul.go.kr/smg-taps-big-data-customized-policy/</a:t>
            </a:r>
          </a:p>
          <a:p xmlns:a="http://schemas.openxmlformats.org/drawingml/2006/main">
            <a:r>
              <a:t>홈페이지 https://heen1987-ops.github.io/TS-business-Plan-001/index.html?view=casebook&amp;case=AX01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"title": "서울 올빼미버스",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"빅데이터 정책 적용",</a:t>
            </a:r>
          </a:p>
          <a:p xmlns:a="http://schemas.openxmlformats.org/drawingml/2006/main">
            <a:r>
              <a:t>    "period": "2013–2014",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"이동 수요",</a:t>
            </a:r>
          </a:p>
          <a:p xmlns:a="http://schemas.openxmlformats.org/drawingml/2006/main">
            <a:r>
              <a:t>      "교통약자",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"데이터 연계"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"통신 데이터 분석의 심야버스 노선 반영 및 2개 노선에서 9개 노선으로 운영 확대",</a:t>
            </a:r>
          </a:p>
          <a:p xmlns:a="http://schemas.openxmlformats.org/drawingml/2006/main">
            <a:r>
              <a:t>    "limit": "운영기관 발표 · 생성형 AI 사례 아님 · 사고 감소·지역경제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"통신 이동 수요",</a:t>
            </a:r>
          </a:p>
          <a:p xmlns:a="http://schemas.openxmlformats.org/drawingml/2006/main">
            <a:r>
              <a:t>      "시간·지역 분석",</a:t>
            </a:r>
          </a:p>
          <a:p xmlns:a="http://schemas.openxmlformats.org/drawingml/2006/main">
            <a:r>
              <a:t>      "노선 선정",</a:t>
            </a:r>
          </a:p>
          <a:p xmlns:a="http://schemas.openxmlformats.org/drawingml/2006/main">
            <a:r>
              <a:t>      "심야버스 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 요약 · 시스템 배치도 재현 아님",</a:t>
            </a:r>
          </a:p>
          <a:p xmlns:a="http://schemas.openxmlformats.org/drawingml/2006/main">
            <a:r>
              <a:t>    "lesson":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"지역·시간·관할 코드 정규화 / 집계 통계와 현장 근거 대조",</a:t>
            </a:r>
          </a:p>
          <a:p xmlns:a="http://schemas.openxmlformats.org/drawingml/2006/main">
            <a:r>
              <a:t>    "test": "동일 지역·기간의 원천 집계 재현 및 담당 부서 매핑 대조",</a:t>
            </a:r>
          </a:p>
          <a:p xmlns:a="http://schemas.openxmlformats.org/drawingml/2006/main">
            <a:r>
              <a:t>    "metric": "수요 검토 소요시간 / 근거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"canonicalId": "AX01",</a:t>
            </a:r>
          </a:p>
          <a:p xmlns:a="http://schemas.openxmlformats.org/drawingml/2006/main">
            <a:r>
              <a:t>    "purpose": "심야 이동 수요에 맞춘 버스 노선 설계",</a:t>
            </a:r>
          </a:p>
          <a:p xmlns:a="http://schemas.openxmlformats.org/drawingml/2006/main">
            <a:r>
              <a:t>    "users": "교통정책 담당·운송 운영자",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"심야 수요 분포",</a:t>
            </a:r>
          </a:p>
          <a:p xmlns:a="http://schemas.openxmlformats.org/drawingml/2006/main">
            <a:r>
              <a:t>      "노선 후보 비교",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"이동 수요 자료",</a:t>
            </a:r>
          </a:p>
          <a:p xmlns:a="http://schemas.openxmlformats.org/drawingml/2006/main">
            <a:r>
              <a:t>        "detail": "시간대·출발지·도착지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"심야 수요 분포 / 노선 후보 비교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"시간·지역 집계 분석",</a:t>
            </a:r>
          </a:p>
          <a:p xmlns:a="http://schemas.openxmlformats.org/drawingml/2006/main">
            <a:r>
              <a:t>        "detail": "이동량 집계와 노선별 수요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"노선 기획 담당",</a:t>
            </a:r>
          </a:p>
          <a:p xmlns:a="http://schemas.openxmlformats.org/drawingml/2006/main">
            <a:r>
              <a:t>        "detail": "노선 후보를 담당자의 운행계획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"수요·노선 자료",</a:t>
            </a:r>
          </a:p>
          <a:p xmlns:a="http://schemas.openxmlformats.org/drawingml/2006/main">
            <a:r>
              <a:t>        "detail": "통신 수요·노선의 공간 단위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"운행 후 수요 차이를 차기 노선 검토에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"통신 이동 수요",</a:t>
            </a:r>
          </a:p>
          <a:p xmlns:a="http://schemas.openxmlformats.org/drawingml/2006/main">
            <a:r>
              <a:t>        "input": "시간대·출발지·도착지 지정",</a:t>
            </a:r>
          </a:p>
          <a:p xmlns:a="http://schemas.openxmlformats.org/drawingml/2006/main">
            <a:r>
              <a:t>        "process": "통신 수요·노선의 공간 단위 정합화",</a:t>
            </a:r>
          </a:p>
          <a:p xmlns:a="http://schemas.openxmlformats.org/drawingml/2006/main">
            <a:r>
              <a:t>        "output": "시간대별 이동량"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"시간·지역 분석",</a:t>
            </a:r>
          </a:p>
          <a:p xmlns:a="http://schemas.openxmlformats.org/drawingml/2006/main">
            <a:r>
              <a:t>        "input": "시간대별 이동량",</a:t>
            </a:r>
          </a:p>
          <a:p xmlns:a="http://schemas.openxmlformats.org/drawingml/2006/main">
            <a:r>
              <a:t>        "process": "이동량 집계와 노선별 수요 비교",</a:t>
            </a:r>
          </a:p>
          <a:p xmlns:a="http://schemas.openxmlformats.org/drawingml/2006/main">
            <a:r>
              <a:t>        "output": "지역별 수요 분포"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"노선 선정",</a:t>
            </a:r>
          </a:p>
          <a:p xmlns:a="http://schemas.openxmlformats.org/drawingml/2006/main">
            <a:r>
              <a:t>        "input": "지역별 수요 분포",</a:t>
            </a:r>
          </a:p>
          <a:p xmlns:a="http://schemas.openxmlformats.org/drawingml/2006/main">
            <a:r>
              <a:t>        "process": "집계 단위·관측기간 대조",</a:t>
            </a:r>
          </a:p>
          <a:p xmlns:a="http://schemas.openxmlformats.org/drawingml/2006/main">
            <a:r>
              <a:t>        "output": "노선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"심야버스 운영",</a:t>
            </a:r>
          </a:p>
          <a:p xmlns:a="http://schemas.openxmlformats.org/drawingml/2006/main">
            <a:r>
              <a:t>        "input": "노선 후보",</a:t>
            </a:r>
          </a:p>
          <a:p xmlns:a="http://schemas.openxmlformats.org/drawingml/2006/main">
            <a:r>
              <a:t>        "process": "노선 후보를 담당자의 운행계획 검토에 전달",</a:t>
            </a:r>
          </a:p>
          <a:p xmlns:a="http://schemas.openxmlformats.org/drawingml/2006/main">
            <a:r>
              <a:t>        "output": "운영 노선"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"심야 시간대별 이동 수요를 기존 노선과 대조해 미충족 구간 선정",</a:t>
            </a:r>
          </a:p>
          <a:p xmlns:a="http://schemas.openxmlformats.org/drawingml/2006/main">
            <a:r>
              <a:t>      "exception": "지역별 통신 표본 비율 차이·관측기간 불일치",</a:t>
            </a:r>
          </a:p>
          <a:p xmlns:a="http://schemas.openxmlformats.org/drawingml/2006/main">
            <a:r>
              <a:t>      "evidence": "지역·시간 단위 원천 집계 대사표와 노선 후보 선정 사유",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"교통정책 담당·운송 운영자",</a:t>
            </a:r>
          </a:p>
          <a:p xmlns:a="http://schemas.openxmlformats.org/drawingml/2006/main">
            <a:r>
              <a:t>          "processing": "시간대·출발지·도착지 지정",</a:t>
            </a:r>
          </a:p>
          <a:p xmlns:a="http://schemas.openxmlformats.org/drawingml/2006/main">
            <a:r>
              <a:t>          "output": "시간대별 이동량"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"수요·노선 자료",</a:t>
            </a:r>
          </a:p>
          <a:p xmlns:a="http://schemas.openxmlformats.org/drawingml/2006/main">
            <a:r>
              <a:t>          "processing": "통신 수요·노선의 공간 단위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"시간대별 이동량",</a:t>
            </a:r>
          </a:p>
          <a:p xmlns:a="http://schemas.openxmlformats.org/drawingml/2006/main">
            <a:r>
              <a:t>          "processing": "이동량 집계와 노선별 수요 비교",</a:t>
            </a:r>
          </a:p>
          <a:p xmlns:a="http://schemas.openxmlformats.org/drawingml/2006/main">
            <a:r>
              <a:t>          "output": "노선 후보"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"노선 후보",</a:t>
            </a:r>
          </a:p>
          <a:p xmlns:a="http://schemas.openxmlformats.org/drawingml/2006/main">
            <a:r>
              <a:t>          "processing": "노선 후보를 담당자의 운행계획 검토에 전달",</a:t>
            </a:r>
          </a:p>
          <a:p xmlns:a="http://schemas.openxmlformats.org/drawingml/2006/main">
            <a:r>
              <a:t>          "output": "운영 노선"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"운행 후 수요 차이를 차기 노선 검토에 반영",</a:t>
            </a:r>
          </a:p>
          <a:p xmlns:a="http://schemas.openxmlformats.org/drawingml/2006/main">
            <a:r>
              <a:t>          "output":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"운행 후 수요 차이를 차기 노선 검토에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"S01",</a:t>
            </a:r>
          </a:p>
          <a:p xmlns:a="http://schemas.openxmlformats.org/drawingml/2006/main">
            <a:r>
              <a:t>        "title": "서울시 · 올빼미버스 빅데이터 정책",</a:t>
            </a:r>
          </a:p>
          <a:p xmlns:a="http://schemas.openxmlformats.org/drawingml/2006/main">
            <a:r>
              <a:t>        "url": "https://english.seoul.go.kr/smg-taps-big-data-customized-policy/",</a:t>
            </a:r>
          </a:p>
          <a:p xmlns:a="http://schemas.openxmlformats.org/drawingml/2006/main">
            <a:r>
              <a:t>        "published": "2014-04-28",</a:t>
            </a:r>
          </a:p>
          <a:p xmlns:a="http://schemas.openxmlformats.org/drawingml/2006/main">
            <a:r>
              <a:t>        "level": "운영기관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수요와 데이터 분석의 정책 결정 연결",</a:t>
            </a:r>
          </a:p>
          <a:p xmlns:a="http://schemas.openxmlformats.org/drawingml/2006/main">
            <a:r>
              <a:t>    "local": "TS 관할·교통약자·이동 수요를 지역별 업무 사전으로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"심야 교통 수요를 실제 노선 결정에 연결한 데이터 기반 정책 사례. 기존 노선·운행계획을 검토하는 담당자가 시간대·지역별 잠재 수요를 함께 비교하는 업무 변화.",</a:t>
            </a:r>
          </a:p>
          <a:p xmlns:a="http://schemas.openxmlformats.org/drawingml/2006/main">
            <a:r>
              <a:t>      "통신 이동량과 노선 정보를 공통 공간 단위로 정리한 뒤 수요 분포와 노선 후보를 비교하는 분석 흐름의 재구성. CCK 적용 시 분석 결과를 담당 관할·교통약자 지원 업무·노선 검토자료로 변환하는 단계의 분리.",</a:t>
            </a:r>
          </a:p>
          <a:p xmlns:a="http://schemas.openxmlformats.org/drawingml/2006/main">
            <a:r>
              <a:t>      "운영 노선 확대 실적과 안전·지역경제 효과의 구분. 통신자료의 대표성, 시간대별 집계 재현성, 실제 승차 수요와의 차이를 확인한 후 TS 업무 검토시간·근거 누락률로 평가할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"노선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"교통정책 담당·운송 운영자",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"시간·지역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"시간대·출발지·도착지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"수요 집계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"시간대별 이동량",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"노선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"이동량 집계와 노선별 수요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"대표성·집계 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"집계 단위·관측기간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"교통정책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"심야 시간대별 이동 수요를 기존 노선과 대조해 미충족 구간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"노선 운영계획",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"노선 후보를 담당자의 운행계획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수요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"운행 후 수요 차이를 차기 노선 검토에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"통신·노선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"수요·노선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"공간 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"통신 수요·노선의 공간 단위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"지역·시간 집계",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"지역·시간 단위 원천 집계 대사표와 노선 후보 선정 사유",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 이용정책",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"지역별 통신 표본 비율 차이·관측기간 불일치",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"시간대·출발지·도착지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"시간대별 이동량",</a:t>
            </a:r>
          </a:p>
          <a:p xmlns:a="http://schemas.openxmlformats.org/drawingml/2006/main">
            <a:r>
              <a:t>          "check": "집계 단위·관측기간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"지역별 수요 분포",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"지역별 통신 표본 비율 차이·관측기간 불일치"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"노선 후보",</a:t>
            </a:r>
          </a:p>
          <a:p xmlns:a="http://schemas.openxmlformats.org/drawingml/2006/main">
            <a:r>
              <a:t>          "check": "노선 후보를 담당자의 운행계획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"운영 노선",</a:t>
            </a:r>
          </a:p>
          <a:p xmlns:a="http://schemas.openxmlformats.org/drawingml/2006/main">
            <a:r>
              <a:t>          "check": "지역·시간 단위 원천 집계 대사표와 노선 후보 선정 사유"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"심야 이동 수요에 맞춘 버스 노선 설계 / 심야 수요 분포·노선 후보 비교·운행 검토",</a:t>
            </a:r>
          </a:p>
          <a:p xmlns:a="http://schemas.openxmlformats.org/drawingml/2006/main">
            <a:r>
              <a:t>        "extension": "TS 관할·교통약자·이동 수요를 지역별 업무 사전으로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"지역별 통신 표본 비율 차이·관측기간 불일치",</a:t>
            </a:r>
          </a:p>
          <a:p xmlns:a="http://schemas.openxmlformats.org/drawingml/2006/main">
            <a:r>
              <a:t>        "hold": "집계 단위·관측기간 대조",</a:t>
            </a:r>
          </a:p>
          <a:p xmlns:a="http://schemas.openxmlformats.org/drawingml/2006/main">
            <a:r>
              <a:t>        "recovery": "운행 후 수요 차이를 차기 노선 검토에 반영",</a:t>
            </a:r>
          </a:p>
          <a:p xmlns:a="http://schemas.openxmlformats.org/drawingml/2006/main">
            <a:r>
              <a:t>        "evidence": "지역·시간 단위 원천 집계 대사표와 노선 후보 선정 사유"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"수요·노선 자료",</a:t>
            </a:r>
          </a:p>
          <a:p xmlns:a="http://schemas.openxmlformats.org/drawingml/2006/main">
            <a:r>
              <a:t>        "prepare": "통신 수요·노선의 공간 단위 정합화",</a:t>
            </a:r>
          </a:p>
          <a:p xmlns:a="http://schemas.openxmlformats.org/drawingml/2006/main">
            <a:r>
              <a:t>        "output": "시간대별 이동량",</a:t>
            </a:r>
          </a:p>
          <a:p xmlns:a="http://schemas.openxmlformats.org/drawingml/2006/main">
            <a:r>
              <a:t>        "refresh": "운행 후 수요 차이를 차기 노선 검토에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"통신 수요와 실제 노선의 결합",</a:t>
            </a:r>
          </a:p>
          <a:p xmlns:a="http://schemas.openxmlformats.org/drawingml/2006/main">
            <a:r>
              <a:t>      "심야 시간·지역 단위의 수요 구분"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"휴대전화 자료의 이용자 대표성 차이",</a:t>
            </a:r>
          </a:p>
          <a:p xmlns:a="http://schemas.openxmlformats.org/drawingml/2006/main">
            <a:r>
              <a:t>      "노선 확대와 사고 감소의 인과관계 분리"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"이동 수요 자료",</a:t>
            </a:r>
          </a:p>
          <a:p xmlns:a="http://schemas.openxmlformats.org/drawingml/2006/main">
            <a:r>
              <a:t>      "시간·지역 집계 분석",</a:t>
            </a:r>
          </a:p>
          <a:p xmlns:a="http://schemas.openxmlformats.org/drawingml/2006/main">
            <a:r>
              <a:t>      "수요·노선 자료",</a:t>
            </a:r>
          </a:p>
          <a:p xmlns:a="http://schemas.openxmlformats.org/drawingml/2006/main">
            <a:r>
              <a:t>      "노선 기획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"시간대별 이동량",</a:t>
            </a:r>
          </a:p>
          <a:p xmlns:a="http://schemas.openxmlformats.org/drawingml/2006/main">
            <a:r>
              <a:t>      "지역별 수요 분포",</a:t>
            </a:r>
          </a:p>
          <a:p xmlns:a="http://schemas.openxmlformats.org/drawingml/2006/main">
            <a:r>
              <a:t>      "노선 후보",</a:t>
            </a:r>
          </a:p>
          <a:p xmlns:a="http://schemas.openxmlformats.org/drawingml/2006/main">
            <a:r>
              <a:t>      "운영 노선"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"집계 단위·관측기간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서울시 · 올빼미버스 빅데이터 정책 https://english.seoul.go.kr/smg-taps-big-data-customized-policy/</a:t>
            </a:r>
          </a:p>
          <a:p xmlns:a="http://schemas.openxmlformats.org/drawingml/2006/main">
            <a:r>
              <a:t>홈페이지 https://heen1987-ops.github.io/TS-business-Plan-001/index.html?view=casebook&amp;case=AX01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"title": "CLOVA CareCall",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"음성·LLM 돌봄 서비스",</a:t>
            </a:r>
          </a:p>
          <a:p xmlns:a="http://schemas.openxmlformats.org/drawingml/2006/main">
            <a:r>
              <a:t>    "period": "CHI 2023 / 2024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"음성",</a:t>
            </a:r>
          </a:p>
          <a:p xmlns:a="http://schemas.openxmlformats.org/drawingml/2006/main">
            <a:r>
              <a:t>      "정보약자",</a:t>
            </a:r>
          </a:p>
          <a:p xmlns:a="http://schemas.openxmlformats.org/drawingml/2006/main">
            <a:r>
              <a:t>      "맞춤 서비스",</a:t>
            </a:r>
          </a:p>
          <a:p xmlns:a="http://schemas.openxmlformats.org/drawingml/2006/main">
            <a:r>
              <a:t>      "인간 개입"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"안부전화와 복지 담당자 후속 대응의 결합; 인터뷰에서 업무 부담 완화와 사용자 이해의 이점 보고",</a:t>
            </a:r>
          </a:p>
          <a:p xmlns:a="http://schemas.openxmlformats.org/drawingml/2006/main">
            <a:r>
              <a:t>    "limit": "소규모 질적 연구 · 부적절 발화 통제와 지자체별 요구 반영의 난점 · 임상 효과 근거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"LLM 대화",</a:t>
            </a:r>
          </a:p>
          <a:p xmlns:a="http://schemas.openxmlformats.org/drawingml/2006/main">
            <a:r>
              <a:t>      "내역 열람·분석",</a:t>
            </a:r>
          </a:p>
          <a:p xmlns:a="http://schemas.openxmlformats.org/drawingml/2006/main">
            <a:r>
              <a:t>      "복지 담당자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"개발사 공개 서비스 구조 요약",</a:t>
            </a:r>
          </a:p>
          <a:p xmlns:a="http://schemas.openxmlformats.org/drawingml/2006/main">
            <a:r>
              <a:t>    "lesson":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"한국어 음성 연계 / 발화 정리 / 필수 항목 검증 / 상담 전환",</a:t>
            </a:r>
          </a:p>
          <a:p xmlns:a="http://schemas.openxmlformats.org/drawingml/2006/main">
            <a:r>
              <a:t>    "test": "고령·소음·방언 표본의 필수 항목 정확도 및 상담 전환 성공률",</a:t>
            </a:r>
          </a:p>
          <a:p xmlns:a="http://schemas.openxmlformats.org/drawingml/2006/main">
            <a:r>
              <a:t>    "metric": "서비스 도달률 / 발화 재입력률 / 집단별 완료시간"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"canonicalId": "AX02",</a:t>
            </a:r>
          </a:p>
          <a:p xmlns:a="http://schemas.openxmlformats.org/drawingml/2006/main">
            <a:r>
              <a:t>    "purpose": "안부전화 이후 필요한 복지 조치의 연결",</a:t>
            </a:r>
          </a:p>
          <a:p xmlns:a="http://schemas.openxmlformats.org/drawingml/2006/main">
            <a:r>
              <a:t>    "users": "돌봄 대상자·복지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"자유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"후속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"detail": "전화 대상·대화 문맥의 구분",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"자유 발화 / 상황 요약 / 후속 대응",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"대화·내역 분석",</a:t>
            </a:r>
          </a:p>
          <a:p xmlns:a="http://schemas.openxmlformats.org/drawingml/2006/main">
            <a:r>
              <a:t>        "detail": "음성 대화에서 상태와 확인 필요 내용 정리",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"복지 담당자",</a:t>
            </a:r>
          </a:p>
          <a:p xmlns:a="http://schemas.openxmlformats.org/drawingml/2006/main">
            <a:r>
              <a:t>        "detail": "담당자에게 상황 요약·확인 대상을 인계",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"대화·후속 대응 기록",</a:t>
            </a:r>
          </a:p>
          <a:p xmlns:a="http://schemas.openxmlformats.org/drawingml/2006/main">
            <a:r>
              <a:t>        "detail": "동의 범위 내 대화와 과거 대응 기록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"오인식·부적절 발화와 실제 대응 결과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"input": "전화 대상·대화 문맥의 구분",</a:t>
            </a:r>
          </a:p>
          <a:p xmlns:a="http://schemas.openxmlformats.org/drawingml/2006/main">
            <a:r>
              <a:t>        "process": "동의 범위 내 대화와 과거 대응 기록 구성",</a:t>
            </a:r>
          </a:p>
          <a:p xmlns:a="http://schemas.openxmlformats.org/drawingml/2006/main">
            <a:r>
              <a:t>        "output": "동의받은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"LLM 대화",</a:t>
            </a:r>
          </a:p>
          <a:p xmlns:a="http://schemas.openxmlformats.org/drawingml/2006/main">
            <a:r>
              <a:t>        "input": "동의받은 발화",</a:t>
            </a:r>
          </a:p>
          <a:p xmlns:a="http://schemas.openxmlformats.org/drawingml/2006/main">
            <a:r>
              <a:t>        "process": "음성 대화에서 상태와 확인 필요 내용 정리",</a:t>
            </a:r>
          </a:p>
          <a:p xmlns:a="http://schemas.openxmlformats.org/drawingml/2006/main">
            <a:r>
              <a:t>        "output": "상황 요약"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"내역 열람·분석",</a:t>
            </a:r>
          </a:p>
          <a:p xmlns:a="http://schemas.openxmlformats.org/drawingml/2006/main">
            <a:r>
              <a:t>        "input": "상황 요약",</a:t>
            </a:r>
          </a:p>
          <a:p xmlns:a="http://schemas.openxmlformats.org/drawingml/2006/main">
            <a:r>
              <a:t>        "process": "위험 신호의 사람 확인·상담 인계",</a:t>
            </a:r>
          </a:p>
          <a:p xmlns:a="http://schemas.openxmlformats.org/drawingml/2006/main">
            <a:r>
              <a:t>        "output": "확인 필요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"복지 담당자 대응",</a:t>
            </a:r>
          </a:p>
          <a:p xmlns:a="http://schemas.openxmlformats.org/drawingml/2006/main">
            <a:r>
              <a:t>        "input": "확인 필요 대상",</a:t>
            </a:r>
          </a:p>
          <a:p xmlns:a="http://schemas.openxmlformats.org/drawingml/2006/main">
            <a:r>
              <a:t>        "process": "담당자에게 상황 요약·확인 대상을 인계",</a:t>
            </a:r>
          </a:p>
          <a:p xmlns:a="http://schemas.openxmlformats.org/drawingml/2006/main">
            <a:r>
              <a:t>        "output": "담당자 대응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"통화에서 식사·수면·불편 사항을 파악하고 담당자가 후속 확인",</a:t>
            </a:r>
          </a:p>
          <a:p xmlns:a="http://schemas.openxmlformats.org/drawingml/2006/main">
            <a:r>
              <a:t>      "exception": "방언·침묵·통화 중단·위험 발화의 부정문",</a:t>
            </a:r>
          </a:p>
          <a:p xmlns:a="http://schemas.openxmlformats.org/drawingml/2006/main">
            <a:r>
              <a:t>      "evidence": "원 발화 대비 상태·위험 신호 추출표와 상담 인계 수신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"돌봄 대상자·복지 담당자",</a:t>
            </a:r>
          </a:p>
          <a:p xmlns:a="http://schemas.openxmlformats.org/drawingml/2006/main">
            <a:r>
              <a:t>          "processing": "전화 대상·대화 문맥의 구분",</a:t>
            </a:r>
          </a:p>
          <a:p xmlns:a="http://schemas.openxmlformats.org/drawingml/2006/main">
            <a:r>
              <a:t>          "output": "동의받은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"대화·후속 대응 기록",</a:t>
            </a:r>
          </a:p>
          <a:p xmlns:a="http://schemas.openxmlformats.org/drawingml/2006/main">
            <a:r>
              <a:t>          "processing": "동의 범위 내 대화와 과거 대응 기록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"동의받은 발화",</a:t>
            </a:r>
          </a:p>
          <a:p xmlns:a="http://schemas.openxmlformats.org/drawingml/2006/main">
            <a:r>
              <a:t>          "processing": "음성 대화에서 상태와 확인 필요 내용 정리",</a:t>
            </a:r>
          </a:p>
          <a:p xmlns:a="http://schemas.openxmlformats.org/drawingml/2006/main">
            <a:r>
              <a:t>          "output": "확인 필요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"확인 필요 대상",</a:t>
            </a:r>
          </a:p>
          <a:p xmlns:a="http://schemas.openxmlformats.org/drawingml/2006/main">
            <a:r>
              <a:t>          "processing": "담당자에게 상황 요약·확인 대상을 인계",</a:t>
            </a:r>
          </a:p>
          <a:p xmlns:a="http://schemas.openxmlformats.org/drawingml/2006/main">
            <a:r>
              <a:t>          "output": "담당자 대응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"오인식·부적절 발화와 실제 대응 결과 검토",</a:t>
            </a:r>
          </a:p>
          <a:p xmlns:a="http://schemas.openxmlformats.org/drawingml/2006/main">
            <a:r>
              <a:t>          "output":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"오인식·부적절 발화와 실제 대응 결과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"S02",</a:t>
            </a:r>
          </a:p>
          <a:p xmlns:a="http://schemas.openxmlformats.org/drawingml/2006/main">
            <a:r>
              <a:t>        "title": "NAVER · CareCall 이해관계자 연구",</a:t>
            </a:r>
          </a:p>
          <a:p xmlns:a="http://schemas.openxmlformats.org/drawingml/2006/main">
            <a:r>
              <a:t>        "url": "https://clova.ai/tech-blog/ko-clova-%EC%BC%80%EC%96%B4%EC%BD%9C-%EC%97%B0%EA%B5%AC-%EB%85%BC%EB%AC%B8-%EC%86%8C%EA%B0%9C-%EC%B4%88%EA%B1%B0%EB%8C%80-%EC%9D%B8%EA%B3%B5%EC%A7%80%EB%8A%A5-%EA%B8%B0%EB%B0%98-%EC%B1%97%EB%B4%87",</a:t>
            </a:r>
          </a:p>
          <a:p xmlns:a="http://schemas.openxmlformats.org/drawingml/2006/main">
            <a:r>
              <a:t>        "published": "2024-08-07",</a:t>
            </a:r>
          </a:p>
          <a:p xmlns:a="http://schemas.openxmlformats.org/drawingml/2006/main">
            <a:r>
              <a:t>        "level": "개발사 연구 요약 / CHI 2023",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"자유 발화 중심의 안부전화와 복지 담당자의 후속 대응을 결합한 서비스. 통화 자체의 자동화보다 대상자의 상황을 파악해 필요한 확인·방문 업무로 인계하는 연결이 핵심.",</a:t>
            </a:r>
          </a:p>
          <a:p xmlns:a="http://schemas.openxmlformats.org/drawingml/2006/main">
            <a:r>
              <a:t>      "음성 대화 기록에서 상태와 확인할 내용을 정리하고 담당자가 대응 여부를 검토하는 흐름. TS 적용 설계에서는 민원 발화를 신청 목적·대상·지역 등 필수 항목으로 정리한 뒤 사용자 확인과 상담원 인계를 구성.",</a:t>
            </a:r>
          </a:p>
          <a:p xmlns:a="http://schemas.openxmlformats.org/drawingml/2006/main">
            <a:r>
              <a:t>      "인터뷰에서 보고된 부담 완화와 임상·복지 성과의 구분. 소음·방언·고령 발화의 인식 오류, 위험 신호의 미탐, 상담원이 실제 인계받았는지를 별도로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"안부전화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"돌봄 대상자·복지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"대상·대화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"전화 대상·대화 문맥의 구분",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"이전 대응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"동의받은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"대화·상태 요약",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"음성 대화에서 상태와 확인 필요 내용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"위험 발화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"위험 신호의 사람 확인·상담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"복지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"통화에서 식사·수면·불편 사항을 파악하고 담당자가 후속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"상담·방문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"담당자에게 상황 요약·확인 대상을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완료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"오인식·부적절 발화와 실제 대응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"동의받은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"대화·후속 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"민감 발화 분리",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"동의 범위 내 대화와 과거 대응 기록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"대화·대응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 발화 대비 상태·위험 신호 추출표와 상담 인계 수신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"동의·열람정책",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"방언·침묵·통화 중단·위험 발화의 부정문",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"전화 대상·대화 문맥의 구분",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"동의받은 발화",</a:t>
            </a:r>
          </a:p>
          <a:p xmlns:a="http://schemas.openxmlformats.org/drawingml/2006/main">
            <a:r>
              <a:t>          "check": "위험 신호의 사람 확인·상담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"상황 요약",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"방언·침묵·통화 중단·위험 발화의 부정문"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"담당자에게 상황 요약·확인 대상을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"담당자 대응 기록",</a:t>
            </a:r>
          </a:p>
          <a:p xmlns:a="http://schemas.openxmlformats.org/drawingml/2006/main">
            <a:r>
              <a:t>          "check":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"안부전화 이후 필요한 복지 조치의 연결 / 자유 발화·상황 요약·후속 대응",</a:t>
            </a:r>
          </a:p>
          <a:p xmlns:a="http://schemas.openxmlformats.org/drawingml/2006/main">
            <a:r>
              <a:t>        "extension": "TS 민원 발화를 요약한 뒤 신청 목적·대상·지역의 사용자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"방언·침묵·통화 중단·위험 발화의 부정문",</a:t>
            </a:r>
          </a:p>
          <a:p xmlns:a="http://schemas.openxmlformats.org/drawingml/2006/main">
            <a:r>
              <a:t>        "hold": "위험 신호의 사람 확인·상담 인계",</a:t>
            </a:r>
          </a:p>
          <a:p xmlns:a="http://schemas.openxmlformats.org/drawingml/2006/main">
            <a:r>
              <a:t>        "recovery": "오인식·부적절 발화와 실제 대응 결과 검토",</a:t>
            </a:r>
          </a:p>
          <a:p xmlns:a="http://schemas.openxmlformats.org/drawingml/2006/main">
            <a:r>
              <a:t>        "evidence": "원 발화 대비 상태·위험 신호 추출표와 상담 인계 수신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"대화·후속 대응 기록",</a:t>
            </a:r>
          </a:p>
          <a:p xmlns:a="http://schemas.openxmlformats.org/drawingml/2006/main">
            <a:r>
              <a:t>        "prepare": "동의 범위 내 대화와 과거 대응 기록 구성",</a:t>
            </a:r>
          </a:p>
          <a:p xmlns:a="http://schemas.openxmlformats.org/drawingml/2006/main">
            <a:r>
              <a:t>        "output": "동의받은 발화",</a:t>
            </a:r>
          </a:p>
          <a:p xmlns:a="http://schemas.openxmlformats.org/drawingml/2006/main">
            <a:r>
              <a:t>        "refresh": "오인식·부적절 발화와 실제 대응 결과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접점과 담당자 후속 대응의 결합",</a:t>
            </a:r>
          </a:p>
          <a:p xmlns:a="http://schemas.openxmlformats.org/drawingml/2006/main">
            <a:r>
              <a:t>      "이용자 상황을 반영한 대화"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"위험 발화의 오해·미탐 가능성",</a:t>
            </a:r>
          </a:p>
          <a:p xmlns:a="http://schemas.openxmlformats.org/drawingml/2006/main">
            <a:r>
              <a:t>      "대화 종료와 실제 복지 조치의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"대화·내역 분석",</a:t>
            </a:r>
          </a:p>
          <a:p xmlns:a="http://schemas.openxmlformats.org/drawingml/2006/main">
            <a:r>
              <a:t>      "대화·후속 대응 기록",</a:t>
            </a:r>
          </a:p>
          <a:p xmlns:a="http://schemas.openxmlformats.org/drawingml/2006/main">
            <a:r>
              <a:t>      "복지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"동의받은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"확인 필요 대상",</a:t>
            </a:r>
          </a:p>
          <a:p xmlns:a="http://schemas.openxmlformats.org/drawingml/2006/main">
            <a:r>
              <a:t>      "담당자 대응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"위험 신호의 사람 확인·상담 인계",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NAVER · CareCall 이해관계자 연구 https://clova.ai/tech-blog/ko-clova-%EC%BC%80%EC%96%B4%EC%BD%9C-%EC%97%B0%EA%B5%AC-%EB%85%BC%EB%AC%B8-%EC%86%8C%EA%B0%9C-%EC%B4%88%EA%B1%B0%EB%8C%80-%EC%9D%B8%EA%B3%B5%EC%A7%80%EB%8A%A5-%EA%B8%B0%EB%B0%98-%EC%B1%97%EB%B4%87</a:t>
            </a:r>
          </a:p>
          <a:p xmlns:a="http://schemas.openxmlformats.org/drawingml/2006/main">
            <a:r>
              <a:t>홈페이지 https://heen1987-ops.github.io/TS-business-Plan-001/index.html?view=casebook&amp;case=AX02</a:t>
            </a:r>
          </a:p>
          <a:p xmlns:a="http://schemas.openxmlformats.org/drawingml/2006/main">
            <a:r>
              <a:t>한계: 소규모 질적 연구 · 부적절 발화 통제와 지자체별 요구 반영의 난점 · 임상 효과 근거 아님</a:t>
            </a:r>
          </a:p>
          <a:p xmlns:a="http://schemas.openxmlformats.org/drawingml/2006/main">
            <a:r>
              <a:t>실패 위험: 위험 발화의 오해·미탐 가능성 / 대화 종료와 실제 복지 조치의 혼동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"title": "CLOVA CareCall",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"음성·LLM 돌봄 서비스",</a:t>
            </a:r>
          </a:p>
          <a:p xmlns:a="http://schemas.openxmlformats.org/drawingml/2006/main">
            <a:r>
              <a:t>    "period": "CHI 2023 / 2024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"음성",</a:t>
            </a:r>
          </a:p>
          <a:p xmlns:a="http://schemas.openxmlformats.org/drawingml/2006/main">
            <a:r>
              <a:t>      "정보약자",</a:t>
            </a:r>
          </a:p>
          <a:p xmlns:a="http://schemas.openxmlformats.org/drawingml/2006/main">
            <a:r>
              <a:t>      "맞춤 서비스",</a:t>
            </a:r>
          </a:p>
          <a:p xmlns:a="http://schemas.openxmlformats.org/drawingml/2006/main">
            <a:r>
              <a:t>      "인간 개입"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"안부전화와 복지 담당자 후속 대응의 결합; 인터뷰에서 업무 부담 완화와 사용자 이해의 이점 보고",</a:t>
            </a:r>
          </a:p>
          <a:p xmlns:a="http://schemas.openxmlformats.org/drawingml/2006/main">
            <a:r>
              <a:t>    "limit": "소규모 질적 연구 · 부적절 발화 통제와 지자체별 요구 반영의 난점 · 임상 효과 근거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"LLM 대화",</a:t>
            </a:r>
          </a:p>
          <a:p xmlns:a="http://schemas.openxmlformats.org/drawingml/2006/main">
            <a:r>
              <a:t>      "내역 열람·분석",</a:t>
            </a:r>
          </a:p>
          <a:p xmlns:a="http://schemas.openxmlformats.org/drawingml/2006/main">
            <a:r>
              <a:t>      "복지 담당자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"개발사 공개 서비스 구조 요약",</a:t>
            </a:r>
          </a:p>
          <a:p xmlns:a="http://schemas.openxmlformats.org/drawingml/2006/main">
            <a:r>
              <a:t>    "lesson":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"한국어 음성 연계 / 발화 정리 / 필수 항목 검증 / 상담 전환",</a:t>
            </a:r>
          </a:p>
          <a:p xmlns:a="http://schemas.openxmlformats.org/drawingml/2006/main">
            <a:r>
              <a:t>    "test": "고령·소음·방언 표본의 필수 항목 정확도 및 상담 전환 성공률",</a:t>
            </a:r>
          </a:p>
          <a:p xmlns:a="http://schemas.openxmlformats.org/drawingml/2006/main">
            <a:r>
              <a:t>    "metric": "서비스 도달률 / 발화 재입력률 / 집단별 완료시간"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"canonicalId": "AX02",</a:t>
            </a:r>
          </a:p>
          <a:p xmlns:a="http://schemas.openxmlformats.org/drawingml/2006/main">
            <a:r>
              <a:t>    "purpose": "안부전화 이후 필요한 복지 조치의 연결",</a:t>
            </a:r>
          </a:p>
          <a:p xmlns:a="http://schemas.openxmlformats.org/drawingml/2006/main">
            <a:r>
              <a:t>    "users": "돌봄 대상자·복지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"자유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"후속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"detail": "전화 대상·대화 문맥의 구분",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"자유 발화 / 상황 요약 / 후속 대응",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"대화·내역 분석",</a:t>
            </a:r>
          </a:p>
          <a:p xmlns:a="http://schemas.openxmlformats.org/drawingml/2006/main">
            <a:r>
              <a:t>        "detail": "음성 대화에서 상태와 확인 필요 내용 정리",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"복지 담당자",</a:t>
            </a:r>
          </a:p>
          <a:p xmlns:a="http://schemas.openxmlformats.org/drawingml/2006/main">
            <a:r>
              <a:t>        "detail": "담당자에게 상황 요약·확인 대상을 인계",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"대화·후속 대응 기록",</a:t>
            </a:r>
          </a:p>
          <a:p xmlns:a="http://schemas.openxmlformats.org/drawingml/2006/main">
            <a:r>
              <a:t>        "detail": "동의 범위 내 대화와 과거 대응 기록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"오인식·부적절 발화와 실제 대응 결과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"input": "전화 대상·대화 문맥의 구분",</a:t>
            </a:r>
          </a:p>
          <a:p xmlns:a="http://schemas.openxmlformats.org/drawingml/2006/main">
            <a:r>
              <a:t>        "process": "동의 범위 내 대화와 과거 대응 기록 구성",</a:t>
            </a:r>
          </a:p>
          <a:p xmlns:a="http://schemas.openxmlformats.org/drawingml/2006/main">
            <a:r>
              <a:t>        "output": "동의받은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"LLM 대화",</a:t>
            </a:r>
          </a:p>
          <a:p xmlns:a="http://schemas.openxmlformats.org/drawingml/2006/main">
            <a:r>
              <a:t>        "input": "동의받은 발화",</a:t>
            </a:r>
          </a:p>
          <a:p xmlns:a="http://schemas.openxmlformats.org/drawingml/2006/main">
            <a:r>
              <a:t>        "process": "음성 대화에서 상태와 확인 필요 내용 정리",</a:t>
            </a:r>
          </a:p>
          <a:p xmlns:a="http://schemas.openxmlformats.org/drawingml/2006/main">
            <a:r>
              <a:t>        "output": "상황 요약"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"내역 열람·분석",</a:t>
            </a:r>
          </a:p>
          <a:p xmlns:a="http://schemas.openxmlformats.org/drawingml/2006/main">
            <a:r>
              <a:t>        "input": "상황 요약",</a:t>
            </a:r>
          </a:p>
          <a:p xmlns:a="http://schemas.openxmlformats.org/drawingml/2006/main">
            <a:r>
              <a:t>        "process": "위험 신호의 사람 확인·상담 인계",</a:t>
            </a:r>
          </a:p>
          <a:p xmlns:a="http://schemas.openxmlformats.org/drawingml/2006/main">
            <a:r>
              <a:t>        "output": "확인 필요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"복지 담당자 대응",</a:t>
            </a:r>
          </a:p>
          <a:p xmlns:a="http://schemas.openxmlformats.org/drawingml/2006/main">
            <a:r>
              <a:t>        "input": "확인 필요 대상",</a:t>
            </a:r>
          </a:p>
          <a:p xmlns:a="http://schemas.openxmlformats.org/drawingml/2006/main">
            <a:r>
              <a:t>        "process": "담당자에게 상황 요약·확인 대상을 인계",</a:t>
            </a:r>
          </a:p>
          <a:p xmlns:a="http://schemas.openxmlformats.org/drawingml/2006/main">
            <a:r>
              <a:t>        "output": "담당자 대응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"통화에서 식사·수면·불편 사항을 파악하고 담당자가 후속 확인",</a:t>
            </a:r>
          </a:p>
          <a:p xmlns:a="http://schemas.openxmlformats.org/drawingml/2006/main">
            <a:r>
              <a:t>      "exception": "방언·침묵·통화 중단·위험 발화의 부정문",</a:t>
            </a:r>
          </a:p>
          <a:p xmlns:a="http://schemas.openxmlformats.org/drawingml/2006/main">
            <a:r>
              <a:t>      "evidence": "원 발화 대비 상태·위험 신호 추출표와 상담 인계 수신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"돌봄 대상자·복지 담당자",</a:t>
            </a:r>
          </a:p>
          <a:p xmlns:a="http://schemas.openxmlformats.org/drawingml/2006/main">
            <a:r>
              <a:t>          "processing": "전화 대상·대화 문맥의 구분",</a:t>
            </a:r>
          </a:p>
          <a:p xmlns:a="http://schemas.openxmlformats.org/drawingml/2006/main">
            <a:r>
              <a:t>          "output": "동의받은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"대화·후속 대응 기록",</a:t>
            </a:r>
          </a:p>
          <a:p xmlns:a="http://schemas.openxmlformats.org/drawingml/2006/main">
            <a:r>
              <a:t>          "processing": "동의 범위 내 대화와 과거 대응 기록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"동의받은 발화",</a:t>
            </a:r>
          </a:p>
          <a:p xmlns:a="http://schemas.openxmlformats.org/drawingml/2006/main">
            <a:r>
              <a:t>          "processing": "음성 대화에서 상태와 확인 필요 내용 정리",</a:t>
            </a:r>
          </a:p>
          <a:p xmlns:a="http://schemas.openxmlformats.org/drawingml/2006/main">
            <a:r>
              <a:t>          "output": "확인 필요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"확인 필요 대상",</a:t>
            </a:r>
          </a:p>
          <a:p xmlns:a="http://schemas.openxmlformats.org/drawingml/2006/main">
            <a:r>
              <a:t>          "processing": "담당자에게 상황 요약·확인 대상을 인계",</a:t>
            </a:r>
          </a:p>
          <a:p xmlns:a="http://schemas.openxmlformats.org/drawingml/2006/main">
            <a:r>
              <a:t>          "output": "담당자 대응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"오인식·부적절 발화와 실제 대응 결과 검토",</a:t>
            </a:r>
          </a:p>
          <a:p xmlns:a="http://schemas.openxmlformats.org/drawingml/2006/main">
            <a:r>
              <a:t>          "output":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"오인식·부적절 발화와 실제 대응 결과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"S02",</a:t>
            </a:r>
          </a:p>
          <a:p xmlns:a="http://schemas.openxmlformats.org/drawingml/2006/main">
            <a:r>
              <a:t>        "title": "NAVER · CareCall 이해관계자 연구",</a:t>
            </a:r>
          </a:p>
          <a:p xmlns:a="http://schemas.openxmlformats.org/drawingml/2006/main">
            <a:r>
              <a:t>        "url": "https://clova.ai/tech-blog/ko-clova-%EC%BC%80%EC%96%B4%EC%BD%9C-%EC%97%B0%EA%B5%AC-%EB%85%BC%EB%AC%B8-%EC%86%8C%EA%B0%9C-%EC%B4%88%EA%B1%B0%EB%8C%80-%EC%9D%B8%EA%B3%B5%EC%A7%80%EB%8A%A5-%EA%B8%B0%EB%B0%98-%EC%B1%97%EB%B4%87",</a:t>
            </a:r>
          </a:p>
          <a:p xmlns:a="http://schemas.openxmlformats.org/drawingml/2006/main">
            <a:r>
              <a:t>        "published": "2024-08-07",</a:t>
            </a:r>
          </a:p>
          <a:p xmlns:a="http://schemas.openxmlformats.org/drawingml/2006/main">
            <a:r>
              <a:t>        "level": "개발사 연구 요약 / CHI 2023",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"자유 발화 중심의 안부전화와 복지 담당자의 후속 대응을 결합한 서비스. 통화 자체의 자동화보다 대상자의 상황을 파악해 필요한 확인·방문 업무로 인계하는 연결이 핵심.",</a:t>
            </a:r>
          </a:p>
          <a:p xmlns:a="http://schemas.openxmlformats.org/drawingml/2006/main">
            <a:r>
              <a:t>      "음성 대화 기록에서 상태와 확인할 내용을 정리하고 담당자가 대응 여부를 검토하는 흐름. TS 적용 설계에서는 민원 발화를 신청 목적·대상·지역 등 필수 항목으로 정리한 뒤 사용자 확인과 상담원 인계를 구성.",</a:t>
            </a:r>
          </a:p>
          <a:p xmlns:a="http://schemas.openxmlformats.org/drawingml/2006/main">
            <a:r>
              <a:t>      "인터뷰에서 보고된 부담 완화와 임상·복지 성과의 구분. 소음·방언·고령 발화의 인식 오류, 위험 신호의 미탐, 상담원이 실제 인계받았는지를 별도로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"안부전화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"돌봄 대상자·복지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"대상·대화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"전화 대상·대화 문맥의 구분",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"이전 대응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"동의받은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"대화·상태 요약",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"음성 대화에서 상태와 확인 필요 내용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"위험 발화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"위험 신호의 사람 확인·상담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"복지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"통화에서 식사·수면·불편 사항을 파악하고 담당자가 후속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"상담·방문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"담당자에게 상황 요약·확인 대상을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완료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"오인식·부적절 발화와 실제 대응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"동의받은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"대화·후속 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"민감 발화 분리",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"동의 범위 내 대화와 과거 대응 기록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"대화·대응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 발화 대비 상태·위험 신호 추출표와 상담 인계 수신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"동의·열람정책",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"방언·침묵·통화 중단·위험 발화의 부정문",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"전화 대상·대화 문맥의 구분",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"동의받은 발화",</a:t>
            </a:r>
          </a:p>
          <a:p xmlns:a="http://schemas.openxmlformats.org/drawingml/2006/main">
            <a:r>
              <a:t>          "check": "위험 신호의 사람 확인·상담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"상황 요약",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"방언·침묵·통화 중단·위험 발화의 부정문"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"담당자에게 상황 요약·확인 대상을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"담당자 대응 기록",</a:t>
            </a:r>
          </a:p>
          <a:p xmlns:a="http://schemas.openxmlformats.org/drawingml/2006/main">
            <a:r>
              <a:t>          "check":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"안부전화 이후 필요한 복지 조치의 연결 / 자유 발화·상황 요약·후속 대응",</a:t>
            </a:r>
          </a:p>
          <a:p xmlns:a="http://schemas.openxmlformats.org/drawingml/2006/main">
            <a:r>
              <a:t>        "extension": "TS 민원 발화를 요약한 뒤 신청 목적·대상·지역의 사용자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"방언·침묵·통화 중단·위험 발화의 부정문",</a:t>
            </a:r>
          </a:p>
          <a:p xmlns:a="http://schemas.openxmlformats.org/drawingml/2006/main">
            <a:r>
              <a:t>        "hold": "위험 신호의 사람 확인·상담 인계",</a:t>
            </a:r>
          </a:p>
          <a:p xmlns:a="http://schemas.openxmlformats.org/drawingml/2006/main">
            <a:r>
              <a:t>        "recovery": "오인식·부적절 발화와 실제 대응 결과 검토",</a:t>
            </a:r>
          </a:p>
          <a:p xmlns:a="http://schemas.openxmlformats.org/drawingml/2006/main">
            <a:r>
              <a:t>        "evidence": "원 발화 대비 상태·위험 신호 추출표와 상담 인계 수신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"대화·후속 대응 기록",</a:t>
            </a:r>
          </a:p>
          <a:p xmlns:a="http://schemas.openxmlformats.org/drawingml/2006/main">
            <a:r>
              <a:t>        "prepare": "동의 범위 내 대화와 과거 대응 기록 구성",</a:t>
            </a:r>
          </a:p>
          <a:p xmlns:a="http://schemas.openxmlformats.org/drawingml/2006/main">
            <a:r>
              <a:t>        "output": "동의받은 발화",</a:t>
            </a:r>
          </a:p>
          <a:p xmlns:a="http://schemas.openxmlformats.org/drawingml/2006/main">
            <a:r>
              <a:t>        "refresh": "오인식·부적절 발화와 실제 대응 결과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접점과 담당자 후속 대응의 결합",</a:t>
            </a:r>
          </a:p>
          <a:p xmlns:a="http://schemas.openxmlformats.org/drawingml/2006/main">
            <a:r>
              <a:t>      "이용자 상황을 반영한 대화"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"위험 발화의 오해·미탐 가능성",</a:t>
            </a:r>
          </a:p>
          <a:p xmlns:a="http://schemas.openxmlformats.org/drawingml/2006/main">
            <a:r>
              <a:t>      "대화 종료와 실제 복지 조치의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"대화·내역 분석",</a:t>
            </a:r>
          </a:p>
          <a:p xmlns:a="http://schemas.openxmlformats.org/drawingml/2006/main">
            <a:r>
              <a:t>      "대화·후속 대응 기록",</a:t>
            </a:r>
          </a:p>
          <a:p xmlns:a="http://schemas.openxmlformats.org/drawingml/2006/main">
            <a:r>
              <a:t>      "복지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"동의받은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"확인 필요 대상",</a:t>
            </a:r>
          </a:p>
          <a:p xmlns:a="http://schemas.openxmlformats.org/drawingml/2006/main">
            <a:r>
              <a:t>      "담당자 대응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"위험 신호의 사람 확인·상담 인계",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NAVER · CareCall 이해관계자 연구 https://clova.ai/tech-blog/ko-clova-%EC%BC%80%EC%96%B4%EC%BD%9C-%EC%97%B0%EA%B5%AC-%EB%85%BC%EB%AC%B8-%EC%86%8C%EA%B0%9C-%EC%B4%88%EA%B1%B0%EB%8C%80-%EC%9D%B8%EA%B3%B5%EC%A7%80%EB%8A%A5-%EA%B8%B0%EB%B0%98-%EC%B1%97%EB%B4%87</a:t>
            </a:r>
          </a:p>
          <a:p xmlns:a="http://schemas.openxmlformats.org/drawingml/2006/main">
            <a:r>
              <a:t>홈페이지 https://heen1987-ops.github.io/TS-business-Plan-001/index.html?view=casebook&amp;case=AX02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"title": "CLOVA CareCall",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"음성·LLM 돌봄 서비스",</a:t>
            </a:r>
          </a:p>
          <a:p xmlns:a="http://schemas.openxmlformats.org/drawingml/2006/main">
            <a:r>
              <a:t>    "period": "CHI 2023 / 2024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"음성",</a:t>
            </a:r>
          </a:p>
          <a:p xmlns:a="http://schemas.openxmlformats.org/drawingml/2006/main">
            <a:r>
              <a:t>      "정보약자",</a:t>
            </a:r>
          </a:p>
          <a:p xmlns:a="http://schemas.openxmlformats.org/drawingml/2006/main">
            <a:r>
              <a:t>      "맞춤 서비스",</a:t>
            </a:r>
          </a:p>
          <a:p xmlns:a="http://schemas.openxmlformats.org/drawingml/2006/main">
            <a:r>
              <a:t>      "인간 개입"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"안부전화와 복지 담당자 후속 대응의 결합; 인터뷰에서 업무 부담 완화와 사용자 이해의 이점 보고",</a:t>
            </a:r>
          </a:p>
          <a:p xmlns:a="http://schemas.openxmlformats.org/drawingml/2006/main">
            <a:r>
              <a:t>    "limit": "소규모 질적 연구 · 부적절 발화 통제와 지자체별 요구 반영의 난점 · 임상 효과 근거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"LLM 대화",</a:t>
            </a:r>
          </a:p>
          <a:p xmlns:a="http://schemas.openxmlformats.org/drawingml/2006/main">
            <a:r>
              <a:t>      "내역 열람·분석",</a:t>
            </a:r>
          </a:p>
          <a:p xmlns:a="http://schemas.openxmlformats.org/drawingml/2006/main">
            <a:r>
              <a:t>      "복지 담당자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"개발사 공개 서비스 구조 요약",</a:t>
            </a:r>
          </a:p>
          <a:p xmlns:a="http://schemas.openxmlformats.org/drawingml/2006/main">
            <a:r>
              <a:t>    "lesson":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"한국어 음성 연계 / 발화 정리 / 필수 항목 검증 / 상담 전환",</a:t>
            </a:r>
          </a:p>
          <a:p xmlns:a="http://schemas.openxmlformats.org/drawingml/2006/main">
            <a:r>
              <a:t>    "test": "고령·소음·방언 표본의 필수 항목 정확도 및 상담 전환 성공률",</a:t>
            </a:r>
          </a:p>
          <a:p xmlns:a="http://schemas.openxmlformats.org/drawingml/2006/main">
            <a:r>
              <a:t>    "metric": "서비스 도달률 / 발화 재입력률 / 집단별 완료시간"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"canonicalId": "AX02",</a:t>
            </a:r>
          </a:p>
          <a:p xmlns:a="http://schemas.openxmlformats.org/drawingml/2006/main">
            <a:r>
              <a:t>    "purpose": "안부전화 이후 필요한 복지 조치의 연결",</a:t>
            </a:r>
          </a:p>
          <a:p xmlns:a="http://schemas.openxmlformats.org/drawingml/2006/main">
            <a:r>
              <a:t>    "users": "돌봄 대상자·복지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"자유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"후속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"detail": "전화 대상·대화 문맥의 구분",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"자유 발화 / 상황 요약 / 후속 대응",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"대화·내역 분석",</a:t>
            </a:r>
          </a:p>
          <a:p xmlns:a="http://schemas.openxmlformats.org/drawingml/2006/main">
            <a:r>
              <a:t>        "detail": "음성 대화에서 상태와 확인 필요 내용 정리",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"복지 담당자",</a:t>
            </a:r>
          </a:p>
          <a:p xmlns:a="http://schemas.openxmlformats.org/drawingml/2006/main">
            <a:r>
              <a:t>        "detail": "담당자에게 상황 요약·확인 대상을 인계",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"대화·후속 대응 기록",</a:t>
            </a:r>
          </a:p>
          <a:p xmlns:a="http://schemas.openxmlformats.org/drawingml/2006/main">
            <a:r>
              <a:t>        "detail": "동의 범위 내 대화와 과거 대응 기록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"오인식·부적절 발화와 실제 대응 결과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"input": "전화 대상·대화 문맥의 구분",</a:t>
            </a:r>
          </a:p>
          <a:p xmlns:a="http://schemas.openxmlformats.org/drawingml/2006/main">
            <a:r>
              <a:t>        "process": "동의 범위 내 대화와 과거 대응 기록 구성",</a:t>
            </a:r>
          </a:p>
          <a:p xmlns:a="http://schemas.openxmlformats.org/drawingml/2006/main">
            <a:r>
              <a:t>        "output": "동의받은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"LLM 대화",</a:t>
            </a:r>
          </a:p>
          <a:p xmlns:a="http://schemas.openxmlformats.org/drawingml/2006/main">
            <a:r>
              <a:t>        "input": "동의받은 발화",</a:t>
            </a:r>
          </a:p>
          <a:p xmlns:a="http://schemas.openxmlformats.org/drawingml/2006/main">
            <a:r>
              <a:t>        "process": "음성 대화에서 상태와 확인 필요 내용 정리",</a:t>
            </a:r>
          </a:p>
          <a:p xmlns:a="http://schemas.openxmlformats.org/drawingml/2006/main">
            <a:r>
              <a:t>        "output": "상황 요약"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"내역 열람·분석",</a:t>
            </a:r>
          </a:p>
          <a:p xmlns:a="http://schemas.openxmlformats.org/drawingml/2006/main">
            <a:r>
              <a:t>        "input": "상황 요약",</a:t>
            </a:r>
          </a:p>
          <a:p xmlns:a="http://schemas.openxmlformats.org/drawingml/2006/main">
            <a:r>
              <a:t>        "process": "위험 신호의 사람 확인·상담 인계",</a:t>
            </a:r>
          </a:p>
          <a:p xmlns:a="http://schemas.openxmlformats.org/drawingml/2006/main">
            <a:r>
              <a:t>        "output": "확인 필요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"복지 담당자 대응",</a:t>
            </a:r>
          </a:p>
          <a:p xmlns:a="http://schemas.openxmlformats.org/drawingml/2006/main">
            <a:r>
              <a:t>        "input": "확인 필요 대상",</a:t>
            </a:r>
          </a:p>
          <a:p xmlns:a="http://schemas.openxmlformats.org/drawingml/2006/main">
            <a:r>
              <a:t>        "process": "담당자에게 상황 요약·확인 대상을 인계",</a:t>
            </a:r>
          </a:p>
          <a:p xmlns:a="http://schemas.openxmlformats.org/drawingml/2006/main">
            <a:r>
              <a:t>        "output": "담당자 대응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"통화에서 식사·수면·불편 사항을 파악하고 담당자가 후속 확인",</a:t>
            </a:r>
          </a:p>
          <a:p xmlns:a="http://schemas.openxmlformats.org/drawingml/2006/main">
            <a:r>
              <a:t>      "exception": "방언·침묵·통화 중단·위험 발화의 부정문",</a:t>
            </a:r>
          </a:p>
          <a:p xmlns:a="http://schemas.openxmlformats.org/drawingml/2006/main">
            <a:r>
              <a:t>      "evidence": "원 발화 대비 상태·위험 신호 추출표와 상담 인계 수신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"돌봄 대상자·복지 담당자",</a:t>
            </a:r>
          </a:p>
          <a:p xmlns:a="http://schemas.openxmlformats.org/drawingml/2006/main">
            <a:r>
              <a:t>          "processing": "전화 대상·대화 문맥의 구분",</a:t>
            </a:r>
          </a:p>
          <a:p xmlns:a="http://schemas.openxmlformats.org/drawingml/2006/main">
            <a:r>
              <a:t>          "output": "동의받은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"대화·후속 대응 기록",</a:t>
            </a:r>
          </a:p>
          <a:p xmlns:a="http://schemas.openxmlformats.org/drawingml/2006/main">
            <a:r>
              <a:t>          "processing": "동의 범위 내 대화와 과거 대응 기록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"동의받은 발화",</a:t>
            </a:r>
          </a:p>
          <a:p xmlns:a="http://schemas.openxmlformats.org/drawingml/2006/main">
            <a:r>
              <a:t>          "processing": "음성 대화에서 상태와 확인 필요 내용 정리",</a:t>
            </a:r>
          </a:p>
          <a:p xmlns:a="http://schemas.openxmlformats.org/drawingml/2006/main">
            <a:r>
              <a:t>          "output": "확인 필요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"확인 필요 대상",</a:t>
            </a:r>
          </a:p>
          <a:p xmlns:a="http://schemas.openxmlformats.org/drawingml/2006/main">
            <a:r>
              <a:t>          "processing": "담당자에게 상황 요약·확인 대상을 인계",</a:t>
            </a:r>
          </a:p>
          <a:p xmlns:a="http://schemas.openxmlformats.org/drawingml/2006/main">
            <a:r>
              <a:t>          "output": "담당자 대응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"오인식·부적절 발화와 실제 대응 결과 검토",</a:t>
            </a:r>
          </a:p>
          <a:p xmlns:a="http://schemas.openxmlformats.org/drawingml/2006/main">
            <a:r>
              <a:t>          "output":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"오인식·부적절 발화와 실제 대응 결과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"S02",</a:t>
            </a:r>
          </a:p>
          <a:p xmlns:a="http://schemas.openxmlformats.org/drawingml/2006/main">
            <a:r>
              <a:t>        "title": "NAVER · CareCall 이해관계자 연구",</a:t>
            </a:r>
          </a:p>
          <a:p xmlns:a="http://schemas.openxmlformats.org/drawingml/2006/main">
            <a:r>
              <a:t>        "url": "https://clova.ai/tech-blog/ko-clova-%EC%BC%80%EC%96%B4%EC%BD%9C-%EC%97%B0%EA%B5%AC-%EB%85%BC%EB%AC%B8-%EC%86%8C%EA%B0%9C-%EC%B4%88%EA%B1%B0%EB%8C%80-%EC%9D%B8%EA%B3%B5%EC%A7%80%EB%8A%A5-%EA%B8%B0%EB%B0%98-%EC%B1%97%EB%B4%87",</a:t>
            </a:r>
          </a:p>
          <a:p xmlns:a="http://schemas.openxmlformats.org/drawingml/2006/main">
            <a:r>
              <a:t>        "published": "2024-08-07",</a:t>
            </a:r>
          </a:p>
          <a:p xmlns:a="http://schemas.openxmlformats.org/drawingml/2006/main">
            <a:r>
              <a:t>        "level": "개발사 연구 요약 / CHI 2023",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"자유 발화 중심의 안부전화와 복지 담당자의 후속 대응을 결합한 서비스. 통화 자체의 자동화보다 대상자의 상황을 파악해 필요한 확인·방문 업무로 인계하는 연결이 핵심.",</a:t>
            </a:r>
          </a:p>
          <a:p xmlns:a="http://schemas.openxmlformats.org/drawingml/2006/main">
            <a:r>
              <a:t>      "음성 대화 기록에서 상태와 확인할 내용을 정리하고 담당자가 대응 여부를 검토하는 흐름. TS 적용 설계에서는 민원 발화를 신청 목적·대상·지역 등 필수 항목으로 정리한 뒤 사용자 확인과 상담원 인계를 구성.",</a:t>
            </a:r>
          </a:p>
          <a:p xmlns:a="http://schemas.openxmlformats.org/drawingml/2006/main">
            <a:r>
              <a:t>      "인터뷰에서 보고된 부담 완화와 임상·복지 성과의 구분. 소음·방언·고령 발화의 인식 오류, 위험 신호의 미탐, 상담원이 실제 인계받았는지를 별도로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"안부전화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"돌봄 대상자·복지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"대상·대화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"전화 대상·대화 문맥의 구분",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"이전 대응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"동의받은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"대화·상태 요약",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"음성 대화에서 상태와 확인 필요 내용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"위험 발화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"위험 신호의 사람 확인·상담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"복지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"통화에서 식사·수면·불편 사항을 파악하고 담당자가 후속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"상담·방문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"담당자에게 상황 요약·확인 대상을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완료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"오인식·부적절 발화와 실제 대응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"동의받은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"대화·후속 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"민감 발화 분리",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"동의 범위 내 대화와 과거 대응 기록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"대화·대응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 발화 대비 상태·위험 신호 추출표와 상담 인계 수신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"동의·열람정책",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"방언·침묵·통화 중단·위험 발화의 부정문",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"전화 대상·대화 문맥의 구분",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"동의받은 발화",</a:t>
            </a:r>
          </a:p>
          <a:p xmlns:a="http://schemas.openxmlformats.org/drawingml/2006/main">
            <a:r>
              <a:t>          "check": "위험 신호의 사람 확인·상담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"상황 요약",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"방언·침묵·통화 중단·위험 발화의 부정문"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"담당자에게 상황 요약·확인 대상을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"담당자 대응 기록",</a:t>
            </a:r>
          </a:p>
          <a:p xmlns:a="http://schemas.openxmlformats.org/drawingml/2006/main">
            <a:r>
              <a:t>          "check":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"안부전화 이후 필요한 복지 조치의 연결 / 자유 발화·상황 요약·후속 대응",</a:t>
            </a:r>
          </a:p>
          <a:p xmlns:a="http://schemas.openxmlformats.org/drawingml/2006/main">
            <a:r>
              <a:t>        "extension": "TS 민원 발화를 요약한 뒤 신청 목적·대상·지역의 사용자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"방언·침묵·통화 중단·위험 발화의 부정문",</a:t>
            </a:r>
          </a:p>
          <a:p xmlns:a="http://schemas.openxmlformats.org/drawingml/2006/main">
            <a:r>
              <a:t>        "hold": "위험 신호의 사람 확인·상담 인계",</a:t>
            </a:r>
          </a:p>
          <a:p xmlns:a="http://schemas.openxmlformats.org/drawingml/2006/main">
            <a:r>
              <a:t>        "recovery": "오인식·부적절 발화와 실제 대응 결과 검토",</a:t>
            </a:r>
          </a:p>
          <a:p xmlns:a="http://schemas.openxmlformats.org/drawingml/2006/main">
            <a:r>
              <a:t>        "evidence": "원 발화 대비 상태·위험 신호 추출표와 상담 인계 수신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"대화·후속 대응 기록",</a:t>
            </a:r>
          </a:p>
          <a:p xmlns:a="http://schemas.openxmlformats.org/drawingml/2006/main">
            <a:r>
              <a:t>        "prepare": "동의 범위 내 대화와 과거 대응 기록 구성",</a:t>
            </a:r>
          </a:p>
          <a:p xmlns:a="http://schemas.openxmlformats.org/drawingml/2006/main">
            <a:r>
              <a:t>        "output": "동의받은 발화",</a:t>
            </a:r>
          </a:p>
          <a:p xmlns:a="http://schemas.openxmlformats.org/drawingml/2006/main">
            <a:r>
              <a:t>        "refresh": "오인식·부적절 발화와 실제 대응 결과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접점과 담당자 후속 대응의 결합",</a:t>
            </a:r>
          </a:p>
          <a:p xmlns:a="http://schemas.openxmlformats.org/drawingml/2006/main">
            <a:r>
              <a:t>      "이용자 상황을 반영한 대화"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"위험 발화의 오해·미탐 가능성",</a:t>
            </a:r>
          </a:p>
          <a:p xmlns:a="http://schemas.openxmlformats.org/drawingml/2006/main">
            <a:r>
              <a:t>      "대화 종료와 실제 복지 조치의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"대화·내역 분석",</a:t>
            </a:r>
          </a:p>
          <a:p xmlns:a="http://schemas.openxmlformats.org/drawingml/2006/main">
            <a:r>
              <a:t>      "대화·후속 대응 기록",</a:t>
            </a:r>
          </a:p>
          <a:p xmlns:a="http://schemas.openxmlformats.org/drawingml/2006/main">
            <a:r>
              <a:t>      "복지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"동의받은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"확인 필요 대상",</a:t>
            </a:r>
          </a:p>
          <a:p xmlns:a="http://schemas.openxmlformats.org/drawingml/2006/main">
            <a:r>
              <a:t>      "담당자 대응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"위험 신호의 사람 확인·상담 인계",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NAVER · CareCall 이해관계자 연구 https://clova.ai/tech-blog/ko-clova-%EC%BC%80%EC%96%B4%EC%BD%9C-%EC%97%B0%EA%B5%AC-%EB%85%BC%EB%AC%B8-%EC%86%8C%EA%B0%9C-%EC%B4%88%EA%B1%B0%EB%8C%80-%EC%9D%B8%EA%B3%B5%EC%A7%80%EB%8A%A5-%EA%B8%B0%EB%B0%98-%EC%B1%97%EB%B4%87</a:t>
            </a:r>
          </a:p>
          <a:p xmlns:a="http://schemas.openxmlformats.org/drawingml/2006/main">
            <a:r>
              <a:t>홈페이지 https://heen1987-ops.github.io/TS-business-Plan-001/index.html?view=casebook&amp;case=AX02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"title": "CLOVA CareCall",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"음성·LLM 돌봄 서비스",</a:t>
            </a:r>
          </a:p>
          <a:p xmlns:a="http://schemas.openxmlformats.org/drawingml/2006/main">
            <a:r>
              <a:t>    "period": "CHI 2023 / 2024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"음성",</a:t>
            </a:r>
          </a:p>
          <a:p xmlns:a="http://schemas.openxmlformats.org/drawingml/2006/main">
            <a:r>
              <a:t>      "정보약자",</a:t>
            </a:r>
          </a:p>
          <a:p xmlns:a="http://schemas.openxmlformats.org/drawingml/2006/main">
            <a:r>
              <a:t>      "맞춤 서비스",</a:t>
            </a:r>
          </a:p>
          <a:p xmlns:a="http://schemas.openxmlformats.org/drawingml/2006/main">
            <a:r>
              <a:t>      "인간 개입"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"안부전화와 복지 담당자 후속 대응의 결합; 인터뷰에서 업무 부담 완화와 사용자 이해의 이점 보고",</a:t>
            </a:r>
          </a:p>
          <a:p xmlns:a="http://schemas.openxmlformats.org/drawingml/2006/main">
            <a:r>
              <a:t>    "limit": "소규모 질적 연구 · 부적절 발화 통제와 지자체별 요구 반영의 난점 · 임상 효과 근거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"LLM 대화",</a:t>
            </a:r>
          </a:p>
          <a:p xmlns:a="http://schemas.openxmlformats.org/drawingml/2006/main">
            <a:r>
              <a:t>      "내역 열람·분석",</a:t>
            </a:r>
          </a:p>
          <a:p xmlns:a="http://schemas.openxmlformats.org/drawingml/2006/main">
            <a:r>
              <a:t>      "복지 담당자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"개발사 공개 서비스 구조 요약",</a:t>
            </a:r>
          </a:p>
          <a:p xmlns:a="http://schemas.openxmlformats.org/drawingml/2006/main">
            <a:r>
              <a:t>    "lesson":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"한국어 음성 연계 / 발화 정리 / 필수 항목 검증 / 상담 전환",</a:t>
            </a:r>
          </a:p>
          <a:p xmlns:a="http://schemas.openxmlformats.org/drawingml/2006/main">
            <a:r>
              <a:t>    "test": "고령·소음·방언 표본의 필수 항목 정확도 및 상담 전환 성공률",</a:t>
            </a:r>
          </a:p>
          <a:p xmlns:a="http://schemas.openxmlformats.org/drawingml/2006/main">
            <a:r>
              <a:t>    "metric": "서비스 도달률 / 발화 재입력률 / 집단별 완료시간"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"canonicalId": "AX02",</a:t>
            </a:r>
          </a:p>
          <a:p xmlns:a="http://schemas.openxmlformats.org/drawingml/2006/main">
            <a:r>
              <a:t>    "purpose": "안부전화 이후 필요한 복지 조치의 연결",</a:t>
            </a:r>
          </a:p>
          <a:p xmlns:a="http://schemas.openxmlformats.org/drawingml/2006/main">
            <a:r>
              <a:t>    "users": "돌봄 대상자·복지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"자유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"후속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"detail": "전화 대상·대화 문맥의 구분",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"자유 발화 / 상황 요약 / 후속 대응",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"대화·내역 분석",</a:t>
            </a:r>
          </a:p>
          <a:p xmlns:a="http://schemas.openxmlformats.org/drawingml/2006/main">
            <a:r>
              <a:t>        "detail": "음성 대화에서 상태와 확인 필요 내용 정리",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"복지 담당자",</a:t>
            </a:r>
          </a:p>
          <a:p xmlns:a="http://schemas.openxmlformats.org/drawingml/2006/main">
            <a:r>
              <a:t>        "detail": "담당자에게 상황 요약·확인 대상을 인계",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"대화·후속 대응 기록",</a:t>
            </a:r>
          </a:p>
          <a:p xmlns:a="http://schemas.openxmlformats.org/drawingml/2006/main">
            <a:r>
              <a:t>        "detail": "동의 범위 내 대화와 과거 대응 기록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"오인식·부적절 발화와 실제 대응 결과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"안부전화",</a:t>
            </a:r>
          </a:p>
          <a:p xmlns:a="http://schemas.openxmlformats.org/drawingml/2006/main">
            <a:r>
              <a:t>        "input": "전화 대상·대화 문맥의 구분",</a:t>
            </a:r>
          </a:p>
          <a:p xmlns:a="http://schemas.openxmlformats.org/drawingml/2006/main">
            <a:r>
              <a:t>        "process": "동의 범위 내 대화와 과거 대응 기록 구성",</a:t>
            </a:r>
          </a:p>
          <a:p xmlns:a="http://schemas.openxmlformats.org/drawingml/2006/main">
            <a:r>
              <a:t>        "output": "동의받은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"LLM 대화",</a:t>
            </a:r>
          </a:p>
          <a:p xmlns:a="http://schemas.openxmlformats.org/drawingml/2006/main">
            <a:r>
              <a:t>        "input": "동의받은 발화",</a:t>
            </a:r>
          </a:p>
          <a:p xmlns:a="http://schemas.openxmlformats.org/drawingml/2006/main">
            <a:r>
              <a:t>        "process": "음성 대화에서 상태와 확인 필요 내용 정리",</a:t>
            </a:r>
          </a:p>
          <a:p xmlns:a="http://schemas.openxmlformats.org/drawingml/2006/main">
            <a:r>
              <a:t>        "output": "상황 요약"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"내역 열람·분석",</a:t>
            </a:r>
          </a:p>
          <a:p xmlns:a="http://schemas.openxmlformats.org/drawingml/2006/main">
            <a:r>
              <a:t>        "input": "상황 요약",</a:t>
            </a:r>
          </a:p>
          <a:p xmlns:a="http://schemas.openxmlformats.org/drawingml/2006/main">
            <a:r>
              <a:t>        "process": "위험 신호의 사람 확인·상담 인계",</a:t>
            </a:r>
          </a:p>
          <a:p xmlns:a="http://schemas.openxmlformats.org/drawingml/2006/main">
            <a:r>
              <a:t>        "output": "확인 필요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"복지 담당자 대응",</a:t>
            </a:r>
          </a:p>
          <a:p xmlns:a="http://schemas.openxmlformats.org/drawingml/2006/main">
            <a:r>
              <a:t>        "input": "확인 필요 대상",</a:t>
            </a:r>
          </a:p>
          <a:p xmlns:a="http://schemas.openxmlformats.org/drawingml/2006/main">
            <a:r>
              <a:t>        "process": "담당자에게 상황 요약·확인 대상을 인계",</a:t>
            </a:r>
          </a:p>
          <a:p xmlns:a="http://schemas.openxmlformats.org/drawingml/2006/main">
            <a:r>
              <a:t>        "output": "담당자 대응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"통화에서 식사·수면·불편 사항을 파악하고 담당자가 후속 확인",</a:t>
            </a:r>
          </a:p>
          <a:p xmlns:a="http://schemas.openxmlformats.org/drawingml/2006/main">
            <a:r>
              <a:t>      "exception": "방언·침묵·통화 중단·위험 발화의 부정문",</a:t>
            </a:r>
          </a:p>
          <a:p xmlns:a="http://schemas.openxmlformats.org/drawingml/2006/main">
            <a:r>
              <a:t>      "evidence": "원 발화 대비 상태·위험 신호 추출표와 상담 인계 수신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"돌봄 대상자·복지 담당자",</a:t>
            </a:r>
          </a:p>
          <a:p xmlns:a="http://schemas.openxmlformats.org/drawingml/2006/main">
            <a:r>
              <a:t>          "processing": "전화 대상·대화 문맥의 구분",</a:t>
            </a:r>
          </a:p>
          <a:p xmlns:a="http://schemas.openxmlformats.org/drawingml/2006/main">
            <a:r>
              <a:t>          "output": "동의받은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"대화·후속 대응 기록",</a:t>
            </a:r>
          </a:p>
          <a:p xmlns:a="http://schemas.openxmlformats.org/drawingml/2006/main">
            <a:r>
              <a:t>          "processing": "동의 범위 내 대화와 과거 대응 기록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"동의받은 발화",</a:t>
            </a:r>
          </a:p>
          <a:p xmlns:a="http://schemas.openxmlformats.org/drawingml/2006/main">
            <a:r>
              <a:t>          "processing": "음성 대화에서 상태와 확인 필요 내용 정리",</a:t>
            </a:r>
          </a:p>
          <a:p xmlns:a="http://schemas.openxmlformats.org/drawingml/2006/main">
            <a:r>
              <a:t>          "output": "확인 필요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"확인 필요 대상",</a:t>
            </a:r>
          </a:p>
          <a:p xmlns:a="http://schemas.openxmlformats.org/drawingml/2006/main">
            <a:r>
              <a:t>          "processing": "담당자에게 상황 요약·확인 대상을 인계",</a:t>
            </a:r>
          </a:p>
          <a:p xmlns:a="http://schemas.openxmlformats.org/drawingml/2006/main">
            <a:r>
              <a:t>          "output": "담당자 대응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"오인식·부적절 발화와 실제 대응 결과 검토",</a:t>
            </a:r>
          </a:p>
          <a:p xmlns:a="http://schemas.openxmlformats.org/drawingml/2006/main">
            <a:r>
              <a:t>          "output":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"오인식·부적절 발화와 실제 대응 결과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"S02",</a:t>
            </a:r>
          </a:p>
          <a:p xmlns:a="http://schemas.openxmlformats.org/drawingml/2006/main">
            <a:r>
              <a:t>        "title": "NAVER · CareCall 이해관계자 연구",</a:t>
            </a:r>
          </a:p>
          <a:p xmlns:a="http://schemas.openxmlformats.org/drawingml/2006/main">
            <a:r>
              <a:t>        "url": "https://clova.ai/tech-blog/ko-clova-%EC%BC%80%EC%96%B4%EC%BD%9C-%EC%97%B0%EA%B5%AC-%EB%85%BC%EB%AC%B8-%EC%86%8C%EA%B0%9C-%EC%B4%88%EA%B1%B0%EB%8C%80-%EC%9D%B8%EA%B3%B5%EC%A7%80%EB%8A%A5-%EA%B8%B0%EB%B0%98-%EC%B1%97%EB%B4%87",</a:t>
            </a:r>
          </a:p>
          <a:p xmlns:a="http://schemas.openxmlformats.org/drawingml/2006/main">
            <a:r>
              <a:t>        "published": "2024-08-07",</a:t>
            </a:r>
          </a:p>
          <a:p xmlns:a="http://schemas.openxmlformats.org/drawingml/2006/main">
            <a:r>
              <a:t>        "level": "개발사 연구 요약 / CHI 2023",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"자유 발화와 필수 업무 항목의 분리 및 사람에게 연결되는 경로",</a:t>
            </a:r>
          </a:p>
          <a:p xmlns:a="http://schemas.openxmlformats.org/drawingml/2006/main">
            <a:r>
              <a:t>    "local": "TS 민원 발화를 요약한 뒤 신청 목적·대상·지역의 사용자 확인",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"자유 발화 중심의 안부전화와 복지 담당자의 후속 대응을 결합한 서비스. 통화 자체의 자동화보다 대상자의 상황을 파악해 필요한 확인·방문 업무로 인계하는 연결이 핵심.",</a:t>
            </a:r>
          </a:p>
          <a:p xmlns:a="http://schemas.openxmlformats.org/drawingml/2006/main">
            <a:r>
              <a:t>      "음성 대화 기록에서 상태와 확인할 내용을 정리하고 담당자가 대응 여부를 검토하는 흐름. TS 적용 설계에서는 민원 발화를 신청 목적·대상·지역 등 필수 항목으로 정리한 뒤 사용자 확인과 상담원 인계를 구성.",</a:t>
            </a:r>
          </a:p>
          <a:p xmlns:a="http://schemas.openxmlformats.org/drawingml/2006/main">
            <a:r>
              <a:t>      "인터뷰에서 보고된 부담 완화와 임상·복지 성과의 구분. 소음·방언·고령 발화의 인식 오류, 위험 신호의 미탐, 상담원이 실제 인계받았는지를 별도로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"안부전화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"돌봄 대상자·복지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"대상·대화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"전화 대상·대화 문맥의 구분",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"이전 대응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"동의받은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"대화·상태 요약",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"음성 대화에서 상태와 확인 필요 내용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"위험 발화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"위험 신호의 사람 확인·상담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"복지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"통화에서 식사·수면·불편 사항을 파악하고 담당자가 후속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"상담·방문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"담당자에게 상황 요약·확인 대상을 인계",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완료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"오인식·부적절 발화와 실제 대응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"동의받은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"대화·후속 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"민감 발화 분리",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"동의 범위 내 대화와 과거 대응 기록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"대화·대응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 발화 대비 상태·위험 신호 추출표와 상담 인계 수신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"동의·열람정책",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"방언·침묵·통화 중단·위험 발화의 부정문",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"전화 대상·대화 문맥의 구분",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"동의받은 발화",</a:t>
            </a:r>
          </a:p>
          <a:p xmlns:a="http://schemas.openxmlformats.org/drawingml/2006/main">
            <a:r>
              <a:t>          "check": "위험 신호의 사람 확인·상담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"상황 요약",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"방언·침묵·통화 중단·위험 발화의 부정문"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"확인 필요 대상",</a:t>
            </a:r>
          </a:p>
          <a:p xmlns:a="http://schemas.openxmlformats.org/drawingml/2006/main">
            <a:r>
              <a:t>          "check": "담당자에게 상황 요약·확인 대상을 인계"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"담당자 대응 기록",</a:t>
            </a:r>
          </a:p>
          <a:p xmlns:a="http://schemas.openxmlformats.org/drawingml/2006/main">
            <a:r>
              <a:t>          "check": "원 발화 대비 상태·위험 신호 추출표와 상담 인계 수신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"안부전화 이후 필요한 복지 조치의 연결 / 자유 발화·상황 요약·후속 대응",</a:t>
            </a:r>
          </a:p>
          <a:p xmlns:a="http://schemas.openxmlformats.org/drawingml/2006/main">
            <a:r>
              <a:t>        "extension": "TS 민원 발화를 요약한 뒤 신청 목적·대상·지역의 사용자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"방언·침묵·통화 중단·위험 발화의 부정문",</a:t>
            </a:r>
          </a:p>
          <a:p xmlns:a="http://schemas.openxmlformats.org/drawingml/2006/main">
            <a:r>
              <a:t>        "hold": "위험 신호의 사람 확인·상담 인계",</a:t>
            </a:r>
          </a:p>
          <a:p xmlns:a="http://schemas.openxmlformats.org/drawingml/2006/main">
            <a:r>
              <a:t>        "recovery": "오인식·부적절 발화와 실제 대응 결과 검토",</a:t>
            </a:r>
          </a:p>
          <a:p xmlns:a="http://schemas.openxmlformats.org/drawingml/2006/main">
            <a:r>
              <a:t>        "evidence": "원 발화 대비 상태·위험 신호 추출표와 상담 인계 수신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"대화·후속 대응 기록",</a:t>
            </a:r>
          </a:p>
          <a:p xmlns:a="http://schemas.openxmlformats.org/drawingml/2006/main">
            <a:r>
              <a:t>        "prepare": "동의 범위 내 대화와 과거 대응 기록 구성",</a:t>
            </a:r>
          </a:p>
          <a:p xmlns:a="http://schemas.openxmlformats.org/drawingml/2006/main">
            <a:r>
              <a:t>        "output": "동의받은 발화",</a:t>
            </a:r>
          </a:p>
          <a:p xmlns:a="http://schemas.openxmlformats.org/drawingml/2006/main">
            <a:r>
              <a:t>        "refresh": "오인식·부적절 발화와 실제 대응 결과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접점과 담당자 후속 대응의 결합",</a:t>
            </a:r>
          </a:p>
          <a:p xmlns:a="http://schemas.openxmlformats.org/drawingml/2006/main">
            <a:r>
              <a:t>      "이용자 상황을 반영한 대화"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"위험 발화의 오해·미탐 가능성",</a:t>
            </a:r>
          </a:p>
          <a:p xmlns:a="http://schemas.openxmlformats.org/drawingml/2006/main">
            <a:r>
              <a:t>      "대화 종료와 실제 복지 조치의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"안부전화",</a:t>
            </a:r>
          </a:p>
          <a:p xmlns:a="http://schemas.openxmlformats.org/drawingml/2006/main">
            <a:r>
              <a:t>      "대화·내역 분석",</a:t>
            </a:r>
          </a:p>
          <a:p xmlns:a="http://schemas.openxmlformats.org/drawingml/2006/main">
            <a:r>
              <a:t>      "대화·후속 대응 기록",</a:t>
            </a:r>
          </a:p>
          <a:p xmlns:a="http://schemas.openxmlformats.org/drawingml/2006/main">
            <a:r>
              <a:t>      "복지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"동의받은 발화",</a:t>
            </a:r>
          </a:p>
          <a:p xmlns:a="http://schemas.openxmlformats.org/drawingml/2006/main">
            <a:r>
              <a:t>      "상황 요약",</a:t>
            </a:r>
          </a:p>
          <a:p xmlns:a="http://schemas.openxmlformats.org/drawingml/2006/main">
            <a:r>
              <a:t>      "확인 필요 대상",</a:t>
            </a:r>
          </a:p>
          <a:p xmlns:a="http://schemas.openxmlformats.org/drawingml/2006/main">
            <a:r>
              <a:t>      "담당자 대응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"위험 신호의 사람 확인·상담 인계",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NAVER · CareCall 이해관계자 연구 https://clova.ai/tech-blog/ko-clova-%EC%BC%80%EC%96%B4%EC%BD%9C-%EC%97%B0%EA%B5%AC-%EB%85%BC%EB%AC%B8-%EC%86%8C%EA%B0%9C-%EC%B4%88%EA%B1%B0%EB%8C%80-%EC%9D%B8%EA%B3%B5%EC%A7%80%EB%8A%A5-%EA%B8%B0%EB%B0%98-%EC%B1%97%EB%B4%87</a:t>
            </a:r>
          </a:p>
          <a:p xmlns:a="http://schemas.openxmlformats.org/drawingml/2006/main">
            <a:r>
              <a:t>홈페이지 https://heen1987-ops.github.io/TS-business-Plan-001/index.html?view=casebook&amp;case=AX02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"title": "이루다 개인정보 처리",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"학습·응답 데이터 통제",</a:t>
            </a:r>
          </a:p>
          <a:p xmlns:a="http://schemas.openxmlformats.org/drawingml/2006/main">
            <a:r>
              <a:t>    "period": "2021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"개인정보",</a:t>
            </a:r>
          </a:p>
          <a:p xmlns:a="http://schemas.openxmlformats.org/drawingml/2006/main">
            <a:r>
              <a:t>      "목적 제한",</a:t>
            </a:r>
          </a:p>
          <a:p xmlns:a="http://schemas.openxmlformats.org/drawingml/2006/main">
            <a:r>
              <a:t>      "데이터 재사용",</a:t>
            </a:r>
          </a:p>
          <a:p xmlns:a="http://schemas.openxmlformats.org/drawingml/2006/main">
            <a:r>
              <a:t>      "책임"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"다른 서비스에서 수집한 대화의 목적 외 학습·운영 이용 등에 대한 개인정보보호위원회 제재",</a:t>
            </a:r>
          </a:p>
          <a:p xmlns:a="http://schemas.openxmlformats.org/drawingml/2006/main">
            <a:r>
              <a:t>    "limit": "2021년 조사 대상 행위 기준 · 후속 서비스 전체에 대한 평가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"목적 외 재사용",</a:t>
            </a:r>
          </a:p>
          <a:p xmlns:a="http://schemas.openxmlformats.org/drawingml/2006/main">
            <a:r>
              <a:t>      "학습·응답 DB",</a:t>
            </a:r>
          </a:p>
          <a:p xmlns:a="http://schemas.openxmlformats.org/drawingml/2006/main">
            <a:r>
              <a:t>      "이루다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"조사에서 확인된 처리 관계 요약 · 내부 구현 상세 미공개",</a:t>
            </a:r>
          </a:p>
          <a:p xmlns:a="http://schemas.openxmlformats.org/drawingml/2006/main">
            <a:r>
              <a:t>    "lesson":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"수집 목적 태그 / 학습·검색·출력별 정책 / 삭제·회수 전파",</a:t>
            </a:r>
          </a:p>
          <a:p xmlns:a="http://schemas.openxmlformats.org/drawingml/2006/main">
            <a:r>
              <a:t>    "test": "목적 외 입력 거부·권한 회수 후 검색 및 캐시 노출 차단",</a:t>
            </a:r>
          </a:p>
          <a:p xmlns:a="http://schemas.openxmlformats.org/drawingml/2006/main">
            <a:r>
              <a:t>    "metric": "필수 거부셋 노출 건수 / 삭제 전파 지연"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"canonicalId": "AX03",</a:t>
            </a:r>
          </a:p>
          <a:p xmlns:a="http://schemas.openxmlformats.org/drawingml/2006/main">
            <a:r>
              <a:t>    "purpose": "대화 데이터의 목적 외 활용 실패 분석",</a:t>
            </a:r>
          </a:p>
          <a:p xmlns:a="http://schemas.openxmlformats.org/drawingml/2006/main">
            <a:r>
              <a:t>    "users": "서비스 이용자·데이터 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"수집 목적",</a:t>
            </a:r>
          </a:p>
          <a:p xmlns:a="http://schemas.openxmlformats.org/drawingml/2006/main">
            <a:r>
              <a:t>      "학습·응답 재사용",</a:t>
            </a:r>
          </a:p>
          <a:p xmlns:a="http://schemas.openxmlformats.org/drawingml/2006/main">
            <a:r>
              <a:t>      "삭제·회수"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"detail": "원 서비스 동의와 재사용 목적의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"수집 목적 / 학습·응답 재사용 / 삭제·회수",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"학습·응답 처리",</a:t>
            </a:r>
          </a:p>
          <a:p xmlns:a="http://schemas.openxmlformats.org/drawingml/2006/main">
            <a:r>
              <a:t>        "detail": "학습용·응답용 데이터 경로의 별도 심사",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"챗봇 이용자",</a:t>
            </a:r>
          </a:p>
          <a:p xmlns:a="http://schemas.openxmlformats.org/drawingml/2006/main">
            <a:r>
              <a:t>        "detail": "비허용 데이터 차단 및 기존 복제본 회수",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 데이터",</a:t>
            </a:r>
          </a:p>
          <a:p xmlns:a="http://schemas.openxmlformats.org/drawingml/2006/main">
            <a:r>
              <a:t>        "detail": "원 대화의 개인정보·목적·보유기간 태깅",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"삭제 이후 학습·검색·출력 경로의 잔존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"input": "원 서비스 동의와 재사용 목적의 대조",</a:t>
            </a:r>
          </a:p>
          <a:p xmlns:a="http://schemas.openxmlformats.org/drawingml/2006/main">
            <a:r>
              <a:t>        "process": "원 대화의 개인정보·목적·보유기간 태깅",</a:t>
            </a:r>
          </a:p>
          <a:p xmlns:a="http://schemas.openxmlformats.org/drawingml/2006/main">
            <a:r>
              <a:t>        "output": "대화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"목적 외 재사용",</a:t>
            </a:r>
          </a:p>
          <a:p xmlns:a="http://schemas.openxmlformats.org/drawingml/2006/main">
            <a:r>
              <a:t>        "input": "대화 원문",</a:t>
            </a:r>
          </a:p>
          <a:p xmlns:a="http://schemas.openxmlformats.org/drawingml/2006/main">
            <a:r>
              <a:t>        "process": "학습용·응답용 데이터 경로의 별도 심사",</a:t>
            </a:r>
          </a:p>
          <a:p xmlns:a="http://schemas.openxmlformats.org/drawingml/2006/main">
            <a:r>
              <a:t>        "output": "재사용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"학습·응답 DB",</a:t>
            </a:r>
          </a:p>
          <a:p xmlns:a="http://schemas.openxmlformats.org/drawingml/2006/main">
            <a:r>
              <a:t>        "input": "재사용 대상",</a:t>
            </a:r>
          </a:p>
          <a:p xmlns:a="http://schemas.openxmlformats.org/drawingml/2006/main">
            <a:r>
              <a:t>        "process": "목적·동의 범위 대사와 삭제 전파",</a:t>
            </a:r>
          </a:p>
          <a:p xmlns:a="http://schemas.openxmlformats.org/drawingml/2006/main">
            <a:r>
              <a:t>        "output": "학습·응답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"이루다 발화",</a:t>
            </a:r>
          </a:p>
          <a:p xmlns:a="http://schemas.openxmlformats.org/drawingml/2006/main">
            <a:r>
              <a:t>        "input": "학습·응답 자료",</a:t>
            </a:r>
          </a:p>
          <a:p xmlns:a="http://schemas.openxmlformats.org/drawingml/2006/main">
            <a:r>
              <a:t>        "process": "비허용 데이터 차단 및 기존 복제본 회수",</a:t>
            </a:r>
          </a:p>
          <a:p xmlns:a="http://schemas.openxmlformats.org/drawingml/2006/main">
            <a:r>
              <a:t>        "output": "생성 발화"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"명시된 목적에 맞는 대화만 학습·검색·응답 경로에 제공",</a:t>
            </a:r>
          </a:p>
          <a:p xmlns:a="http://schemas.openxmlformats.org/drawingml/2006/main">
            <a:r>
              <a:t>      "exception": "동의 철회·다른 서비스 자료·복제된 삭제 대상",</a:t>
            </a:r>
          </a:p>
          <a:p xmlns:a="http://schemas.openxmlformats.org/drawingml/2006/main">
            <a:r>
              <a:t>      "evidence": "목적별 허용/차단 결과와 원천·색인·캐시 삭제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"서비스 이용자·데이터 관리자",</a:t>
            </a:r>
          </a:p>
          <a:p xmlns:a="http://schemas.openxmlformats.org/drawingml/2006/main">
            <a:r>
              <a:t>          "processing": "원 서비스 동의와 재사용 목적의 대조",</a:t>
            </a:r>
          </a:p>
          <a:p xmlns:a="http://schemas.openxmlformats.org/drawingml/2006/main">
            <a:r>
              <a:t>          "output": "대화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 데이터",</a:t>
            </a:r>
          </a:p>
          <a:p xmlns:a="http://schemas.openxmlformats.org/drawingml/2006/main">
            <a:r>
              <a:t>          "processing": "원 대화의 개인정보·목적·보유기간 태깅",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"대화 원문",</a:t>
            </a:r>
          </a:p>
          <a:p xmlns:a="http://schemas.openxmlformats.org/drawingml/2006/main">
            <a:r>
              <a:t>          "processing": "학습용·응답용 데이터 경로의 별도 심사",</a:t>
            </a:r>
          </a:p>
          <a:p xmlns:a="http://schemas.openxmlformats.org/drawingml/2006/main">
            <a:r>
              <a:t>          "output": "학습·응답 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"학습·응답 자료",</a:t>
            </a:r>
          </a:p>
          <a:p xmlns:a="http://schemas.openxmlformats.org/drawingml/2006/main">
            <a:r>
              <a:t>          "processing": "비허용 데이터 차단 및 기존 복제본 회수",</a:t>
            </a:r>
          </a:p>
          <a:p xmlns:a="http://schemas.openxmlformats.org/drawingml/2006/main">
            <a:r>
              <a:t>          "output": "생성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"삭제 이후 학습·검색·출력 경로의 잔존 검사",</a:t>
            </a:r>
          </a:p>
          <a:p xmlns:a="http://schemas.openxmlformats.org/drawingml/2006/main">
            <a:r>
              <a:t>          "output":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"삭제 이후 학습·검색·출력 경로의 잔존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"S03",</a:t>
            </a:r>
          </a:p>
          <a:p xmlns:a="http://schemas.openxmlformats.org/drawingml/2006/main">
            <a:r>
              <a:t>        "title": "개인정보보호위원회 · 이루다 조사 결과",</a:t>
            </a:r>
          </a:p>
          <a:p xmlns:a="http://schemas.openxmlformats.org/drawingml/2006/main">
            <a:r>
              <a:t>        "url": "https://www.korea.kr/news/policyNewsView.do?newsId=156449232",</a:t>
            </a:r>
          </a:p>
          <a:p xmlns:a="http://schemas.openxmlformats.org/drawingml/2006/main">
            <a:r>
              <a:t>        "published": "2021-04-28",</a:t>
            </a:r>
          </a:p>
          <a:p xmlns:a="http://schemas.openxmlformats.org/drawingml/2006/main">
            <a:r>
              <a:t>        "level": "감독기관 조사",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"다른 서비스에서 수집한 대화를 AI 학습·운영에 활용하는 과정의 개인정보 통제 실패 사례. 자료를 보유한다는 사실과 해당 목적의 AI 이용 권한이 일치하지 않는 문제.",</a:t>
            </a:r>
          </a:p>
          <a:p xmlns:a="http://schemas.openxmlformats.org/drawingml/2006/main">
            <a:r>
              <a:t>      "원 수집 목적·동의 범위·보유기간을 데이터에 연결하고, 학습용·검색용·출력용 경로마다 허용 여부를 판정하는 CCK 재발 방지 설계. 삭제 요청은 원본뿐 아니라 색인·캐시·복제본까지 추적하는 구조.",</a:t>
            </a:r>
          </a:p>
          <a:p xmlns:a="http://schemas.openxmlformats.org/drawingml/2006/main">
            <a:r>
              <a:t>      "TS 인사·민원 데이터의 연결 시 업무 권한과 AI 재사용 목적을 별도 속성으로 관리할 근거. 민감정보를 포함한 실제 사용자 데이터를 시험에 노출하지 않고 비허용 목적·회수 상황을 합성 자료로 재현하는 검수."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"재사용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"서비스 이용자·데이터 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"목적·동의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"원 서비스 동의와 재사용 목적의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"대상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"대화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"학습·응답 분리",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"학습용·응답용 데이터 경로의 별도 심사",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"목적 외 이용 차단",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"목적·동의 범위 대사와 삭제 전파",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"자료 관리자 심사",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"명시된 목적에 맞는 대화만 학습·검색·응답 경로에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"허용본·회수 처리",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"비허용 데이터 차단 및 기존 복제본 회수",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"잔존 데이터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"삭제 이후 학습·검색·출력 경로의 잔존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 서비스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"개인정보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 대화의 개인정보·목적·보유기간 태깅",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"복제본·판본 목록",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"목적별 허용/차단 결과와 원천·색인·캐시 삭제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"삭제·보유정책",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"동의 철회·다른 서비스 자료·복제된 삭제 대상",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"원 서비스 동의와 재사용 목적의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"대화 원문",</a:t>
            </a:r>
          </a:p>
          <a:p xmlns:a="http://schemas.openxmlformats.org/drawingml/2006/main">
            <a:r>
              <a:t>          "check": "목적·동의 범위 대사와 삭제 전파"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"재사용 대상",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"동의 철회·다른 서비스 자료·복제된 삭제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"비허용 데이터 차단 및 기존 복제본 회수"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"생성 발화",</a:t>
            </a:r>
          </a:p>
          <a:p xmlns:a="http://schemas.openxmlformats.org/drawingml/2006/main">
            <a:r>
              <a:t>          "check":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"대화 데이터의 목적 외 활용 실패 분석 / 수집 목적·학습·응답 재사용·삭제·회수",</a:t>
            </a:r>
          </a:p>
          <a:p xmlns:a="http://schemas.openxmlformats.org/drawingml/2006/main">
            <a:r>
              <a:t>        "extension": "인사·민원 데이터의 목적·보유기간·접근정책을 별도 속성으로 관리"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"동의 철회·다른 서비스 자료·복제된 삭제 대상",</a:t>
            </a:r>
          </a:p>
          <a:p xmlns:a="http://schemas.openxmlformats.org/drawingml/2006/main">
            <a:r>
              <a:t>        "hold": "목적·동의 범위 대사와 삭제 전파",</a:t>
            </a:r>
          </a:p>
          <a:p xmlns:a="http://schemas.openxmlformats.org/drawingml/2006/main">
            <a:r>
              <a:t>        "recovery": "삭제 이후 학습·검색·출력 경로의 잔존 검사",</a:t>
            </a:r>
          </a:p>
          <a:p xmlns:a="http://schemas.openxmlformats.org/drawingml/2006/main">
            <a:r>
              <a:t>        "evidence": "목적별 허용/차단 결과와 원천·색인·캐시 삭제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 데이터",</a:t>
            </a:r>
          </a:p>
          <a:p xmlns:a="http://schemas.openxmlformats.org/drawingml/2006/main">
            <a:r>
              <a:t>        "prepare": "원 대화의 개인정보·목적·보유기간 태깅",</a:t>
            </a:r>
          </a:p>
          <a:p xmlns:a="http://schemas.openxmlformats.org/drawingml/2006/main">
            <a:r>
              <a:t>        "output": "대화 원문",</a:t>
            </a:r>
          </a:p>
          <a:p xmlns:a="http://schemas.openxmlformats.org/drawingml/2006/main">
            <a:r>
              <a:t>        "refresh": "삭제 이후 학습·검색·출력 경로의 잔존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"수집 목적별 데이터 분리",</a:t>
            </a:r>
          </a:p>
          <a:p xmlns:a="http://schemas.openxmlformats.org/drawingml/2006/main">
            <a:r>
              <a:t>      "이용 동의·삭제 요청의 재사용 경로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"다른 서비스 대화의 목적 외 이용",</a:t>
            </a:r>
          </a:p>
          <a:p xmlns:a="http://schemas.openxmlformats.org/drawingml/2006/main">
            <a:r>
              <a:t>      "학습·응답 경로의 개인정보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"학습·응답 처리",</a:t>
            </a:r>
          </a:p>
          <a:p xmlns:a="http://schemas.openxmlformats.org/drawingml/2006/main">
            <a:r>
              <a:t>      "대화 데이터",</a:t>
            </a:r>
          </a:p>
          <a:p xmlns:a="http://schemas.openxmlformats.org/drawingml/2006/main">
            <a:r>
              <a:t>      "챗봇 이용자"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"대화 원문",</a:t>
            </a:r>
          </a:p>
          <a:p xmlns:a="http://schemas.openxmlformats.org/drawingml/2006/main">
            <a:r>
              <a:t>      "재사용 대상",</a:t>
            </a:r>
          </a:p>
          <a:p xmlns:a="http://schemas.openxmlformats.org/drawingml/2006/main">
            <a:r>
              <a:t>      "학습·응답 자료",</a:t>
            </a:r>
          </a:p>
          <a:p xmlns:a="http://schemas.openxmlformats.org/drawingml/2006/main">
            <a:r>
              <a:t>      "생성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"목적·동의 범위 대사와 삭제 전파",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개인정보보호위원회 · 이루다 조사 결과 https://www.korea.kr/news/policyNewsView.do?newsId=156449232</a:t>
            </a:r>
          </a:p>
          <a:p xmlns:a="http://schemas.openxmlformats.org/drawingml/2006/main">
            <a:r>
              <a:t>홈페이지 https://heen1987-ops.github.io/TS-business-Plan-001/index.html?view=casebook&amp;case=AX03</a:t>
            </a:r>
          </a:p>
          <a:p xmlns:a="http://schemas.openxmlformats.org/drawingml/2006/main">
            <a:r>
              <a:t>한계: 2021년 조사 대상 행위 기준 · 후속 서비스 전체에 대한 평가 아님</a:t>
            </a:r>
          </a:p>
          <a:p xmlns:a="http://schemas.openxmlformats.org/drawingml/2006/main">
            <a:r>
              <a:t>재발 방지 조건: 수집 목적별 데이터 분리 / 이용 동의·삭제 요청의 재사용 경로 반영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"title": "이루다 개인정보 처리",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"학습·응답 데이터 통제",</a:t>
            </a:r>
          </a:p>
          <a:p xmlns:a="http://schemas.openxmlformats.org/drawingml/2006/main">
            <a:r>
              <a:t>    "period": "2021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"개인정보",</a:t>
            </a:r>
          </a:p>
          <a:p xmlns:a="http://schemas.openxmlformats.org/drawingml/2006/main">
            <a:r>
              <a:t>      "목적 제한",</a:t>
            </a:r>
          </a:p>
          <a:p xmlns:a="http://schemas.openxmlformats.org/drawingml/2006/main">
            <a:r>
              <a:t>      "데이터 재사용",</a:t>
            </a:r>
          </a:p>
          <a:p xmlns:a="http://schemas.openxmlformats.org/drawingml/2006/main">
            <a:r>
              <a:t>      "책임"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"다른 서비스에서 수집한 대화의 목적 외 학습·운영 이용 등에 대한 개인정보보호위원회 제재",</a:t>
            </a:r>
          </a:p>
          <a:p xmlns:a="http://schemas.openxmlformats.org/drawingml/2006/main">
            <a:r>
              <a:t>    "limit": "2021년 조사 대상 행위 기준 · 후속 서비스 전체에 대한 평가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"목적 외 재사용",</a:t>
            </a:r>
          </a:p>
          <a:p xmlns:a="http://schemas.openxmlformats.org/drawingml/2006/main">
            <a:r>
              <a:t>      "학습·응답 DB",</a:t>
            </a:r>
          </a:p>
          <a:p xmlns:a="http://schemas.openxmlformats.org/drawingml/2006/main">
            <a:r>
              <a:t>      "이루다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"조사에서 확인된 처리 관계 요약 · 내부 구현 상세 미공개",</a:t>
            </a:r>
          </a:p>
          <a:p xmlns:a="http://schemas.openxmlformats.org/drawingml/2006/main">
            <a:r>
              <a:t>    "lesson":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"수집 목적 태그 / 학습·검색·출력별 정책 / 삭제·회수 전파",</a:t>
            </a:r>
          </a:p>
          <a:p xmlns:a="http://schemas.openxmlformats.org/drawingml/2006/main">
            <a:r>
              <a:t>    "test": "목적 외 입력 거부·권한 회수 후 검색 및 캐시 노출 차단",</a:t>
            </a:r>
          </a:p>
          <a:p xmlns:a="http://schemas.openxmlformats.org/drawingml/2006/main">
            <a:r>
              <a:t>    "metric": "필수 거부셋 노출 건수 / 삭제 전파 지연"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"canonicalId": "AX03",</a:t>
            </a:r>
          </a:p>
          <a:p xmlns:a="http://schemas.openxmlformats.org/drawingml/2006/main">
            <a:r>
              <a:t>    "purpose": "대화 데이터의 목적 외 활용 실패 분석",</a:t>
            </a:r>
          </a:p>
          <a:p xmlns:a="http://schemas.openxmlformats.org/drawingml/2006/main">
            <a:r>
              <a:t>    "users": "서비스 이용자·데이터 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"수집 목적",</a:t>
            </a:r>
          </a:p>
          <a:p xmlns:a="http://schemas.openxmlformats.org/drawingml/2006/main">
            <a:r>
              <a:t>      "학습·응답 재사용",</a:t>
            </a:r>
          </a:p>
          <a:p xmlns:a="http://schemas.openxmlformats.org/drawingml/2006/main">
            <a:r>
              <a:t>      "삭제·회수"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"detail": "원 서비스 동의와 재사용 목적의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"수집 목적 / 학습·응답 재사용 / 삭제·회수",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"학습·응답 처리",</a:t>
            </a:r>
          </a:p>
          <a:p xmlns:a="http://schemas.openxmlformats.org/drawingml/2006/main">
            <a:r>
              <a:t>        "detail": "학습용·응답용 데이터 경로의 별도 심사",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"챗봇 이용자",</a:t>
            </a:r>
          </a:p>
          <a:p xmlns:a="http://schemas.openxmlformats.org/drawingml/2006/main">
            <a:r>
              <a:t>        "detail": "비허용 데이터 차단 및 기존 복제본 회수",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 데이터",</a:t>
            </a:r>
          </a:p>
          <a:p xmlns:a="http://schemas.openxmlformats.org/drawingml/2006/main">
            <a:r>
              <a:t>        "detail": "원 대화의 개인정보·목적·보유기간 태깅",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"삭제 이후 학습·검색·출력 경로의 잔존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"input": "원 서비스 동의와 재사용 목적의 대조",</a:t>
            </a:r>
          </a:p>
          <a:p xmlns:a="http://schemas.openxmlformats.org/drawingml/2006/main">
            <a:r>
              <a:t>        "process": "원 대화의 개인정보·목적·보유기간 태깅",</a:t>
            </a:r>
          </a:p>
          <a:p xmlns:a="http://schemas.openxmlformats.org/drawingml/2006/main">
            <a:r>
              <a:t>        "output": "대화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"목적 외 재사용",</a:t>
            </a:r>
          </a:p>
          <a:p xmlns:a="http://schemas.openxmlformats.org/drawingml/2006/main">
            <a:r>
              <a:t>        "input": "대화 원문",</a:t>
            </a:r>
          </a:p>
          <a:p xmlns:a="http://schemas.openxmlformats.org/drawingml/2006/main">
            <a:r>
              <a:t>        "process": "학습용·응답용 데이터 경로의 별도 심사",</a:t>
            </a:r>
          </a:p>
          <a:p xmlns:a="http://schemas.openxmlformats.org/drawingml/2006/main">
            <a:r>
              <a:t>        "output": "재사용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"학습·응답 DB",</a:t>
            </a:r>
          </a:p>
          <a:p xmlns:a="http://schemas.openxmlformats.org/drawingml/2006/main">
            <a:r>
              <a:t>        "input": "재사용 대상",</a:t>
            </a:r>
          </a:p>
          <a:p xmlns:a="http://schemas.openxmlformats.org/drawingml/2006/main">
            <a:r>
              <a:t>        "process": "목적·동의 범위 대사와 삭제 전파",</a:t>
            </a:r>
          </a:p>
          <a:p xmlns:a="http://schemas.openxmlformats.org/drawingml/2006/main">
            <a:r>
              <a:t>        "output": "학습·응답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"이루다 발화",</a:t>
            </a:r>
          </a:p>
          <a:p xmlns:a="http://schemas.openxmlformats.org/drawingml/2006/main">
            <a:r>
              <a:t>        "input": "학습·응답 자료",</a:t>
            </a:r>
          </a:p>
          <a:p xmlns:a="http://schemas.openxmlformats.org/drawingml/2006/main">
            <a:r>
              <a:t>        "process": "비허용 데이터 차단 및 기존 복제본 회수",</a:t>
            </a:r>
          </a:p>
          <a:p xmlns:a="http://schemas.openxmlformats.org/drawingml/2006/main">
            <a:r>
              <a:t>        "output": "생성 발화"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"명시된 목적에 맞는 대화만 학습·검색·응답 경로에 제공",</a:t>
            </a:r>
          </a:p>
          <a:p xmlns:a="http://schemas.openxmlformats.org/drawingml/2006/main">
            <a:r>
              <a:t>      "exception": "동의 철회·다른 서비스 자료·복제된 삭제 대상",</a:t>
            </a:r>
          </a:p>
          <a:p xmlns:a="http://schemas.openxmlformats.org/drawingml/2006/main">
            <a:r>
              <a:t>      "evidence": "목적별 허용/차단 결과와 원천·색인·캐시 삭제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"서비스 이용자·데이터 관리자",</a:t>
            </a:r>
          </a:p>
          <a:p xmlns:a="http://schemas.openxmlformats.org/drawingml/2006/main">
            <a:r>
              <a:t>          "processing": "원 서비스 동의와 재사용 목적의 대조",</a:t>
            </a:r>
          </a:p>
          <a:p xmlns:a="http://schemas.openxmlformats.org/drawingml/2006/main">
            <a:r>
              <a:t>          "output": "대화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 데이터",</a:t>
            </a:r>
          </a:p>
          <a:p xmlns:a="http://schemas.openxmlformats.org/drawingml/2006/main">
            <a:r>
              <a:t>          "processing": "원 대화의 개인정보·목적·보유기간 태깅",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"대화 원문",</a:t>
            </a:r>
          </a:p>
          <a:p xmlns:a="http://schemas.openxmlformats.org/drawingml/2006/main">
            <a:r>
              <a:t>          "processing": "학습용·응답용 데이터 경로의 별도 심사",</a:t>
            </a:r>
          </a:p>
          <a:p xmlns:a="http://schemas.openxmlformats.org/drawingml/2006/main">
            <a:r>
              <a:t>          "output": "학습·응답 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"학습·응답 자료",</a:t>
            </a:r>
          </a:p>
          <a:p xmlns:a="http://schemas.openxmlformats.org/drawingml/2006/main">
            <a:r>
              <a:t>          "processing": "비허용 데이터 차단 및 기존 복제본 회수",</a:t>
            </a:r>
          </a:p>
          <a:p xmlns:a="http://schemas.openxmlformats.org/drawingml/2006/main">
            <a:r>
              <a:t>          "output": "생성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"삭제 이후 학습·검색·출력 경로의 잔존 검사",</a:t>
            </a:r>
          </a:p>
          <a:p xmlns:a="http://schemas.openxmlformats.org/drawingml/2006/main">
            <a:r>
              <a:t>          "output":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"삭제 이후 학습·검색·출력 경로의 잔존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"S03",</a:t>
            </a:r>
          </a:p>
          <a:p xmlns:a="http://schemas.openxmlformats.org/drawingml/2006/main">
            <a:r>
              <a:t>        "title": "개인정보보호위원회 · 이루다 조사 결과",</a:t>
            </a:r>
          </a:p>
          <a:p xmlns:a="http://schemas.openxmlformats.org/drawingml/2006/main">
            <a:r>
              <a:t>        "url": "https://www.korea.kr/news/policyNewsView.do?newsId=156449232",</a:t>
            </a:r>
          </a:p>
          <a:p xmlns:a="http://schemas.openxmlformats.org/drawingml/2006/main">
            <a:r>
              <a:t>        "published": "2021-04-28",</a:t>
            </a:r>
          </a:p>
          <a:p xmlns:a="http://schemas.openxmlformats.org/drawingml/2006/main">
            <a:r>
              <a:t>        "level": "감독기관 조사",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"다른 서비스에서 수집한 대화를 AI 학습·운영에 활용하는 과정의 개인정보 통제 실패 사례. 자료를 보유한다는 사실과 해당 목적의 AI 이용 권한이 일치하지 않는 문제.",</a:t>
            </a:r>
          </a:p>
          <a:p xmlns:a="http://schemas.openxmlformats.org/drawingml/2006/main">
            <a:r>
              <a:t>      "원 수집 목적·동의 범위·보유기간을 데이터에 연결하고, 학습용·검색용·출력용 경로마다 허용 여부를 판정하는 CCK 재발 방지 설계. 삭제 요청은 원본뿐 아니라 색인·캐시·복제본까지 추적하는 구조.",</a:t>
            </a:r>
          </a:p>
          <a:p xmlns:a="http://schemas.openxmlformats.org/drawingml/2006/main">
            <a:r>
              <a:t>      "TS 인사·민원 데이터의 연결 시 업무 권한과 AI 재사용 목적을 별도 속성으로 관리할 근거. 민감정보를 포함한 실제 사용자 데이터를 시험에 노출하지 않고 비허용 목적·회수 상황을 합성 자료로 재현하는 검수."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"재사용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"서비스 이용자·데이터 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"목적·동의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"원 서비스 동의와 재사용 목적의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"대상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"대화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"학습·응답 분리",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"학습용·응답용 데이터 경로의 별도 심사",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"목적 외 이용 차단",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"목적·동의 범위 대사와 삭제 전파",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"자료 관리자 심사",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"명시된 목적에 맞는 대화만 학습·검색·응답 경로에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"허용본·회수 처리",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"비허용 데이터 차단 및 기존 복제본 회수",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"잔존 데이터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"삭제 이후 학습·검색·출력 경로의 잔존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 서비스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"개인정보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 대화의 개인정보·목적·보유기간 태깅",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"복제본·판본 목록",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"목적별 허용/차단 결과와 원천·색인·캐시 삭제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"삭제·보유정책",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"동의 철회·다른 서비스 자료·복제된 삭제 대상",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"원 서비스 동의와 재사용 목적의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"대화 원문",</a:t>
            </a:r>
          </a:p>
          <a:p xmlns:a="http://schemas.openxmlformats.org/drawingml/2006/main">
            <a:r>
              <a:t>          "check": "목적·동의 범위 대사와 삭제 전파"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"재사용 대상",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"동의 철회·다른 서비스 자료·복제된 삭제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"비허용 데이터 차단 및 기존 복제본 회수"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"생성 발화",</a:t>
            </a:r>
          </a:p>
          <a:p xmlns:a="http://schemas.openxmlformats.org/drawingml/2006/main">
            <a:r>
              <a:t>          "check":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"대화 데이터의 목적 외 활용 실패 분석 / 수집 목적·학습·응답 재사용·삭제·회수",</a:t>
            </a:r>
          </a:p>
          <a:p xmlns:a="http://schemas.openxmlformats.org/drawingml/2006/main">
            <a:r>
              <a:t>        "extension": "인사·민원 데이터의 목적·보유기간·접근정책을 별도 속성으로 관리"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"동의 철회·다른 서비스 자료·복제된 삭제 대상",</a:t>
            </a:r>
          </a:p>
          <a:p xmlns:a="http://schemas.openxmlformats.org/drawingml/2006/main">
            <a:r>
              <a:t>        "hold": "목적·동의 범위 대사와 삭제 전파",</a:t>
            </a:r>
          </a:p>
          <a:p xmlns:a="http://schemas.openxmlformats.org/drawingml/2006/main">
            <a:r>
              <a:t>        "recovery": "삭제 이후 학습·검색·출력 경로의 잔존 검사",</a:t>
            </a:r>
          </a:p>
          <a:p xmlns:a="http://schemas.openxmlformats.org/drawingml/2006/main">
            <a:r>
              <a:t>        "evidence": "목적별 허용/차단 결과와 원천·색인·캐시 삭제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 데이터",</a:t>
            </a:r>
          </a:p>
          <a:p xmlns:a="http://schemas.openxmlformats.org/drawingml/2006/main">
            <a:r>
              <a:t>        "prepare": "원 대화의 개인정보·목적·보유기간 태깅",</a:t>
            </a:r>
          </a:p>
          <a:p xmlns:a="http://schemas.openxmlformats.org/drawingml/2006/main">
            <a:r>
              <a:t>        "output": "대화 원문",</a:t>
            </a:r>
          </a:p>
          <a:p xmlns:a="http://schemas.openxmlformats.org/drawingml/2006/main">
            <a:r>
              <a:t>        "refresh": "삭제 이후 학습·검색·출력 경로의 잔존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"수집 목적별 데이터 분리",</a:t>
            </a:r>
          </a:p>
          <a:p xmlns:a="http://schemas.openxmlformats.org/drawingml/2006/main">
            <a:r>
              <a:t>      "이용 동의·삭제 요청의 재사용 경로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"다른 서비스 대화의 목적 외 이용",</a:t>
            </a:r>
          </a:p>
          <a:p xmlns:a="http://schemas.openxmlformats.org/drawingml/2006/main">
            <a:r>
              <a:t>      "학습·응답 경로의 개인정보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"학습·응답 처리",</a:t>
            </a:r>
          </a:p>
          <a:p xmlns:a="http://schemas.openxmlformats.org/drawingml/2006/main">
            <a:r>
              <a:t>      "대화 데이터",</a:t>
            </a:r>
          </a:p>
          <a:p xmlns:a="http://schemas.openxmlformats.org/drawingml/2006/main">
            <a:r>
              <a:t>      "챗봇 이용자"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"대화 원문",</a:t>
            </a:r>
          </a:p>
          <a:p xmlns:a="http://schemas.openxmlformats.org/drawingml/2006/main">
            <a:r>
              <a:t>      "재사용 대상",</a:t>
            </a:r>
          </a:p>
          <a:p xmlns:a="http://schemas.openxmlformats.org/drawingml/2006/main">
            <a:r>
              <a:t>      "학습·응답 자료",</a:t>
            </a:r>
          </a:p>
          <a:p xmlns:a="http://schemas.openxmlformats.org/drawingml/2006/main">
            <a:r>
              <a:t>      "생성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"목적·동의 범위 대사와 삭제 전파",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개인정보보호위원회 · 이루다 조사 결과 https://www.korea.kr/news/policyNewsView.do?newsId=156449232</a:t>
            </a:r>
          </a:p>
          <a:p xmlns:a="http://schemas.openxmlformats.org/drawingml/2006/main">
            <a:r>
              <a:t>홈페이지 https://heen1987-ops.github.io/TS-business-Plan-001/index.html?view=casebook&amp;case=AX03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"title": "이루다 개인정보 처리",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"학습·응답 데이터 통제",</a:t>
            </a:r>
          </a:p>
          <a:p xmlns:a="http://schemas.openxmlformats.org/drawingml/2006/main">
            <a:r>
              <a:t>    "period": "2021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"개인정보",</a:t>
            </a:r>
          </a:p>
          <a:p xmlns:a="http://schemas.openxmlformats.org/drawingml/2006/main">
            <a:r>
              <a:t>      "목적 제한",</a:t>
            </a:r>
          </a:p>
          <a:p xmlns:a="http://schemas.openxmlformats.org/drawingml/2006/main">
            <a:r>
              <a:t>      "데이터 재사용",</a:t>
            </a:r>
          </a:p>
          <a:p xmlns:a="http://schemas.openxmlformats.org/drawingml/2006/main">
            <a:r>
              <a:t>      "책임"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"다른 서비스에서 수집한 대화의 목적 외 학습·운영 이용 등에 대한 개인정보보호위원회 제재",</a:t>
            </a:r>
          </a:p>
          <a:p xmlns:a="http://schemas.openxmlformats.org/drawingml/2006/main">
            <a:r>
              <a:t>    "limit": "2021년 조사 대상 행위 기준 · 후속 서비스 전체에 대한 평가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"목적 외 재사용",</a:t>
            </a:r>
          </a:p>
          <a:p xmlns:a="http://schemas.openxmlformats.org/drawingml/2006/main">
            <a:r>
              <a:t>      "학습·응답 DB",</a:t>
            </a:r>
          </a:p>
          <a:p xmlns:a="http://schemas.openxmlformats.org/drawingml/2006/main">
            <a:r>
              <a:t>      "이루다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"조사에서 확인된 처리 관계 요약 · 내부 구현 상세 미공개",</a:t>
            </a:r>
          </a:p>
          <a:p xmlns:a="http://schemas.openxmlformats.org/drawingml/2006/main">
            <a:r>
              <a:t>    "lesson":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"수집 목적 태그 / 학습·검색·출력별 정책 / 삭제·회수 전파",</a:t>
            </a:r>
          </a:p>
          <a:p xmlns:a="http://schemas.openxmlformats.org/drawingml/2006/main">
            <a:r>
              <a:t>    "test": "목적 외 입력 거부·권한 회수 후 검색 및 캐시 노출 차단",</a:t>
            </a:r>
          </a:p>
          <a:p xmlns:a="http://schemas.openxmlformats.org/drawingml/2006/main">
            <a:r>
              <a:t>    "metric": "필수 거부셋 노출 건수 / 삭제 전파 지연"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"canonicalId": "AX03",</a:t>
            </a:r>
          </a:p>
          <a:p xmlns:a="http://schemas.openxmlformats.org/drawingml/2006/main">
            <a:r>
              <a:t>    "purpose": "대화 데이터의 목적 외 활용 실패 분석",</a:t>
            </a:r>
          </a:p>
          <a:p xmlns:a="http://schemas.openxmlformats.org/drawingml/2006/main">
            <a:r>
              <a:t>    "users": "서비스 이용자·데이터 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"수집 목적",</a:t>
            </a:r>
          </a:p>
          <a:p xmlns:a="http://schemas.openxmlformats.org/drawingml/2006/main">
            <a:r>
              <a:t>      "학습·응답 재사용",</a:t>
            </a:r>
          </a:p>
          <a:p xmlns:a="http://schemas.openxmlformats.org/drawingml/2006/main">
            <a:r>
              <a:t>      "삭제·회수"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"detail": "원 서비스 동의와 재사용 목적의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"수집 목적 / 학습·응답 재사용 / 삭제·회수",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"학습·응답 처리",</a:t>
            </a:r>
          </a:p>
          <a:p xmlns:a="http://schemas.openxmlformats.org/drawingml/2006/main">
            <a:r>
              <a:t>        "detail": "학습용·응답용 데이터 경로의 별도 심사",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"챗봇 이용자",</a:t>
            </a:r>
          </a:p>
          <a:p xmlns:a="http://schemas.openxmlformats.org/drawingml/2006/main">
            <a:r>
              <a:t>        "detail": "비허용 데이터 차단 및 기존 복제본 회수",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 데이터",</a:t>
            </a:r>
          </a:p>
          <a:p xmlns:a="http://schemas.openxmlformats.org/drawingml/2006/main">
            <a:r>
              <a:t>        "detail": "원 대화의 개인정보·목적·보유기간 태깅",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"삭제 이후 학습·검색·출력 경로의 잔존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"input": "원 서비스 동의와 재사용 목적의 대조",</a:t>
            </a:r>
          </a:p>
          <a:p xmlns:a="http://schemas.openxmlformats.org/drawingml/2006/main">
            <a:r>
              <a:t>        "process": "원 대화의 개인정보·목적·보유기간 태깅",</a:t>
            </a:r>
          </a:p>
          <a:p xmlns:a="http://schemas.openxmlformats.org/drawingml/2006/main">
            <a:r>
              <a:t>        "output": "대화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"목적 외 재사용",</a:t>
            </a:r>
          </a:p>
          <a:p xmlns:a="http://schemas.openxmlformats.org/drawingml/2006/main">
            <a:r>
              <a:t>        "input": "대화 원문",</a:t>
            </a:r>
          </a:p>
          <a:p xmlns:a="http://schemas.openxmlformats.org/drawingml/2006/main">
            <a:r>
              <a:t>        "process": "학습용·응답용 데이터 경로의 별도 심사",</a:t>
            </a:r>
          </a:p>
          <a:p xmlns:a="http://schemas.openxmlformats.org/drawingml/2006/main">
            <a:r>
              <a:t>        "output": "재사용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"학습·응답 DB",</a:t>
            </a:r>
          </a:p>
          <a:p xmlns:a="http://schemas.openxmlformats.org/drawingml/2006/main">
            <a:r>
              <a:t>        "input": "재사용 대상",</a:t>
            </a:r>
          </a:p>
          <a:p xmlns:a="http://schemas.openxmlformats.org/drawingml/2006/main">
            <a:r>
              <a:t>        "process": "목적·동의 범위 대사와 삭제 전파",</a:t>
            </a:r>
          </a:p>
          <a:p xmlns:a="http://schemas.openxmlformats.org/drawingml/2006/main">
            <a:r>
              <a:t>        "output": "학습·응답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"이루다 발화",</a:t>
            </a:r>
          </a:p>
          <a:p xmlns:a="http://schemas.openxmlformats.org/drawingml/2006/main">
            <a:r>
              <a:t>        "input": "학습·응답 자료",</a:t>
            </a:r>
          </a:p>
          <a:p xmlns:a="http://schemas.openxmlformats.org/drawingml/2006/main">
            <a:r>
              <a:t>        "process": "비허용 데이터 차단 및 기존 복제본 회수",</a:t>
            </a:r>
          </a:p>
          <a:p xmlns:a="http://schemas.openxmlformats.org/drawingml/2006/main">
            <a:r>
              <a:t>        "output": "생성 발화"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"명시된 목적에 맞는 대화만 학습·검색·응답 경로에 제공",</a:t>
            </a:r>
          </a:p>
          <a:p xmlns:a="http://schemas.openxmlformats.org/drawingml/2006/main">
            <a:r>
              <a:t>      "exception": "동의 철회·다른 서비스 자료·복제된 삭제 대상",</a:t>
            </a:r>
          </a:p>
          <a:p xmlns:a="http://schemas.openxmlformats.org/drawingml/2006/main">
            <a:r>
              <a:t>      "evidence": "목적별 허용/차단 결과와 원천·색인·캐시 삭제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"서비스 이용자·데이터 관리자",</a:t>
            </a:r>
          </a:p>
          <a:p xmlns:a="http://schemas.openxmlformats.org/drawingml/2006/main">
            <a:r>
              <a:t>          "processing": "원 서비스 동의와 재사용 목적의 대조",</a:t>
            </a:r>
          </a:p>
          <a:p xmlns:a="http://schemas.openxmlformats.org/drawingml/2006/main">
            <a:r>
              <a:t>          "output": "대화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 데이터",</a:t>
            </a:r>
          </a:p>
          <a:p xmlns:a="http://schemas.openxmlformats.org/drawingml/2006/main">
            <a:r>
              <a:t>          "processing": "원 대화의 개인정보·목적·보유기간 태깅",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"대화 원문",</a:t>
            </a:r>
          </a:p>
          <a:p xmlns:a="http://schemas.openxmlformats.org/drawingml/2006/main">
            <a:r>
              <a:t>          "processing": "학습용·응답용 데이터 경로의 별도 심사",</a:t>
            </a:r>
          </a:p>
          <a:p xmlns:a="http://schemas.openxmlformats.org/drawingml/2006/main">
            <a:r>
              <a:t>          "output": "학습·응답 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"학습·응답 자료",</a:t>
            </a:r>
          </a:p>
          <a:p xmlns:a="http://schemas.openxmlformats.org/drawingml/2006/main">
            <a:r>
              <a:t>          "processing": "비허용 데이터 차단 및 기존 복제본 회수",</a:t>
            </a:r>
          </a:p>
          <a:p xmlns:a="http://schemas.openxmlformats.org/drawingml/2006/main">
            <a:r>
              <a:t>          "output": "생성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"삭제 이후 학습·검색·출력 경로의 잔존 검사",</a:t>
            </a:r>
          </a:p>
          <a:p xmlns:a="http://schemas.openxmlformats.org/drawingml/2006/main">
            <a:r>
              <a:t>          "output":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"삭제 이후 학습·검색·출력 경로의 잔존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"S03",</a:t>
            </a:r>
          </a:p>
          <a:p xmlns:a="http://schemas.openxmlformats.org/drawingml/2006/main">
            <a:r>
              <a:t>        "title": "개인정보보호위원회 · 이루다 조사 결과",</a:t>
            </a:r>
          </a:p>
          <a:p xmlns:a="http://schemas.openxmlformats.org/drawingml/2006/main">
            <a:r>
              <a:t>        "url": "https://www.korea.kr/news/policyNewsView.do?newsId=156449232",</a:t>
            </a:r>
          </a:p>
          <a:p xmlns:a="http://schemas.openxmlformats.org/drawingml/2006/main">
            <a:r>
              <a:t>        "published": "2021-04-28",</a:t>
            </a:r>
          </a:p>
          <a:p xmlns:a="http://schemas.openxmlformats.org/drawingml/2006/main">
            <a:r>
              <a:t>        "level": "감독기관 조사",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"다른 서비스에서 수집한 대화를 AI 학습·운영에 활용하는 과정의 개인정보 통제 실패 사례. 자료를 보유한다는 사실과 해당 목적의 AI 이용 권한이 일치하지 않는 문제.",</a:t>
            </a:r>
          </a:p>
          <a:p xmlns:a="http://schemas.openxmlformats.org/drawingml/2006/main">
            <a:r>
              <a:t>      "원 수집 목적·동의 범위·보유기간을 데이터에 연결하고, 학습용·검색용·출력용 경로마다 허용 여부를 판정하는 CCK 재발 방지 설계. 삭제 요청은 원본뿐 아니라 색인·캐시·복제본까지 추적하는 구조.",</a:t>
            </a:r>
          </a:p>
          <a:p xmlns:a="http://schemas.openxmlformats.org/drawingml/2006/main">
            <a:r>
              <a:t>      "TS 인사·민원 데이터의 연결 시 업무 권한과 AI 재사용 목적을 별도 속성으로 관리할 근거. 민감정보를 포함한 실제 사용자 데이터를 시험에 노출하지 않고 비허용 목적·회수 상황을 합성 자료로 재현하는 검수."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"재사용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"서비스 이용자·데이터 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"목적·동의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"원 서비스 동의와 재사용 목적의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"대상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"대화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"학습·응답 분리",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"학습용·응답용 데이터 경로의 별도 심사",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"목적 외 이용 차단",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"목적·동의 범위 대사와 삭제 전파",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"자료 관리자 심사",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"명시된 목적에 맞는 대화만 학습·검색·응답 경로에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"허용본·회수 처리",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"비허용 데이터 차단 및 기존 복제본 회수",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"잔존 데이터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"삭제 이후 학습·검색·출력 경로의 잔존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 서비스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"개인정보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 대화의 개인정보·목적·보유기간 태깅",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"복제본·판본 목록",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"목적별 허용/차단 결과와 원천·색인·캐시 삭제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"삭제·보유정책",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"동의 철회·다른 서비스 자료·복제된 삭제 대상",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"원 서비스 동의와 재사용 목적의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"대화 원문",</a:t>
            </a:r>
          </a:p>
          <a:p xmlns:a="http://schemas.openxmlformats.org/drawingml/2006/main">
            <a:r>
              <a:t>          "check": "목적·동의 범위 대사와 삭제 전파"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"재사용 대상",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"동의 철회·다른 서비스 자료·복제된 삭제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"비허용 데이터 차단 및 기존 복제본 회수"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"생성 발화",</a:t>
            </a:r>
          </a:p>
          <a:p xmlns:a="http://schemas.openxmlformats.org/drawingml/2006/main">
            <a:r>
              <a:t>          "check":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"대화 데이터의 목적 외 활용 실패 분석 / 수집 목적·학습·응답 재사용·삭제·회수",</a:t>
            </a:r>
          </a:p>
          <a:p xmlns:a="http://schemas.openxmlformats.org/drawingml/2006/main">
            <a:r>
              <a:t>        "extension": "인사·민원 데이터의 목적·보유기간·접근정책을 별도 속성으로 관리"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"동의 철회·다른 서비스 자료·복제된 삭제 대상",</a:t>
            </a:r>
          </a:p>
          <a:p xmlns:a="http://schemas.openxmlformats.org/drawingml/2006/main">
            <a:r>
              <a:t>        "hold": "목적·동의 범위 대사와 삭제 전파",</a:t>
            </a:r>
          </a:p>
          <a:p xmlns:a="http://schemas.openxmlformats.org/drawingml/2006/main">
            <a:r>
              <a:t>        "recovery": "삭제 이후 학습·검색·출력 경로의 잔존 검사",</a:t>
            </a:r>
          </a:p>
          <a:p xmlns:a="http://schemas.openxmlformats.org/drawingml/2006/main">
            <a:r>
              <a:t>        "evidence": "목적별 허용/차단 결과와 원천·색인·캐시 삭제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 데이터",</a:t>
            </a:r>
          </a:p>
          <a:p xmlns:a="http://schemas.openxmlformats.org/drawingml/2006/main">
            <a:r>
              <a:t>        "prepare": "원 대화의 개인정보·목적·보유기간 태깅",</a:t>
            </a:r>
          </a:p>
          <a:p xmlns:a="http://schemas.openxmlformats.org/drawingml/2006/main">
            <a:r>
              <a:t>        "output": "대화 원문",</a:t>
            </a:r>
          </a:p>
          <a:p xmlns:a="http://schemas.openxmlformats.org/drawingml/2006/main">
            <a:r>
              <a:t>        "refresh": "삭제 이후 학습·검색·출력 경로의 잔존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"수집 목적별 데이터 분리",</a:t>
            </a:r>
          </a:p>
          <a:p xmlns:a="http://schemas.openxmlformats.org/drawingml/2006/main">
            <a:r>
              <a:t>      "이용 동의·삭제 요청의 재사용 경로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"다른 서비스 대화의 목적 외 이용",</a:t>
            </a:r>
          </a:p>
          <a:p xmlns:a="http://schemas.openxmlformats.org/drawingml/2006/main">
            <a:r>
              <a:t>      "학습·응답 경로의 개인정보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"학습·응답 처리",</a:t>
            </a:r>
          </a:p>
          <a:p xmlns:a="http://schemas.openxmlformats.org/drawingml/2006/main">
            <a:r>
              <a:t>      "대화 데이터",</a:t>
            </a:r>
          </a:p>
          <a:p xmlns:a="http://schemas.openxmlformats.org/drawingml/2006/main">
            <a:r>
              <a:t>      "챗봇 이용자"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"대화 원문",</a:t>
            </a:r>
          </a:p>
          <a:p xmlns:a="http://schemas.openxmlformats.org/drawingml/2006/main">
            <a:r>
              <a:t>      "재사용 대상",</a:t>
            </a:r>
          </a:p>
          <a:p xmlns:a="http://schemas.openxmlformats.org/drawingml/2006/main">
            <a:r>
              <a:t>      "학습·응답 자료",</a:t>
            </a:r>
          </a:p>
          <a:p xmlns:a="http://schemas.openxmlformats.org/drawingml/2006/main">
            <a:r>
              <a:t>      "생성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"목적·동의 범위 대사와 삭제 전파",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개인정보보호위원회 · 이루다 조사 결과 https://www.korea.kr/news/policyNewsView.do?newsId=156449232</a:t>
            </a:r>
          </a:p>
          <a:p xmlns:a="http://schemas.openxmlformats.org/drawingml/2006/main">
            <a:r>
              <a:t>홈페이지 https://heen1987-ops.github.io/TS-business-Plan-001/index.html?view=casebook&amp;case=AX03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"title": "이루다 개인정보 처리",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"학습·응답 데이터 통제",</a:t>
            </a:r>
          </a:p>
          <a:p xmlns:a="http://schemas.openxmlformats.org/drawingml/2006/main">
            <a:r>
              <a:t>    "period": "2021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"개인정보",</a:t>
            </a:r>
          </a:p>
          <a:p xmlns:a="http://schemas.openxmlformats.org/drawingml/2006/main">
            <a:r>
              <a:t>      "목적 제한",</a:t>
            </a:r>
          </a:p>
          <a:p xmlns:a="http://schemas.openxmlformats.org/drawingml/2006/main">
            <a:r>
              <a:t>      "데이터 재사용",</a:t>
            </a:r>
          </a:p>
          <a:p xmlns:a="http://schemas.openxmlformats.org/drawingml/2006/main">
            <a:r>
              <a:t>      "책임"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"다른 서비스에서 수집한 대화의 목적 외 학습·운영 이용 등에 대한 개인정보보호위원회 제재",</a:t>
            </a:r>
          </a:p>
          <a:p xmlns:a="http://schemas.openxmlformats.org/drawingml/2006/main">
            <a:r>
              <a:t>    "limit": "2021년 조사 대상 행위 기준 · 후속 서비스 전체에 대한 평가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"목적 외 재사용",</a:t>
            </a:r>
          </a:p>
          <a:p xmlns:a="http://schemas.openxmlformats.org/drawingml/2006/main">
            <a:r>
              <a:t>      "학습·응답 DB",</a:t>
            </a:r>
          </a:p>
          <a:p xmlns:a="http://schemas.openxmlformats.org/drawingml/2006/main">
            <a:r>
              <a:t>      "이루다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"조사에서 확인된 처리 관계 요약 · 내부 구현 상세 미공개",</a:t>
            </a:r>
          </a:p>
          <a:p xmlns:a="http://schemas.openxmlformats.org/drawingml/2006/main">
            <a:r>
              <a:t>    "lesson":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"수집 목적 태그 / 학습·검색·출력별 정책 / 삭제·회수 전파",</a:t>
            </a:r>
          </a:p>
          <a:p xmlns:a="http://schemas.openxmlformats.org/drawingml/2006/main">
            <a:r>
              <a:t>    "test": "목적 외 입력 거부·권한 회수 후 검색 및 캐시 노출 차단",</a:t>
            </a:r>
          </a:p>
          <a:p xmlns:a="http://schemas.openxmlformats.org/drawingml/2006/main">
            <a:r>
              <a:t>    "metric": "필수 거부셋 노출 건수 / 삭제 전파 지연"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"canonicalId": "AX03",</a:t>
            </a:r>
          </a:p>
          <a:p xmlns:a="http://schemas.openxmlformats.org/drawingml/2006/main">
            <a:r>
              <a:t>    "purpose": "대화 데이터의 목적 외 활용 실패 분석",</a:t>
            </a:r>
          </a:p>
          <a:p xmlns:a="http://schemas.openxmlformats.org/drawingml/2006/main">
            <a:r>
              <a:t>    "users": "서비스 이용자·데이터 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"수집 목적",</a:t>
            </a:r>
          </a:p>
          <a:p xmlns:a="http://schemas.openxmlformats.org/drawingml/2006/main">
            <a:r>
              <a:t>      "학습·응답 재사용",</a:t>
            </a:r>
          </a:p>
          <a:p xmlns:a="http://schemas.openxmlformats.org/drawingml/2006/main">
            <a:r>
              <a:t>      "삭제·회수"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"detail": "원 서비스 동의와 재사용 목적의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"수집 목적 / 학습·응답 재사용 / 삭제·회수",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"학습·응답 처리",</a:t>
            </a:r>
          </a:p>
          <a:p xmlns:a="http://schemas.openxmlformats.org/drawingml/2006/main">
            <a:r>
              <a:t>        "detail": "학습용·응답용 데이터 경로의 별도 심사",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"챗봇 이용자",</a:t>
            </a:r>
          </a:p>
          <a:p xmlns:a="http://schemas.openxmlformats.org/drawingml/2006/main">
            <a:r>
              <a:t>        "detail": "비허용 데이터 차단 및 기존 복제본 회수",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"대화 데이터",</a:t>
            </a:r>
          </a:p>
          <a:p xmlns:a="http://schemas.openxmlformats.org/drawingml/2006/main">
            <a:r>
              <a:t>        "detail": "원 대화의 개인정보·목적·보유기간 태깅",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"삭제 이후 학습·검색·출력 경로의 잔존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"원 서비스 대화",</a:t>
            </a:r>
          </a:p>
          <a:p xmlns:a="http://schemas.openxmlformats.org/drawingml/2006/main">
            <a:r>
              <a:t>        "input": "원 서비스 동의와 재사용 목적의 대조",</a:t>
            </a:r>
          </a:p>
          <a:p xmlns:a="http://schemas.openxmlformats.org/drawingml/2006/main">
            <a:r>
              <a:t>        "process": "원 대화의 개인정보·목적·보유기간 태깅",</a:t>
            </a:r>
          </a:p>
          <a:p xmlns:a="http://schemas.openxmlformats.org/drawingml/2006/main">
            <a:r>
              <a:t>        "output": "대화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"목적 외 재사용",</a:t>
            </a:r>
          </a:p>
          <a:p xmlns:a="http://schemas.openxmlformats.org/drawingml/2006/main">
            <a:r>
              <a:t>        "input": "대화 원문",</a:t>
            </a:r>
          </a:p>
          <a:p xmlns:a="http://schemas.openxmlformats.org/drawingml/2006/main">
            <a:r>
              <a:t>        "process": "학습용·응답용 데이터 경로의 별도 심사",</a:t>
            </a:r>
          </a:p>
          <a:p xmlns:a="http://schemas.openxmlformats.org/drawingml/2006/main">
            <a:r>
              <a:t>        "output": "재사용 대상"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"학습·응답 DB",</a:t>
            </a:r>
          </a:p>
          <a:p xmlns:a="http://schemas.openxmlformats.org/drawingml/2006/main">
            <a:r>
              <a:t>        "input": "재사용 대상",</a:t>
            </a:r>
          </a:p>
          <a:p xmlns:a="http://schemas.openxmlformats.org/drawingml/2006/main">
            <a:r>
              <a:t>        "process": "목적·동의 범위 대사와 삭제 전파",</a:t>
            </a:r>
          </a:p>
          <a:p xmlns:a="http://schemas.openxmlformats.org/drawingml/2006/main">
            <a:r>
              <a:t>        "output": "학습·응답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"이루다 발화",</a:t>
            </a:r>
          </a:p>
          <a:p xmlns:a="http://schemas.openxmlformats.org/drawingml/2006/main">
            <a:r>
              <a:t>        "input": "학습·응답 자료",</a:t>
            </a:r>
          </a:p>
          <a:p xmlns:a="http://schemas.openxmlformats.org/drawingml/2006/main">
            <a:r>
              <a:t>        "process": "비허용 데이터 차단 및 기존 복제본 회수",</a:t>
            </a:r>
          </a:p>
          <a:p xmlns:a="http://schemas.openxmlformats.org/drawingml/2006/main">
            <a:r>
              <a:t>        "output": "생성 발화"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"명시된 목적에 맞는 대화만 학습·검색·응답 경로에 제공",</a:t>
            </a:r>
          </a:p>
          <a:p xmlns:a="http://schemas.openxmlformats.org/drawingml/2006/main">
            <a:r>
              <a:t>      "exception": "동의 철회·다른 서비스 자료·복제된 삭제 대상",</a:t>
            </a:r>
          </a:p>
          <a:p xmlns:a="http://schemas.openxmlformats.org/drawingml/2006/main">
            <a:r>
              <a:t>      "evidence": "목적별 허용/차단 결과와 원천·색인·캐시 삭제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"서비스 이용자·데이터 관리자",</a:t>
            </a:r>
          </a:p>
          <a:p xmlns:a="http://schemas.openxmlformats.org/drawingml/2006/main">
            <a:r>
              <a:t>          "processing": "원 서비스 동의와 재사용 목적의 대조",</a:t>
            </a:r>
          </a:p>
          <a:p xmlns:a="http://schemas.openxmlformats.org/drawingml/2006/main">
            <a:r>
              <a:t>          "output": "대화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"대화 데이터",</a:t>
            </a:r>
          </a:p>
          <a:p xmlns:a="http://schemas.openxmlformats.org/drawingml/2006/main">
            <a:r>
              <a:t>          "processing": "원 대화의 개인정보·목적·보유기간 태깅",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"대화 원문",</a:t>
            </a:r>
          </a:p>
          <a:p xmlns:a="http://schemas.openxmlformats.org/drawingml/2006/main">
            <a:r>
              <a:t>          "processing": "학습용·응답용 데이터 경로의 별도 심사",</a:t>
            </a:r>
          </a:p>
          <a:p xmlns:a="http://schemas.openxmlformats.org/drawingml/2006/main">
            <a:r>
              <a:t>          "output": "학습·응답 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"학습·응답 자료",</a:t>
            </a:r>
          </a:p>
          <a:p xmlns:a="http://schemas.openxmlformats.org/drawingml/2006/main">
            <a:r>
              <a:t>          "processing": "비허용 데이터 차단 및 기존 복제본 회수",</a:t>
            </a:r>
          </a:p>
          <a:p xmlns:a="http://schemas.openxmlformats.org/drawingml/2006/main">
            <a:r>
              <a:t>          "output": "생성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"삭제 이후 학습·검색·출력 경로의 잔존 검사",</a:t>
            </a:r>
          </a:p>
          <a:p xmlns:a="http://schemas.openxmlformats.org/drawingml/2006/main">
            <a:r>
              <a:t>          "output":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"삭제 이후 학습·검색·출력 경로의 잔존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"S03",</a:t>
            </a:r>
          </a:p>
          <a:p xmlns:a="http://schemas.openxmlformats.org/drawingml/2006/main">
            <a:r>
              <a:t>        "title": "개인정보보호위원회 · 이루다 조사 결과",</a:t>
            </a:r>
          </a:p>
          <a:p xmlns:a="http://schemas.openxmlformats.org/drawingml/2006/main">
            <a:r>
              <a:t>        "url": "https://www.korea.kr/news/policyNewsView.do?newsId=156449232",</a:t>
            </a:r>
          </a:p>
          <a:p xmlns:a="http://schemas.openxmlformats.org/drawingml/2006/main">
            <a:r>
              <a:t>        "published": "2021-04-28",</a:t>
            </a:r>
          </a:p>
          <a:p xmlns:a="http://schemas.openxmlformats.org/drawingml/2006/main">
            <a:r>
              <a:t>        "level": "감독기관 조사",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"데이터 보유와 AI 활용 권한의 분리",</a:t>
            </a:r>
          </a:p>
          <a:p xmlns:a="http://schemas.openxmlformats.org/drawingml/2006/main">
            <a:r>
              <a:t>    "local": "인사·민원 데이터의 목적·보유기간·접근정책을 별도 속성으로 관리",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"다른 서비스에서 수집한 대화를 AI 학습·운영에 활용하는 과정의 개인정보 통제 실패 사례. 자료를 보유한다는 사실과 해당 목적의 AI 이용 권한이 일치하지 않는 문제.",</a:t>
            </a:r>
          </a:p>
          <a:p xmlns:a="http://schemas.openxmlformats.org/drawingml/2006/main">
            <a:r>
              <a:t>      "원 수집 목적·동의 범위·보유기간을 데이터에 연결하고, 학습용·검색용·출력용 경로마다 허용 여부를 판정하는 CCK 재발 방지 설계. 삭제 요청은 원본뿐 아니라 색인·캐시·복제본까지 추적하는 구조.",</a:t>
            </a:r>
          </a:p>
          <a:p xmlns:a="http://schemas.openxmlformats.org/drawingml/2006/main">
            <a:r>
              <a:t>      "TS 인사·민원 데이터의 연결 시 업무 권한과 AI 재사용 목적을 별도 속성으로 관리할 근거. 민감정보를 포함한 실제 사용자 데이터를 시험에 노출하지 않고 비허용 목적·회수 상황을 합성 자료로 재현하는 검수."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"재사용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"서비스 이용자·데이터 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"목적·동의 범위",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"원 서비스 동의와 재사용 목적의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"대상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"대화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"학습·응답 분리",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"학습용·응답용 데이터 경로의 별도 심사",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"목적 외 이용 차단",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"목적·동의 범위 대사와 삭제 전파",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"자료 관리자 심사",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"명시된 목적에 맞는 대화만 학습·검색·응답 경로에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"허용본·회수 처리",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"비허용 데이터 차단 및 기존 복제본 회수",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"잔존 데이터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"삭제 이후 학습·검색·출력 경로의 잔존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 서비스 대화",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"대화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"개인정보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 대화의 개인정보·목적·보유기간 태깅",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"복제본·판본 목록",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"목적별 허용/차단 결과와 원천·색인·캐시 삭제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"삭제·보유정책",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"동의 철회·다른 서비스 자료·복제된 삭제 대상",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"원 서비스 동의와 재사용 목적의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"대화 원문",</a:t>
            </a:r>
          </a:p>
          <a:p xmlns:a="http://schemas.openxmlformats.org/drawingml/2006/main">
            <a:r>
              <a:t>          "check": "목적·동의 범위 대사와 삭제 전파"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"재사용 대상",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"동의 철회·다른 서비스 자료·복제된 삭제 대상"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"학습·응답 자료",</a:t>
            </a:r>
          </a:p>
          <a:p xmlns:a="http://schemas.openxmlformats.org/drawingml/2006/main">
            <a:r>
              <a:t>          "check": "비허용 데이터 차단 및 기존 복제본 회수"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"생성 발화",</a:t>
            </a:r>
          </a:p>
          <a:p xmlns:a="http://schemas.openxmlformats.org/drawingml/2006/main">
            <a:r>
              <a:t>          "check": "목적별 허용/차단 결과와 원천·색인·캐시 삭제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"대화 데이터의 목적 외 활용 실패 분석 / 수집 목적·학습·응답 재사용·삭제·회수",</a:t>
            </a:r>
          </a:p>
          <a:p xmlns:a="http://schemas.openxmlformats.org/drawingml/2006/main">
            <a:r>
              <a:t>        "extension": "인사·민원 데이터의 목적·보유기간·접근정책을 별도 속성으로 관리"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"동의 철회·다른 서비스 자료·복제된 삭제 대상",</a:t>
            </a:r>
          </a:p>
          <a:p xmlns:a="http://schemas.openxmlformats.org/drawingml/2006/main">
            <a:r>
              <a:t>        "hold": "목적·동의 범위 대사와 삭제 전파",</a:t>
            </a:r>
          </a:p>
          <a:p xmlns:a="http://schemas.openxmlformats.org/drawingml/2006/main">
            <a:r>
              <a:t>        "recovery": "삭제 이후 학습·검색·출력 경로의 잔존 검사",</a:t>
            </a:r>
          </a:p>
          <a:p xmlns:a="http://schemas.openxmlformats.org/drawingml/2006/main">
            <a:r>
              <a:t>        "evidence": "목적별 허용/차단 결과와 원천·색인·캐시 삭제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"대화 데이터",</a:t>
            </a:r>
          </a:p>
          <a:p xmlns:a="http://schemas.openxmlformats.org/drawingml/2006/main">
            <a:r>
              <a:t>        "prepare": "원 대화의 개인정보·목적·보유기간 태깅",</a:t>
            </a:r>
          </a:p>
          <a:p xmlns:a="http://schemas.openxmlformats.org/drawingml/2006/main">
            <a:r>
              <a:t>        "output": "대화 원문",</a:t>
            </a:r>
          </a:p>
          <a:p xmlns:a="http://schemas.openxmlformats.org/drawingml/2006/main">
            <a:r>
              <a:t>        "refresh": "삭제 이후 학습·검색·출력 경로의 잔존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"수집 목적별 데이터 분리",</a:t>
            </a:r>
          </a:p>
          <a:p xmlns:a="http://schemas.openxmlformats.org/drawingml/2006/main">
            <a:r>
              <a:t>      "이용 동의·삭제 요청의 재사용 경로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"다른 서비스 대화의 목적 외 이용",</a:t>
            </a:r>
          </a:p>
          <a:p xmlns:a="http://schemas.openxmlformats.org/drawingml/2006/main">
            <a:r>
              <a:t>      "학습·응답 경로의 개인정보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"원 서비스 대화",</a:t>
            </a:r>
          </a:p>
          <a:p xmlns:a="http://schemas.openxmlformats.org/drawingml/2006/main">
            <a:r>
              <a:t>      "학습·응답 처리",</a:t>
            </a:r>
          </a:p>
          <a:p xmlns:a="http://schemas.openxmlformats.org/drawingml/2006/main">
            <a:r>
              <a:t>      "대화 데이터",</a:t>
            </a:r>
          </a:p>
          <a:p xmlns:a="http://schemas.openxmlformats.org/drawingml/2006/main">
            <a:r>
              <a:t>      "챗봇 이용자"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"대화 원문",</a:t>
            </a:r>
          </a:p>
          <a:p xmlns:a="http://schemas.openxmlformats.org/drawingml/2006/main">
            <a:r>
              <a:t>      "재사용 대상",</a:t>
            </a:r>
          </a:p>
          <a:p xmlns:a="http://schemas.openxmlformats.org/drawingml/2006/main">
            <a:r>
              <a:t>      "학습·응답 자료",</a:t>
            </a:r>
          </a:p>
          <a:p xmlns:a="http://schemas.openxmlformats.org/drawingml/2006/main">
            <a:r>
              <a:t>      "생성 발화"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"목적·동의 범위 대사와 삭제 전파",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개인정보보호위원회 · 이루다 조사 결과 https://www.korea.kr/news/policyNewsView.do?newsId=156449232</a:t>
            </a:r>
          </a:p>
          <a:p xmlns:a="http://schemas.openxmlformats.org/drawingml/2006/main">
            <a:r>
              <a:t>홈페이지 https://heen1987-ops.github.io/TS-business-Plan-001/index.html?view=casebook&amp;case=AX03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"title": "영국 정부 M365 Copilot",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"직원 업무 생산성 실험",</a:t>
            </a:r>
          </a:p>
          <a:p xmlns:a="http://schemas.openxmlformats.org/drawingml/2006/main">
            <a:r>
              <a:t>    "period": "2024.09–12 실험",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"업무효율",</a:t>
            </a:r>
          </a:p>
          <a:p xmlns:a="http://schemas.openxmlformats.org/drawingml/2006/main">
            <a:r>
              <a:t>      "직원",</a:t>
            </a:r>
          </a:p>
          <a:p xmlns:a="http://schemas.openxmlformats.org/drawingml/2006/main">
            <a:r>
              <a:t>      "권한",</a:t>
            </a:r>
          </a:p>
          <a:p xmlns:a="http://schemas.openxmlformats.org/drawingml/2006/main">
            <a:r>
              <a:t>      "성과 측정"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"2만 명 규모 실험; 설문 응답자 7,115명의 자기보고 시간 절약 평균 약 26분/일",</a:t>
            </a:r>
          </a:p>
          <a:p xmlns:a="http://schemas.openxmlformats.org/drawingml/2006/main">
            <a:r>
              <a:t>    "limit": "실측 인과효과 아님 · 복잡한 맥락·데이터 업무 한계 · 기존 자료 과다공유 위험",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"직원 요청",</a:t>
            </a:r>
          </a:p>
          <a:p xmlns:a="http://schemas.openxmlformats.org/drawingml/2006/main">
            <a:r>
              <a:t>      "기존 접근권한",</a:t>
            </a:r>
          </a:p>
          <a:p xmlns:a="http://schemas.openxmlformats.org/drawingml/2006/main">
            <a:r>
              <a:t>      "업무 자료 검색",</a:t>
            </a:r>
          </a:p>
          <a:p xmlns:a="http://schemas.openxmlformats.org/drawingml/2006/main">
            <a:r>
              <a:t>      "초안·직원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"보고서의 기능·권한 설명 기반 재구성",</a:t>
            </a:r>
          </a:p>
          <a:p xmlns:a="http://schemas.openxmlformats.org/drawingml/2006/main">
            <a:r>
              <a:t>    "lesson":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"로그인 ID–조직 연결 / 직무별 검색·서식 / 검토시간 포함 계측",</a:t>
            </a:r>
          </a:p>
          <a:p xmlns:a="http://schemas.openxmlformats.org/drawingml/2006/main">
            <a:r>
              <a:t>    "test": "권한 교차 시험과 동일 난도 업무의 전후·비교군 평가",</a:t>
            </a:r>
          </a:p>
          <a:p xmlns:a="http://schemas.openxmlformats.org/drawingml/2006/main">
            <a:r>
              <a:t>    "metric": "검토·재작업 포함 완료시간 /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"canonicalId": "AX04",</a:t>
            </a:r>
          </a:p>
          <a:p xmlns:a="http://schemas.openxmlformats.org/drawingml/2006/main">
            <a:r>
              <a:t>    "purpose": "공무원 문서·회의 업무의 생성형 AI 지원",</a:t>
            </a:r>
          </a:p>
          <a:p xmlns:a="http://schemas.openxmlformats.org/drawingml/2006/main">
            <a:r>
              <a:t>    "users": "공무원·기관 운영자·평가팀",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"문서 초안",</a:t>
            </a:r>
          </a:p>
          <a:p xmlns:a="http://schemas.openxmlformats.org/drawingml/2006/main">
            <a:r>
              <a:t>      "회의 요약",</a:t>
            </a:r>
          </a:p>
          <a:p xmlns:a="http://schemas.openxmlformats.org/drawingml/2006/main">
            <a:r>
              <a:t>      "활용 효과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"공무원 M365",</a:t>
            </a:r>
          </a:p>
          <a:p xmlns:a="http://schemas.openxmlformats.org/drawingml/2006/main">
            <a:r>
              <a:t>        "detail": "직원 계정과 과업별 접근 문맥",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"문서 초안 / 회의 요약 / 활용 효과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"Copilot 작성·검색",</a:t>
            </a:r>
          </a:p>
          <a:p xmlns:a="http://schemas.openxmlformats.org/drawingml/2006/main">
            <a:r>
              <a:t>        "detail": "허용 자료에 근거한 검색·요약·작성",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"직원 검토",</a:t>
            </a:r>
          </a:p>
          <a:p xmlns:a="http://schemas.openxmlformats.org/drawingml/2006/main">
            <a:r>
              <a:t>        "detail": "직원 검토 후 공식 문서·회의 후속업무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"기존 접근 가능한 자료",</a:t>
            </a:r>
          </a:p>
          <a:p xmlns:a="http://schemas.openxmlformats.org/drawingml/2006/main">
            <a:r>
              <a:t>        "detail": "M365 문서·회의 자료의 공유범위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"검토·재작업 시간과 사용 로그의 과업별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"직원 요청",</a:t>
            </a:r>
          </a:p>
          <a:p xmlns:a="http://schemas.openxmlformats.org/drawingml/2006/main">
            <a:r>
              <a:t>        "input": "직원 계정과 과업별 접근 문맥",</a:t>
            </a:r>
          </a:p>
          <a:p xmlns:a="http://schemas.openxmlformats.org/drawingml/2006/main">
            <a:r>
              <a:t>        "process": "M365 문서·회의 자료의 공유범위 점검",</a:t>
            </a:r>
          </a:p>
          <a:p xmlns:a="http://schemas.openxmlformats.org/drawingml/2006/main">
            <a:r>
              <a:t>        "output": "업무 요청"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접근권한",</a:t>
            </a:r>
          </a:p>
          <a:p xmlns:a="http://schemas.openxmlformats.org/drawingml/2006/main">
            <a:r>
              <a:t>        "input": "업무 요청",</a:t>
            </a:r>
          </a:p>
          <a:p xmlns:a="http://schemas.openxmlformats.org/drawingml/2006/main">
            <a:r>
              <a:t>        "process": "허용 자료에 근거한 검색·요약·작성",</a:t>
            </a:r>
          </a:p>
          <a:p xmlns:a="http://schemas.openxmlformats.org/drawingml/2006/main">
            <a:r>
              <a:t>        "output": "권한 내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"업무 자료 검색",</a:t>
            </a:r>
          </a:p>
          <a:p xmlns:a="http://schemas.openxmlformats.org/drawingml/2006/main">
            <a:r>
              <a:t>        "input": "권한 내 근거",</a:t>
            </a:r>
          </a:p>
          <a:p xmlns:a="http://schemas.openxmlformats.org/drawingml/2006/main">
            <a:r>
              <a:t>        "process": "정답·검토시간을 포함한 비교 평가",</a:t>
            </a:r>
          </a:p>
          <a:p xmlns:a="http://schemas.openxmlformats.org/drawingml/2006/main">
            <a:r>
              <a:t>        "output": "문서·회의 초안"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"초안·직원 검토",</a:t>
            </a:r>
          </a:p>
          <a:p xmlns:a="http://schemas.openxmlformats.org/drawingml/2006/main">
            <a:r>
              <a:t>        "input": "문서·회의 초안",</a:t>
            </a:r>
          </a:p>
          <a:p xmlns:a="http://schemas.openxmlformats.org/drawingml/2006/main">
            <a:r>
              <a:t>        "process": "직원 검토 후 공식 문서·회의 후속업무 반영",</a:t>
            </a:r>
          </a:p>
          <a:p xmlns:a="http://schemas.openxmlformats.org/drawingml/2006/main">
            <a:r>
              <a:t>        "output": "검토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회의자료로 회의록 초안을 작성하고 직원이 수정·확정",</a:t>
            </a:r>
          </a:p>
          <a:p xmlns:a="http://schemas.openxmlformats.org/drawingml/2006/main">
            <a:r>
              <a:t>      "exception": "다른 부서 공유문서·누락된 발언·잘못된 할일 배정",</a:t>
            </a:r>
          </a:p>
          <a:p xmlns:a="http://schemas.openxmlformats.org/drawingml/2006/main">
            <a:r>
              <a:t>      "evidence": "권한별 결과와 검토·재작업을 포함한 과업 완료시간",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"공무원·기관 운영자·평가팀",</a:t>
            </a:r>
          </a:p>
          <a:p xmlns:a="http://schemas.openxmlformats.org/drawingml/2006/main">
            <a:r>
              <a:t>          "processing": "직원 계정과 과업별 접근 문맥",</a:t>
            </a:r>
          </a:p>
          <a:p xmlns:a="http://schemas.openxmlformats.org/drawingml/2006/main">
            <a:r>
              <a:t>          "output": "업무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"기존 접근 가능한 자료",</a:t>
            </a:r>
          </a:p>
          <a:p xmlns:a="http://schemas.openxmlformats.org/drawingml/2006/main">
            <a:r>
              <a:t>          "processing": "M365 문서·회의 자료의 공유범위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"업무 요청",</a:t>
            </a:r>
          </a:p>
          <a:p xmlns:a="http://schemas.openxmlformats.org/drawingml/2006/main">
            <a:r>
              <a:t>          "processing": "허용 자료에 근거한 검색·요약·작성",</a:t>
            </a:r>
          </a:p>
          <a:p xmlns:a="http://schemas.openxmlformats.org/drawingml/2006/main">
            <a:r>
              <a:t>          "output": "문서·회의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"문서·회의 초안",</a:t>
            </a:r>
          </a:p>
          <a:p xmlns:a="http://schemas.openxmlformats.org/drawingml/2006/main">
            <a:r>
              <a:t>          "processing": "직원 검토 후 공식 문서·회의 후속업무 반영",</a:t>
            </a:r>
          </a:p>
          <a:p xmlns:a="http://schemas.openxmlformats.org/drawingml/2006/main">
            <a:r>
              <a:t>          "output": "검토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"검토·재작업 시간과 사용 로그의 과업별 비교",</a:t>
            </a:r>
          </a:p>
          <a:p xmlns:a="http://schemas.openxmlformats.org/drawingml/2006/main">
            <a:r>
              <a:t>          "output":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"검토·재작업 시간과 사용 로그의 과업별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"S04",</a:t>
            </a:r>
          </a:p>
          <a:p xmlns:a="http://schemas.openxmlformats.org/drawingml/2006/main">
            <a:r>
              <a:t>        "title": "영국 정부 · M365 Copilot 실험 보고서",</a:t>
            </a:r>
          </a:p>
          <a:p xmlns:a="http://schemas.openxmlformats.org/drawingml/2006/main">
            <a:r>
              <a:t>        "url": "https://www.gov.uk/government/publications/microsoft-365-copilot-experiment-cross-government-findings-report/microsoft-365-copilot-experiment-cross-government-findings-report-html",</a:t>
            </a:r>
          </a:p>
          <a:p xmlns:a="http://schemas.openxmlformats.org/drawingml/2006/main">
            <a:r>
              <a:t>        "published": "2025-06-02",</a:t>
            </a:r>
          </a:p>
          <a:p xmlns:a="http://schemas.openxmlformats.org/drawingml/2006/main">
            <a:r>
              <a:t>        "level": "정부 실험 / 이용자 자기보고",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M365 문서·회의 접점에서 공무원의 작성·검색·요약을 지원한 실험. 새 업무 시스템 구축보다 직원이 이미 접근하는 자료와 협업 도구 안에 AI를 배치한 유형.",</a:t>
            </a:r>
          </a:p>
          <a:p xmlns:a="http://schemas.openxmlformats.org/drawingml/2006/main">
            <a:r>
              <a:t>      "자료 접근권한을 전제로 요청 문맥을 만들고 검색·생성 결과를 직원이 검토하는 흐름. 조직·직무별 동일 과업을 정의한 뒤 AI 사용 전후의 초안 작성, 사실 확인, 수정 시간을 함께 기록하는 CCK 비교 설계.",</a:t>
            </a:r>
          </a:p>
          <a:p xmlns:a="http://schemas.openxmlformats.org/drawingml/2006/main">
            <a:r>
              <a:t>      "설문 자기보고 절감시간을 TS의 예상 절감률로 직접 전환하지 않는 평가. 과다공유 문서, 복잡한 질의, 숙련도 차이와 재작업을 포함해 부서별 완료시간·오류율을 산정할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"M365 업무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"공무원·기관 운영자·평가팀",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"직원·과업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"직원 계정과 과업별 접근 문맥",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"권한 내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"업무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"검색·요약·작성",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"허용 자료에 근거한 검색·요약·작성",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"근거·사실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"정답·검토시간을 포함한 비교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"직원 편집·확인",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회의자료로 회의록 초안을 작성하고 직원이 수정·확정",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"문서·회의 후속업무",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"직원 검토 후 공식 문서·회의 후속업무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"검토시간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"검토·재작업 시간과 사용 로그의 과업별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"문서·회의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"기존 접근 가능한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"공유범위 점검",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"M365 문서·회의 자료의 공유범위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"업무·평가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"권한별 결과와 검토·재작업을 포함한 과업 완료시간",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"문서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부서 공유문서·누락된 발언·잘못된 할일 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"직원 계정과 과업별 접근 문맥",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"업무 요청",</a:t>
            </a:r>
          </a:p>
          <a:p xmlns:a="http://schemas.openxmlformats.org/drawingml/2006/main">
            <a:r>
              <a:t>          "check": "정답·검토시간을 포함한 비교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"권한 내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"다른 부서 공유문서·누락된 발언·잘못된 할일 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"직원 검토 후 공식 문서·회의 후속업무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"검토 결과",</a:t>
            </a:r>
          </a:p>
          <a:p xmlns:a="http://schemas.openxmlformats.org/drawingml/2006/main">
            <a:r>
              <a:t>          "check":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"공무원 문서·회의 업무의 생성형 AI 지원 / 문서 초안·회의 요약·활용 효과 평가",</a:t>
            </a:r>
          </a:p>
          <a:p xmlns:a="http://schemas.openxmlformats.org/drawingml/2006/main">
            <a:r>
              <a:t>        "extension": "같은 요청을 부서·직무별로 분류하고 원천 접근권한을 검색 전 집행"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부서 공유문서·누락된 발언·잘못된 할일 배정",</a:t>
            </a:r>
          </a:p>
          <a:p xmlns:a="http://schemas.openxmlformats.org/drawingml/2006/main">
            <a:r>
              <a:t>        "hold": "정답·검토시간을 포함한 비교 평가",</a:t>
            </a:r>
          </a:p>
          <a:p xmlns:a="http://schemas.openxmlformats.org/drawingml/2006/main">
            <a:r>
              <a:t>        "recovery": "검토·재작업 시간과 사용 로그의 과업별 비교",</a:t>
            </a:r>
          </a:p>
          <a:p xmlns:a="http://schemas.openxmlformats.org/drawingml/2006/main">
            <a:r>
              <a:t>        "evidence": "권한별 결과와 검토·재작업을 포함한 과업 완료시간"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"기존 접근 가능한 자료",</a:t>
            </a:r>
          </a:p>
          <a:p xmlns:a="http://schemas.openxmlformats.org/drawingml/2006/main">
            <a:r>
              <a:t>        "prepare": "M365 문서·회의 자료의 공유범위 점검",</a:t>
            </a:r>
          </a:p>
          <a:p xmlns:a="http://schemas.openxmlformats.org/drawingml/2006/main">
            <a:r>
              <a:t>        "output": "업무 요청",</a:t>
            </a:r>
          </a:p>
          <a:p xmlns:a="http://schemas.openxmlformats.org/drawingml/2006/main">
            <a:r>
              <a:t>        "refresh": "검토·재작업 시간과 사용 로그의 과업별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문서·회의 도구 안의 지원",</a:t>
            </a:r>
          </a:p>
          <a:p xmlns:a="http://schemas.openxmlformats.org/drawingml/2006/main">
            <a:r>
              <a:t>      "실제 직원의 활용·피드백 수집"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"업무별 효과 편차",</a:t>
            </a:r>
          </a:p>
          <a:p xmlns:a="http://schemas.openxmlformats.org/drawingml/2006/main">
            <a:r>
              <a:t>      "자기보고 절감시간과 실측시간의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"공무원 M365",</a:t>
            </a:r>
          </a:p>
          <a:p xmlns:a="http://schemas.openxmlformats.org/drawingml/2006/main">
            <a:r>
              <a:t>      "Copilot 작성·검색",</a:t>
            </a:r>
          </a:p>
          <a:p xmlns:a="http://schemas.openxmlformats.org/drawingml/2006/main">
            <a:r>
              <a:t>      "기존 접근 가능한 자료",</a:t>
            </a:r>
          </a:p>
          <a:p xmlns:a="http://schemas.openxmlformats.org/drawingml/2006/main">
            <a:r>
              <a:t>      "직원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"업무 요청",</a:t>
            </a:r>
          </a:p>
          <a:p xmlns:a="http://schemas.openxmlformats.org/drawingml/2006/main">
            <a:r>
              <a:t>      "권한 내 근거",</a:t>
            </a:r>
          </a:p>
          <a:p xmlns:a="http://schemas.openxmlformats.org/drawingml/2006/main">
            <a:r>
              <a:t>      "문서·회의 초안",</a:t>
            </a:r>
          </a:p>
          <a:p xmlns:a="http://schemas.openxmlformats.org/drawingml/2006/main">
            <a:r>
              <a:t>      "검토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"정답·검토시간을 포함한 비교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영국 정부 · M365 Copilot 실험 보고서 https://www.gov.uk/government/publications/microsoft-365-copilot-experiment-cross-government-findings-report/microsoft-365-copilot-experiment-cross-government-findings-report-html</a:t>
            </a:r>
          </a:p>
          <a:p xmlns:a="http://schemas.openxmlformats.org/drawingml/2006/main">
            <a:r>
              <a:t>홈페이지 https://heen1987-ops.github.io/TS-business-Plan-001/index.html?view=casebook&amp;case=AX04</a:t>
            </a:r>
          </a:p>
          <a:p xmlns:a="http://schemas.openxmlformats.org/drawingml/2006/main">
            <a:r>
              <a:t>한계: 실측 인과효과 아님 · 복잡한 맥락·데이터 업무 한계 · 기존 자료 과다공유 위험</a:t>
            </a:r>
          </a:p>
          <a:p xmlns:a="http://schemas.openxmlformats.org/drawingml/2006/main">
            <a:r>
              <a:t>실패 위험: 업무별 효과 편차 / 자기보고 절감시간과 실측시간의 차이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"title": "영국 정부 M365 Copilot",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"직원 업무 생산성 실험",</a:t>
            </a:r>
          </a:p>
          <a:p xmlns:a="http://schemas.openxmlformats.org/drawingml/2006/main">
            <a:r>
              <a:t>    "period": "2024.09–12 실험",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"업무효율",</a:t>
            </a:r>
          </a:p>
          <a:p xmlns:a="http://schemas.openxmlformats.org/drawingml/2006/main">
            <a:r>
              <a:t>      "직원",</a:t>
            </a:r>
          </a:p>
          <a:p xmlns:a="http://schemas.openxmlformats.org/drawingml/2006/main">
            <a:r>
              <a:t>      "권한",</a:t>
            </a:r>
          </a:p>
          <a:p xmlns:a="http://schemas.openxmlformats.org/drawingml/2006/main">
            <a:r>
              <a:t>      "성과 측정"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"2만 명 규모 실험; 설문 응답자 7,115명의 자기보고 시간 절약 평균 약 26분/일",</a:t>
            </a:r>
          </a:p>
          <a:p xmlns:a="http://schemas.openxmlformats.org/drawingml/2006/main">
            <a:r>
              <a:t>    "limit": "실측 인과효과 아님 · 복잡한 맥락·데이터 업무 한계 · 기존 자료 과다공유 위험",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"직원 요청",</a:t>
            </a:r>
          </a:p>
          <a:p xmlns:a="http://schemas.openxmlformats.org/drawingml/2006/main">
            <a:r>
              <a:t>      "기존 접근권한",</a:t>
            </a:r>
          </a:p>
          <a:p xmlns:a="http://schemas.openxmlformats.org/drawingml/2006/main">
            <a:r>
              <a:t>      "업무 자료 검색",</a:t>
            </a:r>
          </a:p>
          <a:p xmlns:a="http://schemas.openxmlformats.org/drawingml/2006/main">
            <a:r>
              <a:t>      "초안·직원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"보고서의 기능·권한 설명 기반 재구성",</a:t>
            </a:r>
          </a:p>
          <a:p xmlns:a="http://schemas.openxmlformats.org/drawingml/2006/main">
            <a:r>
              <a:t>    "lesson":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"로그인 ID–조직 연결 / 직무별 검색·서식 / 검토시간 포함 계측",</a:t>
            </a:r>
          </a:p>
          <a:p xmlns:a="http://schemas.openxmlformats.org/drawingml/2006/main">
            <a:r>
              <a:t>    "test": "권한 교차 시험과 동일 난도 업무의 전후·비교군 평가",</a:t>
            </a:r>
          </a:p>
          <a:p xmlns:a="http://schemas.openxmlformats.org/drawingml/2006/main">
            <a:r>
              <a:t>    "metric": "검토·재작업 포함 완료시간 /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"canonicalId": "AX04",</a:t>
            </a:r>
          </a:p>
          <a:p xmlns:a="http://schemas.openxmlformats.org/drawingml/2006/main">
            <a:r>
              <a:t>    "purpose": "공무원 문서·회의 업무의 생성형 AI 지원",</a:t>
            </a:r>
          </a:p>
          <a:p xmlns:a="http://schemas.openxmlformats.org/drawingml/2006/main">
            <a:r>
              <a:t>    "users": "공무원·기관 운영자·평가팀",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"문서 초안",</a:t>
            </a:r>
          </a:p>
          <a:p xmlns:a="http://schemas.openxmlformats.org/drawingml/2006/main">
            <a:r>
              <a:t>      "회의 요약",</a:t>
            </a:r>
          </a:p>
          <a:p xmlns:a="http://schemas.openxmlformats.org/drawingml/2006/main">
            <a:r>
              <a:t>      "활용 효과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"공무원 M365",</a:t>
            </a:r>
          </a:p>
          <a:p xmlns:a="http://schemas.openxmlformats.org/drawingml/2006/main">
            <a:r>
              <a:t>        "detail": "직원 계정과 과업별 접근 문맥",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"문서 초안 / 회의 요약 / 활용 효과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"Copilot 작성·검색",</a:t>
            </a:r>
          </a:p>
          <a:p xmlns:a="http://schemas.openxmlformats.org/drawingml/2006/main">
            <a:r>
              <a:t>        "detail": "허용 자료에 근거한 검색·요약·작성",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"직원 검토",</a:t>
            </a:r>
          </a:p>
          <a:p xmlns:a="http://schemas.openxmlformats.org/drawingml/2006/main">
            <a:r>
              <a:t>        "detail": "직원 검토 후 공식 문서·회의 후속업무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"기존 접근 가능한 자료",</a:t>
            </a:r>
          </a:p>
          <a:p xmlns:a="http://schemas.openxmlformats.org/drawingml/2006/main">
            <a:r>
              <a:t>        "detail": "M365 문서·회의 자료의 공유범위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"검토·재작업 시간과 사용 로그의 과업별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"직원 요청",</a:t>
            </a:r>
          </a:p>
          <a:p xmlns:a="http://schemas.openxmlformats.org/drawingml/2006/main">
            <a:r>
              <a:t>        "input": "직원 계정과 과업별 접근 문맥",</a:t>
            </a:r>
          </a:p>
          <a:p xmlns:a="http://schemas.openxmlformats.org/drawingml/2006/main">
            <a:r>
              <a:t>        "process": "M365 문서·회의 자료의 공유범위 점검",</a:t>
            </a:r>
          </a:p>
          <a:p xmlns:a="http://schemas.openxmlformats.org/drawingml/2006/main">
            <a:r>
              <a:t>        "output": "업무 요청"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접근권한",</a:t>
            </a:r>
          </a:p>
          <a:p xmlns:a="http://schemas.openxmlformats.org/drawingml/2006/main">
            <a:r>
              <a:t>        "input": "업무 요청",</a:t>
            </a:r>
          </a:p>
          <a:p xmlns:a="http://schemas.openxmlformats.org/drawingml/2006/main">
            <a:r>
              <a:t>        "process": "허용 자료에 근거한 검색·요약·작성",</a:t>
            </a:r>
          </a:p>
          <a:p xmlns:a="http://schemas.openxmlformats.org/drawingml/2006/main">
            <a:r>
              <a:t>        "output": "권한 내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"업무 자료 검색",</a:t>
            </a:r>
          </a:p>
          <a:p xmlns:a="http://schemas.openxmlformats.org/drawingml/2006/main">
            <a:r>
              <a:t>        "input": "권한 내 근거",</a:t>
            </a:r>
          </a:p>
          <a:p xmlns:a="http://schemas.openxmlformats.org/drawingml/2006/main">
            <a:r>
              <a:t>        "process": "정답·검토시간을 포함한 비교 평가",</a:t>
            </a:r>
          </a:p>
          <a:p xmlns:a="http://schemas.openxmlformats.org/drawingml/2006/main">
            <a:r>
              <a:t>        "output": "문서·회의 초안"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"초안·직원 검토",</a:t>
            </a:r>
          </a:p>
          <a:p xmlns:a="http://schemas.openxmlformats.org/drawingml/2006/main">
            <a:r>
              <a:t>        "input": "문서·회의 초안",</a:t>
            </a:r>
          </a:p>
          <a:p xmlns:a="http://schemas.openxmlformats.org/drawingml/2006/main">
            <a:r>
              <a:t>        "process": "직원 검토 후 공식 문서·회의 후속업무 반영",</a:t>
            </a:r>
          </a:p>
          <a:p xmlns:a="http://schemas.openxmlformats.org/drawingml/2006/main">
            <a:r>
              <a:t>        "output": "검토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회의자료로 회의록 초안을 작성하고 직원이 수정·확정",</a:t>
            </a:r>
          </a:p>
          <a:p xmlns:a="http://schemas.openxmlformats.org/drawingml/2006/main">
            <a:r>
              <a:t>      "exception": "다른 부서 공유문서·누락된 발언·잘못된 할일 배정",</a:t>
            </a:r>
          </a:p>
          <a:p xmlns:a="http://schemas.openxmlformats.org/drawingml/2006/main">
            <a:r>
              <a:t>      "evidence": "권한별 결과와 검토·재작업을 포함한 과업 완료시간",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"공무원·기관 운영자·평가팀",</a:t>
            </a:r>
          </a:p>
          <a:p xmlns:a="http://schemas.openxmlformats.org/drawingml/2006/main">
            <a:r>
              <a:t>          "processing": "직원 계정과 과업별 접근 문맥",</a:t>
            </a:r>
          </a:p>
          <a:p xmlns:a="http://schemas.openxmlformats.org/drawingml/2006/main">
            <a:r>
              <a:t>          "output": "업무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"기존 접근 가능한 자료",</a:t>
            </a:r>
          </a:p>
          <a:p xmlns:a="http://schemas.openxmlformats.org/drawingml/2006/main">
            <a:r>
              <a:t>          "processing": "M365 문서·회의 자료의 공유범위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"업무 요청",</a:t>
            </a:r>
          </a:p>
          <a:p xmlns:a="http://schemas.openxmlformats.org/drawingml/2006/main">
            <a:r>
              <a:t>          "processing": "허용 자료에 근거한 검색·요약·작성",</a:t>
            </a:r>
          </a:p>
          <a:p xmlns:a="http://schemas.openxmlformats.org/drawingml/2006/main">
            <a:r>
              <a:t>          "output": "문서·회의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"문서·회의 초안",</a:t>
            </a:r>
          </a:p>
          <a:p xmlns:a="http://schemas.openxmlformats.org/drawingml/2006/main">
            <a:r>
              <a:t>          "processing": "직원 검토 후 공식 문서·회의 후속업무 반영",</a:t>
            </a:r>
          </a:p>
          <a:p xmlns:a="http://schemas.openxmlformats.org/drawingml/2006/main">
            <a:r>
              <a:t>          "output": "검토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"검토·재작업 시간과 사용 로그의 과업별 비교",</a:t>
            </a:r>
          </a:p>
          <a:p xmlns:a="http://schemas.openxmlformats.org/drawingml/2006/main">
            <a:r>
              <a:t>          "output":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"검토·재작업 시간과 사용 로그의 과업별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"S04",</a:t>
            </a:r>
          </a:p>
          <a:p xmlns:a="http://schemas.openxmlformats.org/drawingml/2006/main">
            <a:r>
              <a:t>        "title": "영국 정부 · M365 Copilot 실험 보고서",</a:t>
            </a:r>
          </a:p>
          <a:p xmlns:a="http://schemas.openxmlformats.org/drawingml/2006/main">
            <a:r>
              <a:t>        "url": "https://www.gov.uk/government/publications/microsoft-365-copilot-experiment-cross-government-findings-report/microsoft-365-copilot-experiment-cross-government-findings-report-html",</a:t>
            </a:r>
          </a:p>
          <a:p xmlns:a="http://schemas.openxmlformats.org/drawingml/2006/main">
            <a:r>
              <a:t>        "published": "2025-06-02",</a:t>
            </a:r>
          </a:p>
          <a:p xmlns:a="http://schemas.openxmlformats.org/drawingml/2006/main">
            <a:r>
              <a:t>        "level": "정부 실험 / 이용자 자기보고",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M365 문서·회의 접점에서 공무원의 작성·검색·요약을 지원한 실험. 새 업무 시스템 구축보다 직원이 이미 접근하는 자료와 협업 도구 안에 AI를 배치한 유형.",</a:t>
            </a:r>
          </a:p>
          <a:p xmlns:a="http://schemas.openxmlformats.org/drawingml/2006/main">
            <a:r>
              <a:t>      "자료 접근권한을 전제로 요청 문맥을 만들고 검색·생성 결과를 직원이 검토하는 흐름. 조직·직무별 동일 과업을 정의한 뒤 AI 사용 전후의 초안 작성, 사실 확인, 수정 시간을 함께 기록하는 CCK 비교 설계.",</a:t>
            </a:r>
          </a:p>
          <a:p xmlns:a="http://schemas.openxmlformats.org/drawingml/2006/main">
            <a:r>
              <a:t>      "설문 자기보고 절감시간을 TS의 예상 절감률로 직접 전환하지 않는 평가. 과다공유 문서, 복잡한 질의, 숙련도 차이와 재작업을 포함해 부서별 완료시간·오류율을 산정할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"M365 업무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"공무원·기관 운영자·평가팀",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"직원·과업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"직원 계정과 과업별 접근 문맥",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"권한 내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"업무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"검색·요약·작성",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"허용 자료에 근거한 검색·요약·작성",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"근거·사실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"정답·검토시간을 포함한 비교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"직원 편집·확인",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회의자료로 회의록 초안을 작성하고 직원이 수정·확정",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"문서·회의 후속업무",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"직원 검토 후 공식 문서·회의 후속업무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"검토시간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"검토·재작업 시간과 사용 로그의 과업별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"문서·회의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"기존 접근 가능한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"공유범위 점검",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"M365 문서·회의 자료의 공유범위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"업무·평가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"권한별 결과와 검토·재작업을 포함한 과업 완료시간",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"문서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부서 공유문서·누락된 발언·잘못된 할일 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"직원 계정과 과업별 접근 문맥",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"업무 요청",</a:t>
            </a:r>
          </a:p>
          <a:p xmlns:a="http://schemas.openxmlformats.org/drawingml/2006/main">
            <a:r>
              <a:t>          "check": "정답·검토시간을 포함한 비교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"권한 내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"다른 부서 공유문서·누락된 발언·잘못된 할일 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"직원 검토 후 공식 문서·회의 후속업무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"검토 결과",</a:t>
            </a:r>
          </a:p>
          <a:p xmlns:a="http://schemas.openxmlformats.org/drawingml/2006/main">
            <a:r>
              <a:t>          "check":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"공무원 문서·회의 업무의 생성형 AI 지원 / 문서 초안·회의 요약·활용 효과 평가",</a:t>
            </a:r>
          </a:p>
          <a:p xmlns:a="http://schemas.openxmlformats.org/drawingml/2006/main">
            <a:r>
              <a:t>        "extension": "같은 요청을 부서·직무별로 분류하고 원천 접근권한을 검색 전 집행"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부서 공유문서·누락된 발언·잘못된 할일 배정",</a:t>
            </a:r>
          </a:p>
          <a:p xmlns:a="http://schemas.openxmlformats.org/drawingml/2006/main">
            <a:r>
              <a:t>        "hold": "정답·검토시간을 포함한 비교 평가",</a:t>
            </a:r>
          </a:p>
          <a:p xmlns:a="http://schemas.openxmlformats.org/drawingml/2006/main">
            <a:r>
              <a:t>        "recovery": "검토·재작업 시간과 사용 로그의 과업별 비교",</a:t>
            </a:r>
          </a:p>
          <a:p xmlns:a="http://schemas.openxmlformats.org/drawingml/2006/main">
            <a:r>
              <a:t>        "evidence": "권한별 결과와 검토·재작업을 포함한 과업 완료시간"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"기존 접근 가능한 자료",</a:t>
            </a:r>
          </a:p>
          <a:p xmlns:a="http://schemas.openxmlformats.org/drawingml/2006/main">
            <a:r>
              <a:t>        "prepare": "M365 문서·회의 자료의 공유범위 점검",</a:t>
            </a:r>
          </a:p>
          <a:p xmlns:a="http://schemas.openxmlformats.org/drawingml/2006/main">
            <a:r>
              <a:t>        "output": "업무 요청",</a:t>
            </a:r>
          </a:p>
          <a:p xmlns:a="http://schemas.openxmlformats.org/drawingml/2006/main">
            <a:r>
              <a:t>        "refresh": "검토·재작업 시간과 사용 로그의 과업별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문서·회의 도구 안의 지원",</a:t>
            </a:r>
          </a:p>
          <a:p xmlns:a="http://schemas.openxmlformats.org/drawingml/2006/main">
            <a:r>
              <a:t>      "실제 직원의 활용·피드백 수집"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"업무별 효과 편차",</a:t>
            </a:r>
          </a:p>
          <a:p xmlns:a="http://schemas.openxmlformats.org/drawingml/2006/main">
            <a:r>
              <a:t>      "자기보고 절감시간과 실측시간의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"공무원 M365",</a:t>
            </a:r>
          </a:p>
          <a:p xmlns:a="http://schemas.openxmlformats.org/drawingml/2006/main">
            <a:r>
              <a:t>      "Copilot 작성·검색",</a:t>
            </a:r>
          </a:p>
          <a:p xmlns:a="http://schemas.openxmlformats.org/drawingml/2006/main">
            <a:r>
              <a:t>      "기존 접근 가능한 자료",</a:t>
            </a:r>
          </a:p>
          <a:p xmlns:a="http://schemas.openxmlformats.org/drawingml/2006/main">
            <a:r>
              <a:t>      "직원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"업무 요청",</a:t>
            </a:r>
          </a:p>
          <a:p xmlns:a="http://schemas.openxmlformats.org/drawingml/2006/main">
            <a:r>
              <a:t>      "권한 내 근거",</a:t>
            </a:r>
          </a:p>
          <a:p xmlns:a="http://schemas.openxmlformats.org/drawingml/2006/main">
            <a:r>
              <a:t>      "문서·회의 초안",</a:t>
            </a:r>
          </a:p>
          <a:p xmlns:a="http://schemas.openxmlformats.org/drawingml/2006/main">
            <a:r>
              <a:t>      "검토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"정답·검토시간을 포함한 비교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영국 정부 · M365 Copilot 실험 보고서 https://www.gov.uk/government/publications/microsoft-365-copilot-experiment-cross-government-findings-report/microsoft-365-copilot-experiment-cross-government-findings-report-html</a:t>
            </a:r>
          </a:p>
          <a:p xmlns:a="http://schemas.openxmlformats.org/drawingml/2006/main">
            <a:r>
              <a:t>홈페이지 https://heen1987-ops.github.io/TS-business-Plan-001/index.html?view=casebook&amp;case=AX04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"title": "영국 정부 M365 Copilot",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"직원 업무 생산성 실험",</a:t>
            </a:r>
          </a:p>
          <a:p xmlns:a="http://schemas.openxmlformats.org/drawingml/2006/main">
            <a:r>
              <a:t>    "period": "2024.09–12 실험",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"업무효율",</a:t>
            </a:r>
          </a:p>
          <a:p xmlns:a="http://schemas.openxmlformats.org/drawingml/2006/main">
            <a:r>
              <a:t>      "직원",</a:t>
            </a:r>
          </a:p>
          <a:p xmlns:a="http://schemas.openxmlformats.org/drawingml/2006/main">
            <a:r>
              <a:t>      "권한",</a:t>
            </a:r>
          </a:p>
          <a:p xmlns:a="http://schemas.openxmlformats.org/drawingml/2006/main">
            <a:r>
              <a:t>      "성과 측정"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"2만 명 규모 실험; 설문 응답자 7,115명의 자기보고 시간 절약 평균 약 26분/일",</a:t>
            </a:r>
          </a:p>
          <a:p xmlns:a="http://schemas.openxmlformats.org/drawingml/2006/main">
            <a:r>
              <a:t>    "limit": "실측 인과효과 아님 · 복잡한 맥락·데이터 업무 한계 · 기존 자료 과다공유 위험",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"직원 요청",</a:t>
            </a:r>
          </a:p>
          <a:p xmlns:a="http://schemas.openxmlformats.org/drawingml/2006/main">
            <a:r>
              <a:t>      "기존 접근권한",</a:t>
            </a:r>
          </a:p>
          <a:p xmlns:a="http://schemas.openxmlformats.org/drawingml/2006/main">
            <a:r>
              <a:t>      "업무 자료 검색",</a:t>
            </a:r>
          </a:p>
          <a:p xmlns:a="http://schemas.openxmlformats.org/drawingml/2006/main">
            <a:r>
              <a:t>      "초안·직원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"보고서의 기능·권한 설명 기반 재구성",</a:t>
            </a:r>
          </a:p>
          <a:p xmlns:a="http://schemas.openxmlformats.org/drawingml/2006/main">
            <a:r>
              <a:t>    "lesson":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"로그인 ID–조직 연결 / 직무별 검색·서식 / 검토시간 포함 계측",</a:t>
            </a:r>
          </a:p>
          <a:p xmlns:a="http://schemas.openxmlformats.org/drawingml/2006/main">
            <a:r>
              <a:t>    "test": "권한 교차 시험과 동일 난도 업무의 전후·비교군 평가",</a:t>
            </a:r>
          </a:p>
          <a:p xmlns:a="http://schemas.openxmlformats.org/drawingml/2006/main">
            <a:r>
              <a:t>    "metric": "검토·재작업 포함 완료시간 /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"canonicalId": "AX04",</a:t>
            </a:r>
          </a:p>
          <a:p xmlns:a="http://schemas.openxmlformats.org/drawingml/2006/main">
            <a:r>
              <a:t>    "purpose": "공무원 문서·회의 업무의 생성형 AI 지원",</a:t>
            </a:r>
          </a:p>
          <a:p xmlns:a="http://schemas.openxmlformats.org/drawingml/2006/main">
            <a:r>
              <a:t>    "users": "공무원·기관 운영자·평가팀",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"문서 초안",</a:t>
            </a:r>
          </a:p>
          <a:p xmlns:a="http://schemas.openxmlformats.org/drawingml/2006/main">
            <a:r>
              <a:t>      "회의 요약",</a:t>
            </a:r>
          </a:p>
          <a:p xmlns:a="http://schemas.openxmlformats.org/drawingml/2006/main">
            <a:r>
              <a:t>      "활용 효과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"공무원 M365",</a:t>
            </a:r>
          </a:p>
          <a:p xmlns:a="http://schemas.openxmlformats.org/drawingml/2006/main">
            <a:r>
              <a:t>        "detail": "직원 계정과 과업별 접근 문맥",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"문서 초안 / 회의 요약 / 활용 효과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"Copilot 작성·검색",</a:t>
            </a:r>
          </a:p>
          <a:p xmlns:a="http://schemas.openxmlformats.org/drawingml/2006/main">
            <a:r>
              <a:t>        "detail": "허용 자료에 근거한 검색·요약·작성",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"직원 검토",</a:t>
            </a:r>
          </a:p>
          <a:p xmlns:a="http://schemas.openxmlformats.org/drawingml/2006/main">
            <a:r>
              <a:t>        "detail": "직원 검토 후 공식 문서·회의 후속업무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"기존 접근 가능한 자료",</a:t>
            </a:r>
          </a:p>
          <a:p xmlns:a="http://schemas.openxmlformats.org/drawingml/2006/main">
            <a:r>
              <a:t>        "detail": "M365 문서·회의 자료의 공유범위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"검토·재작업 시간과 사용 로그의 과업별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"직원 요청",</a:t>
            </a:r>
          </a:p>
          <a:p xmlns:a="http://schemas.openxmlformats.org/drawingml/2006/main">
            <a:r>
              <a:t>        "input": "직원 계정과 과업별 접근 문맥",</a:t>
            </a:r>
          </a:p>
          <a:p xmlns:a="http://schemas.openxmlformats.org/drawingml/2006/main">
            <a:r>
              <a:t>        "process": "M365 문서·회의 자료의 공유범위 점검",</a:t>
            </a:r>
          </a:p>
          <a:p xmlns:a="http://schemas.openxmlformats.org/drawingml/2006/main">
            <a:r>
              <a:t>        "output": "업무 요청"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접근권한",</a:t>
            </a:r>
          </a:p>
          <a:p xmlns:a="http://schemas.openxmlformats.org/drawingml/2006/main">
            <a:r>
              <a:t>        "input": "업무 요청",</a:t>
            </a:r>
          </a:p>
          <a:p xmlns:a="http://schemas.openxmlformats.org/drawingml/2006/main">
            <a:r>
              <a:t>        "process": "허용 자료에 근거한 검색·요약·작성",</a:t>
            </a:r>
          </a:p>
          <a:p xmlns:a="http://schemas.openxmlformats.org/drawingml/2006/main">
            <a:r>
              <a:t>        "output": "권한 내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"업무 자료 검색",</a:t>
            </a:r>
          </a:p>
          <a:p xmlns:a="http://schemas.openxmlformats.org/drawingml/2006/main">
            <a:r>
              <a:t>        "input": "권한 내 근거",</a:t>
            </a:r>
          </a:p>
          <a:p xmlns:a="http://schemas.openxmlformats.org/drawingml/2006/main">
            <a:r>
              <a:t>        "process": "정답·검토시간을 포함한 비교 평가",</a:t>
            </a:r>
          </a:p>
          <a:p xmlns:a="http://schemas.openxmlformats.org/drawingml/2006/main">
            <a:r>
              <a:t>        "output": "문서·회의 초안"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"초안·직원 검토",</a:t>
            </a:r>
          </a:p>
          <a:p xmlns:a="http://schemas.openxmlformats.org/drawingml/2006/main">
            <a:r>
              <a:t>        "input": "문서·회의 초안",</a:t>
            </a:r>
          </a:p>
          <a:p xmlns:a="http://schemas.openxmlformats.org/drawingml/2006/main">
            <a:r>
              <a:t>        "process": "직원 검토 후 공식 문서·회의 후속업무 반영",</a:t>
            </a:r>
          </a:p>
          <a:p xmlns:a="http://schemas.openxmlformats.org/drawingml/2006/main">
            <a:r>
              <a:t>        "output": "검토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회의자료로 회의록 초안을 작성하고 직원이 수정·확정",</a:t>
            </a:r>
          </a:p>
          <a:p xmlns:a="http://schemas.openxmlformats.org/drawingml/2006/main">
            <a:r>
              <a:t>      "exception": "다른 부서 공유문서·누락된 발언·잘못된 할일 배정",</a:t>
            </a:r>
          </a:p>
          <a:p xmlns:a="http://schemas.openxmlformats.org/drawingml/2006/main">
            <a:r>
              <a:t>      "evidence": "권한별 결과와 검토·재작업을 포함한 과업 완료시간",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"공무원·기관 운영자·평가팀",</a:t>
            </a:r>
          </a:p>
          <a:p xmlns:a="http://schemas.openxmlformats.org/drawingml/2006/main">
            <a:r>
              <a:t>          "processing": "직원 계정과 과업별 접근 문맥",</a:t>
            </a:r>
          </a:p>
          <a:p xmlns:a="http://schemas.openxmlformats.org/drawingml/2006/main">
            <a:r>
              <a:t>          "output": "업무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"기존 접근 가능한 자료",</a:t>
            </a:r>
          </a:p>
          <a:p xmlns:a="http://schemas.openxmlformats.org/drawingml/2006/main">
            <a:r>
              <a:t>          "processing": "M365 문서·회의 자료의 공유범위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"업무 요청",</a:t>
            </a:r>
          </a:p>
          <a:p xmlns:a="http://schemas.openxmlformats.org/drawingml/2006/main">
            <a:r>
              <a:t>          "processing": "허용 자료에 근거한 검색·요약·작성",</a:t>
            </a:r>
          </a:p>
          <a:p xmlns:a="http://schemas.openxmlformats.org/drawingml/2006/main">
            <a:r>
              <a:t>          "output": "문서·회의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"문서·회의 초안",</a:t>
            </a:r>
          </a:p>
          <a:p xmlns:a="http://schemas.openxmlformats.org/drawingml/2006/main">
            <a:r>
              <a:t>          "processing": "직원 검토 후 공식 문서·회의 후속업무 반영",</a:t>
            </a:r>
          </a:p>
          <a:p xmlns:a="http://schemas.openxmlformats.org/drawingml/2006/main">
            <a:r>
              <a:t>          "output": "검토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"검토·재작업 시간과 사용 로그의 과업별 비교",</a:t>
            </a:r>
          </a:p>
          <a:p xmlns:a="http://schemas.openxmlformats.org/drawingml/2006/main">
            <a:r>
              <a:t>          "output":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"검토·재작업 시간과 사용 로그의 과업별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"S04",</a:t>
            </a:r>
          </a:p>
          <a:p xmlns:a="http://schemas.openxmlformats.org/drawingml/2006/main">
            <a:r>
              <a:t>        "title": "영국 정부 · M365 Copilot 실험 보고서",</a:t>
            </a:r>
          </a:p>
          <a:p xmlns:a="http://schemas.openxmlformats.org/drawingml/2006/main">
            <a:r>
              <a:t>        "url": "https://www.gov.uk/government/publications/microsoft-365-copilot-experiment-cross-government-findings-report/microsoft-365-copilot-experiment-cross-government-findings-report-html",</a:t>
            </a:r>
          </a:p>
          <a:p xmlns:a="http://schemas.openxmlformats.org/drawingml/2006/main">
            <a:r>
              <a:t>        "published": "2025-06-02",</a:t>
            </a:r>
          </a:p>
          <a:p xmlns:a="http://schemas.openxmlformats.org/drawingml/2006/main">
            <a:r>
              <a:t>        "level": "정부 실험 / 이용자 자기보고",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M365 문서·회의 접점에서 공무원의 작성·검색·요약을 지원한 실험. 새 업무 시스템 구축보다 직원이 이미 접근하는 자료와 협업 도구 안에 AI를 배치한 유형.",</a:t>
            </a:r>
          </a:p>
          <a:p xmlns:a="http://schemas.openxmlformats.org/drawingml/2006/main">
            <a:r>
              <a:t>      "자료 접근권한을 전제로 요청 문맥을 만들고 검색·생성 결과를 직원이 검토하는 흐름. 조직·직무별 동일 과업을 정의한 뒤 AI 사용 전후의 초안 작성, 사실 확인, 수정 시간을 함께 기록하는 CCK 비교 설계.",</a:t>
            </a:r>
          </a:p>
          <a:p xmlns:a="http://schemas.openxmlformats.org/drawingml/2006/main">
            <a:r>
              <a:t>      "설문 자기보고 절감시간을 TS의 예상 절감률로 직접 전환하지 않는 평가. 과다공유 문서, 복잡한 질의, 숙련도 차이와 재작업을 포함해 부서별 완료시간·오류율을 산정할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"M365 업무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"공무원·기관 운영자·평가팀",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"직원·과업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"직원 계정과 과업별 접근 문맥",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"권한 내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"업무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"검색·요약·작성",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"허용 자료에 근거한 검색·요약·작성",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"근거·사실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"정답·검토시간을 포함한 비교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"직원 편집·확인",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회의자료로 회의록 초안을 작성하고 직원이 수정·확정",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"문서·회의 후속업무",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"직원 검토 후 공식 문서·회의 후속업무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"검토시간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"검토·재작업 시간과 사용 로그의 과업별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"문서·회의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"기존 접근 가능한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"공유범위 점검",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"M365 문서·회의 자료의 공유범위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"업무·평가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"권한별 결과와 검토·재작업을 포함한 과업 완료시간",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"문서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부서 공유문서·누락된 발언·잘못된 할일 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"직원 계정과 과업별 접근 문맥",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"업무 요청",</a:t>
            </a:r>
          </a:p>
          <a:p xmlns:a="http://schemas.openxmlformats.org/drawingml/2006/main">
            <a:r>
              <a:t>          "check": "정답·검토시간을 포함한 비교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"권한 내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"다른 부서 공유문서·누락된 발언·잘못된 할일 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"직원 검토 후 공식 문서·회의 후속업무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"검토 결과",</a:t>
            </a:r>
          </a:p>
          <a:p xmlns:a="http://schemas.openxmlformats.org/drawingml/2006/main">
            <a:r>
              <a:t>          "check":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"공무원 문서·회의 업무의 생성형 AI 지원 / 문서 초안·회의 요약·활용 효과 평가",</a:t>
            </a:r>
          </a:p>
          <a:p xmlns:a="http://schemas.openxmlformats.org/drawingml/2006/main">
            <a:r>
              <a:t>        "extension": "같은 요청을 부서·직무별로 분류하고 원천 접근권한을 검색 전 집행"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부서 공유문서·누락된 발언·잘못된 할일 배정",</a:t>
            </a:r>
          </a:p>
          <a:p xmlns:a="http://schemas.openxmlformats.org/drawingml/2006/main">
            <a:r>
              <a:t>        "hold": "정답·검토시간을 포함한 비교 평가",</a:t>
            </a:r>
          </a:p>
          <a:p xmlns:a="http://schemas.openxmlformats.org/drawingml/2006/main">
            <a:r>
              <a:t>        "recovery": "검토·재작업 시간과 사용 로그의 과업별 비교",</a:t>
            </a:r>
          </a:p>
          <a:p xmlns:a="http://schemas.openxmlformats.org/drawingml/2006/main">
            <a:r>
              <a:t>        "evidence": "권한별 결과와 검토·재작업을 포함한 과업 완료시간"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"기존 접근 가능한 자료",</a:t>
            </a:r>
          </a:p>
          <a:p xmlns:a="http://schemas.openxmlformats.org/drawingml/2006/main">
            <a:r>
              <a:t>        "prepare": "M365 문서·회의 자료의 공유범위 점검",</a:t>
            </a:r>
          </a:p>
          <a:p xmlns:a="http://schemas.openxmlformats.org/drawingml/2006/main">
            <a:r>
              <a:t>        "output": "업무 요청",</a:t>
            </a:r>
          </a:p>
          <a:p xmlns:a="http://schemas.openxmlformats.org/drawingml/2006/main">
            <a:r>
              <a:t>        "refresh": "검토·재작업 시간과 사용 로그의 과업별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문서·회의 도구 안의 지원",</a:t>
            </a:r>
          </a:p>
          <a:p xmlns:a="http://schemas.openxmlformats.org/drawingml/2006/main">
            <a:r>
              <a:t>      "실제 직원의 활용·피드백 수집"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"업무별 효과 편차",</a:t>
            </a:r>
          </a:p>
          <a:p xmlns:a="http://schemas.openxmlformats.org/drawingml/2006/main">
            <a:r>
              <a:t>      "자기보고 절감시간과 실측시간의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"공무원 M365",</a:t>
            </a:r>
          </a:p>
          <a:p xmlns:a="http://schemas.openxmlformats.org/drawingml/2006/main">
            <a:r>
              <a:t>      "Copilot 작성·검색",</a:t>
            </a:r>
          </a:p>
          <a:p xmlns:a="http://schemas.openxmlformats.org/drawingml/2006/main">
            <a:r>
              <a:t>      "기존 접근 가능한 자료",</a:t>
            </a:r>
          </a:p>
          <a:p xmlns:a="http://schemas.openxmlformats.org/drawingml/2006/main">
            <a:r>
              <a:t>      "직원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"업무 요청",</a:t>
            </a:r>
          </a:p>
          <a:p xmlns:a="http://schemas.openxmlformats.org/drawingml/2006/main">
            <a:r>
              <a:t>      "권한 내 근거",</a:t>
            </a:r>
          </a:p>
          <a:p xmlns:a="http://schemas.openxmlformats.org/drawingml/2006/main">
            <a:r>
              <a:t>      "문서·회의 초안",</a:t>
            </a:r>
          </a:p>
          <a:p xmlns:a="http://schemas.openxmlformats.org/drawingml/2006/main">
            <a:r>
              <a:t>      "검토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"정답·검토시간을 포함한 비교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영국 정부 · M365 Copilot 실험 보고서 https://www.gov.uk/government/publications/microsoft-365-copilot-experiment-cross-government-findings-report/microsoft-365-copilot-experiment-cross-government-findings-report-html</a:t>
            </a:r>
          </a:p>
          <a:p xmlns:a="http://schemas.openxmlformats.org/drawingml/2006/main">
            <a:r>
              <a:t>홈페이지 https://heen1987-ops.github.io/TS-business-Plan-001/index.html?view=casebook&amp;case=AX04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"title": "영국 정부 M365 Copilot",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"직원 업무 생산성 실험",</a:t>
            </a:r>
          </a:p>
          <a:p xmlns:a="http://schemas.openxmlformats.org/drawingml/2006/main">
            <a:r>
              <a:t>    "period": "2024.09–12 실험",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"업무효율",</a:t>
            </a:r>
          </a:p>
          <a:p xmlns:a="http://schemas.openxmlformats.org/drawingml/2006/main">
            <a:r>
              <a:t>      "직원",</a:t>
            </a:r>
          </a:p>
          <a:p xmlns:a="http://schemas.openxmlformats.org/drawingml/2006/main">
            <a:r>
              <a:t>      "권한",</a:t>
            </a:r>
          </a:p>
          <a:p xmlns:a="http://schemas.openxmlformats.org/drawingml/2006/main">
            <a:r>
              <a:t>      "성과 측정"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"2만 명 규모 실험; 설문 응답자 7,115명의 자기보고 시간 절약 평균 약 26분/일",</a:t>
            </a:r>
          </a:p>
          <a:p xmlns:a="http://schemas.openxmlformats.org/drawingml/2006/main">
            <a:r>
              <a:t>    "limit": "실측 인과효과 아님 · 복잡한 맥락·데이터 업무 한계 · 기존 자료 과다공유 위험",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"직원 요청",</a:t>
            </a:r>
          </a:p>
          <a:p xmlns:a="http://schemas.openxmlformats.org/drawingml/2006/main">
            <a:r>
              <a:t>      "기존 접근권한",</a:t>
            </a:r>
          </a:p>
          <a:p xmlns:a="http://schemas.openxmlformats.org/drawingml/2006/main">
            <a:r>
              <a:t>      "업무 자료 검색",</a:t>
            </a:r>
          </a:p>
          <a:p xmlns:a="http://schemas.openxmlformats.org/drawingml/2006/main">
            <a:r>
              <a:t>      "초안·직원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"보고서의 기능·권한 설명 기반 재구성",</a:t>
            </a:r>
          </a:p>
          <a:p xmlns:a="http://schemas.openxmlformats.org/drawingml/2006/main">
            <a:r>
              <a:t>    "lesson":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"로그인 ID–조직 연결 / 직무별 검색·서식 / 검토시간 포함 계측",</a:t>
            </a:r>
          </a:p>
          <a:p xmlns:a="http://schemas.openxmlformats.org/drawingml/2006/main">
            <a:r>
              <a:t>    "test": "권한 교차 시험과 동일 난도 업무의 전후·비교군 평가",</a:t>
            </a:r>
          </a:p>
          <a:p xmlns:a="http://schemas.openxmlformats.org/drawingml/2006/main">
            <a:r>
              <a:t>    "metric": "검토·재작업 포함 완료시간 /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"canonicalId": "AX04",</a:t>
            </a:r>
          </a:p>
          <a:p xmlns:a="http://schemas.openxmlformats.org/drawingml/2006/main">
            <a:r>
              <a:t>    "purpose": "공무원 문서·회의 업무의 생성형 AI 지원",</a:t>
            </a:r>
          </a:p>
          <a:p xmlns:a="http://schemas.openxmlformats.org/drawingml/2006/main">
            <a:r>
              <a:t>    "users": "공무원·기관 운영자·평가팀",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"문서 초안",</a:t>
            </a:r>
          </a:p>
          <a:p xmlns:a="http://schemas.openxmlformats.org/drawingml/2006/main">
            <a:r>
              <a:t>      "회의 요약",</a:t>
            </a:r>
          </a:p>
          <a:p xmlns:a="http://schemas.openxmlformats.org/drawingml/2006/main">
            <a:r>
              <a:t>      "활용 효과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"공무원 M365",</a:t>
            </a:r>
          </a:p>
          <a:p xmlns:a="http://schemas.openxmlformats.org/drawingml/2006/main">
            <a:r>
              <a:t>        "detail": "직원 계정과 과업별 접근 문맥",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"문서 초안 / 회의 요약 / 활용 효과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"Copilot 작성·검색",</a:t>
            </a:r>
          </a:p>
          <a:p xmlns:a="http://schemas.openxmlformats.org/drawingml/2006/main">
            <a:r>
              <a:t>        "detail": "허용 자료에 근거한 검색·요약·작성",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"직원 검토",</a:t>
            </a:r>
          </a:p>
          <a:p xmlns:a="http://schemas.openxmlformats.org/drawingml/2006/main">
            <a:r>
              <a:t>        "detail": "직원 검토 후 공식 문서·회의 후속업무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"기존 접근 가능한 자료",</a:t>
            </a:r>
          </a:p>
          <a:p xmlns:a="http://schemas.openxmlformats.org/drawingml/2006/main">
            <a:r>
              <a:t>        "detail": "M365 문서·회의 자료의 공유범위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"검토·재작업 시간과 사용 로그의 과업별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"직원 요청",</a:t>
            </a:r>
          </a:p>
          <a:p xmlns:a="http://schemas.openxmlformats.org/drawingml/2006/main">
            <a:r>
              <a:t>        "input": "직원 계정과 과업별 접근 문맥",</a:t>
            </a:r>
          </a:p>
          <a:p xmlns:a="http://schemas.openxmlformats.org/drawingml/2006/main">
            <a:r>
              <a:t>        "process": "M365 문서·회의 자료의 공유범위 점검",</a:t>
            </a:r>
          </a:p>
          <a:p xmlns:a="http://schemas.openxmlformats.org/drawingml/2006/main">
            <a:r>
              <a:t>        "output": "업무 요청"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접근권한",</a:t>
            </a:r>
          </a:p>
          <a:p xmlns:a="http://schemas.openxmlformats.org/drawingml/2006/main">
            <a:r>
              <a:t>        "input": "업무 요청",</a:t>
            </a:r>
          </a:p>
          <a:p xmlns:a="http://schemas.openxmlformats.org/drawingml/2006/main">
            <a:r>
              <a:t>        "process": "허용 자료에 근거한 검색·요약·작성",</a:t>
            </a:r>
          </a:p>
          <a:p xmlns:a="http://schemas.openxmlformats.org/drawingml/2006/main">
            <a:r>
              <a:t>        "output": "권한 내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"업무 자료 검색",</a:t>
            </a:r>
          </a:p>
          <a:p xmlns:a="http://schemas.openxmlformats.org/drawingml/2006/main">
            <a:r>
              <a:t>        "input": "권한 내 근거",</a:t>
            </a:r>
          </a:p>
          <a:p xmlns:a="http://schemas.openxmlformats.org/drawingml/2006/main">
            <a:r>
              <a:t>        "process": "정답·검토시간을 포함한 비교 평가",</a:t>
            </a:r>
          </a:p>
          <a:p xmlns:a="http://schemas.openxmlformats.org/drawingml/2006/main">
            <a:r>
              <a:t>        "output": "문서·회의 초안"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"초안·직원 검토",</a:t>
            </a:r>
          </a:p>
          <a:p xmlns:a="http://schemas.openxmlformats.org/drawingml/2006/main">
            <a:r>
              <a:t>        "input": "문서·회의 초안",</a:t>
            </a:r>
          </a:p>
          <a:p xmlns:a="http://schemas.openxmlformats.org/drawingml/2006/main">
            <a:r>
              <a:t>        "process": "직원 검토 후 공식 문서·회의 후속업무 반영",</a:t>
            </a:r>
          </a:p>
          <a:p xmlns:a="http://schemas.openxmlformats.org/drawingml/2006/main">
            <a:r>
              <a:t>        "output": "검토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회의자료로 회의록 초안을 작성하고 직원이 수정·확정",</a:t>
            </a:r>
          </a:p>
          <a:p xmlns:a="http://schemas.openxmlformats.org/drawingml/2006/main">
            <a:r>
              <a:t>      "exception": "다른 부서 공유문서·누락된 발언·잘못된 할일 배정",</a:t>
            </a:r>
          </a:p>
          <a:p xmlns:a="http://schemas.openxmlformats.org/drawingml/2006/main">
            <a:r>
              <a:t>      "evidence": "권한별 결과와 검토·재작업을 포함한 과업 완료시간",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"공무원·기관 운영자·평가팀",</a:t>
            </a:r>
          </a:p>
          <a:p xmlns:a="http://schemas.openxmlformats.org/drawingml/2006/main">
            <a:r>
              <a:t>          "processing": "직원 계정과 과업별 접근 문맥",</a:t>
            </a:r>
          </a:p>
          <a:p xmlns:a="http://schemas.openxmlformats.org/drawingml/2006/main">
            <a:r>
              <a:t>          "output": "업무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"기존 접근 가능한 자료",</a:t>
            </a:r>
          </a:p>
          <a:p xmlns:a="http://schemas.openxmlformats.org/drawingml/2006/main">
            <a:r>
              <a:t>          "processing": "M365 문서·회의 자료의 공유범위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"업무 요청",</a:t>
            </a:r>
          </a:p>
          <a:p xmlns:a="http://schemas.openxmlformats.org/drawingml/2006/main">
            <a:r>
              <a:t>          "processing": "허용 자료에 근거한 검색·요약·작성",</a:t>
            </a:r>
          </a:p>
          <a:p xmlns:a="http://schemas.openxmlformats.org/drawingml/2006/main">
            <a:r>
              <a:t>          "output": "문서·회의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"문서·회의 초안",</a:t>
            </a:r>
          </a:p>
          <a:p xmlns:a="http://schemas.openxmlformats.org/drawingml/2006/main">
            <a:r>
              <a:t>          "processing": "직원 검토 후 공식 문서·회의 후속업무 반영",</a:t>
            </a:r>
          </a:p>
          <a:p xmlns:a="http://schemas.openxmlformats.org/drawingml/2006/main">
            <a:r>
              <a:t>          "output": "검토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"검토·재작업 시간과 사용 로그의 과업별 비교",</a:t>
            </a:r>
          </a:p>
          <a:p xmlns:a="http://schemas.openxmlformats.org/drawingml/2006/main">
            <a:r>
              <a:t>          "output":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"검토·재작업 시간과 사용 로그의 과업별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"S04",</a:t>
            </a:r>
          </a:p>
          <a:p xmlns:a="http://schemas.openxmlformats.org/drawingml/2006/main">
            <a:r>
              <a:t>        "title": "영국 정부 · M365 Copilot 실험 보고서",</a:t>
            </a:r>
          </a:p>
          <a:p xmlns:a="http://schemas.openxmlformats.org/drawingml/2006/main">
            <a:r>
              <a:t>        "url": "https://www.gov.uk/government/publications/microsoft-365-copilot-experiment-cross-government-findings-report/microsoft-365-copilot-experiment-cross-government-findings-report-html",</a:t>
            </a:r>
          </a:p>
          <a:p xmlns:a="http://schemas.openxmlformats.org/drawingml/2006/main">
            <a:r>
              <a:t>        "published": "2025-06-02",</a:t>
            </a:r>
          </a:p>
          <a:p xmlns:a="http://schemas.openxmlformats.org/drawingml/2006/main">
            <a:r>
              <a:t>        "level": "정부 실험 / 이용자 자기보고",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"사용 빈도와 실측 성과의 분리 / 기존 권한의 사전 정비",</a:t>
            </a:r>
          </a:p>
          <a:p xmlns:a="http://schemas.openxmlformats.org/drawingml/2006/main">
            <a:r>
              <a:t>    "local": "같은 요청을 부서·직무별로 분류하고 원천 접근권한을 검색 전 집행",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M365 문서·회의 접점에서 공무원의 작성·검색·요약을 지원한 실험. 새 업무 시스템 구축보다 직원이 이미 접근하는 자료와 협업 도구 안에 AI를 배치한 유형.",</a:t>
            </a:r>
          </a:p>
          <a:p xmlns:a="http://schemas.openxmlformats.org/drawingml/2006/main">
            <a:r>
              <a:t>      "자료 접근권한을 전제로 요청 문맥을 만들고 검색·생성 결과를 직원이 검토하는 흐름. 조직·직무별 동일 과업을 정의한 뒤 AI 사용 전후의 초안 작성, 사실 확인, 수정 시간을 함께 기록하는 CCK 비교 설계.",</a:t>
            </a:r>
          </a:p>
          <a:p xmlns:a="http://schemas.openxmlformats.org/drawingml/2006/main">
            <a:r>
              <a:t>      "설문 자기보고 절감시간을 TS의 예상 절감률로 직접 전환하지 않는 평가. 과다공유 문서, 복잡한 질의, 숙련도 차이와 재작업을 포함해 부서별 완료시간·오류율을 산정할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"M365 업무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"공무원·기관 운영자·평가팀",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"직원·과업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"직원 계정과 과업별 접근 문맥",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"권한 내 자료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"업무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"검색·요약·작성",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"허용 자료에 근거한 검색·요약·작성",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"근거·사실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"정답·검토시간을 포함한 비교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"직원 편집·확인",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회의자료로 회의록 초안을 작성하고 직원이 수정·확정",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"문서·회의 후속업무",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"직원 검토 후 공식 문서·회의 후속업무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"검토시간 비교",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"검토·재작업 시간과 사용 로그의 과업별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"문서·회의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"기존 접근 가능한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"공유범위 점검",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"M365 문서·회의 자료의 공유범위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"업무·평가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"권한별 결과와 검토·재작업을 포함한 과업 완료시간",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"문서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부서 공유문서·누락된 발언·잘못된 할일 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"직원 계정과 과업별 접근 문맥",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"업무 요청",</a:t>
            </a:r>
          </a:p>
          <a:p xmlns:a="http://schemas.openxmlformats.org/drawingml/2006/main">
            <a:r>
              <a:t>          "check": "정답·검토시간을 포함한 비교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"권한 내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"다른 부서 공유문서·누락된 발언·잘못된 할일 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"문서·회의 초안",</a:t>
            </a:r>
          </a:p>
          <a:p xmlns:a="http://schemas.openxmlformats.org/drawingml/2006/main">
            <a:r>
              <a:t>          "check": "직원 검토 후 공식 문서·회의 후속업무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"검토 결과",</a:t>
            </a:r>
          </a:p>
          <a:p xmlns:a="http://schemas.openxmlformats.org/drawingml/2006/main">
            <a:r>
              <a:t>          "check": "권한별 결과와 검토·재작업을 포함한 과업 완료시간"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"공무원 문서·회의 업무의 생성형 AI 지원 / 문서 초안·회의 요약·활용 효과 평가",</a:t>
            </a:r>
          </a:p>
          <a:p xmlns:a="http://schemas.openxmlformats.org/drawingml/2006/main">
            <a:r>
              <a:t>        "extension": "같은 요청을 부서·직무별로 분류하고 원천 접근권한을 검색 전 집행"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부서 공유문서·누락된 발언·잘못된 할일 배정",</a:t>
            </a:r>
          </a:p>
          <a:p xmlns:a="http://schemas.openxmlformats.org/drawingml/2006/main">
            <a:r>
              <a:t>        "hold": "정답·검토시간을 포함한 비교 평가",</a:t>
            </a:r>
          </a:p>
          <a:p xmlns:a="http://schemas.openxmlformats.org/drawingml/2006/main">
            <a:r>
              <a:t>        "recovery": "검토·재작업 시간과 사용 로그의 과업별 비교",</a:t>
            </a:r>
          </a:p>
          <a:p xmlns:a="http://schemas.openxmlformats.org/drawingml/2006/main">
            <a:r>
              <a:t>        "evidence": "권한별 결과와 검토·재작업을 포함한 과업 완료시간"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"기존 접근 가능한 자료",</a:t>
            </a:r>
          </a:p>
          <a:p xmlns:a="http://schemas.openxmlformats.org/drawingml/2006/main">
            <a:r>
              <a:t>        "prepare": "M365 문서·회의 자료의 공유범위 점검",</a:t>
            </a:r>
          </a:p>
          <a:p xmlns:a="http://schemas.openxmlformats.org/drawingml/2006/main">
            <a:r>
              <a:t>        "output": "업무 요청",</a:t>
            </a:r>
          </a:p>
          <a:p xmlns:a="http://schemas.openxmlformats.org/drawingml/2006/main">
            <a:r>
              <a:t>        "refresh": "검토·재작업 시간과 사용 로그의 과업별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문서·회의 도구 안의 지원",</a:t>
            </a:r>
          </a:p>
          <a:p xmlns:a="http://schemas.openxmlformats.org/drawingml/2006/main">
            <a:r>
              <a:t>      "실제 직원의 활용·피드백 수집"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"업무별 효과 편차",</a:t>
            </a:r>
          </a:p>
          <a:p xmlns:a="http://schemas.openxmlformats.org/drawingml/2006/main">
            <a:r>
              <a:t>      "자기보고 절감시간과 실측시간의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"공무원 M365",</a:t>
            </a:r>
          </a:p>
          <a:p xmlns:a="http://schemas.openxmlformats.org/drawingml/2006/main">
            <a:r>
              <a:t>      "Copilot 작성·검색",</a:t>
            </a:r>
          </a:p>
          <a:p xmlns:a="http://schemas.openxmlformats.org/drawingml/2006/main">
            <a:r>
              <a:t>      "기존 접근 가능한 자료",</a:t>
            </a:r>
          </a:p>
          <a:p xmlns:a="http://schemas.openxmlformats.org/drawingml/2006/main">
            <a:r>
              <a:t>      "직원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"업무 요청",</a:t>
            </a:r>
          </a:p>
          <a:p xmlns:a="http://schemas.openxmlformats.org/drawingml/2006/main">
            <a:r>
              <a:t>      "권한 내 근거",</a:t>
            </a:r>
          </a:p>
          <a:p xmlns:a="http://schemas.openxmlformats.org/drawingml/2006/main">
            <a:r>
              <a:t>      "문서·회의 초안",</a:t>
            </a:r>
          </a:p>
          <a:p xmlns:a="http://schemas.openxmlformats.org/drawingml/2006/main">
            <a:r>
              <a:t>      "검토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"정답·검토시간을 포함한 비교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영국 정부 · M365 Copilot 실험 보고서 https://www.gov.uk/government/publications/microsoft-365-copilot-experiment-cross-government-findings-report/microsoft-365-copilot-experiment-cross-government-findings-report-html</a:t>
            </a:r>
          </a:p>
          <a:p xmlns:a="http://schemas.openxmlformats.org/drawingml/2006/main">
            <a:r>
              <a:t>홈페이지 https://heen1987-ops.github.io/TS-business-Plan-001/index.html?view=casebook&amp;case=AX04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"title": "Google 데이터센터 냉각",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"AI 기반 운영 최적화",</a:t>
            </a:r>
          </a:p>
          <a:p xmlns:a="http://schemas.openxmlformats.org/drawingml/2006/main">
            <a:r>
              <a:t>    "period": "2018 운영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"에너지",</a:t>
            </a:r>
          </a:p>
          <a:p xmlns:a="http://schemas.openxmlformats.org/drawingml/2006/main">
            <a:r>
              <a:t>      "친환경",</a:t>
            </a:r>
          </a:p>
          <a:p xmlns:a="http://schemas.openxmlformats.org/drawingml/2006/main">
            <a:r>
              <a:t>      "안전 제약",</a:t>
            </a:r>
          </a:p>
          <a:p xmlns:a="http://schemas.openxmlformats.org/drawingml/2006/main">
            <a:r>
              <a:t>      "운영"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"운영사 보고 기준 냉각 효율 지표(kW/ton)의 과거 기준 대비 약 30% 개선",</a:t>
            </a:r>
          </a:p>
          <a:p xmlns:a="http://schemas.openxmlformats.org/drawingml/2006/main">
            <a:r>
              <a:t>    "limit": "데이터센터 냉각 한정 · 총 전력·탄소·TS 절감률과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"센서 상태",</a:t>
            </a:r>
          </a:p>
          <a:p xmlns:a="http://schemas.openxmlformats.org/drawingml/2006/main">
            <a:r>
              <a:t>      "소비 예측",</a:t>
            </a:r>
          </a:p>
          <a:p xmlns:a="http://schemas.openxmlformats.org/drawingml/2006/main">
            <a:r>
              <a:t>      "안전 제약 확인",</a:t>
            </a:r>
          </a:p>
          <a:p xmlns:a="http://schemas.openxmlformats.org/drawingml/2006/main">
            <a:r>
              <a:t>      "현장 재검증·제어"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기술 구조 요약 · 운영자 수동 전환 포함",</a:t>
            </a:r>
          </a:p>
          <a:p xmlns:a="http://schemas.openxmlformats.org/drawingml/2006/main">
            <a:r>
              <a:t>    "lesson":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"원천·배출계수 판본 대사 / 계산 검증 / 권고 승인 / 계측",</a:t>
            </a:r>
          </a:p>
          <a:p xmlns:a="http://schemas.openxmlformats.org/drawingml/2006/main">
            <a:r>
              <a:t>    "test": "계수·단위·경계조건별 재계산 및 이상 입력 시 권고 보류",</a:t>
            </a:r>
          </a:p>
          <a:p xmlns:a="http://schemas.openxmlformats.org/drawingml/2006/main">
            <a:r>
              <a:t>    "metric": "검증된 활동량당 에너지 / 산식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"canonicalId": "AX05",</a:t>
            </a:r>
          </a:p>
          <a:p xmlns:a="http://schemas.openxmlformats.org/drawingml/2006/main">
            <a:r>
              <a:t>    "purpose": "냉각 설비의 에너지 효율과 안전 제약 결합",</a:t>
            </a:r>
          </a:p>
          <a:p xmlns:a="http://schemas.openxmlformats.org/drawingml/2006/main">
            <a:r>
              <a:t>    "users": "설비 운영자·제어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"상태 예측",</a:t>
            </a:r>
          </a:p>
          <a:p xmlns:a="http://schemas.openxmlformats.org/drawingml/2006/main">
            <a:r>
              <a:t>      "권고 검증",</a:t>
            </a:r>
          </a:p>
          <a:p xmlns:a="http://schemas.openxmlformats.org/drawingml/2006/main">
            <a:r>
              <a:t>      "현장 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"냉각 센서",</a:t>
            </a:r>
          </a:p>
          <a:p xmlns:a="http://schemas.openxmlformats.org/drawingml/2006/main">
            <a:r>
              <a:t>        "detail": "센서 상태·운영 제약 수집",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"상태 예측 / 권고 검증 / 현장 제어",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"예측·제약 최적화",</a:t>
            </a:r>
          </a:p>
          <a:p xmlns:a="http://schemas.openxmlformats.org/drawingml/2006/main">
            <a:r>
              <a:t>        "detail": "소비 예측과 허용 제어값 후보 산출",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"현장 제어기·운영자",</a:t>
            </a:r>
          </a:p>
          <a:p xmlns:a="http://schemas.openxmlformats.org/drawingml/2006/main">
            <a:r>
              <a:t>        "detail": "클라우드 검증 후 현장 제어계의 재검증",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"센서 이력·안전 경계",</a:t>
            </a:r>
          </a:p>
          <a:p xmlns:a="http://schemas.openxmlformats.org/drawingml/2006/main">
            <a:r>
              <a:t>        "detail": "시계열 센서·운전 상태·제약조건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"운영자 수동 전환 및 제어 결과의 다음 주기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"센서 상태",</a:t>
            </a:r>
          </a:p>
          <a:p xmlns:a="http://schemas.openxmlformats.org/drawingml/2006/main">
            <a:r>
              <a:t>        "input": "센서 상태·운영 제약 수집",</a:t>
            </a:r>
          </a:p>
          <a:p xmlns:a="http://schemas.openxmlformats.org/drawingml/2006/main">
            <a:r>
              <a:t>        "process": "시계열 센서·운전 상태·제약조건 정리",</a:t>
            </a:r>
          </a:p>
          <a:p xmlns:a="http://schemas.openxmlformats.org/drawingml/2006/main">
            <a:r>
              <a:t>        "output": "센서 스냅샷"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"소비 예측",</a:t>
            </a:r>
          </a:p>
          <a:p xmlns:a="http://schemas.openxmlformats.org/drawingml/2006/main">
            <a:r>
              <a:t>        "input": "센서 스냅샷",</a:t>
            </a:r>
          </a:p>
          <a:p xmlns:a="http://schemas.openxmlformats.org/drawingml/2006/main">
            <a:r>
              <a:t>        "process": "소비 예측과 허용 제어값 후보 산출",</a:t>
            </a:r>
          </a:p>
          <a:p xmlns:a="http://schemas.openxmlformats.org/drawingml/2006/main">
            <a:r>
              <a:t>        "output": "행동별 소비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제약 확인",</a:t>
            </a:r>
          </a:p>
          <a:p xmlns:a="http://schemas.openxmlformats.org/drawingml/2006/main">
            <a:r>
              <a:t>        "input": "행동별 소비 예측",</a:t>
            </a:r>
          </a:p>
          <a:p xmlns:a="http://schemas.openxmlformats.org/drawingml/2006/main">
            <a:r>
              <a:t>        "process": "현장 독립 검증·수동 전환",</a:t>
            </a:r>
          </a:p>
          <a:p xmlns:a="http://schemas.openxmlformats.org/drawingml/2006/main">
            <a:r>
              <a:t>        "output": "안전 조건 충족 명령"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재검증·제어",</a:t>
            </a:r>
          </a:p>
          <a:p xmlns:a="http://schemas.openxmlformats.org/drawingml/2006/main">
            <a:r>
              <a:t>        "input": "안전 조건 충족 명령",</a:t>
            </a:r>
          </a:p>
          <a:p xmlns:a="http://schemas.openxmlformats.org/drawingml/2006/main">
            <a:r>
              <a:t>        "process": "클라우드 검증 후 현장 제어계의 재검증",</a:t>
            </a:r>
          </a:p>
          <a:p xmlns:a="http://schemas.openxmlformats.org/drawingml/2006/main">
            <a:r>
              <a:t>        "output": "현장 검증·실행"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"현재 운전상태에서 허용범위 내 냉각 제어값 산출",</a:t>
            </a:r>
          </a:p>
          <a:p xmlns:a="http://schemas.openxmlformats.org/drawingml/2006/main">
            <a:r>
              <a:t>      "exception": "센서 결측·제어값 한계 초과·현장 검증 거부",</a:t>
            </a:r>
          </a:p>
          <a:p xmlns:a="http://schemas.openxmlformats.org/drawingml/2006/main">
            <a:r>
              <a:t>      "evidence": "제약별 통과/보류 결과와 수동 전환·제어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 운영자·제어 담당자",</a:t>
            </a:r>
          </a:p>
          <a:p xmlns:a="http://schemas.openxmlformats.org/drawingml/2006/main">
            <a:r>
              <a:t>          "processing": "센서 상태·운영 제약 수집",</a:t>
            </a:r>
          </a:p>
          <a:p xmlns:a="http://schemas.openxmlformats.org/drawingml/2006/main">
            <a:r>
              <a:t>          "output": "센서 스냅샷"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"센서 이력·안전 경계",</a:t>
            </a:r>
          </a:p>
          <a:p xmlns:a="http://schemas.openxmlformats.org/drawingml/2006/main">
            <a:r>
              <a:t>          "processing": "시계열 센서·운전 상태·제약조건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스냅샷",</a:t>
            </a:r>
          </a:p>
          <a:p xmlns:a="http://schemas.openxmlformats.org/drawingml/2006/main">
            <a:r>
              <a:t>          "processing": "소비 예측과 허용 제어값 후보 산출",</a:t>
            </a:r>
          </a:p>
          <a:p xmlns:a="http://schemas.openxmlformats.org/drawingml/2006/main">
            <a:r>
              <a:t>          "output": "안전 조건 충족 명령"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"안전 조건 충족 명령",</a:t>
            </a:r>
          </a:p>
          <a:p xmlns:a="http://schemas.openxmlformats.org/drawingml/2006/main">
            <a:r>
              <a:t>          "processing": "클라우드 검증 후 현장 제어계의 재검증",</a:t>
            </a:r>
          </a:p>
          <a:p xmlns:a="http://schemas.openxmlformats.org/drawingml/2006/main">
            <a:r>
              <a:t>          "output": "현장 검증·실행"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"운영자 수동 전환 및 제어 결과의 다음 주기 반영",</a:t>
            </a:r>
          </a:p>
          <a:p xmlns:a="http://schemas.openxmlformats.org/drawingml/2006/main">
            <a:r>
              <a:t>          "output":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"운영자 수동 전환 및 제어 결과의 다음 주기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"S05",</a:t>
            </a:r>
          </a:p>
          <a:p xmlns:a="http://schemas.openxmlformats.org/drawingml/2006/main">
            <a:r>
              <a:t>        "title": "Google DeepMind · 데이터센터 냉각 제어",</a:t>
            </a:r>
          </a:p>
          <a:p xmlns:a="http://schemas.openxmlformats.org/drawingml/2006/main">
            <a:r>
              <a:t>        "url": "https://deepmind.google/blog/safety-first-ai-for-autonomous-data-centre-cooling-and-industrial-control/",</a:t>
            </a:r>
          </a:p>
          <a:p xmlns:a="http://schemas.openxmlformats.org/drawingml/2006/main">
            <a:r>
              <a:t>        "published": "2018-08-17",</a:t>
            </a:r>
          </a:p>
          <a:p xmlns:a="http://schemas.openxmlformats.org/drawingml/2006/main">
            <a:r>
              <a:t>        "level": "운영·개발사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"데이터센터 냉각의 전력 효율과 설비 안전을 함께 다룬 제어 사례. 예측 결과를 화면에 보여주는 단계에서 실제 제어에 연결할 때 필요한 독립 안전검증이 핵심.",</a:t>
            </a:r>
          </a:p>
          <a:p xmlns:a="http://schemas.openxmlformats.org/drawingml/2006/main">
            <a:r>
              <a:t>      "센서 상태에서 제어 후보를 예측한 뒤 클라우드 측 검증과 현장 제어계 검증을 거쳐 실행하는 공개 구조. 운영자의 수동 전환과 허용 경계를 별도 계층으로 유지하고 실행 결과를 다음 주기 입력에 반영.",</a:t>
            </a:r>
          </a:p>
          <a:p xmlns:a="http://schemas.openxmlformats.org/drawingml/2006/main">
            <a:r>
              <a:t>      "TS 시설·장비 업무에 적용할 경우 AI 권고와 현장 실행 승인을 분리할 근거. 에너지 기준선은 계절·부하로 나누고, 센서 누락·경계 초과·통신 장애 시 안전 상태와 수동 복귀를 먼저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"냉각 상태 입력",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 운영자·제어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"운전·안전 경계",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"센서 상태·운영 제약 수집",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"센서 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스냅샷",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"소비·제어값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"소비 예측과 허용 제어값 후보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"클라우드 안전검증",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독립 검증·수동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독립 검증",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"현재 운전상태에서 허용범위 내 냉각 제어값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"제어·수동 전환",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"클라우드 검증 후 현장 제어계의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"다음 주기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"운영자 수동 전환 및 제어 결과의 다음 주기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"센서·운전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"센서 이력·안전 경계",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"시각·결측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"시계열 센서·운전 상태·제약조건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"상태·명령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"제약별 통과/보류 결과와 수동 전환·제어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"제어 허용경계",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"센서 결측·제어값 한계 초과·현장 검증 거부",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"센서 상태·운영 제약 수집",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스냅샷",</a:t>
            </a:r>
          </a:p>
          <a:p xmlns:a="http://schemas.openxmlformats.org/drawingml/2006/main">
            <a:r>
              <a:t>          "check": "현장 독립 검증·수동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"행동별 소비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"행동별 소비 예측·제어값 후보",</a:t>
            </a:r>
          </a:p>
          <a:p xmlns:a="http://schemas.openxmlformats.org/drawingml/2006/main">
            <a:r>
              <a:t>          "check": "센서 결측·제어값 한계 초과·현장 검증 거부"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"안전 조건 충족 명령",</a:t>
            </a:r>
          </a:p>
          <a:p xmlns:a="http://schemas.openxmlformats.org/drawingml/2006/main">
            <a:r>
              <a:t>          "check": "클라우드 검증 후 현장 제어계의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검증·실행",</a:t>
            </a:r>
          </a:p>
          <a:p xmlns:a="http://schemas.openxmlformats.org/drawingml/2006/main">
            <a:r>
              <a:t>          "check":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"DeepMind 2018-08-17 안전 제어 설명",</a:t>
            </a:r>
          </a:p>
          <a:p xmlns:a="http://schemas.openxmlformats.org/drawingml/2006/main">
            <a:r>
              <a:t>        "extracted": "클라우드와 현장 제어의 독립 안전검증·수동 전환",</a:t>
            </a:r>
          </a:p>
          <a:p xmlns:a="http://schemas.openxmlformats.org/drawingml/2006/main">
            <a:r>
              <a:t>        "extension": "누락 센서·경계 초과·수동 전환의 실패 재현"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"센서 결측·제어값 한계 초과·현장 검증 거부",</a:t>
            </a:r>
          </a:p>
          <a:p xmlns:a="http://schemas.openxmlformats.org/drawingml/2006/main">
            <a:r>
              <a:t>        "hold": "현장 독립 검증·수동 전환",</a:t>
            </a:r>
          </a:p>
          <a:p xmlns:a="http://schemas.openxmlformats.org/drawingml/2006/main">
            <a:r>
              <a:t>        "recovery": "운영자 수동 전환 및 제어 결과의 다음 주기 반영",</a:t>
            </a:r>
          </a:p>
          <a:p xmlns:a="http://schemas.openxmlformats.org/drawingml/2006/main">
            <a:r>
              <a:t>        "evidence": "제약별 통과/보류 결과와 수동 전환·제어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"센서 이력·안전 경계",</a:t>
            </a:r>
          </a:p>
          <a:p xmlns:a="http://schemas.openxmlformats.org/drawingml/2006/main">
            <a:r>
              <a:t>        "prepare": "시계열 센서·운전 상태·제약조건 정리",</a:t>
            </a:r>
          </a:p>
          <a:p xmlns:a="http://schemas.openxmlformats.org/drawingml/2006/main">
            <a:r>
              <a:t>        "output": "센서 스냅샷",</a:t>
            </a:r>
          </a:p>
          <a:p xmlns:a="http://schemas.openxmlformats.org/drawingml/2006/main">
            <a:r>
              <a:t>        "refresh": "운영자 수동 전환 및 제어 결과의 다음 주기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"클라우드·현장 제어의 이중 안전검증",</a:t>
            </a:r>
          </a:p>
          <a:p xmlns:a="http://schemas.openxmlformats.org/drawingml/2006/main">
            <a:r>
              <a:t>      "운영자 수동 전환과 불확실성 제한"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"계절·부하에 따른 기준선 변화",</a:t>
            </a:r>
          </a:p>
          <a:p xmlns:a="http://schemas.openxmlformats.org/drawingml/2006/main">
            <a:r>
              <a:t>      "안전 한계를 넓힐 때의 제어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"냉각 센서",</a:t>
            </a:r>
          </a:p>
          <a:p xmlns:a="http://schemas.openxmlformats.org/drawingml/2006/main">
            <a:r>
              <a:t>      "예측·제약 최적화",</a:t>
            </a:r>
          </a:p>
          <a:p xmlns:a="http://schemas.openxmlformats.org/drawingml/2006/main">
            <a:r>
              <a:t>      "센서 이력·안전 경계",</a:t>
            </a:r>
          </a:p>
          <a:p xmlns:a="http://schemas.openxmlformats.org/drawingml/2006/main">
            <a:r>
              <a:t>      "현장 제어기·운영자"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스냅샷",</a:t>
            </a:r>
          </a:p>
          <a:p xmlns:a="http://schemas.openxmlformats.org/drawingml/2006/main">
            <a:r>
              <a:t>      "행동별 소비 예측",</a:t>
            </a:r>
          </a:p>
          <a:p xmlns:a="http://schemas.openxmlformats.org/drawingml/2006/main">
            <a:r>
              <a:t>      "안전 조건 충족 명령",</a:t>
            </a:r>
          </a:p>
          <a:p xmlns:a="http://schemas.openxmlformats.org/drawingml/2006/main">
            <a:r>
              <a:t>      "현장 검증·실행"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독립 검증·수동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"DeepMind 안전 제어 구조 · 2018-08-17",</a:t>
            </a:r>
          </a:p>
          <a:p xmlns:a="http://schemas.openxmlformats.org/drawingml/2006/main">
            <a:r>
              <a:t>      "url": "https://deepmind.google/blog/safety-first-ai-for-autonomous-data-centre-cooling-and-industrial-control/"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DeepMind · 데이터센터 냉각 제어 https://deepmind.google/blog/safety-first-ai-for-autonomous-data-centre-cooling-and-industrial-control/</a:t>
            </a:r>
          </a:p>
          <a:p xmlns:a="http://schemas.openxmlformats.org/drawingml/2006/main">
            <a:r>
              <a:t>홈페이지 https://heen1987-ops.github.io/TS-business-Plan-001/index.html?view=casebook&amp;case=AX05</a:t>
            </a:r>
          </a:p>
          <a:p xmlns:a="http://schemas.openxmlformats.org/drawingml/2006/main">
            <a:r>
              <a:t>한계: 데이터센터 냉각 한정 · 총 전력·탄소·TS 절감률과 구분</a:t>
            </a:r>
          </a:p>
          <a:p xmlns:a="http://schemas.openxmlformats.org/drawingml/2006/main">
            <a:r>
              <a:t>실패 위험: 계절·부하에 따른 기준선 변화 / 안전 한계를 넓힐 때의 제어 위험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"title": "Google 데이터센터 냉각",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"AI 기반 운영 최적화",</a:t>
            </a:r>
          </a:p>
          <a:p xmlns:a="http://schemas.openxmlformats.org/drawingml/2006/main">
            <a:r>
              <a:t>    "period": "2018 운영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"에너지",</a:t>
            </a:r>
          </a:p>
          <a:p xmlns:a="http://schemas.openxmlformats.org/drawingml/2006/main">
            <a:r>
              <a:t>      "친환경",</a:t>
            </a:r>
          </a:p>
          <a:p xmlns:a="http://schemas.openxmlformats.org/drawingml/2006/main">
            <a:r>
              <a:t>      "안전 제약",</a:t>
            </a:r>
          </a:p>
          <a:p xmlns:a="http://schemas.openxmlformats.org/drawingml/2006/main">
            <a:r>
              <a:t>      "운영"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"운영사 보고 기준 냉각 효율 지표(kW/ton)의 과거 기준 대비 약 30% 개선",</a:t>
            </a:r>
          </a:p>
          <a:p xmlns:a="http://schemas.openxmlformats.org/drawingml/2006/main">
            <a:r>
              <a:t>    "limit": "데이터센터 냉각 한정 · 총 전력·탄소·TS 절감률과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"센서 상태",</a:t>
            </a:r>
          </a:p>
          <a:p xmlns:a="http://schemas.openxmlformats.org/drawingml/2006/main">
            <a:r>
              <a:t>      "소비 예측",</a:t>
            </a:r>
          </a:p>
          <a:p xmlns:a="http://schemas.openxmlformats.org/drawingml/2006/main">
            <a:r>
              <a:t>      "안전 제약 확인",</a:t>
            </a:r>
          </a:p>
          <a:p xmlns:a="http://schemas.openxmlformats.org/drawingml/2006/main">
            <a:r>
              <a:t>      "현장 재검증·제어"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기술 구조 요약 · 운영자 수동 전환 포함",</a:t>
            </a:r>
          </a:p>
          <a:p xmlns:a="http://schemas.openxmlformats.org/drawingml/2006/main">
            <a:r>
              <a:t>    "lesson":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"원천·배출계수 판본 대사 / 계산 검증 / 권고 승인 / 계측",</a:t>
            </a:r>
          </a:p>
          <a:p xmlns:a="http://schemas.openxmlformats.org/drawingml/2006/main">
            <a:r>
              <a:t>    "test": "계수·단위·경계조건별 재계산 및 이상 입력 시 권고 보류",</a:t>
            </a:r>
          </a:p>
          <a:p xmlns:a="http://schemas.openxmlformats.org/drawingml/2006/main">
            <a:r>
              <a:t>    "metric": "검증된 활동량당 에너지 / 산식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"canonicalId": "AX05",</a:t>
            </a:r>
          </a:p>
          <a:p xmlns:a="http://schemas.openxmlformats.org/drawingml/2006/main">
            <a:r>
              <a:t>    "purpose": "냉각 설비의 에너지 효율과 안전 제약 결합",</a:t>
            </a:r>
          </a:p>
          <a:p xmlns:a="http://schemas.openxmlformats.org/drawingml/2006/main">
            <a:r>
              <a:t>    "users": "설비 운영자·제어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"상태 예측",</a:t>
            </a:r>
          </a:p>
          <a:p xmlns:a="http://schemas.openxmlformats.org/drawingml/2006/main">
            <a:r>
              <a:t>      "권고 검증",</a:t>
            </a:r>
          </a:p>
          <a:p xmlns:a="http://schemas.openxmlformats.org/drawingml/2006/main">
            <a:r>
              <a:t>      "현장 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"냉각 센서",</a:t>
            </a:r>
          </a:p>
          <a:p xmlns:a="http://schemas.openxmlformats.org/drawingml/2006/main">
            <a:r>
              <a:t>        "detail": "센서 상태·운영 제약 수집",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"상태 예측 / 권고 검증 / 현장 제어",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"예측·제약 최적화",</a:t>
            </a:r>
          </a:p>
          <a:p xmlns:a="http://schemas.openxmlformats.org/drawingml/2006/main">
            <a:r>
              <a:t>        "detail": "소비 예측과 허용 제어값 후보 산출",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"현장 제어기·운영자",</a:t>
            </a:r>
          </a:p>
          <a:p xmlns:a="http://schemas.openxmlformats.org/drawingml/2006/main">
            <a:r>
              <a:t>        "detail": "클라우드 검증 후 현장 제어계의 재검증",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"센서 이력·안전 경계",</a:t>
            </a:r>
          </a:p>
          <a:p xmlns:a="http://schemas.openxmlformats.org/drawingml/2006/main">
            <a:r>
              <a:t>        "detail": "시계열 센서·운전 상태·제약조건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"운영자 수동 전환 및 제어 결과의 다음 주기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"센서 상태",</a:t>
            </a:r>
          </a:p>
          <a:p xmlns:a="http://schemas.openxmlformats.org/drawingml/2006/main">
            <a:r>
              <a:t>        "input": "센서 상태·운영 제약 수집",</a:t>
            </a:r>
          </a:p>
          <a:p xmlns:a="http://schemas.openxmlformats.org/drawingml/2006/main">
            <a:r>
              <a:t>        "process": "시계열 센서·운전 상태·제약조건 정리",</a:t>
            </a:r>
          </a:p>
          <a:p xmlns:a="http://schemas.openxmlformats.org/drawingml/2006/main">
            <a:r>
              <a:t>        "output": "센서 스냅샷"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"소비 예측",</a:t>
            </a:r>
          </a:p>
          <a:p xmlns:a="http://schemas.openxmlformats.org/drawingml/2006/main">
            <a:r>
              <a:t>        "input": "센서 스냅샷",</a:t>
            </a:r>
          </a:p>
          <a:p xmlns:a="http://schemas.openxmlformats.org/drawingml/2006/main">
            <a:r>
              <a:t>        "process": "소비 예측과 허용 제어값 후보 산출",</a:t>
            </a:r>
          </a:p>
          <a:p xmlns:a="http://schemas.openxmlformats.org/drawingml/2006/main">
            <a:r>
              <a:t>        "output": "행동별 소비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제약 확인",</a:t>
            </a:r>
          </a:p>
          <a:p xmlns:a="http://schemas.openxmlformats.org/drawingml/2006/main">
            <a:r>
              <a:t>        "input": "행동별 소비 예측",</a:t>
            </a:r>
          </a:p>
          <a:p xmlns:a="http://schemas.openxmlformats.org/drawingml/2006/main">
            <a:r>
              <a:t>        "process": "현장 독립 검증·수동 전환",</a:t>
            </a:r>
          </a:p>
          <a:p xmlns:a="http://schemas.openxmlformats.org/drawingml/2006/main">
            <a:r>
              <a:t>        "output": "안전 조건 충족 명령"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재검증·제어",</a:t>
            </a:r>
          </a:p>
          <a:p xmlns:a="http://schemas.openxmlformats.org/drawingml/2006/main">
            <a:r>
              <a:t>        "input": "안전 조건 충족 명령",</a:t>
            </a:r>
          </a:p>
          <a:p xmlns:a="http://schemas.openxmlformats.org/drawingml/2006/main">
            <a:r>
              <a:t>        "process": "클라우드 검증 후 현장 제어계의 재검증",</a:t>
            </a:r>
          </a:p>
          <a:p xmlns:a="http://schemas.openxmlformats.org/drawingml/2006/main">
            <a:r>
              <a:t>        "output": "현장 검증·실행"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"현재 운전상태에서 허용범위 내 냉각 제어값 산출",</a:t>
            </a:r>
          </a:p>
          <a:p xmlns:a="http://schemas.openxmlformats.org/drawingml/2006/main">
            <a:r>
              <a:t>      "exception": "센서 결측·제어값 한계 초과·현장 검증 거부",</a:t>
            </a:r>
          </a:p>
          <a:p xmlns:a="http://schemas.openxmlformats.org/drawingml/2006/main">
            <a:r>
              <a:t>      "evidence": "제약별 통과/보류 결과와 수동 전환·제어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 운영자·제어 담당자",</a:t>
            </a:r>
          </a:p>
          <a:p xmlns:a="http://schemas.openxmlformats.org/drawingml/2006/main">
            <a:r>
              <a:t>          "processing": "센서 상태·운영 제약 수집",</a:t>
            </a:r>
          </a:p>
          <a:p xmlns:a="http://schemas.openxmlformats.org/drawingml/2006/main">
            <a:r>
              <a:t>          "output": "센서 스냅샷"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"센서 이력·안전 경계",</a:t>
            </a:r>
          </a:p>
          <a:p xmlns:a="http://schemas.openxmlformats.org/drawingml/2006/main">
            <a:r>
              <a:t>          "processing": "시계열 센서·운전 상태·제약조건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스냅샷",</a:t>
            </a:r>
          </a:p>
          <a:p xmlns:a="http://schemas.openxmlformats.org/drawingml/2006/main">
            <a:r>
              <a:t>          "processing": "소비 예측과 허용 제어값 후보 산출",</a:t>
            </a:r>
          </a:p>
          <a:p xmlns:a="http://schemas.openxmlformats.org/drawingml/2006/main">
            <a:r>
              <a:t>          "output": "안전 조건 충족 명령"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"안전 조건 충족 명령",</a:t>
            </a:r>
          </a:p>
          <a:p xmlns:a="http://schemas.openxmlformats.org/drawingml/2006/main">
            <a:r>
              <a:t>          "processing": "클라우드 검증 후 현장 제어계의 재검증",</a:t>
            </a:r>
          </a:p>
          <a:p xmlns:a="http://schemas.openxmlformats.org/drawingml/2006/main">
            <a:r>
              <a:t>          "output": "현장 검증·실행"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"운영자 수동 전환 및 제어 결과의 다음 주기 반영",</a:t>
            </a:r>
          </a:p>
          <a:p xmlns:a="http://schemas.openxmlformats.org/drawingml/2006/main">
            <a:r>
              <a:t>          "output":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"운영자 수동 전환 및 제어 결과의 다음 주기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"S05",</a:t>
            </a:r>
          </a:p>
          <a:p xmlns:a="http://schemas.openxmlformats.org/drawingml/2006/main">
            <a:r>
              <a:t>        "title": "Google DeepMind · 데이터센터 냉각 제어",</a:t>
            </a:r>
          </a:p>
          <a:p xmlns:a="http://schemas.openxmlformats.org/drawingml/2006/main">
            <a:r>
              <a:t>        "url": "https://deepmind.google/blog/safety-first-ai-for-autonomous-data-centre-cooling-and-industrial-control/",</a:t>
            </a:r>
          </a:p>
          <a:p xmlns:a="http://schemas.openxmlformats.org/drawingml/2006/main">
            <a:r>
              <a:t>        "published": "2018-08-17",</a:t>
            </a:r>
          </a:p>
          <a:p xmlns:a="http://schemas.openxmlformats.org/drawingml/2006/main">
            <a:r>
              <a:t>        "level": "운영·개발사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"데이터센터 냉각의 전력 효율과 설비 안전을 함께 다룬 제어 사례. 예측 결과를 화면에 보여주는 단계에서 실제 제어에 연결할 때 필요한 독립 안전검증이 핵심.",</a:t>
            </a:r>
          </a:p>
          <a:p xmlns:a="http://schemas.openxmlformats.org/drawingml/2006/main">
            <a:r>
              <a:t>      "센서 상태에서 제어 후보를 예측한 뒤 클라우드 측 검증과 현장 제어계 검증을 거쳐 실행하는 공개 구조. 운영자의 수동 전환과 허용 경계를 별도 계층으로 유지하고 실행 결과를 다음 주기 입력에 반영.",</a:t>
            </a:r>
          </a:p>
          <a:p xmlns:a="http://schemas.openxmlformats.org/drawingml/2006/main">
            <a:r>
              <a:t>      "TS 시설·장비 업무에 적용할 경우 AI 권고와 현장 실행 승인을 분리할 근거. 에너지 기준선은 계절·부하로 나누고, 센서 누락·경계 초과·통신 장애 시 안전 상태와 수동 복귀를 먼저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"냉각 상태 입력",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 운영자·제어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"운전·안전 경계",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"센서 상태·운영 제약 수집",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"센서 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스냅샷",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"소비·제어값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"소비 예측과 허용 제어값 후보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"클라우드 안전검증",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독립 검증·수동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독립 검증",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"현재 운전상태에서 허용범위 내 냉각 제어값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"제어·수동 전환",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"클라우드 검증 후 현장 제어계의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"다음 주기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"운영자 수동 전환 및 제어 결과의 다음 주기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"센서·운전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"센서 이력·안전 경계",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"시각·결측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"시계열 센서·운전 상태·제약조건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"상태·명령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"제약별 통과/보류 결과와 수동 전환·제어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"제어 허용경계",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"센서 결측·제어값 한계 초과·현장 검증 거부",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"센서 상태·운영 제약 수집",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스냅샷",</a:t>
            </a:r>
          </a:p>
          <a:p xmlns:a="http://schemas.openxmlformats.org/drawingml/2006/main">
            <a:r>
              <a:t>          "check": "현장 독립 검증·수동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"행동별 소비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"행동별 소비 예측·제어값 후보",</a:t>
            </a:r>
          </a:p>
          <a:p xmlns:a="http://schemas.openxmlformats.org/drawingml/2006/main">
            <a:r>
              <a:t>          "check": "센서 결측·제어값 한계 초과·현장 검증 거부"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"안전 조건 충족 명령",</a:t>
            </a:r>
          </a:p>
          <a:p xmlns:a="http://schemas.openxmlformats.org/drawingml/2006/main">
            <a:r>
              <a:t>          "check": "클라우드 검증 후 현장 제어계의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검증·실행",</a:t>
            </a:r>
          </a:p>
          <a:p xmlns:a="http://schemas.openxmlformats.org/drawingml/2006/main">
            <a:r>
              <a:t>          "check":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"DeepMind 2018-08-17 안전 제어 설명",</a:t>
            </a:r>
          </a:p>
          <a:p xmlns:a="http://schemas.openxmlformats.org/drawingml/2006/main">
            <a:r>
              <a:t>        "extracted": "클라우드와 현장 제어의 독립 안전검증·수동 전환",</a:t>
            </a:r>
          </a:p>
          <a:p xmlns:a="http://schemas.openxmlformats.org/drawingml/2006/main">
            <a:r>
              <a:t>        "extension": "누락 센서·경계 초과·수동 전환의 실패 재현"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"센서 결측·제어값 한계 초과·현장 검증 거부",</a:t>
            </a:r>
          </a:p>
          <a:p xmlns:a="http://schemas.openxmlformats.org/drawingml/2006/main">
            <a:r>
              <a:t>        "hold": "현장 독립 검증·수동 전환",</a:t>
            </a:r>
          </a:p>
          <a:p xmlns:a="http://schemas.openxmlformats.org/drawingml/2006/main">
            <a:r>
              <a:t>        "recovery": "운영자 수동 전환 및 제어 결과의 다음 주기 반영",</a:t>
            </a:r>
          </a:p>
          <a:p xmlns:a="http://schemas.openxmlformats.org/drawingml/2006/main">
            <a:r>
              <a:t>        "evidence": "제약별 통과/보류 결과와 수동 전환·제어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"센서 이력·안전 경계",</a:t>
            </a:r>
          </a:p>
          <a:p xmlns:a="http://schemas.openxmlformats.org/drawingml/2006/main">
            <a:r>
              <a:t>        "prepare": "시계열 센서·운전 상태·제약조건 정리",</a:t>
            </a:r>
          </a:p>
          <a:p xmlns:a="http://schemas.openxmlformats.org/drawingml/2006/main">
            <a:r>
              <a:t>        "output": "센서 스냅샷",</a:t>
            </a:r>
          </a:p>
          <a:p xmlns:a="http://schemas.openxmlformats.org/drawingml/2006/main">
            <a:r>
              <a:t>        "refresh": "운영자 수동 전환 및 제어 결과의 다음 주기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"클라우드·현장 제어의 이중 안전검증",</a:t>
            </a:r>
          </a:p>
          <a:p xmlns:a="http://schemas.openxmlformats.org/drawingml/2006/main">
            <a:r>
              <a:t>      "운영자 수동 전환과 불확실성 제한"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"계절·부하에 따른 기준선 변화",</a:t>
            </a:r>
          </a:p>
          <a:p xmlns:a="http://schemas.openxmlformats.org/drawingml/2006/main">
            <a:r>
              <a:t>      "안전 한계를 넓힐 때의 제어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"냉각 센서",</a:t>
            </a:r>
          </a:p>
          <a:p xmlns:a="http://schemas.openxmlformats.org/drawingml/2006/main">
            <a:r>
              <a:t>      "예측·제약 최적화",</a:t>
            </a:r>
          </a:p>
          <a:p xmlns:a="http://schemas.openxmlformats.org/drawingml/2006/main">
            <a:r>
              <a:t>      "센서 이력·안전 경계",</a:t>
            </a:r>
          </a:p>
          <a:p xmlns:a="http://schemas.openxmlformats.org/drawingml/2006/main">
            <a:r>
              <a:t>      "현장 제어기·운영자"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스냅샷",</a:t>
            </a:r>
          </a:p>
          <a:p xmlns:a="http://schemas.openxmlformats.org/drawingml/2006/main">
            <a:r>
              <a:t>      "행동별 소비 예측",</a:t>
            </a:r>
          </a:p>
          <a:p xmlns:a="http://schemas.openxmlformats.org/drawingml/2006/main">
            <a:r>
              <a:t>      "안전 조건 충족 명령",</a:t>
            </a:r>
          </a:p>
          <a:p xmlns:a="http://schemas.openxmlformats.org/drawingml/2006/main">
            <a:r>
              <a:t>      "현장 검증·실행"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독립 검증·수동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"DeepMind 안전 제어 구조 · 2018-08-17",</a:t>
            </a:r>
          </a:p>
          <a:p xmlns:a="http://schemas.openxmlformats.org/drawingml/2006/main">
            <a:r>
              <a:t>      "url": "https://deepmind.google/blog/safety-first-ai-for-autonomous-data-centre-cooling-and-industrial-control/"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DeepMind · 데이터센터 냉각 제어 https://deepmind.google/blog/safety-first-ai-for-autonomous-data-centre-cooling-and-industrial-control/</a:t>
            </a:r>
          </a:p>
          <a:p xmlns:a="http://schemas.openxmlformats.org/drawingml/2006/main">
            <a:r>
              <a:t>홈페이지 https://heen1987-ops.github.io/TS-business-Plan-001/index.html?view=casebook&amp;case=AX05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"title": "Google 데이터센터 냉각",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"AI 기반 운영 최적화",</a:t>
            </a:r>
          </a:p>
          <a:p xmlns:a="http://schemas.openxmlformats.org/drawingml/2006/main">
            <a:r>
              <a:t>    "period": "2018 운영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"에너지",</a:t>
            </a:r>
          </a:p>
          <a:p xmlns:a="http://schemas.openxmlformats.org/drawingml/2006/main">
            <a:r>
              <a:t>      "친환경",</a:t>
            </a:r>
          </a:p>
          <a:p xmlns:a="http://schemas.openxmlformats.org/drawingml/2006/main">
            <a:r>
              <a:t>      "안전 제약",</a:t>
            </a:r>
          </a:p>
          <a:p xmlns:a="http://schemas.openxmlformats.org/drawingml/2006/main">
            <a:r>
              <a:t>      "운영"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"운영사 보고 기준 냉각 효율 지표(kW/ton)의 과거 기준 대비 약 30% 개선",</a:t>
            </a:r>
          </a:p>
          <a:p xmlns:a="http://schemas.openxmlformats.org/drawingml/2006/main">
            <a:r>
              <a:t>    "limit": "데이터센터 냉각 한정 · 총 전력·탄소·TS 절감률과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"센서 상태",</a:t>
            </a:r>
          </a:p>
          <a:p xmlns:a="http://schemas.openxmlformats.org/drawingml/2006/main">
            <a:r>
              <a:t>      "소비 예측",</a:t>
            </a:r>
          </a:p>
          <a:p xmlns:a="http://schemas.openxmlformats.org/drawingml/2006/main">
            <a:r>
              <a:t>      "안전 제약 확인",</a:t>
            </a:r>
          </a:p>
          <a:p xmlns:a="http://schemas.openxmlformats.org/drawingml/2006/main">
            <a:r>
              <a:t>      "현장 재검증·제어"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기술 구조 요약 · 운영자 수동 전환 포함",</a:t>
            </a:r>
          </a:p>
          <a:p xmlns:a="http://schemas.openxmlformats.org/drawingml/2006/main">
            <a:r>
              <a:t>    "lesson":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"원천·배출계수 판본 대사 / 계산 검증 / 권고 승인 / 계측",</a:t>
            </a:r>
          </a:p>
          <a:p xmlns:a="http://schemas.openxmlformats.org/drawingml/2006/main">
            <a:r>
              <a:t>    "test": "계수·단위·경계조건별 재계산 및 이상 입력 시 권고 보류",</a:t>
            </a:r>
          </a:p>
          <a:p xmlns:a="http://schemas.openxmlformats.org/drawingml/2006/main">
            <a:r>
              <a:t>    "metric": "검증된 활동량당 에너지 / 산식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"canonicalId": "AX05",</a:t>
            </a:r>
          </a:p>
          <a:p xmlns:a="http://schemas.openxmlformats.org/drawingml/2006/main">
            <a:r>
              <a:t>    "purpose": "냉각 설비의 에너지 효율과 안전 제약 결합",</a:t>
            </a:r>
          </a:p>
          <a:p xmlns:a="http://schemas.openxmlformats.org/drawingml/2006/main">
            <a:r>
              <a:t>    "users": "설비 운영자·제어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"상태 예측",</a:t>
            </a:r>
          </a:p>
          <a:p xmlns:a="http://schemas.openxmlformats.org/drawingml/2006/main">
            <a:r>
              <a:t>      "권고 검증",</a:t>
            </a:r>
          </a:p>
          <a:p xmlns:a="http://schemas.openxmlformats.org/drawingml/2006/main">
            <a:r>
              <a:t>      "현장 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"냉각 센서",</a:t>
            </a:r>
          </a:p>
          <a:p xmlns:a="http://schemas.openxmlformats.org/drawingml/2006/main">
            <a:r>
              <a:t>        "detail": "센서 상태·운영 제약 수집",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"상태 예측 / 권고 검증 / 현장 제어",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"예측·제약 최적화",</a:t>
            </a:r>
          </a:p>
          <a:p xmlns:a="http://schemas.openxmlformats.org/drawingml/2006/main">
            <a:r>
              <a:t>        "detail": "소비 예측과 허용 제어값 후보 산출",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"현장 제어기·운영자",</a:t>
            </a:r>
          </a:p>
          <a:p xmlns:a="http://schemas.openxmlformats.org/drawingml/2006/main">
            <a:r>
              <a:t>        "detail": "클라우드 검증 후 현장 제어계의 재검증",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"센서 이력·안전 경계",</a:t>
            </a:r>
          </a:p>
          <a:p xmlns:a="http://schemas.openxmlformats.org/drawingml/2006/main">
            <a:r>
              <a:t>        "detail": "시계열 센서·운전 상태·제약조건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"운영자 수동 전환 및 제어 결과의 다음 주기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"센서 상태",</a:t>
            </a:r>
          </a:p>
          <a:p xmlns:a="http://schemas.openxmlformats.org/drawingml/2006/main">
            <a:r>
              <a:t>        "input": "센서 상태·운영 제약 수집",</a:t>
            </a:r>
          </a:p>
          <a:p xmlns:a="http://schemas.openxmlformats.org/drawingml/2006/main">
            <a:r>
              <a:t>        "process": "시계열 센서·운전 상태·제약조건 정리",</a:t>
            </a:r>
          </a:p>
          <a:p xmlns:a="http://schemas.openxmlformats.org/drawingml/2006/main">
            <a:r>
              <a:t>        "output": "센서 스냅샷"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"소비 예측",</a:t>
            </a:r>
          </a:p>
          <a:p xmlns:a="http://schemas.openxmlformats.org/drawingml/2006/main">
            <a:r>
              <a:t>        "input": "센서 스냅샷",</a:t>
            </a:r>
          </a:p>
          <a:p xmlns:a="http://schemas.openxmlformats.org/drawingml/2006/main">
            <a:r>
              <a:t>        "process": "소비 예측과 허용 제어값 후보 산출",</a:t>
            </a:r>
          </a:p>
          <a:p xmlns:a="http://schemas.openxmlformats.org/drawingml/2006/main">
            <a:r>
              <a:t>        "output": "행동별 소비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제약 확인",</a:t>
            </a:r>
          </a:p>
          <a:p xmlns:a="http://schemas.openxmlformats.org/drawingml/2006/main">
            <a:r>
              <a:t>        "input": "행동별 소비 예측",</a:t>
            </a:r>
          </a:p>
          <a:p xmlns:a="http://schemas.openxmlformats.org/drawingml/2006/main">
            <a:r>
              <a:t>        "process": "현장 독립 검증·수동 전환",</a:t>
            </a:r>
          </a:p>
          <a:p xmlns:a="http://schemas.openxmlformats.org/drawingml/2006/main">
            <a:r>
              <a:t>        "output": "안전 조건 충족 명령"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재검증·제어",</a:t>
            </a:r>
          </a:p>
          <a:p xmlns:a="http://schemas.openxmlformats.org/drawingml/2006/main">
            <a:r>
              <a:t>        "input": "안전 조건 충족 명령",</a:t>
            </a:r>
          </a:p>
          <a:p xmlns:a="http://schemas.openxmlformats.org/drawingml/2006/main">
            <a:r>
              <a:t>        "process": "클라우드 검증 후 현장 제어계의 재검증",</a:t>
            </a:r>
          </a:p>
          <a:p xmlns:a="http://schemas.openxmlformats.org/drawingml/2006/main">
            <a:r>
              <a:t>        "output": "현장 검증·실행"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"현재 운전상태에서 허용범위 내 냉각 제어값 산출",</a:t>
            </a:r>
          </a:p>
          <a:p xmlns:a="http://schemas.openxmlformats.org/drawingml/2006/main">
            <a:r>
              <a:t>      "exception": "센서 결측·제어값 한계 초과·현장 검증 거부",</a:t>
            </a:r>
          </a:p>
          <a:p xmlns:a="http://schemas.openxmlformats.org/drawingml/2006/main">
            <a:r>
              <a:t>      "evidence": "제약별 통과/보류 결과와 수동 전환·제어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 운영자·제어 담당자",</a:t>
            </a:r>
          </a:p>
          <a:p xmlns:a="http://schemas.openxmlformats.org/drawingml/2006/main">
            <a:r>
              <a:t>          "processing": "센서 상태·운영 제약 수집",</a:t>
            </a:r>
          </a:p>
          <a:p xmlns:a="http://schemas.openxmlformats.org/drawingml/2006/main">
            <a:r>
              <a:t>          "output": "센서 스냅샷"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"센서 이력·안전 경계",</a:t>
            </a:r>
          </a:p>
          <a:p xmlns:a="http://schemas.openxmlformats.org/drawingml/2006/main">
            <a:r>
              <a:t>          "processing": "시계열 센서·운전 상태·제약조건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스냅샷",</a:t>
            </a:r>
          </a:p>
          <a:p xmlns:a="http://schemas.openxmlformats.org/drawingml/2006/main">
            <a:r>
              <a:t>          "processing": "소비 예측과 허용 제어값 후보 산출",</a:t>
            </a:r>
          </a:p>
          <a:p xmlns:a="http://schemas.openxmlformats.org/drawingml/2006/main">
            <a:r>
              <a:t>          "output": "안전 조건 충족 명령"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"안전 조건 충족 명령",</a:t>
            </a:r>
          </a:p>
          <a:p xmlns:a="http://schemas.openxmlformats.org/drawingml/2006/main">
            <a:r>
              <a:t>          "processing": "클라우드 검증 후 현장 제어계의 재검증",</a:t>
            </a:r>
          </a:p>
          <a:p xmlns:a="http://schemas.openxmlformats.org/drawingml/2006/main">
            <a:r>
              <a:t>          "output": "현장 검증·실행"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"운영자 수동 전환 및 제어 결과의 다음 주기 반영",</a:t>
            </a:r>
          </a:p>
          <a:p xmlns:a="http://schemas.openxmlformats.org/drawingml/2006/main">
            <a:r>
              <a:t>          "output":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"운영자 수동 전환 및 제어 결과의 다음 주기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"S05",</a:t>
            </a:r>
          </a:p>
          <a:p xmlns:a="http://schemas.openxmlformats.org/drawingml/2006/main">
            <a:r>
              <a:t>        "title": "Google DeepMind · 데이터센터 냉각 제어",</a:t>
            </a:r>
          </a:p>
          <a:p xmlns:a="http://schemas.openxmlformats.org/drawingml/2006/main">
            <a:r>
              <a:t>        "url": "https://deepmind.google/blog/safety-first-ai-for-autonomous-data-centre-cooling-and-industrial-control/",</a:t>
            </a:r>
          </a:p>
          <a:p xmlns:a="http://schemas.openxmlformats.org/drawingml/2006/main">
            <a:r>
              <a:t>        "published": "2018-08-17",</a:t>
            </a:r>
          </a:p>
          <a:p xmlns:a="http://schemas.openxmlformats.org/drawingml/2006/main">
            <a:r>
              <a:t>        "level": "운영·개발사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"데이터센터 냉각의 전력 효율과 설비 안전을 함께 다룬 제어 사례. 예측 결과를 화면에 보여주는 단계에서 실제 제어에 연결할 때 필요한 독립 안전검증이 핵심.",</a:t>
            </a:r>
          </a:p>
          <a:p xmlns:a="http://schemas.openxmlformats.org/drawingml/2006/main">
            <a:r>
              <a:t>      "센서 상태에서 제어 후보를 예측한 뒤 클라우드 측 검증과 현장 제어계 검증을 거쳐 실행하는 공개 구조. 운영자의 수동 전환과 허용 경계를 별도 계층으로 유지하고 실행 결과를 다음 주기 입력에 반영.",</a:t>
            </a:r>
          </a:p>
          <a:p xmlns:a="http://schemas.openxmlformats.org/drawingml/2006/main">
            <a:r>
              <a:t>      "TS 시설·장비 업무에 적용할 경우 AI 권고와 현장 실행 승인을 분리할 근거. 에너지 기준선은 계절·부하로 나누고, 센서 누락·경계 초과·통신 장애 시 안전 상태와 수동 복귀를 먼저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"냉각 상태 입력",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 운영자·제어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"운전·안전 경계",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"센서 상태·운영 제약 수집",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"센서 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스냅샷",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"소비·제어값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"소비 예측과 허용 제어값 후보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"클라우드 안전검증",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독립 검증·수동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독립 검증",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"현재 운전상태에서 허용범위 내 냉각 제어값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"제어·수동 전환",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"클라우드 검증 후 현장 제어계의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"다음 주기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"운영자 수동 전환 및 제어 결과의 다음 주기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"센서·운전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"센서 이력·안전 경계",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"시각·결측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"시계열 센서·운전 상태·제약조건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"상태·명령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"제약별 통과/보류 결과와 수동 전환·제어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"제어 허용경계",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"센서 결측·제어값 한계 초과·현장 검증 거부",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"센서 상태·운영 제약 수집",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스냅샷",</a:t>
            </a:r>
          </a:p>
          <a:p xmlns:a="http://schemas.openxmlformats.org/drawingml/2006/main">
            <a:r>
              <a:t>          "check": "현장 독립 검증·수동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"행동별 소비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"행동별 소비 예측·제어값 후보",</a:t>
            </a:r>
          </a:p>
          <a:p xmlns:a="http://schemas.openxmlformats.org/drawingml/2006/main">
            <a:r>
              <a:t>          "check": "센서 결측·제어값 한계 초과·현장 검증 거부"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"안전 조건 충족 명령",</a:t>
            </a:r>
          </a:p>
          <a:p xmlns:a="http://schemas.openxmlformats.org/drawingml/2006/main">
            <a:r>
              <a:t>          "check": "클라우드 검증 후 현장 제어계의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검증·실행",</a:t>
            </a:r>
          </a:p>
          <a:p xmlns:a="http://schemas.openxmlformats.org/drawingml/2006/main">
            <a:r>
              <a:t>          "check":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"DeepMind 2018-08-17 안전 제어 설명",</a:t>
            </a:r>
          </a:p>
          <a:p xmlns:a="http://schemas.openxmlformats.org/drawingml/2006/main">
            <a:r>
              <a:t>        "extracted": "클라우드와 현장 제어의 독립 안전검증·수동 전환",</a:t>
            </a:r>
          </a:p>
          <a:p xmlns:a="http://schemas.openxmlformats.org/drawingml/2006/main">
            <a:r>
              <a:t>        "extension": "누락 센서·경계 초과·수동 전환의 실패 재현"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"센서 결측·제어값 한계 초과·현장 검증 거부",</a:t>
            </a:r>
          </a:p>
          <a:p xmlns:a="http://schemas.openxmlformats.org/drawingml/2006/main">
            <a:r>
              <a:t>        "hold": "현장 독립 검증·수동 전환",</a:t>
            </a:r>
          </a:p>
          <a:p xmlns:a="http://schemas.openxmlformats.org/drawingml/2006/main">
            <a:r>
              <a:t>        "recovery": "운영자 수동 전환 및 제어 결과의 다음 주기 반영",</a:t>
            </a:r>
          </a:p>
          <a:p xmlns:a="http://schemas.openxmlformats.org/drawingml/2006/main">
            <a:r>
              <a:t>        "evidence": "제약별 통과/보류 결과와 수동 전환·제어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"센서 이력·안전 경계",</a:t>
            </a:r>
          </a:p>
          <a:p xmlns:a="http://schemas.openxmlformats.org/drawingml/2006/main">
            <a:r>
              <a:t>        "prepare": "시계열 센서·운전 상태·제약조건 정리",</a:t>
            </a:r>
          </a:p>
          <a:p xmlns:a="http://schemas.openxmlformats.org/drawingml/2006/main">
            <a:r>
              <a:t>        "output": "센서 스냅샷",</a:t>
            </a:r>
          </a:p>
          <a:p xmlns:a="http://schemas.openxmlformats.org/drawingml/2006/main">
            <a:r>
              <a:t>        "refresh": "운영자 수동 전환 및 제어 결과의 다음 주기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"클라우드·현장 제어의 이중 안전검증",</a:t>
            </a:r>
          </a:p>
          <a:p xmlns:a="http://schemas.openxmlformats.org/drawingml/2006/main">
            <a:r>
              <a:t>      "운영자 수동 전환과 불확실성 제한"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"계절·부하에 따른 기준선 변화",</a:t>
            </a:r>
          </a:p>
          <a:p xmlns:a="http://schemas.openxmlformats.org/drawingml/2006/main">
            <a:r>
              <a:t>      "안전 한계를 넓힐 때의 제어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"냉각 센서",</a:t>
            </a:r>
          </a:p>
          <a:p xmlns:a="http://schemas.openxmlformats.org/drawingml/2006/main">
            <a:r>
              <a:t>      "예측·제약 최적화",</a:t>
            </a:r>
          </a:p>
          <a:p xmlns:a="http://schemas.openxmlformats.org/drawingml/2006/main">
            <a:r>
              <a:t>      "센서 이력·안전 경계",</a:t>
            </a:r>
          </a:p>
          <a:p xmlns:a="http://schemas.openxmlformats.org/drawingml/2006/main">
            <a:r>
              <a:t>      "현장 제어기·운영자"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스냅샷",</a:t>
            </a:r>
          </a:p>
          <a:p xmlns:a="http://schemas.openxmlformats.org/drawingml/2006/main">
            <a:r>
              <a:t>      "행동별 소비 예측",</a:t>
            </a:r>
          </a:p>
          <a:p xmlns:a="http://schemas.openxmlformats.org/drawingml/2006/main">
            <a:r>
              <a:t>      "안전 조건 충족 명령",</a:t>
            </a:r>
          </a:p>
          <a:p xmlns:a="http://schemas.openxmlformats.org/drawingml/2006/main">
            <a:r>
              <a:t>      "현장 검증·실행"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독립 검증·수동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"DeepMind 안전 제어 구조 · 2018-08-17",</a:t>
            </a:r>
          </a:p>
          <a:p xmlns:a="http://schemas.openxmlformats.org/drawingml/2006/main">
            <a:r>
              <a:t>      "url": "https://deepmind.google/blog/safety-first-ai-for-autonomous-data-centre-cooling-and-industrial-control/"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DeepMind · 데이터센터 냉각 제어 https://deepmind.google/blog/safety-first-ai-for-autonomous-data-centre-cooling-and-industrial-control/</a:t>
            </a:r>
          </a:p>
          <a:p xmlns:a="http://schemas.openxmlformats.org/drawingml/2006/main">
            <a:r>
              <a:t>홈페이지 https://heen1987-ops.github.io/TS-business-Plan-001/index.html?view=casebook&amp;case=AX05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"title": "Google 데이터센터 냉각",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"AI 기반 운영 최적화",</a:t>
            </a:r>
          </a:p>
          <a:p xmlns:a="http://schemas.openxmlformats.org/drawingml/2006/main">
            <a:r>
              <a:t>    "period": "2018 운영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"에너지",</a:t>
            </a:r>
          </a:p>
          <a:p xmlns:a="http://schemas.openxmlformats.org/drawingml/2006/main">
            <a:r>
              <a:t>      "친환경",</a:t>
            </a:r>
          </a:p>
          <a:p xmlns:a="http://schemas.openxmlformats.org/drawingml/2006/main">
            <a:r>
              <a:t>      "안전 제약",</a:t>
            </a:r>
          </a:p>
          <a:p xmlns:a="http://schemas.openxmlformats.org/drawingml/2006/main">
            <a:r>
              <a:t>      "운영"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"운영사 보고 기준 냉각 효율 지표(kW/ton)의 과거 기준 대비 약 30% 개선",</a:t>
            </a:r>
          </a:p>
          <a:p xmlns:a="http://schemas.openxmlformats.org/drawingml/2006/main">
            <a:r>
              <a:t>    "limit": "데이터센터 냉각 한정 · 총 전력·탄소·TS 절감률과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"센서 상태",</a:t>
            </a:r>
          </a:p>
          <a:p xmlns:a="http://schemas.openxmlformats.org/drawingml/2006/main">
            <a:r>
              <a:t>      "소비 예측",</a:t>
            </a:r>
          </a:p>
          <a:p xmlns:a="http://schemas.openxmlformats.org/drawingml/2006/main">
            <a:r>
              <a:t>      "안전 제약 확인",</a:t>
            </a:r>
          </a:p>
          <a:p xmlns:a="http://schemas.openxmlformats.org/drawingml/2006/main">
            <a:r>
              <a:t>      "현장 재검증·제어"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기술 구조 요약 · 운영자 수동 전환 포함",</a:t>
            </a:r>
          </a:p>
          <a:p xmlns:a="http://schemas.openxmlformats.org/drawingml/2006/main">
            <a:r>
              <a:t>    "lesson":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"원천·배출계수 판본 대사 / 계산 검증 / 권고 승인 / 계측",</a:t>
            </a:r>
          </a:p>
          <a:p xmlns:a="http://schemas.openxmlformats.org/drawingml/2006/main">
            <a:r>
              <a:t>    "test": "계수·단위·경계조건별 재계산 및 이상 입력 시 권고 보류",</a:t>
            </a:r>
          </a:p>
          <a:p xmlns:a="http://schemas.openxmlformats.org/drawingml/2006/main">
            <a:r>
              <a:t>    "metric": "검증된 활동량당 에너지 / 산식 오류율"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"canonicalId": "AX05",</a:t>
            </a:r>
          </a:p>
          <a:p xmlns:a="http://schemas.openxmlformats.org/drawingml/2006/main">
            <a:r>
              <a:t>    "purpose": "냉각 설비의 에너지 효율과 안전 제약 결합",</a:t>
            </a:r>
          </a:p>
          <a:p xmlns:a="http://schemas.openxmlformats.org/drawingml/2006/main">
            <a:r>
              <a:t>    "users": "설비 운영자·제어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"상태 예측",</a:t>
            </a:r>
          </a:p>
          <a:p xmlns:a="http://schemas.openxmlformats.org/drawingml/2006/main">
            <a:r>
              <a:t>      "권고 검증",</a:t>
            </a:r>
          </a:p>
          <a:p xmlns:a="http://schemas.openxmlformats.org/drawingml/2006/main">
            <a:r>
              <a:t>      "현장 제어"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"냉각 센서",</a:t>
            </a:r>
          </a:p>
          <a:p xmlns:a="http://schemas.openxmlformats.org/drawingml/2006/main">
            <a:r>
              <a:t>        "detail": "센서 상태·운영 제약 수집",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"상태 예측 / 권고 검증 / 현장 제어",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"예측·제약 최적화",</a:t>
            </a:r>
          </a:p>
          <a:p xmlns:a="http://schemas.openxmlformats.org/drawingml/2006/main">
            <a:r>
              <a:t>        "detail": "소비 예측과 허용 제어값 후보 산출",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"현장 제어기·운영자",</a:t>
            </a:r>
          </a:p>
          <a:p xmlns:a="http://schemas.openxmlformats.org/drawingml/2006/main">
            <a:r>
              <a:t>        "detail": "클라우드 검증 후 현장 제어계의 재검증",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"센서 이력·안전 경계",</a:t>
            </a:r>
          </a:p>
          <a:p xmlns:a="http://schemas.openxmlformats.org/drawingml/2006/main">
            <a:r>
              <a:t>        "detail": "시계열 센서·운전 상태·제약조건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"운영자 수동 전환 및 제어 결과의 다음 주기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"센서 상태",</a:t>
            </a:r>
          </a:p>
          <a:p xmlns:a="http://schemas.openxmlformats.org/drawingml/2006/main">
            <a:r>
              <a:t>        "input": "센서 상태·운영 제약 수집",</a:t>
            </a:r>
          </a:p>
          <a:p xmlns:a="http://schemas.openxmlformats.org/drawingml/2006/main">
            <a:r>
              <a:t>        "process": "시계열 센서·운전 상태·제약조건 정리",</a:t>
            </a:r>
          </a:p>
          <a:p xmlns:a="http://schemas.openxmlformats.org/drawingml/2006/main">
            <a:r>
              <a:t>        "output": "센서 스냅샷"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"소비 예측",</a:t>
            </a:r>
          </a:p>
          <a:p xmlns:a="http://schemas.openxmlformats.org/drawingml/2006/main">
            <a:r>
              <a:t>        "input": "센서 스냅샷",</a:t>
            </a:r>
          </a:p>
          <a:p xmlns:a="http://schemas.openxmlformats.org/drawingml/2006/main">
            <a:r>
              <a:t>        "process": "소비 예측과 허용 제어값 후보 산출",</a:t>
            </a:r>
          </a:p>
          <a:p xmlns:a="http://schemas.openxmlformats.org/drawingml/2006/main">
            <a:r>
              <a:t>        "output": "행동별 소비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제약 확인",</a:t>
            </a:r>
          </a:p>
          <a:p xmlns:a="http://schemas.openxmlformats.org/drawingml/2006/main">
            <a:r>
              <a:t>        "input": "행동별 소비 예측",</a:t>
            </a:r>
          </a:p>
          <a:p xmlns:a="http://schemas.openxmlformats.org/drawingml/2006/main">
            <a:r>
              <a:t>        "process": "현장 독립 검증·수동 전환",</a:t>
            </a:r>
          </a:p>
          <a:p xmlns:a="http://schemas.openxmlformats.org/drawingml/2006/main">
            <a:r>
              <a:t>        "output": "안전 조건 충족 명령"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재검증·제어",</a:t>
            </a:r>
          </a:p>
          <a:p xmlns:a="http://schemas.openxmlformats.org/drawingml/2006/main">
            <a:r>
              <a:t>        "input": "안전 조건 충족 명령",</a:t>
            </a:r>
          </a:p>
          <a:p xmlns:a="http://schemas.openxmlformats.org/drawingml/2006/main">
            <a:r>
              <a:t>        "process": "클라우드 검증 후 현장 제어계의 재검증",</a:t>
            </a:r>
          </a:p>
          <a:p xmlns:a="http://schemas.openxmlformats.org/drawingml/2006/main">
            <a:r>
              <a:t>        "output": "현장 검증·실행"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"현재 운전상태에서 허용범위 내 냉각 제어값 산출",</a:t>
            </a:r>
          </a:p>
          <a:p xmlns:a="http://schemas.openxmlformats.org/drawingml/2006/main">
            <a:r>
              <a:t>      "exception": "센서 결측·제어값 한계 초과·현장 검증 거부",</a:t>
            </a:r>
          </a:p>
          <a:p xmlns:a="http://schemas.openxmlformats.org/drawingml/2006/main">
            <a:r>
              <a:t>      "evidence": "제약별 통과/보류 결과와 수동 전환·제어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 운영자·제어 담당자",</a:t>
            </a:r>
          </a:p>
          <a:p xmlns:a="http://schemas.openxmlformats.org/drawingml/2006/main">
            <a:r>
              <a:t>          "processing": "센서 상태·운영 제약 수집",</a:t>
            </a:r>
          </a:p>
          <a:p xmlns:a="http://schemas.openxmlformats.org/drawingml/2006/main">
            <a:r>
              <a:t>          "output": "센서 스냅샷"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"센서 이력·안전 경계",</a:t>
            </a:r>
          </a:p>
          <a:p xmlns:a="http://schemas.openxmlformats.org/drawingml/2006/main">
            <a:r>
              <a:t>          "processing": "시계열 센서·운전 상태·제약조건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스냅샷",</a:t>
            </a:r>
          </a:p>
          <a:p xmlns:a="http://schemas.openxmlformats.org/drawingml/2006/main">
            <a:r>
              <a:t>          "processing": "소비 예측과 허용 제어값 후보 산출",</a:t>
            </a:r>
          </a:p>
          <a:p xmlns:a="http://schemas.openxmlformats.org/drawingml/2006/main">
            <a:r>
              <a:t>          "output": "안전 조건 충족 명령"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"안전 조건 충족 명령",</a:t>
            </a:r>
          </a:p>
          <a:p xmlns:a="http://schemas.openxmlformats.org/drawingml/2006/main">
            <a:r>
              <a:t>          "processing": "클라우드 검증 후 현장 제어계의 재검증",</a:t>
            </a:r>
          </a:p>
          <a:p xmlns:a="http://schemas.openxmlformats.org/drawingml/2006/main">
            <a:r>
              <a:t>          "output": "현장 검증·실행"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"운영자 수동 전환 및 제어 결과의 다음 주기 반영",</a:t>
            </a:r>
          </a:p>
          <a:p xmlns:a="http://schemas.openxmlformats.org/drawingml/2006/main">
            <a:r>
              <a:t>          "output":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"운영자 수동 전환 및 제어 결과의 다음 주기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"S05",</a:t>
            </a:r>
          </a:p>
          <a:p xmlns:a="http://schemas.openxmlformats.org/drawingml/2006/main">
            <a:r>
              <a:t>        "title": "Google DeepMind · 데이터센터 냉각 제어",</a:t>
            </a:r>
          </a:p>
          <a:p xmlns:a="http://schemas.openxmlformats.org/drawingml/2006/main">
            <a:r>
              <a:t>        "url": "https://deepmind.google/blog/safety-first-ai-for-autonomous-data-centre-cooling-and-industrial-control/",</a:t>
            </a:r>
          </a:p>
          <a:p xmlns:a="http://schemas.openxmlformats.org/drawingml/2006/main">
            <a:r>
              <a:t>        "published": "2018-08-17",</a:t>
            </a:r>
          </a:p>
          <a:p xmlns:a="http://schemas.openxmlformats.org/drawingml/2006/main">
            <a:r>
              <a:t>        "level": "운영·개발사 발표",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"추천과 실행 사이의 이중 검증 및 운영자 통제",</a:t>
            </a:r>
          </a:p>
          <a:p xmlns:a="http://schemas.openxmlformats.org/drawingml/2006/main">
            <a:r>
              <a:t>    "local": "TS 탄소·에너지 근거 검증과 운행 개선 권고부터 적용",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"데이터센터 냉각의 전력 효율과 설비 안전을 함께 다룬 제어 사례. 예측 결과를 화면에 보여주는 단계에서 실제 제어에 연결할 때 필요한 독립 안전검증이 핵심.",</a:t>
            </a:r>
          </a:p>
          <a:p xmlns:a="http://schemas.openxmlformats.org/drawingml/2006/main">
            <a:r>
              <a:t>      "센서 상태에서 제어 후보를 예측한 뒤 클라우드 측 검증과 현장 제어계 검증을 거쳐 실행하는 공개 구조. 운영자의 수동 전환과 허용 경계를 별도 계층으로 유지하고 실행 결과를 다음 주기 입력에 반영.",</a:t>
            </a:r>
          </a:p>
          <a:p xmlns:a="http://schemas.openxmlformats.org/drawingml/2006/main">
            <a:r>
              <a:t>      "TS 시설·장비 업무에 적용할 경우 AI 권고와 현장 실행 승인을 분리할 근거. 에너지 기준선은 계절·부하로 나누고, 센서 누락·경계 초과·통신 장애 시 안전 상태와 수동 복귀를 먼저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"냉각 상태 입력",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 운영자·제어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"운전·안전 경계",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"센서 상태·운영 제약 수집",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"센서 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스냅샷",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"소비·제어값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"소비 예측과 허용 제어값 후보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"클라우드 안전검증",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독립 검증·수동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독립 검증",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"현재 운전상태에서 허용범위 내 냉각 제어값 산출",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"제어·수동 전환",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"클라우드 검증 후 현장 제어계의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"다음 주기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"운영자 수동 전환 및 제어 결과의 다음 주기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"센서·운전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"센서 이력·안전 경계",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"시각·결측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"시계열 센서·운전 상태·제약조건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"상태·명령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"제약별 통과/보류 결과와 수동 전환·제어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"제어 허용경계",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"센서 결측·제어값 한계 초과·현장 검증 거부",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"센서 상태·운영 제약 수집",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스냅샷",</a:t>
            </a:r>
          </a:p>
          <a:p xmlns:a="http://schemas.openxmlformats.org/drawingml/2006/main">
            <a:r>
              <a:t>          "check": "현장 독립 검증·수동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"행동별 소비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"행동별 소비 예측·제어값 후보",</a:t>
            </a:r>
          </a:p>
          <a:p xmlns:a="http://schemas.openxmlformats.org/drawingml/2006/main">
            <a:r>
              <a:t>          "check": "센서 결측·제어값 한계 초과·현장 검증 거부"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"안전 조건 충족 명령",</a:t>
            </a:r>
          </a:p>
          <a:p xmlns:a="http://schemas.openxmlformats.org/drawingml/2006/main">
            <a:r>
              <a:t>          "check": "클라우드 검증 후 현장 제어계의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검증·실행",</a:t>
            </a:r>
          </a:p>
          <a:p xmlns:a="http://schemas.openxmlformats.org/drawingml/2006/main">
            <a:r>
              <a:t>          "check": "제약별 통과/보류 결과와 수동 전환·제어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"DeepMind 2018-08-17 안전 제어 설명",</a:t>
            </a:r>
          </a:p>
          <a:p xmlns:a="http://schemas.openxmlformats.org/drawingml/2006/main">
            <a:r>
              <a:t>        "extracted": "클라우드와 현장 제어의 독립 안전검증·수동 전환",</a:t>
            </a:r>
          </a:p>
          <a:p xmlns:a="http://schemas.openxmlformats.org/drawingml/2006/main">
            <a:r>
              <a:t>        "extension": "누락 센서·경계 초과·수동 전환의 실패 재현"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"센서 결측·제어값 한계 초과·현장 검증 거부",</a:t>
            </a:r>
          </a:p>
          <a:p xmlns:a="http://schemas.openxmlformats.org/drawingml/2006/main">
            <a:r>
              <a:t>        "hold": "현장 독립 검증·수동 전환",</a:t>
            </a:r>
          </a:p>
          <a:p xmlns:a="http://schemas.openxmlformats.org/drawingml/2006/main">
            <a:r>
              <a:t>        "recovery": "운영자 수동 전환 및 제어 결과의 다음 주기 반영",</a:t>
            </a:r>
          </a:p>
          <a:p xmlns:a="http://schemas.openxmlformats.org/drawingml/2006/main">
            <a:r>
              <a:t>        "evidence": "제약별 통과/보류 결과와 수동 전환·제어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"센서 이력·안전 경계",</a:t>
            </a:r>
          </a:p>
          <a:p xmlns:a="http://schemas.openxmlformats.org/drawingml/2006/main">
            <a:r>
              <a:t>        "prepare": "시계열 센서·운전 상태·제약조건 정리",</a:t>
            </a:r>
          </a:p>
          <a:p xmlns:a="http://schemas.openxmlformats.org/drawingml/2006/main">
            <a:r>
              <a:t>        "output": "센서 스냅샷",</a:t>
            </a:r>
          </a:p>
          <a:p xmlns:a="http://schemas.openxmlformats.org/drawingml/2006/main">
            <a:r>
              <a:t>        "refresh": "운영자 수동 전환 및 제어 결과의 다음 주기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"클라우드·현장 제어의 이중 안전검증",</a:t>
            </a:r>
          </a:p>
          <a:p xmlns:a="http://schemas.openxmlformats.org/drawingml/2006/main">
            <a:r>
              <a:t>      "운영자 수동 전환과 불확실성 제한"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"계절·부하에 따른 기준선 변화",</a:t>
            </a:r>
          </a:p>
          <a:p xmlns:a="http://schemas.openxmlformats.org/drawingml/2006/main">
            <a:r>
              <a:t>      "안전 한계를 넓힐 때의 제어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"냉각 센서",</a:t>
            </a:r>
          </a:p>
          <a:p xmlns:a="http://schemas.openxmlformats.org/drawingml/2006/main">
            <a:r>
              <a:t>      "예측·제약 최적화",</a:t>
            </a:r>
          </a:p>
          <a:p xmlns:a="http://schemas.openxmlformats.org/drawingml/2006/main">
            <a:r>
              <a:t>      "센서 이력·안전 경계",</a:t>
            </a:r>
          </a:p>
          <a:p xmlns:a="http://schemas.openxmlformats.org/drawingml/2006/main">
            <a:r>
              <a:t>      "현장 제어기·운영자"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스냅샷",</a:t>
            </a:r>
          </a:p>
          <a:p xmlns:a="http://schemas.openxmlformats.org/drawingml/2006/main">
            <a:r>
              <a:t>      "행동별 소비 예측",</a:t>
            </a:r>
          </a:p>
          <a:p xmlns:a="http://schemas.openxmlformats.org/drawingml/2006/main">
            <a:r>
              <a:t>      "안전 조건 충족 명령",</a:t>
            </a:r>
          </a:p>
          <a:p xmlns:a="http://schemas.openxmlformats.org/drawingml/2006/main">
            <a:r>
              <a:t>      "현장 검증·실행"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독립 검증·수동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"DeepMind 안전 제어 구조 · 2018-08-17",</a:t>
            </a:r>
          </a:p>
          <a:p xmlns:a="http://schemas.openxmlformats.org/drawingml/2006/main">
            <a:r>
              <a:t>      "url": "https://deepmind.google/blog/safety-first-ai-for-autonomous-data-centre-cooling-and-industrial-control/"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DeepMind · 데이터센터 냉각 제어 https://deepmind.google/blog/safety-first-ai-for-autonomous-data-centre-cooling-and-industrial-control/</a:t>
            </a:r>
          </a:p>
          <a:p xmlns:a="http://schemas.openxmlformats.org/drawingml/2006/main">
            <a:r>
              <a:t>홈페이지 https://heen1987-ops.github.io/TS-business-Plan-001/index.html?view=casebook&amp;case=AX05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"title": "GOV.UK Chat",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"정부 안내 RAG 실증",</a:t>
            </a:r>
          </a:p>
          <a:p xmlns:a="http://schemas.openxmlformats.org/drawingml/2006/main">
            <a:r>
              <a:t>    "period": "2025 기술 기록 / 2026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"S06",</a:t>
            </a:r>
          </a:p>
          <a:p xmlns:a="http://schemas.openxmlformats.org/drawingml/2006/main">
            <a:r>
              <a:t>      "S07"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"민원",</a:t>
            </a:r>
          </a:p>
          <a:p xmlns:a="http://schemas.openxmlformats.org/drawingml/2006/main">
            <a:r>
              <a:t>      "공공정보",</a:t>
            </a:r>
          </a:p>
          <a:p xmlns:a="http://schemas.openxmlformats.org/drawingml/2006/main">
            <a:r>
              <a:t>      "자연어 탐색",</a:t>
            </a:r>
          </a:p>
          <a:p xmlns:a="http://schemas.openxmlformats.org/drawingml/2006/main">
            <a:r>
              <a:t>      "서비스 접근"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"iOS 실증 641명·4주·2,670개 질문; 안내 편의와 응답속도·업무 범위의 개선 과제 확인",</a:t>
            </a:r>
          </a:p>
          <a:p xmlns:a="http://schemas.openxmlformats.org/drawingml/2006/main">
            <a:r>
              <a:t>    "limit": "공개 안내 검색 범위 · 개인 업무 처리와 담당자 인계는 당시 지원·개선 범위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"질문 분류",</a:t>
            </a:r>
          </a:p>
          <a:p xmlns:a="http://schemas.openxmlformats.org/drawingml/2006/main">
            <a:r>
              <a:t>      "GOV.UK 자료 검색",</a:t>
            </a:r>
          </a:p>
          <a:p xmlns:a="http://schemas.openxmlformats.org/drawingml/2006/main">
            <a:r>
              <a:t>      "근거 기반 응답",</a:t>
            </a:r>
          </a:p>
          <a:p xmlns:a="http://schemas.openxmlformats.org/drawingml/2006/main">
            <a:r>
              <a:t>      "공식 안내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RAG 구조와 실증 결과의 요약",</a:t>
            </a:r>
          </a:p>
          <a:p xmlns:a="http://schemas.openxmlformats.org/drawingml/2006/main">
            <a:r>
              <a:t>    "lesson":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"공개·내부 지식 분리 / 서비스 라우터 / 필수 입력 확인 / 인증·전송 연계",</a:t>
            </a:r>
          </a:p>
          <a:p xmlns:a="http://schemas.openxmlformats.org/drawingml/2006/main">
            <a:r>
              <a:t>    "test": "실제 메뉴 대비 업무 도달률·완료시간 및 잘못된 기관 안내 검증",</a:t>
            </a:r>
          </a:p>
          <a:p xmlns:a="http://schemas.openxmlformats.org/drawingml/2006/main">
            <a:r>
              <a:t>    "metric": "정확한 서비스 도달률 / 포기율 / 응답 p95"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"canonicalId": "AX06",</a:t>
            </a:r>
          </a:p>
          <a:p xmlns:a="http://schemas.openxmlformats.org/drawingml/2006/main">
            <a:r>
              <a:t>    "purpose": "공식 정부 안내를 자연어로 탐색하는 접점",</a:t>
            </a:r>
          </a:p>
          <a:p xmlns:a="http://schemas.openxmlformats.org/drawingml/2006/main">
            <a:r>
              <a:t>    "users": "국민·GOV.UK 운영팀",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"공식 지식 검색",</a:t>
            </a:r>
          </a:p>
          <a:p xmlns:a="http://schemas.openxmlformats.org/drawingml/2006/main">
            <a:r>
              <a:t>      "출처 답변",</a:t>
            </a:r>
          </a:p>
          <a:p xmlns:a="http://schemas.openxmlformats.org/drawingml/2006/main">
            <a:r>
              <a:t>      "서비스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"GOV.UK 앱",</a:t>
            </a:r>
          </a:p>
          <a:p xmlns:a="http://schemas.openxmlformats.org/drawingml/2006/main">
            <a:r>
              <a:t>        "detail": "앱 질문과 이전 대화의 문맥 구성",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"공식 지식 검색 / 출처 답변 / 서비스 안내",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"Rails·Claude / Bedrock",</a:t>
            </a:r>
          </a:p>
          <a:p xmlns:a="http://schemas.openxmlformats.org/drawingml/2006/main">
            <a:r>
              <a:t>        "detail": "질문 처리·검색·Claude 응답의 조정",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"이용자·운영자",</a:t>
            </a:r>
          </a:p>
          <a:p xmlns:a="http://schemas.openxmlformats.org/drawingml/2006/main">
            <a:r>
              <a:t>        "detail": "출처가 있는 답변과 공식 안내 페이지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"OpenSearch·품질 분석 기록",</a:t>
            </a:r>
          </a:p>
          <a:p xmlns:a="http://schemas.openxmlformats.org/drawingml/2006/main">
            <a:r>
              <a:t>        "detail": "공개 콘텐츠 선별·벡터화·OpenSearch 저장",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"관리 도구·BigQuery 기반 품질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"질문 분류",</a:t>
            </a:r>
          </a:p>
          <a:p xmlns:a="http://schemas.openxmlformats.org/drawingml/2006/main">
            <a:r>
              <a:t>        "input": "앱 질문과 이전 대화의 문맥 구성",</a:t>
            </a:r>
          </a:p>
          <a:p xmlns:a="http://schemas.openxmlformats.org/drawingml/2006/main">
            <a:r>
              <a:t>        "process": "공개 콘텐츠 선별·벡터화·OpenSearch 저장",</a:t>
            </a:r>
          </a:p>
          <a:p xmlns:a="http://schemas.openxmlformats.org/drawingml/2006/main">
            <a:r>
              <a:t>        "output": "질문·의도"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"GOV.UK 자료 검색",</a:t>
            </a:r>
          </a:p>
          <a:p xmlns:a="http://schemas.openxmlformats.org/drawingml/2006/main">
            <a:r>
              <a:t>        "input": "질문·의도",</a:t>
            </a:r>
          </a:p>
          <a:p xmlns:a="http://schemas.openxmlformats.org/drawingml/2006/main">
            <a:r>
              <a:t>        "process": "질문 처리·검색·Claude 응답의 조정",</a:t>
            </a:r>
          </a:p>
          <a:p xmlns:a="http://schemas.openxmlformats.org/drawingml/2006/main">
            <a:r>
              <a:t>        "output": "공식 문서 조각"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기반 응답",</a:t>
            </a:r>
          </a:p>
          <a:p xmlns:a="http://schemas.openxmlformats.org/drawingml/2006/main">
            <a:r>
              <a:t>        "input": "공식 문서 조각",</a:t>
            </a:r>
          </a:p>
          <a:p xmlns:a="http://schemas.openxmlformats.org/drawingml/2006/main">
            <a:r>
              <a:t>        "process": "질문 분류·응답 품질 평가",</a:t>
            </a:r>
          </a:p>
          <a:p xmlns:a="http://schemas.openxmlformats.org/drawingml/2006/main">
            <a:r>
              <a:t>        "output": "출처 포함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"공식 안내 확인",</a:t>
            </a:r>
          </a:p>
          <a:p xmlns:a="http://schemas.openxmlformats.org/drawingml/2006/main">
            <a:r>
              <a:t>        "input": "출처 포함 답변",</a:t>
            </a:r>
          </a:p>
          <a:p xmlns:a="http://schemas.openxmlformats.org/drawingml/2006/main">
            <a:r>
              <a:t>        "process": "출처가 있는 답변과 공식 안내 페이지 제공",</a:t>
            </a:r>
          </a:p>
          <a:p xmlns:a="http://schemas.openxmlformats.org/drawingml/2006/main">
            <a:r>
              <a:t>        "output": "원문·공식 서비스"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"신청 방법을 질문하고 근거 안내와 해당 공식 페이지 확인",</a:t>
            </a:r>
          </a:p>
          <a:p xmlns:a="http://schemas.openxmlformats.org/drawingml/2006/main">
            <a:r>
              <a:t>      "exception": "범위 밖 질문·상충 안내·개인 업무의 실행 요청",</a:t>
            </a:r>
          </a:p>
          <a:p xmlns:a="http://schemas.openxmlformats.org/drawingml/2006/main">
            <a:r>
              <a:t>      "evidence": "정답 안내 페이지·근거 문단·응답 보류·처리시간 대조",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"국민·GOV.UK 운영팀",</a:t>
            </a:r>
          </a:p>
          <a:p xmlns:a="http://schemas.openxmlformats.org/drawingml/2006/main">
            <a:r>
              <a:t>          "processing": "앱 질문과 이전 대화의 문맥 구성",</a:t>
            </a:r>
          </a:p>
          <a:p xmlns:a="http://schemas.openxmlformats.org/drawingml/2006/main">
            <a:r>
              <a:t>          "output": "질문·의도"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"OpenSearch·품질 분석 기록",</a:t>
            </a:r>
          </a:p>
          <a:p xmlns:a="http://schemas.openxmlformats.org/drawingml/2006/main">
            <a:r>
              <a:t>          "processing": "공개 콘텐츠 선별·벡터화·OpenSearch 저장",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"질문·의도",</a:t>
            </a:r>
          </a:p>
          <a:p xmlns:a="http://schemas.openxmlformats.org/drawingml/2006/main">
            <a:r>
              <a:t>          "processing": "질문 처리·검색·Claude 응답의 조정",</a:t>
            </a:r>
          </a:p>
          <a:p xmlns:a="http://schemas.openxmlformats.org/drawingml/2006/main">
            <a:r>
              <a:t>          "output": "출처 포함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"출처 포함 답변",</a:t>
            </a:r>
          </a:p>
          <a:p xmlns:a="http://schemas.openxmlformats.org/drawingml/2006/main">
            <a:r>
              <a:t>          "processing": "출처가 있는 답변과 공식 안내 페이지 제공",</a:t>
            </a:r>
          </a:p>
          <a:p xmlns:a="http://schemas.openxmlformats.org/drawingml/2006/main">
            <a:r>
              <a:t>          "output": "원문·공식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"관리 도구·BigQuery 기반 품질 분석",</a:t>
            </a:r>
          </a:p>
          <a:p xmlns:a="http://schemas.openxmlformats.org/drawingml/2006/main">
            <a:r>
              <a:t>          "output":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"관리 도구·BigQuery 기반 품질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"S06",</a:t>
            </a:r>
          </a:p>
          <a:p xmlns:a="http://schemas.openxmlformats.org/drawingml/2006/main">
            <a:r>
              <a:t>        "title": "GDS · GOV.UK Chat 이용자 실증",</a:t>
            </a:r>
          </a:p>
          <a:p xmlns:a="http://schemas.openxmlformats.org/drawingml/2006/main">
            <a:r>
              <a:t>        "url": "https://insidegovuk.blog.gov.uk/2026/03/16/5-things-we-learned-testing-gov-uk-chat-an-ai-assistant-for-government/",</a:t>
            </a:r>
          </a:p>
          <a:p xmlns:a="http://schemas.openxmlformats.org/drawingml/2006/main">
            <a:r>
              <a:t>        "published": "2026-03-16",</a:t>
            </a:r>
          </a:p>
          <a:p xmlns:a="http://schemas.openxmlformats.org/drawingml/2006/main">
            <a:r>
              <a:t>        "level": "정부 실증 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"S07",</a:t>
            </a:r>
          </a:p>
          <a:p xmlns:a="http://schemas.openxmlformats.org/drawingml/2006/main">
            <a:r>
              <a:t>        "title": "DSIT · GOV.UK Chat 알고리즘 공개 기록",</a:t>
            </a:r>
          </a:p>
          <a:p xmlns:a="http://schemas.openxmlformats.org/drawingml/2006/main">
            <a:r>
              <a:t>        "url": "https://www.gov.uk/algorithmic-transparency-records/dsit-gov-dot-uk-chat",</a:t>
            </a:r>
          </a:p>
          <a:p xmlns:a="http://schemas.openxmlformats.org/drawingml/2006/main">
            <a:r>
              <a:t>        "published": "2025-10-07",</a:t>
            </a:r>
          </a:p>
          <a:p xmlns:a="http://schemas.openxmlformats.org/drawingml/2006/main">
            <a:r>
              <a:t>        "level": "정부 기술·책임 공개",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"정부 안내 페이지를 이용자가 직접 탐색하는 과정에 자연어 질의 접점을 추가한 사례. 질문에 대한 설명과 실제 공공서비스 신청은 별도 단계이며 원문·공식 서비스로의 이동이 중요한 완료조건.",</a:t>
            </a:r>
          </a:p>
          <a:p xmlns:a="http://schemas.openxmlformats.org/drawingml/2006/main">
            <a:r>
              <a:t>      "공개 기술기록의 Rails·Claude/Bedrock·OpenSearch·BigQuery를 기준으로 콘텐츠 준비, 질의 검색, 응답 생성, 품질 관측을 구분. 2023년 파일럿 설계와 2025년 공개 기술기록은 판본이 다른 자료로 취급.",</a:t>
            </a:r>
          </a:p>
          <a:p xmlns:a="http://schemas.openxmlformats.org/drawingml/2006/main">
            <a:r>
              <a:t>      "CCK에서는 TS 메뉴를 없애기보다 질문의 소관·지역·자격을 정리하고 검증된 메뉴에 연결하는 방식으로 현지화. 근거 없음·범위 밖 질의·느린 응답·틀린 신청 경로를 별도 과업으로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"GOV.UK 앱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"국민·GOV.UK 운영팀",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"질문·대화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"앱 질문과 이전 대화의 문맥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"OpenSearch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"질문·의도",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"Claude / Bedrock",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"질문 처리·검색·Claude 응답의 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"범위·근거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"질문 분류·응답 품질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"신청 방법을 질문하고 근거 안내와 해당 공식 페이지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"공식 서비스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"출처가 있는 답변과 공식 안내 페이지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"관리·품질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"관리 도구·BigQuery 기반 품질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"GOV.UK 콘텐츠",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"OpenSearch·품질 분석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"선별·청킹·벡터화",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"공개 콘텐츠 선별·벡터화·OpenSearch 저장",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"문서·BigQuery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"정답 안내 페이지·근거 문단·응답 보류·처리시간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"지식 범위·안전정책",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"범위 밖 질문·상충 안내·개인 업무의 실행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"앱 질문과 이전 대화의 문맥 구성",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"질문·의도",</a:t>
            </a:r>
          </a:p>
          <a:p xmlns:a="http://schemas.openxmlformats.org/drawingml/2006/main">
            <a:r>
              <a:t>          "check": "질문 분류·응답 품질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"공식 문서 조각",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"범위 밖 질문·상충 안내·개인 업무의 실행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"출처가 있는 답변과 공식 안내 페이지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"원문·공식 서비스",</a:t>
            </a:r>
          </a:p>
          <a:p xmlns:a="http://schemas.openxmlformats.org/drawingml/2006/main">
            <a:r>
              <a:t>          "check":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"ATRS 2025-10-07",</a:t>
            </a:r>
          </a:p>
          <a:p xmlns:a="http://schemas.openxmlformats.org/drawingml/2006/main">
            <a:r>
              <a:t>        "extracted": "Rails·Claude/Bedrock·OpenSearch·BigQuery 공개 구성",</a:t>
            </a:r>
          </a:p>
          <a:p xmlns:a="http://schemas.openxmlformats.org/drawingml/2006/main">
            <a:r>
              <a:t>        "extension": "질문·검색·근거·원문 이동의 추적 ID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"범위 밖 질문·상충 안내·개인 업무의 실행 요청",</a:t>
            </a:r>
          </a:p>
          <a:p xmlns:a="http://schemas.openxmlformats.org/drawingml/2006/main">
            <a:r>
              <a:t>        "hold": "질문 분류·응답 품질 평가",</a:t>
            </a:r>
          </a:p>
          <a:p xmlns:a="http://schemas.openxmlformats.org/drawingml/2006/main">
            <a:r>
              <a:t>        "recovery": "관리 도구·BigQuery 기반 품질 분석",</a:t>
            </a:r>
          </a:p>
          <a:p xmlns:a="http://schemas.openxmlformats.org/drawingml/2006/main">
            <a:r>
              <a:t>        "evidence": "정답 안내 페이지·근거 문단·응답 보류·처리시간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"OpenSearch·품질 분석 기록",</a:t>
            </a:r>
          </a:p>
          <a:p xmlns:a="http://schemas.openxmlformats.org/drawingml/2006/main">
            <a:r>
              <a:t>        "prepare": "공개 콘텐츠 선별·벡터화·OpenSearch 저장",</a:t>
            </a:r>
          </a:p>
          <a:p xmlns:a="http://schemas.openxmlformats.org/drawingml/2006/main">
            <a:r>
              <a:t>        "output": "질문·의도",</a:t>
            </a:r>
          </a:p>
          <a:p xmlns:a="http://schemas.openxmlformats.org/drawingml/2006/main">
            <a:r>
              <a:t>        "refresh": "관리 도구·BigQuery 기반 품질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"공식 안내 자료에 한정한 검색",</a:t>
            </a:r>
          </a:p>
          <a:p xmlns:a="http://schemas.openxmlformats.org/drawingml/2006/main">
            <a:r>
              <a:t>      "출처 링크와 기존 탐색 경로 병행"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 범위 밖 질문",</a:t>
            </a:r>
          </a:p>
          <a:p xmlns:a="http://schemas.openxmlformats.org/drawingml/2006/main">
            <a:r>
              <a:t>      "응답속도·안내와 실제 처리의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"GOV.UK 앱",</a:t>
            </a:r>
          </a:p>
          <a:p xmlns:a="http://schemas.openxmlformats.org/drawingml/2006/main">
            <a:r>
              <a:t>      "Rails·Claude / Bedrock",</a:t>
            </a:r>
          </a:p>
          <a:p xmlns:a="http://schemas.openxmlformats.org/drawingml/2006/main">
            <a:r>
              <a:t>      "OpenSearch·품질 분석 기록",</a:t>
            </a:r>
          </a:p>
          <a:p xmlns:a="http://schemas.openxmlformats.org/drawingml/2006/main">
            <a:r>
              <a:t>      "이용자·운영자"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"질문·의도",</a:t>
            </a:r>
          </a:p>
          <a:p xmlns:a="http://schemas.openxmlformats.org/drawingml/2006/main">
            <a:r>
              <a:t>      "공식 문서 조각",</a:t>
            </a:r>
          </a:p>
          <a:p xmlns:a="http://schemas.openxmlformats.org/drawingml/2006/main">
            <a:r>
              <a:t>      "출처 포함 답변",</a:t>
            </a:r>
          </a:p>
          <a:p xmlns:a="http://schemas.openxmlformats.org/drawingml/2006/main">
            <a:r>
              <a:t>      "원문·공식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"질문 분류·응답 품질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"GOV.UK Chat 기술 공개 기록 · 2025-10-07",</a:t>
            </a:r>
          </a:p>
          <a:p xmlns:a="http://schemas.openxmlformats.org/drawingml/2006/main">
            <a:r>
              <a:t>      "url": "https://www.gov.uk/algorithmic-transparency-records/dsit-gov-dot-uk-chat"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GDS · GOV.UK Chat 이용자 실증 https://insidegovuk.blog.gov.uk/2026/03/16/5-things-we-learned-testing-gov-uk-chat-an-ai-assistant-for-government/</a:t>
            </a:r>
          </a:p>
          <a:p xmlns:a="http://schemas.openxmlformats.org/drawingml/2006/main">
            <a:r>
              <a:t>DSIT · GOV.UK Chat 알고리즘 공개 기록 https://www.gov.uk/algorithmic-transparency-records/dsit-gov-dot-uk-chat</a:t>
            </a:r>
          </a:p>
          <a:p xmlns:a="http://schemas.openxmlformats.org/drawingml/2006/main">
            <a:r>
              <a:t>홈페이지 https://heen1987-ops.github.io/TS-business-Plan-001/index.html?view=casebook&amp;case=AX06</a:t>
            </a:r>
          </a:p>
          <a:p xmlns:a="http://schemas.openxmlformats.org/drawingml/2006/main">
            <a:r>
              <a:t>한계: 공개 안내 검색 범위 · 개인 업무 처리와 담당자 인계는 당시 지원·개선 범위 구분</a:t>
            </a:r>
          </a:p>
          <a:p xmlns:a="http://schemas.openxmlformats.org/drawingml/2006/main">
            <a:r>
              <a:t>실패 위험: 업무 범위 밖 질문 / 응답속도·안내와 실제 처리의 간극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"title": "GOV.UK Chat",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"정부 안내 RAG 실증",</a:t>
            </a:r>
          </a:p>
          <a:p xmlns:a="http://schemas.openxmlformats.org/drawingml/2006/main">
            <a:r>
              <a:t>    "period": "2025 기술 기록 / 2026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"S06",</a:t>
            </a:r>
          </a:p>
          <a:p xmlns:a="http://schemas.openxmlformats.org/drawingml/2006/main">
            <a:r>
              <a:t>      "S07"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"민원",</a:t>
            </a:r>
          </a:p>
          <a:p xmlns:a="http://schemas.openxmlformats.org/drawingml/2006/main">
            <a:r>
              <a:t>      "공공정보",</a:t>
            </a:r>
          </a:p>
          <a:p xmlns:a="http://schemas.openxmlformats.org/drawingml/2006/main">
            <a:r>
              <a:t>      "자연어 탐색",</a:t>
            </a:r>
          </a:p>
          <a:p xmlns:a="http://schemas.openxmlformats.org/drawingml/2006/main">
            <a:r>
              <a:t>      "서비스 접근"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"iOS 실증 641명·4주·2,670개 질문; 안내 편의와 응답속도·업무 범위의 개선 과제 확인",</a:t>
            </a:r>
          </a:p>
          <a:p xmlns:a="http://schemas.openxmlformats.org/drawingml/2006/main">
            <a:r>
              <a:t>    "limit": "공개 안내 검색 범위 · 개인 업무 처리와 담당자 인계는 당시 지원·개선 범위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"질문 분류",</a:t>
            </a:r>
          </a:p>
          <a:p xmlns:a="http://schemas.openxmlformats.org/drawingml/2006/main">
            <a:r>
              <a:t>      "GOV.UK 자료 검색",</a:t>
            </a:r>
          </a:p>
          <a:p xmlns:a="http://schemas.openxmlformats.org/drawingml/2006/main">
            <a:r>
              <a:t>      "근거 기반 응답",</a:t>
            </a:r>
          </a:p>
          <a:p xmlns:a="http://schemas.openxmlformats.org/drawingml/2006/main">
            <a:r>
              <a:t>      "공식 안내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RAG 구조와 실증 결과의 요약",</a:t>
            </a:r>
          </a:p>
          <a:p xmlns:a="http://schemas.openxmlformats.org/drawingml/2006/main">
            <a:r>
              <a:t>    "lesson":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"공개·내부 지식 분리 / 서비스 라우터 / 필수 입력 확인 / 인증·전송 연계",</a:t>
            </a:r>
          </a:p>
          <a:p xmlns:a="http://schemas.openxmlformats.org/drawingml/2006/main">
            <a:r>
              <a:t>    "test": "실제 메뉴 대비 업무 도달률·완료시간 및 잘못된 기관 안내 검증",</a:t>
            </a:r>
          </a:p>
          <a:p xmlns:a="http://schemas.openxmlformats.org/drawingml/2006/main">
            <a:r>
              <a:t>    "metric": "정확한 서비스 도달률 / 포기율 / 응답 p95"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"canonicalId": "AX06",</a:t>
            </a:r>
          </a:p>
          <a:p xmlns:a="http://schemas.openxmlformats.org/drawingml/2006/main">
            <a:r>
              <a:t>    "purpose": "공식 정부 안내를 자연어로 탐색하는 접점",</a:t>
            </a:r>
          </a:p>
          <a:p xmlns:a="http://schemas.openxmlformats.org/drawingml/2006/main">
            <a:r>
              <a:t>    "users": "국민·GOV.UK 운영팀",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"공식 지식 검색",</a:t>
            </a:r>
          </a:p>
          <a:p xmlns:a="http://schemas.openxmlformats.org/drawingml/2006/main">
            <a:r>
              <a:t>      "출처 답변",</a:t>
            </a:r>
          </a:p>
          <a:p xmlns:a="http://schemas.openxmlformats.org/drawingml/2006/main">
            <a:r>
              <a:t>      "서비스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"GOV.UK 앱",</a:t>
            </a:r>
          </a:p>
          <a:p xmlns:a="http://schemas.openxmlformats.org/drawingml/2006/main">
            <a:r>
              <a:t>        "detail": "앱 질문과 이전 대화의 문맥 구성",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"공식 지식 검색 / 출처 답변 / 서비스 안내",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"Rails·Claude / Bedrock",</a:t>
            </a:r>
          </a:p>
          <a:p xmlns:a="http://schemas.openxmlformats.org/drawingml/2006/main">
            <a:r>
              <a:t>        "detail": "질문 처리·검색·Claude 응답의 조정",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"이용자·운영자",</a:t>
            </a:r>
          </a:p>
          <a:p xmlns:a="http://schemas.openxmlformats.org/drawingml/2006/main">
            <a:r>
              <a:t>        "detail": "출처가 있는 답변과 공식 안내 페이지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"OpenSearch·품질 분석 기록",</a:t>
            </a:r>
          </a:p>
          <a:p xmlns:a="http://schemas.openxmlformats.org/drawingml/2006/main">
            <a:r>
              <a:t>        "detail": "공개 콘텐츠 선별·벡터화·OpenSearch 저장",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"관리 도구·BigQuery 기반 품질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"질문 분류",</a:t>
            </a:r>
          </a:p>
          <a:p xmlns:a="http://schemas.openxmlformats.org/drawingml/2006/main">
            <a:r>
              <a:t>        "input": "앱 질문과 이전 대화의 문맥 구성",</a:t>
            </a:r>
          </a:p>
          <a:p xmlns:a="http://schemas.openxmlformats.org/drawingml/2006/main">
            <a:r>
              <a:t>        "process": "공개 콘텐츠 선별·벡터화·OpenSearch 저장",</a:t>
            </a:r>
          </a:p>
          <a:p xmlns:a="http://schemas.openxmlformats.org/drawingml/2006/main">
            <a:r>
              <a:t>        "output": "질문·의도"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"GOV.UK 자료 검색",</a:t>
            </a:r>
          </a:p>
          <a:p xmlns:a="http://schemas.openxmlformats.org/drawingml/2006/main">
            <a:r>
              <a:t>        "input": "질문·의도",</a:t>
            </a:r>
          </a:p>
          <a:p xmlns:a="http://schemas.openxmlformats.org/drawingml/2006/main">
            <a:r>
              <a:t>        "process": "질문 처리·검색·Claude 응답의 조정",</a:t>
            </a:r>
          </a:p>
          <a:p xmlns:a="http://schemas.openxmlformats.org/drawingml/2006/main">
            <a:r>
              <a:t>        "output": "공식 문서 조각"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기반 응답",</a:t>
            </a:r>
          </a:p>
          <a:p xmlns:a="http://schemas.openxmlformats.org/drawingml/2006/main">
            <a:r>
              <a:t>        "input": "공식 문서 조각",</a:t>
            </a:r>
          </a:p>
          <a:p xmlns:a="http://schemas.openxmlformats.org/drawingml/2006/main">
            <a:r>
              <a:t>        "process": "질문 분류·응답 품질 평가",</a:t>
            </a:r>
          </a:p>
          <a:p xmlns:a="http://schemas.openxmlformats.org/drawingml/2006/main">
            <a:r>
              <a:t>        "output": "출처 포함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"공식 안내 확인",</a:t>
            </a:r>
          </a:p>
          <a:p xmlns:a="http://schemas.openxmlformats.org/drawingml/2006/main">
            <a:r>
              <a:t>        "input": "출처 포함 답변",</a:t>
            </a:r>
          </a:p>
          <a:p xmlns:a="http://schemas.openxmlformats.org/drawingml/2006/main">
            <a:r>
              <a:t>        "process": "출처가 있는 답변과 공식 안내 페이지 제공",</a:t>
            </a:r>
          </a:p>
          <a:p xmlns:a="http://schemas.openxmlformats.org/drawingml/2006/main">
            <a:r>
              <a:t>        "output": "원문·공식 서비스"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"신청 방법을 질문하고 근거 안내와 해당 공식 페이지 확인",</a:t>
            </a:r>
          </a:p>
          <a:p xmlns:a="http://schemas.openxmlformats.org/drawingml/2006/main">
            <a:r>
              <a:t>      "exception": "범위 밖 질문·상충 안내·개인 업무의 실행 요청",</a:t>
            </a:r>
          </a:p>
          <a:p xmlns:a="http://schemas.openxmlformats.org/drawingml/2006/main">
            <a:r>
              <a:t>      "evidence": "정답 안내 페이지·근거 문단·응답 보류·처리시간 대조",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"국민·GOV.UK 운영팀",</a:t>
            </a:r>
          </a:p>
          <a:p xmlns:a="http://schemas.openxmlformats.org/drawingml/2006/main">
            <a:r>
              <a:t>          "processing": "앱 질문과 이전 대화의 문맥 구성",</a:t>
            </a:r>
          </a:p>
          <a:p xmlns:a="http://schemas.openxmlformats.org/drawingml/2006/main">
            <a:r>
              <a:t>          "output": "질문·의도"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"OpenSearch·품질 분석 기록",</a:t>
            </a:r>
          </a:p>
          <a:p xmlns:a="http://schemas.openxmlformats.org/drawingml/2006/main">
            <a:r>
              <a:t>          "processing": "공개 콘텐츠 선별·벡터화·OpenSearch 저장",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"질문·의도",</a:t>
            </a:r>
          </a:p>
          <a:p xmlns:a="http://schemas.openxmlformats.org/drawingml/2006/main">
            <a:r>
              <a:t>          "processing": "질문 처리·검색·Claude 응답의 조정",</a:t>
            </a:r>
          </a:p>
          <a:p xmlns:a="http://schemas.openxmlformats.org/drawingml/2006/main">
            <a:r>
              <a:t>          "output": "출처 포함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"출처 포함 답변",</a:t>
            </a:r>
          </a:p>
          <a:p xmlns:a="http://schemas.openxmlformats.org/drawingml/2006/main">
            <a:r>
              <a:t>          "processing": "출처가 있는 답변과 공식 안내 페이지 제공",</a:t>
            </a:r>
          </a:p>
          <a:p xmlns:a="http://schemas.openxmlformats.org/drawingml/2006/main">
            <a:r>
              <a:t>          "output": "원문·공식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"관리 도구·BigQuery 기반 품질 분석",</a:t>
            </a:r>
          </a:p>
          <a:p xmlns:a="http://schemas.openxmlformats.org/drawingml/2006/main">
            <a:r>
              <a:t>          "output":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"관리 도구·BigQuery 기반 품질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"S06",</a:t>
            </a:r>
          </a:p>
          <a:p xmlns:a="http://schemas.openxmlformats.org/drawingml/2006/main">
            <a:r>
              <a:t>        "title": "GDS · GOV.UK Chat 이용자 실증",</a:t>
            </a:r>
          </a:p>
          <a:p xmlns:a="http://schemas.openxmlformats.org/drawingml/2006/main">
            <a:r>
              <a:t>        "url": "https://insidegovuk.blog.gov.uk/2026/03/16/5-things-we-learned-testing-gov-uk-chat-an-ai-assistant-for-government/",</a:t>
            </a:r>
          </a:p>
          <a:p xmlns:a="http://schemas.openxmlformats.org/drawingml/2006/main">
            <a:r>
              <a:t>        "published": "2026-03-16",</a:t>
            </a:r>
          </a:p>
          <a:p xmlns:a="http://schemas.openxmlformats.org/drawingml/2006/main">
            <a:r>
              <a:t>        "level": "정부 실증 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"S07",</a:t>
            </a:r>
          </a:p>
          <a:p xmlns:a="http://schemas.openxmlformats.org/drawingml/2006/main">
            <a:r>
              <a:t>        "title": "DSIT · GOV.UK Chat 알고리즘 공개 기록",</a:t>
            </a:r>
          </a:p>
          <a:p xmlns:a="http://schemas.openxmlformats.org/drawingml/2006/main">
            <a:r>
              <a:t>        "url": "https://www.gov.uk/algorithmic-transparency-records/dsit-gov-dot-uk-chat",</a:t>
            </a:r>
          </a:p>
          <a:p xmlns:a="http://schemas.openxmlformats.org/drawingml/2006/main">
            <a:r>
              <a:t>        "published": "2025-10-07",</a:t>
            </a:r>
          </a:p>
          <a:p xmlns:a="http://schemas.openxmlformats.org/drawingml/2006/main">
            <a:r>
              <a:t>        "level": "정부 기술·책임 공개",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"정부 안내 페이지를 이용자가 직접 탐색하는 과정에 자연어 질의 접점을 추가한 사례. 질문에 대한 설명과 실제 공공서비스 신청은 별도 단계이며 원문·공식 서비스로의 이동이 중요한 완료조건.",</a:t>
            </a:r>
          </a:p>
          <a:p xmlns:a="http://schemas.openxmlformats.org/drawingml/2006/main">
            <a:r>
              <a:t>      "공개 기술기록의 Rails·Claude/Bedrock·OpenSearch·BigQuery를 기준으로 콘텐츠 준비, 질의 검색, 응답 생성, 품질 관측을 구분. 2023년 파일럿 설계와 2025년 공개 기술기록은 판본이 다른 자료로 취급.",</a:t>
            </a:r>
          </a:p>
          <a:p xmlns:a="http://schemas.openxmlformats.org/drawingml/2006/main">
            <a:r>
              <a:t>      "CCK에서는 TS 메뉴를 없애기보다 질문의 소관·지역·자격을 정리하고 검증된 메뉴에 연결하는 방식으로 현지화. 근거 없음·범위 밖 질의·느린 응답·틀린 신청 경로를 별도 과업으로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"GOV.UK 앱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"국민·GOV.UK 운영팀",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"질문·대화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"앱 질문과 이전 대화의 문맥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"OpenSearch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"질문·의도",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"Claude / Bedrock",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"질문 처리·검색·Claude 응답의 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"범위·근거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"질문 분류·응답 품질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"신청 방법을 질문하고 근거 안내와 해당 공식 페이지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"공식 서비스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"출처가 있는 답변과 공식 안내 페이지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"관리·품질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"관리 도구·BigQuery 기반 품질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"GOV.UK 콘텐츠",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"OpenSearch·품질 분석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"선별·청킹·벡터화",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"공개 콘텐츠 선별·벡터화·OpenSearch 저장",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"문서·BigQuery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"정답 안내 페이지·근거 문단·응답 보류·처리시간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"지식 범위·안전정책",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"범위 밖 질문·상충 안내·개인 업무의 실행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"앱 질문과 이전 대화의 문맥 구성",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"질문·의도",</a:t>
            </a:r>
          </a:p>
          <a:p xmlns:a="http://schemas.openxmlformats.org/drawingml/2006/main">
            <a:r>
              <a:t>          "check": "질문 분류·응답 품질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"공식 문서 조각",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"범위 밖 질문·상충 안내·개인 업무의 실행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"출처가 있는 답변과 공식 안내 페이지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"원문·공식 서비스",</a:t>
            </a:r>
          </a:p>
          <a:p xmlns:a="http://schemas.openxmlformats.org/drawingml/2006/main">
            <a:r>
              <a:t>          "check":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"ATRS 2025-10-07",</a:t>
            </a:r>
          </a:p>
          <a:p xmlns:a="http://schemas.openxmlformats.org/drawingml/2006/main">
            <a:r>
              <a:t>        "extracted": "Rails·Claude/Bedrock·OpenSearch·BigQuery 공개 구성",</a:t>
            </a:r>
          </a:p>
          <a:p xmlns:a="http://schemas.openxmlformats.org/drawingml/2006/main">
            <a:r>
              <a:t>        "extension": "질문·검색·근거·원문 이동의 추적 ID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"범위 밖 질문·상충 안내·개인 업무의 실행 요청",</a:t>
            </a:r>
          </a:p>
          <a:p xmlns:a="http://schemas.openxmlformats.org/drawingml/2006/main">
            <a:r>
              <a:t>        "hold": "질문 분류·응답 품질 평가",</a:t>
            </a:r>
          </a:p>
          <a:p xmlns:a="http://schemas.openxmlformats.org/drawingml/2006/main">
            <a:r>
              <a:t>        "recovery": "관리 도구·BigQuery 기반 품질 분석",</a:t>
            </a:r>
          </a:p>
          <a:p xmlns:a="http://schemas.openxmlformats.org/drawingml/2006/main">
            <a:r>
              <a:t>        "evidence": "정답 안내 페이지·근거 문단·응답 보류·처리시간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"OpenSearch·품질 분석 기록",</a:t>
            </a:r>
          </a:p>
          <a:p xmlns:a="http://schemas.openxmlformats.org/drawingml/2006/main">
            <a:r>
              <a:t>        "prepare": "공개 콘텐츠 선별·벡터화·OpenSearch 저장",</a:t>
            </a:r>
          </a:p>
          <a:p xmlns:a="http://schemas.openxmlformats.org/drawingml/2006/main">
            <a:r>
              <a:t>        "output": "질문·의도",</a:t>
            </a:r>
          </a:p>
          <a:p xmlns:a="http://schemas.openxmlformats.org/drawingml/2006/main">
            <a:r>
              <a:t>        "refresh": "관리 도구·BigQuery 기반 품질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"공식 안내 자료에 한정한 검색",</a:t>
            </a:r>
          </a:p>
          <a:p xmlns:a="http://schemas.openxmlformats.org/drawingml/2006/main">
            <a:r>
              <a:t>      "출처 링크와 기존 탐색 경로 병행"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 범위 밖 질문",</a:t>
            </a:r>
          </a:p>
          <a:p xmlns:a="http://schemas.openxmlformats.org/drawingml/2006/main">
            <a:r>
              <a:t>      "응답속도·안내와 실제 처리의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"GOV.UK 앱",</a:t>
            </a:r>
          </a:p>
          <a:p xmlns:a="http://schemas.openxmlformats.org/drawingml/2006/main">
            <a:r>
              <a:t>      "Rails·Claude / Bedrock",</a:t>
            </a:r>
          </a:p>
          <a:p xmlns:a="http://schemas.openxmlformats.org/drawingml/2006/main">
            <a:r>
              <a:t>      "OpenSearch·품질 분석 기록",</a:t>
            </a:r>
          </a:p>
          <a:p xmlns:a="http://schemas.openxmlformats.org/drawingml/2006/main">
            <a:r>
              <a:t>      "이용자·운영자"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"질문·의도",</a:t>
            </a:r>
          </a:p>
          <a:p xmlns:a="http://schemas.openxmlformats.org/drawingml/2006/main">
            <a:r>
              <a:t>      "공식 문서 조각",</a:t>
            </a:r>
          </a:p>
          <a:p xmlns:a="http://schemas.openxmlformats.org/drawingml/2006/main">
            <a:r>
              <a:t>      "출처 포함 답변",</a:t>
            </a:r>
          </a:p>
          <a:p xmlns:a="http://schemas.openxmlformats.org/drawingml/2006/main">
            <a:r>
              <a:t>      "원문·공식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"질문 분류·응답 품질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"GOV.UK Chat 기술 공개 기록 · 2025-10-07",</a:t>
            </a:r>
          </a:p>
          <a:p xmlns:a="http://schemas.openxmlformats.org/drawingml/2006/main">
            <a:r>
              <a:t>      "url": "https://www.gov.uk/algorithmic-transparency-records/dsit-gov-dot-uk-chat"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GDS · GOV.UK Chat 이용자 실증 https://insidegovuk.blog.gov.uk/2026/03/16/5-things-we-learned-testing-gov-uk-chat-an-ai-assistant-for-government/</a:t>
            </a:r>
          </a:p>
          <a:p xmlns:a="http://schemas.openxmlformats.org/drawingml/2006/main">
            <a:r>
              <a:t>DSIT · GOV.UK Chat 알고리즘 공개 기록 https://www.gov.uk/algorithmic-transparency-records/dsit-gov-dot-uk-chat</a:t>
            </a:r>
          </a:p>
          <a:p xmlns:a="http://schemas.openxmlformats.org/drawingml/2006/main">
            <a:r>
              <a:t>홈페이지 https://heen1987-ops.github.io/TS-business-Plan-001/index.html?view=casebook&amp;case=AX06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"title": "GOV.UK Chat",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"정부 안내 RAG 실증",</a:t>
            </a:r>
          </a:p>
          <a:p xmlns:a="http://schemas.openxmlformats.org/drawingml/2006/main">
            <a:r>
              <a:t>    "period": "2025 기술 기록 / 2026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"S06",</a:t>
            </a:r>
          </a:p>
          <a:p xmlns:a="http://schemas.openxmlformats.org/drawingml/2006/main">
            <a:r>
              <a:t>      "S07"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"민원",</a:t>
            </a:r>
          </a:p>
          <a:p xmlns:a="http://schemas.openxmlformats.org/drawingml/2006/main">
            <a:r>
              <a:t>      "공공정보",</a:t>
            </a:r>
          </a:p>
          <a:p xmlns:a="http://schemas.openxmlformats.org/drawingml/2006/main">
            <a:r>
              <a:t>      "자연어 탐색",</a:t>
            </a:r>
          </a:p>
          <a:p xmlns:a="http://schemas.openxmlformats.org/drawingml/2006/main">
            <a:r>
              <a:t>      "서비스 접근"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"iOS 실증 641명·4주·2,670개 질문; 안내 편의와 응답속도·업무 범위의 개선 과제 확인",</a:t>
            </a:r>
          </a:p>
          <a:p xmlns:a="http://schemas.openxmlformats.org/drawingml/2006/main">
            <a:r>
              <a:t>    "limit": "공개 안내 검색 범위 · 개인 업무 처리와 담당자 인계는 당시 지원·개선 범위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"질문 분류",</a:t>
            </a:r>
          </a:p>
          <a:p xmlns:a="http://schemas.openxmlformats.org/drawingml/2006/main">
            <a:r>
              <a:t>      "GOV.UK 자료 검색",</a:t>
            </a:r>
          </a:p>
          <a:p xmlns:a="http://schemas.openxmlformats.org/drawingml/2006/main">
            <a:r>
              <a:t>      "근거 기반 응답",</a:t>
            </a:r>
          </a:p>
          <a:p xmlns:a="http://schemas.openxmlformats.org/drawingml/2006/main">
            <a:r>
              <a:t>      "공식 안내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RAG 구조와 실증 결과의 요약",</a:t>
            </a:r>
          </a:p>
          <a:p xmlns:a="http://schemas.openxmlformats.org/drawingml/2006/main">
            <a:r>
              <a:t>    "lesson":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"공개·내부 지식 분리 / 서비스 라우터 / 필수 입력 확인 / 인증·전송 연계",</a:t>
            </a:r>
          </a:p>
          <a:p xmlns:a="http://schemas.openxmlformats.org/drawingml/2006/main">
            <a:r>
              <a:t>    "test": "실제 메뉴 대비 업무 도달률·완료시간 및 잘못된 기관 안내 검증",</a:t>
            </a:r>
          </a:p>
          <a:p xmlns:a="http://schemas.openxmlformats.org/drawingml/2006/main">
            <a:r>
              <a:t>    "metric": "정확한 서비스 도달률 / 포기율 / 응답 p95"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"canonicalId": "AX06",</a:t>
            </a:r>
          </a:p>
          <a:p xmlns:a="http://schemas.openxmlformats.org/drawingml/2006/main">
            <a:r>
              <a:t>    "purpose": "공식 정부 안내를 자연어로 탐색하는 접점",</a:t>
            </a:r>
          </a:p>
          <a:p xmlns:a="http://schemas.openxmlformats.org/drawingml/2006/main">
            <a:r>
              <a:t>    "users": "국민·GOV.UK 운영팀",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"공식 지식 검색",</a:t>
            </a:r>
          </a:p>
          <a:p xmlns:a="http://schemas.openxmlformats.org/drawingml/2006/main">
            <a:r>
              <a:t>      "출처 답변",</a:t>
            </a:r>
          </a:p>
          <a:p xmlns:a="http://schemas.openxmlformats.org/drawingml/2006/main">
            <a:r>
              <a:t>      "서비스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"GOV.UK 앱",</a:t>
            </a:r>
          </a:p>
          <a:p xmlns:a="http://schemas.openxmlformats.org/drawingml/2006/main">
            <a:r>
              <a:t>        "detail": "앱 질문과 이전 대화의 문맥 구성",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"공식 지식 검색 / 출처 답변 / 서비스 안내",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"Rails·Claude / Bedrock",</a:t>
            </a:r>
          </a:p>
          <a:p xmlns:a="http://schemas.openxmlformats.org/drawingml/2006/main">
            <a:r>
              <a:t>        "detail": "질문 처리·검색·Claude 응답의 조정",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"이용자·운영자",</a:t>
            </a:r>
          </a:p>
          <a:p xmlns:a="http://schemas.openxmlformats.org/drawingml/2006/main">
            <a:r>
              <a:t>        "detail": "출처가 있는 답변과 공식 안내 페이지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"OpenSearch·품질 분석 기록",</a:t>
            </a:r>
          </a:p>
          <a:p xmlns:a="http://schemas.openxmlformats.org/drawingml/2006/main">
            <a:r>
              <a:t>        "detail": "공개 콘텐츠 선별·벡터화·OpenSearch 저장",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"관리 도구·BigQuery 기반 품질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"질문 분류",</a:t>
            </a:r>
          </a:p>
          <a:p xmlns:a="http://schemas.openxmlformats.org/drawingml/2006/main">
            <a:r>
              <a:t>        "input": "앱 질문과 이전 대화의 문맥 구성",</a:t>
            </a:r>
          </a:p>
          <a:p xmlns:a="http://schemas.openxmlformats.org/drawingml/2006/main">
            <a:r>
              <a:t>        "process": "공개 콘텐츠 선별·벡터화·OpenSearch 저장",</a:t>
            </a:r>
          </a:p>
          <a:p xmlns:a="http://schemas.openxmlformats.org/drawingml/2006/main">
            <a:r>
              <a:t>        "output": "질문·의도"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"GOV.UK 자료 검색",</a:t>
            </a:r>
          </a:p>
          <a:p xmlns:a="http://schemas.openxmlformats.org/drawingml/2006/main">
            <a:r>
              <a:t>        "input": "질문·의도",</a:t>
            </a:r>
          </a:p>
          <a:p xmlns:a="http://schemas.openxmlformats.org/drawingml/2006/main">
            <a:r>
              <a:t>        "process": "질문 처리·검색·Claude 응답의 조정",</a:t>
            </a:r>
          </a:p>
          <a:p xmlns:a="http://schemas.openxmlformats.org/drawingml/2006/main">
            <a:r>
              <a:t>        "output": "공식 문서 조각"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기반 응답",</a:t>
            </a:r>
          </a:p>
          <a:p xmlns:a="http://schemas.openxmlformats.org/drawingml/2006/main">
            <a:r>
              <a:t>        "input": "공식 문서 조각",</a:t>
            </a:r>
          </a:p>
          <a:p xmlns:a="http://schemas.openxmlformats.org/drawingml/2006/main">
            <a:r>
              <a:t>        "process": "질문 분류·응답 품질 평가",</a:t>
            </a:r>
          </a:p>
          <a:p xmlns:a="http://schemas.openxmlformats.org/drawingml/2006/main">
            <a:r>
              <a:t>        "output": "출처 포함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"공식 안내 확인",</a:t>
            </a:r>
          </a:p>
          <a:p xmlns:a="http://schemas.openxmlformats.org/drawingml/2006/main">
            <a:r>
              <a:t>        "input": "출처 포함 답변",</a:t>
            </a:r>
          </a:p>
          <a:p xmlns:a="http://schemas.openxmlformats.org/drawingml/2006/main">
            <a:r>
              <a:t>        "process": "출처가 있는 답변과 공식 안내 페이지 제공",</a:t>
            </a:r>
          </a:p>
          <a:p xmlns:a="http://schemas.openxmlformats.org/drawingml/2006/main">
            <a:r>
              <a:t>        "output": "원문·공식 서비스"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"신청 방법을 질문하고 근거 안내와 해당 공식 페이지 확인",</a:t>
            </a:r>
          </a:p>
          <a:p xmlns:a="http://schemas.openxmlformats.org/drawingml/2006/main">
            <a:r>
              <a:t>      "exception": "범위 밖 질문·상충 안내·개인 업무의 실행 요청",</a:t>
            </a:r>
          </a:p>
          <a:p xmlns:a="http://schemas.openxmlformats.org/drawingml/2006/main">
            <a:r>
              <a:t>      "evidence": "정답 안내 페이지·근거 문단·응답 보류·처리시간 대조",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"국민·GOV.UK 운영팀",</a:t>
            </a:r>
          </a:p>
          <a:p xmlns:a="http://schemas.openxmlformats.org/drawingml/2006/main">
            <a:r>
              <a:t>          "processing": "앱 질문과 이전 대화의 문맥 구성",</a:t>
            </a:r>
          </a:p>
          <a:p xmlns:a="http://schemas.openxmlformats.org/drawingml/2006/main">
            <a:r>
              <a:t>          "output": "질문·의도"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"OpenSearch·품질 분석 기록",</a:t>
            </a:r>
          </a:p>
          <a:p xmlns:a="http://schemas.openxmlformats.org/drawingml/2006/main">
            <a:r>
              <a:t>          "processing": "공개 콘텐츠 선별·벡터화·OpenSearch 저장",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"질문·의도",</a:t>
            </a:r>
          </a:p>
          <a:p xmlns:a="http://schemas.openxmlformats.org/drawingml/2006/main">
            <a:r>
              <a:t>          "processing": "질문 처리·검색·Claude 응답의 조정",</a:t>
            </a:r>
          </a:p>
          <a:p xmlns:a="http://schemas.openxmlformats.org/drawingml/2006/main">
            <a:r>
              <a:t>          "output": "출처 포함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"출처 포함 답변",</a:t>
            </a:r>
          </a:p>
          <a:p xmlns:a="http://schemas.openxmlformats.org/drawingml/2006/main">
            <a:r>
              <a:t>          "processing": "출처가 있는 답변과 공식 안내 페이지 제공",</a:t>
            </a:r>
          </a:p>
          <a:p xmlns:a="http://schemas.openxmlformats.org/drawingml/2006/main">
            <a:r>
              <a:t>          "output": "원문·공식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"관리 도구·BigQuery 기반 품질 분석",</a:t>
            </a:r>
          </a:p>
          <a:p xmlns:a="http://schemas.openxmlformats.org/drawingml/2006/main">
            <a:r>
              <a:t>          "output":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"관리 도구·BigQuery 기반 품질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"S06",</a:t>
            </a:r>
          </a:p>
          <a:p xmlns:a="http://schemas.openxmlformats.org/drawingml/2006/main">
            <a:r>
              <a:t>        "title": "GDS · GOV.UK Chat 이용자 실증",</a:t>
            </a:r>
          </a:p>
          <a:p xmlns:a="http://schemas.openxmlformats.org/drawingml/2006/main">
            <a:r>
              <a:t>        "url": "https://insidegovuk.blog.gov.uk/2026/03/16/5-things-we-learned-testing-gov-uk-chat-an-ai-assistant-for-government/",</a:t>
            </a:r>
          </a:p>
          <a:p xmlns:a="http://schemas.openxmlformats.org/drawingml/2006/main">
            <a:r>
              <a:t>        "published": "2026-03-16",</a:t>
            </a:r>
          </a:p>
          <a:p xmlns:a="http://schemas.openxmlformats.org/drawingml/2006/main">
            <a:r>
              <a:t>        "level": "정부 실증 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"S07",</a:t>
            </a:r>
          </a:p>
          <a:p xmlns:a="http://schemas.openxmlformats.org/drawingml/2006/main">
            <a:r>
              <a:t>        "title": "DSIT · GOV.UK Chat 알고리즘 공개 기록",</a:t>
            </a:r>
          </a:p>
          <a:p xmlns:a="http://schemas.openxmlformats.org/drawingml/2006/main">
            <a:r>
              <a:t>        "url": "https://www.gov.uk/algorithmic-transparency-records/dsit-gov-dot-uk-chat",</a:t>
            </a:r>
          </a:p>
          <a:p xmlns:a="http://schemas.openxmlformats.org/drawingml/2006/main">
            <a:r>
              <a:t>        "published": "2025-10-07",</a:t>
            </a:r>
          </a:p>
          <a:p xmlns:a="http://schemas.openxmlformats.org/drawingml/2006/main">
            <a:r>
              <a:t>        "level": "정부 기술·책임 공개",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"정부 안내 페이지를 이용자가 직접 탐색하는 과정에 자연어 질의 접점을 추가한 사례. 질문에 대한 설명과 실제 공공서비스 신청은 별도 단계이며 원문·공식 서비스로의 이동이 중요한 완료조건.",</a:t>
            </a:r>
          </a:p>
          <a:p xmlns:a="http://schemas.openxmlformats.org/drawingml/2006/main">
            <a:r>
              <a:t>      "공개 기술기록의 Rails·Claude/Bedrock·OpenSearch·BigQuery를 기준으로 콘텐츠 준비, 질의 검색, 응답 생성, 품질 관측을 구분. 2023년 파일럿 설계와 2025년 공개 기술기록은 판본이 다른 자료로 취급.",</a:t>
            </a:r>
          </a:p>
          <a:p xmlns:a="http://schemas.openxmlformats.org/drawingml/2006/main">
            <a:r>
              <a:t>      "CCK에서는 TS 메뉴를 없애기보다 질문의 소관·지역·자격을 정리하고 검증된 메뉴에 연결하는 방식으로 현지화. 근거 없음·범위 밖 질의·느린 응답·틀린 신청 경로를 별도 과업으로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"GOV.UK 앱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"국민·GOV.UK 운영팀",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"질문·대화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"앱 질문과 이전 대화의 문맥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"OpenSearch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"질문·의도",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"Claude / Bedrock",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"질문 처리·검색·Claude 응답의 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"범위·근거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"질문 분류·응답 품질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"신청 방법을 질문하고 근거 안내와 해당 공식 페이지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"공식 서비스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"출처가 있는 답변과 공식 안내 페이지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"관리·품질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"관리 도구·BigQuery 기반 품질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"GOV.UK 콘텐츠",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"OpenSearch·품질 분석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"선별·청킹·벡터화",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"공개 콘텐츠 선별·벡터화·OpenSearch 저장",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"문서·BigQuery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"정답 안내 페이지·근거 문단·응답 보류·처리시간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"지식 범위·안전정책",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"범위 밖 질문·상충 안내·개인 업무의 실행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"앱 질문과 이전 대화의 문맥 구성",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"질문·의도",</a:t>
            </a:r>
          </a:p>
          <a:p xmlns:a="http://schemas.openxmlformats.org/drawingml/2006/main">
            <a:r>
              <a:t>          "check": "질문 분류·응답 품질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"공식 문서 조각",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"범위 밖 질문·상충 안내·개인 업무의 실행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"출처가 있는 답변과 공식 안내 페이지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"원문·공식 서비스",</a:t>
            </a:r>
          </a:p>
          <a:p xmlns:a="http://schemas.openxmlformats.org/drawingml/2006/main">
            <a:r>
              <a:t>          "check":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"ATRS 2025-10-07",</a:t>
            </a:r>
          </a:p>
          <a:p xmlns:a="http://schemas.openxmlformats.org/drawingml/2006/main">
            <a:r>
              <a:t>        "extracted": "Rails·Claude/Bedrock·OpenSearch·BigQuery 공개 구성",</a:t>
            </a:r>
          </a:p>
          <a:p xmlns:a="http://schemas.openxmlformats.org/drawingml/2006/main">
            <a:r>
              <a:t>        "extension": "질문·검색·근거·원문 이동의 추적 ID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"범위 밖 질문·상충 안내·개인 업무의 실행 요청",</a:t>
            </a:r>
          </a:p>
          <a:p xmlns:a="http://schemas.openxmlformats.org/drawingml/2006/main">
            <a:r>
              <a:t>        "hold": "질문 분류·응답 품질 평가",</a:t>
            </a:r>
          </a:p>
          <a:p xmlns:a="http://schemas.openxmlformats.org/drawingml/2006/main">
            <a:r>
              <a:t>        "recovery": "관리 도구·BigQuery 기반 품질 분석",</a:t>
            </a:r>
          </a:p>
          <a:p xmlns:a="http://schemas.openxmlformats.org/drawingml/2006/main">
            <a:r>
              <a:t>        "evidence": "정답 안내 페이지·근거 문단·응답 보류·처리시간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"OpenSearch·품질 분석 기록",</a:t>
            </a:r>
          </a:p>
          <a:p xmlns:a="http://schemas.openxmlformats.org/drawingml/2006/main">
            <a:r>
              <a:t>        "prepare": "공개 콘텐츠 선별·벡터화·OpenSearch 저장",</a:t>
            </a:r>
          </a:p>
          <a:p xmlns:a="http://schemas.openxmlformats.org/drawingml/2006/main">
            <a:r>
              <a:t>        "output": "질문·의도",</a:t>
            </a:r>
          </a:p>
          <a:p xmlns:a="http://schemas.openxmlformats.org/drawingml/2006/main">
            <a:r>
              <a:t>        "refresh": "관리 도구·BigQuery 기반 품질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"공식 안내 자료에 한정한 검색",</a:t>
            </a:r>
          </a:p>
          <a:p xmlns:a="http://schemas.openxmlformats.org/drawingml/2006/main">
            <a:r>
              <a:t>      "출처 링크와 기존 탐색 경로 병행"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 범위 밖 질문",</a:t>
            </a:r>
          </a:p>
          <a:p xmlns:a="http://schemas.openxmlformats.org/drawingml/2006/main">
            <a:r>
              <a:t>      "응답속도·안내와 실제 처리의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"GOV.UK 앱",</a:t>
            </a:r>
          </a:p>
          <a:p xmlns:a="http://schemas.openxmlformats.org/drawingml/2006/main">
            <a:r>
              <a:t>      "Rails·Claude / Bedrock",</a:t>
            </a:r>
          </a:p>
          <a:p xmlns:a="http://schemas.openxmlformats.org/drawingml/2006/main">
            <a:r>
              <a:t>      "OpenSearch·품질 분석 기록",</a:t>
            </a:r>
          </a:p>
          <a:p xmlns:a="http://schemas.openxmlformats.org/drawingml/2006/main">
            <a:r>
              <a:t>      "이용자·운영자"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"질문·의도",</a:t>
            </a:r>
          </a:p>
          <a:p xmlns:a="http://schemas.openxmlformats.org/drawingml/2006/main">
            <a:r>
              <a:t>      "공식 문서 조각",</a:t>
            </a:r>
          </a:p>
          <a:p xmlns:a="http://schemas.openxmlformats.org/drawingml/2006/main">
            <a:r>
              <a:t>      "출처 포함 답변",</a:t>
            </a:r>
          </a:p>
          <a:p xmlns:a="http://schemas.openxmlformats.org/drawingml/2006/main">
            <a:r>
              <a:t>      "원문·공식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"질문 분류·응답 품질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"GOV.UK Chat 기술 공개 기록 · 2025-10-07",</a:t>
            </a:r>
          </a:p>
          <a:p xmlns:a="http://schemas.openxmlformats.org/drawingml/2006/main">
            <a:r>
              <a:t>      "url": "https://www.gov.uk/algorithmic-transparency-records/dsit-gov-dot-uk-chat"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GDS · GOV.UK Chat 이용자 실증 https://insidegovuk.blog.gov.uk/2026/03/16/5-things-we-learned-testing-gov-uk-chat-an-ai-assistant-for-government/</a:t>
            </a:r>
          </a:p>
          <a:p xmlns:a="http://schemas.openxmlformats.org/drawingml/2006/main">
            <a:r>
              <a:t>DSIT · GOV.UK Chat 알고리즘 공개 기록 https://www.gov.uk/algorithmic-transparency-records/dsit-gov-dot-uk-chat</a:t>
            </a:r>
          </a:p>
          <a:p xmlns:a="http://schemas.openxmlformats.org/drawingml/2006/main">
            <a:r>
              <a:t>홈페이지 https://heen1987-ops.github.io/TS-business-Plan-001/index.html?view=casebook&amp;case=AX06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"title": "GOV.UK Chat",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"정부 안내 RAG 실증",</a:t>
            </a:r>
          </a:p>
          <a:p xmlns:a="http://schemas.openxmlformats.org/drawingml/2006/main">
            <a:r>
              <a:t>    "period": "2025 기술 기록 / 2026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"S06",</a:t>
            </a:r>
          </a:p>
          <a:p xmlns:a="http://schemas.openxmlformats.org/drawingml/2006/main">
            <a:r>
              <a:t>      "S07"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"민원",</a:t>
            </a:r>
          </a:p>
          <a:p xmlns:a="http://schemas.openxmlformats.org/drawingml/2006/main">
            <a:r>
              <a:t>      "공공정보",</a:t>
            </a:r>
          </a:p>
          <a:p xmlns:a="http://schemas.openxmlformats.org/drawingml/2006/main">
            <a:r>
              <a:t>      "자연어 탐색",</a:t>
            </a:r>
          </a:p>
          <a:p xmlns:a="http://schemas.openxmlformats.org/drawingml/2006/main">
            <a:r>
              <a:t>      "서비스 접근"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"iOS 실증 641명·4주·2,670개 질문; 안내 편의와 응답속도·업무 범위의 개선 과제 확인",</a:t>
            </a:r>
          </a:p>
          <a:p xmlns:a="http://schemas.openxmlformats.org/drawingml/2006/main">
            <a:r>
              <a:t>    "limit": "공개 안내 검색 범위 · 개인 업무 처리와 담당자 인계는 당시 지원·개선 범위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"질문 분류",</a:t>
            </a:r>
          </a:p>
          <a:p xmlns:a="http://schemas.openxmlformats.org/drawingml/2006/main">
            <a:r>
              <a:t>      "GOV.UK 자료 검색",</a:t>
            </a:r>
          </a:p>
          <a:p xmlns:a="http://schemas.openxmlformats.org/drawingml/2006/main">
            <a:r>
              <a:t>      "근거 기반 응답",</a:t>
            </a:r>
          </a:p>
          <a:p xmlns:a="http://schemas.openxmlformats.org/drawingml/2006/main">
            <a:r>
              <a:t>      "공식 안내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RAG 구조와 실증 결과의 요약",</a:t>
            </a:r>
          </a:p>
          <a:p xmlns:a="http://schemas.openxmlformats.org/drawingml/2006/main">
            <a:r>
              <a:t>    "lesson":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"공개·내부 지식 분리 / 서비스 라우터 / 필수 입력 확인 / 인증·전송 연계",</a:t>
            </a:r>
          </a:p>
          <a:p xmlns:a="http://schemas.openxmlformats.org/drawingml/2006/main">
            <a:r>
              <a:t>    "test": "실제 메뉴 대비 업무 도달률·완료시간 및 잘못된 기관 안내 검증",</a:t>
            </a:r>
          </a:p>
          <a:p xmlns:a="http://schemas.openxmlformats.org/drawingml/2006/main">
            <a:r>
              <a:t>    "metric": "정확한 서비스 도달률 / 포기율 / 응답 p95"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"canonicalId": "AX06",</a:t>
            </a:r>
          </a:p>
          <a:p xmlns:a="http://schemas.openxmlformats.org/drawingml/2006/main">
            <a:r>
              <a:t>    "purpose": "공식 정부 안내를 자연어로 탐색하는 접점",</a:t>
            </a:r>
          </a:p>
          <a:p xmlns:a="http://schemas.openxmlformats.org/drawingml/2006/main">
            <a:r>
              <a:t>    "users": "국민·GOV.UK 운영팀",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"공식 지식 검색",</a:t>
            </a:r>
          </a:p>
          <a:p xmlns:a="http://schemas.openxmlformats.org/drawingml/2006/main">
            <a:r>
              <a:t>      "출처 답변",</a:t>
            </a:r>
          </a:p>
          <a:p xmlns:a="http://schemas.openxmlformats.org/drawingml/2006/main">
            <a:r>
              <a:t>      "서비스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"GOV.UK 앱",</a:t>
            </a:r>
          </a:p>
          <a:p xmlns:a="http://schemas.openxmlformats.org/drawingml/2006/main">
            <a:r>
              <a:t>        "detail": "앱 질문과 이전 대화의 문맥 구성",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"공식 지식 검색 / 출처 답변 / 서비스 안내",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"Rails·Claude / Bedrock",</a:t>
            </a:r>
          </a:p>
          <a:p xmlns:a="http://schemas.openxmlformats.org/drawingml/2006/main">
            <a:r>
              <a:t>        "detail": "질문 처리·검색·Claude 응답의 조정",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"이용자·운영자",</a:t>
            </a:r>
          </a:p>
          <a:p xmlns:a="http://schemas.openxmlformats.org/drawingml/2006/main">
            <a:r>
              <a:t>        "detail": "출처가 있는 답변과 공식 안내 페이지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"OpenSearch·품질 분석 기록",</a:t>
            </a:r>
          </a:p>
          <a:p xmlns:a="http://schemas.openxmlformats.org/drawingml/2006/main">
            <a:r>
              <a:t>        "detail": "공개 콘텐츠 선별·벡터화·OpenSearch 저장",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"관리 도구·BigQuery 기반 품질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"질문 분류",</a:t>
            </a:r>
          </a:p>
          <a:p xmlns:a="http://schemas.openxmlformats.org/drawingml/2006/main">
            <a:r>
              <a:t>        "input": "앱 질문과 이전 대화의 문맥 구성",</a:t>
            </a:r>
          </a:p>
          <a:p xmlns:a="http://schemas.openxmlformats.org/drawingml/2006/main">
            <a:r>
              <a:t>        "process": "공개 콘텐츠 선별·벡터화·OpenSearch 저장",</a:t>
            </a:r>
          </a:p>
          <a:p xmlns:a="http://schemas.openxmlformats.org/drawingml/2006/main">
            <a:r>
              <a:t>        "output": "질문·의도"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"GOV.UK 자료 검색",</a:t>
            </a:r>
          </a:p>
          <a:p xmlns:a="http://schemas.openxmlformats.org/drawingml/2006/main">
            <a:r>
              <a:t>        "input": "질문·의도",</a:t>
            </a:r>
          </a:p>
          <a:p xmlns:a="http://schemas.openxmlformats.org/drawingml/2006/main">
            <a:r>
              <a:t>        "process": "질문 처리·검색·Claude 응답의 조정",</a:t>
            </a:r>
          </a:p>
          <a:p xmlns:a="http://schemas.openxmlformats.org/drawingml/2006/main">
            <a:r>
              <a:t>        "output": "공식 문서 조각"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기반 응답",</a:t>
            </a:r>
          </a:p>
          <a:p xmlns:a="http://schemas.openxmlformats.org/drawingml/2006/main">
            <a:r>
              <a:t>        "input": "공식 문서 조각",</a:t>
            </a:r>
          </a:p>
          <a:p xmlns:a="http://schemas.openxmlformats.org/drawingml/2006/main">
            <a:r>
              <a:t>        "process": "질문 분류·응답 품질 평가",</a:t>
            </a:r>
          </a:p>
          <a:p xmlns:a="http://schemas.openxmlformats.org/drawingml/2006/main">
            <a:r>
              <a:t>        "output": "출처 포함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"공식 안내 확인",</a:t>
            </a:r>
          </a:p>
          <a:p xmlns:a="http://schemas.openxmlformats.org/drawingml/2006/main">
            <a:r>
              <a:t>        "input": "출처 포함 답변",</a:t>
            </a:r>
          </a:p>
          <a:p xmlns:a="http://schemas.openxmlformats.org/drawingml/2006/main">
            <a:r>
              <a:t>        "process": "출처가 있는 답변과 공식 안내 페이지 제공",</a:t>
            </a:r>
          </a:p>
          <a:p xmlns:a="http://schemas.openxmlformats.org/drawingml/2006/main">
            <a:r>
              <a:t>        "output": "원문·공식 서비스"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"신청 방법을 질문하고 근거 안내와 해당 공식 페이지 확인",</a:t>
            </a:r>
          </a:p>
          <a:p xmlns:a="http://schemas.openxmlformats.org/drawingml/2006/main">
            <a:r>
              <a:t>      "exception": "범위 밖 질문·상충 안내·개인 업무의 실행 요청",</a:t>
            </a:r>
          </a:p>
          <a:p xmlns:a="http://schemas.openxmlformats.org/drawingml/2006/main">
            <a:r>
              <a:t>      "evidence": "정답 안내 페이지·근거 문단·응답 보류·처리시간 대조",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"국민·GOV.UK 운영팀",</a:t>
            </a:r>
          </a:p>
          <a:p xmlns:a="http://schemas.openxmlformats.org/drawingml/2006/main">
            <a:r>
              <a:t>          "processing": "앱 질문과 이전 대화의 문맥 구성",</a:t>
            </a:r>
          </a:p>
          <a:p xmlns:a="http://schemas.openxmlformats.org/drawingml/2006/main">
            <a:r>
              <a:t>          "output": "질문·의도"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"OpenSearch·품질 분석 기록",</a:t>
            </a:r>
          </a:p>
          <a:p xmlns:a="http://schemas.openxmlformats.org/drawingml/2006/main">
            <a:r>
              <a:t>          "processing": "공개 콘텐츠 선별·벡터화·OpenSearch 저장",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"질문·의도",</a:t>
            </a:r>
          </a:p>
          <a:p xmlns:a="http://schemas.openxmlformats.org/drawingml/2006/main">
            <a:r>
              <a:t>          "processing": "질문 처리·검색·Claude 응답의 조정",</a:t>
            </a:r>
          </a:p>
          <a:p xmlns:a="http://schemas.openxmlformats.org/drawingml/2006/main">
            <a:r>
              <a:t>          "output": "출처 포함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"출처 포함 답변",</a:t>
            </a:r>
          </a:p>
          <a:p xmlns:a="http://schemas.openxmlformats.org/drawingml/2006/main">
            <a:r>
              <a:t>          "processing": "출처가 있는 답변과 공식 안내 페이지 제공",</a:t>
            </a:r>
          </a:p>
          <a:p xmlns:a="http://schemas.openxmlformats.org/drawingml/2006/main">
            <a:r>
              <a:t>          "output": "원문·공식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"관리 도구·BigQuery 기반 품질 분석",</a:t>
            </a:r>
          </a:p>
          <a:p xmlns:a="http://schemas.openxmlformats.org/drawingml/2006/main">
            <a:r>
              <a:t>          "output":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"관리 도구·BigQuery 기반 품질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"공개 기술 설명 + 연결 구조 추론",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"S06",</a:t>
            </a:r>
          </a:p>
          <a:p xmlns:a="http://schemas.openxmlformats.org/drawingml/2006/main">
            <a:r>
              <a:t>        "title": "GDS · GOV.UK Chat 이용자 실증",</a:t>
            </a:r>
          </a:p>
          <a:p xmlns:a="http://schemas.openxmlformats.org/drawingml/2006/main">
            <a:r>
              <a:t>        "url": "https://insidegovuk.blog.gov.uk/2026/03/16/5-things-we-learned-testing-gov-uk-chat-an-ai-assistant-for-government/",</a:t>
            </a:r>
          </a:p>
          <a:p xmlns:a="http://schemas.openxmlformats.org/drawingml/2006/main">
            <a:r>
              <a:t>        "published": "2026-03-16",</a:t>
            </a:r>
          </a:p>
          <a:p xmlns:a="http://schemas.openxmlformats.org/drawingml/2006/main">
            <a:r>
              <a:t>        "level": "정부 실증 보고",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"S07",</a:t>
            </a:r>
          </a:p>
          <a:p xmlns:a="http://schemas.openxmlformats.org/drawingml/2006/main">
            <a:r>
              <a:t>        "title": "DSIT · GOV.UK Chat 알고리즘 공개 기록",</a:t>
            </a:r>
          </a:p>
          <a:p xmlns:a="http://schemas.openxmlformats.org/drawingml/2006/main">
            <a:r>
              <a:t>        "url": "https://www.gov.uk/algorithmic-transparency-records/dsit-gov-dot-uk-chat",</a:t>
            </a:r>
          </a:p>
          <a:p xmlns:a="http://schemas.openxmlformats.org/drawingml/2006/main">
            <a:r>
              <a:t>        "published": "2025-10-07",</a:t>
            </a:r>
          </a:p>
          <a:p xmlns:a="http://schemas.openxmlformats.org/drawingml/2006/main">
            <a:r>
              <a:t>        "level": "정부 기술·책임 공개",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"공식 서비스 목록·정확도·수행 경계의 명시",</a:t>
            </a:r>
          </a:p>
          <a:p xmlns:a="http://schemas.openxmlformats.org/drawingml/2006/main">
            <a:r>
              <a:t>    "local": "TS 공개 서비스 카탈로그와 소관 부서 연결 / 메뉴를 유지한 프롬프트·음성 진입",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"정부 안내 페이지를 이용자가 직접 탐색하는 과정에 자연어 질의 접점을 추가한 사례. 질문에 대한 설명과 실제 공공서비스 신청은 별도 단계이며 원문·공식 서비스로의 이동이 중요한 완료조건.",</a:t>
            </a:r>
          </a:p>
          <a:p xmlns:a="http://schemas.openxmlformats.org/drawingml/2006/main">
            <a:r>
              <a:t>      "공개 기술기록의 Rails·Claude/Bedrock·OpenSearch·BigQuery를 기준으로 콘텐츠 준비, 질의 검색, 응답 생성, 품질 관측을 구분. 2023년 파일럿 설계와 2025년 공개 기술기록은 판본이 다른 자료로 취급.",</a:t>
            </a:r>
          </a:p>
          <a:p xmlns:a="http://schemas.openxmlformats.org/drawingml/2006/main">
            <a:r>
              <a:t>      "CCK에서는 TS 메뉴를 없애기보다 질문의 소관·지역·자격을 정리하고 검증된 메뉴에 연결하는 방식으로 현지화. 근거 없음·범위 밖 질의·느린 응답·틀린 신청 경로를 별도 과업으로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"GOV.UK 앱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"국민·GOV.UK 운영팀",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"질문·대화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"앱 질문과 이전 대화의 문맥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"OpenSearch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"질문·의도",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"Claude / Bedrock",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"질문 처리·검색·Claude 응답의 조정",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"범위·근거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"질문 분류·응답 품질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"신청 방법을 질문하고 근거 안내와 해당 공식 페이지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"공식 서비스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"출처가 있는 답변과 공식 안내 페이지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"관리·품질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"관리 도구·BigQuery 기반 품질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"GOV.UK 콘텐츠",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"OpenSearch·품질 분석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"선별·청킹·벡터화",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"공개 콘텐츠 선별·벡터화·OpenSearch 저장",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"문서·BigQuery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"정답 안내 페이지·근거 문단·응답 보류·처리시간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"지식 범위·안전정책",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"범위 밖 질문·상충 안내·개인 업무의 실행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"앱 질문과 이전 대화의 문맥 구성",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"질문·의도",</a:t>
            </a:r>
          </a:p>
          <a:p xmlns:a="http://schemas.openxmlformats.org/drawingml/2006/main">
            <a:r>
              <a:t>          "check": "질문 분류·응답 품질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"공식 문서 조각",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"범위 밖 질문·상충 안내·개인 업무의 실행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"출처 포함 답변",</a:t>
            </a:r>
          </a:p>
          <a:p xmlns:a="http://schemas.openxmlformats.org/drawingml/2006/main">
            <a:r>
              <a:t>          "check": "출처가 있는 답변과 공식 안내 페이지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"원문·공식 서비스",</a:t>
            </a:r>
          </a:p>
          <a:p xmlns:a="http://schemas.openxmlformats.org/drawingml/2006/main">
            <a:r>
              <a:t>          "check": "정답 안내 페이지·근거 문단·응답 보류·처리시간 대조"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"ATRS 2025-10-07",</a:t>
            </a:r>
          </a:p>
          <a:p xmlns:a="http://schemas.openxmlformats.org/drawingml/2006/main">
            <a:r>
              <a:t>        "extracted": "Rails·Claude/Bedrock·OpenSearch·BigQuery 공개 구성",</a:t>
            </a:r>
          </a:p>
          <a:p xmlns:a="http://schemas.openxmlformats.org/drawingml/2006/main">
            <a:r>
              <a:t>        "extension": "질문·검색·근거·원문 이동의 추적 ID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"범위 밖 질문·상충 안내·개인 업무의 실행 요청",</a:t>
            </a:r>
          </a:p>
          <a:p xmlns:a="http://schemas.openxmlformats.org/drawingml/2006/main">
            <a:r>
              <a:t>        "hold": "질문 분류·응답 품질 평가",</a:t>
            </a:r>
          </a:p>
          <a:p xmlns:a="http://schemas.openxmlformats.org/drawingml/2006/main">
            <a:r>
              <a:t>        "recovery": "관리 도구·BigQuery 기반 품질 분석",</a:t>
            </a:r>
          </a:p>
          <a:p xmlns:a="http://schemas.openxmlformats.org/drawingml/2006/main">
            <a:r>
              <a:t>        "evidence": "정답 안내 페이지·근거 문단·응답 보류·처리시간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"OpenSearch·품질 분석 기록",</a:t>
            </a:r>
          </a:p>
          <a:p xmlns:a="http://schemas.openxmlformats.org/drawingml/2006/main">
            <a:r>
              <a:t>        "prepare": "공개 콘텐츠 선별·벡터화·OpenSearch 저장",</a:t>
            </a:r>
          </a:p>
          <a:p xmlns:a="http://schemas.openxmlformats.org/drawingml/2006/main">
            <a:r>
              <a:t>        "output": "질문·의도",</a:t>
            </a:r>
          </a:p>
          <a:p xmlns:a="http://schemas.openxmlformats.org/drawingml/2006/main">
            <a:r>
              <a:t>        "refresh": "관리 도구·BigQuery 기반 품질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"공식 안내 자료에 한정한 검색",</a:t>
            </a:r>
          </a:p>
          <a:p xmlns:a="http://schemas.openxmlformats.org/drawingml/2006/main">
            <a:r>
              <a:t>      "출처 링크와 기존 탐색 경로 병행"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"업무 범위 밖 질문",</a:t>
            </a:r>
          </a:p>
          <a:p xmlns:a="http://schemas.openxmlformats.org/drawingml/2006/main">
            <a:r>
              <a:t>      "응답속도·안내와 실제 처리의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"GOV.UK 앱",</a:t>
            </a:r>
          </a:p>
          <a:p xmlns:a="http://schemas.openxmlformats.org/drawingml/2006/main">
            <a:r>
              <a:t>      "Rails·Claude / Bedrock",</a:t>
            </a:r>
          </a:p>
          <a:p xmlns:a="http://schemas.openxmlformats.org/drawingml/2006/main">
            <a:r>
              <a:t>      "OpenSearch·품질 분석 기록",</a:t>
            </a:r>
          </a:p>
          <a:p xmlns:a="http://schemas.openxmlformats.org/drawingml/2006/main">
            <a:r>
              <a:t>      "이용자·운영자"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"질문·의도",</a:t>
            </a:r>
          </a:p>
          <a:p xmlns:a="http://schemas.openxmlformats.org/drawingml/2006/main">
            <a:r>
              <a:t>      "공식 문서 조각",</a:t>
            </a:r>
          </a:p>
          <a:p xmlns:a="http://schemas.openxmlformats.org/drawingml/2006/main">
            <a:r>
              <a:t>      "출처 포함 답변",</a:t>
            </a:r>
          </a:p>
          <a:p xmlns:a="http://schemas.openxmlformats.org/drawingml/2006/main">
            <a:r>
              <a:t>      "원문·공식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"질문 분류·응답 품질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기술 설명 요약",</a:t>
            </a:r>
          </a:p>
          <a:p xmlns:a="http://schemas.openxmlformats.org/drawingml/2006/main">
            <a:r>
              <a:t>    "structureSource": {</a:t>
            </a:r>
          </a:p>
          <a:p xmlns:a="http://schemas.openxmlformats.org/drawingml/2006/main">
            <a:r>
              <a:t>      "title": "GOV.UK Chat 기술 공개 기록 · 2025-10-07",</a:t>
            </a:r>
          </a:p>
          <a:p xmlns:a="http://schemas.openxmlformats.org/drawingml/2006/main">
            <a:r>
              <a:t>      "url": "https://www.gov.uk/algorithmic-transparency-records/dsit-gov-dot-uk-chat"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GDS · GOV.UK Chat 이용자 실증 https://insidegovuk.blog.gov.uk/2026/03/16/5-things-we-learned-testing-gov-uk-chat-an-ai-assistant-for-government/</a:t>
            </a:r>
          </a:p>
          <a:p xmlns:a="http://schemas.openxmlformats.org/drawingml/2006/main">
            <a:r>
              <a:t>DSIT · GOV.UK Chat 알고리즘 공개 기록 https://www.gov.uk/algorithmic-transparency-records/dsit-gov-dot-uk-chat</a:t>
            </a:r>
          </a:p>
          <a:p xmlns:a="http://schemas.openxmlformats.org/drawingml/2006/main">
            <a:r>
              <a:t>홈페이지 https://heen1987-ops.github.io/TS-business-Plan-001/index.html?view=casebook&amp;case=AX06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"title": "호주 Robodebt",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"호주",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"행정 자동화·책임 통제",</a:t>
            </a:r>
          </a:p>
          <a:p xmlns:a="http://schemas.openxmlformats.org/drawingml/2006/main">
            <a:r>
              <a:t>    "period": "2023 최종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"행정 판단",</a:t>
            </a:r>
          </a:p>
          <a:p xmlns:a="http://schemas.openxmlformats.org/drawingml/2006/main">
            <a:r>
              <a:t>      "적법성",</a:t>
            </a:r>
          </a:p>
          <a:p xmlns:a="http://schemas.openxmlformats.org/drawingml/2006/main">
            <a:r>
              <a:t>      "이의제기",</a:t>
            </a:r>
          </a:p>
          <a:p xmlns:a="http://schemas.openxmlformats.org/drawingml/2006/main">
            <a:r>
              <a:t>      "공정성"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"왕립위원회 최종 조사에서 자동 결정의 법적 틀·재심 경로·데이터 교환 통제·취약계층 대응 개선 권고",</a:t>
            </a:r>
          </a:p>
          <a:p xmlns:a="http://schemas.openxmlformats.org/drawingml/2006/main">
            <a:r>
              <a:t>    "limit": "규칙 기반 행정 자동화의 실패 교훈 · 생성형 AI 사례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"자동 산정·결정",</a:t>
            </a:r>
          </a:p>
          <a:p xmlns:a="http://schemas.openxmlformats.org/drawingml/2006/main">
            <a:r>
              <a:t>      "대상자 통지",</a:t>
            </a:r>
          </a:p>
          <a:p xmlns:a="http://schemas.openxmlformats.org/drawingml/2006/main">
            <a:r>
              <a:t>      "이의제기·재심"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 권고의 대상 업무를 설명하기 위한 재구성",</a:t>
            </a:r>
          </a:p>
          <a:p xmlns:a="http://schemas.openxmlformats.org/drawingml/2006/main">
            <a:r>
              <a:t>    "lesson":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"근거·입력 검증 / 자동 확정 제한 / 이의제기·재검토 연결",</a:t>
            </a:r>
          </a:p>
          <a:p xmlns:a="http://schemas.openxmlformats.org/drawingml/2006/main">
            <a:r>
              <a:t>    "test": "누락·기간 불일치·권한 부재 시 보류 및 재심 처리 추적",</a:t>
            </a:r>
          </a:p>
          <a:p xmlns:a="http://schemas.openxmlformats.org/drawingml/2006/main">
            <a:r>
              <a:t>    "metric": "근거 누락률 / 오판 보완률 / 이의처리 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"canonicalId": "AX07",</a:t>
            </a:r>
          </a:p>
          <a:p xmlns:a="http://schemas.openxmlformats.org/drawingml/2006/main">
            <a:r>
              <a:t>    "purpose": "자동 행정 산정의 근거·재심 체계 분석",</a:t>
            </a:r>
          </a:p>
          <a:p xmlns:a="http://schemas.openxmlformats.org/drawingml/2006/main">
            <a:r>
              <a:t>    "users": "행정 담당자·대상자·재심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"산정·통지",</a:t>
            </a:r>
          </a:p>
          <a:p xmlns:a="http://schemas.openxmlformats.org/drawingml/2006/main">
            <a:r>
              <a:t>      "이의제기"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"기관 자료 교환",</a:t>
            </a:r>
          </a:p>
          <a:p xmlns:a="http://schemas.openxmlformats.org/drawingml/2006/main">
            <a:r>
              <a:t>        "detail": "자료의 대상·기간·적용 근거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"기관 간 자료 / 산정·통지 / 이의제기",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"자동 산정·통지",</a:t>
            </a:r>
          </a:p>
          <a:p xmlns:a="http://schemas.openxmlformats.org/drawingml/2006/main">
            <a:r>
              <a:t>        "detail": "불일치 자료의 자동 확정 보류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"대상자·재심 담당",</a:t>
            </a:r>
          </a:p>
          <a:p xmlns:a="http://schemas.openxmlformats.org/drawingml/2006/main">
            <a:r>
              <a:t>        "detail": "담당자 검토와 설명 가능한 통지·재심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"소득·산정 근거",</a:t>
            </a:r>
          </a:p>
          <a:p xmlns:a="http://schemas.openxmlformats.org/drawingml/2006/main">
            <a:r>
              <a:t>        "detail": "소득 등 원천자료와 적용기간 분리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"오판·이의제기 결과의 규칙 및 절차 개선",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"기관 간 자료",</a:t>
            </a:r>
          </a:p>
          <a:p xmlns:a="http://schemas.openxmlformats.org/drawingml/2006/main">
            <a:r>
              <a:t>        "input": "자료의 대상·기간·적용 근거 대조",</a:t>
            </a:r>
          </a:p>
          <a:p xmlns:a="http://schemas.openxmlformats.org/drawingml/2006/main">
            <a:r>
              <a:t>        "process": "소득 등 원천자료와 적용기간 분리 관리",</a:t>
            </a:r>
          </a:p>
          <a:p xmlns:a="http://schemas.openxmlformats.org/drawingml/2006/main">
            <a:r>
              <a:t>        "output": "기관별 소득자료"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"자동 산정·결정",</a:t>
            </a:r>
          </a:p>
          <a:p xmlns:a="http://schemas.openxmlformats.org/drawingml/2006/main">
            <a:r>
              <a:t>        "input": "기관별 소득자료",</a:t>
            </a:r>
          </a:p>
          <a:p xmlns:a="http://schemas.openxmlformats.org/drawingml/2006/main">
            <a:r>
              <a:t>        "process": "불일치 자료의 자동 확정 보류 설계",</a:t>
            </a:r>
          </a:p>
          <a:p xmlns:a="http://schemas.openxmlformats.org/drawingml/2006/main">
            <a:r>
              <a:t>        "output": "산정 대상·기간"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"대상자 통지",</a:t>
            </a:r>
          </a:p>
          <a:p xmlns:a="http://schemas.openxmlformats.org/drawingml/2006/main">
            <a:r>
              <a:t>        "input": "산정 대상·기간",</a:t>
            </a:r>
          </a:p>
          <a:p xmlns:a="http://schemas.openxmlformats.org/drawingml/2006/main">
            <a:r>
              <a:t>        "process": "원천 증빙 불일치 시 자동 확정 보류",</a:t>
            </a:r>
          </a:p>
          <a:p xmlns:a="http://schemas.openxmlformats.org/drawingml/2006/main">
            <a:r>
              <a:t>        "output": "채무 통지"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"이의제기·재심",</a:t>
            </a:r>
          </a:p>
          <a:p xmlns:a="http://schemas.openxmlformats.org/drawingml/2006/main">
            <a:r>
              <a:t>        "input": "채무 통지",</a:t>
            </a:r>
          </a:p>
          <a:p xmlns:a="http://schemas.openxmlformats.org/drawingml/2006/main">
            <a:r>
              <a:t>        "process": "담당자 검토와 설명 가능한 통지·재심 연결",</a:t>
            </a:r>
          </a:p>
          <a:p xmlns:a="http://schemas.openxmlformats.org/drawingml/2006/main">
            <a:r>
              <a:t>        "output": "이의·재심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"기간이 일치하는 증빙을 확인한 뒤 담당자가 행정 결과 검토",</a:t>
            </a:r>
          </a:p>
          <a:p xmlns:a="http://schemas.openxmlformats.org/drawingml/2006/main">
            <a:r>
              <a:t>      "exception": "연간 자료를 짧은 기간에 일률 배분·당사자 반박 증빙",</a:t>
            </a:r>
          </a:p>
          <a:p xmlns:a="http://schemas.openxmlformats.org/drawingml/2006/main">
            <a:r>
              <a:t>      "evidence": "기간별 산정 대사와 보류·재심·담당자 판단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"행정 담당자·대상자·재심 담당",</a:t>
            </a:r>
          </a:p>
          <a:p xmlns:a="http://schemas.openxmlformats.org/drawingml/2006/main">
            <a:r>
              <a:t>          "processing": "자료의 대상·기간·적용 근거 대조",</a:t>
            </a:r>
          </a:p>
          <a:p xmlns:a="http://schemas.openxmlformats.org/drawingml/2006/main">
            <a:r>
              <a:t>          "output": "기관별 소득자료"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"소득·산정 근거",</a:t>
            </a:r>
          </a:p>
          <a:p xmlns:a="http://schemas.openxmlformats.org/drawingml/2006/main">
            <a:r>
              <a:t>          "processing": "소득 등 원천자료와 적용기간 분리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"기관별 소득자료",</a:t>
            </a:r>
          </a:p>
          <a:p xmlns:a="http://schemas.openxmlformats.org/drawingml/2006/main">
            <a:r>
              <a:t>          "processing": "불일치 자료의 자동 확정 보류 설계",</a:t>
            </a:r>
          </a:p>
          <a:p xmlns:a="http://schemas.openxmlformats.org/drawingml/2006/main">
            <a:r>
              <a:t>          "output": "채무 통지"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"채무 통지",</a:t>
            </a:r>
          </a:p>
          <a:p xmlns:a="http://schemas.openxmlformats.org/drawingml/2006/main">
            <a:r>
              <a:t>          "processing": "담당자 검토와 설명 가능한 통지·재심 연결",</a:t>
            </a:r>
          </a:p>
          <a:p xmlns:a="http://schemas.openxmlformats.org/drawingml/2006/main">
            <a:r>
              <a:t>          "output": "이의·재심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"오판·이의제기 결과의 규칙 및 절차 개선",</a:t>
            </a:r>
          </a:p>
          <a:p xmlns:a="http://schemas.openxmlformats.org/drawingml/2006/main">
            <a:r>
              <a:t>          "output":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"오판·이의제기 결과의 규칙 및 절차 개선",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"S08",</a:t>
            </a:r>
          </a:p>
          <a:p xmlns:a="http://schemas.openxmlformats.org/drawingml/2006/main">
            <a:r>
              <a:t>        "title": "호주 왕립위원회 · Robodebt 최종 보고서",</a:t>
            </a:r>
          </a:p>
          <a:p xmlns:a="http://schemas.openxmlformats.org/drawingml/2006/main">
            <a:r>
              <a:t>        "url": "https://robodebt.royalcommission.gov.au/publications/report",</a:t>
            </a:r>
          </a:p>
          <a:p xmlns:a="http://schemas.openxmlformats.org/drawingml/2006/main">
            <a:r>
              <a:t>        "published": "2023-07-07",</a:t>
            </a:r>
          </a:p>
          <a:p xmlns:a="http://schemas.openxmlformats.org/drawingml/2006/main">
            <a:r>
              <a:t>        "level": "독립 조사 / 2023-07-11 정정본 안내",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"기관 자료를 이용한 자동 산정·통지의 법적·증빙 통제 실패를 다룬 사례. 생성형 AI의 오답 문제보다 자료의 적용 기간과 산정 전제, 당사자의 이의제기 절차가 핵심인 행정 자동화 사례.",</a:t>
            </a:r>
          </a:p>
          <a:p xmlns:a="http://schemas.openxmlformats.org/drawingml/2006/main">
            <a:r>
              <a:t>      "원천 소득자료와 산정 대상 기간을 연결한 뒤 불일치 자료를 사람이 검토하도록 하는 재발 방지 구조. 통지에는 사용 근거와 산정 경로를 남기고 이의제기·재심 결과를 원 규칙에 환류하는 설계.",</a:t>
            </a:r>
          </a:p>
          <a:p xmlns:a="http://schemas.openxmlformats.org/drawingml/2006/main">
            <a:r>
              <a:t>      "TS에서는 AI 분류·계산 결과를 처분·부과·승인으로 곧바로 확정하지 않는 책임 경계에 활용. 근거 없는 자동 확정 차단, 기간 불일치 탐지, 재심 가능성과 증빙 추적을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"행정 산정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"행정 담당자·대상자·재심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"대상·적용기간",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"자료의 대상·기간·적용 근거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"원천 소득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"기관별 소득자료",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"기간·산식 대조",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"불일치 자료의 자동 확정 보류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"증빙 불일치 보류",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"원천 증빙 불일치 시 자동 확정 보류",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"담당자 근거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"기간이 일치하는 증빙을 확인한 뒤 담당자가 행정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"통지·이의제기",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 검토와 설명 가능한 통지·재심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"재심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"오판·이의제기 결과의 규칙 및 절차 개선",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"기관 소득자료",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"소득·산정 근거",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"기간·식별자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"소득 등 원천자료와 적용기간 분리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"근거·통지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"기간별 산정 대사와 보류·재심·담당자 판단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"산정·재심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"연간 자료를 짧은 기간에 일률 배분·당사자 반박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"자료의 대상·기간·적용 근거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"기관별 소득자료",</a:t>
            </a:r>
          </a:p>
          <a:p xmlns:a="http://schemas.openxmlformats.org/drawingml/2006/main">
            <a:r>
              <a:t>          "check": "원천 증빙 불일치 시 자동 확정 보류"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"산정 대상·기간",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"기간별 산정 후보·소득 증빙",</a:t>
            </a:r>
          </a:p>
          <a:p xmlns:a="http://schemas.openxmlformats.org/drawingml/2006/main">
            <a:r>
              <a:t>          "check": "연간 자료를 짧은 기간에 일률 배분·당사자 반박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"채무 통지",</a:t>
            </a:r>
          </a:p>
          <a:p xmlns:a="http://schemas.openxmlformats.org/drawingml/2006/main">
            <a:r>
              <a:t>          "check": "담당자 검토와 설명 가능한 통지·재심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"이의·재심 기록",</a:t>
            </a:r>
          </a:p>
          <a:p xmlns:a="http://schemas.openxmlformats.org/drawingml/2006/main">
            <a:r>
              <a:t>          "check":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"자동 행정 산정의 근거·재심 체계 분석 / 기관 간 자료·산정·통지·이의제기",</a:t>
            </a:r>
          </a:p>
          <a:p xmlns:a="http://schemas.openxmlformats.org/drawingml/2006/main">
            <a:r>
              <a:t>        "extension": "검사·지원·자격 업무의 근거 조문·증빙·전결 확인 후 담당자 판단"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"연간 자료를 짧은 기간에 일률 배분·당사자 반박 증빙",</a:t>
            </a:r>
          </a:p>
          <a:p xmlns:a="http://schemas.openxmlformats.org/drawingml/2006/main">
            <a:r>
              <a:t>        "hold": "원천 증빙 불일치 시 자동 확정 보류",</a:t>
            </a:r>
          </a:p>
          <a:p xmlns:a="http://schemas.openxmlformats.org/drawingml/2006/main">
            <a:r>
              <a:t>        "recovery": "오판·이의제기 결과의 규칙 및 절차 개선",</a:t>
            </a:r>
          </a:p>
          <a:p xmlns:a="http://schemas.openxmlformats.org/drawingml/2006/main">
            <a:r>
              <a:t>        "evidence": "기간별 산정 대사와 보류·재심·담당자 판단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"소득·산정 근거",</a:t>
            </a:r>
          </a:p>
          <a:p xmlns:a="http://schemas.openxmlformats.org/drawingml/2006/main">
            <a:r>
              <a:t>        "prepare": "소득 등 원천자료와 적용기간 분리 관리",</a:t>
            </a:r>
          </a:p>
          <a:p xmlns:a="http://schemas.openxmlformats.org/drawingml/2006/main">
            <a:r>
              <a:t>        "output": "기관별 소득자료",</a:t>
            </a:r>
          </a:p>
          <a:p xmlns:a="http://schemas.openxmlformats.org/drawingml/2006/main">
            <a:r>
              <a:t>        "refresh": "오판·이의제기 결과의 규칙 및 절차 개선"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 결정 전 법적·증빙 근거 확인",</a:t>
            </a:r>
          </a:p>
          <a:p xmlns:a="http://schemas.openxmlformats.org/drawingml/2006/main">
            <a:r>
              <a:t>      "이의제기와 재심 경로 확보"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"자료 기간·산정 전제의 부적합",</a:t>
            </a:r>
          </a:p>
          <a:p xmlns:a="http://schemas.openxmlformats.org/drawingml/2006/main">
            <a:r>
              <a:t>      "자동 판단에 대한 책임·재심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"기관 자료 교환",</a:t>
            </a:r>
          </a:p>
          <a:p xmlns:a="http://schemas.openxmlformats.org/drawingml/2006/main">
            <a:r>
              <a:t>      "자동 산정·통지",</a:t>
            </a:r>
          </a:p>
          <a:p xmlns:a="http://schemas.openxmlformats.org/drawingml/2006/main">
            <a:r>
              <a:t>      "소득·산정 근거",</a:t>
            </a:r>
          </a:p>
          <a:p xmlns:a="http://schemas.openxmlformats.org/drawingml/2006/main">
            <a:r>
              <a:t>      "대상자·재심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"기관별 소득자료",</a:t>
            </a:r>
          </a:p>
          <a:p xmlns:a="http://schemas.openxmlformats.org/drawingml/2006/main">
            <a:r>
              <a:t>      "산정 대상·기간",</a:t>
            </a:r>
          </a:p>
          <a:p xmlns:a="http://schemas.openxmlformats.org/drawingml/2006/main">
            <a:r>
              <a:t>      "채무 통지",</a:t>
            </a:r>
          </a:p>
          <a:p xmlns:a="http://schemas.openxmlformats.org/drawingml/2006/main">
            <a:r>
              <a:t>      "이의·재심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"원천 증빙 불일치 시 자동 확정 보류",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호주 왕립위원회 · Robodebt 최종 보고서 https://robodebt.royalcommission.gov.au/publications/report</a:t>
            </a:r>
          </a:p>
          <a:p xmlns:a="http://schemas.openxmlformats.org/drawingml/2006/main">
            <a:r>
              <a:t>홈페이지 https://heen1987-ops.github.io/TS-business-Plan-001/index.html?view=casebook&amp;case=AX07</a:t>
            </a:r>
          </a:p>
          <a:p xmlns:a="http://schemas.openxmlformats.org/drawingml/2006/main">
            <a:r>
              <a:t>한계: 규칙 기반 행정 자동화의 실패 교훈 · 생성형 AI 사례 아님</a:t>
            </a:r>
          </a:p>
          <a:p xmlns:a="http://schemas.openxmlformats.org/drawingml/2006/main">
            <a:r>
              <a:t>재발 방지 조건: 자동 결정 전 법적·증빙 근거 확인 / 이의제기와 재심 경로 확보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"title": "호주 Robodebt",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"호주",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"행정 자동화·책임 통제",</a:t>
            </a:r>
          </a:p>
          <a:p xmlns:a="http://schemas.openxmlformats.org/drawingml/2006/main">
            <a:r>
              <a:t>    "period": "2023 최종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"행정 판단",</a:t>
            </a:r>
          </a:p>
          <a:p xmlns:a="http://schemas.openxmlformats.org/drawingml/2006/main">
            <a:r>
              <a:t>      "적법성",</a:t>
            </a:r>
          </a:p>
          <a:p xmlns:a="http://schemas.openxmlformats.org/drawingml/2006/main">
            <a:r>
              <a:t>      "이의제기",</a:t>
            </a:r>
          </a:p>
          <a:p xmlns:a="http://schemas.openxmlformats.org/drawingml/2006/main">
            <a:r>
              <a:t>      "공정성"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"왕립위원회 최종 조사에서 자동 결정의 법적 틀·재심 경로·데이터 교환 통제·취약계층 대응 개선 권고",</a:t>
            </a:r>
          </a:p>
          <a:p xmlns:a="http://schemas.openxmlformats.org/drawingml/2006/main">
            <a:r>
              <a:t>    "limit": "규칙 기반 행정 자동화의 실패 교훈 · 생성형 AI 사례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"자동 산정·결정",</a:t>
            </a:r>
          </a:p>
          <a:p xmlns:a="http://schemas.openxmlformats.org/drawingml/2006/main">
            <a:r>
              <a:t>      "대상자 통지",</a:t>
            </a:r>
          </a:p>
          <a:p xmlns:a="http://schemas.openxmlformats.org/drawingml/2006/main">
            <a:r>
              <a:t>      "이의제기·재심"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 권고의 대상 업무를 설명하기 위한 재구성",</a:t>
            </a:r>
          </a:p>
          <a:p xmlns:a="http://schemas.openxmlformats.org/drawingml/2006/main">
            <a:r>
              <a:t>    "lesson":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"근거·입력 검증 / 자동 확정 제한 / 이의제기·재검토 연결",</a:t>
            </a:r>
          </a:p>
          <a:p xmlns:a="http://schemas.openxmlformats.org/drawingml/2006/main">
            <a:r>
              <a:t>    "test": "누락·기간 불일치·권한 부재 시 보류 및 재심 처리 추적",</a:t>
            </a:r>
          </a:p>
          <a:p xmlns:a="http://schemas.openxmlformats.org/drawingml/2006/main">
            <a:r>
              <a:t>    "metric": "근거 누락률 / 오판 보완률 / 이의처리 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"canonicalId": "AX07",</a:t>
            </a:r>
          </a:p>
          <a:p xmlns:a="http://schemas.openxmlformats.org/drawingml/2006/main">
            <a:r>
              <a:t>    "purpose": "자동 행정 산정의 근거·재심 체계 분석",</a:t>
            </a:r>
          </a:p>
          <a:p xmlns:a="http://schemas.openxmlformats.org/drawingml/2006/main">
            <a:r>
              <a:t>    "users": "행정 담당자·대상자·재심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"산정·통지",</a:t>
            </a:r>
          </a:p>
          <a:p xmlns:a="http://schemas.openxmlformats.org/drawingml/2006/main">
            <a:r>
              <a:t>      "이의제기"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"기관 자료 교환",</a:t>
            </a:r>
          </a:p>
          <a:p xmlns:a="http://schemas.openxmlformats.org/drawingml/2006/main">
            <a:r>
              <a:t>        "detail": "자료의 대상·기간·적용 근거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"기관 간 자료 / 산정·통지 / 이의제기",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"자동 산정·통지",</a:t>
            </a:r>
          </a:p>
          <a:p xmlns:a="http://schemas.openxmlformats.org/drawingml/2006/main">
            <a:r>
              <a:t>        "detail": "불일치 자료의 자동 확정 보류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"대상자·재심 담당",</a:t>
            </a:r>
          </a:p>
          <a:p xmlns:a="http://schemas.openxmlformats.org/drawingml/2006/main">
            <a:r>
              <a:t>        "detail": "담당자 검토와 설명 가능한 통지·재심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"소득·산정 근거",</a:t>
            </a:r>
          </a:p>
          <a:p xmlns:a="http://schemas.openxmlformats.org/drawingml/2006/main">
            <a:r>
              <a:t>        "detail": "소득 등 원천자료와 적용기간 분리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"오판·이의제기 결과의 규칙 및 절차 개선",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"기관 간 자료",</a:t>
            </a:r>
          </a:p>
          <a:p xmlns:a="http://schemas.openxmlformats.org/drawingml/2006/main">
            <a:r>
              <a:t>        "input": "자료의 대상·기간·적용 근거 대조",</a:t>
            </a:r>
          </a:p>
          <a:p xmlns:a="http://schemas.openxmlformats.org/drawingml/2006/main">
            <a:r>
              <a:t>        "process": "소득 등 원천자료와 적용기간 분리 관리",</a:t>
            </a:r>
          </a:p>
          <a:p xmlns:a="http://schemas.openxmlformats.org/drawingml/2006/main">
            <a:r>
              <a:t>        "output": "기관별 소득자료"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"자동 산정·결정",</a:t>
            </a:r>
          </a:p>
          <a:p xmlns:a="http://schemas.openxmlformats.org/drawingml/2006/main">
            <a:r>
              <a:t>        "input": "기관별 소득자료",</a:t>
            </a:r>
          </a:p>
          <a:p xmlns:a="http://schemas.openxmlformats.org/drawingml/2006/main">
            <a:r>
              <a:t>        "process": "불일치 자료의 자동 확정 보류 설계",</a:t>
            </a:r>
          </a:p>
          <a:p xmlns:a="http://schemas.openxmlformats.org/drawingml/2006/main">
            <a:r>
              <a:t>        "output": "산정 대상·기간"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"대상자 통지",</a:t>
            </a:r>
          </a:p>
          <a:p xmlns:a="http://schemas.openxmlformats.org/drawingml/2006/main">
            <a:r>
              <a:t>        "input": "산정 대상·기간",</a:t>
            </a:r>
          </a:p>
          <a:p xmlns:a="http://schemas.openxmlformats.org/drawingml/2006/main">
            <a:r>
              <a:t>        "process": "원천 증빙 불일치 시 자동 확정 보류",</a:t>
            </a:r>
          </a:p>
          <a:p xmlns:a="http://schemas.openxmlformats.org/drawingml/2006/main">
            <a:r>
              <a:t>        "output": "채무 통지"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"이의제기·재심",</a:t>
            </a:r>
          </a:p>
          <a:p xmlns:a="http://schemas.openxmlformats.org/drawingml/2006/main">
            <a:r>
              <a:t>        "input": "채무 통지",</a:t>
            </a:r>
          </a:p>
          <a:p xmlns:a="http://schemas.openxmlformats.org/drawingml/2006/main">
            <a:r>
              <a:t>        "process": "담당자 검토와 설명 가능한 통지·재심 연결",</a:t>
            </a:r>
          </a:p>
          <a:p xmlns:a="http://schemas.openxmlformats.org/drawingml/2006/main">
            <a:r>
              <a:t>        "output": "이의·재심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"기간이 일치하는 증빙을 확인한 뒤 담당자가 행정 결과 검토",</a:t>
            </a:r>
          </a:p>
          <a:p xmlns:a="http://schemas.openxmlformats.org/drawingml/2006/main">
            <a:r>
              <a:t>      "exception": "연간 자료를 짧은 기간에 일률 배분·당사자 반박 증빙",</a:t>
            </a:r>
          </a:p>
          <a:p xmlns:a="http://schemas.openxmlformats.org/drawingml/2006/main">
            <a:r>
              <a:t>      "evidence": "기간별 산정 대사와 보류·재심·담당자 판단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"행정 담당자·대상자·재심 담당",</a:t>
            </a:r>
          </a:p>
          <a:p xmlns:a="http://schemas.openxmlformats.org/drawingml/2006/main">
            <a:r>
              <a:t>          "processing": "자료의 대상·기간·적용 근거 대조",</a:t>
            </a:r>
          </a:p>
          <a:p xmlns:a="http://schemas.openxmlformats.org/drawingml/2006/main">
            <a:r>
              <a:t>          "output": "기관별 소득자료"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"소득·산정 근거",</a:t>
            </a:r>
          </a:p>
          <a:p xmlns:a="http://schemas.openxmlformats.org/drawingml/2006/main">
            <a:r>
              <a:t>          "processing": "소득 등 원천자료와 적용기간 분리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"기관별 소득자료",</a:t>
            </a:r>
          </a:p>
          <a:p xmlns:a="http://schemas.openxmlformats.org/drawingml/2006/main">
            <a:r>
              <a:t>          "processing": "불일치 자료의 자동 확정 보류 설계",</a:t>
            </a:r>
          </a:p>
          <a:p xmlns:a="http://schemas.openxmlformats.org/drawingml/2006/main">
            <a:r>
              <a:t>          "output": "채무 통지"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"채무 통지",</a:t>
            </a:r>
          </a:p>
          <a:p xmlns:a="http://schemas.openxmlformats.org/drawingml/2006/main">
            <a:r>
              <a:t>          "processing": "담당자 검토와 설명 가능한 통지·재심 연결",</a:t>
            </a:r>
          </a:p>
          <a:p xmlns:a="http://schemas.openxmlformats.org/drawingml/2006/main">
            <a:r>
              <a:t>          "output": "이의·재심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"오판·이의제기 결과의 규칙 및 절차 개선",</a:t>
            </a:r>
          </a:p>
          <a:p xmlns:a="http://schemas.openxmlformats.org/drawingml/2006/main">
            <a:r>
              <a:t>          "output":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"오판·이의제기 결과의 규칙 및 절차 개선",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"S08",</a:t>
            </a:r>
          </a:p>
          <a:p xmlns:a="http://schemas.openxmlformats.org/drawingml/2006/main">
            <a:r>
              <a:t>        "title": "호주 왕립위원회 · Robodebt 최종 보고서",</a:t>
            </a:r>
          </a:p>
          <a:p xmlns:a="http://schemas.openxmlformats.org/drawingml/2006/main">
            <a:r>
              <a:t>        "url": "https://robodebt.royalcommission.gov.au/publications/report",</a:t>
            </a:r>
          </a:p>
          <a:p xmlns:a="http://schemas.openxmlformats.org/drawingml/2006/main">
            <a:r>
              <a:t>        "published": "2023-07-07",</a:t>
            </a:r>
          </a:p>
          <a:p xmlns:a="http://schemas.openxmlformats.org/drawingml/2006/main">
            <a:r>
              <a:t>        "level": "독립 조사 / 2023-07-11 정정본 안내",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"기관 자료를 이용한 자동 산정·통지의 법적·증빙 통제 실패를 다룬 사례. 생성형 AI의 오답 문제보다 자료의 적용 기간과 산정 전제, 당사자의 이의제기 절차가 핵심인 행정 자동화 사례.",</a:t>
            </a:r>
          </a:p>
          <a:p xmlns:a="http://schemas.openxmlformats.org/drawingml/2006/main">
            <a:r>
              <a:t>      "원천 소득자료와 산정 대상 기간을 연결한 뒤 불일치 자료를 사람이 검토하도록 하는 재발 방지 구조. 통지에는 사용 근거와 산정 경로를 남기고 이의제기·재심 결과를 원 규칙에 환류하는 설계.",</a:t>
            </a:r>
          </a:p>
          <a:p xmlns:a="http://schemas.openxmlformats.org/drawingml/2006/main">
            <a:r>
              <a:t>      "TS에서는 AI 분류·계산 결과를 처분·부과·승인으로 곧바로 확정하지 않는 책임 경계에 활용. 근거 없는 자동 확정 차단, 기간 불일치 탐지, 재심 가능성과 증빙 추적을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"행정 산정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"행정 담당자·대상자·재심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"대상·적용기간",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"자료의 대상·기간·적용 근거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"원천 소득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"기관별 소득자료",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"기간·산식 대조",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"불일치 자료의 자동 확정 보류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"증빙 불일치 보류",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"원천 증빙 불일치 시 자동 확정 보류",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"담당자 근거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"기간이 일치하는 증빙을 확인한 뒤 담당자가 행정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"통지·이의제기",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 검토와 설명 가능한 통지·재심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"재심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"오판·이의제기 결과의 규칙 및 절차 개선",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"기관 소득자료",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"소득·산정 근거",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"기간·식별자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"소득 등 원천자료와 적용기간 분리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"근거·통지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"기간별 산정 대사와 보류·재심·담당자 판단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"산정·재심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"연간 자료를 짧은 기간에 일률 배분·당사자 반박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"자료의 대상·기간·적용 근거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"기관별 소득자료",</a:t>
            </a:r>
          </a:p>
          <a:p xmlns:a="http://schemas.openxmlformats.org/drawingml/2006/main">
            <a:r>
              <a:t>          "check": "원천 증빙 불일치 시 자동 확정 보류"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"산정 대상·기간",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"기간별 산정 후보·소득 증빙",</a:t>
            </a:r>
          </a:p>
          <a:p xmlns:a="http://schemas.openxmlformats.org/drawingml/2006/main">
            <a:r>
              <a:t>          "check": "연간 자료를 짧은 기간에 일률 배분·당사자 반박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"채무 통지",</a:t>
            </a:r>
          </a:p>
          <a:p xmlns:a="http://schemas.openxmlformats.org/drawingml/2006/main">
            <a:r>
              <a:t>          "check": "담당자 검토와 설명 가능한 통지·재심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"이의·재심 기록",</a:t>
            </a:r>
          </a:p>
          <a:p xmlns:a="http://schemas.openxmlformats.org/drawingml/2006/main">
            <a:r>
              <a:t>          "check":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"자동 행정 산정의 근거·재심 체계 분석 / 기관 간 자료·산정·통지·이의제기",</a:t>
            </a:r>
          </a:p>
          <a:p xmlns:a="http://schemas.openxmlformats.org/drawingml/2006/main">
            <a:r>
              <a:t>        "extension": "검사·지원·자격 업무의 근거 조문·증빙·전결 확인 후 담당자 판단"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"연간 자료를 짧은 기간에 일률 배분·당사자 반박 증빙",</a:t>
            </a:r>
          </a:p>
          <a:p xmlns:a="http://schemas.openxmlformats.org/drawingml/2006/main">
            <a:r>
              <a:t>        "hold": "원천 증빙 불일치 시 자동 확정 보류",</a:t>
            </a:r>
          </a:p>
          <a:p xmlns:a="http://schemas.openxmlformats.org/drawingml/2006/main">
            <a:r>
              <a:t>        "recovery": "오판·이의제기 결과의 규칙 및 절차 개선",</a:t>
            </a:r>
          </a:p>
          <a:p xmlns:a="http://schemas.openxmlformats.org/drawingml/2006/main">
            <a:r>
              <a:t>        "evidence": "기간별 산정 대사와 보류·재심·담당자 판단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"소득·산정 근거",</a:t>
            </a:r>
          </a:p>
          <a:p xmlns:a="http://schemas.openxmlformats.org/drawingml/2006/main">
            <a:r>
              <a:t>        "prepare": "소득 등 원천자료와 적용기간 분리 관리",</a:t>
            </a:r>
          </a:p>
          <a:p xmlns:a="http://schemas.openxmlformats.org/drawingml/2006/main">
            <a:r>
              <a:t>        "output": "기관별 소득자료",</a:t>
            </a:r>
          </a:p>
          <a:p xmlns:a="http://schemas.openxmlformats.org/drawingml/2006/main">
            <a:r>
              <a:t>        "refresh": "오판·이의제기 결과의 규칙 및 절차 개선"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 결정 전 법적·증빙 근거 확인",</a:t>
            </a:r>
          </a:p>
          <a:p xmlns:a="http://schemas.openxmlformats.org/drawingml/2006/main">
            <a:r>
              <a:t>      "이의제기와 재심 경로 확보"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"자료 기간·산정 전제의 부적합",</a:t>
            </a:r>
          </a:p>
          <a:p xmlns:a="http://schemas.openxmlformats.org/drawingml/2006/main">
            <a:r>
              <a:t>      "자동 판단에 대한 책임·재심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"기관 자료 교환",</a:t>
            </a:r>
          </a:p>
          <a:p xmlns:a="http://schemas.openxmlformats.org/drawingml/2006/main">
            <a:r>
              <a:t>      "자동 산정·통지",</a:t>
            </a:r>
          </a:p>
          <a:p xmlns:a="http://schemas.openxmlformats.org/drawingml/2006/main">
            <a:r>
              <a:t>      "소득·산정 근거",</a:t>
            </a:r>
          </a:p>
          <a:p xmlns:a="http://schemas.openxmlformats.org/drawingml/2006/main">
            <a:r>
              <a:t>      "대상자·재심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"기관별 소득자료",</a:t>
            </a:r>
          </a:p>
          <a:p xmlns:a="http://schemas.openxmlformats.org/drawingml/2006/main">
            <a:r>
              <a:t>      "산정 대상·기간",</a:t>
            </a:r>
          </a:p>
          <a:p xmlns:a="http://schemas.openxmlformats.org/drawingml/2006/main">
            <a:r>
              <a:t>      "채무 통지",</a:t>
            </a:r>
          </a:p>
          <a:p xmlns:a="http://schemas.openxmlformats.org/drawingml/2006/main">
            <a:r>
              <a:t>      "이의·재심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"원천 증빙 불일치 시 자동 확정 보류",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호주 왕립위원회 · Robodebt 최종 보고서 https://robodebt.royalcommission.gov.au/publications/report</a:t>
            </a:r>
          </a:p>
          <a:p xmlns:a="http://schemas.openxmlformats.org/drawingml/2006/main">
            <a:r>
              <a:t>홈페이지 https://heen1987-ops.github.io/TS-business-Plan-001/index.html?view=casebook&amp;case=AX07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"title": "호주 Robodebt",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"호주",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"행정 자동화·책임 통제",</a:t>
            </a:r>
          </a:p>
          <a:p xmlns:a="http://schemas.openxmlformats.org/drawingml/2006/main">
            <a:r>
              <a:t>    "period": "2023 최종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"행정 판단",</a:t>
            </a:r>
          </a:p>
          <a:p xmlns:a="http://schemas.openxmlformats.org/drawingml/2006/main">
            <a:r>
              <a:t>      "적법성",</a:t>
            </a:r>
          </a:p>
          <a:p xmlns:a="http://schemas.openxmlformats.org/drawingml/2006/main">
            <a:r>
              <a:t>      "이의제기",</a:t>
            </a:r>
          </a:p>
          <a:p xmlns:a="http://schemas.openxmlformats.org/drawingml/2006/main">
            <a:r>
              <a:t>      "공정성"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"왕립위원회 최종 조사에서 자동 결정의 법적 틀·재심 경로·데이터 교환 통제·취약계층 대응 개선 권고",</a:t>
            </a:r>
          </a:p>
          <a:p xmlns:a="http://schemas.openxmlformats.org/drawingml/2006/main">
            <a:r>
              <a:t>    "limit": "규칙 기반 행정 자동화의 실패 교훈 · 생성형 AI 사례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"자동 산정·결정",</a:t>
            </a:r>
          </a:p>
          <a:p xmlns:a="http://schemas.openxmlformats.org/drawingml/2006/main">
            <a:r>
              <a:t>      "대상자 통지",</a:t>
            </a:r>
          </a:p>
          <a:p xmlns:a="http://schemas.openxmlformats.org/drawingml/2006/main">
            <a:r>
              <a:t>      "이의제기·재심"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 권고의 대상 업무를 설명하기 위한 재구성",</a:t>
            </a:r>
          </a:p>
          <a:p xmlns:a="http://schemas.openxmlformats.org/drawingml/2006/main">
            <a:r>
              <a:t>    "lesson":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"근거·입력 검증 / 자동 확정 제한 / 이의제기·재검토 연결",</a:t>
            </a:r>
          </a:p>
          <a:p xmlns:a="http://schemas.openxmlformats.org/drawingml/2006/main">
            <a:r>
              <a:t>    "test": "누락·기간 불일치·권한 부재 시 보류 및 재심 처리 추적",</a:t>
            </a:r>
          </a:p>
          <a:p xmlns:a="http://schemas.openxmlformats.org/drawingml/2006/main">
            <a:r>
              <a:t>    "metric": "근거 누락률 / 오판 보완률 / 이의처리 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"canonicalId": "AX07",</a:t>
            </a:r>
          </a:p>
          <a:p xmlns:a="http://schemas.openxmlformats.org/drawingml/2006/main">
            <a:r>
              <a:t>    "purpose": "자동 행정 산정의 근거·재심 체계 분석",</a:t>
            </a:r>
          </a:p>
          <a:p xmlns:a="http://schemas.openxmlformats.org/drawingml/2006/main">
            <a:r>
              <a:t>    "users": "행정 담당자·대상자·재심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"산정·통지",</a:t>
            </a:r>
          </a:p>
          <a:p xmlns:a="http://schemas.openxmlformats.org/drawingml/2006/main">
            <a:r>
              <a:t>      "이의제기"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"기관 자료 교환",</a:t>
            </a:r>
          </a:p>
          <a:p xmlns:a="http://schemas.openxmlformats.org/drawingml/2006/main">
            <a:r>
              <a:t>        "detail": "자료의 대상·기간·적용 근거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"기관 간 자료 / 산정·통지 / 이의제기",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"자동 산정·통지",</a:t>
            </a:r>
          </a:p>
          <a:p xmlns:a="http://schemas.openxmlformats.org/drawingml/2006/main">
            <a:r>
              <a:t>        "detail": "불일치 자료의 자동 확정 보류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"대상자·재심 담당",</a:t>
            </a:r>
          </a:p>
          <a:p xmlns:a="http://schemas.openxmlformats.org/drawingml/2006/main">
            <a:r>
              <a:t>        "detail": "담당자 검토와 설명 가능한 통지·재심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"소득·산정 근거",</a:t>
            </a:r>
          </a:p>
          <a:p xmlns:a="http://schemas.openxmlformats.org/drawingml/2006/main">
            <a:r>
              <a:t>        "detail": "소득 등 원천자료와 적용기간 분리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"오판·이의제기 결과의 규칙 및 절차 개선",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"기관 간 자료",</a:t>
            </a:r>
          </a:p>
          <a:p xmlns:a="http://schemas.openxmlformats.org/drawingml/2006/main">
            <a:r>
              <a:t>        "input": "자료의 대상·기간·적용 근거 대조",</a:t>
            </a:r>
          </a:p>
          <a:p xmlns:a="http://schemas.openxmlformats.org/drawingml/2006/main">
            <a:r>
              <a:t>        "process": "소득 등 원천자료와 적용기간 분리 관리",</a:t>
            </a:r>
          </a:p>
          <a:p xmlns:a="http://schemas.openxmlformats.org/drawingml/2006/main">
            <a:r>
              <a:t>        "output": "기관별 소득자료"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"자동 산정·결정",</a:t>
            </a:r>
          </a:p>
          <a:p xmlns:a="http://schemas.openxmlformats.org/drawingml/2006/main">
            <a:r>
              <a:t>        "input": "기관별 소득자료",</a:t>
            </a:r>
          </a:p>
          <a:p xmlns:a="http://schemas.openxmlformats.org/drawingml/2006/main">
            <a:r>
              <a:t>        "process": "불일치 자료의 자동 확정 보류 설계",</a:t>
            </a:r>
          </a:p>
          <a:p xmlns:a="http://schemas.openxmlformats.org/drawingml/2006/main">
            <a:r>
              <a:t>        "output": "산정 대상·기간"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"대상자 통지",</a:t>
            </a:r>
          </a:p>
          <a:p xmlns:a="http://schemas.openxmlformats.org/drawingml/2006/main">
            <a:r>
              <a:t>        "input": "산정 대상·기간",</a:t>
            </a:r>
          </a:p>
          <a:p xmlns:a="http://schemas.openxmlformats.org/drawingml/2006/main">
            <a:r>
              <a:t>        "process": "원천 증빙 불일치 시 자동 확정 보류",</a:t>
            </a:r>
          </a:p>
          <a:p xmlns:a="http://schemas.openxmlformats.org/drawingml/2006/main">
            <a:r>
              <a:t>        "output": "채무 통지"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"이의제기·재심",</a:t>
            </a:r>
          </a:p>
          <a:p xmlns:a="http://schemas.openxmlformats.org/drawingml/2006/main">
            <a:r>
              <a:t>        "input": "채무 통지",</a:t>
            </a:r>
          </a:p>
          <a:p xmlns:a="http://schemas.openxmlformats.org/drawingml/2006/main">
            <a:r>
              <a:t>        "process": "담당자 검토와 설명 가능한 통지·재심 연결",</a:t>
            </a:r>
          </a:p>
          <a:p xmlns:a="http://schemas.openxmlformats.org/drawingml/2006/main">
            <a:r>
              <a:t>        "output": "이의·재심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"기간이 일치하는 증빙을 확인한 뒤 담당자가 행정 결과 검토",</a:t>
            </a:r>
          </a:p>
          <a:p xmlns:a="http://schemas.openxmlformats.org/drawingml/2006/main">
            <a:r>
              <a:t>      "exception": "연간 자료를 짧은 기간에 일률 배분·당사자 반박 증빙",</a:t>
            </a:r>
          </a:p>
          <a:p xmlns:a="http://schemas.openxmlformats.org/drawingml/2006/main">
            <a:r>
              <a:t>      "evidence": "기간별 산정 대사와 보류·재심·담당자 판단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"행정 담당자·대상자·재심 담당",</a:t>
            </a:r>
          </a:p>
          <a:p xmlns:a="http://schemas.openxmlformats.org/drawingml/2006/main">
            <a:r>
              <a:t>          "processing": "자료의 대상·기간·적용 근거 대조",</a:t>
            </a:r>
          </a:p>
          <a:p xmlns:a="http://schemas.openxmlformats.org/drawingml/2006/main">
            <a:r>
              <a:t>          "output": "기관별 소득자료"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"소득·산정 근거",</a:t>
            </a:r>
          </a:p>
          <a:p xmlns:a="http://schemas.openxmlformats.org/drawingml/2006/main">
            <a:r>
              <a:t>          "processing": "소득 등 원천자료와 적용기간 분리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"기관별 소득자료",</a:t>
            </a:r>
          </a:p>
          <a:p xmlns:a="http://schemas.openxmlformats.org/drawingml/2006/main">
            <a:r>
              <a:t>          "processing": "불일치 자료의 자동 확정 보류 설계",</a:t>
            </a:r>
          </a:p>
          <a:p xmlns:a="http://schemas.openxmlformats.org/drawingml/2006/main">
            <a:r>
              <a:t>          "output": "채무 통지"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"채무 통지",</a:t>
            </a:r>
          </a:p>
          <a:p xmlns:a="http://schemas.openxmlformats.org/drawingml/2006/main">
            <a:r>
              <a:t>          "processing": "담당자 검토와 설명 가능한 통지·재심 연결",</a:t>
            </a:r>
          </a:p>
          <a:p xmlns:a="http://schemas.openxmlformats.org/drawingml/2006/main">
            <a:r>
              <a:t>          "output": "이의·재심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"오판·이의제기 결과의 규칙 및 절차 개선",</a:t>
            </a:r>
          </a:p>
          <a:p xmlns:a="http://schemas.openxmlformats.org/drawingml/2006/main">
            <a:r>
              <a:t>          "output":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"오판·이의제기 결과의 규칙 및 절차 개선",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"S08",</a:t>
            </a:r>
          </a:p>
          <a:p xmlns:a="http://schemas.openxmlformats.org/drawingml/2006/main">
            <a:r>
              <a:t>        "title": "호주 왕립위원회 · Robodebt 최종 보고서",</a:t>
            </a:r>
          </a:p>
          <a:p xmlns:a="http://schemas.openxmlformats.org/drawingml/2006/main">
            <a:r>
              <a:t>        "url": "https://robodebt.royalcommission.gov.au/publications/report",</a:t>
            </a:r>
          </a:p>
          <a:p xmlns:a="http://schemas.openxmlformats.org/drawingml/2006/main">
            <a:r>
              <a:t>        "published": "2023-07-07",</a:t>
            </a:r>
          </a:p>
          <a:p xmlns:a="http://schemas.openxmlformats.org/drawingml/2006/main">
            <a:r>
              <a:t>        "level": "독립 조사 / 2023-07-11 정정본 안내",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"기관 자료를 이용한 자동 산정·통지의 법적·증빙 통제 실패를 다룬 사례. 생성형 AI의 오답 문제보다 자료의 적용 기간과 산정 전제, 당사자의 이의제기 절차가 핵심인 행정 자동화 사례.",</a:t>
            </a:r>
          </a:p>
          <a:p xmlns:a="http://schemas.openxmlformats.org/drawingml/2006/main">
            <a:r>
              <a:t>      "원천 소득자료와 산정 대상 기간을 연결한 뒤 불일치 자료를 사람이 검토하도록 하는 재발 방지 구조. 통지에는 사용 근거와 산정 경로를 남기고 이의제기·재심 결과를 원 규칙에 환류하는 설계.",</a:t>
            </a:r>
          </a:p>
          <a:p xmlns:a="http://schemas.openxmlformats.org/drawingml/2006/main">
            <a:r>
              <a:t>      "TS에서는 AI 분류·계산 결과를 처분·부과·승인으로 곧바로 확정하지 않는 책임 경계에 활용. 근거 없는 자동 확정 차단, 기간 불일치 탐지, 재심 가능성과 증빙 추적을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"행정 산정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"행정 담당자·대상자·재심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"대상·적용기간",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"자료의 대상·기간·적용 근거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"원천 소득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"기관별 소득자료",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"기간·산식 대조",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"불일치 자료의 자동 확정 보류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"증빙 불일치 보류",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"원천 증빙 불일치 시 자동 확정 보류",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"담당자 근거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"기간이 일치하는 증빙을 확인한 뒤 담당자가 행정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"통지·이의제기",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 검토와 설명 가능한 통지·재심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"재심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"오판·이의제기 결과의 규칙 및 절차 개선",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"기관 소득자료",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"소득·산정 근거",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"기간·식별자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"소득 등 원천자료와 적용기간 분리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"근거·통지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"기간별 산정 대사와 보류·재심·담당자 판단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"산정·재심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"연간 자료를 짧은 기간에 일률 배분·당사자 반박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"자료의 대상·기간·적용 근거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"기관별 소득자료",</a:t>
            </a:r>
          </a:p>
          <a:p xmlns:a="http://schemas.openxmlformats.org/drawingml/2006/main">
            <a:r>
              <a:t>          "check": "원천 증빙 불일치 시 자동 확정 보류"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"산정 대상·기간",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"기간별 산정 후보·소득 증빙",</a:t>
            </a:r>
          </a:p>
          <a:p xmlns:a="http://schemas.openxmlformats.org/drawingml/2006/main">
            <a:r>
              <a:t>          "check": "연간 자료를 짧은 기간에 일률 배분·당사자 반박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"채무 통지",</a:t>
            </a:r>
          </a:p>
          <a:p xmlns:a="http://schemas.openxmlformats.org/drawingml/2006/main">
            <a:r>
              <a:t>          "check": "담당자 검토와 설명 가능한 통지·재심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"이의·재심 기록",</a:t>
            </a:r>
          </a:p>
          <a:p xmlns:a="http://schemas.openxmlformats.org/drawingml/2006/main">
            <a:r>
              <a:t>          "check":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"자동 행정 산정의 근거·재심 체계 분석 / 기관 간 자료·산정·통지·이의제기",</a:t>
            </a:r>
          </a:p>
          <a:p xmlns:a="http://schemas.openxmlformats.org/drawingml/2006/main">
            <a:r>
              <a:t>        "extension": "검사·지원·자격 업무의 근거 조문·증빙·전결 확인 후 담당자 판단"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"연간 자료를 짧은 기간에 일률 배분·당사자 반박 증빙",</a:t>
            </a:r>
          </a:p>
          <a:p xmlns:a="http://schemas.openxmlformats.org/drawingml/2006/main">
            <a:r>
              <a:t>        "hold": "원천 증빙 불일치 시 자동 확정 보류",</a:t>
            </a:r>
          </a:p>
          <a:p xmlns:a="http://schemas.openxmlformats.org/drawingml/2006/main">
            <a:r>
              <a:t>        "recovery": "오판·이의제기 결과의 규칙 및 절차 개선",</a:t>
            </a:r>
          </a:p>
          <a:p xmlns:a="http://schemas.openxmlformats.org/drawingml/2006/main">
            <a:r>
              <a:t>        "evidence": "기간별 산정 대사와 보류·재심·담당자 판단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"소득·산정 근거",</a:t>
            </a:r>
          </a:p>
          <a:p xmlns:a="http://schemas.openxmlformats.org/drawingml/2006/main">
            <a:r>
              <a:t>        "prepare": "소득 등 원천자료와 적용기간 분리 관리",</a:t>
            </a:r>
          </a:p>
          <a:p xmlns:a="http://schemas.openxmlformats.org/drawingml/2006/main">
            <a:r>
              <a:t>        "output": "기관별 소득자료",</a:t>
            </a:r>
          </a:p>
          <a:p xmlns:a="http://schemas.openxmlformats.org/drawingml/2006/main">
            <a:r>
              <a:t>        "refresh": "오판·이의제기 결과의 규칙 및 절차 개선"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 결정 전 법적·증빙 근거 확인",</a:t>
            </a:r>
          </a:p>
          <a:p xmlns:a="http://schemas.openxmlformats.org/drawingml/2006/main">
            <a:r>
              <a:t>      "이의제기와 재심 경로 확보"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"자료 기간·산정 전제의 부적합",</a:t>
            </a:r>
          </a:p>
          <a:p xmlns:a="http://schemas.openxmlformats.org/drawingml/2006/main">
            <a:r>
              <a:t>      "자동 판단에 대한 책임·재심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"기관 자료 교환",</a:t>
            </a:r>
          </a:p>
          <a:p xmlns:a="http://schemas.openxmlformats.org/drawingml/2006/main">
            <a:r>
              <a:t>      "자동 산정·통지",</a:t>
            </a:r>
          </a:p>
          <a:p xmlns:a="http://schemas.openxmlformats.org/drawingml/2006/main">
            <a:r>
              <a:t>      "소득·산정 근거",</a:t>
            </a:r>
          </a:p>
          <a:p xmlns:a="http://schemas.openxmlformats.org/drawingml/2006/main">
            <a:r>
              <a:t>      "대상자·재심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"기관별 소득자료",</a:t>
            </a:r>
          </a:p>
          <a:p xmlns:a="http://schemas.openxmlformats.org/drawingml/2006/main">
            <a:r>
              <a:t>      "산정 대상·기간",</a:t>
            </a:r>
          </a:p>
          <a:p xmlns:a="http://schemas.openxmlformats.org/drawingml/2006/main">
            <a:r>
              <a:t>      "채무 통지",</a:t>
            </a:r>
          </a:p>
          <a:p xmlns:a="http://schemas.openxmlformats.org/drawingml/2006/main">
            <a:r>
              <a:t>      "이의·재심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"원천 증빙 불일치 시 자동 확정 보류",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호주 왕립위원회 · Robodebt 최종 보고서 https://robodebt.royalcommission.gov.au/publications/report</a:t>
            </a:r>
          </a:p>
          <a:p xmlns:a="http://schemas.openxmlformats.org/drawingml/2006/main">
            <a:r>
              <a:t>홈페이지 https://heen1987-ops.github.io/TS-business-Plan-001/index.html?view=casebook&amp;case=AX07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"title": "호주 Robodebt",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"호주",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"행정 자동화·책임 통제",</a:t>
            </a:r>
          </a:p>
          <a:p xmlns:a="http://schemas.openxmlformats.org/drawingml/2006/main">
            <a:r>
              <a:t>    "period": "2023 최종 조사",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"행정 판단",</a:t>
            </a:r>
          </a:p>
          <a:p xmlns:a="http://schemas.openxmlformats.org/drawingml/2006/main">
            <a:r>
              <a:t>      "적법성",</a:t>
            </a:r>
          </a:p>
          <a:p xmlns:a="http://schemas.openxmlformats.org/drawingml/2006/main">
            <a:r>
              <a:t>      "이의제기",</a:t>
            </a:r>
          </a:p>
          <a:p xmlns:a="http://schemas.openxmlformats.org/drawingml/2006/main">
            <a:r>
              <a:t>      "공정성"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"왕립위원회 최종 조사에서 자동 결정의 법적 틀·재심 경로·데이터 교환 통제·취약계층 대응 개선 권고",</a:t>
            </a:r>
          </a:p>
          <a:p xmlns:a="http://schemas.openxmlformats.org/drawingml/2006/main">
            <a:r>
              <a:t>    "limit": "규칙 기반 행정 자동화의 실패 교훈 · 생성형 AI 사례 아님",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"자동 산정·결정",</a:t>
            </a:r>
          </a:p>
          <a:p xmlns:a="http://schemas.openxmlformats.org/drawingml/2006/main">
            <a:r>
              <a:t>      "대상자 통지",</a:t>
            </a:r>
          </a:p>
          <a:p xmlns:a="http://schemas.openxmlformats.org/drawingml/2006/main">
            <a:r>
              <a:t>      "이의제기·재심"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"조사 권고의 대상 업무를 설명하기 위한 재구성",</a:t>
            </a:r>
          </a:p>
          <a:p xmlns:a="http://schemas.openxmlformats.org/drawingml/2006/main">
            <a:r>
              <a:t>    "lesson":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"근거·입력 검증 / 자동 확정 제한 / 이의제기·재검토 연결",</a:t>
            </a:r>
          </a:p>
          <a:p xmlns:a="http://schemas.openxmlformats.org/drawingml/2006/main">
            <a:r>
              <a:t>    "test": "누락·기간 불일치·권한 부재 시 보류 및 재심 처리 추적",</a:t>
            </a:r>
          </a:p>
          <a:p xmlns:a="http://schemas.openxmlformats.org/drawingml/2006/main">
            <a:r>
              <a:t>    "metric": "근거 누락률 / 오판 보완률 / 이의처리 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"canonicalId": "AX07",</a:t>
            </a:r>
          </a:p>
          <a:p xmlns:a="http://schemas.openxmlformats.org/drawingml/2006/main">
            <a:r>
              <a:t>    "purpose": "자동 행정 산정의 근거·재심 체계 분석",</a:t>
            </a:r>
          </a:p>
          <a:p xmlns:a="http://schemas.openxmlformats.org/drawingml/2006/main">
            <a:r>
              <a:t>    "users": "행정 담당자·대상자·재심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"기관 간 자료",</a:t>
            </a:r>
          </a:p>
          <a:p xmlns:a="http://schemas.openxmlformats.org/drawingml/2006/main">
            <a:r>
              <a:t>      "산정·통지",</a:t>
            </a:r>
          </a:p>
          <a:p xmlns:a="http://schemas.openxmlformats.org/drawingml/2006/main">
            <a:r>
              <a:t>      "이의제기"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"기관 자료 교환",</a:t>
            </a:r>
          </a:p>
          <a:p xmlns:a="http://schemas.openxmlformats.org/drawingml/2006/main">
            <a:r>
              <a:t>        "detail": "자료의 대상·기간·적용 근거 대조",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"기관 간 자료 / 산정·통지 / 이의제기",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"자동 산정·통지",</a:t>
            </a:r>
          </a:p>
          <a:p xmlns:a="http://schemas.openxmlformats.org/drawingml/2006/main">
            <a:r>
              <a:t>        "detail": "불일치 자료의 자동 확정 보류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"대상자·재심 담당",</a:t>
            </a:r>
          </a:p>
          <a:p xmlns:a="http://schemas.openxmlformats.org/drawingml/2006/main">
            <a:r>
              <a:t>        "detail": "담당자 검토와 설명 가능한 통지·재심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"소득·산정 근거",</a:t>
            </a:r>
          </a:p>
          <a:p xmlns:a="http://schemas.openxmlformats.org/drawingml/2006/main">
            <a:r>
              <a:t>        "detail": "소득 등 원천자료와 적용기간 분리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"오판·이의제기 결과의 규칙 및 절차 개선",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"기관 간 자료",</a:t>
            </a:r>
          </a:p>
          <a:p xmlns:a="http://schemas.openxmlformats.org/drawingml/2006/main">
            <a:r>
              <a:t>        "input": "자료의 대상·기간·적용 근거 대조",</a:t>
            </a:r>
          </a:p>
          <a:p xmlns:a="http://schemas.openxmlformats.org/drawingml/2006/main">
            <a:r>
              <a:t>        "process": "소득 등 원천자료와 적용기간 분리 관리",</a:t>
            </a:r>
          </a:p>
          <a:p xmlns:a="http://schemas.openxmlformats.org/drawingml/2006/main">
            <a:r>
              <a:t>        "output": "기관별 소득자료"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"자동 산정·결정",</a:t>
            </a:r>
          </a:p>
          <a:p xmlns:a="http://schemas.openxmlformats.org/drawingml/2006/main">
            <a:r>
              <a:t>        "input": "기관별 소득자료",</a:t>
            </a:r>
          </a:p>
          <a:p xmlns:a="http://schemas.openxmlformats.org/drawingml/2006/main">
            <a:r>
              <a:t>        "process": "불일치 자료의 자동 확정 보류 설계",</a:t>
            </a:r>
          </a:p>
          <a:p xmlns:a="http://schemas.openxmlformats.org/drawingml/2006/main">
            <a:r>
              <a:t>        "output": "산정 대상·기간"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"대상자 통지",</a:t>
            </a:r>
          </a:p>
          <a:p xmlns:a="http://schemas.openxmlformats.org/drawingml/2006/main">
            <a:r>
              <a:t>        "input": "산정 대상·기간",</a:t>
            </a:r>
          </a:p>
          <a:p xmlns:a="http://schemas.openxmlformats.org/drawingml/2006/main">
            <a:r>
              <a:t>        "process": "원천 증빙 불일치 시 자동 확정 보류",</a:t>
            </a:r>
          </a:p>
          <a:p xmlns:a="http://schemas.openxmlformats.org/drawingml/2006/main">
            <a:r>
              <a:t>        "output": "채무 통지"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"이의제기·재심",</a:t>
            </a:r>
          </a:p>
          <a:p xmlns:a="http://schemas.openxmlformats.org/drawingml/2006/main">
            <a:r>
              <a:t>        "input": "채무 통지",</a:t>
            </a:r>
          </a:p>
          <a:p xmlns:a="http://schemas.openxmlformats.org/drawingml/2006/main">
            <a:r>
              <a:t>        "process": "담당자 검토와 설명 가능한 통지·재심 연결",</a:t>
            </a:r>
          </a:p>
          <a:p xmlns:a="http://schemas.openxmlformats.org/drawingml/2006/main">
            <a:r>
              <a:t>        "output": "이의·재심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"기간이 일치하는 증빙을 확인한 뒤 담당자가 행정 결과 검토",</a:t>
            </a:r>
          </a:p>
          <a:p xmlns:a="http://schemas.openxmlformats.org/drawingml/2006/main">
            <a:r>
              <a:t>      "exception": "연간 자료를 짧은 기간에 일률 배분·당사자 반박 증빙",</a:t>
            </a:r>
          </a:p>
          <a:p xmlns:a="http://schemas.openxmlformats.org/drawingml/2006/main">
            <a:r>
              <a:t>      "evidence": "기간별 산정 대사와 보류·재심·담당자 판단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"행정 담당자·대상자·재심 담당",</a:t>
            </a:r>
          </a:p>
          <a:p xmlns:a="http://schemas.openxmlformats.org/drawingml/2006/main">
            <a:r>
              <a:t>          "processing": "자료의 대상·기간·적용 근거 대조",</a:t>
            </a:r>
          </a:p>
          <a:p xmlns:a="http://schemas.openxmlformats.org/drawingml/2006/main">
            <a:r>
              <a:t>          "output": "기관별 소득자료"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"소득·산정 근거",</a:t>
            </a:r>
          </a:p>
          <a:p xmlns:a="http://schemas.openxmlformats.org/drawingml/2006/main">
            <a:r>
              <a:t>          "processing": "소득 등 원천자료와 적용기간 분리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"기관별 소득자료",</a:t>
            </a:r>
          </a:p>
          <a:p xmlns:a="http://schemas.openxmlformats.org/drawingml/2006/main">
            <a:r>
              <a:t>          "processing": "불일치 자료의 자동 확정 보류 설계",</a:t>
            </a:r>
          </a:p>
          <a:p xmlns:a="http://schemas.openxmlformats.org/drawingml/2006/main">
            <a:r>
              <a:t>          "output": "채무 통지"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"채무 통지",</a:t>
            </a:r>
          </a:p>
          <a:p xmlns:a="http://schemas.openxmlformats.org/drawingml/2006/main">
            <a:r>
              <a:t>          "processing": "담당자 검토와 설명 가능한 통지·재심 연결",</a:t>
            </a:r>
          </a:p>
          <a:p xmlns:a="http://schemas.openxmlformats.org/drawingml/2006/main">
            <a:r>
              <a:t>          "output": "이의·재심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"오판·이의제기 결과의 규칙 및 절차 개선",</a:t>
            </a:r>
          </a:p>
          <a:p xmlns:a="http://schemas.openxmlformats.org/drawingml/2006/main">
            <a:r>
              <a:t>          "output":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"오판·이의제기 결과의 규칙 및 절차 개선",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"S08",</a:t>
            </a:r>
          </a:p>
          <a:p xmlns:a="http://schemas.openxmlformats.org/drawingml/2006/main">
            <a:r>
              <a:t>        "title": "호주 왕립위원회 · Robodebt 최종 보고서",</a:t>
            </a:r>
          </a:p>
          <a:p xmlns:a="http://schemas.openxmlformats.org/drawingml/2006/main">
            <a:r>
              <a:t>        "url": "https://robodebt.royalcommission.gov.au/publications/report",</a:t>
            </a:r>
          </a:p>
          <a:p xmlns:a="http://schemas.openxmlformats.org/drawingml/2006/main">
            <a:r>
              <a:t>        "published": "2023-07-07",</a:t>
            </a:r>
          </a:p>
          <a:p xmlns:a="http://schemas.openxmlformats.org/drawingml/2006/main">
            <a:r>
              <a:t>        "level": "독립 조사 / 2023-07-11 정정본 안내",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"자동화 이전의 법적 근거·증빙 검증과 재심 경로",</a:t>
            </a:r>
          </a:p>
          <a:p xmlns:a="http://schemas.openxmlformats.org/drawingml/2006/main">
            <a:r>
              <a:t>    "local": "검사·지원·자격 업무의 근거 조문·증빙·전결 확인 후 담당자 판단",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"기관 자료를 이용한 자동 산정·통지의 법적·증빙 통제 실패를 다룬 사례. 생성형 AI의 오답 문제보다 자료의 적용 기간과 산정 전제, 당사자의 이의제기 절차가 핵심인 행정 자동화 사례.",</a:t>
            </a:r>
          </a:p>
          <a:p xmlns:a="http://schemas.openxmlformats.org/drawingml/2006/main">
            <a:r>
              <a:t>      "원천 소득자료와 산정 대상 기간을 연결한 뒤 불일치 자료를 사람이 검토하도록 하는 재발 방지 구조. 통지에는 사용 근거와 산정 경로를 남기고 이의제기·재심 결과를 원 규칙에 환류하는 설계.",</a:t>
            </a:r>
          </a:p>
          <a:p xmlns:a="http://schemas.openxmlformats.org/drawingml/2006/main">
            <a:r>
              <a:t>      "TS에서는 AI 분류·계산 결과를 처분·부과·승인으로 곧바로 확정하지 않는 책임 경계에 활용. 근거 없는 자동 확정 차단, 기간 불일치 탐지, 재심 가능성과 증빙 추적을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"행정 산정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"행정 담당자·대상자·재심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"대상·적용기간",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"자료의 대상·기간·적용 근거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"원천 소득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"기관별 소득자료",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"기간·산식 대조",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"불일치 자료의 자동 확정 보류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"증빙 불일치 보류",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"원천 증빙 불일치 시 자동 확정 보류",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"담당자 근거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"기간이 일치하는 증빙을 확인한 뒤 담당자가 행정 결과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"통지·이의제기",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 검토와 설명 가능한 통지·재심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"재심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"오판·이의제기 결과의 규칙 및 절차 개선",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"기관 소득자료",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"소득·산정 근거",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"기간·식별자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"소득 등 원천자료와 적용기간 분리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"근거·통지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"기간별 산정 대사와 보류·재심·담당자 판단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"산정·재심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"연간 자료를 짧은 기간에 일률 배분·당사자 반박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"자료의 대상·기간·적용 근거 대조",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"기관별 소득자료",</a:t>
            </a:r>
          </a:p>
          <a:p xmlns:a="http://schemas.openxmlformats.org/drawingml/2006/main">
            <a:r>
              <a:t>          "check": "원천 증빙 불일치 시 자동 확정 보류"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"산정 대상·기간",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"기간별 산정 후보·소득 증빙",</a:t>
            </a:r>
          </a:p>
          <a:p xmlns:a="http://schemas.openxmlformats.org/drawingml/2006/main">
            <a:r>
              <a:t>          "check": "연간 자료를 짧은 기간에 일률 배분·당사자 반박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"채무 통지",</a:t>
            </a:r>
          </a:p>
          <a:p xmlns:a="http://schemas.openxmlformats.org/drawingml/2006/main">
            <a:r>
              <a:t>          "check": "담당자 검토와 설명 가능한 통지·재심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"이의·재심 기록",</a:t>
            </a:r>
          </a:p>
          <a:p xmlns:a="http://schemas.openxmlformats.org/drawingml/2006/main">
            <a:r>
              <a:t>          "check": "기간별 산정 대사와 보류·재심·담당자 판단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"자동 행정 산정의 근거·재심 체계 분석 / 기관 간 자료·산정·통지·이의제기",</a:t>
            </a:r>
          </a:p>
          <a:p xmlns:a="http://schemas.openxmlformats.org/drawingml/2006/main">
            <a:r>
              <a:t>        "extension": "검사·지원·자격 업무의 근거 조문·증빙·전결 확인 후 담당자 판단"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"연간 자료를 짧은 기간에 일률 배분·당사자 반박 증빙",</a:t>
            </a:r>
          </a:p>
          <a:p xmlns:a="http://schemas.openxmlformats.org/drawingml/2006/main">
            <a:r>
              <a:t>        "hold": "원천 증빙 불일치 시 자동 확정 보류",</a:t>
            </a:r>
          </a:p>
          <a:p xmlns:a="http://schemas.openxmlformats.org/drawingml/2006/main">
            <a:r>
              <a:t>        "recovery": "오판·이의제기 결과의 규칙 및 절차 개선",</a:t>
            </a:r>
          </a:p>
          <a:p xmlns:a="http://schemas.openxmlformats.org/drawingml/2006/main">
            <a:r>
              <a:t>        "evidence": "기간별 산정 대사와 보류·재심·담당자 판단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"소득·산정 근거",</a:t>
            </a:r>
          </a:p>
          <a:p xmlns:a="http://schemas.openxmlformats.org/drawingml/2006/main">
            <a:r>
              <a:t>        "prepare": "소득 등 원천자료와 적용기간 분리 관리",</a:t>
            </a:r>
          </a:p>
          <a:p xmlns:a="http://schemas.openxmlformats.org/drawingml/2006/main">
            <a:r>
              <a:t>        "output": "기관별 소득자료",</a:t>
            </a:r>
          </a:p>
          <a:p xmlns:a="http://schemas.openxmlformats.org/drawingml/2006/main">
            <a:r>
              <a:t>        "refresh": "오판·이의제기 결과의 규칙 및 절차 개선"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 결정 전 법적·증빙 근거 확인",</a:t>
            </a:r>
          </a:p>
          <a:p xmlns:a="http://schemas.openxmlformats.org/drawingml/2006/main">
            <a:r>
              <a:t>      "이의제기와 재심 경로 확보"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"자료 기간·산정 전제의 부적합",</a:t>
            </a:r>
          </a:p>
          <a:p xmlns:a="http://schemas.openxmlformats.org/drawingml/2006/main">
            <a:r>
              <a:t>      "자동 판단에 대한 책임·재심 통제 부족"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"기관 자료 교환",</a:t>
            </a:r>
          </a:p>
          <a:p xmlns:a="http://schemas.openxmlformats.org/drawingml/2006/main">
            <a:r>
              <a:t>      "자동 산정·통지",</a:t>
            </a:r>
          </a:p>
          <a:p xmlns:a="http://schemas.openxmlformats.org/drawingml/2006/main">
            <a:r>
              <a:t>      "소득·산정 근거",</a:t>
            </a:r>
          </a:p>
          <a:p xmlns:a="http://schemas.openxmlformats.org/drawingml/2006/main">
            <a:r>
              <a:t>      "대상자·재심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"기관별 소득자료",</a:t>
            </a:r>
          </a:p>
          <a:p xmlns:a="http://schemas.openxmlformats.org/drawingml/2006/main">
            <a:r>
              <a:t>      "산정 대상·기간",</a:t>
            </a:r>
          </a:p>
          <a:p xmlns:a="http://schemas.openxmlformats.org/drawingml/2006/main">
            <a:r>
              <a:t>      "채무 통지",</a:t>
            </a:r>
          </a:p>
          <a:p xmlns:a="http://schemas.openxmlformats.org/drawingml/2006/main">
            <a:r>
              <a:t>      "이의·재심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"원천 증빙 불일치 시 자동 확정 보류",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호주 왕립위원회 · Robodebt 최종 보고서 https://robodebt.royalcommission.gov.au/publications/report</a:t>
            </a:r>
          </a:p>
          <a:p xmlns:a="http://schemas.openxmlformats.org/drawingml/2006/main">
            <a:r>
              <a:t>홈페이지 https://heen1987-ops.github.io/TS-business-Plan-001/index.html?view=casebook&amp;case=AX07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"title": "Cruise 사고보고",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"자율주행 안전·사고보고",</a:t>
            </a:r>
          </a:p>
          <a:p xmlns:a="http://schemas.openxmlformats.org/drawingml/2006/main">
            <a:r>
              <a:t>    "period": "2023 사고 / 2024 시정",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"미래 모빌리티",</a:t>
            </a:r>
          </a:p>
          <a:p xmlns:a="http://schemas.openxmlformats.org/drawingml/2006/main">
            <a:r>
              <a:t>      "사고",</a:t>
            </a:r>
          </a:p>
          <a:p xmlns:a="http://schemas.openxmlformats.org/drawingml/2006/main">
            <a:r>
              <a:t>      "실증",</a:t>
            </a:r>
          </a:p>
          <a:p xmlns:a="http://schemas.openxmlformats.org/drawingml/2006/main">
            <a:r>
              <a:t>      "안전보고"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 후 상황을 빠뜨린 사고보고에 대한 NHTSA 시정 명령 및 강화된 보고·감독",</a:t>
            </a:r>
          </a:p>
          <a:p xmlns:a="http://schemas.openxmlformats.org/drawingml/2006/main">
            <a:r>
              <a:t>    "limit": "보고 완전성·안전 거버넌스 문제 · 사고 원인을 LLM 오류로 단정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"사고 원시 증거",</a:t>
            </a:r>
          </a:p>
          <a:p xmlns:a="http://schemas.openxmlformats.org/drawingml/2006/main">
            <a:r>
              <a:t>      "사건 타임라인",</a:t>
            </a:r>
          </a:p>
          <a:p xmlns:a="http://schemas.openxmlformats.org/drawingml/2006/main">
            <a:r>
              <a:t>      "보고서 작성",</a:t>
            </a:r>
          </a:p>
          <a:p xmlns:a="http://schemas.openxmlformats.org/drawingml/2006/main">
            <a:r>
              <a:t>      "감독기관 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시정 내용 기반 보고 흐름 재구성",</a:t>
            </a:r>
          </a:p>
          <a:p xmlns:a="http://schemas.openxmlformats.org/drawingml/2006/main">
            <a:r>
              <a:t>    "lesson":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"증거 무결성 / 필수 사건 체크 / 누락 경고 / 검토·승인 이력",</a:t>
            </a:r>
          </a:p>
          <a:p xmlns:a="http://schemas.openxmlformats.org/drawingml/2006/main">
            <a:r>
              <a:t>    "test": "누락 사건·충돌 시각 주입 후 탐지 및 승인 없이 전송 차단",</a:t>
            </a:r>
          </a:p>
          <a:p xmlns:a="http://schemas.openxmlformats.org/drawingml/2006/main">
            <a:r>
              <a:t>    "metric": "필수 사건 재현율 / 검토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"canonicalId": "AX08",</a:t>
            </a:r>
          </a:p>
          <a:p xmlns:a="http://schemas.openxmlformats.org/drawingml/2006/main">
            <a:r>
              <a:t>    "purpose": "사고보고의 원시 증거 누락 방지",</a:t>
            </a:r>
          </a:p>
          <a:p xmlns:a="http://schemas.openxmlformats.org/drawingml/2006/main">
            <a:r>
              <a:t>    "users": "실증 운영자·사고 조사자·감독기관",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"사건 식별",</a:t>
            </a:r>
          </a:p>
          <a:p xmlns:a="http://schemas.openxmlformats.org/drawingml/2006/main">
            <a:r>
              <a:t>      "시간순 증거",</a:t>
            </a:r>
          </a:p>
          <a:p xmlns:a="http://schemas.openxmlformats.org/drawingml/2006/main">
            <a:r>
              <a:t>      "보고 완전성"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"사고 영상·로그",</a:t>
            </a:r>
          </a:p>
          <a:p xmlns:a="http://schemas.openxmlformats.org/drawingml/2006/main">
            <a:r>
              <a:t>        "detail": "사고 ID와 보고 대상 기간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"사건 식별 / 시간순 증거 / 보고 완전성",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"타임라인·보고서 구성",</a:t>
            </a:r>
          </a:p>
          <a:p xmlns:a="http://schemas.openxmlformats.org/drawingml/2006/main">
            <a:r>
              <a:t>        "detail": "시각별 사건 재구성과 필수 항목 대사",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"감독기관·보고 담당",</a:t>
            </a:r>
          </a:p>
          <a:p xmlns:a="http://schemas.openxmlformats.org/drawingml/2006/main">
            <a:r>
              <a:t>        "detail": "작성자 검토와 승인자 확인 후 공식 제출",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"원시 증거·보고 판본",</a:t>
            </a:r>
          </a:p>
          <a:p xmlns:a="http://schemas.openxmlformats.org/drawingml/2006/main">
            <a:r>
              <a:t>        "detail": "센서·영상·보고 원본의 시점·버전 보존",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"추가 발견 증거의 보완 보고·수정 이력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원시 증거",</a:t>
            </a:r>
          </a:p>
          <a:p xmlns:a="http://schemas.openxmlformats.org/drawingml/2006/main">
            <a:r>
              <a:t>        "input": "사고 ID와 보고 대상 기간 지정",</a:t>
            </a:r>
          </a:p>
          <a:p xmlns:a="http://schemas.openxmlformats.org/drawingml/2006/main">
            <a:r>
              <a:t>        "process": "센서·영상·보고 원본의 시점·버전 보존",</a:t>
            </a:r>
          </a:p>
          <a:p xmlns:a="http://schemas.openxmlformats.org/drawingml/2006/main">
            <a:r>
              <a:t>        "output": "시각별 원시 증거"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"사건 타임라인",</a:t>
            </a:r>
          </a:p>
          <a:p xmlns:a="http://schemas.openxmlformats.org/drawingml/2006/main">
            <a:r>
              <a:t>        "input": "시각별 원시 증거",</a:t>
            </a:r>
          </a:p>
          <a:p xmlns:a="http://schemas.openxmlformats.org/drawingml/2006/main">
            <a:r>
              <a:t>        "process": "시각별 사건 재구성과 필수 항목 대사",</a:t>
            </a:r>
          </a:p>
          <a:p xmlns:a="http://schemas.openxmlformats.org/drawingml/2006/main">
            <a:r>
              <a:t>        "output": "충돌 전후 사건"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"보고서 작성",</a:t>
            </a:r>
          </a:p>
          <a:p xmlns:a="http://schemas.openxmlformats.org/drawingml/2006/main">
            <a:r>
              <a:t>        "input": "충돌 전후 사건",</a:t>
            </a:r>
          </a:p>
          <a:p xmlns:a="http://schemas.openxmlformats.org/drawingml/2006/main">
            <a:r>
              <a:t>        "process": "충돌 전·중·후 증거의 완전성 대사",</a:t>
            </a:r>
          </a:p>
          <a:p xmlns:a="http://schemas.openxmlformats.org/drawingml/2006/main">
            <a:r>
              <a:t>        "output": "필수 보고 항목"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"감독기관 보고",</a:t>
            </a:r>
          </a:p>
          <a:p xmlns:a="http://schemas.openxmlformats.org/drawingml/2006/main">
            <a:r>
              <a:t>        "input": "필수 보고 항목",</a:t>
            </a:r>
          </a:p>
          <a:p xmlns:a="http://schemas.openxmlformats.org/drawingml/2006/main">
            <a:r>
              <a:t>        "process": "작성자 검토와 승인자 확인 후 공식 제출",</a:t>
            </a:r>
          </a:p>
          <a:p xmlns:a="http://schemas.openxmlformats.org/drawingml/2006/main">
            <a:r>
              <a:t>        "output": "제출·보완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"사고 발생 전후 전체 이벤트를 보고 항목에 연결",</a:t>
            </a:r>
          </a:p>
          <a:p xmlns:a="http://schemas.openxmlformats.org/drawingml/2006/main">
            <a:r>
              <a:t>      "exception": "충돌 이후 이벤트 삭제·영상과 로그 시각 충돌",</a:t>
            </a:r>
          </a:p>
          <a:p xmlns:a="http://schemas.openxmlformats.org/drawingml/2006/main">
            <a:r>
              <a:t>      "evidence": "원시 증거별 보고 포함 여부와 누락 경고·승인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"실증 운영자·사고 조사자·감독기관",</a:t>
            </a:r>
          </a:p>
          <a:p xmlns:a="http://schemas.openxmlformats.org/drawingml/2006/main">
            <a:r>
              <a:t>          "processing": "사고 ID와 보고 대상 기간 지정",</a:t>
            </a:r>
          </a:p>
          <a:p xmlns:a="http://schemas.openxmlformats.org/drawingml/2006/main">
            <a:r>
              <a:t>          "output": "시각별 원시 증거"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"원시 증거·보고 판본",</a:t>
            </a:r>
          </a:p>
          <a:p xmlns:a="http://schemas.openxmlformats.org/drawingml/2006/main">
            <a:r>
              <a:t>          "processing": "센서·영상·보고 원본의 시점·버전 보존",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"시각별 원시 증거",</a:t>
            </a:r>
          </a:p>
          <a:p xmlns:a="http://schemas.openxmlformats.org/drawingml/2006/main">
            <a:r>
              <a:t>          "processing": "시각별 사건 재구성과 필수 항목 대사",</a:t>
            </a:r>
          </a:p>
          <a:p xmlns:a="http://schemas.openxmlformats.org/drawingml/2006/main">
            <a:r>
              <a:t>          "output": "필수 보고 항목"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"필수 보고 항목",</a:t>
            </a:r>
          </a:p>
          <a:p xmlns:a="http://schemas.openxmlformats.org/drawingml/2006/main">
            <a:r>
              <a:t>          "processing": "작성자 검토와 승인자 확인 후 공식 제출",</a:t>
            </a:r>
          </a:p>
          <a:p xmlns:a="http://schemas.openxmlformats.org/drawingml/2006/main">
            <a:r>
              <a:t>          "output": "제출·보완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"추가 발견 증거의 보완 보고·수정 이력 추적",</a:t>
            </a:r>
          </a:p>
          <a:p xmlns:a="http://schemas.openxmlformats.org/drawingml/2006/main">
            <a:r>
              <a:t>          "output":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"추가 발견 증거의 보완 보고·수정 이력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"S09",</a:t>
            </a:r>
          </a:p>
          <a:p xmlns:a="http://schemas.openxmlformats.org/drawingml/2006/main">
            <a:r>
              <a:t>        "title": "NHTSA · Cruise 사고보고 시정 명령",</a:t>
            </a:r>
          </a:p>
          <a:p xmlns:a="http://schemas.openxmlformats.org/drawingml/2006/main">
            <a:r>
              <a:t>        "url": "https://www.nhtsa.gov/press-releases/consent-order-cruise-crash-reporting",</a:t>
            </a:r>
          </a:p>
          <a:p xmlns:a="http://schemas.openxmlformats.org/drawingml/2006/main">
            <a:r>
              <a:t>        "published": "2024-09-30",</a:t>
            </a:r>
          </a:p>
          <a:p xmlns:a="http://schemas.openxmlformats.org/drawingml/2006/main">
            <a:r>
              <a:t>        "level": "감독기관 시정 명령",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"자율주행 사고의 원시 증거와 감독기관 보고 사이에서 누락이 발생한 시정 사례. 모델의 주행 성능과 별개로 사고 전후 정보를 완전하게 보고하는 운영 책임이 주요 쟁점.",</a:t>
            </a:r>
          </a:p>
          <a:p xmlns:a="http://schemas.openxmlformats.org/drawingml/2006/main">
            <a:r>
              <a:t>      "영상·센서·이벤트 로그를 사고 ID와 시간축으로 묶고 필수 보고 항목과 대조하는 CCK 설계. 요약 보고서를 만들더라도 원본 증거·작성 판본·승인자·추가 보완 이력을 함께 유지하는 구조.",</a:t>
            </a:r>
          </a:p>
          <a:p xmlns:a="http://schemas.openxmlformats.org/drawingml/2006/main">
            <a:r>
              <a:t>      "TS 사고조사 지원에서 자동 요약의 편의보다 증거 누락을 우선 평가할 근거. 충돌 전·중·후 자료와 수정본을 섞은 시험으로 사건 재구성, 빠진 항목 경고, 제출본 추적을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"사고보고 접수",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"실증 운영자·사고 조사자·감독기관",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"사고 ID·기간",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"사고 ID와 보고 대상 기간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"영상·로그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"시각별 원시 증거",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"시각별 사건 재구성",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"시각별 사건 재구성과 필수 항목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"필수 항목 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"충돌 전·중·후 증거의 완전성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"작성·승인자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"사고 발생 전후 전체 이벤트를 보고 항목에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"제출·보완 보고",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"작성자 검토와 승인자 확인 후 공식 제출",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"누락·수정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"추가 발견 증거의 보완 보고·수정 이력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"원시 영상·센서",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"원시 증거·보고 판본",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"시간축·판본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"센서·영상·보고 원본의 시점·버전 보존",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"증거·보고 판본",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"원시 증거별 보고 포함 여부와 누락 경고·승인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"보존·보고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"충돌 이후 이벤트 삭제·영상과 로그 시각 충돌",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"사고 ID와 보고 대상 기간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"시각별 원시 증거",</a:t>
            </a:r>
          </a:p>
          <a:p xmlns:a="http://schemas.openxmlformats.org/drawingml/2006/main">
            <a:r>
              <a:t>          "check": "충돌 전·중·후 증거의 완전성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"충돌 전후 사건",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"사건 타임라인·보고항목 초안",</a:t>
            </a:r>
          </a:p>
          <a:p xmlns:a="http://schemas.openxmlformats.org/drawingml/2006/main">
            <a:r>
              <a:t>          "check": "충돌 이후 이벤트 삭제·영상과 로그 시각 충돌"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"필수 보고 항목",</a:t>
            </a:r>
          </a:p>
          <a:p xmlns:a="http://schemas.openxmlformats.org/drawingml/2006/main">
            <a:r>
              <a:t>          "check": "작성자 검토와 승인자 확인 후 공식 제출"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"제출·보완 기록",</a:t>
            </a:r>
          </a:p>
          <a:p xmlns:a="http://schemas.openxmlformats.org/drawingml/2006/main">
            <a:r>
              <a:t>          "check":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"사고보고의 원시 증거 누락 방지 / 사건 식별·시간순 증거·보고 완전성",</a:t>
            </a:r>
          </a:p>
          <a:p xmlns:a="http://schemas.openxmlformats.org/drawingml/2006/main">
            <a:r>
              <a:t>        "extension": "TS 실증·사고·점검 자료의 사건 ID와 원문 시점별 근거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"충돌 이후 이벤트 삭제·영상과 로그 시각 충돌",</a:t>
            </a:r>
          </a:p>
          <a:p xmlns:a="http://schemas.openxmlformats.org/drawingml/2006/main">
            <a:r>
              <a:t>        "hold": "충돌 전·중·후 증거의 완전성 대사",</a:t>
            </a:r>
          </a:p>
          <a:p xmlns:a="http://schemas.openxmlformats.org/drawingml/2006/main">
            <a:r>
              <a:t>        "recovery": "추가 발견 증거의 보완 보고·수정 이력 추적",</a:t>
            </a:r>
          </a:p>
          <a:p xmlns:a="http://schemas.openxmlformats.org/drawingml/2006/main">
            <a:r>
              <a:t>        "evidence": "원시 증거별 보고 포함 여부와 누락 경고·승인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"원시 증거·보고 판본",</a:t>
            </a:r>
          </a:p>
          <a:p xmlns:a="http://schemas.openxmlformats.org/drawingml/2006/main">
            <a:r>
              <a:t>        "prepare": "센서·영상·보고 원본의 시점·버전 보존",</a:t>
            </a:r>
          </a:p>
          <a:p xmlns:a="http://schemas.openxmlformats.org/drawingml/2006/main">
            <a:r>
              <a:t>        "output": "시각별 원시 증거",</a:t>
            </a:r>
          </a:p>
          <a:p xmlns:a="http://schemas.openxmlformats.org/drawingml/2006/main">
            <a:r>
              <a:t>        "refresh": "추가 발견 증거의 보완 보고·수정 이력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"원시 영상과 보고 항목의 대사",</a:t>
            </a:r>
          </a:p>
          <a:p xmlns:a="http://schemas.openxmlformats.org/drawingml/2006/main">
            <a:r>
              <a:t>      "보고 책임자와 변경 이력 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"사고 후 상황의 보고 누락",</a:t>
            </a:r>
          </a:p>
          <a:p xmlns:a="http://schemas.openxmlformats.org/drawingml/2006/main">
            <a:r>
              <a:t>      "요약본만으로 사고 전체를 판단하는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"사고 영상·로그",</a:t>
            </a:r>
          </a:p>
          <a:p xmlns:a="http://schemas.openxmlformats.org/drawingml/2006/main">
            <a:r>
              <a:t>      "타임라인·보고서 구성",</a:t>
            </a:r>
          </a:p>
          <a:p xmlns:a="http://schemas.openxmlformats.org/drawingml/2006/main">
            <a:r>
              <a:t>      "원시 증거·보고 판본",</a:t>
            </a:r>
          </a:p>
          <a:p xmlns:a="http://schemas.openxmlformats.org/drawingml/2006/main">
            <a:r>
              <a:t>      "감독기관·보고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"시각별 원시 증거",</a:t>
            </a:r>
          </a:p>
          <a:p xmlns:a="http://schemas.openxmlformats.org/drawingml/2006/main">
            <a:r>
              <a:t>      "충돌 전후 사건",</a:t>
            </a:r>
          </a:p>
          <a:p xmlns:a="http://schemas.openxmlformats.org/drawingml/2006/main">
            <a:r>
              <a:t>      "필수 보고 항목",</a:t>
            </a:r>
          </a:p>
          <a:p xmlns:a="http://schemas.openxmlformats.org/drawingml/2006/main">
            <a:r>
              <a:t>      "제출·보완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"충돌 전·중·후 증거의 완전성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NHTSA · Cruise 사고보고 시정 명령 https://www.nhtsa.gov/press-releases/consent-order-cruise-crash-reporting</a:t>
            </a:r>
          </a:p>
          <a:p xmlns:a="http://schemas.openxmlformats.org/drawingml/2006/main">
            <a:r>
              <a:t>홈페이지 https://heen1987-ops.github.io/TS-business-Plan-001/index.html?view=casebook&amp;case=AX08</a:t>
            </a:r>
          </a:p>
          <a:p xmlns:a="http://schemas.openxmlformats.org/drawingml/2006/main">
            <a:r>
              <a:t>한계: 보고 완전성·안전 거버넌스 문제 · 사고 원인을 LLM 오류로 단정 불가</a:t>
            </a:r>
          </a:p>
          <a:p xmlns:a="http://schemas.openxmlformats.org/drawingml/2006/main">
            <a:r>
              <a:t>재발 방지 조건: 원시 영상과 보고 항목의 대사 / 보고 책임자와 변경 이력 관리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"title": "Cruise 사고보고",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"자율주행 안전·사고보고",</a:t>
            </a:r>
          </a:p>
          <a:p xmlns:a="http://schemas.openxmlformats.org/drawingml/2006/main">
            <a:r>
              <a:t>    "period": "2023 사고 / 2024 시정",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"미래 모빌리티",</a:t>
            </a:r>
          </a:p>
          <a:p xmlns:a="http://schemas.openxmlformats.org/drawingml/2006/main">
            <a:r>
              <a:t>      "사고",</a:t>
            </a:r>
          </a:p>
          <a:p xmlns:a="http://schemas.openxmlformats.org/drawingml/2006/main">
            <a:r>
              <a:t>      "실증",</a:t>
            </a:r>
          </a:p>
          <a:p xmlns:a="http://schemas.openxmlformats.org/drawingml/2006/main">
            <a:r>
              <a:t>      "안전보고"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 후 상황을 빠뜨린 사고보고에 대한 NHTSA 시정 명령 및 강화된 보고·감독",</a:t>
            </a:r>
          </a:p>
          <a:p xmlns:a="http://schemas.openxmlformats.org/drawingml/2006/main">
            <a:r>
              <a:t>    "limit": "보고 완전성·안전 거버넌스 문제 · 사고 원인을 LLM 오류로 단정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"사고 원시 증거",</a:t>
            </a:r>
          </a:p>
          <a:p xmlns:a="http://schemas.openxmlformats.org/drawingml/2006/main">
            <a:r>
              <a:t>      "사건 타임라인",</a:t>
            </a:r>
          </a:p>
          <a:p xmlns:a="http://schemas.openxmlformats.org/drawingml/2006/main">
            <a:r>
              <a:t>      "보고서 작성",</a:t>
            </a:r>
          </a:p>
          <a:p xmlns:a="http://schemas.openxmlformats.org/drawingml/2006/main">
            <a:r>
              <a:t>      "감독기관 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시정 내용 기반 보고 흐름 재구성",</a:t>
            </a:r>
          </a:p>
          <a:p xmlns:a="http://schemas.openxmlformats.org/drawingml/2006/main">
            <a:r>
              <a:t>    "lesson":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"증거 무결성 / 필수 사건 체크 / 누락 경고 / 검토·승인 이력",</a:t>
            </a:r>
          </a:p>
          <a:p xmlns:a="http://schemas.openxmlformats.org/drawingml/2006/main">
            <a:r>
              <a:t>    "test": "누락 사건·충돌 시각 주입 후 탐지 및 승인 없이 전송 차단",</a:t>
            </a:r>
          </a:p>
          <a:p xmlns:a="http://schemas.openxmlformats.org/drawingml/2006/main">
            <a:r>
              <a:t>    "metric": "필수 사건 재현율 / 검토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"canonicalId": "AX08",</a:t>
            </a:r>
          </a:p>
          <a:p xmlns:a="http://schemas.openxmlformats.org/drawingml/2006/main">
            <a:r>
              <a:t>    "purpose": "사고보고의 원시 증거 누락 방지",</a:t>
            </a:r>
          </a:p>
          <a:p xmlns:a="http://schemas.openxmlformats.org/drawingml/2006/main">
            <a:r>
              <a:t>    "users": "실증 운영자·사고 조사자·감독기관",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"사건 식별",</a:t>
            </a:r>
          </a:p>
          <a:p xmlns:a="http://schemas.openxmlformats.org/drawingml/2006/main">
            <a:r>
              <a:t>      "시간순 증거",</a:t>
            </a:r>
          </a:p>
          <a:p xmlns:a="http://schemas.openxmlformats.org/drawingml/2006/main">
            <a:r>
              <a:t>      "보고 완전성"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"사고 영상·로그",</a:t>
            </a:r>
          </a:p>
          <a:p xmlns:a="http://schemas.openxmlformats.org/drawingml/2006/main">
            <a:r>
              <a:t>        "detail": "사고 ID와 보고 대상 기간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"사건 식별 / 시간순 증거 / 보고 완전성",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"타임라인·보고서 구성",</a:t>
            </a:r>
          </a:p>
          <a:p xmlns:a="http://schemas.openxmlformats.org/drawingml/2006/main">
            <a:r>
              <a:t>        "detail": "시각별 사건 재구성과 필수 항목 대사",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"감독기관·보고 담당",</a:t>
            </a:r>
          </a:p>
          <a:p xmlns:a="http://schemas.openxmlformats.org/drawingml/2006/main">
            <a:r>
              <a:t>        "detail": "작성자 검토와 승인자 확인 후 공식 제출",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"원시 증거·보고 판본",</a:t>
            </a:r>
          </a:p>
          <a:p xmlns:a="http://schemas.openxmlformats.org/drawingml/2006/main">
            <a:r>
              <a:t>        "detail": "센서·영상·보고 원본의 시점·버전 보존",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"추가 발견 증거의 보완 보고·수정 이력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원시 증거",</a:t>
            </a:r>
          </a:p>
          <a:p xmlns:a="http://schemas.openxmlformats.org/drawingml/2006/main">
            <a:r>
              <a:t>        "input": "사고 ID와 보고 대상 기간 지정",</a:t>
            </a:r>
          </a:p>
          <a:p xmlns:a="http://schemas.openxmlformats.org/drawingml/2006/main">
            <a:r>
              <a:t>        "process": "센서·영상·보고 원본의 시점·버전 보존",</a:t>
            </a:r>
          </a:p>
          <a:p xmlns:a="http://schemas.openxmlformats.org/drawingml/2006/main">
            <a:r>
              <a:t>        "output": "시각별 원시 증거"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"사건 타임라인",</a:t>
            </a:r>
          </a:p>
          <a:p xmlns:a="http://schemas.openxmlformats.org/drawingml/2006/main">
            <a:r>
              <a:t>        "input": "시각별 원시 증거",</a:t>
            </a:r>
          </a:p>
          <a:p xmlns:a="http://schemas.openxmlformats.org/drawingml/2006/main">
            <a:r>
              <a:t>        "process": "시각별 사건 재구성과 필수 항목 대사",</a:t>
            </a:r>
          </a:p>
          <a:p xmlns:a="http://schemas.openxmlformats.org/drawingml/2006/main">
            <a:r>
              <a:t>        "output": "충돌 전후 사건"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"보고서 작성",</a:t>
            </a:r>
          </a:p>
          <a:p xmlns:a="http://schemas.openxmlformats.org/drawingml/2006/main">
            <a:r>
              <a:t>        "input": "충돌 전후 사건",</a:t>
            </a:r>
          </a:p>
          <a:p xmlns:a="http://schemas.openxmlformats.org/drawingml/2006/main">
            <a:r>
              <a:t>        "process": "충돌 전·중·후 증거의 완전성 대사",</a:t>
            </a:r>
          </a:p>
          <a:p xmlns:a="http://schemas.openxmlformats.org/drawingml/2006/main">
            <a:r>
              <a:t>        "output": "필수 보고 항목"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"감독기관 보고",</a:t>
            </a:r>
          </a:p>
          <a:p xmlns:a="http://schemas.openxmlformats.org/drawingml/2006/main">
            <a:r>
              <a:t>        "input": "필수 보고 항목",</a:t>
            </a:r>
          </a:p>
          <a:p xmlns:a="http://schemas.openxmlformats.org/drawingml/2006/main">
            <a:r>
              <a:t>        "process": "작성자 검토와 승인자 확인 후 공식 제출",</a:t>
            </a:r>
          </a:p>
          <a:p xmlns:a="http://schemas.openxmlformats.org/drawingml/2006/main">
            <a:r>
              <a:t>        "output": "제출·보완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"사고 발생 전후 전체 이벤트를 보고 항목에 연결",</a:t>
            </a:r>
          </a:p>
          <a:p xmlns:a="http://schemas.openxmlformats.org/drawingml/2006/main">
            <a:r>
              <a:t>      "exception": "충돌 이후 이벤트 삭제·영상과 로그 시각 충돌",</a:t>
            </a:r>
          </a:p>
          <a:p xmlns:a="http://schemas.openxmlformats.org/drawingml/2006/main">
            <a:r>
              <a:t>      "evidence": "원시 증거별 보고 포함 여부와 누락 경고·승인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"실증 운영자·사고 조사자·감독기관",</a:t>
            </a:r>
          </a:p>
          <a:p xmlns:a="http://schemas.openxmlformats.org/drawingml/2006/main">
            <a:r>
              <a:t>          "processing": "사고 ID와 보고 대상 기간 지정",</a:t>
            </a:r>
          </a:p>
          <a:p xmlns:a="http://schemas.openxmlformats.org/drawingml/2006/main">
            <a:r>
              <a:t>          "output": "시각별 원시 증거"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"원시 증거·보고 판본",</a:t>
            </a:r>
          </a:p>
          <a:p xmlns:a="http://schemas.openxmlformats.org/drawingml/2006/main">
            <a:r>
              <a:t>          "processing": "센서·영상·보고 원본의 시점·버전 보존",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"시각별 원시 증거",</a:t>
            </a:r>
          </a:p>
          <a:p xmlns:a="http://schemas.openxmlformats.org/drawingml/2006/main">
            <a:r>
              <a:t>          "processing": "시각별 사건 재구성과 필수 항목 대사",</a:t>
            </a:r>
          </a:p>
          <a:p xmlns:a="http://schemas.openxmlformats.org/drawingml/2006/main">
            <a:r>
              <a:t>          "output": "필수 보고 항목"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"필수 보고 항목",</a:t>
            </a:r>
          </a:p>
          <a:p xmlns:a="http://schemas.openxmlformats.org/drawingml/2006/main">
            <a:r>
              <a:t>          "processing": "작성자 검토와 승인자 확인 후 공식 제출",</a:t>
            </a:r>
          </a:p>
          <a:p xmlns:a="http://schemas.openxmlformats.org/drawingml/2006/main">
            <a:r>
              <a:t>          "output": "제출·보완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"추가 발견 증거의 보완 보고·수정 이력 추적",</a:t>
            </a:r>
          </a:p>
          <a:p xmlns:a="http://schemas.openxmlformats.org/drawingml/2006/main">
            <a:r>
              <a:t>          "output":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"추가 발견 증거의 보완 보고·수정 이력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"S09",</a:t>
            </a:r>
          </a:p>
          <a:p xmlns:a="http://schemas.openxmlformats.org/drawingml/2006/main">
            <a:r>
              <a:t>        "title": "NHTSA · Cruise 사고보고 시정 명령",</a:t>
            </a:r>
          </a:p>
          <a:p xmlns:a="http://schemas.openxmlformats.org/drawingml/2006/main">
            <a:r>
              <a:t>        "url": "https://www.nhtsa.gov/press-releases/consent-order-cruise-crash-reporting",</a:t>
            </a:r>
          </a:p>
          <a:p xmlns:a="http://schemas.openxmlformats.org/drawingml/2006/main">
            <a:r>
              <a:t>        "published": "2024-09-30",</a:t>
            </a:r>
          </a:p>
          <a:p xmlns:a="http://schemas.openxmlformats.org/drawingml/2006/main">
            <a:r>
              <a:t>        "level": "감독기관 시정 명령",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"자율주행 사고의 원시 증거와 감독기관 보고 사이에서 누락이 발생한 시정 사례. 모델의 주행 성능과 별개로 사고 전후 정보를 완전하게 보고하는 운영 책임이 주요 쟁점.",</a:t>
            </a:r>
          </a:p>
          <a:p xmlns:a="http://schemas.openxmlformats.org/drawingml/2006/main">
            <a:r>
              <a:t>      "영상·센서·이벤트 로그를 사고 ID와 시간축으로 묶고 필수 보고 항목과 대조하는 CCK 설계. 요약 보고서를 만들더라도 원본 증거·작성 판본·승인자·추가 보완 이력을 함께 유지하는 구조.",</a:t>
            </a:r>
          </a:p>
          <a:p xmlns:a="http://schemas.openxmlformats.org/drawingml/2006/main">
            <a:r>
              <a:t>      "TS 사고조사 지원에서 자동 요약의 편의보다 증거 누락을 우선 평가할 근거. 충돌 전·중·후 자료와 수정본을 섞은 시험으로 사건 재구성, 빠진 항목 경고, 제출본 추적을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"사고보고 접수",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"실증 운영자·사고 조사자·감독기관",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"사고 ID·기간",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"사고 ID와 보고 대상 기간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"영상·로그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"시각별 원시 증거",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"시각별 사건 재구성",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"시각별 사건 재구성과 필수 항목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"필수 항목 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"충돌 전·중·후 증거의 완전성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"작성·승인자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"사고 발생 전후 전체 이벤트를 보고 항목에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"제출·보완 보고",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"작성자 검토와 승인자 확인 후 공식 제출",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"누락·수정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"추가 발견 증거의 보완 보고·수정 이력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"원시 영상·센서",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"원시 증거·보고 판본",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"시간축·판본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"센서·영상·보고 원본의 시점·버전 보존",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"증거·보고 판본",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"원시 증거별 보고 포함 여부와 누락 경고·승인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"보존·보고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"충돌 이후 이벤트 삭제·영상과 로그 시각 충돌",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"사고 ID와 보고 대상 기간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"시각별 원시 증거",</a:t>
            </a:r>
          </a:p>
          <a:p xmlns:a="http://schemas.openxmlformats.org/drawingml/2006/main">
            <a:r>
              <a:t>          "check": "충돌 전·중·후 증거의 완전성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"충돌 전후 사건",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"사건 타임라인·보고항목 초안",</a:t>
            </a:r>
          </a:p>
          <a:p xmlns:a="http://schemas.openxmlformats.org/drawingml/2006/main">
            <a:r>
              <a:t>          "check": "충돌 이후 이벤트 삭제·영상과 로그 시각 충돌"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"필수 보고 항목",</a:t>
            </a:r>
          </a:p>
          <a:p xmlns:a="http://schemas.openxmlformats.org/drawingml/2006/main">
            <a:r>
              <a:t>          "check": "작성자 검토와 승인자 확인 후 공식 제출"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"제출·보완 기록",</a:t>
            </a:r>
          </a:p>
          <a:p xmlns:a="http://schemas.openxmlformats.org/drawingml/2006/main">
            <a:r>
              <a:t>          "check":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"사고보고의 원시 증거 누락 방지 / 사건 식별·시간순 증거·보고 완전성",</a:t>
            </a:r>
          </a:p>
          <a:p xmlns:a="http://schemas.openxmlformats.org/drawingml/2006/main">
            <a:r>
              <a:t>        "extension": "TS 실증·사고·점검 자료의 사건 ID와 원문 시점별 근거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"충돌 이후 이벤트 삭제·영상과 로그 시각 충돌",</a:t>
            </a:r>
          </a:p>
          <a:p xmlns:a="http://schemas.openxmlformats.org/drawingml/2006/main">
            <a:r>
              <a:t>        "hold": "충돌 전·중·후 증거의 완전성 대사",</a:t>
            </a:r>
          </a:p>
          <a:p xmlns:a="http://schemas.openxmlformats.org/drawingml/2006/main">
            <a:r>
              <a:t>        "recovery": "추가 발견 증거의 보완 보고·수정 이력 추적",</a:t>
            </a:r>
          </a:p>
          <a:p xmlns:a="http://schemas.openxmlformats.org/drawingml/2006/main">
            <a:r>
              <a:t>        "evidence": "원시 증거별 보고 포함 여부와 누락 경고·승인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"원시 증거·보고 판본",</a:t>
            </a:r>
          </a:p>
          <a:p xmlns:a="http://schemas.openxmlformats.org/drawingml/2006/main">
            <a:r>
              <a:t>        "prepare": "센서·영상·보고 원본의 시점·버전 보존",</a:t>
            </a:r>
          </a:p>
          <a:p xmlns:a="http://schemas.openxmlformats.org/drawingml/2006/main">
            <a:r>
              <a:t>        "output": "시각별 원시 증거",</a:t>
            </a:r>
          </a:p>
          <a:p xmlns:a="http://schemas.openxmlformats.org/drawingml/2006/main">
            <a:r>
              <a:t>        "refresh": "추가 발견 증거의 보완 보고·수정 이력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"원시 영상과 보고 항목의 대사",</a:t>
            </a:r>
          </a:p>
          <a:p xmlns:a="http://schemas.openxmlformats.org/drawingml/2006/main">
            <a:r>
              <a:t>      "보고 책임자와 변경 이력 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"사고 후 상황의 보고 누락",</a:t>
            </a:r>
          </a:p>
          <a:p xmlns:a="http://schemas.openxmlformats.org/drawingml/2006/main">
            <a:r>
              <a:t>      "요약본만으로 사고 전체를 판단하는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"사고 영상·로그",</a:t>
            </a:r>
          </a:p>
          <a:p xmlns:a="http://schemas.openxmlformats.org/drawingml/2006/main">
            <a:r>
              <a:t>      "타임라인·보고서 구성",</a:t>
            </a:r>
          </a:p>
          <a:p xmlns:a="http://schemas.openxmlformats.org/drawingml/2006/main">
            <a:r>
              <a:t>      "원시 증거·보고 판본",</a:t>
            </a:r>
          </a:p>
          <a:p xmlns:a="http://schemas.openxmlformats.org/drawingml/2006/main">
            <a:r>
              <a:t>      "감독기관·보고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"시각별 원시 증거",</a:t>
            </a:r>
          </a:p>
          <a:p xmlns:a="http://schemas.openxmlformats.org/drawingml/2006/main">
            <a:r>
              <a:t>      "충돌 전후 사건",</a:t>
            </a:r>
          </a:p>
          <a:p xmlns:a="http://schemas.openxmlformats.org/drawingml/2006/main">
            <a:r>
              <a:t>      "필수 보고 항목",</a:t>
            </a:r>
          </a:p>
          <a:p xmlns:a="http://schemas.openxmlformats.org/drawingml/2006/main">
            <a:r>
              <a:t>      "제출·보완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"충돌 전·중·후 증거의 완전성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NHTSA · Cruise 사고보고 시정 명령 https://www.nhtsa.gov/press-releases/consent-order-cruise-crash-reporting</a:t>
            </a:r>
          </a:p>
          <a:p xmlns:a="http://schemas.openxmlformats.org/drawingml/2006/main">
            <a:r>
              <a:t>홈페이지 https://heen1987-ops.github.io/TS-business-Plan-001/index.html?view=casebook&amp;case=AX08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"title": "Cruise 사고보고",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"자율주행 안전·사고보고",</a:t>
            </a:r>
          </a:p>
          <a:p xmlns:a="http://schemas.openxmlformats.org/drawingml/2006/main">
            <a:r>
              <a:t>    "period": "2023 사고 / 2024 시정",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"미래 모빌리티",</a:t>
            </a:r>
          </a:p>
          <a:p xmlns:a="http://schemas.openxmlformats.org/drawingml/2006/main">
            <a:r>
              <a:t>      "사고",</a:t>
            </a:r>
          </a:p>
          <a:p xmlns:a="http://schemas.openxmlformats.org/drawingml/2006/main">
            <a:r>
              <a:t>      "실증",</a:t>
            </a:r>
          </a:p>
          <a:p xmlns:a="http://schemas.openxmlformats.org/drawingml/2006/main">
            <a:r>
              <a:t>      "안전보고"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 후 상황을 빠뜨린 사고보고에 대한 NHTSA 시정 명령 및 강화된 보고·감독",</a:t>
            </a:r>
          </a:p>
          <a:p xmlns:a="http://schemas.openxmlformats.org/drawingml/2006/main">
            <a:r>
              <a:t>    "limit": "보고 완전성·안전 거버넌스 문제 · 사고 원인을 LLM 오류로 단정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"사고 원시 증거",</a:t>
            </a:r>
          </a:p>
          <a:p xmlns:a="http://schemas.openxmlformats.org/drawingml/2006/main">
            <a:r>
              <a:t>      "사건 타임라인",</a:t>
            </a:r>
          </a:p>
          <a:p xmlns:a="http://schemas.openxmlformats.org/drawingml/2006/main">
            <a:r>
              <a:t>      "보고서 작성",</a:t>
            </a:r>
          </a:p>
          <a:p xmlns:a="http://schemas.openxmlformats.org/drawingml/2006/main">
            <a:r>
              <a:t>      "감독기관 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시정 내용 기반 보고 흐름 재구성",</a:t>
            </a:r>
          </a:p>
          <a:p xmlns:a="http://schemas.openxmlformats.org/drawingml/2006/main">
            <a:r>
              <a:t>    "lesson":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"증거 무결성 / 필수 사건 체크 / 누락 경고 / 검토·승인 이력",</a:t>
            </a:r>
          </a:p>
          <a:p xmlns:a="http://schemas.openxmlformats.org/drawingml/2006/main">
            <a:r>
              <a:t>    "test": "누락 사건·충돌 시각 주입 후 탐지 및 승인 없이 전송 차단",</a:t>
            </a:r>
          </a:p>
          <a:p xmlns:a="http://schemas.openxmlformats.org/drawingml/2006/main">
            <a:r>
              <a:t>    "metric": "필수 사건 재현율 / 검토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"canonicalId": "AX08",</a:t>
            </a:r>
          </a:p>
          <a:p xmlns:a="http://schemas.openxmlformats.org/drawingml/2006/main">
            <a:r>
              <a:t>    "purpose": "사고보고의 원시 증거 누락 방지",</a:t>
            </a:r>
          </a:p>
          <a:p xmlns:a="http://schemas.openxmlformats.org/drawingml/2006/main">
            <a:r>
              <a:t>    "users": "실증 운영자·사고 조사자·감독기관",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"사건 식별",</a:t>
            </a:r>
          </a:p>
          <a:p xmlns:a="http://schemas.openxmlformats.org/drawingml/2006/main">
            <a:r>
              <a:t>      "시간순 증거",</a:t>
            </a:r>
          </a:p>
          <a:p xmlns:a="http://schemas.openxmlformats.org/drawingml/2006/main">
            <a:r>
              <a:t>      "보고 완전성"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"사고 영상·로그",</a:t>
            </a:r>
          </a:p>
          <a:p xmlns:a="http://schemas.openxmlformats.org/drawingml/2006/main">
            <a:r>
              <a:t>        "detail": "사고 ID와 보고 대상 기간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"사건 식별 / 시간순 증거 / 보고 완전성",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"타임라인·보고서 구성",</a:t>
            </a:r>
          </a:p>
          <a:p xmlns:a="http://schemas.openxmlformats.org/drawingml/2006/main">
            <a:r>
              <a:t>        "detail": "시각별 사건 재구성과 필수 항목 대사",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"감독기관·보고 담당",</a:t>
            </a:r>
          </a:p>
          <a:p xmlns:a="http://schemas.openxmlformats.org/drawingml/2006/main">
            <a:r>
              <a:t>        "detail": "작성자 검토와 승인자 확인 후 공식 제출",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"원시 증거·보고 판본",</a:t>
            </a:r>
          </a:p>
          <a:p xmlns:a="http://schemas.openxmlformats.org/drawingml/2006/main">
            <a:r>
              <a:t>        "detail": "센서·영상·보고 원본의 시점·버전 보존",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"추가 발견 증거의 보완 보고·수정 이력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원시 증거",</a:t>
            </a:r>
          </a:p>
          <a:p xmlns:a="http://schemas.openxmlformats.org/drawingml/2006/main">
            <a:r>
              <a:t>        "input": "사고 ID와 보고 대상 기간 지정",</a:t>
            </a:r>
          </a:p>
          <a:p xmlns:a="http://schemas.openxmlformats.org/drawingml/2006/main">
            <a:r>
              <a:t>        "process": "센서·영상·보고 원본의 시점·버전 보존",</a:t>
            </a:r>
          </a:p>
          <a:p xmlns:a="http://schemas.openxmlformats.org/drawingml/2006/main">
            <a:r>
              <a:t>        "output": "시각별 원시 증거"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"사건 타임라인",</a:t>
            </a:r>
          </a:p>
          <a:p xmlns:a="http://schemas.openxmlformats.org/drawingml/2006/main">
            <a:r>
              <a:t>        "input": "시각별 원시 증거",</a:t>
            </a:r>
          </a:p>
          <a:p xmlns:a="http://schemas.openxmlformats.org/drawingml/2006/main">
            <a:r>
              <a:t>        "process": "시각별 사건 재구성과 필수 항목 대사",</a:t>
            </a:r>
          </a:p>
          <a:p xmlns:a="http://schemas.openxmlformats.org/drawingml/2006/main">
            <a:r>
              <a:t>        "output": "충돌 전후 사건"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"보고서 작성",</a:t>
            </a:r>
          </a:p>
          <a:p xmlns:a="http://schemas.openxmlformats.org/drawingml/2006/main">
            <a:r>
              <a:t>        "input": "충돌 전후 사건",</a:t>
            </a:r>
          </a:p>
          <a:p xmlns:a="http://schemas.openxmlformats.org/drawingml/2006/main">
            <a:r>
              <a:t>        "process": "충돌 전·중·후 증거의 완전성 대사",</a:t>
            </a:r>
          </a:p>
          <a:p xmlns:a="http://schemas.openxmlformats.org/drawingml/2006/main">
            <a:r>
              <a:t>        "output": "필수 보고 항목"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"감독기관 보고",</a:t>
            </a:r>
          </a:p>
          <a:p xmlns:a="http://schemas.openxmlformats.org/drawingml/2006/main">
            <a:r>
              <a:t>        "input": "필수 보고 항목",</a:t>
            </a:r>
          </a:p>
          <a:p xmlns:a="http://schemas.openxmlformats.org/drawingml/2006/main">
            <a:r>
              <a:t>        "process": "작성자 검토와 승인자 확인 후 공식 제출",</a:t>
            </a:r>
          </a:p>
          <a:p xmlns:a="http://schemas.openxmlformats.org/drawingml/2006/main">
            <a:r>
              <a:t>        "output": "제출·보완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"사고 발생 전후 전체 이벤트를 보고 항목에 연결",</a:t>
            </a:r>
          </a:p>
          <a:p xmlns:a="http://schemas.openxmlformats.org/drawingml/2006/main">
            <a:r>
              <a:t>      "exception": "충돌 이후 이벤트 삭제·영상과 로그 시각 충돌",</a:t>
            </a:r>
          </a:p>
          <a:p xmlns:a="http://schemas.openxmlformats.org/drawingml/2006/main">
            <a:r>
              <a:t>      "evidence": "원시 증거별 보고 포함 여부와 누락 경고·승인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"실증 운영자·사고 조사자·감독기관",</a:t>
            </a:r>
          </a:p>
          <a:p xmlns:a="http://schemas.openxmlformats.org/drawingml/2006/main">
            <a:r>
              <a:t>          "processing": "사고 ID와 보고 대상 기간 지정",</a:t>
            </a:r>
          </a:p>
          <a:p xmlns:a="http://schemas.openxmlformats.org/drawingml/2006/main">
            <a:r>
              <a:t>          "output": "시각별 원시 증거"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"원시 증거·보고 판본",</a:t>
            </a:r>
          </a:p>
          <a:p xmlns:a="http://schemas.openxmlformats.org/drawingml/2006/main">
            <a:r>
              <a:t>          "processing": "센서·영상·보고 원본의 시점·버전 보존",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"시각별 원시 증거",</a:t>
            </a:r>
          </a:p>
          <a:p xmlns:a="http://schemas.openxmlformats.org/drawingml/2006/main">
            <a:r>
              <a:t>          "processing": "시각별 사건 재구성과 필수 항목 대사",</a:t>
            </a:r>
          </a:p>
          <a:p xmlns:a="http://schemas.openxmlformats.org/drawingml/2006/main">
            <a:r>
              <a:t>          "output": "필수 보고 항목"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"필수 보고 항목",</a:t>
            </a:r>
          </a:p>
          <a:p xmlns:a="http://schemas.openxmlformats.org/drawingml/2006/main">
            <a:r>
              <a:t>          "processing": "작성자 검토와 승인자 확인 후 공식 제출",</a:t>
            </a:r>
          </a:p>
          <a:p xmlns:a="http://schemas.openxmlformats.org/drawingml/2006/main">
            <a:r>
              <a:t>          "output": "제출·보완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"추가 발견 증거의 보완 보고·수정 이력 추적",</a:t>
            </a:r>
          </a:p>
          <a:p xmlns:a="http://schemas.openxmlformats.org/drawingml/2006/main">
            <a:r>
              <a:t>          "output":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"추가 발견 증거의 보완 보고·수정 이력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"S09",</a:t>
            </a:r>
          </a:p>
          <a:p xmlns:a="http://schemas.openxmlformats.org/drawingml/2006/main">
            <a:r>
              <a:t>        "title": "NHTSA · Cruise 사고보고 시정 명령",</a:t>
            </a:r>
          </a:p>
          <a:p xmlns:a="http://schemas.openxmlformats.org/drawingml/2006/main">
            <a:r>
              <a:t>        "url": "https://www.nhtsa.gov/press-releases/consent-order-cruise-crash-reporting",</a:t>
            </a:r>
          </a:p>
          <a:p xmlns:a="http://schemas.openxmlformats.org/drawingml/2006/main">
            <a:r>
              <a:t>        "published": "2024-09-30",</a:t>
            </a:r>
          </a:p>
          <a:p xmlns:a="http://schemas.openxmlformats.org/drawingml/2006/main">
            <a:r>
              <a:t>        "level": "감독기관 시정 명령",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"자율주행 사고의 원시 증거와 감독기관 보고 사이에서 누락이 발생한 시정 사례. 모델의 주행 성능과 별개로 사고 전후 정보를 완전하게 보고하는 운영 책임이 주요 쟁점.",</a:t>
            </a:r>
          </a:p>
          <a:p xmlns:a="http://schemas.openxmlformats.org/drawingml/2006/main">
            <a:r>
              <a:t>      "영상·센서·이벤트 로그를 사고 ID와 시간축으로 묶고 필수 보고 항목과 대조하는 CCK 설계. 요약 보고서를 만들더라도 원본 증거·작성 판본·승인자·추가 보완 이력을 함께 유지하는 구조.",</a:t>
            </a:r>
          </a:p>
          <a:p xmlns:a="http://schemas.openxmlformats.org/drawingml/2006/main">
            <a:r>
              <a:t>      "TS 사고조사 지원에서 자동 요약의 편의보다 증거 누락을 우선 평가할 근거. 충돌 전·중·후 자료와 수정본을 섞은 시험으로 사건 재구성, 빠진 항목 경고, 제출본 추적을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"사고보고 접수",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"실증 운영자·사고 조사자·감독기관",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"사고 ID·기간",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"사고 ID와 보고 대상 기간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"영상·로그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"시각별 원시 증거",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"시각별 사건 재구성",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"시각별 사건 재구성과 필수 항목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"필수 항목 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"충돌 전·중·후 증거의 완전성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"작성·승인자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"사고 발생 전후 전체 이벤트를 보고 항목에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"제출·보완 보고",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"작성자 검토와 승인자 확인 후 공식 제출",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"누락·수정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"추가 발견 증거의 보완 보고·수정 이력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"원시 영상·센서",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"원시 증거·보고 판본",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"시간축·판본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"센서·영상·보고 원본의 시점·버전 보존",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"증거·보고 판본",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"원시 증거별 보고 포함 여부와 누락 경고·승인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"보존·보고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"충돌 이후 이벤트 삭제·영상과 로그 시각 충돌",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"사고 ID와 보고 대상 기간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"시각별 원시 증거",</a:t>
            </a:r>
          </a:p>
          <a:p xmlns:a="http://schemas.openxmlformats.org/drawingml/2006/main">
            <a:r>
              <a:t>          "check": "충돌 전·중·후 증거의 완전성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"충돌 전후 사건",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"사건 타임라인·보고항목 초안",</a:t>
            </a:r>
          </a:p>
          <a:p xmlns:a="http://schemas.openxmlformats.org/drawingml/2006/main">
            <a:r>
              <a:t>          "check": "충돌 이후 이벤트 삭제·영상과 로그 시각 충돌"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"필수 보고 항목",</a:t>
            </a:r>
          </a:p>
          <a:p xmlns:a="http://schemas.openxmlformats.org/drawingml/2006/main">
            <a:r>
              <a:t>          "check": "작성자 검토와 승인자 확인 후 공식 제출"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"제출·보완 기록",</a:t>
            </a:r>
          </a:p>
          <a:p xmlns:a="http://schemas.openxmlformats.org/drawingml/2006/main">
            <a:r>
              <a:t>          "check":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"사고보고의 원시 증거 누락 방지 / 사건 식별·시간순 증거·보고 완전성",</a:t>
            </a:r>
          </a:p>
          <a:p xmlns:a="http://schemas.openxmlformats.org/drawingml/2006/main">
            <a:r>
              <a:t>        "extension": "TS 실증·사고·점검 자료의 사건 ID와 원문 시점별 근거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"충돌 이후 이벤트 삭제·영상과 로그 시각 충돌",</a:t>
            </a:r>
          </a:p>
          <a:p xmlns:a="http://schemas.openxmlformats.org/drawingml/2006/main">
            <a:r>
              <a:t>        "hold": "충돌 전·중·후 증거의 완전성 대사",</a:t>
            </a:r>
          </a:p>
          <a:p xmlns:a="http://schemas.openxmlformats.org/drawingml/2006/main">
            <a:r>
              <a:t>        "recovery": "추가 발견 증거의 보완 보고·수정 이력 추적",</a:t>
            </a:r>
          </a:p>
          <a:p xmlns:a="http://schemas.openxmlformats.org/drawingml/2006/main">
            <a:r>
              <a:t>        "evidence": "원시 증거별 보고 포함 여부와 누락 경고·승인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"원시 증거·보고 판본",</a:t>
            </a:r>
          </a:p>
          <a:p xmlns:a="http://schemas.openxmlformats.org/drawingml/2006/main">
            <a:r>
              <a:t>        "prepare": "센서·영상·보고 원본의 시점·버전 보존",</a:t>
            </a:r>
          </a:p>
          <a:p xmlns:a="http://schemas.openxmlformats.org/drawingml/2006/main">
            <a:r>
              <a:t>        "output": "시각별 원시 증거",</a:t>
            </a:r>
          </a:p>
          <a:p xmlns:a="http://schemas.openxmlformats.org/drawingml/2006/main">
            <a:r>
              <a:t>        "refresh": "추가 발견 증거의 보완 보고·수정 이력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"원시 영상과 보고 항목의 대사",</a:t>
            </a:r>
          </a:p>
          <a:p xmlns:a="http://schemas.openxmlformats.org/drawingml/2006/main">
            <a:r>
              <a:t>      "보고 책임자와 변경 이력 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"사고 후 상황의 보고 누락",</a:t>
            </a:r>
          </a:p>
          <a:p xmlns:a="http://schemas.openxmlformats.org/drawingml/2006/main">
            <a:r>
              <a:t>      "요약본만으로 사고 전체를 판단하는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"사고 영상·로그",</a:t>
            </a:r>
          </a:p>
          <a:p xmlns:a="http://schemas.openxmlformats.org/drawingml/2006/main">
            <a:r>
              <a:t>      "타임라인·보고서 구성",</a:t>
            </a:r>
          </a:p>
          <a:p xmlns:a="http://schemas.openxmlformats.org/drawingml/2006/main">
            <a:r>
              <a:t>      "원시 증거·보고 판본",</a:t>
            </a:r>
          </a:p>
          <a:p xmlns:a="http://schemas.openxmlformats.org/drawingml/2006/main">
            <a:r>
              <a:t>      "감독기관·보고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"시각별 원시 증거",</a:t>
            </a:r>
          </a:p>
          <a:p xmlns:a="http://schemas.openxmlformats.org/drawingml/2006/main">
            <a:r>
              <a:t>      "충돌 전후 사건",</a:t>
            </a:r>
          </a:p>
          <a:p xmlns:a="http://schemas.openxmlformats.org/drawingml/2006/main">
            <a:r>
              <a:t>      "필수 보고 항목",</a:t>
            </a:r>
          </a:p>
          <a:p xmlns:a="http://schemas.openxmlformats.org/drawingml/2006/main">
            <a:r>
              <a:t>      "제출·보완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"충돌 전·중·후 증거의 완전성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NHTSA · Cruise 사고보고 시정 명령 https://www.nhtsa.gov/press-releases/consent-order-cruise-crash-reporting</a:t>
            </a:r>
          </a:p>
          <a:p xmlns:a="http://schemas.openxmlformats.org/drawingml/2006/main">
            <a:r>
              <a:t>홈페이지 https://heen1987-ops.github.io/TS-business-Plan-001/index.html?view=casebook&amp;case=AX08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"title": "Cruise 사고보고",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"자율주행 안전·사고보고",</a:t>
            </a:r>
          </a:p>
          <a:p xmlns:a="http://schemas.openxmlformats.org/drawingml/2006/main">
            <a:r>
              <a:t>    "period": "2023 사고 / 2024 시정",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"S09"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"미래 모빌리티",</a:t>
            </a:r>
          </a:p>
          <a:p xmlns:a="http://schemas.openxmlformats.org/drawingml/2006/main">
            <a:r>
              <a:t>      "사고",</a:t>
            </a:r>
          </a:p>
          <a:p xmlns:a="http://schemas.openxmlformats.org/drawingml/2006/main">
            <a:r>
              <a:t>      "실증",</a:t>
            </a:r>
          </a:p>
          <a:p xmlns:a="http://schemas.openxmlformats.org/drawingml/2006/main">
            <a:r>
              <a:t>      "안전보고"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 후 상황을 빠뜨린 사고보고에 대한 NHTSA 시정 명령 및 강화된 보고·감독",</a:t>
            </a:r>
          </a:p>
          <a:p xmlns:a="http://schemas.openxmlformats.org/drawingml/2006/main">
            <a:r>
              <a:t>    "limit": "보고 완전성·안전 거버넌스 문제 · 사고 원인을 LLM 오류로 단정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"사고 원시 증거",</a:t>
            </a:r>
          </a:p>
          <a:p xmlns:a="http://schemas.openxmlformats.org/drawingml/2006/main">
            <a:r>
              <a:t>      "사건 타임라인",</a:t>
            </a:r>
          </a:p>
          <a:p xmlns:a="http://schemas.openxmlformats.org/drawingml/2006/main">
            <a:r>
              <a:t>      "보고서 작성",</a:t>
            </a:r>
          </a:p>
          <a:p xmlns:a="http://schemas.openxmlformats.org/drawingml/2006/main">
            <a:r>
              <a:t>      "감독기관 보고"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시정 내용 기반 보고 흐름 재구성",</a:t>
            </a:r>
          </a:p>
          <a:p xmlns:a="http://schemas.openxmlformats.org/drawingml/2006/main">
            <a:r>
              <a:t>    "lesson":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"CCK-02",</a:t>
            </a:r>
          </a:p>
          <a:p xmlns:a="http://schemas.openxmlformats.org/drawingml/2006/main">
            <a:r>
              <a:t>      "CCK-03"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"증거 무결성 / 필수 사건 체크 / 누락 경고 / 검토·승인 이력",</a:t>
            </a:r>
          </a:p>
          <a:p xmlns:a="http://schemas.openxmlformats.org/drawingml/2006/main">
            <a:r>
              <a:t>    "test": "누락 사건·충돌 시각 주입 후 탐지 및 승인 없이 전송 차단",</a:t>
            </a:r>
          </a:p>
          <a:p xmlns:a="http://schemas.openxmlformats.org/drawingml/2006/main">
            <a:r>
              <a:t>    "metric": "필수 사건 재현율 / 검토 누락률"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"canonicalId": "AX08",</a:t>
            </a:r>
          </a:p>
          <a:p xmlns:a="http://schemas.openxmlformats.org/drawingml/2006/main">
            <a:r>
              <a:t>    "purpose": "사고보고의 원시 증거 누락 방지",</a:t>
            </a:r>
          </a:p>
          <a:p xmlns:a="http://schemas.openxmlformats.org/drawingml/2006/main">
            <a:r>
              <a:t>    "users": "실증 운영자·사고 조사자·감독기관",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"사건 식별",</a:t>
            </a:r>
          </a:p>
          <a:p xmlns:a="http://schemas.openxmlformats.org/drawingml/2006/main">
            <a:r>
              <a:t>      "시간순 증거",</a:t>
            </a:r>
          </a:p>
          <a:p xmlns:a="http://schemas.openxmlformats.org/drawingml/2006/main">
            <a:r>
              <a:t>      "보고 완전성"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"사고 영상·로그",</a:t>
            </a:r>
          </a:p>
          <a:p xmlns:a="http://schemas.openxmlformats.org/drawingml/2006/main">
            <a:r>
              <a:t>        "detail": "사고 ID와 보고 대상 기간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"사건 식별 / 시간순 증거 / 보고 완전성",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"타임라인·보고서 구성",</a:t>
            </a:r>
          </a:p>
          <a:p xmlns:a="http://schemas.openxmlformats.org/drawingml/2006/main">
            <a:r>
              <a:t>        "detail": "시각별 사건 재구성과 필수 항목 대사",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"감독기관·보고 담당",</a:t>
            </a:r>
          </a:p>
          <a:p xmlns:a="http://schemas.openxmlformats.org/drawingml/2006/main">
            <a:r>
              <a:t>        "detail": "작성자 검토와 승인자 확인 후 공식 제출",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"원시 증거·보고 판본",</a:t>
            </a:r>
          </a:p>
          <a:p xmlns:a="http://schemas.openxmlformats.org/drawingml/2006/main">
            <a:r>
              <a:t>        "detail": "센서·영상·보고 원본의 시점·버전 보존",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"추가 발견 증거의 보완 보고·수정 이력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원시 증거",</a:t>
            </a:r>
          </a:p>
          <a:p xmlns:a="http://schemas.openxmlformats.org/drawingml/2006/main">
            <a:r>
              <a:t>        "input": "사고 ID와 보고 대상 기간 지정",</a:t>
            </a:r>
          </a:p>
          <a:p xmlns:a="http://schemas.openxmlformats.org/drawingml/2006/main">
            <a:r>
              <a:t>        "process": "센서·영상·보고 원본의 시점·버전 보존",</a:t>
            </a:r>
          </a:p>
          <a:p xmlns:a="http://schemas.openxmlformats.org/drawingml/2006/main">
            <a:r>
              <a:t>        "output": "시각별 원시 증거"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"사건 타임라인",</a:t>
            </a:r>
          </a:p>
          <a:p xmlns:a="http://schemas.openxmlformats.org/drawingml/2006/main">
            <a:r>
              <a:t>        "input": "시각별 원시 증거",</a:t>
            </a:r>
          </a:p>
          <a:p xmlns:a="http://schemas.openxmlformats.org/drawingml/2006/main">
            <a:r>
              <a:t>        "process": "시각별 사건 재구성과 필수 항목 대사",</a:t>
            </a:r>
          </a:p>
          <a:p xmlns:a="http://schemas.openxmlformats.org/drawingml/2006/main">
            <a:r>
              <a:t>        "output": "충돌 전후 사건"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"보고서 작성",</a:t>
            </a:r>
          </a:p>
          <a:p xmlns:a="http://schemas.openxmlformats.org/drawingml/2006/main">
            <a:r>
              <a:t>        "input": "충돌 전후 사건",</a:t>
            </a:r>
          </a:p>
          <a:p xmlns:a="http://schemas.openxmlformats.org/drawingml/2006/main">
            <a:r>
              <a:t>        "process": "충돌 전·중·후 증거의 완전성 대사",</a:t>
            </a:r>
          </a:p>
          <a:p xmlns:a="http://schemas.openxmlformats.org/drawingml/2006/main">
            <a:r>
              <a:t>        "output": "필수 보고 항목"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"감독기관 보고",</a:t>
            </a:r>
          </a:p>
          <a:p xmlns:a="http://schemas.openxmlformats.org/drawingml/2006/main">
            <a:r>
              <a:t>        "input": "필수 보고 항목",</a:t>
            </a:r>
          </a:p>
          <a:p xmlns:a="http://schemas.openxmlformats.org/drawingml/2006/main">
            <a:r>
              <a:t>        "process": "작성자 검토와 승인자 확인 후 공식 제출",</a:t>
            </a:r>
          </a:p>
          <a:p xmlns:a="http://schemas.openxmlformats.org/drawingml/2006/main">
            <a:r>
              <a:t>        "output": "제출·보완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"사고 발생 전후 전체 이벤트를 보고 항목에 연결",</a:t>
            </a:r>
          </a:p>
          <a:p xmlns:a="http://schemas.openxmlformats.org/drawingml/2006/main">
            <a:r>
              <a:t>      "exception": "충돌 이후 이벤트 삭제·영상과 로그 시각 충돌",</a:t>
            </a:r>
          </a:p>
          <a:p xmlns:a="http://schemas.openxmlformats.org/drawingml/2006/main">
            <a:r>
              <a:t>      "evidence": "원시 증거별 보고 포함 여부와 누락 경고·승인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"실증 운영자·사고 조사자·감독기관",</a:t>
            </a:r>
          </a:p>
          <a:p xmlns:a="http://schemas.openxmlformats.org/drawingml/2006/main">
            <a:r>
              <a:t>          "processing": "사고 ID와 보고 대상 기간 지정",</a:t>
            </a:r>
          </a:p>
          <a:p xmlns:a="http://schemas.openxmlformats.org/drawingml/2006/main">
            <a:r>
              <a:t>          "output": "시각별 원시 증거"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"원시 증거·보고 판본",</a:t>
            </a:r>
          </a:p>
          <a:p xmlns:a="http://schemas.openxmlformats.org/drawingml/2006/main">
            <a:r>
              <a:t>          "processing": "센서·영상·보고 원본의 시점·버전 보존",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"시각별 원시 증거",</a:t>
            </a:r>
          </a:p>
          <a:p xmlns:a="http://schemas.openxmlformats.org/drawingml/2006/main">
            <a:r>
              <a:t>          "processing": "시각별 사건 재구성과 필수 항목 대사",</a:t>
            </a:r>
          </a:p>
          <a:p xmlns:a="http://schemas.openxmlformats.org/drawingml/2006/main">
            <a:r>
              <a:t>          "output": "필수 보고 항목"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"필수 보고 항목",</a:t>
            </a:r>
          </a:p>
          <a:p xmlns:a="http://schemas.openxmlformats.org/drawingml/2006/main">
            <a:r>
              <a:t>          "processing": "작성자 검토와 승인자 확인 후 공식 제출",</a:t>
            </a:r>
          </a:p>
          <a:p xmlns:a="http://schemas.openxmlformats.org/drawingml/2006/main">
            <a:r>
              <a:t>          "output": "제출·보완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"추가 발견 증거의 보완 보고·수정 이력 추적",</a:t>
            </a:r>
          </a:p>
          <a:p xmlns:a="http://schemas.openxmlformats.org/drawingml/2006/main">
            <a:r>
              <a:t>          "output":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"추가 발견 증거의 보완 보고·수정 이력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"S09",</a:t>
            </a:r>
          </a:p>
          <a:p xmlns:a="http://schemas.openxmlformats.org/drawingml/2006/main">
            <a:r>
              <a:t>        "title": "NHTSA · Cruise 사고보고 시정 명령",</a:t>
            </a:r>
          </a:p>
          <a:p xmlns:a="http://schemas.openxmlformats.org/drawingml/2006/main">
            <a:r>
              <a:t>        "url": "https://www.nhtsa.gov/press-releases/consent-order-cruise-crash-reporting",</a:t>
            </a:r>
          </a:p>
          <a:p xmlns:a="http://schemas.openxmlformats.org/drawingml/2006/main">
            <a:r>
              <a:t>        "published": "2024-09-30",</a:t>
            </a:r>
          </a:p>
          <a:p xmlns:a="http://schemas.openxmlformats.org/drawingml/2006/main">
            <a:r>
              <a:t>        "level": "감독기관 시정 명령",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"요약 결과와 원시 증거의 대사 / 보고 책임의 분리",</a:t>
            </a:r>
          </a:p>
          <a:p xmlns:a="http://schemas.openxmlformats.org/drawingml/2006/main">
            <a:r>
              <a:t>    "local": "TS 실증·사고·점검 자료의 사건 ID와 원문 시점별 근거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"자율주행 사고의 원시 증거와 감독기관 보고 사이에서 누락이 발생한 시정 사례. 모델의 주행 성능과 별개로 사고 전후 정보를 완전하게 보고하는 운영 책임이 주요 쟁점.",</a:t>
            </a:r>
          </a:p>
          <a:p xmlns:a="http://schemas.openxmlformats.org/drawingml/2006/main">
            <a:r>
              <a:t>      "영상·센서·이벤트 로그를 사고 ID와 시간축으로 묶고 필수 보고 항목과 대조하는 CCK 설계. 요약 보고서를 만들더라도 원본 증거·작성 판본·승인자·추가 보완 이력을 함께 유지하는 구조.",</a:t>
            </a:r>
          </a:p>
          <a:p xmlns:a="http://schemas.openxmlformats.org/drawingml/2006/main">
            <a:r>
              <a:t>      "TS 사고조사 지원에서 자동 요약의 편의보다 증거 누락을 우선 평가할 근거. 충돌 전·중·후 자료와 수정본을 섞은 시험으로 사건 재구성, 빠진 항목 경고, 제출본 추적을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"사고보고 접수",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"실증 운영자·사고 조사자·감독기관",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"사고 ID·기간",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"사고 ID와 보고 대상 기간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"영상·로그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"시각별 원시 증거",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"시각별 사건 재구성",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"시각별 사건 재구성과 필수 항목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"필수 항목 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"충돌 전·중·후 증거의 완전성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"작성·승인자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"사고 발생 전후 전체 이벤트를 보고 항목에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"제출·보완 보고",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"작성자 검토와 승인자 확인 후 공식 제출",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"누락·수정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"추가 발견 증거의 보완 보고·수정 이력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"원시 영상·센서",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"원시 증거·보고 판본",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"시간축·판본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"센서·영상·보고 원본의 시점·버전 보존",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"증거·보고 판본",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"원시 증거별 보고 포함 여부와 누락 경고·승인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"보존·보고 규칙",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"충돌 이후 이벤트 삭제·영상과 로그 시각 충돌",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"사고 ID와 보고 대상 기간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"시각별 원시 증거",</a:t>
            </a:r>
          </a:p>
          <a:p xmlns:a="http://schemas.openxmlformats.org/drawingml/2006/main">
            <a:r>
              <a:t>          "check": "충돌 전·중·후 증거의 완전성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"충돌 전후 사건",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"사건 타임라인·보고항목 초안",</a:t>
            </a:r>
          </a:p>
          <a:p xmlns:a="http://schemas.openxmlformats.org/drawingml/2006/main">
            <a:r>
              <a:t>          "check": "충돌 이후 이벤트 삭제·영상과 로그 시각 충돌"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"필수 보고 항목",</a:t>
            </a:r>
          </a:p>
          <a:p xmlns:a="http://schemas.openxmlformats.org/drawingml/2006/main">
            <a:r>
              <a:t>          "check": "작성자 검토와 승인자 확인 후 공식 제출"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"제출·보완 기록",</a:t>
            </a:r>
          </a:p>
          <a:p xmlns:a="http://schemas.openxmlformats.org/drawingml/2006/main">
            <a:r>
              <a:t>          "check": "원시 증거별 보고 포함 여부와 누락 경고·승인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"사고보고의 원시 증거 누락 방지 / 사건 식별·시간순 증거·보고 완전성",</a:t>
            </a:r>
          </a:p>
          <a:p xmlns:a="http://schemas.openxmlformats.org/drawingml/2006/main">
            <a:r>
              <a:t>        "extension": "TS 실증·사고·점검 자료의 사건 ID와 원문 시점별 근거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"충돌 이후 이벤트 삭제·영상과 로그 시각 충돌",</a:t>
            </a:r>
          </a:p>
          <a:p xmlns:a="http://schemas.openxmlformats.org/drawingml/2006/main">
            <a:r>
              <a:t>        "hold": "충돌 전·중·후 증거의 완전성 대사",</a:t>
            </a:r>
          </a:p>
          <a:p xmlns:a="http://schemas.openxmlformats.org/drawingml/2006/main">
            <a:r>
              <a:t>        "recovery": "추가 발견 증거의 보완 보고·수정 이력 추적",</a:t>
            </a:r>
          </a:p>
          <a:p xmlns:a="http://schemas.openxmlformats.org/drawingml/2006/main">
            <a:r>
              <a:t>        "evidence": "원시 증거별 보고 포함 여부와 누락 경고·승인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"원시 증거·보고 판본",</a:t>
            </a:r>
          </a:p>
          <a:p xmlns:a="http://schemas.openxmlformats.org/drawingml/2006/main">
            <a:r>
              <a:t>        "prepare": "센서·영상·보고 원본의 시점·버전 보존",</a:t>
            </a:r>
          </a:p>
          <a:p xmlns:a="http://schemas.openxmlformats.org/drawingml/2006/main">
            <a:r>
              <a:t>        "output": "시각별 원시 증거",</a:t>
            </a:r>
          </a:p>
          <a:p xmlns:a="http://schemas.openxmlformats.org/drawingml/2006/main">
            <a:r>
              <a:t>        "refresh": "추가 발견 증거의 보완 보고·수정 이력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"원시 영상과 보고 항목의 대사",</a:t>
            </a:r>
          </a:p>
          <a:p xmlns:a="http://schemas.openxmlformats.org/drawingml/2006/main">
            <a:r>
              <a:t>      "보고 책임자와 변경 이력 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"사고 후 상황의 보고 누락",</a:t>
            </a:r>
          </a:p>
          <a:p xmlns:a="http://schemas.openxmlformats.org/drawingml/2006/main">
            <a:r>
              <a:t>      "요약본만으로 사고 전체를 판단하는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"사고 영상·로그",</a:t>
            </a:r>
          </a:p>
          <a:p xmlns:a="http://schemas.openxmlformats.org/drawingml/2006/main">
            <a:r>
              <a:t>      "타임라인·보고서 구성",</a:t>
            </a:r>
          </a:p>
          <a:p xmlns:a="http://schemas.openxmlformats.org/drawingml/2006/main">
            <a:r>
              <a:t>      "원시 증거·보고 판본",</a:t>
            </a:r>
          </a:p>
          <a:p xmlns:a="http://schemas.openxmlformats.org/drawingml/2006/main">
            <a:r>
              <a:t>      "감독기관·보고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"시각별 원시 증거",</a:t>
            </a:r>
          </a:p>
          <a:p xmlns:a="http://schemas.openxmlformats.org/drawingml/2006/main">
            <a:r>
              <a:t>      "충돌 전후 사건",</a:t>
            </a:r>
          </a:p>
          <a:p xmlns:a="http://schemas.openxmlformats.org/drawingml/2006/main">
            <a:r>
              <a:t>      "필수 보고 항목",</a:t>
            </a:r>
          </a:p>
          <a:p xmlns:a="http://schemas.openxmlformats.org/drawingml/2006/main">
            <a:r>
              <a:t>      "제출·보완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"충돌 전·중·후 증거의 완전성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NHTSA · Cruise 사고보고 시정 명령 https://www.nhtsa.gov/press-releases/consent-order-cruise-crash-reporting</a:t>
            </a:r>
          </a:p>
          <a:p xmlns:a="http://schemas.openxmlformats.org/drawingml/2006/main">
            <a:r>
              <a:t>홈페이지 https://heen1987-ops.github.io/TS-business-Plan-001/index.html?view=casebook&amp;case=AX08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"title": "Morgan Stanley 지식지원",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"전문가 업무·평가셋",</a:t>
            </a:r>
          </a:p>
          <a:p xmlns:a="http://schemas.openxmlformats.org/drawingml/2006/main">
            <a:r>
              <a:t>    "period": "출처 열람 2026.10",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"문서검색",</a:t>
            </a:r>
          </a:p>
          <a:p xmlns:a="http://schemas.openxmlformats.org/drawingml/2006/main">
            <a:r>
              <a:t>      "평가",</a:t>
            </a:r>
          </a:p>
          <a:p xmlns:a="http://schemas.openxmlformats.org/drawingml/2006/main">
            <a:r>
              <a:t>      "업무 품질"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"공급사 고객사례에서 자문팀의 98% 초과 활용과 전문가 평가 기반 개선 체계 보고",</a:t>
            </a:r>
          </a:p>
          <a:p xmlns:a="http://schemas.openxmlformats.org/drawingml/2006/main">
            <a:r>
              <a:t>    "limit": "자문팀 기준 공급사 발표 · 생산성 인과효과·TS 정확도 근거와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"전문가 질문",</a:t>
            </a:r>
          </a:p>
          <a:p xmlns:a="http://schemas.openxmlformats.org/drawingml/2006/main">
            <a:r>
              <a:t>      "사내 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평가·개선"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"고객사례의 검색·평가 설명 기반 재구성",</a:t>
            </a:r>
          </a:p>
          <a:p xmlns:a="http://schemas.openxmlformats.org/drawingml/2006/main">
            <a:r>
              <a:t>    "lesson":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평가셋 / 근거 위치 / 답변 보류 / 변경 영향 재평가",</a:t>
            </a:r>
          </a:p>
          <a:p xmlns:a="http://schemas.openxmlformats.org/drawingml/2006/main">
            <a:r>
              <a:t>    "test": "숨긴 평가셋의 근거 일치·판본 일치·거부율 평가",</a:t>
            </a:r>
          </a:p>
          <a:p xmlns:a="http://schemas.openxmlformats.org/drawingml/2006/main">
            <a:r>
              <a:t>    "metric": "근거 정확도 / 재작업률 / 지식 탐색시간"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"canonicalId": "AX09",</a:t>
            </a:r>
          </a:p>
          <a:p xmlns:a="http://schemas.openxmlformats.org/drawingml/2006/main">
            <a:r>
              <a:t>    "purpose": "전문가 지식 탐색과 정답 평가의 결합",</a:t>
            </a:r>
          </a:p>
          <a:p xmlns:a="http://schemas.openxmlformats.org/drawingml/2006/main">
            <a:r>
              <a:t>    "users": "금융 자문가·지식관리자",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"자문가 질문",</a:t>
            </a:r>
          </a:p>
          <a:p xmlns:a="http://schemas.openxmlformats.org/drawingml/2006/main">
            <a:r>
              <a:t>        "detail": "질문의 업무 범위·자료 접근조건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"지식 검색 / 근거 응답 / 전문가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"지식 검색·근거 응답",</a:t>
            </a:r>
          </a:p>
          <a:p xmlns:a="http://schemas.openxmlformats.org/drawingml/2006/main">
            <a:r>
              <a:t>        "detail": "관련 문서 검색과 근거 응답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"전문가 검토",</a:t>
            </a:r>
          </a:p>
          <a:p xmlns:a="http://schemas.openxmlformats.org/drawingml/2006/main">
            <a:r>
              <a:t>        "detail": "자문가가 근거를 검토한 후 업무에 활용",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"사내 지식·평가셋",</a:t>
            </a:r>
          </a:p>
          <a:p xmlns:a="http://schemas.openxmlformats.org/drawingml/2006/main">
            <a:r>
              <a:t>        "detail": "승인 지식·원문 위치·판본별 색인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"전문가 정답셋과 오류 유형별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질문",</a:t>
            </a:r>
          </a:p>
          <a:p xmlns:a="http://schemas.openxmlformats.org/drawingml/2006/main">
            <a:r>
              <a:t>        "input": "질문의 업무 범위·자료 접근조건 확인",</a:t>
            </a:r>
          </a:p>
          <a:p xmlns:a="http://schemas.openxmlformats.org/drawingml/2006/main">
            <a:r>
              <a:t>        "process": "승인 지식·원문 위치·판본별 색인 구성",</a:t>
            </a:r>
          </a:p>
          <a:p xmlns:a="http://schemas.openxmlformats.org/drawingml/2006/main">
            <a:r>
              <a:t>        "output": "질문·업무 목적"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"사내 지식 검색",</a:t>
            </a:r>
          </a:p>
          <a:p xmlns:a="http://schemas.openxmlformats.org/drawingml/2006/main">
            <a:r>
              <a:t>        "input": "질문·업무 목적",</a:t>
            </a:r>
          </a:p>
          <a:p xmlns:a="http://schemas.openxmlformats.org/drawingml/2006/main">
            <a:r>
              <a:t>        "process": "관련 문서 검색과 근거 응답 생성",</a:t>
            </a:r>
          </a:p>
          <a:p xmlns:a="http://schemas.openxmlformats.org/drawingml/2006/main">
            <a:r>
              <a:t>        "output": "관련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응답",</a:t>
            </a:r>
          </a:p>
          <a:p xmlns:a="http://schemas.openxmlformats.org/drawingml/2006/main">
            <a:r>
              <a:t>        "input": "관련 문서",</a:t>
            </a:r>
          </a:p>
          <a:p xmlns:a="http://schemas.openxmlformats.org/drawingml/2006/main">
            <a:r>
              <a:t>        "process": "문서 개정 후 숨긴 평가셋 재검증",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평가·개선",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"자문가가 근거를 검토한 후 업무에 활용",</a:t>
            </a:r>
          </a:p>
          <a:p xmlns:a="http://schemas.openxmlformats.org/drawingml/2006/main">
            <a:r>
              <a:t>        "output": "평가·수정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"전문가가 규정 질의의 답변·인용 원문·판본을 평가",</a:t>
            </a:r>
          </a:p>
          <a:p xmlns:a="http://schemas.openxmlformats.org/drawingml/2006/main">
            <a:r>
              <a:t>      "exception": "구버전 문서·근거 없는 질문·서로 다른 상품 조건",</a:t>
            </a:r>
          </a:p>
          <a:p xmlns:a="http://schemas.openxmlformats.org/drawingml/2006/main">
            <a:r>
              <a:t>      "evidence": "전문가 정답표와 근거 정확도·보류 적정성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"금융 자문가·지식관리자",</a:t>
            </a:r>
          </a:p>
          <a:p xmlns:a="http://schemas.openxmlformats.org/drawingml/2006/main">
            <a:r>
              <a:t>          "processing": "질문의 업무 범위·자료 접근조건 확인",</a:t>
            </a:r>
          </a:p>
          <a:p xmlns:a="http://schemas.openxmlformats.org/drawingml/2006/main">
            <a:r>
              <a:t>          "output": "질문·업무 목적"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"사내 지식·평가셋",</a:t>
            </a:r>
          </a:p>
          <a:p xmlns:a="http://schemas.openxmlformats.org/drawingml/2006/main">
            <a:r>
              <a:t>          "processing": "승인 지식·원문 위치·판본별 색인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"질문·업무 목적",</a:t>
            </a:r>
          </a:p>
          <a:p xmlns:a="http://schemas.openxmlformats.org/drawingml/2006/main">
            <a:r>
              <a:t>          "processing": "관련 문서 검색과 근거 응답 생성",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"자문가가 근거를 검토한 후 업무에 활용",</a:t>
            </a:r>
          </a:p>
          <a:p xmlns:a="http://schemas.openxmlformats.org/drawingml/2006/main">
            <a:r>
              <a:t>          "output": "평가·수정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"전문가 정답셋과 오류 유형별 회귀 평가",</a:t>
            </a:r>
          </a:p>
          <a:p xmlns:a="http://schemas.openxmlformats.org/drawingml/2006/main">
            <a:r>
              <a:t>          "output":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"전문가 정답셋과 오류 유형별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"S10",</a:t>
            </a:r>
          </a:p>
          <a:p xmlns:a="http://schemas.openxmlformats.org/drawingml/2006/main">
            <a:r>
              <a:t>        "title": "OpenAI · Morgan Stanley 평가·도입 사례",</a:t>
            </a:r>
          </a:p>
          <a:p xmlns:a="http://schemas.openxmlformats.org/drawingml/2006/main">
            <a:r>
              <a:t>        "url": "https://openai.com/index/morgan-stanley/",</a:t>
            </a:r>
          </a:p>
          <a:p xmlns:a="http://schemas.openxmlformats.org/drawingml/2006/main">
            <a:r>
              <a:t>        "published": "게시일 미표시",</a:t>
            </a:r>
          </a:p>
          <a:p xmlns:a="http://schemas.openxmlformats.org/drawingml/2006/main">
            <a:r>
              <a:t>        "level": "공급사 고객사례",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"금융 자문가가 승인된 사내 전문지식을 검색하고 근거 있는 답변을 얻도록 한 사례. 직원의 문서 탐색을 지원하면서 전문가 평가를 품질 개선에 연결한 접근.",</a:t>
            </a:r>
          </a:p>
          <a:p xmlns:a="http://schemas.openxmlformats.org/drawingml/2006/main">
            <a:r>
              <a:t>      "업무 질문의 자료 범위를 확인하고 관련 문서·원문 위치를 검색한 뒤 자문가가 답변을 검토하는 흐름. TS 적용 시 검사·인증·안전 규정별 전문가 정답셋과 문서 개정 이력을 연결하는 설계.",</a:t>
            </a:r>
          </a:p>
          <a:p xmlns:a="http://schemas.openxmlformats.org/drawingml/2006/main">
            <a:r>
              <a:t>      "활용자 수·도입 확대와 답변의 정답률을 구분해 평가할 필요. 숨긴 평가셋, 근거 조문 일치, 개정 후 회귀시험, 전문가 수정시간을 함께 수집하는 CCK 벤치마킹."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"자문가 질문",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"금융 자문가·지식관리자",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"질의·접근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"질문의 업무 범위·자료 접근조건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문서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"질문·업무 목적",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응답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"관련 문서 검색과 근거 응답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"문서·답변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"문서 개정 후 숨긴 평가셋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"전문가가 규정 질의의 답변·인용 원문·판본을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 업무 활용",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"자문가가 근거를 검토한 후 업무에 활용",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"정답셋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"전문가 정답셋과 오류 유형별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"승인 전문지식",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"사내 지식·평가셋",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"원문 위치·판본화",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지식·원문 위치·판본별 색인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"전문가 정답표와 근거 정확도·보류 적정성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"자료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"구버전 문서·근거 없는 질문·서로 다른 상품 조건",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"질문의 업무 범위·자료 접근조건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"질문·업무 목적",</a:t>
            </a:r>
          </a:p>
          <a:p xmlns:a="http://schemas.openxmlformats.org/drawingml/2006/main">
            <a:r>
              <a:t>          "check": "문서 개정 후 숨긴 평가셋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"구버전 문서·근거 없는 질문·서로 다른 상품 조건"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"자문가가 근거를 검토한 후 업무에 활용"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"평가·수정 기록",</a:t>
            </a:r>
          </a:p>
          <a:p xmlns:a="http://schemas.openxmlformats.org/drawingml/2006/main">
            <a:r>
              <a:t>          "check":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"전문가 지식 탐색과 정답 평가의 결합 / 지식 검색·근거 응답·전문가 평가",</a:t>
            </a:r>
          </a:p>
          <a:p xmlns:a="http://schemas.openxmlformats.org/drawingml/2006/main">
            <a:r>
              <a:t>        "extension": "부서별 규정·기술 기준·서식에 근거 위치와 판본을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"구버전 문서·근거 없는 질문·서로 다른 상품 조건",</a:t>
            </a:r>
          </a:p>
          <a:p xmlns:a="http://schemas.openxmlformats.org/drawingml/2006/main">
            <a:r>
              <a:t>        "hold": "문서 개정 후 숨긴 평가셋 재검증",</a:t>
            </a:r>
          </a:p>
          <a:p xmlns:a="http://schemas.openxmlformats.org/drawingml/2006/main">
            <a:r>
              <a:t>        "recovery": "전문가 정답셋과 오류 유형별 회귀 평가",</a:t>
            </a:r>
          </a:p>
          <a:p xmlns:a="http://schemas.openxmlformats.org/drawingml/2006/main">
            <a:r>
              <a:t>        "evidence": "전문가 정답표와 근거 정확도·보류 적정성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"사내 지식·평가셋",</a:t>
            </a:r>
          </a:p>
          <a:p xmlns:a="http://schemas.openxmlformats.org/drawingml/2006/main">
            <a:r>
              <a:t>        "prepare": "승인 지식·원문 위치·판본별 색인 구성",</a:t>
            </a:r>
          </a:p>
          <a:p xmlns:a="http://schemas.openxmlformats.org/drawingml/2006/main">
            <a:r>
              <a:t>        "output": "질문·업무 목적",</a:t>
            </a:r>
          </a:p>
          <a:p xmlns:a="http://schemas.openxmlformats.org/drawingml/2006/main">
            <a:r>
              <a:t>        "refresh": "전문가 정답셋과 오류 유형별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"전문가 평가셋과 지속 개선",</a:t>
            </a:r>
          </a:p>
          <a:p xmlns:a="http://schemas.openxmlformats.org/drawingml/2006/main">
            <a:r>
              <a:t>      "현업 지식을 업무 접점에서 검색"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"활용률과 정답률의 혼동",</a:t>
            </a:r>
          </a:p>
          <a:p xmlns:a="http://schemas.openxmlformats.org/drawingml/2006/main">
            <a:r>
              <a:t>      "자료 개정에 따른 답변 품질 저하"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"자문가 질문",</a:t>
            </a:r>
          </a:p>
          <a:p xmlns:a="http://schemas.openxmlformats.org/drawingml/2006/main">
            <a:r>
              <a:t>      "지식 검색·근거 응답",</a:t>
            </a:r>
          </a:p>
          <a:p xmlns:a="http://schemas.openxmlformats.org/drawingml/2006/main">
            <a:r>
              <a:t>      "사내 지식·평가셋",</a:t>
            </a:r>
          </a:p>
          <a:p xmlns:a="http://schemas.openxmlformats.org/drawingml/2006/main">
            <a:r>
              <a:t>      "전문가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"질문·업무 목적",</a:t>
            </a:r>
          </a:p>
          <a:p xmlns:a="http://schemas.openxmlformats.org/drawingml/2006/main">
            <a:r>
              <a:t>      "관련 문서",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"평가·수정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"문서 개정 후 숨긴 평가셋 재검증",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OpenAI · Morgan Stanley 평가·도입 사례 https://openai.com/index/morgan-stanley/</a:t>
            </a:r>
          </a:p>
          <a:p xmlns:a="http://schemas.openxmlformats.org/drawingml/2006/main">
            <a:r>
              <a:t>홈페이지 https://heen1987-ops.github.io/TS-business-Plan-001/index.html?view=casebook&amp;case=AX09</a:t>
            </a:r>
          </a:p>
          <a:p xmlns:a="http://schemas.openxmlformats.org/drawingml/2006/main">
            <a:r>
              <a:t>한계: 자문팀 기준 공급사 발표 · 생산성 인과효과·TS 정확도 근거와 구분</a:t>
            </a:r>
          </a:p>
          <a:p xmlns:a="http://schemas.openxmlformats.org/drawingml/2006/main">
            <a:r>
              <a:t>실패 위험: 활용률과 정답률의 혼동 / 자료 개정에 따른 답변 품질 저하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"title": "Morgan Stanley 지식지원",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"전문가 업무·평가셋",</a:t>
            </a:r>
          </a:p>
          <a:p xmlns:a="http://schemas.openxmlformats.org/drawingml/2006/main">
            <a:r>
              <a:t>    "period": "출처 열람 2026.10",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"문서검색",</a:t>
            </a:r>
          </a:p>
          <a:p xmlns:a="http://schemas.openxmlformats.org/drawingml/2006/main">
            <a:r>
              <a:t>      "평가",</a:t>
            </a:r>
          </a:p>
          <a:p xmlns:a="http://schemas.openxmlformats.org/drawingml/2006/main">
            <a:r>
              <a:t>      "업무 품질"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"공급사 고객사례에서 자문팀의 98% 초과 활용과 전문가 평가 기반 개선 체계 보고",</a:t>
            </a:r>
          </a:p>
          <a:p xmlns:a="http://schemas.openxmlformats.org/drawingml/2006/main">
            <a:r>
              <a:t>    "limit": "자문팀 기준 공급사 발표 · 생산성 인과효과·TS 정확도 근거와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"전문가 질문",</a:t>
            </a:r>
          </a:p>
          <a:p xmlns:a="http://schemas.openxmlformats.org/drawingml/2006/main">
            <a:r>
              <a:t>      "사내 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평가·개선"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"고객사례의 검색·평가 설명 기반 재구성",</a:t>
            </a:r>
          </a:p>
          <a:p xmlns:a="http://schemas.openxmlformats.org/drawingml/2006/main">
            <a:r>
              <a:t>    "lesson":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평가셋 / 근거 위치 / 답변 보류 / 변경 영향 재평가",</a:t>
            </a:r>
          </a:p>
          <a:p xmlns:a="http://schemas.openxmlformats.org/drawingml/2006/main">
            <a:r>
              <a:t>    "test": "숨긴 평가셋의 근거 일치·판본 일치·거부율 평가",</a:t>
            </a:r>
          </a:p>
          <a:p xmlns:a="http://schemas.openxmlformats.org/drawingml/2006/main">
            <a:r>
              <a:t>    "metric": "근거 정확도 / 재작업률 / 지식 탐색시간"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"canonicalId": "AX09",</a:t>
            </a:r>
          </a:p>
          <a:p xmlns:a="http://schemas.openxmlformats.org/drawingml/2006/main">
            <a:r>
              <a:t>    "purpose": "전문가 지식 탐색과 정답 평가의 결합",</a:t>
            </a:r>
          </a:p>
          <a:p xmlns:a="http://schemas.openxmlformats.org/drawingml/2006/main">
            <a:r>
              <a:t>    "users": "금융 자문가·지식관리자",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"자문가 질문",</a:t>
            </a:r>
          </a:p>
          <a:p xmlns:a="http://schemas.openxmlformats.org/drawingml/2006/main">
            <a:r>
              <a:t>        "detail": "질문의 업무 범위·자료 접근조건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"지식 검색 / 근거 응답 / 전문가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"지식 검색·근거 응답",</a:t>
            </a:r>
          </a:p>
          <a:p xmlns:a="http://schemas.openxmlformats.org/drawingml/2006/main">
            <a:r>
              <a:t>        "detail": "관련 문서 검색과 근거 응답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"전문가 검토",</a:t>
            </a:r>
          </a:p>
          <a:p xmlns:a="http://schemas.openxmlformats.org/drawingml/2006/main">
            <a:r>
              <a:t>        "detail": "자문가가 근거를 검토한 후 업무에 활용",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"사내 지식·평가셋",</a:t>
            </a:r>
          </a:p>
          <a:p xmlns:a="http://schemas.openxmlformats.org/drawingml/2006/main">
            <a:r>
              <a:t>        "detail": "승인 지식·원문 위치·판본별 색인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"전문가 정답셋과 오류 유형별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질문",</a:t>
            </a:r>
          </a:p>
          <a:p xmlns:a="http://schemas.openxmlformats.org/drawingml/2006/main">
            <a:r>
              <a:t>        "input": "질문의 업무 범위·자료 접근조건 확인",</a:t>
            </a:r>
          </a:p>
          <a:p xmlns:a="http://schemas.openxmlformats.org/drawingml/2006/main">
            <a:r>
              <a:t>        "process": "승인 지식·원문 위치·판본별 색인 구성",</a:t>
            </a:r>
          </a:p>
          <a:p xmlns:a="http://schemas.openxmlformats.org/drawingml/2006/main">
            <a:r>
              <a:t>        "output": "질문·업무 목적"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"사내 지식 검색",</a:t>
            </a:r>
          </a:p>
          <a:p xmlns:a="http://schemas.openxmlformats.org/drawingml/2006/main">
            <a:r>
              <a:t>        "input": "질문·업무 목적",</a:t>
            </a:r>
          </a:p>
          <a:p xmlns:a="http://schemas.openxmlformats.org/drawingml/2006/main">
            <a:r>
              <a:t>        "process": "관련 문서 검색과 근거 응답 생성",</a:t>
            </a:r>
          </a:p>
          <a:p xmlns:a="http://schemas.openxmlformats.org/drawingml/2006/main">
            <a:r>
              <a:t>        "output": "관련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응답",</a:t>
            </a:r>
          </a:p>
          <a:p xmlns:a="http://schemas.openxmlformats.org/drawingml/2006/main">
            <a:r>
              <a:t>        "input": "관련 문서",</a:t>
            </a:r>
          </a:p>
          <a:p xmlns:a="http://schemas.openxmlformats.org/drawingml/2006/main">
            <a:r>
              <a:t>        "process": "문서 개정 후 숨긴 평가셋 재검증",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평가·개선",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"자문가가 근거를 검토한 후 업무에 활용",</a:t>
            </a:r>
          </a:p>
          <a:p xmlns:a="http://schemas.openxmlformats.org/drawingml/2006/main">
            <a:r>
              <a:t>        "output": "평가·수정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"전문가가 규정 질의의 답변·인용 원문·판본을 평가",</a:t>
            </a:r>
          </a:p>
          <a:p xmlns:a="http://schemas.openxmlformats.org/drawingml/2006/main">
            <a:r>
              <a:t>      "exception": "구버전 문서·근거 없는 질문·서로 다른 상품 조건",</a:t>
            </a:r>
          </a:p>
          <a:p xmlns:a="http://schemas.openxmlformats.org/drawingml/2006/main">
            <a:r>
              <a:t>      "evidence": "전문가 정답표와 근거 정확도·보류 적정성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"금융 자문가·지식관리자",</a:t>
            </a:r>
          </a:p>
          <a:p xmlns:a="http://schemas.openxmlformats.org/drawingml/2006/main">
            <a:r>
              <a:t>          "processing": "질문의 업무 범위·자료 접근조건 확인",</a:t>
            </a:r>
          </a:p>
          <a:p xmlns:a="http://schemas.openxmlformats.org/drawingml/2006/main">
            <a:r>
              <a:t>          "output": "질문·업무 목적"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"사내 지식·평가셋",</a:t>
            </a:r>
          </a:p>
          <a:p xmlns:a="http://schemas.openxmlformats.org/drawingml/2006/main">
            <a:r>
              <a:t>          "processing": "승인 지식·원문 위치·판본별 색인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"질문·업무 목적",</a:t>
            </a:r>
          </a:p>
          <a:p xmlns:a="http://schemas.openxmlformats.org/drawingml/2006/main">
            <a:r>
              <a:t>          "processing": "관련 문서 검색과 근거 응답 생성",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"자문가가 근거를 검토한 후 업무에 활용",</a:t>
            </a:r>
          </a:p>
          <a:p xmlns:a="http://schemas.openxmlformats.org/drawingml/2006/main">
            <a:r>
              <a:t>          "output": "평가·수정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"전문가 정답셋과 오류 유형별 회귀 평가",</a:t>
            </a:r>
          </a:p>
          <a:p xmlns:a="http://schemas.openxmlformats.org/drawingml/2006/main">
            <a:r>
              <a:t>          "output":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"전문가 정답셋과 오류 유형별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"S10",</a:t>
            </a:r>
          </a:p>
          <a:p xmlns:a="http://schemas.openxmlformats.org/drawingml/2006/main">
            <a:r>
              <a:t>        "title": "OpenAI · Morgan Stanley 평가·도입 사례",</a:t>
            </a:r>
          </a:p>
          <a:p xmlns:a="http://schemas.openxmlformats.org/drawingml/2006/main">
            <a:r>
              <a:t>        "url": "https://openai.com/index/morgan-stanley/",</a:t>
            </a:r>
          </a:p>
          <a:p xmlns:a="http://schemas.openxmlformats.org/drawingml/2006/main">
            <a:r>
              <a:t>        "published": "게시일 미표시",</a:t>
            </a:r>
          </a:p>
          <a:p xmlns:a="http://schemas.openxmlformats.org/drawingml/2006/main">
            <a:r>
              <a:t>        "level": "공급사 고객사례",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"금융 자문가가 승인된 사내 전문지식을 검색하고 근거 있는 답변을 얻도록 한 사례. 직원의 문서 탐색을 지원하면서 전문가 평가를 품질 개선에 연결한 접근.",</a:t>
            </a:r>
          </a:p>
          <a:p xmlns:a="http://schemas.openxmlformats.org/drawingml/2006/main">
            <a:r>
              <a:t>      "업무 질문의 자료 범위를 확인하고 관련 문서·원문 위치를 검색한 뒤 자문가가 답변을 검토하는 흐름. TS 적용 시 검사·인증·안전 규정별 전문가 정답셋과 문서 개정 이력을 연결하는 설계.",</a:t>
            </a:r>
          </a:p>
          <a:p xmlns:a="http://schemas.openxmlformats.org/drawingml/2006/main">
            <a:r>
              <a:t>      "활용자 수·도입 확대와 답변의 정답률을 구분해 평가할 필요. 숨긴 평가셋, 근거 조문 일치, 개정 후 회귀시험, 전문가 수정시간을 함께 수집하는 CCK 벤치마킹."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"자문가 질문",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"금융 자문가·지식관리자",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"질의·접근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"질문의 업무 범위·자료 접근조건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문서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"질문·업무 목적",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응답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"관련 문서 검색과 근거 응답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"문서·답변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"문서 개정 후 숨긴 평가셋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"전문가가 규정 질의의 답변·인용 원문·판본을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 업무 활용",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"자문가가 근거를 검토한 후 업무에 활용",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"정답셋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"전문가 정답셋과 오류 유형별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"승인 전문지식",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"사내 지식·평가셋",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"원문 위치·판본화",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지식·원문 위치·판본별 색인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"전문가 정답표와 근거 정확도·보류 적정성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"자료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"구버전 문서·근거 없는 질문·서로 다른 상품 조건",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"질문의 업무 범위·자료 접근조건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"질문·업무 목적",</a:t>
            </a:r>
          </a:p>
          <a:p xmlns:a="http://schemas.openxmlformats.org/drawingml/2006/main">
            <a:r>
              <a:t>          "check": "문서 개정 후 숨긴 평가셋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"구버전 문서·근거 없는 질문·서로 다른 상품 조건"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"자문가가 근거를 검토한 후 업무에 활용"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"평가·수정 기록",</a:t>
            </a:r>
          </a:p>
          <a:p xmlns:a="http://schemas.openxmlformats.org/drawingml/2006/main">
            <a:r>
              <a:t>          "check":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"전문가 지식 탐색과 정답 평가의 결합 / 지식 검색·근거 응답·전문가 평가",</a:t>
            </a:r>
          </a:p>
          <a:p xmlns:a="http://schemas.openxmlformats.org/drawingml/2006/main">
            <a:r>
              <a:t>        "extension": "부서별 규정·기술 기준·서식에 근거 위치와 판본을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"구버전 문서·근거 없는 질문·서로 다른 상품 조건",</a:t>
            </a:r>
          </a:p>
          <a:p xmlns:a="http://schemas.openxmlformats.org/drawingml/2006/main">
            <a:r>
              <a:t>        "hold": "문서 개정 후 숨긴 평가셋 재검증",</a:t>
            </a:r>
          </a:p>
          <a:p xmlns:a="http://schemas.openxmlformats.org/drawingml/2006/main">
            <a:r>
              <a:t>        "recovery": "전문가 정답셋과 오류 유형별 회귀 평가",</a:t>
            </a:r>
          </a:p>
          <a:p xmlns:a="http://schemas.openxmlformats.org/drawingml/2006/main">
            <a:r>
              <a:t>        "evidence": "전문가 정답표와 근거 정확도·보류 적정성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"사내 지식·평가셋",</a:t>
            </a:r>
          </a:p>
          <a:p xmlns:a="http://schemas.openxmlformats.org/drawingml/2006/main">
            <a:r>
              <a:t>        "prepare": "승인 지식·원문 위치·판본별 색인 구성",</a:t>
            </a:r>
          </a:p>
          <a:p xmlns:a="http://schemas.openxmlformats.org/drawingml/2006/main">
            <a:r>
              <a:t>        "output": "질문·업무 목적",</a:t>
            </a:r>
          </a:p>
          <a:p xmlns:a="http://schemas.openxmlformats.org/drawingml/2006/main">
            <a:r>
              <a:t>        "refresh": "전문가 정답셋과 오류 유형별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"전문가 평가셋과 지속 개선",</a:t>
            </a:r>
          </a:p>
          <a:p xmlns:a="http://schemas.openxmlformats.org/drawingml/2006/main">
            <a:r>
              <a:t>      "현업 지식을 업무 접점에서 검색"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"활용률과 정답률의 혼동",</a:t>
            </a:r>
          </a:p>
          <a:p xmlns:a="http://schemas.openxmlformats.org/drawingml/2006/main">
            <a:r>
              <a:t>      "자료 개정에 따른 답변 품질 저하"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"자문가 질문",</a:t>
            </a:r>
          </a:p>
          <a:p xmlns:a="http://schemas.openxmlformats.org/drawingml/2006/main">
            <a:r>
              <a:t>      "지식 검색·근거 응답",</a:t>
            </a:r>
          </a:p>
          <a:p xmlns:a="http://schemas.openxmlformats.org/drawingml/2006/main">
            <a:r>
              <a:t>      "사내 지식·평가셋",</a:t>
            </a:r>
          </a:p>
          <a:p xmlns:a="http://schemas.openxmlformats.org/drawingml/2006/main">
            <a:r>
              <a:t>      "전문가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"질문·업무 목적",</a:t>
            </a:r>
          </a:p>
          <a:p xmlns:a="http://schemas.openxmlformats.org/drawingml/2006/main">
            <a:r>
              <a:t>      "관련 문서",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"평가·수정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"문서 개정 후 숨긴 평가셋 재검증",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OpenAI · Morgan Stanley 평가·도입 사례 https://openai.com/index/morgan-stanley/</a:t>
            </a:r>
          </a:p>
          <a:p xmlns:a="http://schemas.openxmlformats.org/drawingml/2006/main">
            <a:r>
              <a:t>홈페이지 https://heen1987-ops.github.io/TS-business-Plan-001/index.html?view=casebook&amp;case=AX09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"title": "Morgan Stanley 지식지원",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"전문가 업무·평가셋",</a:t>
            </a:r>
          </a:p>
          <a:p xmlns:a="http://schemas.openxmlformats.org/drawingml/2006/main">
            <a:r>
              <a:t>    "period": "출처 열람 2026.10",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"문서검색",</a:t>
            </a:r>
          </a:p>
          <a:p xmlns:a="http://schemas.openxmlformats.org/drawingml/2006/main">
            <a:r>
              <a:t>      "평가",</a:t>
            </a:r>
          </a:p>
          <a:p xmlns:a="http://schemas.openxmlformats.org/drawingml/2006/main">
            <a:r>
              <a:t>      "업무 품질"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"공급사 고객사례에서 자문팀의 98% 초과 활용과 전문가 평가 기반 개선 체계 보고",</a:t>
            </a:r>
          </a:p>
          <a:p xmlns:a="http://schemas.openxmlformats.org/drawingml/2006/main">
            <a:r>
              <a:t>    "limit": "자문팀 기준 공급사 발표 · 생산성 인과효과·TS 정확도 근거와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"전문가 질문",</a:t>
            </a:r>
          </a:p>
          <a:p xmlns:a="http://schemas.openxmlformats.org/drawingml/2006/main">
            <a:r>
              <a:t>      "사내 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평가·개선"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"고객사례의 검색·평가 설명 기반 재구성",</a:t>
            </a:r>
          </a:p>
          <a:p xmlns:a="http://schemas.openxmlformats.org/drawingml/2006/main">
            <a:r>
              <a:t>    "lesson":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평가셋 / 근거 위치 / 답변 보류 / 변경 영향 재평가",</a:t>
            </a:r>
          </a:p>
          <a:p xmlns:a="http://schemas.openxmlformats.org/drawingml/2006/main">
            <a:r>
              <a:t>    "test": "숨긴 평가셋의 근거 일치·판본 일치·거부율 평가",</a:t>
            </a:r>
          </a:p>
          <a:p xmlns:a="http://schemas.openxmlformats.org/drawingml/2006/main">
            <a:r>
              <a:t>    "metric": "근거 정확도 / 재작업률 / 지식 탐색시간"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"canonicalId": "AX09",</a:t>
            </a:r>
          </a:p>
          <a:p xmlns:a="http://schemas.openxmlformats.org/drawingml/2006/main">
            <a:r>
              <a:t>    "purpose": "전문가 지식 탐색과 정답 평가의 결합",</a:t>
            </a:r>
          </a:p>
          <a:p xmlns:a="http://schemas.openxmlformats.org/drawingml/2006/main">
            <a:r>
              <a:t>    "users": "금융 자문가·지식관리자",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"자문가 질문",</a:t>
            </a:r>
          </a:p>
          <a:p xmlns:a="http://schemas.openxmlformats.org/drawingml/2006/main">
            <a:r>
              <a:t>        "detail": "질문의 업무 범위·자료 접근조건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"지식 검색 / 근거 응답 / 전문가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"지식 검색·근거 응답",</a:t>
            </a:r>
          </a:p>
          <a:p xmlns:a="http://schemas.openxmlformats.org/drawingml/2006/main">
            <a:r>
              <a:t>        "detail": "관련 문서 검색과 근거 응답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"전문가 검토",</a:t>
            </a:r>
          </a:p>
          <a:p xmlns:a="http://schemas.openxmlformats.org/drawingml/2006/main">
            <a:r>
              <a:t>        "detail": "자문가가 근거를 검토한 후 업무에 활용",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"사내 지식·평가셋",</a:t>
            </a:r>
          </a:p>
          <a:p xmlns:a="http://schemas.openxmlformats.org/drawingml/2006/main">
            <a:r>
              <a:t>        "detail": "승인 지식·원문 위치·판본별 색인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"전문가 정답셋과 오류 유형별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질문",</a:t>
            </a:r>
          </a:p>
          <a:p xmlns:a="http://schemas.openxmlformats.org/drawingml/2006/main">
            <a:r>
              <a:t>        "input": "질문의 업무 범위·자료 접근조건 확인",</a:t>
            </a:r>
          </a:p>
          <a:p xmlns:a="http://schemas.openxmlformats.org/drawingml/2006/main">
            <a:r>
              <a:t>        "process": "승인 지식·원문 위치·판본별 색인 구성",</a:t>
            </a:r>
          </a:p>
          <a:p xmlns:a="http://schemas.openxmlformats.org/drawingml/2006/main">
            <a:r>
              <a:t>        "output": "질문·업무 목적"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"사내 지식 검색",</a:t>
            </a:r>
          </a:p>
          <a:p xmlns:a="http://schemas.openxmlformats.org/drawingml/2006/main">
            <a:r>
              <a:t>        "input": "질문·업무 목적",</a:t>
            </a:r>
          </a:p>
          <a:p xmlns:a="http://schemas.openxmlformats.org/drawingml/2006/main">
            <a:r>
              <a:t>        "process": "관련 문서 검색과 근거 응답 생성",</a:t>
            </a:r>
          </a:p>
          <a:p xmlns:a="http://schemas.openxmlformats.org/drawingml/2006/main">
            <a:r>
              <a:t>        "output": "관련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응답",</a:t>
            </a:r>
          </a:p>
          <a:p xmlns:a="http://schemas.openxmlformats.org/drawingml/2006/main">
            <a:r>
              <a:t>        "input": "관련 문서",</a:t>
            </a:r>
          </a:p>
          <a:p xmlns:a="http://schemas.openxmlformats.org/drawingml/2006/main">
            <a:r>
              <a:t>        "process": "문서 개정 후 숨긴 평가셋 재검증",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평가·개선",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"자문가가 근거를 검토한 후 업무에 활용",</a:t>
            </a:r>
          </a:p>
          <a:p xmlns:a="http://schemas.openxmlformats.org/drawingml/2006/main">
            <a:r>
              <a:t>        "output": "평가·수정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"전문가가 규정 질의의 답변·인용 원문·판본을 평가",</a:t>
            </a:r>
          </a:p>
          <a:p xmlns:a="http://schemas.openxmlformats.org/drawingml/2006/main">
            <a:r>
              <a:t>      "exception": "구버전 문서·근거 없는 질문·서로 다른 상품 조건",</a:t>
            </a:r>
          </a:p>
          <a:p xmlns:a="http://schemas.openxmlformats.org/drawingml/2006/main">
            <a:r>
              <a:t>      "evidence": "전문가 정답표와 근거 정확도·보류 적정성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"금융 자문가·지식관리자",</a:t>
            </a:r>
          </a:p>
          <a:p xmlns:a="http://schemas.openxmlformats.org/drawingml/2006/main">
            <a:r>
              <a:t>          "processing": "질문의 업무 범위·자료 접근조건 확인",</a:t>
            </a:r>
          </a:p>
          <a:p xmlns:a="http://schemas.openxmlformats.org/drawingml/2006/main">
            <a:r>
              <a:t>          "output": "질문·업무 목적"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"사내 지식·평가셋",</a:t>
            </a:r>
          </a:p>
          <a:p xmlns:a="http://schemas.openxmlformats.org/drawingml/2006/main">
            <a:r>
              <a:t>          "processing": "승인 지식·원문 위치·판본별 색인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"질문·업무 목적",</a:t>
            </a:r>
          </a:p>
          <a:p xmlns:a="http://schemas.openxmlformats.org/drawingml/2006/main">
            <a:r>
              <a:t>          "processing": "관련 문서 검색과 근거 응답 생성",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"자문가가 근거를 검토한 후 업무에 활용",</a:t>
            </a:r>
          </a:p>
          <a:p xmlns:a="http://schemas.openxmlformats.org/drawingml/2006/main">
            <a:r>
              <a:t>          "output": "평가·수정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"전문가 정답셋과 오류 유형별 회귀 평가",</a:t>
            </a:r>
          </a:p>
          <a:p xmlns:a="http://schemas.openxmlformats.org/drawingml/2006/main">
            <a:r>
              <a:t>          "output":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"전문가 정답셋과 오류 유형별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"S10",</a:t>
            </a:r>
          </a:p>
          <a:p xmlns:a="http://schemas.openxmlformats.org/drawingml/2006/main">
            <a:r>
              <a:t>        "title": "OpenAI · Morgan Stanley 평가·도입 사례",</a:t>
            </a:r>
          </a:p>
          <a:p xmlns:a="http://schemas.openxmlformats.org/drawingml/2006/main">
            <a:r>
              <a:t>        "url": "https://openai.com/index/morgan-stanley/",</a:t>
            </a:r>
          </a:p>
          <a:p xmlns:a="http://schemas.openxmlformats.org/drawingml/2006/main">
            <a:r>
              <a:t>        "published": "게시일 미표시",</a:t>
            </a:r>
          </a:p>
          <a:p xmlns:a="http://schemas.openxmlformats.org/drawingml/2006/main">
            <a:r>
              <a:t>        "level": "공급사 고객사례",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"금융 자문가가 승인된 사내 전문지식을 검색하고 근거 있는 답변을 얻도록 한 사례. 직원의 문서 탐색을 지원하면서 전문가 평가를 품질 개선에 연결한 접근.",</a:t>
            </a:r>
          </a:p>
          <a:p xmlns:a="http://schemas.openxmlformats.org/drawingml/2006/main">
            <a:r>
              <a:t>      "업무 질문의 자료 범위를 확인하고 관련 문서·원문 위치를 검색한 뒤 자문가가 답변을 검토하는 흐름. TS 적용 시 검사·인증·안전 규정별 전문가 정답셋과 문서 개정 이력을 연결하는 설계.",</a:t>
            </a:r>
          </a:p>
          <a:p xmlns:a="http://schemas.openxmlformats.org/drawingml/2006/main">
            <a:r>
              <a:t>      "활용자 수·도입 확대와 답변의 정답률을 구분해 평가할 필요. 숨긴 평가셋, 근거 조문 일치, 개정 후 회귀시험, 전문가 수정시간을 함께 수집하는 CCK 벤치마킹."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"자문가 질문",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"금융 자문가·지식관리자",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"질의·접근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"질문의 업무 범위·자료 접근조건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문서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"질문·업무 목적",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응답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"관련 문서 검색과 근거 응답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"문서·답변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"문서 개정 후 숨긴 평가셋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"전문가가 규정 질의의 답변·인용 원문·판본을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 업무 활용",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"자문가가 근거를 검토한 후 업무에 활용",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"정답셋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"전문가 정답셋과 오류 유형별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"승인 전문지식",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"사내 지식·평가셋",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"원문 위치·판본화",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지식·원문 위치·판본별 색인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"전문가 정답표와 근거 정확도·보류 적정성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"자료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"구버전 문서·근거 없는 질문·서로 다른 상품 조건",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"질문의 업무 범위·자료 접근조건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"질문·업무 목적",</a:t>
            </a:r>
          </a:p>
          <a:p xmlns:a="http://schemas.openxmlformats.org/drawingml/2006/main">
            <a:r>
              <a:t>          "check": "문서 개정 후 숨긴 평가셋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"구버전 문서·근거 없는 질문·서로 다른 상품 조건"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"자문가가 근거를 검토한 후 업무에 활용"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"평가·수정 기록",</a:t>
            </a:r>
          </a:p>
          <a:p xmlns:a="http://schemas.openxmlformats.org/drawingml/2006/main">
            <a:r>
              <a:t>          "check":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"전문가 지식 탐색과 정답 평가의 결합 / 지식 검색·근거 응답·전문가 평가",</a:t>
            </a:r>
          </a:p>
          <a:p xmlns:a="http://schemas.openxmlformats.org/drawingml/2006/main">
            <a:r>
              <a:t>        "extension": "부서별 규정·기술 기준·서식에 근거 위치와 판본을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"구버전 문서·근거 없는 질문·서로 다른 상품 조건",</a:t>
            </a:r>
          </a:p>
          <a:p xmlns:a="http://schemas.openxmlformats.org/drawingml/2006/main">
            <a:r>
              <a:t>        "hold": "문서 개정 후 숨긴 평가셋 재검증",</a:t>
            </a:r>
          </a:p>
          <a:p xmlns:a="http://schemas.openxmlformats.org/drawingml/2006/main">
            <a:r>
              <a:t>        "recovery": "전문가 정답셋과 오류 유형별 회귀 평가",</a:t>
            </a:r>
          </a:p>
          <a:p xmlns:a="http://schemas.openxmlformats.org/drawingml/2006/main">
            <a:r>
              <a:t>        "evidence": "전문가 정답표와 근거 정확도·보류 적정성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"사내 지식·평가셋",</a:t>
            </a:r>
          </a:p>
          <a:p xmlns:a="http://schemas.openxmlformats.org/drawingml/2006/main">
            <a:r>
              <a:t>        "prepare": "승인 지식·원문 위치·판본별 색인 구성",</a:t>
            </a:r>
          </a:p>
          <a:p xmlns:a="http://schemas.openxmlformats.org/drawingml/2006/main">
            <a:r>
              <a:t>        "output": "질문·업무 목적",</a:t>
            </a:r>
          </a:p>
          <a:p xmlns:a="http://schemas.openxmlformats.org/drawingml/2006/main">
            <a:r>
              <a:t>        "refresh": "전문가 정답셋과 오류 유형별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"전문가 평가셋과 지속 개선",</a:t>
            </a:r>
          </a:p>
          <a:p xmlns:a="http://schemas.openxmlformats.org/drawingml/2006/main">
            <a:r>
              <a:t>      "현업 지식을 업무 접점에서 검색"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"활용률과 정답률의 혼동",</a:t>
            </a:r>
          </a:p>
          <a:p xmlns:a="http://schemas.openxmlformats.org/drawingml/2006/main">
            <a:r>
              <a:t>      "자료 개정에 따른 답변 품질 저하"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"자문가 질문",</a:t>
            </a:r>
          </a:p>
          <a:p xmlns:a="http://schemas.openxmlformats.org/drawingml/2006/main">
            <a:r>
              <a:t>      "지식 검색·근거 응답",</a:t>
            </a:r>
          </a:p>
          <a:p xmlns:a="http://schemas.openxmlformats.org/drawingml/2006/main">
            <a:r>
              <a:t>      "사내 지식·평가셋",</a:t>
            </a:r>
          </a:p>
          <a:p xmlns:a="http://schemas.openxmlformats.org/drawingml/2006/main">
            <a:r>
              <a:t>      "전문가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"질문·업무 목적",</a:t>
            </a:r>
          </a:p>
          <a:p xmlns:a="http://schemas.openxmlformats.org/drawingml/2006/main">
            <a:r>
              <a:t>      "관련 문서",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"평가·수정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"문서 개정 후 숨긴 평가셋 재검증",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OpenAI · Morgan Stanley 평가·도입 사례 https://openai.com/index/morgan-stanley/</a:t>
            </a:r>
          </a:p>
          <a:p xmlns:a="http://schemas.openxmlformats.org/drawingml/2006/main">
            <a:r>
              <a:t>홈페이지 https://heen1987-ops.github.io/TS-business-Plan-001/index.html?view=casebook&amp;case=AX09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"title": "Morgan Stanley 지식지원",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"전문가 업무·평가셋",</a:t>
            </a:r>
          </a:p>
          <a:p xmlns:a="http://schemas.openxmlformats.org/drawingml/2006/main">
            <a:r>
              <a:t>    "period": "출처 열람 2026.10",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"문서검색",</a:t>
            </a:r>
          </a:p>
          <a:p xmlns:a="http://schemas.openxmlformats.org/drawingml/2006/main">
            <a:r>
              <a:t>      "평가",</a:t>
            </a:r>
          </a:p>
          <a:p xmlns:a="http://schemas.openxmlformats.org/drawingml/2006/main">
            <a:r>
              <a:t>      "업무 품질"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"공급사 고객사례에서 자문팀의 98% 초과 활용과 전문가 평가 기반 개선 체계 보고",</a:t>
            </a:r>
          </a:p>
          <a:p xmlns:a="http://schemas.openxmlformats.org/drawingml/2006/main">
            <a:r>
              <a:t>    "limit": "자문팀 기준 공급사 발표 · 생산성 인과효과·TS 정확도 근거와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"전문가 질문",</a:t>
            </a:r>
          </a:p>
          <a:p xmlns:a="http://schemas.openxmlformats.org/drawingml/2006/main">
            <a:r>
              <a:t>      "사내 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평가·개선"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"고객사례의 검색·평가 설명 기반 재구성",</a:t>
            </a:r>
          </a:p>
          <a:p xmlns:a="http://schemas.openxmlformats.org/drawingml/2006/main">
            <a:r>
              <a:t>    "lesson":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평가셋 / 근거 위치 / 답변 보류 / 변경 영향 재평가",</a:t>
            </a:r>
          </a:p>
          <a:p xmlns:a="http://schemas.openxmlformats.org/drawingml/2006/main">
            <a:r>
              <a:t>    "test": "숨긴 평가셋의 근거 일치·판본 일치·거부율 평가",</a:t>
            </a:r>
          </a:p>
          <a:p xmlns:a="http://schemas.openxmlformats.org/drawingml/2006/main">
            <a:r>
              <a:t>    "metric": "근거 정확도 / 재작업률 / 지식 탐색시간"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"canonicalId": "AX09",</a:t>
            </a:r>
          </a:p>
          <a:p xmlns:a="http://schemas.openxmlformats.org/drawingml/2006/main">
            <a:r>
              <a:t>    "purpose": "전문가 지식 탐색과 정답 평가의 결합",</a:t>
            </a:r>
          </a:p>
          <a:p xmlns:a="http://schemas.openxmlformats.org/drawingml/2006/main">
            <a:r>
              <a:t>    "users": "금융 자문가·지식관리자",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"지식 검색",</a:t>
            </a:r>
          </a:p>
          <a:p xmlns:a="http://schemas.openxmlformats.org/drawingml/2006/main">
            <a:r>
              <a:t>      "근거 응답",</a:t>
            </a:r>
          </a:p>
          <a:p xmlns:a="http://schemas.openxmlformats.org/drawingml/2006/main">
            <a:r>
              <a:t>      "전문가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"자문가 질문",</a:t>
            </a:r>
          </a:p>
          <a:p xmlns:a="http://schemas.openxmlformats.org/drawingml/2006/main">
            <a:r>
              <a:t>        "detail": "질문의 업무 범위·자료 접근조건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"지식 검색 / 근거 응답 / 전문가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"지식 검색·근거 응답",</a:t>
            </a:r>
          </a:p>
          <a:p xmlns:a="http://schemas.openxmlformats.org/drawingml/2006/main">
            <a:r>
              <a:t>        "detail": "관련 문서 검색과 근거 응답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"전문가 검토",</a:t>
            </a:r>
          </a:p>
          <a:p xmlns:a="http://schemas.openxmlformats.org/drawingml/2006/main">
            <a:r>
              <a:t>        "detail": "자문가가 근거를 검토한 후 업무에 활용",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"사내 지식·평가셋",</a:t>
            </a:r>
          </a:p>
          <a:p xmlns:a="http://schemas.openxmlformats.org/drawingml/2006/main">
            <a:r>
              <a:t>        "detail": "승인 지식·원문 위치·판본별 색인 구성",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"전문가 정답셋과 오류 유형별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질문",</a:t>
            </a:r>
          </a:p>
          <a:p xmlns:a="http://schemas.openxmlformats.org/drawingml/2006/main">
            <a:r>
              <a:t>        "input": "질문의 업무 범위·자료 접근조건 확인",</a:t>
            </a:r>
          </a:p>
          <a:p xmlns:a="http://schemas.openxmlformats.org/drawingml/2006/main">
            <a:r>
              <a:t>        "process": "승인 지식·원문 위치·판본별 색인 구성",</a:t>
            </a:r>
          </a:p>
          <a:p xmlns:a="http://schemas.openxmlformats.org/drawingml/2006/main">
            <a:r>
              <a:t>        "output": "질문·업무 목적"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"사내 지식 검색",</a:t>
            </a:r>
          </a:p>
          <a:p xmlns:a="http://schemas.openxmlformats.org/drawingml/2006/main">
            <a:r>
              <a:t>        "input": "질문·업무 목적",</a:t>
            </a:r>
          </a:p>
          <a:p xmlns:a="http://schemas.openxmlformats.org/drawingml/2006/main">
            <a:r>
              <a:t>        "process": "관련 문서 검색과 근거 응답 생성",</a:t>
            </a:r>
          </a:p>
          <a:p xmlns:a="http://schemas.openxmlformats.org/drawingml/2006/main">
            <a:r>
              <a:t>        "output": "관련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응답",</a:t>
            </a:r>
          </a:p>
          <a:p xmlns:a="http://schemas.openxmlformats.org/drawingml/2006/main">
            <a:r>
              <a:t>        "input": "관련 문서",</a:t>
            </a:r>
          </a:p>
          <a:p xmlns:a="http://schemas.openxmlformats.org/drawingml/2006/main">
            <a:r>
              <a:t>        "process": "문서 개정 후 숨긴 평가셋 재검증",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평가·개선",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"자문가가 근거를 검토한 후 업무에 활용",</a:t>
            </a:r>
          </a:p>
          <a:p xmlns:a="http://schemas.openxmlformats.org/drawingml/2006/main">
            <a:r>
              <a:t>        "output": "평가·수정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"전문가가 규정 질의의 답변·인용 원문·판본을 평가",</a:t>
            </a:r>
          </a:p>
          <a:p xmlns:a="http://schemas.openxmlformats.org/drawingml/2006/main">
            <a:r>
              <a:t>      "exception": "구버전 문서·근거 없는 질문·서로 다른 상품 조건",</a:t>
            </a:r>
          </a:p>
          <a:p xmlns:a="http://schemas.openxmlformats.org/drawingml/2006/main">
            <a:r>
              <a:t>      "evidence": "전문가 정답표와 근거 정확도·보류 적정성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"금융 자문가·지식관리자",</a:t>
            </a:r>
          </a:p>
          <a:p xmlns:a="http://schemas.openxmlformats.org/drawingml/2006/main">
            <a:r>
              <a:t>          "processing": "질문의 업무 범위·자료 접근조건 확인",</a:t>
            </a:r>
          </a:p>
          <a:p xmlns:a="http://schemas.openxmlformats.org/drawingml/2006/main">
            <a:r>
              <a:t>          "output": "질문·업무 목적"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"사내 지식·평가셋",</a:t>
            </a:r>
          </a:p>
          <a:p xmlns:a="http://schemas.openxmlformats.org/drawingml/2006/main">
            <a:r>
              <a:t>          "processing": "승인 지식·원문 위치·판본별 색인 구성",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"질문·업무 목적",</a:t>
            </a:r>
          </a:p>
          <a:p xmlns:a="http://schemas.openxmlformats.org/drawingml/2006/main">
            <a:r>
              <a:t>          "processing": "관련 문서 검색과 근거 응답 생성",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"자문가가 근거를 검토한 후 업무에 활용",</a:t>
            </a:r>
          </a:p>
          <a:p xmlns:a="http://schemas.openxmlformats.org/drawingml/2006/main">
            <a:r>
              <a:t>          "output": "평가·수정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"전문가 정답셋과 오류 유형별 회귀 평가",</a:t>
            </a:r>
          </a:p>
          <a:p xmlns:a="http://schemas.openxmlformats.org/drawingml/2006/main">
            <a:r>
              <a:t>          "output":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"전문가 정답셋과 오류 유형별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"S10",</a:t>
            </a:r>
          </a:p>
          <a:p xmlns:a="http://schemas.openxmlformats.org/drawingml/2006/main">
            <a:r>
              <a:t>        "title": "OpenAI · Morgan Stanley 평가·도입 사례",</a:t>
            </a:r>
          </a:p>
          <a:p xmlns:a="http://schemas.openxmlformats.org/drawingml/2006/main">
            <a:r>
              <a:t>        "url": "https://openai.com/index/morgan-stanley/",</a:t>
            </a:r>
          </a:p>
          <a:p xmlns:a="http://schemas.openxmlformats.org/drawingml/2006/main">
            <a:r>
              <a:t>        "published": "게시일 미표시",</a:t>
            </a:r>
          </a:p>
          <a:p xmlns:a="http://schemas.openxmlformats.org/drawingml/2006/main">
            <a:r>
              <a:t>        "level": "공급사 고객사례",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"업무 전문가 정답셋과 변경 시 회귀 평가",</a:t>
            </a:r>
          </a:p>
          <a:p xmlns:a="http://schemas.openxmlformats.org/drawingml/2006/main">
            <a:r>
              <a:t>    "local": "부서별 규정·기술 기준·서식에 근거 위치와 판본을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"금융 자문가가 승인된 사내 전문지식을 검색하고 근거 있는 답변을 얻도록 한 사례. 직원의 문서 탐색을 지원하면서 전문가 평가를 품질 개선에 연결한 접근.",</a:t>
            </a:r>
          </a:p>
          <a:p xmlns:a="http://schemas.openxmlformats.org/drawingml/2006/main">
            <a:r>
              <a:t>      "업무 질문의 자료 범위를 확인하고 관련 문서·원문 위치를 검색한 뒤 자문가가 답변을 검토하는 흐름. TS 적용 시 검사·인증·안전 규정별 전문가 정답셋과 문서 개정 이력을 연결하는 설계.",</a:t>
            </a:r>
          </a:p>
          <a:p xmlns:a="http://schemas.openxmlformats.org/drawingml/2006/main">
            <a:r>
              <a:t>      "활용자 수·도입 확대와 답변의 정답률을 구분해 평가할 필요. 숨긴 평가셋, 근거 조문 일치, 개정 후 회귀시험, 전문가 수정시간을 함께 수집하는 CCK 벤치마킹."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"자문가 질문",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"금융 자문가·지식관리자",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"질의·접근 문맥",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"질문의 업무 범위·자료 접근조건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문서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"질문·업무 목적",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응답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"관련 문서 검색과 근거 응답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"문서·답변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"문서 개정 후 숨긴 평가셋 재검증",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"자문가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"전문가가 규정 질의의 답변·인용 원문·판본을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"상담 업무 활용",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"자문가가 근거를 검토한 후 업무에 활용",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"정답셋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"전문가 정답셋과 오류 유형별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"승인 전문지식",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"사내 지식·평가셋",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"원문 위치·판본화",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지식·원문 위치·판본별 색인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"전문가 정답표와 근거 정확도·보류 적정성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"자료 접근정책",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"구버전 문서·근거 없는 질문·서로 다른 상품 조건",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"질문의 업무 범위·자료 접근조건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"질문·업무 목적",</a:t>
            </a:r>
          </a:p>
          <a:p xmlns:a="http://schemas.openxmlformats.org/drawingml/2006/main">
            <a:r>
              <a:t>          "check": "문서 개정 후 숨긴 평가셋 재검증"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"구버전 문서·근거 없는 질문·서로 다른 상품 조건"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"자문가가 근거를 검토한 후 업무에 활용"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"평가·수정 기록",</a:t>
            </a:r>
          </a:p>
          <a:p xmlns:a="http://schemas.openxmlformats.org/drawingml/2006/main">
            <a:r>
              <a:t>          "check": "전문가 정답표와 근거 정확도·보류 적정성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"전문가 지식 탐색과 정답 평가의 결합 / 지식 검색·근거 응답·전문가 평가",</a:t>
            </a:r>
          </a:p>
          <a:p xmlns:a="http://schemas.openxmlformats.org/drawingml/2006/main">
            <a:r>
              <a:t>        "extension": "부서별 규정·기술 기준·서식에 근거 위치와 판본을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"구버전 문서·근거 없는 질문·서로 다른 상품 조건",</a:t>
            </a:r>
          </a:p>
          <a:p xmlns:a="http://schemas.openxmlformats.org/drawingml/2006/main">
            <a:r>
              <a:t>        "hold": "문서 개정 후 숨긴 평가셋 재검증",</a:t>
            </a:r>
          </a:p>
          <a:p xmlns:a="http://schemas.openxmlformats.org/drawingml/2006/main">
            <a:r>
              <a:t>        "recovery": "전문가 정답셋과 오류 유형별 회귀 평가",</a:t>
            </a:r>
          </a:p>
          <a:p xmlns:a="http://schemas.openxmlformats.org/drawingml/2006/main">
            <a:r>
              <a:t>        "evidence": "전문가 정답표와 근거 정확도·보류 적정성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"사내 지식·평가셋",</a:t>
            </a:r>
          </a:p>
          <a:p xmlns:a="http://schemas.openxmlformats.org/drawingml/2006/main">
            <a:r>
              <a:t>        "prepare": "승인 지식·원문 위치·판본별 색인 구성",</a:t>
            </a:r>
          </a:p>
          <a:p xmlns:a="http://schemas.openxmlformats.org/drawingml/2006/main">
            <a:r>
              <a:t>        "output": "질문·업무 목적",</a:t>
            </a:r>
          </a:p>
          <a:p xmlns:a="http://schemas.openxmlformats.org/drawingml/2006/main">
            <a:r>
              <a:t>        "refresh": "전문가 정답셋과 오류 유형별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"AX09",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"전문가 평가셋과 지속 개선",</a:t>
            </a:r>
          </a:p>
          <a:p xmlns:a="http://schemas.openxmlformats.org/drawingml/2006/main">
            <a:r>
              <a:t>      "현업 지식을 업무 접점에서 검색"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"활용률과 정답률의 혼동",</a:t>
            </a:r>
          </a:p>
          <a:p xmlns:a="http://schemas.openxmlformats.org/drawingml/2006/main">
            <a:r>
              <a:t>      "자료 개정에 따른 답변 품질 저하"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"자문가 질문",</a:t>
            </a:r>
          </a:p>
          <a:p xmlns:a="http://schemas.openxmlformats.org/drawingml/2006/main">
            <a:r>
              <a:t>      "지식 검색·근거 응답",</a:t>
            </a:r>
          </a:p>
          <a:p xmlns:a="http://schemas.openxmlformats.org/drawingml/2006/main">
            <a:r>
              <a:t>      "사내 지식·평가셋",</a:t>
            </a:r>
          </a:p>
          <a:p xmlns:a="http://schemas.openxmlformats.org/drawingml/2006/main">
            <a:r>
              <a:t>      "전문가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"질문·업무 목적",</a:t>
            </a:r>
          </a:p>
          <a:p xmlns:a="http://schemas.openxmlformats.org/drawingml/2006/main">
            <a:r>
              <a:t>      "관련 문서",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"평가·수정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"문서 개정 후 숨긴 평가셋 재검증",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OpenAI · Morgan Stanley 평가·도입 사례 https://openai.com/index/morgan-stanley/</a:t>
            </a:r>
          </a:p>
          <a:p xmlns:a="http://schemas.openxmlformats.org/drawingml/2006/main">
            <a:r>
              <a:t>홈페이지 https://heen1987-ops.github.io/TS-business-Plan-001/index.html?view=casebook&amp;case=AX09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"title": "스키폴 Deep Turnaround",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"네덜란드",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"공항 지상조업 영상 분석",</a:t>
            </a:r>
          </a:p>
          <a:p xmlns:a="http://schemas.openxmlformats.org/drawingml/2006/main">
            <a:r>
              <a:t>    "period": "운영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"공항 지상조업 영상 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"카메라 영상에서 지상조업 진행 상태를 추출하여 공항·조업 담당자의 협업에 활용",</a:t>
            </a:r>
          </a:p>
          <a:p xmlns:a="http://schemas.openxmlformats.org/drawingml/2006/main">
            <a:r>
              <a:t>    "limit": "운영기관 발표 · TS 감독 업무와 공항 조업 운영의 역할 차이",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"카메라 영상",</a:t>
            </a:r>
          </a:p>
          <a:p xmlns:a="http://schemas.openxmlformats.org/drawingml/2006/main">
            <a:r>
              <a:t>      "조업 상태 인식",</a:t>
            </a:r>
          </a:p>
          <a:p xmlns:a="http://schemas.openxmlformats.org/drawingml/2006/main">
            <a:r>
              <a:t>      "대시보드·API",</a:t>
            </a:r>
          </a:p>
          <a:p xmlns:a="http://schemas.openxmlformats.org/drawingml/2006/main">
            <a:r>
              <a:t>      "담당자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"사건 분류·증거 시각·협업 인계",</a:t>
            </a:r>
          </a:p>
          <a:p xmlns:a="http://schemas.openxmlformats.org/drawingml/2006/main">
            <a:r>
              <a:t>    "test": "지연·중복 이벤트와 원영상 대조",</a:t>
            </a:r>
          </a:p>
          <a:p xmlns:a="http://schemas.openxmlformats.org/drawingml/2006/main">
            <a:r>
              <a:t>    "metric": "상황 확인시간 / 인계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"canonicalId": "AX10",</a:t>
            </a:r>
          </a:p>
          <a:p xmlns:a="http://schemas.openxmlformats.org/drawingml/2006/main">
            <a:r>
              <a:t>    "purpose": "항공기 지상조업 진행상태의 공동 파악",</a:t>
            </a:r>
          </a:p>
          <a:p xmlns:a="http://schemas.openxmlformats.org/drawingml/2006/main">
            <a:r>
              <a:t>    "users": "공항·항공사·조업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분석",</a:t>
            </a:r>
          </a:p>
          <a:p xmlns:a="http://schemas.openxmlformats.org/drawingml/2006/main">
            <a:r>
              <a:t>      "조업 단계",</a:t>
            </a:r>
          </a:p>
          <a:p xmlns:a="http://schemas.openxmlformats.org/drawingml/2006/main">
            <a:r>
              <a:t>      "협업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"계류장 카메라",</a:t>
            </a:r>
          </a:p>
          <a:p xmlns:a="http://schemas.openxmlformats.org/drawingml/2006/main">
            <a:r>
              <a:t>        "detail": "항공편·주기장·관측시각 매핑",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분석 / 조업 단계 / 협업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"조업 이벤트 인식",</a:t>
            </a:r>
          </a:p>
          <a:p xmlns:a="http://schemas.openxmlformats.org/drawingml/2006/main">
            <a:r>
              <a:t>        "detail": "영상에서 조업 이벤트와 상태 추출",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"공항·조업 담당",</a:t>
            </a:r>
          </a:p>
          <a:p xmlns:a="http://schemas.openxmlformats.org/drawingml/2006/main">
            <a:r>
              <a:t>        "detail": "지연 예상과 확인 필요 상태를 조업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"시간별 조업 상태",</a:t>
            </a:r>
          </a:p>
          <a:p xmlns:a="http://schemas.openxmlformats.org/drawingml/2006/main">
            <a:r>
              <a:t>        "detail": "카메라 프레임·항공편 일정·상태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"누락 이벤트와 실제 이륙 준비상태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"카메라 영상",</a:t>
            </a:r>
          </a:p>
          <a:p xmlns:a="http://schemas.openxmlformats.org/drawingml/2006/main">
            <a:r>
              <a:t>        "input": "항공편·주기장·관측시각 매핑",</a:t>
            </a:r>
          </a:p>
          <a:p xmlns:a="http://schemas.openxmlformats.org/drawingml/2006/main">
            <a:r>
              <a:t>        "process": "카메라 프레임·항공편 일정·상태 이력 연결",</a:t>
            </a:r>
          </a:p>
          <a:p xmlns:a="http://schemas.openxmlformats.org/drawingml/2006/main">
            <a:r>
              <a:t>        "output": "영상 프레임"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"조업 상태 인식",</a:t>
            </a:r>
          </a:p>
          <a:p xmlns:a="http://schemas.openxmlformats.org/drawingml/2006/main">
            <a:r>
              <a:t>        "input": "영상 프레임",</a:t>
            </a:r>
          </a:p>
          <a:p xmlns:a="http://schemas.openxmlformats.org/drawingml/2006/main">
            <a:r>
              <a:t>        "process": "영상에서 조업 이벤트와 상태 추출",</a:t>
            </a:r>
          </a:p>
          <a:p xmlns:a="http://schemas.openxmlformats.org/drawingml/2006/main">
            <a:r>
              <a:t>        "output": "이벤트·시각"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"대시보드·API",</a:t>
            </a:r>
          </a:p>
          <a:p xmlns:a="http://schemas.openxmlformats.org/drawingml/2006/main">
            <a:r>
              <a:t>        "input": "이벤트·시각",</a:t>
            </a:r>
          </a:p>
          <a:p xmlns:a="http://schemas.openxmlformats.org/drawingml/2006/main">
            <a:r>
              <a:t>        "process": "현장 기준 이벤트와 탐지 시각 대조",</a:t>
            </a:r>
          </a:p>
          <a:p xmlns:a="http://schemas.openxmlformats.org/drawingml/2006/main">
            <a:r>
              <a:t>        "output": "대시보드·API 상태"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조정",</a:t>
            </a:r>
          </a:p>
          <a:p xmlns:a="http://schemas.openxmlformats.org/drawingml/2006/main">
            <a:r>
              <a:t>        "input": "대시보드·API 상태",</a:t>
            </a:r>
          </a:p>
          <a:p xmlns:a="http://schemas.openxmlformats.org/drawingml/2006/main">
            <a:r>
              <a:t>        "process": "지연 예상과 확인 필요 상태를 조업 담당자에게 제공",</a:t>
            </a:r>
          </a:p>
          <a:p xmlns:a="http://schemas.openxmlformats.org/drawingml/2006/main">
            <a:r>
              <a:t>        "output": "조업 조정"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"항공편별 지상조업 단계와 지연 후보를 공동 확인",</a:t>
            </a:r>
          </a:p>
          <a:p xmlns:a="http://schemas.openxmlformats.org/drawingml/2006/main">
            <a:r>
              <a:t>      "exception": "카메라 가림·항공편 변경·이벤트 순서 역전",</a:t>
            </a:r>
          </a:p>
          <a:p xmlns:a="http://schemas.openxmlformats.org/drawingml/2006/main">
            <a:r>
              <a:t>      "evidence": "영상 시각 대비 상태 전이표와 담당자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"공항·항공사·조업 담당자",</a:t>
            </a:r>
          </a:p>
          <a:p xmlns:a="http://schemas.openxmlformats.org/drawingml/2006/main">
            <a:r>
              <a:t>          "processing": "항공편·주기장·관측시각 매핑",</a:t>
            </a:r>
          </a:p>
          <a:p xmlns:a="http://schemas.openxmlformats.org/drawingml/2006/main">
            <a:r>
              <a:t>          "output": "영상 프레임"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"시간별 조업 상태",</a:t>
            </a:r>
          </a:p>
          <a:p xmlns:a="http://schemas.openxmlformats.org/drawingml/2006/main">
            <a:r>
              <a:t>          "processing": "카메라 프레임·항공편 일정·상태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 프레임",</a:t>
            </a:r>
          </a:p>
          <a:p xmlns:a="http://schemas.openxmlformats.org/drawingml/2006/main">
            <a:r>
              <a:t>          "processing": "영상에서 조업 이벤트와 상태 추출",</a:t>
            </a:r>
          </a:p>
          <a:p xmlns:a="http://schemas.openxmlformats.org/drawingml/2006/main">
            <a:r>
              <a:t>          "output": "대시보드·API 상태"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"대시보드·API 상태",</a:t>
            </a:r>
          </a:p>
          <a:p xmlns:a="http://schemas.openxmlformats.org/drawingml/2006/main">
            <a:r>
              <a:t>          "processing": "지연 예상과 확인 필요 상태를 조업 담당자에게 제공",</a:t>
            </a:r>
          </a:p>
          <a:p xmlns:a="http://schemas.openxmlformats.org/drawingml/2006/main">
            <a:r>
              <a:t>          "output": "조업 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"누락 이벤트와 실제 이륙 준비상태 대조",</a:t>
            </a:r>
          </a:p>
          <a:p xmlns:a="http://schemas.openxmlformats.org/drawingml/2006/main">
            <a:r>
              <a:t>          "output":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"누락 이벤트와 실제 이륙 준비상태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"S-AX10",</a:t>
            </a:r>
          </a:p>
          <a:p xmlns:a="http://schemas.openxmlformats.org/drawingml/2006/main">
            <a:r>
              <a:t>        "title": "스키폴 Deep Turnaround · 운영기관 사례 / 게시일 미표시",</a:t>
            </a:r>
          </a:p>
          <a:p xmlns:a="http://schemas.openxmlformats.org/drawingml/2006/main">
            <a:r>
              <a:t>        "url": "https://www.schiphol.nl/en/aviation-solutions/case-study-amsterdam-airport-schiphol-deep-turnaround/",</a:t>
            </a:r>
          </a:p>
          <a:p xmlns:a="http://schemas.openxmlformats.org/drawingml/2006/main">
            <a:r>
              <a:t>        "published": "운영 사례",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"공항 지상조업의 진행 상태를 영상으로 파악하고 항공사·조업사·공항이 공유하는 사례. 서로 다른 담당자가 같은 항공편의 준비 상태를 확인하도록 하는 협업 변화.",</a:t>
            </a:r>
          </a:p>
          <a:p xmlns:a="http://schemas.openxmlformats.org/drawingml/2006/main">
            <a:r>
              <a:t>      "카메라 관측을 항공편·주기장·시각과 연결하고 조업 이벤트와 상태를 대시보드·API로 전달하는 구조의 재구성. 관측된 상태, 지연 추정, 실제 조업 조치를 별도 기록으로 관리.",</a:t>
            </a:r>
          </a:p>
          <a:p xmlns:a="http://schemas.openxmlformats.org/drawingml/2006/main">
            <a:r>
              <a:t>      "TS 현장 모니터링에 적용할 경우 야간·가림·날씨·카메라 위치별 편차를 평가할 필요. 탐지 정확도뿐 아니라 담당자가 확인한 시점, 조정 조치, 누락 이벤트의 복구까지 비교할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"조업 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"공항·항공사·조업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"항공편·주기장",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"항공편·주기장·관측시각 매핑",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"프레임·일정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 프레임",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"조업 이벤트 인식",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"영상에서 조업 이벤트와 상태 추출",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"시각·누락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기준 이벤트와 탐지 시각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"조업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"항공편별 지상조업 단계와 지연 후보를 공동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"상황판·API 공유",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"지연 예상과 확인 필요 상태를 조업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"지연·현장 결과",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"누락 이벤트와 실제 이륙 준비상태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"계류장 영상",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"시간별 조업 상태",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"영상·항공편 매핑",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"카메라 프레임·항공편 일정·상태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"이벤트 타임라인",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"영상 시각 대비 상태 전이표와 담당자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"영상·협업 권한",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"카메라 가림·항공편 변경·이벤트 순서 역전",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"항공편·주기장·관측시각 매핑",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 프레임",</a:t>
            </a:r>
          </a:p>
          <a:p xmlns:a="http://schemas.openxmlformats.org/drawingml/2006/main">
            <a:r>
              <a:t>          "check": "현장 기준 이벤트와 탐지 시각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"이벤트·시각",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"조업 이벤트·탐지 시각",</a:t>
            </a:r>
          </a:p>
          <a:p xmlns:a="http://schemas.openxmlformats.org/drawingml/2006/main">
            <a:r>
              <a:t>          "check": "카메라 가림·항공편 변경·이벤트 순서 역전"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"대시보드·API 상태",</a:t>
            </a:r>
          </a:p>
          <a:p xmlns:a="http://schemas.openxmlformats.org/drawingml/2006/main">
            <a:r>
              <a:t>          "check": "지연 예상과 확인 필요 상태를 조업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"조업 조정",</a:t>
            </a:r>
          </a:p>
          <a:p xmlns:a="http://schemas.openxmlformats.org/drawingml/2006/main">
            <a:r>
              <a:t>          "check":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"항공기 지상조업 진행상태의 공동 파악 / 영상 분석·조업 단계·협업 알림",</a:t>
            </a:r>
          </a:p>
          <a:p xmlns:a="http://schemas.openxmlformats.org/drawingml/2006/main">
            <a:r>
              <a:t>        "extension": "교통안전 점검 사건·담당자·보고 시점을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"카메라 가림·항공편 변경·이벤트 순서 역전",</a:t>
            </a:r>
          </a:p>
          <a:p xmlns:a="http://schemas.openxmlformats.org/drawingml/2006/main">
            <a:r>
              <a:t>        "hold": "현장 기준 이벤트와 탐지 시각 대조",</a:t>
            </a:r>
          </a:p>
          <a:p xmlns:a="http://schemas.openxmlformats.org/drawingml/2006/main">
            <a:r>
              <a:t>        "recovery": "누락 이벤트와 실제 이륙 준비상태 대조",</a:t>
            </a:r>
          </a:p>
          <a:p xmlns:a="http://schemas.openxmlformats.org/drawingml/2006/main">
            <a:r>
              <a:t>        "evidence": "영상 시각 대비 상태 전이표와 담당자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"시간별 조업 상태",</a:t>
            </a:r>
          </a:p>
          <a:p xmlns:a="http://schemas.openxmlformats.org/drawingml/2006/main">
            <a:r>
              <a:t>        "prepare": "카메라 프레임·항공편 일정·상태 이력 연결",</a:t>
            </a:r>
          </a:p>
          <a:p xmlns:a="http://schemas.openxmlformats.org/drawingml/2006/main">
            <a:r>
              <a:t>        "output": "영상 프레임",</a:t>
            </a:r>
          </a:p>
          <a:p xmlns:a="http://schemas.openxmlformats.org/drawingml/2006/main">
            <a:r>
              <a:t>        "refresh": "누락 이벤트와 실제 이륙 준비상태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"공통 조업 상태의 공유",</a:t>
            </a:r>
          </a:p>
          <a:p xmlns:a="http://schemas.openxmlformats.org/drawingml/2006/main">
            <a:r>
              <a:t>      "영상 관측과 실제 현장 조정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"가림·야간·날씨에 따른 인식 편차",</a:t>
            </a:r>
          </a:p>
          <a:p xmlns:a="http://schemas.openxmlformats.org/drawingml/2006/main">
            <a:r>
              <a:t>      "상태 추정과 안전 판단의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"계류장 카메라",</a:t>
            </a:r>
          </a:p>
          <a:p xmlns:a="http://schemas.openxmlformats.org/drawingml/2006/main">
            <a:r>
              <a:t>      "조업 이벤트 인식",</a:t>
            </a:r>
          </a:p>
          <a:p xmlns:a="http://schemas.openxmlformats.org/drawingml/2006/main">
            <a:r>
              <a:t>      "시간별 조업 상태",</a:t>
            </a:r>
          </a:p>
          <a:p xmlns:a="http://schemas.openxmlformats.org/drawingml/2006/main">
            <a:r>
              <a:t>      "공항·조업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 프레임",</a:t>
            </a:r>
          </a:p>
          <a:p xmlns:a="http://schemas.openxmlformats.org/drawingml/2006/main">
            <a:r>
              <a:t>      "이벤트·시각",</a:t>
            </a:r>
          </a:p>
          <a:p xmlns:a="http://schemas.openxmlformats.org/drawingml/2006/main">
            <a:r>
              <a:t>      "대시보드·API 상태",</a:t>
            </a:r>
          </a:p>
          <a:p xmlns:a="http://schemas.openxmlformats.org/drawingml/2006/main">
            <a:r>
              <a:t>      "조업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기준 이벤트와 탐지 시각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스키폴 Deep Turnaround · 운영기관 사례 / 게시일 미표시 https://www.schiphol.nl/en/aviation-solutions/case-study-amsterdam-airport-schiphol-deep-turnaround/</a:t>
            </a:r>
          </a:p>
          <a:p xmlns:a="http://schemas.openxmlformats.org/drawingml/2006/main">
            <a:r>
              <a:t>홈페이지 https://heen1987-ops.github.io/TS-business-Plan-001/index.html?view=casebook&amp;case=AX10</a:t>
            </a:r>
          </a:p>
          <a:p xmlns:a="http://schemas.openxmlformats.org/drawingml/2006/main">
            <a:r>
              <a:t>한계: 운영기관 발표 · TS 감독 업무와 공항 조업 운영의 역할 차이</a:t>
            </a:r>
          </a:p>
          <a:p xmlns:a="http://schemas.openxmlformats.org/drawingml/2006/main">
            <a:r>
              <a:t>실패 위험: 가림·야간·날씨에 따른 인식 편차 / 상태 추정과 안전 판단의 혼동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"title": "스키폴 Deep Turnaround",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"네덜란드",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"공항 지상조업 영상 분석",</a:t>
            </a:r>
          </a:p>
          <a:p xmlns:a="http://schemas.openxmlformats.org/drawingml/2006/main">
            <a:r>
              <a:t>    "period": "운영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"공항 지상조업 영상 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"카메라 영상에서 지상조업 진행 상태를 추출하여 공항·조업 담당자의 협업에 활용",</a:t>
            </a:r>
          </a:p>
          <a:p xmlns:a="http://schemas.openxmlformats.org/drawingml/2006/main">
            <a:r>
              <a:t>    "limit": "운영기관 발표 · TS 감독 업무와 공항 조업 운영의 역할 차이",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"카메라 영상",</a:t>
            </a:r>
          </a:p>
          <a:p xmlns:a="http://schemas.openxmlformats.org/drawingml/2006/main">
            <a:r>
              <a:t>      "조업 상태 인식",</a:t>
            </a:r>
          </a:p>
          <a:p xmlns:a="http://schemas.openxmlformats.org/drawingml/2006/main">
            <a:r>
              <a:t>      "대시보드·API",</a:t>
            </a:r>
          </a:p>
          <a:p xmlns:a="http://schemas.openxmlformats.org/drawingml/2006/main">
            <a:r>
              <a:t>      "담당자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"사건 분류·증거 시각·협업 인계",</a:t>
            </a:r>
          </a:p>
          <a:p xmlns:a="http://schemas.openxmlformats.org/drawingml/2006/main">
            <a:r>
              <a:t>    "test": "지연·중복 이벤트와 원영상 대조",</a:t>
            </a:r>
          </a:p>
          <a:p xmlns:a="http://schemas.openxmlformats.org/drawingml/2006/main">
            <a:r>
              <a:t>    "metric": "상황 확인시간 / 인계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"canonicalId": "AX10",</a:t>
            </a:r>
          </a:p>
          <a:p xmlns:a="http://schemas.openxmlformats.org/drawingml/2006/main">
            <a:r>
              <a:t>    "purpose": "항공기 지상조업 진행상태의 공동 파악",</a:t>
            </a:r>
          </a:p>
          <a:p xmlns:a="http://schemas.openxmlformats.org/drawingml/2006/main">
            <a:r>
              <a:t>    "users": "공항·항공사·조업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분석",</a:t>
            </a:r>
          </a:p>
          <a:p xmlns:a="http://schemas.openxmlformats.org/drawingml/2006/main">
            <a:r>
              <a:t>      "조업 단계",</a:t>
            </a:r>
          </a:p>
          <a:p xmlns:a="http://schemas.openxmlformats.org/drawingml/2006/main">
            <a:r>
              <a:t>      "협업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"계류장 카메라",</a:t>
            </a:r>
          </a:p>
          <a:p xmlns:a="http://schemas.openxmlformats.org/drawingml/2006/main">
            <a:r>
              <a:t>        "detail": "항공편·주기장·관측시각 매핑",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분석 / 조업 단계 / 협업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"조업 이벤트 인식",</a:t>
            </a:r>
          </a:p>
          <a:p xmlns:a="http://schemas.openxmlformats.org/drawingml/2006/main">
            <a:r>
              <a:t>        "detail": "영상에서 조업 이벤트와 상태 추출",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"공항·조업 담당",</a:t>
            </a:r>
          </a:p>
          <a:p xmlns:a="http://schemas.openxmlformats.org/drawingml/2006/main">
            <a:r>
              <a:t>        "detail": "지연 예상과 확인 필요 상태를 조업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"시간별 조업 상태",</a:t>
            </a:r>
          </a:p>
          <a:p xmlns:a="http://schemas.openxmlformats.org/drawingml/2006/main">
            <a:r>
              <a:t>        "detail": "카메라 프레임·항공편 일정·상태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"누락 이벤트와 실제 이륙 준비상태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"카메라 영상",</a:t>
            </a:r>
          </a:p>
          <a:p xmlns:a="http://schemas.openxmlformats.org/drawingml/2006/main">
            <a:r>
              <a:t>        "input": "항공편·주기장·관측시각 매핑",</a:t>
            </a:r>
          </a:p>
          <a:p xmlns:a="http://schemas.openxmlformats.org/drawingml/2006/main">
            <a:r>
              <a:t>        "process": "카메라 프레임·항공편 일정·상태 이력 연결",</a:t>
            </a:r>
          </a:p>
          <a:p xmlns:a="http://schemas.openxmlformats.org/drawingml/2006/main">
            <a:r>
              <a:t>        "output": "영상 프레임"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"조업 상태 인식",</a:t>
            </a:r>
          </a:p>
          <a:p xmlns:a="http://schemas.openxmlformats.org/drawingml/2006/main">
            <a:r>
              <a:t>        "input": "영상 프레임",</a:t>
            </a:r>
          </a:p>
          <a:p xmlns:a="http://schemas.openxmlformats.org/drawingml/2006/main">
            <a:r>
              <a:t>        "process": "영상에서 조업 이벤트와 상태 추출",</a:t>
            </a:r>
          </a:p>
          <a:p xmlns:a="http://schemas.openxmlformats.org/drawingml/2006/main">
            <a:r>
              <a:t>        "output": "이벤트·시각"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"대시보드·API",</a:t>
            </a:r>
          </a:p>
          <a:p xmlns:a="http://schemas.openxmlformats.org/drawingml/2006/main">
            <a:r>
              <a:t>        "input": "이벤트·시각",</a:t>
            </a:r>
          </a:p>
          <a:p xmlns:a="http://schemas.openxmlformats.org/drawingml/2006/main">
            <a:r>
              <a:t>        "process": "현장 기준 이벤트와 탐지 시각 대조",</a:t>
            </a:r>
          </a:p>
          <a:p xmlns:a="http://schemas.openxmlformats.org/drawingml/2006/main">
            <a:r>
              <a:t>        "output": "대시보드·API 상태"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조정",</a:t>
            </a:r>
          </a:p>
          <a:p xmlns:a="http://schemas.openxmlformats.org/drawingml/2006/main">
            <a:r>
              <a:t>        "input": "대시보드·API 상태",</a:t>
            </a:r>
          </a:p>
          <a:p xmlns:a="http://schemas.openxmlformats.org/drawingml/2006/main">
            <a:r>
              <a:t>        "process": "지연 예상과 확인 필요 상태를 조업 담당자에게 제공",</a:t>
            </a:r>
          </a:p>
          <a:p xmlns:a="http://schemas.openxmlformats.org/drawingml/2006/main">
            <a:r>
              <a:t>        "output": "조업 조정"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"항공편별 지상조업 단계와 지연 후보를 공동 확인",</a:t>
            </a:r>
          </a:p>
          <a:p xmlns:a="http://schemas.openxmlformats.org/drawingml/2006/main">
            <a:r>
              <a:t>      "exception": "카메라 가림·항공편 변경·이벤트 순서 역전",</a:t>
            </a:r>
          </a:p>
          <a:p xmlns:a="http://schemas.openxmlformats.org/drawingml/2006/main">
            <a:r>
              <a:t>      "evidence": "영상 시각 대비 상태 전이표와 담당자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"공항·항공사·조업 담당자",</a:t>
            </a:r>
          </a:p>
          <a:p xmlns:a="http://schemas.openxmlformats.org/drawingml/2006/main">
            <a:r>
              <a:t>          "processing": "항공편·주기장·관측시각 매핑",</a:t>
            </a:r>
          </a:p>
          <a:p xmlns:a="http://schemas.openxmlformats.org/drawingml/2006/main">
            <a:r>
              <a:t>          "output": "영상 프레임"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"시간별 조업 상태",</a:t>
            </a:r>
          </a:p>
          <a:p xmlns:a="http://schemas.openxmlformats.org/drawingml/2006/main">
            <a:r>
              <a:t>          "processing": "카메라 프레임·항공편 일정·상태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 프레임",</a:t>
            </a:r>
          </a:p>
          <a:p xmlns:a="http://schemas.openxmlformats.org/drawingml/2006/main">
            <a:r>
              <a:t>          "processing": "영상에서 조업 이벤트와 상태 추출",</a:t>
            </a:r>
          </a:p>
          <a:p xmlns:a="http://schemas.openxmlformats.org/drawingml/2006/main">
            <a:r>
              <a:t>          "output": "대시보드·API 상태"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"대시보드·API 상태",</a:t>
            </a:r>
          </a:p>
          <a:p xmlns:a="http://schemas.openxmlformats.org/drawingml/2006/main">
            <a:r>
              <a:t>          "processing": "지연 예상과 확인 필요 상태를 조업 담당자에게 제공",</a:t>
            </a:r>
          </a:p>
          <a:p xmlns:a="http://schemas.openxmlformats.org/drawingml/2006/main">
            <a:r>
              <a:t>          "output": "조업 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"누락 이벤트와 실제 이륙 준비상태 대조",</a:t>
            </a:r>
          </a:p>
          <a:p xmlns:a="http://schemas.openxmlformats.org/drawingml/2006/main">
            <a:r>
              <a:t>          "output":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"누락 이벤트와 실제 이륙 준비상태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"S-AX10",</a:t>
            </a:r>
          </a:p>
          <a:p xmlns:a="http://schemas.openxmlformats.org/drawingml/2006/main">
            <a:r>
              <a:t>        "title": "스키폴 Deep Turnaround · 운영기관 사례 / 게시일 미표시",</a:t>
            </a:r>
          </a:p>
          <a:p xmlns:a="http://schemas.openxmlformats.org/drawingml/2006/main">
            <a:r>
              <a:t>        "url": "https://www.schiphol.nl/en/aviation-solutions/case-study-amsterdam-airport-schiphol-deep-turnaround/",</a:t>
            </a:r>
          </a:p>
          <a:p xmlns:a="http://schemas.openxmlformats.org/drawingml/2006/main">
            <a:r>
              <a:t>        "published": "운영 사례",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"공항 지상조업의 진행 상태를 영상으로 파악하고 항공사·조업사·공항이 공유하는 사례. 서로 다른 담당자가 같은 항공편의 준비 상태를 확인하도록 하는 협업 변화.",</a:t>
            </a:r>
          </a:p>
          <a:p xmlns:a="http://schemas.openxmlformats.org/drawingml/2006/main">
            <a:r>
              <a:t>      "카메라 관측을 항공편·주기장·시각과 연결하고 조업 이벤트와 상태를 대시보드·API로 전달하는 구조의 재구성. 관측된 상태, 지연 추정, 실제 조업 조치를 별도 기록으로 관리.",</a:t>
            </a:r>
          </a:p>
          <a:p xmlns:a="http://schemas.openxmlformats.org/drawingml/2006/main">
            <a:r>
              <a:t>      "TS 현장 모니터링에 적용할 경우 야간·가림·날씨·카메라 위치별 편차를 평가할 필요. 탐지 정확도뿐 아니라 담당자가 확인한 시점, 조정 조치, 누락 이벤트의 복구까지 비교할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"조업 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"공항·항공사·조업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"항공편·주기장",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"항공편·주기장·관측시각 매핑",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"프레임·일정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 프레임",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"조업 이벤트 인식",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"영상에서 조업 이벤트와 상태 추출",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"시각·누락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기준 이벤트와 탐지 시각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"조업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"항공편별 지상조업 단계와 지연 후보를 공동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"상황판·API 공유",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"지연 예상과 확인 필요 상태를 조업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"지연·현장 결과",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"누락 이벤트와 실제 이륙 준비상태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"계류장 영상",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"시간별 조업 상태",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"영상·항공편 매핑",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"카메라 프레임·항공편 일정·상태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"이벤트 타임라인",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"영상 시각 대비 상태 전이표와 담당자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"영상·협업 권한",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"카메라 가림·항공편 변경·이벤트 순서 역전",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"항공편·주기장·관측시각 매핑",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 프레임",</a:t>
            </a:r>
          </a:p>
          <a:p xmlns:a="http://schemas.openxmlformats.org/drawingml/2006/main">
            <a:r>
              <a:t>          "check": "현장 기준 이벤트와 탐지 시각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"이벤트·시각",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"조업 이벤트·탐지 시각",</a:t>
            </a:r>
          </a:p>
          <a:p xmlns:a="http://schemas.openxmlformats.org/drawingml/2006/main">
            <a:r>
              <a:t>          "check": "카메라 가림·항공편 변경·이벤트 순서 역전"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"대시보드·API 상태",</a:t>
            </a:r>
          </a:p>
          <a:p xmlns:a="http://schemas.openxmlformats.org/drawingml/2006/main">
            <a:r>
              <a:t>          "check": "지연 예상과 확인 필요 상태를 조업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"조업 조정",</a:t>
            </a:r>
          </a:p>
          <a:p xmlns:a="http://schemas.openxmlformats.org/drawingml/2006/main">
            <a:r>
              <a:t>          "check":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"항공기 지상조업 진행상태의 공동 파악 / 영상 분석·조업 단계·협업 알림",</a:t>
            </a:r>
          </a:p>
          <a:p xmlns:a="http://schemas.openxmlformats.org/drawingml/2006/main">
            <a:r>
              <a:t>        "extension": "교통안전 점검 사건·담당자·보고 시점을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"카메라 가림·항공편 변경·이벤트 순서 역전",</a:t>
            </a:r>
          </a:p>
          <a:p xmlns:a="http://schemas.openxmlformats.org/drawingml/2006/main">
            <a:r>
              <a:t>        "hold": "현장 기준 이벤트와 탐지 시각 대조",</a:t>
            </a:r>
          </a:p>
          <a:p xmlns:a="http://schemas.openxmlformats.org/drawingml/2006/main">
            <a:r>
              <a:t>        "recovery": "누락 이벤트와 실제 이륙 준비상태 대조",</a:t>
            </a:r>
          </a:p>
          <a:p xmlns:a="http://schemas.openxmlformats.org/drawingml/2006/main">
            <a:r>
              <a:t>        "evidence": "영상 시각 대비 상태 전이표와 담당자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"시간별 조업 상태",</a:t>
            </a:r>
          </a:p>
          <a:p xmlns:a="http://schemas.openxmlformats.org/drawingml/2006/main">
            <a:r>
              <a:t>        "prepare": "카메라 프레임·항공편 일정·상태 이력 연결",</a:t>
            </a:r>
          </a:p>
          <a:p xmlns:a="http://schemas.openxmlformats.org/drawingml/2006/main">
            <a:r>
              <a:t>        "output": "영상 프레임",</a:t>
            </a:r>
          </a:p>
          <a:p xmlns:a="http://schemas.openxmlformats.org/drawingml/2006/main">
            <a:r>
              <a:t>        "refresh": "누락 이벤트와 실제 이륙 준비상태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"공통 조업 상태의 공유",</a:t>
            </a:r>
          </a:p>
          <a:p xmlns:a="http://schemas.openxmlformats.org/drawingml/2006/main">
            <a:r>
              <a:t>      "영상 관측과 실제 현장 조정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"가림·야간·날씨에 따른 인식 편차",</a:t>
            </a:r>
          </a:p>
          <a:p xmlns:a="http://schemas.openxmlformats.org/drawingml/2006/main">
            <a:r>
              <a:t>      "상태 추정과 안전 판단의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"계류장 카메라",</a:t>
            </a:r>
          </a:p>
          <a:p xmlns:a="http://schemas.openxmlformats.org/drawingml/2006/main">
            <a:r>
              <a:t>      "조업 이벤트 인식",</a:t>
            </a:r>
          </a:p>
          <a:p xmlns:a="http://schemas.openxmlformats.org/drawingml/2006/main">
            <a:r>
              <a:t>      "시간별 조업 상태",</a:t>
            </a:r>
          </a:p>
          <a:p xmlns:a="http://schemas.openxmlformats.org/drawingml/2006/main">
            <a:r>
              <a:t>      "공항·조업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 프레임",</a:t>
            </a:r>
          </a:p>
          <a:p xmlns:a="http://schemas.openxmlformats.org/drawingml/2006/main">
            <a:r>
              <a:t>      "이벤트·시각",</a:t>
            </a:r>
          </a:p>
          <a:p xmlns:a="http://schemas.openxmlformats.org/drawingml/2006/main">
            <a:r>
              <a:t>      "대시보드·API 상태",</a:t>
            </a:r>
          </a:p>
          <a:p xmlns:a="http://schemas.openxmlformats.org/drawingml/2006/main">
            <a:r>
              <a:t>      "조업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기준 이벤트와 탐지 시각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스키폴 Deep Turnaround · 운영기관 사례 / 게시일 미표시 https://www.schiphol.nl/en/aviation-solutions/case-study-amsterdam-airport-schiphol-deep-turnaround/</a:t>
            </a:r>
          </a:p>
          <a:p xmlns:a="http://schemas.openxmlformats.org/drawingml/2006/main">
            <a:r>
              <a:t>홈페이지 https://heen1987-ops.github.io/TS-business-Plan-001/index.html?view=casebook&amp;case=AX10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"title": "스키폴 Deep Turnaround",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"네덜란드",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"공항 지상조업 영상 분석",</a:t>
            </a:r>
          </a:p>
          <a:p xmlns:a="http://schemas.openxmlformats.org/drawingml/2006/main">
            <a:r>
              <a:t>    "period": "운영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"공항 지상조업 영상 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"카메라 영상에서 지상조업 진행 상태를 추출하여 공항·조업 담당자의 협업에 활용",</a:t>
            </a:r>
          </a:p>
          <a:p xmlns:a="http://schemas.openxmlformats.org/drawingml/2006/main">
            <a:r>
              <a:t>    "limit": "운영기관 발표 · TS 감독 업무와 공항 조업 운영의 역할 차이",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"카메라 영상",</a:t>
            </a:r>
          </a:p>
          <a:p xmlns:a="http://schemas.openxmlformats.org/drawingml/2006/main">
            <a:r>
              <a:t>      "조업 상태 인식",</a:t>
            </a:r>
          </a:p>
          <a:p xmlns:a="http://schemas.openxmlformats.org/drawingml/2006/main">
            <a:r>
              <a:t>      "대시보드·API",</a:t>
            </a:r>
          </a:p>
          <a:p xmlns:a="http://schemas.openxmlformats.org/drawingml/2006/main">
            <a:r>
              <a:t>      "담당자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"사건 분류·증거 시각·협업 인계",</a:t>
            </a:r>
          </a:p>
          <a:p xmlns:a="http://schemas.openxmlformats.org/drawingml/2006/main">
            <a:r>
              <a:t>    "test": "지연·중복 이벤트와 원영상 대조",</a:t>
            </a:r>
          </a:p>
          <a:p xmlns:a="http://schemas.openxmlformats.org/drawingml/2006/main">
            <a:r>
              <a:t>    "metric": "상황 확인시간 / 인계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"canonicalId": "AX10",</a:t>
            </a:r>
          </a:p>
          <a:p xmlns:a="http://schemas.openxmlformats.org/drawingml/2006/main">
            <a:r>
              <a:t>    "purpose": "항공기 지상조업 진행상태의 공동 파악",</a:t>
            </a:r>
          </a:p>
          <a:p xmlns:a="http://schemas.openxmlformats.org/drawingml/2006/main">
            <a:r>
              <a:t>    "users": "공항·항공사·조업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분석",</a:t>
            </a:r>
          </a:p>
          <a:p xmlns:a="http://schemas.openxmlformats.org/drawingml/2006/main">
            <a:r>
              <a:t>      "조업 단계",</a:t>
            </a:r>
          </a:p>
          <a:p xmlns:a="http://schemas.openxmlformats.org/drawingml/2006/main">
            <a:r>
              <a:t>      "협업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"계류장 카메라",</a:t>
            </a:r>
          </a:p>
          <a:p xmlns:a="http://schemas.openxmlformats.org/drawingml/2006/main">
            <a:r>
              <a:t>        "detail": "항공편·주기장·관측시각 매핑",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분석 / 조업 단계 / 협업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"조업 이벤트 인식",</a:t>
            </a:r>
          </a:p>
          <a:p xmlns:a="http://schemas.openxmlformats.org/drawingml/2006/main">
            <a:r>
              <a:t>        "detail": "영상에서 조업 이벤트와 상태 추출",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"공항·조업 담당",</a:t>
            </a:r>
          </a:p>
          <a:p xmlns:a="http://schemas.openxmlformats.org/drawingml/2006/main">
            <a:r>
              <a:t>        "detail": "지연 예상과 확인 필요 상태를 조업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"시간별 조업 상태",</a:t>
            </a:r>
          </a:p>
          <a:p xmlns:a="http://schemas.openxmlformats.org/drawingml/2006/main">
            <a:r>
              <a:t>        "detail": "카메라 프레임·항공편 일정·상태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"누락 이벤트와 실제 이륙 준비상태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"카메라 영상",</a:t>
            </a:r>
          </a:p>
          <a:p xmlns:a="http://schemas.openxmlformats.org/drawingml/2006/main">
            <a:r>
              <a:t>        "input": "항공편·주기장·관측시각 매핑",</a:t>
            </a:r>
          </a:p>
          <a:p xmlns:a="http://schemas.openxmlformats.org/drawingml/2006/main">
            <a:r>
              <a:t>        "process": "카메라 프레임·항공편 일정·상태 이력 연결",</a:t>
            </a:r>
          </a:p>
          <a:p xmlns:a="http://schemas.openxmlformats.org/drawingml/2006/main">
            <a:r>
              <a:t>        "output": "영상 프레임"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"조업 상태 인식",</a:t>
            </a:r>
          </a:p>
          <a:p xmlns:a="http://schemas.openxmlformats.org/drawingml/2006/main">
            <a:r>
              <a:t>        "input": "영상 프레임",</a:t>
            </a:r>
          </a:p>
          <a:p xmlns:a="http://schemas.openxmlformats.org/drawingml/2006/main">
            <a:r>
              <a:t>        "process": "영상에서 조업 이벤트와 상태 추출",</a:t>
            </a:r>
          </a:p>
          <a:p xmlns:a="http://schemas.openxmlformats.org/drawingml/2006/main">
            <a:r>
              <a:t>        "output": "이벤트·시각"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"대시보드·API",</a:t>
            </a:r>
          </a:p>
          <a:p xmlns:a="http://schemas.openxmlformats.org/drawingml/2006/main">
            <a:r>
              <a:t>        "input": "이벤트·시각",</a:t>
            </a:r>
          </a:p>
          <a:p xmlns:a="http://schemas.openxmlformats.org/drawingml/2006/main">
            <a:r>
              <a:t>        "process": "현장 기준 이벤트와 탐지 시각 대조",</a:t>
            </a:r>
          </a:p>
          <a:p xmlns:a="http://schemas.openxmlformats.org/drawingml/2006/main">
            <a:r>
              <a:t>        "output": "대시보드·API 상태"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조정",</a:t>
            </a:r>
          </a:p>
          <a:p xmlns:a="http://schemas.openxmlformats.org/drawingml/2006/main">
            <a:r>
              <a:t>        "input": "대시보드·API 상태",</a:t>
            </a:r>
          </a:p>
          <a:p xmlns:a="http://schemas.openxmlformats.org/drawingml/2006/main">
            <a:r>
              <a:t>        "process": "지연 예상과 확인 필요 상태를 조업 담당자에게 제공",</a:t>
            </a:r>
          </a:p>
          <a:p xmlns:a="http://schemas.openxmlformats.org/drawingml/2006/main">
            <a:r>
              <a:t>        "output": "조업 조정"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"항공편별 지상조업 단계와 지연 후보를 공동 확인",</a:t>
            </a:r>
          </a:p>
          <a:p xmlns:a="http://schemas.openxmlformats.org/drawingml/2006/main">
            <a:r>
              <a:t>      "exception": "카메라 가림·항공편 변경·이벤트 순서 역전",</a:t>
            </a:r>
          </a:p>
          <a:p xmlns:a="http://schemas.openxmlformats.org/drawingml/2006/main">
            <a:r>
              <a:t>      "evidence": "영상 시각 대비 상태 전이표와 담당자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"공항·항공사·조업 담당자",</a:t>
            </a:r>
          </a:p>
          <a:p xmlns:a="http://schemas.openxmlformats.org/drawingml/2006/main">
            <a:r>
              <a:t>          "processing": "항공편·주기장·관측시각 매핑",</a:t>
            </a:r>
          </a:p>
          <a:p xmlns:a="http://schemas.openxmlformats.org/drawingml/2006/main">
            <a:r>
              <a:t>          "output": "영상 프레임"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"시간별 조업 상태",</a:t>
            </a:r>
          </a:p>
          <a:p xmlns:a="http://schemas.openxmlformats.org/drawingml/2006/main">
            <a:r>
              <a:t>          "processing": "카메라 프레임·항공편 일정·상태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 프레임",</a:t>
            </a:r>
          </a:p>
          <a:p xmlns:a="http://schemas.openxmlformats.org/drawingml/2006/main">
            <a:r>
              <a:t>          "processing": "영상에서 조업 이벤트와 상태 추출",</a:t>
            </a:r>
          </a:p>
          <a:p xmlns:a="http://schemas.openxmlformats.org/drawingml/2006/main">
            <a:r>
              <a:t>          "output": "대시보드·API 상태"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"대시보드·API 상태",</a:t>
            </a:r>
          </a:p>
          <a:p xmlns:a="http://schemas.openxmlformats.org/drawingml/2006/main">
            <a:r>
              <a:t>          "processing": "지연 예상과 확인 필요 상태를 조업 담당자에게 제공",</a:t>
            </a:r>
          </a:p>
          <a:p xmlns:a="http://schemas.openxmlformats.org/drawingml/2006/main">
            <a:r>
              <a:t>          "output": "조업 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"누락 이벤트와 실제 이륙 준비상태 대조",</a:t>
            </a:r>
          </a:p>
          <a:p xmlns:a="http://schemas.openxmlformats.org/drawingml/2006/main">
            <a:r>
              <a:t>          "output":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"누락 이벤트와 실제 이륙 준비상태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"S-AX10",</a:t>
            </a:r>
          </a:p>
          <a:p xmlns:a="http://schemas.openxmlformats.org/drawingml/2006/main">
            <a:r>
              <a:t>        "title": "스키폴 Deep Turnaround · 운영기관 사례 / 게시일 미표시",</a:t>
            </a:r>
          </a:p>
          <a:p xmlns:a="http://schemas.openxmlformats.org/drawingml/2006/main">
            <a:r>
              <a:t>        "url": "https://www.schiphol.nl/en/aviation-solutions/case-study-amsterdam-airport-schiphol-deep-turnaround/",</a:t>
            </a:r>
          </a:p>
          <a:p xmlns:a="http://schemas.openxmlformats.org/drawingml/2006/main">
            <a:r>
              <a:t>        "published": "운영 사례",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"공항 지상조업의 진행 상태를 영상으로 파악하고 항공사·조업사·공항이 공유하는 사례. 서로 다른 담당자가 같은 항공편의 준비 상태를 확인하도록 하는 협업 변화.",</a:t>
            </a:r>
          </a:p>
          <a:p xmlns:a="http://schemas.openxmlformats.org/drawingml/2006/main">
            <a:r>
              <a:t>      "카메라 관측을 항공편·주기장·시각과 연결하고 조업 이벤트와 상태를 대시보드·API로 전달하는 구조의 재구성. 관측된 상태, 지연 추정, 실제 조업 조치를 별도 기록으로 관리.",</a:t>
            </a:r>
          </a:p>
          <a:p xmlns:a="http://schemas.openxmlformats.org/drawingml/2006/main">
            <a:r>
              <a:t>      "TS 현장 모니터링에 적용할 경우 야간·가림·날씨·카메라 위치별 편차를 평가할 필요. 탐지 정확도뿐 아니라 담당자가 확인한 시점, 조정 조치, 누락 이벤트의 복구까지 비교할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"조업 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"공항·항공사·조업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"항공편·주기장",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"항공편·주기장·관측시각 매핑",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"프레임·일정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 프레임",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"조업 이벤트 인식",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"영상에서 조업 이벤트와 상태 추출",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"시각·누락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기준 이벤트와 탐지 시각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"조업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"항공편별 지상조업 단계와 지연 후보를 공동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"상황판·API 공유",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"지연 예상과 확인 필요 상태를 조업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"지연·현장 결과",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"누락 이벤트와 실제 이륙 준비상태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"계류장 영상",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"시간별 조업 상태",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"영상·항공편 매핑",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"카메라 프레임·항공편 일정·상태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"이벤트 타임라인",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"영상 시각 대비 상태 전이표와 담당자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"영상·협업 권한",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"카메라 가림·항공편 변경·이벤트 순서 역전",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"항공편·주기장·관측시각 매핑",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 프레임",</a:t>
            </a:r>
          </a:p>
          <a:p xmlns:a="http://schemas.openxmlformats.org/drawingml/2006/main">
            <a:r>
              <a:t>          "check": "현장 기준 이벤트와 탐지 시각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"이벤트·시각",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"조업 이벤트·탐지 시각",</a:t>
            </a:r>
          </a:p>
          <a:p xmlns:a="http://schemas.openxmlformats.org/drawingml/2006/main">
            <a:r>
              <a:t>          "check": "카메라 가림·항공편 변경·이벤트 순서 역전"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"대시보드·API 상태",</a:t>
            </a:r>
          </a:p>
          <a:p xmlns:a="http://schemas.openxmlformats.org/drawingml/2006/main">
            <a:r>
              <a:t>          "check": "지연 예상과 확인 필요 상태를 조업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"조업 조정",</a:t>
            </a:r>
          </a:p>
          <a:p xmlns:a="http://schemas.openxmlformats.org/drawingml/2006/main">
            <a:r>
              <a:t>          "check":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"항공기 지상조업 진행상태의 공동 파악 / 영상 분석·조업 단계·협업 알림",</a:t>
            </a:r>
          </a:p>
          <a:p xmlns:a="http://schemas.openxmlformats.org/drawingml/2006/main">
            <a:r>
              <a:t>        "extension": "교통안전 점검 사건·담당자·보고 시점을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"카메라 가림·항공편 변경·이벤트 순서 역전",</a:t>
            </a:r>
          </a:p>
          <a:p xmlns:a="http://schemas.openxmlformats.org/drawingml/2006/main">
            <a:r>
              <a:t>        "hold": "현장 기준 이벤트와 탐지 시각 대조",</a:t>
            </a:r>
          </a:p>
          <a:p xmlns:a="http://schemas.openxmlformats.org/drawingml/2006/main">
            <a:r>
              <a:t>        "recovery": "누락 이벤트와 실제 이륙 준비상태 대조",</a:t>
            </a:r>
          </a:p>
          <a:p xmlns:a="http://schemas.openxmlformats.org/drawingml/2006/main">
            <a:r>
              <a:t>        "evidence": "영상 시각 대비 상태 전이표와 담당자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"시간별 조업 상태",</a:t>
            </a:r>
          </a:p>
          <a:p xmlns:a="http://schemas.openxmlformats.org/drawingml/2006/main">
            <a:r>
              <a:t>        "prepare": "카메라 프레임·항공편 일정·상태 이력 연결",</a:t>
            </a:r>
          </a:p>
          <a:p xmlns:a="http://schemas.openxmlformats.org/drawingml/2006/main">
            <a:r>
              <a:t>        "output": "영상 프레임",</a:t>
            </a:r>
          </a:p>
          <a:p xmlns:a="http://schemas.openxmlformats.org/drawingml/2006/main">
            <a:r>
              <a:t>        "refresh": "누락 이벤트와 실제 이륙 준비상태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"공통 조업 상태의 공유",</a:t>
            </a:r>
          </a:p>
          <a:p xmlns:a="http://schemas.openxmlformats.org/drawingml/2006/main">
            <a:r>
              <a:t>      "영상 관측과 실제 현장 조정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"가림·야간·날씨에 따른 인식 편차",</a:t>
            </a:r>
          </a:p>
          <a:p xmlns:a="http://schemas.openxmlformats.org/drawingml/2006/main">
            <a:r>
              <a:t>      "상태 추정과 안전 판단의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"계류장 카메라",</a:t>
            </a:r>
          </a:p>
          <a:p xmlns:a="http://schemas.openxmlformats.org/drawingml/2006/main">
            <a:r>
              <a:t>      "조업 이벤트 인식",</a:t>
            </a:r>
          </a:p>
          <a:p xmlns:a="http://schemas.openxmlformats.org/drawingml/2006/main">
            <a:r>
              <a:t>      "시간별 조업 상태",</a:t>
            </a:r>
          </a:p>
          <a:p xmlns:a="http://schemas.openxmlformats.org/drawingml/2006/main">
            <a:r>
              <a:t>      "공항·조업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 프레임",</a:t>
            </a:r>
          </a:p>
          <a:p xmlns:a="http://schemas.openxmlformats.org/drawingml/2006/main">
            <a:r>
              <a:t>      "이벤트·시각",</a:t>
            </a:r>
          </a:p>
          <a:p xmlns:a="http://schemas.openxmlformats.org/drawingml/2006/main">
            <a:r>
              <a:t>      "대시보드·API 상태",</a:t>
            </a:r>
          </a:p>
          <a:p xmlns:a="http://schemas.openxmlformats.org/drawingml/2006/main">
            <a:r>
              <a:t>      "조업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기준 이벤트와 탐지 시각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스키폴 Deep Turnaround · 운영기관 사례 / 게시일 미표시 https://www.schiphol.nl/en/aviation-solutions/case-study-amsterdam-airport-schiphol-deep-turnaround/</a:t>
            </a:r>
          </a:p>
          <a:p xmlns:a="http://schemas.openxmlformats.org/drawingml/2006/main">
            <a:r>
              <a:t>홈페이지 https://heen1987-ops.github.io/TS-business-Plan-001/index.html?view=casebook&amp;case=AX10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"title": "스키폴 Deep Turnaround",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"네덜란드",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"공항 지상조업 영상 분석",</a:t>
            </a:r>
          </a:p>
          <a:p xmlns:a="http://schemas.openxmlformats.org/drawingml/2006/main">
            <a:r>
              <a:t>    "period": "운영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"공항 지상조업 영상 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"카메라 영상에서 지상조업 진행 상태를 추출하여 공항·조업 담당자의 협업에 활용",</a:t>
            </a:r>
          </a:p>
          <a:p xmlns:a="http://schemas.openxmlformats.org/drawingml/2006/main">
            <a:r>
              <a:t>    "limit": "운영기관 발표 · TS 감독 업무와 공항 조업 운영의 역할 차이",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"카메라 영상",</a:t>
            </a:r>
          </a:p>
          <a:p xmlns:a="http://schemas.openxmlformats.org/drawingml/2006/main">
            <a:r>
              <a:t>      "조업 상태 인식",</a:t>
            </a:r>
          </a:p>
          <a:p xmlns:a="http://schemas.openxmlformats.org/drawingml/2006/main">
            <a:r>
              <a:t>      "대시보드·API",</a:t>
            </a:r>
          </a:p>
          <a:p xmlns:a="http://schemas.openxmlformats.org/drawingml/2006/main">
            <a:r>
              <a:t>      "담당자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"사건 분류·증거 시각·협업 인계",</a:t>
            </a:r>
          </a:p>
          <a:p xmlns:a="http://schemas.openxmlformats.org/drawingml/2006/main">
            <a:r>
              <a:t>    "test": "지연·중복 이벤트와 원영상 대조",</a:t>
            </a:r>
          </a:p>
          <a:p xmlns:a="http://schemas.openxmlformats.org/drawingml/2006/main">
            <a:r>
              <a:t>    "metric": "상황 확인시간 / 인계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"canonicalId": "AX10",</a:t>
            </a:r>
          </a:p>
          <a:p xmlns:a="http://schemas.openxmlformats.org/drawingml/2006/main">
            <a:r>
              <a:t>    "purpose": "항공기 지상조업 진행상태의 공동 파악",</a:t>
            </a:r>
          </a:p>
          <a:p xmlns:a="http://schemas.openxmlformats.org/drawingml/2006/main">
            <a:r>
              <a:t>    "users": "공항·항공사·조업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분석",</a:t>
            </a:r>
          </a:p>
          <a:p xmlns:a="http://schemas.openxmlformats.org/drawingml/2006/main">
            <a:r>
              <a:t>      "조업 단계",</a:t>
            </a:r>
          </a:p>
          <a:p xmlns:a="http://schemas.openxmlformats.org/drawingml/2006/main">
            <a:r>
              <a:t>      "협업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"계류장 카메라",</a:t>
            </a:r>
          </a:p>
          <a:p xmlns:a="http://schemas.openxmlformats.org/drawingml/2006/main">
            <a:r>
              <a:t>        "detail": "항공편·주기장·관측시각 매핑",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분석 / 조업 단계 / 협업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"조업 이벤트 인식",</a:t>
            </a:r>
          </a:p>
          <a:p xmlns:a="http://schemas.openxmlformats.org/drawingml/2006/main">
            <a:r>
              <a:t>        "detail": "영상에서 조업 이벤트와 상태 추출",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"공항·조업 담당",</a:t>
            </a:r>
          </a:p>
          <a:p xmlns:a="http://schemas.openxmlformats.org/drawingml/2006/main">
            <a:r>
              <a:t>        "detail": "지연 예상과 확인 필요 상태를 조업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"시간별 조업 상태",</a:t>
            </a:r>
          </a:p>
          <a:p xmlns:a="http://schemas.openxmlformats.org/drawingml/2006/main">
            <a:r>
              <a:t>        "detail": "카메라 프레임·항공편 일정·상태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"누락 이벤트와 실제 이륙 준비상태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"카메라 영상",</a:t>
            </a:r>
          </a:p>
          <a:p xmlns:a="http://schemas.openxmlformats.org/drawingml/2006/main">
            <a:r>
              <a:t>        "input": "항공편·주기장·관측시각 매핑",</a:t>
            </a:r>
          </a:p>
          <a:p xmlns:a="http://schemas.openxmlformats.org/drawingml/2006/main">
            <a:r>
              <a:t>        "process": "카메라 프레임·항공편 일정·상태 이력 연결",</a:t>
            </a:r>
          </a:p>
          <a:p xmlns:a="http://schemas.openxmlformats.org/drawingml/2006/main">
            <a:r>
              <a:t>        "output": "영상 프레임"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"조업 상태 인식",</a:t>
            </a:r>
          </a:p>
          <a:p xmlns:a="http://schemas.openxmlformats.org/drawingml/2006/main">
            <a:r>
              <a:t>        "input": "영상 프레임",</a:t>
            </a:r>
          </a:p>
          <a:p xmlns:a="http://schemas.openxmlformats.org/drawingml/2006/main">
            <a:r>
              <a:t>        "process": "영상에서 조업 이벤트와 상태 추출",</a:t>
            </a:r>
          </a:p>
          <a:p xmlns:a="http://schemas.openxmlformats.org/drawingml/2006/main">
            <a:r>
              <a:t>        "output": "이벤트·시각"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"대시보드·API",</a:t>
            </a:r>
          </a:p>
          <a:p xmlns:a="http://schemas.openxmlformats.org/drawingml/2006/main">
            <a:r>
              <a:t>        "input": "이벤트·시각",</a:t>
            </a:r>
          </a:p>
          <a:p xmlns:a="http://schemas.openxmlformats.org/drawingml/2006/main">
            <a:r>
              <a:t>        "process": "현장 기준 이벤트와 탐지 시각 대조",</a:t>
            </a:r>
          </a:p>
          <a:p xmlns:a="http://schemas.openxmlformats.org/drawingml/2006/main">
            <a:r>
              <a:t>        "output": "대시보드·API 상태"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조정",</a:t>
            </a:r>
          </a:p>
          <a:p xmlns:a="http://schemas.openxmlformats.org/drawingml/2006/main">
            <a:r>
              <a:t>        "input": "대시보드·API 상태",</a:t>
            </a:r>
          </a:p>
          <a:p xmlns:a="http://schemas.openxmlformats.org/drawingml/2006/main">
            <a:r>
              <a:t>        "process": "지연 예상과 확인 필요 상태를 조업 담당자에게 제공",</a:t>
            </a:r>
          </a:p>
          <a:p xmlns:a="http://schemas.openxmlformats.org/drawingml/2006/main">
            <a:r>
              <a:t>        "output": "조업 조정"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"항공편별 지상조업 단계와 지연 후보를 공동 확인",</a:t>
            </a:r>
          </a:p>
          <a:p xmlns:a="http://schemas.openxmlformats.org/drawingml/2006/main">
            <a:r>
              <a:t>      "exception": "카메라 가림·항공편 변경·이벤트 순서 역전",</a:t>
            </a:r>
          </a:p>
          <a:p xmlns:a="http://schemas.openxmlformats.org/drawingml/2006/main">
            <a:r>
              <a:t>      "evidence": "영상 시각 대비 상태 전이표와 담당자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"공항·항공사·조업 담당자",</a:t>
            </a:r>
          </a:p>
          <a:p xmlns:a="http://schemas.openxmlformats.org/drawingml/2006/main">
            <a:r>
              <a:t>          "processing": "항공편·주기장·관측시각 매핑",</a:t>
            </a:r>
          </a:p>
          <a:p xmlns:a="http://schemas.openxmlformats.org/drawingml/2006/main">
            <a:r>
              <a:t>          "output": "영상 프레임"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"시간별 조업 상태",</a:t>
            </a:r>
          </a:p>
          <a:p xmlns:a="http://schemas.openxmlformats.org/drawingml/2006/main">
            <a:r>
              <a:t>          "processing": "카메라 프레임·항공편 일정·상태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 프레임",</a:t>
            </a:r>
          </a:p>
          <a:p xmlns:a="http://schemas.openxmlformats.org/drawingml/2006/main">
            <a:r>
              <a:t>          "processing": "영상에서 조업 이벤트와 상태 추출",</a:t>
            </a:r>
          </a:p>
          <a:p xmlns:a="http://schemas.openxmlformats.org/drawingml/2006/main">
            <a:r>
              <a:t>          "output": "대시보드·API 상태"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"대시보드·API 상태",</a:t>
            </a:r>
          </a:p>
          <a:p xmlns:a="http://schemas.openxmlformats.org/drawingml/2006/main">
            <a:r>
              <a:t>          "processing": "지연 예상과 확인 필요 상태를 조업 담당자에게 제공",</a:t>
            </a:r>
          </a:p>
          <a:p xmlns:a="http://schemas.openxmlformats.org/drawingml/2006/main">
            <a:r>
              <a:t>          "output": "조업 조정"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"누락 이벤트와 실제 이륙 준비상태 대조",</a:t>
            </a:r>
          </a:p>
          <a:p xmlns:a="http://schemas.openxmlformats.org/drawingml/2006/main">
            <a:r>
              <a:t>          "output":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"누락 이벤트와 실제 이륙 준비상태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"S-AX10",</a:t>
            </a:r>
          </a:p>
          <a:p xmlns:a="http://schemas.openxmlformats.org/drawingml/2006/main">
            <a:r>
              <a:t>        "title": "스키폴 Deep Turnaround · 운영기관 사례 / 게시일 미표시",</a:t>
            </a:r>
          </a:p>
          <a:p xmlns:a="http://schemas.openxmlformats.org/drawingml/2006/main">
            <a:r>
              <a:t>        "url": "https://www.schiphol.nl/en/aviation-solutions/case-study-amsterdam-airport-schiphol-deep-turnaround/",</a:t>
            </a:r>
          </a:p>
          <a:p xmlns:a="http://schemas.openxmlformats.org/drawingml/2006/main">
            <a:r>
              <a:t>        "published": "운영 사례",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"현장 이벤트의 공동 상황판 연결",</a:t>
            </a:r>
          </a:p>
          <a:p xmlns:a="http://schemas.openxmlformats.org/drawingml/2006/main">
            <a:r>
              <a:t>    "local": "교통안전 점검 사건·담당자·보고 시점을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"공항 지상조업의 진행 상태를 영상으로 파악하고 항공사·조업사·공항이 공유하는 사례. 서로 다른 담당자가 같은 항공편의 준비 상태를 확인하도록 하는 협업 변화.",</a:t>
            </a:r>
          </a:p>
          <a:p xmlns:a="http://schemas.openxmlformats.org/drawingml/2006/main">
            <a:r>
              <a:t>      "카메라 관측을 항공편·주기장·시각과 연결하고 조업 이벤트와 상태를 대시보드·API로 전달하는 구조의 재구성. 관측된 상태, 지연 추정, 실제 조업 조치를 별도 기록으로 관리.",</a:t>
            </a:r>
          </a:p>
          <a:p xmlns:a="http://schemas.openxmlformats.org/drawingml/2006/main">
            <a:r>
              <a:t>      "TS 현장 모니터링에 적용할 경우 야간·가림·날씨·카메라 위치별 편차를 평가할 필요. 탐지 정확도뿐 아니라 담당자가 확인한 시점, 조정 조치, 누락 이벤트의 복구까지 비교할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"조업 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"공항·항공사·조업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"항공편·주기장",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"항공편·주기장·관측시각 매핑",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"프레임·일정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 프레임",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"조업 이벤트 인식",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"영상에서 조업 이벤트와 상태 추출",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"시각·누락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"현장 기준 이벤트와 탐지 시각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"조업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"항공편별 지상조업 단계와 지연 후보를 공동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"상황판·API 공유",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"지연 예상과 확인 필요 상태를 조업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"지연·현장 결과",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"누락 이벤트와 실제 이륙 준비상태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"계류장 영상",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"시간별 조업 상태",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"영상·항공편 매핑",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"카메라 프레임·항공편 일정·상태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"이벤트 타임라인",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"영상 시각 대비 상태 전이표와 담당자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"영상·협업 권한",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"카메라 가림·항공편 변경·이벤트 순서 역전",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"항공편·주기장·관측시각 매핑",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 프레임",</a:t>
            </a:r>
          </a:p>
          <a:p xmlns:a="http://schemas.openxmlformats.org/drawingml/2006/main">
            <a:r>
              <a:t>          "check": "현장 기준 이벤트와 탐지 시각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"이벤트·시각",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"조업 이벤트·탐지 시각",</a:t>
            </a:r>
          </a:p>
          <a:p xmlns:a="http://schemas.openxmlformats.org/drawingml/2006/main">
            <a:r>
              <a:t>          "check": "카메라 가림·항공편 변경·이벤트 순서 역전"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"대시보드·API 상태",</a:t>
            </a:r>
          </a:p>
          <a:p xmlns:a="http://schemas.openxmlformats.org/drawingml/2006/main">
            <a:r>
              <a:t>          "check": "지연 예상과 확인 필요 상태를 조업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"조업 조정",</a:t>
            </a:r>
          </a:p>
          <a:p xmlns:a="http://schemas.openxmlformats.org/drawingml/2006/main">
            <a:r>
              <a:t>          "check": "영상 시각 대비 상태 전이표와 담당자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"항공기 지상조업 진행상태의 공동 파악 / 영상 분석·조업 단계·협업 알림",</a:t>
            </a:r>
          </a:p>
          <a:p xmlns:a="http://schemas.openxmlformats.org/drawingml/2006/main">
            <a:r>
              <a:t>        "extension": "교통안전 점검 사건·담당자·보고 시점을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"카메라 가림·항공편 변경·이벤트 순서 역전",</a:t>
            </a:r>
          </a:p>
          <a:p xmlns:a="http://schemas.openxmlformats.org/drawingml/2006/main">
            <a:r>
              <a:t>        "hold": "현장 기준 이벤트와 탐지 시각 대조",</a:t>
            </a:r>
          </a:p>
          <a:p xmlns:a="http://schemas.openxmlformats.org/drawingml/2006/main">
            <a:r>
              <a:t>        "recovery": "누락 이벤트와 실제 이륙 준비상태 대조",</a:t>
            </a:r>
          </a:p>
          <a:p xmlns:a="http://schemas.openxmlformats.org/drawingml/2006/main">
            <a:r>
              <a:t>        "evidence": "영상 시각 대비 상태 전이표와 담당자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"시간별 조업 상태",</a:t>
            </a:r>
          </a:p>
          <a:p xmlns:a="http://schemas.openxmlformats.org/drawingml/2006/main">
            <a:r>
              <a:t>        "prepare": "카메라 프레임·항공편 일정·상태 이력 연결",</a:t>
            </a:r>
          </a:p>
          <a:p xmlns:a="http://schemas.openxmlformats.org/drawingml/2006/main">
            <a:r>
              <a:t>        "output": "영상 프레임",</a:t>
            </a:r>
          </a:p>
          <a:p xmlns:a="http://schemas.openxmlformats.org/drawingml/2006/main">
            <a:r>
              <a:t>        "refresh": "누락 이벤트와 실제 이륙 준비상태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"공통 조업 상태의 공유",</a:t>
            </a:r>
          </a:p>
          <a:p xmlns:a="http://schemas.openxmlformats.org/drawingml/2006/main">
            <a:r>
              <a:t>      "영상 관측과 실제 현장 조정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"가림·야간·날씨에 따른 인식 편차",</a:t>
            </a:r>
          </a:p>
          <a:p xmlns:a="http://schemas.openxmlformats.org/drawingml/2006/main">
            <a:r>
              <a:t>      "상태 추정과 안전 판단의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"계류장 카메라",</a:t>
            </a:r>
          </a:p>
          <a:p xmlns:a="http://schemas.openxmlformats.org/drawingml/2006/main">
            <a:r>
              <a:t>      "조업 이벤트 인식",</a:t>
            </a:r>
          </a:p>
          <a:p xmlns:a="http://schemas.openxmlformats.org/drawingml/2006/main">
            <a:r>
              <a:t>      "시간별 조업 상태",</a:t>
            </a:r>
          </a:p>
          <a:p xmlns:a="http://schemas.openxmlformats.org/drawingml/2006/main">
            <a:r>
              <a:t>      "공항·조업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 프레임",</a:t>
            </a:r>
          </a:p>
          <a:p xmlns:a="http://schemas.openxmlformats.org/drawingml/2006/main">
            <a:r>
              <a:t>      "이벤트·시각",</a:t>
            </a:r>
          </a:p>
          <a:p xmlns:a="http://schemas.openxmlformats.org/drawingml/2006/main">
            <a:r>
              <a:t>      "대시보드·API 상태",</a:t>
            </a:r>
          </a:p>
          <a:p xmlns:a="http://schemas.openxmlformats.org/drawingml/2006/main">
            <a:r>
              <a:t>      "조업 조정"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"현장 기준 이벤트와 탐지 시각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스키폴 Deep Turnaround · 운영기관 사례 / 게시일 미표시 https://www.schiphol.nl/en/aviation-solutions/case-study-amsterdam-airport-schiphol-deep-turnaround/</a:t>
            </a:r>
          </a:p>
          <a:p xmlns:a="http://schemas.openxmlformats.org/drawingml/2006/main">
            <a:r>
              <a:t>홈페이지 https://heen1987-ops.github.io/TS-business-Plan-001/index.html?view=casebook&amp;case=AX10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"title": "Google Green Light",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"신호 운영 최적화 지원",</a:t>
            </a:r>
          </a:p>
          <a:p xmlns:a="http://schemas.openxmlformats.org/drawingml/2006/main">
            <a:r>
              <a:t>    "period": "운영 적용",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"신호 운영 최적화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 흐름 분석과 AI 권고를 도시 교통기술자의 신호 운영 검토에 제공",</a:t>
            </a:r>
          </a:p>
          <a:p xmlns:a="http://schemas.openxmlformats.org/drawingml/2006/main">
            <a:r>
              <a:t>    "limit": "도시별 효과 차이 · 신호 변경 권한은 운영기관 소관",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"교통 흐름 데이터",</a:t>
            </a:r>
          </a:p>
          <a:p xmlns:a="http://schemas.openxmlformats.org/drawingml/2006/main">
            <a:r>
              <a:t>      "AI 개선 권고",</a:t>
            </a:r>
          </a:p>
          <a:p xmlns:a="http://schemas.openxmlformats.org/drawingml/2006/main">
            <a:r>
              <a:t>      "기술자 검토",</a:t>
            </a:r>
          </a:p>
          <a:p xmlns:a="http://schemas.openxmlformats.org/drawingml/2006/main">
            <a:r>
              <a:t>      "신호 운영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"지역·교차로·관할·개선 전후 지표 연결",</a:t>
            </a:r>
          </a:p>
          <a:p xmlns:a="http://schemas.openxmlformats.org/drawingml/2006/main">
            <a:r>
              <a:t>    "test": "동일 시간대·교통량 비교와 담당자 승인 확인",</a:t>
            </a:r>
          </a:p>
          <a:p xmlns:a="http://schemas.openxmlformats.org/drawingml/2006/main">
            <a:r>
              <a:t>    "metric": "정체·대기 지표 / 권고 채택률",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"ST-06",</a:t>
            </a:r>
          </a:p>
          <a:p xmlns:a="http://schemas.openxmlformats.org/drawingml/2006/main">
            <a:r>
              <a:t>      "ST-07",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"canonicalId": "AX11",</a:t>
            </a:r>
          </a:p>
          <a:p xmlns:a="http://schemas.openxmlformats.org/drawingml/2006/main">
            <a:r>
              <a:t>    "purpose": "신호 운영 검토를 위한 교통 흐름 분석",</a:t>
            </a:r>
          </a:p>
          <a:p xmlns:a="http://schemas.openxmlformats.org/drawingml/2006/main">
            <a:r>
              <a:t>    "users": "도시 교통기술자·운영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"신호 권고",</a:t>
            </a:r>
          </a:p>
          <a:p xmlns:a="http://schemas.openxmlformats.org/drawingml/2006/main">
            <a:r>
              <a:t>      "효과 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"교통 흐름 자료",</a:t>
            </a:r>
          </a:p>
          <a:p xmlns:a="http://schemas.openxmlformats.org/drawingml/2006/main">
            <a:r>
              <a:t>        "detail": "교차로·시간대·운영 조건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"교차로 흐름 / 신호 권고 / 효과 점검",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"신호 개선 권고",</a:t>
            </a:r>
          </a:p>
          <a:p xmlns:a="http://schemas.openxmlformats.org/drawingml/2006/main">
            <a:r>
              <a:t>        "detail": "정체·정지 패턴에 따른 신호 조정 후보",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"도시 교통기술자",</a:t>
            </a:r>
          </a:p>
          <a:p xmlns:a="http://schemas.openxmlformats.org/drawingml/2006/main">
            <a:r>
              <a:t>        "detail": "교통기술자의 검토 후 신호 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"교차로·교통 패턴",</a:t>
            </a:r>
          </a:p>
          <a:p xmlns:a="http://schemas.openxmlformats.org/drawingml/2006/main">
            <a:r>
              <a:t>        "detail": "교통 흐름·교차로·신호 운영자료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"변경 전후 교통지표와 안전 제약의 병행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"교통 흐름 데이터",</a:t>
            </a:r>
          </a:p>
          <a:p xmlns:a="http://schemas.openxmlformats.org/drawingml/2006/main">
            <a:r>
              <a:t>        "input": "교차로·시간대·운영 조건 지정",</a:t>
            </a:r>
          </a:p>
          <a:p xmlns:a="http://schemas.openxmlformats.org/drawingml/2006/main">
            <a:r>
              <a:t>        "process": "교통 흐름·교차로·신호 운영자료 정합화",</a:t>
            </a:r>
          </a:p>
          <a:p xmlns:a="http://schemas.openxmlformats.org/drawingml/2006/main">
            <a:r>
              <a:t>        "output": "교차로 흐름"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개선 권고",</a:t>
            </a:r>
          </a:p>
          <a:p xmlns:a="http://schemas.openxmlformats.org/drawingml/2006/main">
            <a:r>
              <a:t>        "input": "교차로 흐름",</a:t>
            </a:r>
          </a:p>
          <a:p xmlns:a="http://schemas.openxmlformats.org/drawingml/2006/main">
            <a:r>
              <a:t>        "process": "정체·정지 패턴에 따른 신호 조정 후보",</a:t>
            </a:r>
          </a:p>
          <a:p xmlns:a="http://schemas.openxmlformats.org/drawingml/2006/main">
            <a:r>
              <a:t>        "output": "정체 패턴"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"기술자 검토",</a:t>
            </a:r>
          </a:p>
          <a:p xmlns:a="http://schemas.openxmlformats.org/drawingml/2006/main">
            <a:r>
              <a:t>        "input": "정체 패턴",</a:t>
            </a:r>
          </a:p>
          <a:p xmlns:a="http://schemas.openxmlformats.org/drawingml/2006/main">
            <a:r>
              <a:t>        "process": "지역 제약·안전 조건 검토",</a:t>
            </a:r>
          </a:p>
          <a:p xmlns:a="http://schemas.openxmlformats.org/drawingml/2006/main">
            <a:r>
              <a:t>        "output": "신호 조정안"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"신호 운영 반영",</a:t>
            </a:r>
          </a:p>
          <a:p xmlns:a="http://schemas.openxmlformats.org/drawingml/2006/main">
            <a:r>
              <a:t>        "input": "신호 조정안",</a:t>
            </a:r>
          </a:p>
          <a:p xmlns:a="http://schemas.openxmlformats.org/drawingml/2006/main">
            <a:r>
              <a:t>        "process": "교통기술자의 검토 후 신호 계획 반영",</a:t>
            </a:r>
          </a:p>
          <a:p xmlns:a="http://schemas.openxmlformats.org/drawingml/2006/main">
            <a:r>
              <a:t>        "output": "기술자 적용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"교차로의 신호 조정 후보를 기술자가 현장 조건과 대조",</a:t>
            </a:r>
          </a:p>
          <a:p xmlns:a="http://schemas.openxmlformats.org/drawingml/2006/main">
            <a:r>
              <a:t>      "exception": "보행시간 부족·인접 교차로 정체·특수 행사일",</a:t>
            </a:r>
          </a:p>
          <a:p xmlns:a="http://schemas.openxmlformats.org/drawingml/2006/main">
            <a:r>
              <a:t>      "evidence": "변경 전후 지표와 보행·안전 제약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"도시 교통기술자·운영 담당",</a:t>
            </a:r>
          </a:p>
          <a:p xmlns:a="http://schemas.openxmlformats.org/drawingml/2006/main">
            <a:r>
              <a:t>          "processing": "교차로·시간대·운영 조건 지정",</a:t>
            </a:r>
          </a:p>
          <a:p xmlns:a="http://schemas.openxmlformats.org/drawingml/2006/main">
            <a:r>
              <a:t>          "output": "교차로 흐름"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"교차로·교통 패턴",</a:t>
            </a:r>
          </a:p>
          <a:p xmlns:a="http://schemas.openxmlformats.org/drawingml/2006/main">
            <a:r>
              <a:t>          "processing": "교통 흐름·교차로·신호 운영자료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"교차로 흐름",</a:t>
            </a:r>
          </a:p>
          <a:p xmlns:a="http://schemas.openxmlformats.org/drawingml/2006/main">
            <a:r>
              <a:t>          "processing": "정체·정지 패턴에 따른 신호 조정 후보",</a:t>
            </a:r>
          </a:p>
          <a:p xmlns:a="http://schemas.openxmlformats.org/drawingml/2006/main">
            <a:r>
              <a:t>          "output": "신호 조정안"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"신호 조정안",</a:t>
            </a:r>
          </a:p>
          <a:p xmlns:a="http://schemas.openxmlformats.org/drawingml/2006/main">
            <a:r>
              <a:t>          "processing": "교통기술자의 검토 후 신호 계획 반영",</a:t>
            </a:r>
          </a:p>
          <a:p xmlns:a="http://schemas.openxmlformats.org/drawingml/2006/main">
            <a:r>
              <a:t>          "output": "기술자 적용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"변경 전후 교통지표와 안전 제약의 병행 평가",</a:t>
            </a:r>
          </a:p>
          <a:p xmlns:a="http://schemas.openxmlformats.org/drawingml/2006/main">
            <a:r>
              <a:t>          "output":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"변경 전후 교통지표와 안전 제약의 병행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"S-AX11",</a:t>
            </a:r>
          </a:p>
          <a:p xmlns:a="http://schemas.openxmlformats.org/drawingml/2006/main">
            <a:r>
              <a:t>        "title": "Google Green Light · 개발기관 사업 소개 / 게시일 미표시",</a:t>
            </a:r>
          </a:p>
          <a:p xmlns:a="http://schemas.openxmlformats.org/drawingml/2006/main">
            <a:r>
              <a:t>        "url": "https://sites.research.google/greenlight/",</a:t>
            </a:r>
          </a:p>
          <a:p xmlns:a="http://schemas.openxmlformats.org/drawingml/2006/main">
            <a:r>
              <a:t>        "published": "운영 적용",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 교통 흐름을 분석해 신호 운영 개선안을 기술자에게 제공하는 사례. AI가 모든 교차로 신호를 직접 제어하는 방식으로 일반화하기보다 권고와 현장 적용의 연결에 주목.",</a:t>
            </a:r>
          </a:p>
          <a:p xmlns:a="http://schemas.openxmlformats.org/drawingml/2006/main">
            <a:r>
              <a:t>      "교차로·시간대별 흐름에서 정체·정지 패턴을 찾고 신호 조정 후보를 만드는 흐름. 지역 교통기술자가 보행자·긴급차량·현장 제약을 확인한 뒤 운영계획에 반영하는 CCK 적용 구조.",</a:t>
            </a:r>
          </a:p>
          <a:p xmlns:a="http://schemas.openxmlformats.org/drawingml/2006/main">
            <a:r>
              <a:t>      "관측 교차로의 결과를 다른 지역 성과로 그대로 환산하지 않는 비교. 변경 전후 교통지표, 안전 제약 위반, 권고 채택 여부와 실제 운영 반영시간을 함께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"신호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"도시 교통기술자·운영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"교차로·시간대",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"교차로·시간대·운영 조건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흐름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"교차로 흐름",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"신호 조정 후보",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"정체·정지 패턴에 따른 신호 조정 후보",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"지역·안전 제약",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 제약·안전 조건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"교통기술자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"교차로의 신호 조정 후보를 기술자가 현장 조건과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"신호계획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"교통기술자의 검토 후 신호 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전후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"변경 전후 교통지표와 안전 제약의 병행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"교통·신호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"교차로·교통 패턴",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"교차로 코드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"교통 흐름·교차로·신호 운영자료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"흐름·계획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"변경 전후 지표와 보행·안전 제약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"보행·긴급 제약",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"보행시간 부족·인접 교차로 정체·특수 행사일",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"교차로·시간대·운영 조건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"교차로 흐름",</a:t>
            </a:r>
          </a:p>
          <a:p xmlns:a="http://schemas.openxmlformats.org/drawingml/2006/main">
            <a:r>
              <a:t>          "check": "지역 제약·안전 조건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"정체 패턴",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"보행시간 부족·인접 교차로 정체·특수 행사일"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"교통기술자의 검토 후 신호 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"기술자 적용 결과",</a:t>
            </a:r>
          </a:p>
          <a:p xmlns:a="http://schemas.openxmlformats.org/drawingml/2006/main">
            <a:r>
              <a:t>          "check":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"신호 운영 검토를 위한 교통 흐름 분석 / 교차로 흐름·신호 권고·효과 점검",</a:t>
            </a:r>
          </a:p>
          <a:p xmlns:a="http://schemas.openxmlformats.org/drawingml/2006/main">
            <a:r>
              <a:t>        "extension": "TS 분석·점검 의견을 지자체 소관 업무로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"보행시간 부족·인접 교차로 정체·특수 행사일",</a:t>
            </a:r>
          </a:p>
          <a:p xmlns:a="http://schemas.openxmlformats.org/drawingml/2006/main">
            <a:r>
              <a:t>        "hold": "지역 제약·안전 조건 검토",</a:t>
            </a:r>
          </a:p>
          <a:p xmlns:a="http://schemas.openxmlformats.org/drawingml/2006/main">
            <a:r>
              <a:t>        "recovery": "변경 전후 교통지표와 안전 제약의 병행 평가",</a:t>
            </a:r>
          </a:p>
          <a:p xmlns:a="http://schemas.openxmlformats.org/drawingml/2006/main">
            <a:r>
              <a:t>        "evidence": "변경 전후 지표와 보행·안전 제약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"교차로·교통 패턴",</a:t>
            </a:r>
          </a:p>
          <a:p xmlns:a="http://schemas.openxmlformats.org/drawingml/2006/main">
            <a:r>
              <a:t>        "prepare": "교통 흐름·교차로·신호 운영자료 정합화",</a:t>
            </a:r>
          </a:p>
          <a:p xmlns:a="http://schemas.openxmlformats.org/drawingml/2006/main">
            <a:r>
              <a:t>        "output": "교차로 흐름",</a:t>
            </a:r>
          </a:p>
          <a:p xmlns:a="http://schemas.openxmlformats.org/drawingml/2006/main">
            <a:r>
              <a:t>        "refresh": "변경 전후 교통지표와 안전 제약의 병행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신호 운영에 개선 권고 제공",</a:t>
            </a:r>
          </a:p>
          <a:p xmlns:a="http://schemas.openxmlformats.org/drawingml/2006/main">
            <a:r>
              <a:t>      "도시 기술자의 검토 후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교차로 외 일반화 위험",</a:t>
            </a:r>
          </a:p>
          <a:p xmlns:a="http://schemas.openxmlformats.org/drawingml/2006/main">
            <a:r>
              <a:t>      "보행자·긴급차량 조건 누락 가능성"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"교통 흐름 자료",</a:t>
            </a:r>
          </a:p>
          <a:p xmlns:a="http://schemas.openxmlformats.org/drawingml/2006/main">
            <a:r>
              <a:t>      "신호 개선 권고",</a:t>
            </a:r>
          </a:p>
          <a:p xmlns:a="http://schemas.openxmlformats.org/drawingml/2006/main">
            <a:r>
              <a:t>      "교차로·교통 패턴",</a:t>
            </a:r>
          </a:p>
          <a:p xmlns:a="http://schemas.openxmlformats.org/drawingml/2006/main">
            <a:r>
              <a:t>      "도시 교통기술자"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"정체 패턴",</a:t>
            </a:r>
          </a:p>
          <a:p xmlns:a="http://schemas.openxmlformats.org/drawingml/2006/main">
            <a:r>
              <a:t>      "신호 조정안",</a:t>
            </a:r>
          </a:p>
          <a:p xmlns:a="http://schemas.openxmlformats.org/drawingml/2006/main">
            <a:r>
              <a:t>      "기술자 적용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 제약·안전 조건 검토",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Green Light · 개발기관 사업 소개 / 게시일 미표시 https://sites.research.google/greenlight/</a:t>
            </a:r>
          </a:p>
          <a:p xmlns:a="http://schemas.openxmlformats.org/drawingml/2006/main">
            <a:r>
              <a:t>홈페이지 https://heen1987-ops.github.io/TS-business-Plan-001/index.html?view=casebook&amp;case=AX11</a:t>
            </a:r>
          </a:p>
          <a:p xmlns:a="http://schemas.openxmlformats.org/drawingml/2006/main">
            <a:r>
              <a:t>한계: 도시별 효과 차이 · 신호 변경 권한은 운영기관 소관</a:t>
            </a:r>
          </a:p>
          <a:p xmlns:a="http://schemas.openxmlformats.org/drawingml/2006/main">
            <a:r>
              <a:t>실패 위험: 관측 교차로 외 일반화 위험 / 보행자·긴급차량 조건 누락 가능성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"title": "Google Green Light",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"신호 운영 최적화 지원",</a:t>
            </a:r>
          </a:p>
          <a:p xmlns:a="http://schemas.openxmlformats.org/drawingml/2006/main">
            <a:r>
              <a:t>    "period": "운영 적용",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"신호 운영 최적화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 흐름 분석과 AI 권고를 도시 교통기술자의 신호 운영 검토에 제공",</a:t>
            </a:r>
          </a:p>
          <a:p xmlns:a="http://schemas.openxmlformats.org/drawingml/2006/main">
            <a:r>
              <a:t>    "limit": "도시별 효과 차이 · 신호 변경 권한은 운영기관 소관",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"교통 흐름 데이터",</a:t>
            </a:r>
          </a:p>
          <a:p xmlns:a="http://schemas.openxmlformats.org/drawingml/2006/main">
            <a:r>
              <a:t>      "AI 개선 권고",</a:t>
            </a:r>
          </a:p>
          <a:p xmlns:a="http://schemas.openxmlformats.org/drawingml/2006/main">
            <a:r>
              <a:t>      "기술자 검토",</a:t>
            </a:r>
          </a:p>
          <a:p xmlns:a="http://schemas.openxmlformats.org/drawingml/2006/main">
            <a:r>
              <a:t>      "신호 운영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"지역·교차로·관할·개선 전후 지표 연결",</a:t>
            </a:r>
          </a:p>
          <a:p xmlns:a="http://schemas.openxmlformats.org/drawingml/2006/main">
            <a:r>
              <a:t>    "test": "동일 시간대·교통량 비교와 담당자 승인 확인",</a:t>
            </a:r>
          </a:p>
          <a:p xmlns:a="http://schemas.openxmlformats.org/drawingml/2006/main">
            <a:r>
              <a:t>    "metric": "정체·대기 지표 / 권고 채택률",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"ST-06",</a:t>
            </a:r>
          </a:p>
          <a:p xmlns:a="http://schemas.openxmlformats.org/drawingml/2006/main">
            <a:r>
              <a:t>      "ST-07",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"canonicalId": "AX11",</a:t>
            </a:r>
          </a:p>
          <a:p xmlns:a="http://schemas.openxmlformats.org/drawingml/2006/main">
            <a:r>
              <a:t>    "purpose": "신호 운영 검토를 위한 교통 흐름 분석",</a:t>
            </a:r>
          </a:p>
          <a:p xmlns:a="http://schemas.openxmlformats.org/drawingml/2006/main">
            <a:r>
              <a:t>    "users": "도시 교통기술자·운영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"신호 권고",</a:t>
            </a:r>
          </a:p>
          <a:p xmlns:a="http://schemas.openxmlformats.org/drawingml/2006/main">
            <a:r>
              <a:t>      "효과 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"교통 흐름 자료",</a:t>
            </a:r>
          </a:p>
          <a:p xmlns:a="http://schemas.openxmlformats.org/drawingml/2006/main">
            <a:r>
              <a:t>        "detail": "교차로·시간대·운영 조건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"교차로 흐름 / 신호 권고 / 효과 점검",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"신호 개선 권고",</a:t>
            </a:r>
          </a:p>
          <a:p xmlns:a="http://schemas.openxmlformats.org/drawingml/2006/main">
            <a:r>
              <a:t>        "detail": "정체·정지 패턴에 따른 신호 조정 후보",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"도시 교통기술자",</a:t>
            </a:r>
          </a:p>
          <a:p xmlns:a="http://schemas.openxmlformats.org/drawingml/2006/main">
            <a:r>
              <a:t>        "detail": "교통기술자의 검토 후 신호 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"교차로·교통 패턴",</a:t>
            </a:r>
          </a:p>
          <a:p xmlns:a="http://schemas.openxmlformats.org/drawingml/2006/main">
            <a:r>
              <a:t>        "detail": "교통 흐름·교차로·신호 운영자료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"변경 전후 교통지표와 안전 제약의 병행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"교통 흐름 데이터",</a:t>
            </a:r>
          </a:p>
          <a:p xmlns:a="http://schemas.openxmlformats.org/drawingml/2006/main">
            <a:r>
              <a:t>        "input": "교차로·시간대·운영 조건 지정",</a:t>
            </a:r>
          </a:p>
          <a:p xmlns:a="http://schemas.openxmlformats.org/drawingml/2006/main">
            <a:r>
              <a:t>        "process": "교통 흐름·교차로·신호 운영자료 정합화",</a:t>
            </a:r>
          </a:p>
          <a:p xmlns:a="http://schemas.openxmlformats.org/drawingml/2006/main">
            <a:r>
              <a:t>        "output": "교차로 흐름"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개선 권고",</a:t>
            </a:r>
          </a:p>
          <a:p xmlns:a="http://schemas.openxmlformats.org/drawingml/2006/main">
            <a:r>
              <a:t>        "input": "교차로 흐름",</a:t>
            </a:r>
          </a:p>
          <a:p xmlns:a="http://schemas.openxmlformats.org/drawingml/2006/main">
            <a:r>
              <a:t>        "process": "정체·정지 패턴에 따른 신호 조정 후보",</a:t>
            </a:r>
          </a:p>
          <a:p xmlns:a="http://schemas.openxmlformats.org/drawingml/2006/main">
            <a:r>
              <a:t>        "output": "정체 패턴"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"기술자 검토",</a:t>
            </a:r>
          </a:p>
          <a:p xmlns:a="http://schemas.openxmlformats.org/drawingml/2006/main">
            <a:r>
              <a:t>        "input": "정체 패턴",</a:t>
            </a:r>
          </a:p>
          <a:p xmlns:a="http://schemas.openxmlformats.org/drawingml/2006/main">
            <a:r>
              <a:t>        "process": "지역 제약·안전 조건 검토",</a:t>
            </a:r>
          </a:p>
          <a:p xmlns:a="http://schemas.openxmlformats.org/drawingml/2006/main">
            <a:r>
              <a:t>        "output": "신호 조정안"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"신호 운영 반영",</a:t>
            </a:r>
          </a:p>
          <a:p xmlns:a="http://schemas.openxmlformats.org/drawingml/2006/main">
            <a:r>
              <a:t>        "input": "신호 조정안",</a:t>
            </a:r>
          </a:p>
          <a:p xmlns:a="http://schemas.openxmlformats.org/drawingml/2006/main">
            <a:r>
              <a:t>        "process": "교통기술자의 검토 후 신호 계획 반영",</a:t>
            </a:r>
          </a:p>
          <a:p xmlns:a="http://schemas.openxmlformats.org/drawingml/2006/main">
            <a:r>
              <a:t>        "output": "기술자 적용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"교차로의 신호 조정 후보를 기술자가 현장 조건과 대조",</a:t>
            </a:r>
          </a:p>
          <a:p xmlns:a="http://schemas.openxmlformats.org/drawingml/2006/main">
            <a:r>
              <a:t>      "exception": "보행시간 부족·인접 교차로 정체·특수 행사일",</a:t>
            </a:r>
          </a:p>
          <a:p xmlns:a="http://schemas.openxmlformats.org/drawingml/2006/main">
            <a:r>
              <a:t>      "evidence": "변경 전후 지표와 보행·안전 제약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"도시 교통기술자·운영 담당",</a:t>
            </a:r>
          </a:p>
          <a:p xmlns:a="http://schemas.openxmlformats.org/drawingml/2006/main">
            <a:r>
              <a:t>          "processing": "교차로·시간대·운영 조건 지정",</a:t>
            </a:r>
          </a:p>
          <a:p xmlns:a="http://schemas.openxmlformats.org/drawingml/2006/main">
            <a:r>
              <a:t>          "output": "교차로 흐름"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"교차로·교통 패턴",</a:t>
            </a:r>
          </a:p>
          <a:p xmlns:a="http://schemas.openxmlformats.org/drawingml/2006/main">
            <a:r>
              <a:t>          "processing": "교통 흐름·교차로·신호 운영자료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"교차로 흐름",</a:t>
            </a:r>
          </a:p>
          <a:p xmlns:a="http://schemas.openxmlformats.org/drawingml/2006/main">
            <a:r>
              <a:t>          "processing": "정체·정지 패턴에 따른 신호 조정 후보",</a:t>
            </a:r>
          </a:p>
          <a:p xmlns:a="http://schemas.openxmlformats.org/drawingml/2006/main">
            <a:r>
              <a:t>          "output": "신호 조정안"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"신호 조정안",</a:t>
            </a:r>
          </a:p>
          <a:p xmlns:a="http://schemas.openxmlformats.org/drawingml/2006/main">
            <a:r>
              <a:t>          "processing": "교통기술자의 검토 후 신호 계획 반영",</a:t>
            </a:r>
          </a:p>
          <a:p xmlns:a="http://schemas.openxmlformats.org/drawingml/2006/main">
            <a:r>
              <a:t>          "output": "기술자 적용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"변경 전후 교통지표와 안전 제약의 병행 평가",</a:t>
            </a:r>
          </a:p>
          <a:p xmlns:a="http://schemas.openxmlformats.org/drawingml/2006/main">
            <a:r>
              <a:t>          "output":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"변경 전후 교통지표와 안전 제약의 병행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"S-AX11",</a:t>
            </a:r>
          </a:p>
          <a:p xmlns:a="http://schemas.openxmlformats.org/drawingml/2006/main">
            <a:r>
              <a:t>        "title": "Google Green Light · 개발기관 사업 소개 / 게시일 미표시",</a:t>
            </a:r>
          </a:p>
          <a:p xmlns:a="http://schemas.openxmlformats.org/drawingml/2006/main">
            <a:r>
              <a:t>        "url": "https://sites.research.google/greenlight/",</a:t>
            </a:r>
          </a:p>
          <a:p xmlns:a="http://schemas.openxmlformats.org/drawingml/2006/main">
            <a:r>
              <a:t>        "published": "운영 적용",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 교통 흐름을 분석해 신호 운영 개선안을 기술자에게 제공하는 사례. AI가 모든 교차로 신호를 직접 제어하는 방식으로 일반화하기보다 권고와 현장 적용의 연결에 주목.",</a:t>
            </a:r>
          </a:p>
          <a:p xmlns:a="http://schemas.openxmlformats.org/drawingml/2006/main">
            <a:r>
              <a:t>      "교차로·시간대별 흐름에서 정체·정지 패턴을 찾고 신호 조정 후보를 만드는 흐름. 지역 교통기술자가 보행자·긴급차량·현장 제약을 확인한 뒤 운영계획에 반영하는 CCK 적용 구조.",</a:t>
            </a:r>
          </a:p>
          <a:p xmlns:a="http://schemas.openxmlformats.org/drawingml/2006/main">
            <a:r>
              <a:t>      "관측 교차로의 결과를 다른 지역 성과로 그대로 환산하지 않는 비교. 변경 전후 교통지표, 안전 제약 위반, 권고 채택 여부와 실제 운영 반영시간을 함께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"신호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"도시 교통기술자·운영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"교차로·시간대",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"교차로·시간대·운영 조건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흐름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"교차로 흐름",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"신호 조정 후보",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"정체·정지 패턴에 따른 신호 조정 후보",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"지역·안전 제약",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 제약·안전 조건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"교통기술자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"교차로의 신호 조정 후보를 기술자가 현장 조건과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"신호계획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"교통기술자의 검토 후 신호 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전후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"변경 전후 교통지표와 안전 제약의 병행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"교통·신호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"교차로·교통 패턴",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"교차로 코드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"교통 흐름·교차로·신호 운영자료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"흐름·계획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"변경 전후 지표와 보행·안전 제약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"보행·긴급 제약",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"보행시간 부족·인접 교차로 정체·특수 행사일",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"교차로·시간대·운영 조건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"교차로 흐름",</a:t>
            </a:r>
          </a:p>
          <a:p xmlns:a="http://schemas.openxmlformats.org/drawingml/2006/main">
            <a:r>
              <a:t>          "check": "지역 제약·안전 조건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"정체 패턴",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"보행시간 부족·인접 교차로 정체·특수 행사일"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"교통기술자의 검토 후 신호 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"기술자 적용 결과",</a:t>
            </a:r>
          </a:p>
          <a:p xmlns:a="http://schemas.openxmlformats.org/drawingml/2006/main">
            <a:r>
              <a:t>          "check":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"신호 운영 검토를 위한 교통 흐름 분석 / 교차로 흐름·신호 권고·효과 점검",</a:t>
            </a:r>
          </a:p>
          <a:p xmlns:a="http://schemas.openxmlformats.org/drawingml/2006/main">
            <a:r>
              <a:t>        "extension": "TS 분석·점검 의견을 지자체 소관 업무로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"보행시간 부족·인접 교차로 정체·특수 행사일",</a:t>
            </a:r>
          </a:p>
          <a:p xmlns:a="http://schemas.openxmlformats.org/drawingml/2006/main">
            <a:r>
              <a:t>        "hold": "지역 제약·안전 조건 검토",</a:t>
            </a:r>
          </a:p>
          <a:p xmlns:a="http://schemas.openxmlformats.org/drawingml/2006/main">
            <a:r>
              <a:t>        "recovery": "변경 전후 교통지표와 안전 제약의 병행 평가",</a:t>
            </a:r>
          </a:p>
          <a:p xmlns:a="http://schemas.openxmlformats.org/drawingml/2006/main">
            <a:r>
              <a:t>        "evidence": "변경 전후 지표와 보행·안전 제약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"교차로·교통 패턴",</a:t>
            </a:r>
          </a:p>
          <a:p xmlns:a="http://schemas.openxmlformats.org/drawingml/2006/main">
            <a:r>
              <a:t>        "prepare": "교통 흐름·교차로·신호 운영자료 정합화",</a:t>
            </a:r>
          </a:p>
          <a:p xmlns:a="http://schemas.openxmlformats.org/drawingml/2006/main">
            <a:r>
              <a:t>        "output": "교차로 흐름",</a:t>
            </a:r>
          </a:p>
          <a:p xmlns:a="http://schemas.openxmlformats.org/drawingml/2006/main">
            <a:r>
              <a:t>        "refresh": "변경 전후 교통지표와 안전 제약의 병행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신호 운영에 개선 권고 제공",</a:t>
            </a:r>
          </a:p>
          <a:p xmlns:a="http://schemas.openxmlformats.org/drawingml/2006/main">
            <a:r>
              <a:t>      "도시 기술자의 검토 후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교차로 외 일반화 위험",</a:t>
            </a:r>
          </a:p>
          <a:p xmlns:a="http://schemas.openxmlformats.org/drawingml/2006/main">
            <a:r>
              <a:t>      "보행자·긴급차량 조건 누락 가능성"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"교통 흐름 자료",</a:t>
            </a:r>
          </a:p>
          <a:p xmlns:a="http://schemas.openxmlformats.org/drawingml/2006/main">
            <a:r>
              <a:t>      "신호 개선 권고",</a:t>
            </a:r>
          </a:p>
          <a:p xmlns:a="http://schemas.openxmlformats.org/drawingml/2006/main">
            <a:r>
              <a:t>      "교차로·교통 패턴",</a:t>
            </a:r>
          </a:p>
          <a:p xmlns:a="http://schemas.openxmlformats.org/drawingml/2006/main">
            <a:r>
              <a:t>      "도시 교통기술자"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"정체 패턴",</a:t>
            </a:r>
          </a:p>
          <a:p xmlns:a="http://schemas.openxmlformats.org/drawingml/2006/main">
            <a:r>
              <a:t>      "신호 조정안",</a:t>
            </a:r>
          </a:p>
          <a:p xmlns:a="http://schemas.openxmlformats.org/drawingml/2006/main">
            <a:r>
              <a:t>      "기술자 적용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 제약·안전 조건 검토",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Green Light · 개발기관 사업 소개 / 게시일 미표시 https://sites.research.google/greenlight/</a:t>
            </a:r>
          </a:p>
          <a:p xmlns:a="http://schemas.openxmlformats.org/drawingml/2006/main">
            <a:r>
              <a:t>홈페이지 https://heen1987-ops.github.io/TS-business-Plan-001/index.html?view=casebook&amp;case=AX11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"title": "Google Green Light",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"신호 운영 최적화 지원",</a:t>
            </a:r>
          </a:p>
          <a:p xmlns:a="http://schemas.openxmlformats.org/drawingml/2006/main">
            <a:r>
              <a:t>    "period": "운영 적용",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"신호 운영 최적화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 흐름 분석과 AI 권고를 도시 교통기술자의 신호 운영 검토에 제공",</a:t>
            </a:r>
          </a:p>
          <a:p xmlns:a="http://schemas.openxmlformats.org/drawingml/2006/main">
            <a:r>
              <a:t>    "limit": "도시별 효과 차이 · 신호 변경 권한은 운영기관 소관",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"교통 흐름 데이터",</a:t>
            </a:r>
          </a:p>
          <a:p xmlns:a="http://schemas.openxmlformats.org/drawingml/2006/main">
            <a:r>
              <a:t>      "AI 개선 권고",</a:t>
            </a:r>
          </a:p>
          <a:p xmlns:a="http://schemas.openxmlformats.org/drawingml/2006/main">
            <a:r>
              <a:t>      "기술자 검토",</a:t>
            </a:r>
          </a:p>
          <a:p xmlns:a="http://schemas.openxmlformats.org/drawingml/2006/main">
            <a:r>
              <a:t>      "신호 운영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"지역·교차로·관할·개선 전후 지표 연결",</a:t>
            </a:r>
          </a:p>
          <a:p xmlns:a="http://schemas.openxmlformats.org/drawingml/2006/main">
            <a:r>
              <a:t>    "test": "동일 시간대·교통량 비교와 담당자 승인 확인",</a:t>
            </a:r>
          </a:p>
          <a:p xmlns:a="http://schemas.openxmlformats.org/drawingml/2006/main">
            <a:r>
              <a:t>    "metric": "정체·대기 지표 / 권고 채택률",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"ST-06",</a:t>
            </a:r>
          </a:p>
          <a:p xmlns:a="http://schemas.openxmlformats.org/drawingml/2006/main">
            <a:r>
              <a:t>      "ST-07",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"canonicalId": "AX11",</a:t>
            </a:r>
          </a:p>
          <a:p xmlns:a="http://schemas.openxmlformats.org/drawingml/2006/main">
            <a:r>
              <a:t>    "purpose": "신호 운영 검토를 위한 교통 흐름 분석",</a:t>
            </a:r>
          </a:p>
          <a:p xmlns:a="http://schemas.openxmlformats.org/drawingml/2006/main">
            <a:r>
              <a:t>    "users": "도시 교통기술자·운영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"신호 권고",</a:t>
            </a:r>
          </a:p>
          <a:p xmlns:a="http://schemas.openxmlformats.org/drawingml/2006/main">
            <a:r>
              <a:t>      "효과 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"교통 흐름 자료",</a:t>
            </a:r>
          </a:p>
          <a:p xmlns:a="http://schemas.openxmlformats.org/drawingml/2006/main">
            <a:r>
              <a:t>        "detail": "교차로·시간대·운영 조건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"교차로 흐름 / 신호 권고 / 효과 점검",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"신호 개선 권고",</a:t>
            </a:r>
          </a:p>
          <a:p xmlns:a="http://schemas.openxmlformats.org/drawingml/2006/main">
            <a:r>
              <a:t>        "detail": "정체·정지 패턴에 따른 신호 조정 후보",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"도시 교통기술자",</a:t>
            </a:r>
          </a:p>
          <a:p xmlns:a="http://schemas.openxmlformats.org/drawingml/2006/main">
            <a:r>
              <a:t>        "detail": "교통기술자의 검토 후 신호 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"교차로·교통 패턴",</a:t>
            </a:r>
          </a:p>
          <a:p xmlns:a="http://schemas.openxmlformats.org/drawingml/2006/main">
            <a:r>
              <a:t>        "detail": "교통 흐름·교차로·신호 운영자료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"변경 전후 교통지표와 안전 제약의 병행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"교통 흐름 데이터",</a:t>
            </a:r>
          </a:p>
          <a:p xmlns:a="http://schemas.openxmlformats.org/drawingml/2006/main">
            <a:r>
              <a:t>        "input": "교차로·시간대·운영 조건 지정",</a:t>
            </a:r>
          </a:p>
          <a:p xmlns:a="http://schemas.openxmlformats.org/drawingml/2006/main">
            <a:r>
              <a:t>        "process": "교통 흐름·교차로·신호 운영자료 정합화",</a:t>
            </a:r>
          </a:p>
          <a:p xmlns:a="http://schemas.openxmlformats.org/drawingml/2006/main">
            <a:r>
              <a:t>        "output": "교차로 흐름"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개선 권고",</a:t>
            </a:r>
          </a:p>
          <a:p xmlns:a="http://schemas.openxmlformats.org/drawingml/2006/main">
            <a:r>
              <a:t>        "input": "교차로 흐름",</a:t>
            </a:r>
          </a:p>
          <a:p xmlns:a="http://schemas.openxmlformats.org/drawingml/2006/main">
            <a:r>
              <a:t>        "process": "정체·정지 패턴에 따른 신호 조정 후보",</a:t>
            </a:r>
          </a:p>
          <a:p xmlns:a="http://schemas.openxmlformats.org/drawingml/2006/main">
            <a:r>
              <a:t>        "output": "정체 패턴"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"기술자 검토",</a:t>
            </a:r>
          </a:p>
          <a:p xmlns:a="http://schemas.openxmlformats.org/drawingml/2006/main">
            <a:r>
              <a:t>        "input": "정체 패턴",</a:t>
            </a:r>
          </a:p>
          <a:p xmlns:a="http://schemas.openxmlformats.org/drawingml/2006/main">
            <a:r>
              <a:t>        "process": "지역 제약·안전 조건 검토",</a:t>
            </a:r>
          </a:p>
          <a:p xmlns:a="http://schemas.openxmlformats.org/drawingml/2006/main">
            <a:r>
              <a:t>        "output": "신호 조정안"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"신호 운영 반영",</a:t>
            </a:r>
          </a:p>
          <a:p xmlns:a="http://schemas.openxmlformats.org/drawingml/2006/main">
            <a:r>
              <a:t>        "input": "신호 조정안",</a:t>
            </a:r>
          </a:p>
          <a:p xmlns:a="http://schemas.openxmlformats.org/drawingml/2006/main">
            <a:r>
              <a:t>        "process": "교통기술자의 검토 후 신호 계획 반영",</a:t>
            </a:r>
          </a:p>
          <a:p xmlns:a="http://schemas.openxmlformats.org/drawingml/2006/main">
            <a:r>
              <a:t>        "output": "기술자 적용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"교차로의 신호 조정 후보를 기술자가 현장 조건과 대조",</a:t>
            </a:r>
          </a:p>
          <a:p xmlns:a="http://schemas.openxmlformats.org/drawingml/2006/main">
            <a:r>
              <a:t>      "exception": "보행시간 부족·인접 교차로 정체·특수 행사일",</a:t>
            </a:r>
          </a:p>
          <a:p xmlns:a="http://schemas.openxmlformats.org/drawingml/2006/main">
            <a:r>
              <a:t>      "evidence": "변경 전후 지표와 보행·안전 제약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"도시 교통기술자·운영 담당",</a:t>
            </a:r>
          </a:p>
          <a:p xmlns:a="http://schemas.openxmlformats.org/drawingml/2006/main">
            <a:r>
              <a:t>          "processing": "교차로·시간대·운영 조건 지정",</a:t>
            </a:r>
          </a:p>
          <a:p xmlns:a="http://schemas.openxmlformats.org/drawingml/2006/main">
            <a:r>
              <a:t>          "output": "교차로 흐름"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"교차로·교통 패턴",</a:t>
            </a:r>
          </a:p>
          <a:p xmlns:a="http://schemas.openxmlformats.org/drawingml/2006/main">
            <a:r>
              <a:t>          "processing": "교통 흐름·교차로·신호 운영자료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"교차로 흐름",</a:t>
            </a:r>
          </a:p>
          <a:p xmlns:a="http://schemas.openxmlformats.org/drawingml/2006/main">
            <a:r>
              <a:t>          "processing": "정체·정지 패턴에 따른 신호 조정 후보",</a:t>
            </a:r>
          </a:p>
          <a:p xmlns:a="http://schemas.openxmlformats.org/drawingml/2006/main">
            <a:r>
              <a:t>          "output": "신호 조정안"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"신호 조정안",</a:t>
            </a:r>
          </a:p>
          <a:p xmlns:a="http://schemas.openxmlformats.org/drawingml/2006/main">
            <a:r>
              <a:t>          "processing": "교통기술자의 검토 후 신호 계획 반영",</a:t>
            </a:r>
          </a:p>
          <a:p xmlns:a="http://schemas.openxmlformats.org/drawingml/2006/main">
            <a:r>
              <a:t>          "output": "기술자 적용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"변경 전후 교통지표와 안전 제약의 병행 평가",</a:t>
            </a:r>
          </a:p>
          <a:p xmlns:a="http://schemas.openxmlformats.org/drawingml/2006/main">
            <a:r>
              <a:t>          "output":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"변경 전후 교통지표와 안전 제약의 병행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"S-AX11",</a:t>
            </a:r>
          </a:p>
          <a:p xmlns:a="http://schemas.openxmlformats.org/drawingml/2006/main">
            <a:r>
              <a:t>        "title": "Google Green Light · 개발기관 사업 소개 / 게시일 미표시",</a:t>
            </a:r>
          </a:p>
          <a:p xmlns:a="http://schemas.openxmlformats.org/drawingml/2006/main">
            <a:r>
              <a:t>        "url": "https://sites.research.google/greenlight/",</a:t>
            </a:r>
          </a:p>
          <a:p xmlns:a="http://schemas.openxmlformats.org/drawingml/2006/main">
            <a:r>
              <a:t>        "published": "운영 적용",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 교통 흐름을 분석해 신호 운영 개선안을 기술자에게 제공하는 사례. AI가 모든 교차로 신호를 직접 제어하는 방식으로 일반화하기보다 권고와 현장 적용의 연결에 주목.",</a:t>
            </a:r>
          </a:p>
          <a:p xmlns:a="http://schemas.openxmlformats.org/drawingml/2006/main">
            <a:r>
              <a:t>      "교차로·시간대별 흐름에서 정체·정지 패턴을 찾고 신호 조정 후보를 만드는 흐름. 지역 교통기술자가 보행자·긴급차량·현장 제약을 확인한 뒤 운영계획에 반영하는 CCK 적용 구조.",</a:t>
            </a:r>
          </a:p>
          <a:p xmlns:a="http://schemas.openxmlformats.org/drawingml/2006/main">
            <a:r>
              <a:t>      "관측 교차로의 결과를 다른 지역 성과로 그대로 환산하지 않는 비교. 변경 전후 교통지표, 안전 제약 위반, 권고 채택 여부와 실제 운영 반영시간을 함께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"신호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"도시 교통기술자·운영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"교차로·시간대",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"교차로·시간대·운영 조건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흐름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"교차로 흐름",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"신호 조정 후보",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"정체·정지 패턴에 따른 신호 조정 후보",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"지역·안전 제약",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 제약·안전 조건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"교통기술자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"교차로의 신호 조정 후보를 기술자가 현장 조건과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"신호계획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"교통기술자의 검토 후 신호 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전후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"변경 전후 교통지표와 안전 제약의 병행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"교통·신호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"교차로·교통 패턴",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"교차로 코드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"교통 흐름·교차로·신호 운영자료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"흐름·계획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"변경 전후 지표와 보행·안전 제약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"보행·긴급 제약",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"보행시간 부족·인접 교차로 정체·특수 행사일",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"교차로·시간대·운영 조건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"교차로 흐름",</a:t>
            </a:r>
          </a:p>
          <a:p xmlns:a="http://schemas.openxmlformats.org/drawingml/2006/main">
            <a:r>
              <a:t>          "check": "지역 제약·안전 조건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"정체 패턴",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"보행시간 부족·인접 교차로 정체·특수 행사일"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"교통기술자의 검토 후 신호 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"기술자 적용 결과",</a:t>
            </a:r>
          </a:p>
          <a:p xmlns:a="http://schemas.openxmlformats.org/drawingml/2006/main">
            <a:r>
              <a:t>          "check":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"신호 운영 검토를 위한 교통 흐름 분석 / 교차로 흐름·신호 권고·효과 점검",</a:t>
            </a:r>
          </a:p>
          <a:p xmlns:a="http://schemas.openxmlformats.org/drawingml/2006/main">
            <a:r>
              <a:t>        "extension": "TS 분석·점검 의견을 지자체 소관 업무로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"보행시간 부족·인접 교차로 정체·특수 행사일",</a:t>
            </a:r>
          </a:p>
          <a:p xmlns:a="http://schemas.openxmlformats.org/drawingml/2006/main">
            <a:r>
              <a:t>        "hold": "지역 제약·안전 조건 검토",</a:t>
            </a:r>
          </a:p>
          <a:p xmlns:a="http://schemas.openxmlformats.org/drawingml/2006/main">
            <a:r>
              <a:t>        "recovery": "변경 전후 교통지표와 안전 제약의 병행 평가",</a:t>
            </a:r>
          </a:p>
          <a:p xmlns:a="http://schemas.openxmlformats.org/drawingml/2006/main">
            <a:r>
              <a:t>        "evidence": "변경 전후 지표와 보행·안전 제약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"교차로·교통 패턴",</a:t>
            </a:r>
          </a:p>
          <a:p xmlns:a="http://schemas.openxmlformats.org/drawingml/2006/main">
            <a:r>
              <a:t>        "prepare": "교통 흐름·교차로·신호 운영자료 정합화",</a:t>
            </a:r>
          </a:p>
          <a:p xmlns:a="http://schemas.openxmlformats.org/drawingml/2006/main">
            <a:r>
              <a:t>        "output": "교차로 흐름",</a:t>
            </a:r>
          </a:p>
          <a:p xmlns:a="http://schemas.openxmlformats.org/drawingml/2006/main">
            <a:r>
              <a:t>        "refresh": "변경 전후 교통지표와 안전 제약의 병행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신호 운영에 개선 권고 제공",</a:t>
            </a:r>
          </a:p>
          <a:p xmlns:a="http://schemas.openxmlformats.org/drawingml/2006/main">
            <a:r>
              <a:t>      "도시 기술자의 검토 후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교차로 외 일반화 위험",</a:t>
            </a:r>
          </a:p>
          <a:p xmlns:a="http://schemas.openxmlformats.org/drawingml/2006/main">
            <a:r>
              <a:t>      "보행자·긴급차량 조건 누락 가능성"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"교통 흐름 자료",</a:t>
            </a:r>
          </a:p>
          <a:p xmlns:a="http://schemas.openxmlformats.org/drawingml/2006/main">
            <a:r>
              <a:t>      "신호 개선 권고",</a:t>
            </a:r>
          </a:p>
          <a:p xmlns:a="http://schemas.openxmlformats.org/drawingml/2006/main">
            <a:r>
              <a:t>      "교차로·교통 패턴",</a:t>
            </a:r>
          </a:p>
          <a:p xmlns:a="http://schemas.openxmlformats.org/drawingml/2006/main">
            <a:r>
              <a:t>      "도시 교통기술자"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"정체 패턴",</a:t>
            </a:r>
          </a:p>
          <a:p xmlns:a="http://schemas.openxmlformats.org/drawingml/2006/main">
            <a:r>
              <a:t>      "신호 조정안",</a:t>
            </a:r>
          </a:p>
          <a:p xmlns:a="http://schemas.openxmlformats.org/drawingml/2006/main">
            <a:r>
              <a:t>      "기술자 적용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 제약·안전 조건 검토",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Green Light · 개발기관 사업 소개 / 게시일 미표시 https://sites.research.google/greenlight/</a:t>
            </a:r>
          </a:p>
          <a:p xmlns:a="http://schemas.openxmlformats.org/drawingml/2006/main">
            <a:r>
              <a:t>홈페이지 https://heen1987-ops.github.io/TS-business-Plan-001/index.html?view=casebook&amp;case=AX11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"title": "Google Green Light",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"신호 운영 최적화 지원",</a:t>
            </a:r>
          </a:p>
          <a:p xmlns:a="http://schemas.openxmlformats.org/drawingml/2006/main">
            <a:r>
              <a:t>    "period": "운영 적용",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"신호 운영 최적화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 흐름 분석과 AI 권고를 도시 교통기술자의 신호 운영 검토에 제공",</a:t>
            </a:r>
          </a:p>
          <a:p xmlns:a="http://schemas.openxmlformats.org/drawingml/2006/main">
            <a:r>
              <a:t>    "limit": "도시별 효과 차이 · 신호 변경 권한은 운영기관 소관",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"교통 흐름 데이터",</a:t>
            </a:r>
          </a:p>
          <a:p xmlns:a="http://schemas.openxmlformats.org/drawingml/2006/main">
            <a:r>
              <a:t>      "AI 개선 권고",</a:t>
            </a:r>
          </a:p>
          <a:p xmlns:a="http://schemas.openxmlformats.org/drawingml/2006/main">
            <a:r>
              <a:t>      "기술자 검토",</a:t>
            </a:r>
          </a:p>
          <a:p xmlns:a="http://schemas.openxmlformats.org/drawingml/2006/main">
            <a:r>
              <a:t>      "신호 운영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"지역·교차로·관할·개선 전후 지표 연결",</a:t>
            </a:r>
          </a:p>
          <a:p xmlns:a="http://schemas.openxmlformats.org/drawingml/2006/main">
            <a:r>
              <a:t>    "test": "동일 시간대·교통량 비교와 담당자 승인 확인",</a:t>
            </a:r>
          </a:p>
          <a:p xmlns:a="http://schemas.openxmlformats.org/drawingml/2006/main">
            <a:r>
              <a:t>    "metric": "정체·대기 지표 / 권고 채택률",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"ST-06",</a:t>
            </a:r>
          </a:p>
          <a:p xmlns:a="http://schemas.openxmlformats.org/drawingml/2006/main">
            <a:r>
              <a:t>      "ST-07",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"canonicalId": "AX11",</a:t>
            </a:r>
          </a:p>
          <a:p xmlns:a="http://schemas.openxmlformats.org/drawingml/2006/main">
            <a:r>
              <a:t>    "purpose": "신호 운영 검토를 위한 교통 흐름 분석",</a:t>
            </a:r>
          </a:p>
          <a:p xmlns:a="http://schemas.openxmlformats.org/drawingml/2006/main">
            <a:r>
              <a:t>    "users": "도시 교통기술자·운영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"신호 권고",</a:t>
            </a:r>
          </a:p>
          <a:p xmlns:a="http://schemas.openxmlformats.org/drawingml/2006/main">
            <a:r>
              <a:t>      "효과 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"교통 흐름 자료",</a:t>
            </a:r>
          </a:p>
          <a:p xmlns:a="http://schemas.openxmlformats.org/drawingml/2006/main">
            <a:r>
              <a:t>        "detail": "교차로·시간대·운영 조건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"교차로 흐름 / 신호 권고 / 효과 점검",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"신호 개선 권고",</a:t>
            </a:r>
          </a:p>
          <a:p xmlns:a="http://schemas.openxmlformats.org/drawingml/2006/main">
            <a:r>
              <a:t>        "detail": "정체·정지 패턴에 따른 신호 조정 후보",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"도시 교통기술자",</a:t>
            </a:r>
          </a:p>
          <a:p xmlns:a="http://schemas.openxmlformats.org/drawingml/2006/main">
            <a:r>
              <a:t>        "detail": "교통기술자의 검토 후 신호 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"교차로·교통 패턴",</a:t>
            </a:r>
          </a:p>
          <a:p xmlns:a="http://schemas.openxmlformats.org/drawingml/2006/main">
            <a:r>
              <a:t>        "detail": "교통 흐름·교차로·신호 운영자료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"변경 전후 교통지표와 안전 제약의 병행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"교통 흐름 데이터",</a:t>
            </a:r>
          </a:p>
          <a:p xmlns:a="http://schemas.openxmlformats.org/drawingml/2006/main">
            <a:r>
              <a:t>        "input": "교차로·시간대·운영 조건 지정",</a:t>
            </a:r>
          </a:p>
          <a:p xmlns:a="http://schemas.openxmlformats.org/drawingml/2006/main">
            <a:r>
              <a:t>        "process": "교통 흐름·교차로·신호 운영자료 정합화",</a:t>
            </a:r>
          </a:p>
          <a:p xmlns:a="http://schemas.openxmlformats.org/drawingml/2006/main">
            <a:r>
              <a:t>        "output": "교차로 흐름"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개선 권고",</a:t>
            </a:r>
          </a:p>
          <a:p xmlns:a="http://schemas.openxmlformats.org/drawingml/2006/main">
            <a:r>
              <a:t>        "input": "교차로 흐름",</a:t>
            </a:r>
          </a:p>
          <a:p xmlns:a="http://schemas.openxmlformats.org/drawingml/2006/main">
            <a:r>
              <a:t>        "process": "정체·정지 패턴에 따른 신호 조정 후보",</a:t>
            </a:r>
          </a:p>
          <a:p xmlns:a="http://schemas.openxmlformats.org/drawingml/2006/main">
            <a:r>
              <a:t>        "output": "정체 패턴"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"기술자 검토",</a:t>
            </a:r>
          </a:p>
          <a:p xmlns:a="http://schemas.openxmlformats.org/drawingml/2006/main">
            <a:r>
              <a:t>        "input": "정체 패턴",</a:t>
            </a:r>
          </a:p>
          <a:p xmlns:a="http://schemas.openxmlformats.org/drawingml/2006/main">
            <a:r>
              <a:t>        "process": "지역 제약·안전 조건 검토",</a:t>
            </a:r>
          </a:p>
          <a:p xmlns:a="http://schemas.openxmlformats.org/drawingml/2006/main">
            <a:r>
              <a:t>        "output": "신호 조정안"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"신호 운영 반영",</a:t>
            </a:r>
          </a:p>
          <a:p xmlns:a="http://schemas.openxmlformats.org/drawingml/2006/main">
            <a:r>
              <a:t>        "input": "신호 조정안",</a:t>
            </a:r>
          </a:p>
          <a:p xmlns:a="http://schemas.openxmlformats.org/drawingml/2006/main">
            <a:r>
              <a:t>        "process": "교통기술자의 검토 후 신호 계획 반영",</a:t>
            </a:r>
          </a:p>
          <a:p xmlns:a="http://schemas.openxmlformats.org/drawingml/2006/main">
            <a:r>
              <a:t>        "output": "기술자 적용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"교차로의 신호 조정 후보를 기술자가 현장 조건과 대조",</a:t>
            </a:r>
          </a:p>
          <a:p xmlns:a="http://schemas.openxmlformats.org/drawingml/2006/main">
            <a:r>
              <a:t>      "exception": "보행시간 부족·인접 교차로 정체·특수 행사일",</a:t>
            </a:r>
          </a:p>
          <a:p xmlns:a="http://schemas.openxmlformats.org/drawingml/2006/main">
            <a:r>
              <a:t>      "evidence": "변경 전후 지표와 보행·안전 제약 확인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"도시 교통기술자·운영 담당",</a:t>
            </a:r>
          </a:p>
          <a:p xmlns:a="http://schemas.openxmlformats.org/drawingml/2006/main">
            <a:r>
              <a:t>          "processing": "교차로·시간대·운영 조건 지정",</a:t>
            </a:r>
          </a:p>
          <a:p xmlns:a="http://schemas.openxmlformats.org/drawingml/2006/main">
            <a:r>
              <a:t>          "output": "교차로 흐름"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"교차로·교통 패턴",</a:t>
            </a:r>
          </a:p>
          <a:p xmlns:a="http://schemas.openxmlformats.org/drawingml/2006/main">
            <a:r>
              <a:t>          "processing": "교통 흐름·교차로·신호 운영자료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"교차로 흐름",</a:t>
            </a:r>
          </a:p>
          <a:p xmlns:a="http://schemas.openxmlformats.org/drawingml/2006/main">
            <a:r>
              <a:t>          "processing": "정체·정지 패턴에 따른 신호 조정 후보",</a:t>
            </a:r>
          </a:p>
          <a:p xmlns:a="http://schemas.openxmlformats.org/drawingml/2006/main">
            <a:r>
              <a:t>          "output": "신호 조정안"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"신호 조정안",</a:t>
            </a:r>
          </a:p>
          <a:p xmlns:a="http://schemas.openxmlformats.org/drawingml/2006/main">
            <a:r>
              <a:t>          "processing": "교통기술자의 검토 후 신호 계획 반영",</a:t>
            </a:r>
          </a:p>
          <a:p xmlns:a="http://schemas.openxmlformats.org/drawingml/2006/main">
            <a:r>
              <a:t>          "output": "기술자 적용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"변경 전후 교통지표와 안전 제약의 병행 평가",</a:t>
            </a:r>
          </a:p>
          <a:p xmlns:a="http://schemas.openxmlformats.org/drawingml/2006/main">
            <a:r>
              <a:t>          "output":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"변경 전후 교통지표와 안전 제약의 병행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"S-AX11",</a:t>
            </a:r>
          </a:p>
          <a:p xmlns:a="http://schemas.openxmlformats.org/drawingml/2006/main">
            <a:r>
              <a:t>        "title": "Google Green Light · 개발기관 사업 소개 / 게시일 미표시",</a:t>
            </a:r>
          </a:p>
          <a:p xmlns:a="http://schemas.openxmlformats.org/drawingml/2006/main">
            <a:r>
              <a:t>        "url": "https://sites.research.google/greenlight/",</a:t>
            </a:r>
          </a:p>
          <a:p xmlns:a="http://schemas.openxmlformats.org/drawingml/2006/main">
            <a:r>
              <a:t>        "published": "운영 적용",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"권고와 현장 실행 권한의 분리",</a:t>
            </a:r>
          </a:p>
          <a:p xmlns:a="http://schemas.openxmlformats.org/drawingml/2006/main">
            <a:r>
              <a:t>    "local": "TS 분석·점검 의견을 지자체 소관 업무로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 교통 흐름을 분석해 신호 운영 개선안을 기술자에게 제공하는 사례. AI가 모든 교차로 신호를 직접 제어하는 방식으로 일반화하기보다 권고와 현장 적용의 연결에 주목.",</a:t>
            </a:r>
          </a:p>
          <a:p xmlns:a="http://schemas.openxmlformats.org/drawingml/2006/main">
            <a:r>
              <a:t>      "교차로·시간대별 흐름에서 정체·정지 패턴을 찾고 신호 조정 후보를 만드는 흐름. 지역 교통기술자가 보행자·긴급차량·현장 제약을 확인한 뒤 운영계획에 반영하는 CCK 적용 구조.",</a:t>
            </a:r>
          </a:p>
          <a:p xmlns:a="http://schemas.openxmlformats.org/drawingml/2006/main">
            <a:r>
              <a:t>      "관측 교차로의 결과를 다른 지역 성과로 그대로 환산하지 않는 비교. 변경 전후 교통지표, 안전 제약 위반, 권고 채택 여부와 실제 운영 반영시간을 함께 검수할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"신호 검토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"도시 교통기술자·운영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"교차로·시간대",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"교차로·시간대·운영 조건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흐름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"교차로 흐름",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"신호 조정 후보",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"정체·정지 패턴에 따른 신호 조정 후보",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"지역·안전 제약",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 제약·안전 조건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"교통기술자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"교차로의 신호 조정 후보를 기술자가 현장 조건과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"신호계획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"교통기술자의 검토 후 신호 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전후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"변경 전후 교통지표와 안전 제약의 병행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"교통·신호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"교차로·교통 패턴",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"교차로 코드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"교통 흐름·교차로·신호 운영자료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"흐름·계획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"변경 전후 지표와 보행·안전 제약 확인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"보행·긴급 제약",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"보행시간 부족·인접 교차로 정체·특수 행사일",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"교차로·시간대·운영 조건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"교차로 흐름",</a:t>
            </a:r>
          </a:p>
          <a:p xmlns:a="http://schemas.openxmlformats.org/drawingml/2006/main">
            <a:r>
              <a:t>          "check": "지역 제약·안전 조건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"정체 패턴",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"보행시간 부족·인접 교차로 정체·특수 행사일"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"신호 조정안",</a:t>
            </a:r>
          </a:p>
          <a:p xmlns:a="http://schemas.openxmlformats.org/drawingml/2006/main">
            <a:r>
              <a:t>          "check": "교통기술자의 검토 후 신호 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"기술자 적용 결과",</a:t>
            </a:r>
          </a:p>
          <a:p xmlns:a="http://schemas.openxmlformats.org/drawingml/2006/main">
            <a:r>
              <a:t>          "check": "변경 전후 지표와 보행·안전 제약 확인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"신호 운영 검토를 위한 교통 흐름 분석 / 교차로 흐름·신호 권고·효과 점검",</a:t>
            </a:r>
          </a:p>
          <a:p xmlns:a="http://schemas.openxmlformats.org/drawingml/2006/main">
            <a:r>
              <a:t>        "extension": "TS 분석·점검 의견을 지자체 소관 업무로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"보행시간 부족·인접 교차로 정체·특수 행사일",</a:t>
            </a:r>
          </a:p>
          <a:p xmlns:a="http://schemas.openxmlformats.org/drawingml/2006/main">
            <a:r>
              <a:t>        "hold": "지역 제약·안전 조건 검토",</a:t>
            </a:r>
          </a:p>
          <a:p xmlns:a="http://schemas.openxmlformats.org/drawingml/2006/main">
            <a:r>
              <a:t>        "recovery": "변경 전후 교통지표와 안전 제약의 병행 평가",</a:t>
            </a:r>
          </a:p>
          <a:p xmlns:a="http://schemas.openxmlformats.org/drawingml/2006/main">
            <a:r>
              <a:t>        "evidence": "변경 전후 지표와 보행·안전 제약 확인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"교차로·교통 패턴",</a:t>
            </a:r>
          </a:p>
          <a:p xmlns:a="http://schemas.openxmlformats.org/drawingml/2006/main">
            <a:r>
              <a:t>        "prepare": "교통 흐름·교차로·신호 운영자료 정합화",</a:t>
            </a:r>
          </a:p>
          <a:p xmlns:a="http://schemas.openxmlformats.org/drawingml/2006/main">
            <a:r>
              <a:t>        "output": "교차로 흐름",</a:t>
            </a:r>
          </a:p>
          <a:p xmlns:a="http://schemas.openxmlformats.org/drawingml/2006/main">
            <a:r>
              <a:t>        "refresh": "변경 전후 교통지표와 안전 제약의 병행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"기존 신호 운영에 개선 권고 제공",</a:t>
            </a:r>
          </a:p>
          <a:p xmlns:a="http://schemas.openxmlformats.org/drawingml/2006/main">
            <a:r>
              <a:t>      "도시 기술자의 검토 후 반영"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교차로 외 일반화 위험",</a:t>
            </a:r>
          </a:p>
          <a:p xmlns:a="http://schemas.openxmlformats.org/drawingml/2006/main">
            <a:r>
              <a:t>      "보행자·긴급차량 조건 누락 가능성"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"교통 흐름 자료",</a:t>
            </a:r>
          </a:p>
          <a:p xmlns:a="http://schemas.openxmlformats.org/drawingml/2006/main">
            <a:r>
              <a:t>      "신호 개선 권고",</a:t>
            </a:r>
          </a:p>
          <a:p xmlns:a="http://schemas.openxmlformats.org/drawingml/2006/main">
            <a:r>
              <a:t>      "교차로·교통 패턴",</a:t>
            </a:r>
          </a:p>
          <a:p xmlns:a="http://schemas.openxmlformats.org/drawingml/2006/main">
            <a:r>
              <a:t>      "도시 교통기술자"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"교차로 흐름",</a:t>
            </a:r>
          </a:p>
          <a:p xmlns:a="http://schemas.openxmlformats.org/drawingml/2006/main">
            <a:r>
              <a:t>      "정체 패턴",</a:t>
            </a:r>
          </a:p>
          <a:p xmlns:a="http://schemas.openxmlformats.org/drawingml/2006/main">
            <a:r>
              <a:t>      "신호 조정안",</a:t>
            </a:r>
          </a:p>
          <a:p xmlns:a="http://schemas.openxmlformats.org/drawingml/2006/main">
            <a:r>
              <a:t>      "기술자 적용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 제약·안전 조건 검토",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Green Light · 개발기관 사업 소개 / 게시일 미표시 https://sites.research.google/greenlight/</a:t>
            </a:r>
          </a:p>
          <a:p xmlns:a="http://schemas.openxmlformats.org/drawingml/2006/main">
            <a:r>
              <a:t>홈페이지 https://heen1987-ops.github.io/TS-business-Plan-001/index.html?view=casebook&amp;case=AX11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"title": "Google 홍수 예측",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"수문 위험 예측",</a:t>
            </a:r>
          </a:p>
          <a:p xmlns:a="http://schemas.openxmlformats.org/drawingml/2006/main">
            <a:r>
              <a:t>    "period": "2024 연구·운영",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"수문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"관측이 부족한 하천까지 확장한 AI 홍수 예측의 비교 평가와 서비스 적용",</a:t>
            </a:r>
          </a:p>
          <a:p xmlns:a="http://schemas.openxmlformats.org/drawingml/2006/main">
            <a:r>
              <a:t>    "limit": "논문의 하천 홍수 평가 범위 · 모든 재난 예측 성능으로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"수문·기상 입력",</a:t>
            </a:r>
          </a:p>
          <a:p xmlns:a="http://schemas.openxmlformats.org/drawingml/2006/main">
            <a:r>
              <a:t>      "예측 모델",</a:t>
            </a:r>
          </a:p>
          <a:p xmlns:a="http://schemas.openxmlformats.org/drawingml/2006/main">
            <a:r>
              <a:t>      "위험·시점 안내",</a:t>
            </a:r>
          </a:p>
          <a:p xmlns:a="http://schemas.openxmlformats.org/drawingml/2006/main">
            <a:r>
              <a:t>      "현장 대응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"시설·위험 등급·대응 절차·조치기한 매핑",</a:t>
            </a:r>
          </a:p>
          <a:p xmlns:a="http://schemas.openxmlformats.org/drawingml/2006/main">
            <a:r>
              <a:t>    "test": "지역·계절 분리 평가와 오경보·미탐 점검",</a:t>
            </a:r>
          </a:p>
          <a:p xmlns:a="http://schemas.openxmlformats.org/drawingml/2006/main">
            <a:r>
              <a:t>    "metric": "경보 선행시간 / 미조치 건수",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"canonicalId": "AX12",</a:t>
            </a:r>
          </a:p>
          <a:p xmlns:a="http://schemas.openxmlformats.org/drawingml/2006/main">
            <a:r>
              <a:t>    "purpose": "관측이 부족한 하천의 홍수 위험 예측",</a:t>
            </a:r>
          </a:p>
          <a:p xmlns:a="http://schemas.openxmlformats.org/drawingml/2006/main">
            <a:r>
              <a:t>    "users": "예보 운영자·방재 담당·주민",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"수문 예측",</a:t>
            </a:r>
          </a:p>
          <a:p xmlns:a="http://schemas.openxmlformats.org/drawingml/2006/main">
            <a:r>
              <a:t>      "위험 정보",</a:t>
            </a:r>
          </a:p>
          <a:p xmlns:a="http://schemas.openxmlformats.org/drawingml/2006/main">
            <a:r>
              <a:t>      "알림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"수문·기상 자료",</a:t>
            </a:r>
          </a:p>
          <a:p xmlns:a="http://schemas.openxmlformats.org/drawingml/2006/main">
            <a:r>
              <a:t>        "detail": "유역·예측시점·대상 지역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"수문 예측 / 위험 정보 / 알림 연결",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"홍수 예측 모델",</a:t>
            </a:r>
          </a:p>
          <a:p xmlns:a="http://schemas.openxmlformats.org/drawingml/2006/main">
            <a:r>
              <a:t>        "detail": "수문 입력을 활용한 범위별 위험 예측",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"지역 대응 담당",</a:t>
            </a:r>
          </a:p>
          <a:p xmlns:a="http://schemas.openxmlformats.org/drawingml/2006/main">
            <a:r>
              <a:t>        "detail": "위험 지역·시점 정보를 공식 대응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"하천·예측 이력",</a:t>
            </a:r>
          </a:p>
          <a:p xmlns:a="http://schemas.openxmlformats.org/drawingml/2006/main">
            <a:r>
              <a:t>        "detail": "유역 특성·관측·기상자료의 시간·공간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"미탐·과경보와 지역별 오차의 사후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"수문·기상 입력",</a:t>
            </a:r>
          </a:p>
          <a:p xmlns:a="http://schemas.openxmlformats.org/drawingml/2006/main">
            <a:r>
              <a:t>        "input": "유역·예측시점·대상 지역 지정",</a:t>
            </a:r>
          </a:p>
          <a:p xmlns:a="http://schemas.openxmlformats.org/drawingml/2006/main">
            <a:r>
              <a:t>        "process": "유역 특성·관측·기상자료의 시간·공간 정합화",</a:t>
            </a:r>
          </a:p>
          <a:p xmlns:a="http://schemas.openxmlformats.org/drawingml/2006/main">
            <a:r>
              <a:t>        "output": "강수·유량"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"예측 모델",</a:t>
            </a:r>
          </a:p>
          <a:p xmlns:a="http://schemas.openxmlformats.org/drawingml/2006/main">
            <a:r>
              <a:t>        "input": "강수·유량",</a:t>
            </a:r>
          </a:p>
          <a:p xmlns:a="http://schemas.openxmlformats.org/drawingml/2006/main">
            <a:r>
              <a:t>        "process": "수문 입력을 활용한 범위별 위험 예측",</a:t>
            </a:r>
          </a:p>
          <a:p xmlns:a="http://schemas.openxmlformats.org/drawingml/2006/main">
            <a:r>
              <a:t>        "output": "시간별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"위험·시점 안내",</a:t>
            </a:r>
          </a:p>
          <a:p xmlns:a="http://schemas.openxmlformats.org/drawingml/2006/main">
            <a:r>
              <a:t>        "input": "시간별 예측",</a:t>
            </a:r>
          </a:p>
          <a:p xmlns:a="http://schemas.openxmlformats.org/drawingml/2006/main">
            <a:r>
              <a:t>        "process": "지역별 오탐·미탐과 선행시간 평가",</a:t>
            </a:r>
          </a:p>
          <a:p xmlns:a="http://schemas.openxmlformats.org/drawingml/2006/main">
            <a:r>
              <a:t>        "output": "위험·예상 시점"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대응 검토",</a:t>
            </a:r>
          </a:p>
          <a:p xmlns:a="http://schemas.openxmlformats.org/drawingml/2006/main">
            <a:r>
              <a:t>        "input": "위험·예상 시점",</a:t>
            </a:r>
          </a:p>
          <a:p xmlns:a="http://schemas.openxmlformats.org/drawingml/2006/main">
            <a:r>
              <a:t>        "process": "위험 지역·시점 정보를 공식 대응 검토에 전달",</a:t>
            </a:r>
          </a:p>
          <a:p xmlns:a="http://schemas.openxmlformats.org/drawingml/2006/main">
            <a:r>
              <a:t>        "output": "현장 대응 판단"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"유역별 예측 위험을 지역별 대응 검토에 제공",</a:t>
            </a:r>
          </a:p>
          <a:p xmlns:a="http://schemas.openxmlformats.org/drawingml/2006/main">
            <a:r>
              <a:t>      "exception": "관측 결측·분포가 다른 유역·예측시점 이후 자료 혼입",</a:t>
            </a:r>
          </a:p>
          <a:p xmlns:a="http://schemas.openxmlformats.org/drawingml/2006/main">
            <a:r>
              <a:t>      "evidence": "시점 분리 평가와 유역별 미탐·과경보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"예보 운영자·방재 담당·주민",</a:t>
            </a:r>
          </a:p>
          <a:p xmlns:a="http://schemas.openxmlformats.org/drawingml/2006/main">
            <a:r>
              <a:t>          "processing": "유역·예측시점·대상 지역 지정",</a:t>
            </a:r>
          </a:p>
          <a:p xmlns:a="http://schemas.openxmlformats.org/drawingml/2006/main">
            <a:r>
              <a:t>          "output": "강수·유량"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"하천·예측 이력",</a:t>
            </a:r>
          </a:p>
          <a:p xmlns:a="http://schemas.openxmlformats.org/drawingml/2006/main">
            <a:r>
              <a:t>          "processing": "유역 특성·관측·기상자료의 시간·공간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"강수·유량",</a:t>
            </a:r>
          </a:p>
          <a:p xmlns:a="http://schemas.openxmlformats.org/drawingml/2006/main">
            <a:r>
              <a:t>          "processing": "수문 입력을 활용한 범위별 위험 예측",</a:t>
            </a:r>
          </a:p>
          <a:p xmlns:a="http://schemas.openxmlformats.org/drawingml/2006/main">
            <a:r>
              <a:t>          "output": "위험·예상 시점"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"위험·예상 시점",</a:t>
            </a:r>
          </a:p>
          <a:p xmlns:a="http://schemas.openxmlformats.org/drawingml/2006/main">
            <a:r>
              <a:t>          "processing": "위험 지역·시점 정보를 공식 대응 검토에 전달",</a:t>
            </a:r>
          </a:p>
          <a:p xmlns:a="http://schemas.openxmlformats.org/drawingml/2006/main">
            <a:r>
              <a:t>          "output": "현장 대응 판단"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"미탐·과경보와 지역별 오차의 사후 분석",</a:t>
            </a:r>
          </a:p>
          <a:p xmlns:a="http://schemas.openxmlformats.org/drawingml/2006/main">
            <a:r>
              <a:t>          "output":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"미탐·과경보와 지역별 오차의 사후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"S-AX12",</a:t>
            </a:r>
          </a:p>
          <a:p xmlns:a="http://schemas.openxmlformats.org/drawingml/2006/main">
            <a:r>
              <a:t>        "title": "Google 홍수 예측 · Nature 연구 / 2024",</a:t>
            </a:r>
          </a:p>
          <a:p xmlns:a="http://schemas.openxmlformats.org/drawingml/2006/main">
            <a:r>
              <a:t>        "url": "https://research.google/pubs/ai-increases-global-access-to-reliable-flood-forecasts-2/",</a:t>
            </a:r>
          </a:p>
          <a:p xmlns:a="http://schemas.openxmlformats.org/drawingml/2006/main">
            <a:r>
              <a:t>        "published": "2024 연구·운영",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"관측 자료가 부족한 지역까지 홍수 예측 정보를 제공하려는 사례. 예측 모델의 지역 일반화와 주민·대응기관의 실제 행동을 연결하는 단계가 별도 과제.",</a:t>
            </a:r>
          </a:p>
          <a:p xmlns:a="http://schemas.openxmlformats.org/drawingml/2006/main">
            <a:r>
              <a:t>      "유역 특성·강수·유량을 시간·공간 단위로 정합화하고 위험 지역·예상 시점을 산출하는 구조. TS 적용 설계에서는 기상·재난 위험을 교통시설·운행 업무와 연결해 담당자의 대응 검토를 지원.",</a:t>
            </a:r>
          </a:p>
          <a:p xmlns:a="http://schemas.openxmlformats.org/drawingml/2006/main">
            <a:r>
              <a:t>      "예측 정확도와 사고 예방 효과의 분리. 지역별 미탐·과경보·선행시간, 경보 수신과 조치 완료를 함께 평가하며 관측 부족 구간의 불확실성을 보존할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"예측 대상 지정",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"예보 운영자·방재 담당·주민",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"유역·예측시점",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"유역·예측시점·대상 지역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"기상·수문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"강수·유량",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"홍수 위험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"수문 입력을 활용한 범위별 위험 예측",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"지역별 오차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"지역별 오탐·미탐과 선행시간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"예보 담당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"유역별 예측 위험을 지역별 대응 검토에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"경보·대응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지역·시점 정보를 공식 대응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"미탐·과경보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"미탐·과경보와 지역별 오차의 사후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"유역·관측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"하천·예측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"시간·공간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"유역 특성·관측·기상자료의 시간·공간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"예측·관측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"시점 분리 평가와 유역별 미탐·과경보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"경보·대응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"관측 결측·분포가 다른 유역·예측시점 이후 자료 혼입",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"유역·예측시점·대상 지역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"강수·유량",</a:t>
            </a:r>
          </a:p>
          <a:p xmlns:a="http://schemas.openxmlformats.org/drawingml/2006/main">
            <a:r>
              <a:t>          "check": "지역별 오탐·미탐과 선행시간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"시간별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"관측 결측·분포가 다른 유역·예측시점 이후 자료 혼입"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"위험 지역·시점 정보를 공식 대응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 판단",</a:t>
            </a:r>
          </a:p>
          <a:p xmlns:a="http://schemas.openxmlformats.org/drawingml/2006/main">
            <a:r>
              <a:t>          "check":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"관측이 부족한 하천의 홍수 위험 예측 / 수문 예측·위험 정보·알림 연결",</a:t>
            </a:r>
          </a:p>
          <a:p xmlns:a="http://schemas.openxmlformats.org/drawingml/2006/main">
            <a:r>
              <a:t>        "extension": "교통시설 위험 알림과 관할 점검 조치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"관측 결측·분포가 다른 유역·예측시점 이후 자료 혼입",</a:t>
            </a:r>
          </a:p>
          <a:p xmlns:a="http://schemas.openxmlformats.org/drawingml/2006/main">
            <a:r>
              <a:t>        "hold": "지역별 오탐·미탐과 선행시간 평가",</a:t>
            </a:r>
          </a:p>
          <a:p xmlns:a="http://schemas.openxmlformats.org/drawingml/2006/main">
            <a:r>
              <a:t>        "recovery": "미탐·과경보와 지역별 오차의 사후 분석",</a:t>
            </a:r>
          </a:p>
          <a:p xmlns:a="http://schemas.openxmlformats.org/drawingml/2006/main">
            <a:r>
              <a:t>        "evidence": "시점 분리 평가와 유역별 미탐·과경보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"하천·예측 이력",</a:t>
            </a:r>
          </a:p>
          <a:p xmlns:a="http://schemas.openxmlformats.org/drawingml/2006/main">
            <a:r>
              <a:t>        "prepare": "유역 특성·관측·기상자료의 시간·공간 정합화",</a:t>
            </a:r>
          </a:p>
          <a:p xmlns:a="http://schemas.openxmlformats.org/drawingml/2006/main">
            <a:r>
              <a:t>        "output": "강수·유량",</a:t>
            </a:r>
          </a:p>
          <a:p xmlns:a="http://schemas.openxmlformats.org/drawingml/2006/main">
            <a:r>
              <a:t>        "refresh": "미탐·과경보와 지역별 오차의 사후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"관측 부족 지역의 예측 범위 확대",</a:t>
            </a:r>
          </a:p>
          <a:p xmlns:a="http://schemas.openxmlformats.org/drawingml/2006/main">
            <a:r>
              <a:t>      "비교 평가를 통한 예측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분포·지역별 불확실성",</a:t>
            </a:r>
          </a:p>
          <a:p xmlns:a="http://schemas.openxmlformats.org/drawingml/2006/main">
            <a:r>
              <a:t>      "경보 정확도와 실제 대응 효과의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"수문·기상 자료",</a:t>
            </a:r>
          </a:p>
          <a:p xmlns:a="http://schemas.openxmlformats.org/drawingml/2006/main">
            <a:r>
              <a:t>      "홍수 예측 모델",</a:t>
            </a:r>
          </a:p>
          <a:p xmlns:a="http://schemas.openxmlformats.org/drawingml/2006/main">
            <a:r>
              <a:t>      "하천·예측 이력",</a:t>
            </a:r>
          </a:p>
          <a:p xmlns:a="http://schemas.openxmlformats.org/drawingml/2006/main">
            <a:r>
              <a:t>      "지역 대응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"강수·유량",</a:t>
            </a:r>
          </a:p>
          <a:p xmlns:a="http://schemas.openxmlformats.org/drawingml/2006/main">
            <a:r>
              <a:t>      "시간별 예측",</a:t>
            </a:r>
          </a:p>
          <a:p xmlns:a="http://schemas.openxmlformats.org/drawingml/2006/main">
            <a:r>
              <a:t>      "위험·예상 시점",</a:t>
            </a:r>
          </a:p>
          <a:p xmlns:a="http://schemas.openxmlformats.org/drawingml/2006/main">
            <a:r>
              <a:t>      "현장 대응 판단"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"지역별 오탐·미탐과 선행시간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홍수 예측 · Nature 연구 / 2024 https://research.google/pubs/ai-increases-global-access-to-reliable-flood-forecasts-2/</a:t>
            </a:r>
          </a:p>
          <a:p xmlns:a="http://schemas.openxmlformats.org/drawingml/2006/main">
            <a:r>
              <a:t>홈페이지 https://heen1987-ops.github.io/TS-business-Plan-001/index.html?view=casebook&amp;case=AX12</a:t>
            </a:r>
          </a:p>
          <a:p xmlns:a="http://schemas.openxmlformats.org/drawingml/2006/main">
            <a:r>
              <a:t>한계: 논문의 하천 홍수 평가 범위 · 모든 재난 예측 성능으로 확대 불가</a:t>
            </a:r>
          </a:p>
          <a:p xmlns:a="http://schemas.openxmlformats.org/drawingml/2006/main">
            <a:r>
              <a:t>실패 위험: 관측 분포·지역별 불확실성 / 경보 정확도와 실제 대응 효과의 차이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"title": "Google 홍수 예측",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"수문 위험 예측",</a:t>
            </a:r>
          </a:p>
          <a:p xmlns:a="http://schemas.openxmlformats.org/drawingml/2006/main">
            <a:r>
              <a:t>    "period": "2024 연구·운영",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"수문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"관측이 부족한 하천까지 확장한 AI 홍수 예측의 비교 평가와 서비스 적용",</a:t>
            </a:r>
          </a:p>
          <a:p xmlns:a="http://schemas.openxmlformats.org/drawingml/2006/main">
            <a:r>
              <a:t>    "limit": "논문의 하천 홍수 평가 범위 · 모든 재난 예측 성능으로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"수문·기상 입력",</a:t>
            </a:r>
          </a:p>
          <a:p xmlns:a="http://schemas.openxmlformats.org/drawingml/2006/main">
            <a:r>
              <a:t>      "예측 모델",</a:t>
            </a:r>
          </a:p>
          <a:p xmlns:a="http://schemas.openxmlformats.org/drawingml/2006/main">
            <a:r>
              <a:t>      "위험·시점 안내",</a:t>
            </a:r>
          </a:p>
          <a:p xmlns:a="http://schemas.openxmlformats.org/drawingml/2006/main">
            <a:r>
              <a:t>      "현장 대응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"시설·위험 등급·대응 절차·조치기한 매핑",</a:t>
            </a:r>
          </a:p>
          <a:p xmlns:a="http://schemas.openxmlformats.org/drawingml/2006/main">
            <a:r>
              <a:t>    "test": "지역·계절 분리 평가와 오경보·미탐 점검",</a:t>
            </a:r>
          </a:p>
          <a:p xmlns:a="http://schemas.openxmlformats.org/drawingml/2006/main">
            <a:r>
              <a:t>    "metric": "경보 선행시간 / 미조치 건수",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"canonicalId": "AX12",</a:t>
            </a:r>
          </a:p>
          <a:p xmlns:a="http://schemas.openxmlformats.org/drawingml/2006/main">
            <a:r>
              <a:t>    "purpose": "관측이 부족한 하천의 홍수 위험 예측",</a:t>
            </a:r>
          </a:p>
          <a:p xmlns:a="http://schemas.openxmlformats.org/drawingml/2006/main">
            <a:r>
              <a:t>    "users": "예보 운영자·방재 담당·주민",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"수문 예측",</a:t>
            </a:r>
          </a:p>
          <a:p xmlns:a="http://schemas.openxmlformats.org/drawingml/2006/main">
            <a:r>
              <a:t>      "위험 정보",</a:t>
            </a:r>
          </a:p>
          <a:p xmlns:a="http://schemas.openxmlformats.org/drawingml/2006/main">
            <a:r>
              <a:t>      "알림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"수문·기상 자료",</a:t>
            </a:r>
          </a:p>
          <a:p xmlns:a="http://schemas.openxmlformats.org/drawingml/2006/main">
            <a:r>
              <a:t>        "detail": "유역·예측시점·대상 지역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"수문 예측 / 위험 정보 / 알림 연결",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"홍수 예측 모델",</a:t>
            </a:r>
          </a:p>
          <a:p xmlns:a="http://schemas.openxmlformats.org/drawingml/2006/main">
            <a:r>
              <a:t>        "detail": "수문 입력을 활용한 범위별 위험 예측",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"지역 대응 담당",</a:t>
            </a:r>
          </a:p>
          <a:p xmlns:a="http://schemas.openxmlformats.org/drawingml/2006/main">
            <a:r>
              <a:t>        "detail": "위험 지역·시점 정보를 공식 대응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"하천·예측 이력",</a:t>
            </a:r>
          </a:p>
          <a:p xmlns:a="http://schemas.openxmlformats.org/drawingml/2006/main">
            <a:r>
              <a:t>        "detail": "유역 특성·관측·기상자료의 시간·공간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"미탐·과경보와 지역별 오차의 사후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"수문·기상 입력",</a:t>
            </a:r>
          </a:p>
          <a:p xmlns:a="http://schemas.openxmlformats.org/drawingml/2006/main">
            <a:r>
              <a:t>        "input": "유역·예측시점·대상 지역 지정",</a:t>
            </a:r>
          </a:p>
          <a:p xmlns:a="http://schemas.openxmlformats.org/drawingml/2006/main">
            <a:r>
              <a:t>        "process": "유역 특성·관측·기상자료의 시간·공간 정합화",</a:t>
            </a:r>
          </a:p>
          <a:p xmlns:a="http://schemas.openxmlformats.org/drawingml/2006/main">
            <a:r>
              <a:t>        "output": "강수·유량"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"예측 모델",</a:t>
            </a:r>
          </a:p>
          <a:p xmlns:a="http://schemas.openxmlformats.org/drawingml/2006/main">
            <a:r>
              <a:t>        "input": "강수·유량",</a:t>
            </a:r>
          </a:p>
          <a:p xmlns:a="http://schemas.openxmlformats.org/drawingml/2006/main">
            <a:r>
              <a:t>        "process": "수문 입력을 활용한 범위별 위험 예측",</a:t>
            </a:r>
          </a:p>
          <a:p xmlns:a="http://schemas.openxmlformats.org/drawingml/2006/main">
            <a:r>
              <a:t>        "output": "시간별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"위험·시점 안내",</a:t>
            </a:r>
          </a:p>
          <a:p xmlns:a="http://schemas.openxmlformats.org/drawingml/2006/main">
            <a:r>
              <a:t>        "input": "시간별 예측",</a:t>
            </a:r>
          </a:p>
          <a:p xmlns:a="http://schemas.openxmlformats.org/drawingml/2006/main">
            <a:r>
              <a:t>        "process": "지역별 오탐·미탐과 선행시간 평가",</a:t>
            </a:r>
          </a:p>
          <a:p xmlns:a="http://schemas.openxmlformats.org/drawingml/2006/main">
            <a:r>
              <a:t>        "output": "위험·예상 시점"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대응 검토",</a:t>
            </a:r>
          </a:p>
          <a:p xmlns:a="http://schemas.openxmlformats.org/drawingml/2006/main">
            <a:r>
              <a:t>        "input": "위험·예상 시점",</a:t>
            </a:r>
          </a:p>
          <a:p xmlns:a="http://schemas.openxmlformats.org/drawingml/2006/main">
            <a:r>
              <a:t>        "process": "위험 지역·시점 정보를 공식 대응 검토에 전달",</a:t>
            </a:r>
          </a:p>
          <a:p xmlns:a="http://schemas.openxmlformats.org/drawingml/2006/main">
            <a:r>
              <a:t>        "output": "현장 대응 판단"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"유역별 예측 위험을 지역별 대응 검토에 제공",</a:t>
            </a:r>
          </a:p>
          <a:p xmlns:a="http://schemas.openxmlformats.org/drawingml/2006/main">
            <a:r>
              <a:t>      "exception": "관측 결측·분포가 다른 유역·예측시점 이후 자료 혼입",</a:t>
            </a:r>
          </a:p>
          <a:p xmlns:a="http://schemas.openxmlformats.org/drawingml/2006/main">
            <a:r>
              <a:t>      "evidence": "시점 분리 평가와 유역별 미탐·과경보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"예보 운영자·방재 담당·주민",</a:t>
            </a:r>
          </a:p>
          <a:p xmlns:a="http://schemas.openxmlformats.org/drawingml/2006/main">
            <a:r>
              <a:t>          "processing": "유역·예측시점·대상 지역 지정",</a:t>
            </a:r>
          </a:p>
          <a:p xmlns:a="http://schemas.openxmlformats.org/drawingml/2006/main">
            <a:r>
              <a:t>          "output": "강수·유량"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"하천·예측 이력",</a:t>
            </a:r>
          </a:p>
          <a:p xmlns:a="http://schemas.openxmlformats.org/drawingml/2006/main">
            <a:r>
              <a:t>          "processing": "유역 특성·관측·기상자료의 시간·공간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"강수·유량",</a:t>
            </a:r>
          </a:p>
          <a:p xmlns:a="http://schemas.openxmlformats.org/drawingml/2006/main">
            <a:r>
              <a:t>          "processing": "수문 입력을 활용한 범위별 위험 예측",</a:t>
            </a:r>
          </a:p>
          <a:p xmlns:a="http://schemas.openxmlformats.org/drawingml/2006/main">
            <a:r>
              <a:t>          "output": "위험·예상 시점"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"위험·예상 시점",</a:t>
            </a:r>
          </a:p>
          <a:p xmlns:a="http://schemas.openxmlformats.org/drawingml/2006/main">
            <a:r>
              <a:t>          "processing": "위험 지역·시점 정보를 공식 대응 검토에 전달",</a:t>
            </a:r>
          </a:p>
          <a:p xmlns:a="http://schemas.openxmlformats.org/drawingml/2006/main">
            <a:r>
              <a:t>          "output": "현장 대응 판단"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"미탐·과경보와 지역별 오차의 사후 분석",</a:t>
            </a:r>
          </a:p>
          <a:p xmlns:a="http://schemas.openxmlformats.org/drawingml/2006/main">
            <a:r>
              <a:t>          "output":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"미탐·과경보와 지역별 오차의 사후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"S-AX12",</a:t>
            </a:r>
          </a:p>
          <a:p xmlns:a="http://schemas.openxmlformats.org/drawingml/2006/main">
            <a:r>
              <a:t>        "title": "Google 홍수 예측 · Nature 연구 / 2024",</a:t>
            </a:r>
          </a:p>
          <a:p xmlns:a="http://schemas.openxmlformats.org/drawingml/2006/main">
            <a:r>
              <a:t>        "url": "https://research.google/pubs/ai-increases-global-access-to-reliable-flood-forecasts-2/",</a:t>
            </a:r>
          </a:p>
          <a:p xmlns:a="http://schemas.openxmlformats.org/drawingml/2006/main">
            <a:r>
              <a:t>        "published": "2024 연구·운영",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"관측 자료가 부족한 지역까지 홍수 예측 정보를 제공하려는 사례. 예측 모델의 지역 일반화와 주민·대응기관의 실제 행동을 연결하는 단계가 별도 과제.",</a:t>
            </a:r>
          </a:p>
          <a:p xmlns:a="http://schemas.openxmlformats.org/drawingml/2006/main">
            <a:r>
              <a:t>      "유역 특성·강수·유량을 시간·공간 단위로 정합화하고 위험 지역·예상 시점을 산출하는 구조. TS 적용 설계에서는 기상·재난 위험을 교통시설·운행 업무와 연결해 담당자의 대응 검토를 지원.",</a:t>
            </a:r>
          </a:p>
          <a:p xmlns:a="http://schemas.openxmlformats.org/drawingml/2006/main">
            <a:r>
              <a:t>      "예측 정확도와 사고 예방 효과의 분리. 지역별 미탐·과경보·선행시간, 경보 수신과 조치 완료를 함께 평가하며 관측 부족 구간의 불확실성을 보존할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"예측 대상 지정",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"예보 운영자·방재 담당·주민",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"유역·예측시점",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"유역·예측시점·대상 지역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"기상·수문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"강수·유량",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"홍수 위험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"수문 입력을 활용한 범위별 위험 예측",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"지역별 오차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"지역별 오탐·미탐과 선행시간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"예보 담당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"유역별 예측 위험을 지역별 대응 검토에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"경보·대응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지역·시점 정보를 공식 대응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"미탐·과경보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"미탐·과경보와 지역별 오차의 사후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"유역·관측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"하천·예측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"시간·공간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"유역 특성·관측·기상자료의 시간·공간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"예측·관측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"시점 분리 평가와 유역별 미탐·과경보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"경보·대응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"관측 결측·분포가 다른 유역·예측시점 이후 자료 혼입",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"유역·예측시점·대상 지역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"강수·유량",</a:t>
            </a:r>
          </a:p>
          <a:p xmlns:a="http://schemas.openxmlformats.org/drawingml/2006/main">
            <a:r>
              <a:t>          "check": "지역별 오탐·미탐과 선행시간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"시간별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"관측 결측·분포가 다른 유역·예측시점 이후 자료 혼입"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"위험 지역·시점 정보를 공식 대응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 판단",</a:t>
            </a:r>
          </a:p>
          <a:p xmlns:a="http://schemas.openxmlformats.org/drawingml/2006/main">
            <a:r>
              <a:t>          "check":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"관측이 부족한 하천의 홍수 위험 예측 / 수문 예측·위험 정보·알림 연결",</a:t>
            </a:r>
          </a:p>
          <a:p xmlns:a="http://schemas.openxmlformats.org/drawingml/2006/main">
            <a:r>
              <a:t>        "extension": "교통시설 위험 알림과 관할 점검 조치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"관측 결측·분포가 다른 유역·예측시점 이후 자료 혼입",</a:t>
            </a:r>
          </a:p>
          <a:p xmlns:a="http://schemas.openxmlformats.org/drawingml/2006/main">
            <a:r>
              <a:t>        "hold": "지역별 오탐·미탐과 선행시간 평가",</a:t>
            </a:r>
          </a:p>
          <a:p xmlns:a="http://schemas.openxmlformats.org/drawingml/2006/main">
            <a:r>
              <a:t>        "recovery": "미탐·과경보와 지역별 오차의 사후 분석",</a:t>
            </a:r>
          </a:p>
          <a:p xmlns:a="http://schemas.openxmlformats.org/drawingml/2006/main">
            <a:r>
              <a:t>        "evidence": "시점 분리 평가와 유역별 미탐·과경보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"하천·예측 이력",</a:t>
            </a:r>
          </a:p>
          <a:p xmlns:a="http://schemas.openxmlformats.org/drawingml/2006/main">
            <a:r>
              <a:t>        "prepare": "유역 특성·관측·기상자료의 시간·공간 정합화",</a:t>
            </a:r>
          </a:p>
          <a:p xmlns:a="http://schemas.openxmlformats.org/drawingml/2006/main">
            <a:r>
              <a:t>        "output": "강수·유량",</a:t>
            </a:r>
          </a:p>
          <a:p xmlns:a="http://schemas.openxmlformats.org/drawingml/2006/main">
            <a:r>
              <a:t>        "refresh": "미탐·과경보와 지역별 오차의 사후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"관측 부족 지역의 예측 범위 확대",</a:t>
            </a:r>
          </a:p>
          <a:p xmlns:a="http://schemas.openxmlformats.org/drawingml/2006/main">
            <a:r>
              <a:t>      "비교 평가를 통한 예측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분포·지역별 불확실성",</a:t>
            </a:r>
          </a:p>
          <a:p xmlns:a="http://schemas.openxmlformats.org/drawingml/2006/main">
            <a:r>
              <a:t>      "경보 정확도와 실제 대응 효과의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"수문·기상 자료",</a:t>
            </a:r>
          </a:p>
          <a:p xmlns:a="http://schemas.openxmlformats.org/drawingml/2006/main">
            <a:r>
              <a:t>      "홍수 예측 모델",</a:t>
            </a:r>
          </a:p>
          <a:p xmlns:a="http://schemas.openxmlformats.org/drawingml/2006/main">
            <a:r>
              <a:t>      "하천·예측 이력",</a:t>
            </a:r>
          </a:p>
          <a:p xmlns:a="http://schemas.openxmlformats.org/drawingml/2006/main">
            <a:r>
              <a:t>      "지역 대응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"강수·유량",</a:t>
            </a:r>
          </a:p>
          <a:p xmlns:a="http://schemas.openxmlformats.org/drawingml/2006/main">
            <a:r>
              <a:t>      "시간별 예측",</a:t>
            </a:r>
          </a:p>
          <a:p xmlns:a="http://schemas.openxmlformats.org/drawingml/2006/main">
            <a:r>
              <a:t>      "위험·예상 시점",</a:t>
            </a:r>
          </a:p>
          <a:p xmlns:a="http://schemas.openxmlformats.org/drawingml/2006/main">
            <a:r>
              <a:t>      "현장 대응 판단"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"지역별 오탐·미탐과 선행시간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홍수 예측 · Nature 연구 / 2024 https://research.google/pubs/ai-increases-global-access-to-reliable-flood-forecasts-2/</a:t>
            </a:r>
          </a:p>
          <a:p xmlns:a="http://schemas.openxmlformats.org/drawingml/2006/main">
            <a:r>
              <a:t>홈페이지 https://heen1987-ops.github.io/TS-business-Plan-001/index.html?view=casebook&amp;case=AX12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"title": "Google 홍수 예측",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"수문 위험 예측",</a:t>
            </a:r>
          </a:p>
          <a:p xmlns:a="http://schemas.openxmlformats.org/drawingml/2006/main">
            <a:r>
              <a:t>    "period": "2024 연구·운영",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"수문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"관측이 부족한 하천까지 확장한 AI 홍수 예측의 비교 평가와 서비스 적용",</a:t>
            </a:r>
          </a:p>
          <a:p xmlns:a="http://schemas.openxmlformats.org/drawingml/2006/main">
            <a:r>
              <a:t>    "limit": "논문의 하천 홍수 평가 범위 · 모든 재난 예측 성능으로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"수문·기상 입력",</a:t>
            </a:r>
          </a:p>
          <a:p xmlns:a="http://schemas.openxmlformats.org/drawingml/2006/main">
            <a:r>
              <a:t>      "예측 모델",</a:t>
            </a:r>
          </a:p>
          <a:p xmlns:a="http://schemas.openxmlformats.org/drawingml/2006/main">
            <a:r>
              <a:t>      "위험·시점 안내",</a:t>
            </a:r>
          </a:p>
          <a:p xmlns:a="http://schemas.openxmlformats.org/drawingml/2006/main">
            <a:r>
              <a:t>      "현장 대응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"시설·위험 등급·대응 절차·조치기한 매핑",</a:t>
            </a:r>
          </a:p>
          <a:p xmlns:a="http://schemas.openxmlformats.org/drawingml/2006/main">
            <a:r>
              <a:t>    "test": "지역·계절 분리 평가와 오경보·미탐 점검",</a:t>
            </a:r>
          </a:p>
          <a:p xmlns:a="http://schemas.openxmlformats.org/drawingml/2006/main">
            <a:r>
              <a:t>    "metric": "경보 선행시간 / 미조치 건수",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"canonicalId": "AX12",</a:t>
            </a:r>
          </a:p>
          <a:p xmlns:a="http://schemas.openxmlformats.org/drawingml/2006/main">
            <a:r>
              <a:t>    "purpose": "관측이 부족한 하천의 홍수 위험 예측",</a:t>
            </a:r>
          </a:p>
          <a:p xmlns:a="http://schemas.openxmlformats.org/drawingml/2006/main">
            <a:r>
              <a:t>    "users": "예보 운영자·방재 담당·주민",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"수문 예측",</a:t>
            </a:r>
          </a:p>
          <a:p xmlns:a="http://schemas.openxmlformats.org/drawingml/2006/main">
            <a:r>
              <a:t>      "위험 정보",</a:t>
            </a:r>
          </a:p>
          <a:p xmlns:a="http://schemas.openxmlformats.org/drawingml/2006/main">
            <a:r>
              <a:t>      "알림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"수문·기상 자료",</a:t>
            </a:r>
          </a:p>
          <a:p xmlns:a="http://schemas.openxmlformats.org/drawingml/2006/main">
            <a:r>
              <a:t>        "detail": "유역·예측시점·대상 지역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"수문 예측 / 위험 정보 / 알림 연결",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"홍수 예측 모델",</a:t>
            </a:r>
          </a:p>
          <a:p xmlns:a="http://schemas.openxmlformats.org/drawingml/2006/main">
            <a:r>
              <a:t>        "detail": "수문 입력을 활용한 범위별 위험 예측",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"지역 대응 담당",</a:t>
            </a:r>
          </a:p>
          <a:p xmlns:a="http://schemas.openxmlformats.org/drawingml/2006/main">
            <a:r>
              <a:t>        "detail": "위험 지역·시점 정보를 공식 대응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"하천·예측 이력",</a:t>
            </a:r>
          </a:p>
          <a:p xmlns:a="http://schemas.openxmlformats.org/drawingml/2006/main">
            <a:r>
              <a:t>        "detail": "유역 특성·관측·기상자료의 시간·공간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"미탐·과경보와 지역별 오차의 사후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"수문·기상 입력",</a:t>
            </a:r>
          </a:p>
          <a:p xmlns:a="http://schemas.openxmlformats.org/drawingml/2006/main">
            <a:r>
              <a:t>        "input": "유역·예측시점·대상 지역 지정",</a:t>
            </a:r>
          </a:p>
          <a:p xmlns:a="http://schemas.openxmlformats.org/drawingml/2006/main">
            <a:r>
              <a:t>        "process": "유역 특성·관측·기상자료의 시간·공간 정합화",</a:t>
            </a:r>
          </a:p>
          <a:p xmlns:a="http://schemas.openxmlformats.org/drawingml/2006/main">
            <a:r>
              <a:t>        "output": "강수·유량"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"예측 모델",</a:t>
            </a:r>
          </a:p>
          <a:p xmlns:a="http://schemas.openxmlformats.org/drawingml/2006/main">
            <a:r>
              <a:t>        "input": "강수·유량",</a:t>
            </a:r>
          </a:p>
          <a:p xmlns:a="http://schemas.openxmlformats.org/drawingml/2006/main">
            <a:r>
              <a:t>        "process": "수문 입력을 활용한 범위별 위험 예측",</a:t>
            </a:r>
          </a:p>
          <a:p xmlns:a="http://schemas.openxmlformats.org/drawingml/2006/main">
            <a:r>
              <a:t>        "output": "시간별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"위험·시점 안내",</a:t>
            </a:r>
          </a:p>
          <a:p xmlns:a="http://schemas.openxmlformats.org/drawingml/2006/main">
            <a:r>
              <a:t>        "input": "시간별 예측",</a:t>
            </a:r>
          </a:p>
          <a:p xmlns:a="http://schemas.openxmlformats.org/drawingml/2006/main">
            <a:r>
              <a:t>        "process": "지역별 오탐·미탐과 선행시간 평가",</a:t>
            </a:r>
          </a:p>
          <a:p xmlns:a="http://schemas.openxmlformats.org/drawingml/2006/main">
            <a:r>
              <a:t>        "output": "위험·예상 시점"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대응 검토",</a:t>
            </a:r>
          </a:p>
          <a:p xmlns:a="http://schemas.openxmlformats.org/drawingml/2006/main">
            <a:r>
              <a:t>        "input": "위험·예상 시점",</a:t>
            </a:r>
          </a:p>
          <a:p xmlns:a="http://schemas.openxmlformats.org/drawingml/2006/main">
            <a:r>
              <a:t>        "process": "위험 지역·시점 정보를 공식 대응 검토에 전달",</a:t>
            </a:r>
          </a:p>
          <a:p xmlns:a="http://schemas.openxmlformats.org/drawingml/2006/main">
            <a:r>
              <a:t>        "output": "현장 대응 판단"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"유역별 예측 위험을 지역별 대응 검토에 제공",</a:t>
            </a:r>
          </a:p>
          <a:p xmlns:a="http://schemas.openxmlformats.org/drawingml/2006/main">
            <a:r>
              <a:t>      "exception": "관측 결측·분포가 다른 유역·예측시점 이후 자료 혼입",</a:t>
            </a:r>
          </a:p>
          <a:p xmlns:a="http://schemas.openxmlformats.org/drawingml/2006/main">
            <a:r>
              <a:t>      "evidence": "시점 분리 평가와 유역별 미탐·과경보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"예보 운영자·방재 담당·주민",</a:t>
            </a:r>
          </a:p>
          <a:p xmlns:a="http://schemas.openxmlformats.org/drawingml/2006/main">
            <a:r>
              <a:t>          "processing": "유역·예측시점·대상 지역 지정",</a:t>
            </a:r>
          </a:p>
          <a:p xmlns:a="http://schemas.openxmlformats.org/drawingml/2006/main">
            <a:r>
              <a:t>          "output": "강수·유량"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"하천·예측 이력",</a:t>
            </a:r>
          </a:p>
          <a:p xmlns:a="http://schemas.openxmlformats.org/drawingml/2006/main">
            <a:r>
              <a:t>          "processing": "유역 특성·관측·기상자료의 시간·공간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"강수·유량",</a:t>
            </a:r>
          </a:p>
          <a:p xmlns:a="http://schemas.openxmlformats.org/drawingml/2006/main">
            <a:r>
              <a:t>          "processing": "수문 입력을 활용한 범위별 위험 예측",</a:t>
            </a:r>
          </a:p>
          <a:p xmlns:a="http://schemas.openxmlformats.org/drawingml/2006/main">
            <a:r>
              <a:t>          "output": "위험·예상 시점"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"위험·예상 시점",</a:t>
            </a:r>
          </a:p>
          <a:p xmlns:a="http://schemas.openxmlformats.org/drawingml/2006/main">
            <a:r>
              <a:t>          "processing": "위험 지역·시점 정보를 공식 대응 검토에 전달",</a:t>
            </a:r>
          </a:p>
          <a:p xmlns:a="http://schemas.openxmlformats.org/drawingml/2006/main">
            <a:r>
              <a:t>          "output": "현장 대응 판단"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"미탐·과경보와 지역별 오차의 사후 분석",</a:t>
            </a:r>
          </a:p>
          <a:p xmlns:a="http://schemas.openxmlformats.org/drawingml/2006/main">
            <a:r>
              <a:t>          "output":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"미탐·과경보와 지역별 오차의 사후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"S-AX12",</a:t>
            </a:r>
          </a:p>
          <a:p xmlns:a="http://schemas.openxmlformats.org/drawingml/2006/main">
            <a:r>
              <a:t>        "title": "Google 홍수 예측 · Nature 연구 / 2024",</a:t>
            </a:r>
          </a:p>
          <a:p xmlns:a="http://schemas.openxmlformats.org/drawingml/2006/main">
            <a:r>
              <a:t>        "url": "https://research.google/pubs/ai-increases-global-access-to-reliable-flood-forecasts-2/",</a:t>
            </a:r>
          </a:p>
          <a:p xmlns:a="http://schemas.openxmlformats.org/drawingml/2006/main">
            <a:r>
              <a:t>        "published": "2024 연구·운영",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"관측 자료가 부족한 지역까지 홍수 예측 정보를 제공하려는 사례. 예측 모델의 지역 일반화와 주민·대응기관의 실제 행동을 연결하는 단계가 별도 과제.",</a:t>
            </a:r>
          </a:p>
          <a:p xmlns:a="http://schemas.openxmlformats.org/drawingml/2006/main">
            <a:r>
              <a:t>      "유역 특성·강수·유량을 시간·공간 단위로 정합화하고 위험 지역·예상 시점을 산출하는 구조. TS 적용 설계에서는 기상·재난 위험을 교통시설·운행 업무와 연결해 담당자의 대응 검토를 지원.",</a:t>
            </a:r>
          </a:p>
          <a:p xmlns:a="http://schemas.openxmlformats.org/drawingml/2006/main">
            <a:r>
              <a:t>      "예측 정확도와 사고 예방 효과의 분리. 지역별 미탐·과경보·선행시간, 경보 수신과 조치 완료를 함께 평가하며 관측 부족 구간의 불확실성을 보존할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"예측 대상 지정",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"예보 운영자·방재 담당·주민",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"유역·예측시점",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"유역·예측시점·대상 지역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"기상·수문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"강수·유량",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"홍수 위험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"수문 입력을 활용한 범위별 위험 예측",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"지역별 오차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"지역별 오탐·미탐과 선행시간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"예보 담당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"유역별 예측 위험을 지역별 대응 검토에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"경보·대응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지역·시점 정보를 공식 대응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"미탐·과경보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"미탐·과경보와 지역별 오차의 사후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"유역·관측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"하천·예측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"시간·공간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"유역 특성·관측·기상자료의 시간·공간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"예측·관측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"시점 분리 평가와 유역별 미탐·과경보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"경보·대응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"관측 결측·분포가 다른 유역·예측시점 이후 자료 혼입",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"유역·예측시점·대상 지역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"강수·유량",</a:t>
            </a:r>
          </a:p>
          <a:p xmlns:a="http://schemas.openxmlformats.org/drawingml/2006/main">
            <a:r>
              <a:t>          "check": "지역별 오탐·미탐과 선행시간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"시간별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"관측 결측·분포가 다른 유역·예측시점 이후 자료 혼입"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"위험 지역·시점 정보를 공식 대응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 판단",</a:t>
            </a:r>
          </a:p>
          <a:p xmlns:a="http://schemas.openxmlformats.org/drawingml/2006/main">
            <a:r>
              <a:t>          "check":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"관측이 부족한 하천의 홍수 위험 예측 / 수문 예측·위험 정보·알림 연결",</a:t>
            </a:r>
          </a:p>
          <a:p xmlns:a="http://schemas.openxmlformats.org/drawingml/2006/main">
            <a:r>
              <a:t>        "extension": "교통시설 위험 알림과 관할 점검 조치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"관측 결측·분포가 다른 유역·예측시점 이후 자료 혼입",</a:t>
            </a:r>
          </a:p>
          <a:p xmlns:a="http://schemas.openxmlformats.org/drawingml/2006/main">
            <a:r>
              <a:t>        "hold": "지역별 오탐·미탐과 선행시간 평가",</a:t>
            </a:r>
          </a:p>
          <a:p xmlns:a="http://schemas.openxmlformats.org/drawingml/2006/main">
            <a:r>
              <a:t>        "recovery": "미탐·과경보와 지역별 오차의 사후 분석",</a:t>
            </a:r>
          </a:p>
          <a:p xmlns:a="http://schemas.openxmlformats.org/drawingml/2006/main">
            <a:r>
              <a:t>        "evidence": "시점 분리 평가와 유역별 미탐·과경보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"하천·예측 이력",</a:t>
            </a:r>
          </a:p>
          <a:p xmlns:a="http://schemas.openxmlformats.org/drawingml/2006/main">
            <a:r>
              <a:t>        "prepare": "유역 특성·관측·기상자료의 시간·공간 정합화",</a:t>
            </a:r>
          </a:p>
          <a:p xmlns:a="http://schemas.openxmlformats.org/drawingml/2006/main">
            <a:r>
              <a:t>        "output": "강수·유량",</a:t>
            </a:r>
          </a:p>
          <a:p xmlns:a="http://schemas.openxmlformats.org/drawingml/2006/main">
            <a:r>
              <a:t>        "refresh": "미탐·과경보와 지역별 오차의 사후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"관측 부족 지역의 예측 범위 확대",</a:t>
            </a:r>
          </a:p>
          <a:p xmlns:a="http://schemas.openxmlformats.org/drawingml/2006/main">
            <a:r>
              <a:t>      "비교 평가를 통한 예측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분포·지역별 불확실성",</a:t>
            </a:r>
          </a:p>
          <a:p xmlns:a="http://schemas.openxmlformats.org/drawingml/2006/main">
            <a:r>
              <a:t>      "경보 정확도와 실제 대응 효과의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"수문·기상 자료",</a:t>
            </a:r>
          </a:p>
          <a:p xmlns:a="http://schemas.openxmlformats.org/drawingml/2006/main">
            <a:r>
              <a:t>      "홍수 예측 모델",</a:t>
            </a:r>
          </a:p>
          <a:p xmlns:a="http://schemas.openxmlformats.org/drawingml/2006/main">
            <a:r>
              <a:t>      "하천·예측 이력",</a:t>
            </a:r>
          </a:p>
          <a:p xmlns:a="http://schemas.openxmlformats.org/drawingml/2006/main">
            <a:r>
              <a:t>      "지역 대응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"강수·유량",</a:t>
            </a:r>
          </a:p>
          <a:p xmlns:a="http://schemas.openxmlformats.org/drawingml/2006/main">
            <a:r>
              <a:t>      "시간별 예측",</a:t>
            </a:r>
          </a:p>
          <a:p xmlns:a="http://schemas.openxmlformats.org/drawingml/2006/main">
            <a:r>
              <a:t>      "위험·예상 시점",</a:t>
            </a:r>
          </a:p>
          <a:p xmlns:a="http://schemas.openxmlformats.org/drawingml/2006/main">
            <a:r>
              <a:t>      "현장 대응 판단"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"지역별 오탐·미탐과 선행시간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홍수 예측 · Nature 연구 / 2024 https://research.google/pubs/ai-increases-global-access-to-reliable-flood-forecasts-2/</a:t>
            </a:r>
          </a:p>
          <a:p xmlns:a="http://schemas.openxmlformats.org/drawingml/2006/main">
            <a:r>
              <a:t>홈페이지 https://heen1987-ops.github.io/TS-business-Plan-001/index.html?view=casebook&amp;case=AX12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"title": "Google 홍수 예측",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"수문 위험 예측",</a:t>
            </a:r>
          </a:p>
          <a:p xmlns:a="http://schemas.openxmlformats.org/drawingml/2006/main">
            <a:r>
              <a:t>    "period": "2024 연구·운영",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"수문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"관측이 부족한 하천까지 확장한 AI 홍수 예측의 비교 평가와 서비스 적용",</a:t>
            </a:r>
          </a:p>
          <a:p xmlns:a="http://schemas.openxmlformats.org/drawingml/2006/main">
            <a:r>
              <a:t>    "limit": "논문의 하천 홍수 평가 범위 · 모든 재난 예측 성능으로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"수문·기상 입력",</a:t>
            </a:r>
          </a:p>
          <a:p xmlns:a="http://schemas.openxmlformats.org/drawingml/2006/main">
            <a:r>
              <a:t>      "예측 모델",</a:t>
            </a:r>
          </a:p>
          <a:p xmlns:a="http://schemas.openxmlformats.org/drawingml/2006/main">
            <a:r>
              <a:t>      "위험·시점 안내",</a:t>
            </a:r>
          </a:p>
          <a:p xmlns:a="http://schemas.openxmlformats.org/drawingml/2006/main">
            <a:r>
              <a:t>      "현장 대응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"시설·위험 등급·대응 절차·조치기한 매핑",</a:t>
            </a:r>
          </a:p>
          <a:p xmlns:a="http://schemas.openxmlformats.org/drawingml/2006/main">
            <a:r>
              <a:t>    "test": "지역·계절 분리 평가와 오경보·미탐 점검",</a:t>
            </a:r>
          </a:p>
          <a:p xmlns:a="http://schemas.openxmlformats.org/drawingml/2006/main">
            <a:r>
              <a:t>    "metric": "경보 선행시간 / 미조치 건수",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"canonicalId": "AX12",</a:t>
            </a:r>
          </a:p>
          <a:p xmlns:a="http://schemas.openxmlformats.org/drawingml/2006/main">
            <a:r>
              <a:t>    "purpose": "관측이 부족한 하천의 홍수 위험 예측",</a:t>
            </a:r>
          </a:p>
          <a:p xmlns:a="http://schemas.openxmlformats.org/drawingml/2006/main">
            <a:r>
              <a:t>    "users": "예보 운영자·방재 담당·주민",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"수문 예측",</a:t>
            </a:r>
          </a:p>
          <a:p xmlns:a="http://schemas.openxmlformats.org/drawingml/2006/main">
            <a:r>
              <a:t>      "위험 정보",</a:t>
            </a:r>
          </a:p>
          <a:p xmlns:a="http://schemas.openxmlformats.org/drawingml/2006/main">
            <a:r>
              <a:t>      "알림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"수문·기상 자료",</a:t>
            </a:r>
          </a:p>
          <a:p xmlns:a="http://schemas.openxmlformats.org/drawingml/2006/main">
            <a:r>
              <a:t>        "detail": "유역·예측시점·대상 지역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"수문 예측 / 위험 정보 / 알림 연결",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"홍수 예측 모델",</a:t>
            </a:r>
          </a:p>
          <a:p xmlns:a="http://schemas.openxmlformats.org/drawingml/2006/main">
            <a:r>
              <a:t>        "detail": "수문 입력을 활용한 범위별 위험 예측",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"지역 대응 담당",</a:t>
            </a:r>
          </a:p>
          <a:p xmlns:a="http://schemas.openxmlformats.org/drawingml/2006/main">
            <a:r>
              <a:t>        "detail": "위험 지역·시점 정보를 공식 대응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"하천·예측 이력",</a:t>
            </a:r>
          </a:p>
          <a:p xmlns:a="http://schemas.openxmlformats.org/drawingml/2006/main">
            <a:r>
              <a:t>        "detail": "유역 특성·관측·기상자료의 시간·공간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"미탐·과경보와 지역별 오차의 사후 분석",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"수문·기상 입력",</a:t>
            </a:r>
          </a:p>
          <a:p xmlns:a="http://schemas.openxmlformats.org/drawingml/2006/main">
            <a:r>
              <a:t>        "input": "유역·예측시점·대상 지역 지정",</a:t>
            </a:r>
          </a:p>
          <a:p xmlns:a="http://schemas.openxmlformats.org/drawingml/2006/main">
            <a:r>
              <a:t>        "process": "유역 특성·관측·기상자료의 시간·공간 정합화",</a:t>
            </a:r>
          </a:p>
          <a:p xmlns:a="http://schemas.openxmlformats.org/drawingml/2006/main">
            <a:r>
              <a:t>        "output": "강수·유량"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"예측 모델",</a:t>
            </a:r>
          </a:p>
          <a:p xmlns:a="http://schemas.openxmlformats.org/drawingml/2006/main">
            <a:r>
              <a:t>        "input": "강수·유량",</a:t>
            </a:r>
          </a:p>
          <a:p xmlns:a="http://schemas.openxmlformats.org/drawingml/2006/main">
            <a:r>
              <a:t>        "process": "수문 입력을 활용한 범위별 위험 예측",</a:t>
            </a:r>
          </a:p>
          <a:p xmlns:a="http://schemas.openxmlformats.org/drawingml/2006/main">
            <a:r>
              <a:t>        "output": "시간별 예측"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"위험·시점 안내",</a:t>
            </a:r>
          </a:p>
          <a:p xmlns:a="http://schemas.openxmlformats.org/drawingml/2006/main">
            <a:r>
              <a:t>        "input": "시간별 예측",</a:t>
            </a:r>
          </a:p>
          <a:p xmlns:a="http://schemas.openxmlformats.org/drawingml/2006/main">
            <a:r>
              <a:t>        "process": "지역별 오탐·미탐과 선행시간 평가",</a:t>
            </a:r>
          </a:p>
          <a:p xmlns:a="http://schemas.openxmlformats.org/drawingml/2006/main">
            <a:r>
              <a:t>        "output": "위험·예상 시점"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대응 검토",</a:t>
            </a:r>
          </a:p>
          <a:p xmlns:a="http://schemas.openxmlformats.org/drawingml/2006/main">
            <a:r>
              <a:t>        "input": "위험·예상 시점",</a:t>
            </a:r>
          </a:p>
          <a:p xmlns:a="http://schemas.openxmlformats.org/drawingml/2006/main">
            <a:r>
              <a:t>        "process": "위험 지역·시점 정보를 공식 대응 검토에 전달",</a:t>
            </a:r>
          </a:p>
          <a:p xmlns:a="http://schemas.openxmlformats.org/drawingml/2006/main">
            <a:r>
              <a:t>        "output": "현장 대응 판단"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"유역별 예측 위험을 지역별 대응 검토에 제공",</a:t>
            </a:r>
          </a:p>
          <a:p xmlns:a="http://schemas.openxmlformats.org/drawingml/2006/main">
            <a:r>
              <a:t>      "exception": "관측 결측·분포가 다른 유역·예측시점 이후 자료 혼입",</a:t>
            </a:r>
          </a:p>
          <a:p xmlns:a="http://schemas.openxmlformats.org/drawingml/2006/main">
            <a:r>
              <a:t>      "evidence": "시점 분리 평가와 유역별 미탐·과경보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"예보 운영자·방재 담당·주민",</a:t>
            </a:r>
          </a:p>
          <a:p xmlns:a="http://schemas.openxmlformats.org/drawingml/2006/main">
            <a:r>
              <a:t>          "processing": "유역·예측시점·대상 지역 지정",</a:t>
            </a:r>
          </a:p>
          <a:p xmlns:a="http://schemas.openxmlformats.org/drawingml/2006/main">
            <a:r>
              <a:t>          "output": "강수·유량"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"하천·예측 이력",</a:t>
            </a:r>
          </a:p>
          <a:p xmlns:a="http://schemas.openxmlformats.org/drawingml/2006/main">
            <a:r>
              <a:t>          "processing": "유역 특성·관측·기상자료의 시간·공간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"강수·유량",</a:t>
            </a:r>
          </a:p>
          <a:p xmlns:a="http://schemas.openxmlformats.org/drawingml/2006/main">
            <a:r>
              <a:t>          "processing": "수문 입력을 활용한 범위별 위험 예측",</a:t>
            </a:r>
          </a:p>
          <a:p xmlns:a="http://schemas.openxmlformats.org/drawingml/2006/main">
            <a:r>
              <a:t>          "output": "위험·예상 시점"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"위험·예상 시점",</a:t>
            </a:r>
          </a:p>
          <a:p xmlns:a="http://schemas.openxmlformats.org/drawingml/2006/main">
            <a:r>
              <a:t>          "processing": "위험 지역·시점 정보를 공식 대응 검토에 전달",</a:t>
            </a:r>
          </a:p>
          <a:p xmlns:a="http://schemas.openxmlformats.org/drawingml/2006/main">
            <a:r>
              <a:t>          "output": "현장 대응 판단"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"미탐·과경보와 지역별 오차의 사후 분석",</a:t>
            </a:r>
          </a:p>
          <a:p xmlns:a="http://schemas.openxmlformats.org/drawingml/2006/main">
            <a:r>
              <a:t>          "output":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"미탐·과경보와 지역별 오차의 사후 분석",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"S-AX12",</a:t>
            </a:r>
          </a:p>
          <a:p xmlns:a="http://schemas.openxmlformats.org/drawingml/2006/main">
            <a:r>
              <a:t>        "title": "Google 홍수 예측 · Nature 연구 / 2024",</a:t>
            </a:r>
          </a:p>
          <a:p xmlns:a="http://schemas.openxmlformats.org/drawingml/2006/main">
            <a:r>
              <a:t>        "url": "https://research.google/pubs/ai-increases-global-access-to-reliable-flood-forecasts-2/",</a:t>
            </a:r>
          </a:p>
          <a:p xmlns:a="http://schemas.openxmlformats.org/drawingml/2006/main">
            <a:r>
              <a:t>        "published": "2024 연구·운영",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"예측 불확실성과 대응 책임의 동시 관리",</a:t>
            </a:r>
          </a:p>
          <a:p xmlns:a="http://schemas.openxmlformats.org/drawingml/2006/main">
            <a:r>
              <a:t>    "local": "교통시설 위험 알림과 관할 점검 조치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"관측 자료가 부족한 지역까지 홍수 예측 정보를 제공하려는 사례. 예측 모델의 지역 일반화와 주민·대응기관의 실제 행동을 연결하는 단계가 별도 과제.",</a:t>
            </a:r>
          </a:p>
          <a:p xmlns:a="http://schemas.openxmlformats.org/drawingml/2006/main">
            <a:r>
              <a:t>      "유역 특성·강수·유량을 시간·공간 단위로 정합화하고 위험 지역·예상 시점을 산출하는 구조. TS 적용 설계에서는 기상·재난 위험을 교통시설·운행 업무와 연결해 담당자의 대응 검토를 지원.",</a:t>
            </a:r>
          </a:p>
          <a:p xmlns:a="http://schemas.openxmlformats.org/drawingml/2006/main">
            <a:r>
              <a:t>      "예측 정확도와 사고 예방 효과의 분리. 지역별 미탐·과경보·선행시간, 경보 수신과 조치 완료를 함께 평가하며 관측 부족 구간의 불확실성을 보존할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"예측 대상 지정",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"예보 운영자·방재 담당·주민",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"유역·예측시점",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"유역·예측시점·대상 지역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"기상·수문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"강수·유량",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"홍수 위험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"수문 입력을 활용한 범위별 위험 예측",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"지역별 오차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"지역별 오탐·미탐과 선행시간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"예보 담당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"유역별 예측 위험을 지역별 대응 검토에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"경보·대응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지역·시점 정보를 공식 대응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"미탐·과경보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"미탐·과경보와 지역별 오차의 사후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"유역·관측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"하천·예측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"시간·공간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"유역 특성·관측·기상자료의 시간·공간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"예측·관측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"시점 분리 평가와 유역별 미탐·과경보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"경보·대응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"관측 결측·분포가 다른 유역·예측시점 이후 자료 혼입",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"유역·예측시점·대상 지역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"강수·유량",</a:t>
            </a:r>
          </a:p>
          <a:p xmlns:a="http://schemas.openxmlformats.org/drawingml/2006/main">
            <a:r>
              <a:t>          "check": "지역별 오탐·미탐과 선행시간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"시간별 예측",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"관측 결측·분포가 다른 유역·예측시점 이후 자료 혼입"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"위험·예상 시점",</a:t>
            </a:r>
          </a:p>
          <a:p xmlns:a="http://schemas.openxmlformats.org/drawingml/2006/main">
            <a:r>
              <a:t>          "check": "위험 지역·시점 정보를 공식 대응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 판단",</a:t>
            </a:r>
          </a:p>
          <a:p xmlns:a="http://schemas.openxmlformats.org/drawingml/2006/main">
            <a:r>
              <a:t>          "check": "시점 분리 평가와 유역별 미탐·과경보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"관측이 부족한 하천의 홍수 위험 예측 / 수문 예측·위험 정보·알림 연결",</a:t>
            </a:r>
          </a:p>
          <a:p xmlns:a="http://schemas.openxmlformats.org/drawingml/2006/main">
            <a:r>
              <a:t>        "extension": "교통시설 위험 알림과 관할 점검 조치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"관측 결측·분포가 다른 유역·예측시점 이후 자료 혼입",</a:t>
            </a:r>
          </a:p>
          <a:p xmlns:a="http://schemas.openxmlformats.org/drawingml/2006/main">
            <a:r>
              <a:t>        "hold": "지역별 오탐·미탐과 선행시간 평가",</a:t>
            </a:r>
          </a:p>
          <a:p xmlns:a="http://schemas.openxmlformats.org/drawingml/2006/main">
            <a:r>
              <a:t>        "recovery": "미탐·과경보와 지역별 오차의 사후 분석",</a:t>
            </a:r>
          </a:p>
          <a:p xmlns:a="http://schemas.openxmlformats.org/drawingml/2006/main">
            <a:r>
              <a:t>        "evidence": "시점 분리 평가와 유역별 미탐·과경보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"하천·예측 이력",</a:t>
            </a:r>
          </a:p>
          <a:p xmlns:a="http://schemas.openxmlformats.org/drawingml/2006/main">
            <a:r>
              <a:t>        "prepare": "유역 특성·관측·기상자료의 시간·공간 정합화",</a:t>
            </a:r>
          </a:p>
          <a:p xmlns:a="http://schemas.openxmlformats.org/drawingml/2006/main">
            <a:r>
              <a:t>        "output": "강수·유량",</a:t>
            </a:r>
          </a:p>
          <a:p xmlns:a="http://schemas.openxmlformats.org/drawingml/2006/main">
            <a:r>
              <a:t>        "refresh": "미탐·과경보와 지역별 오차의 사후 분석"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"관측 부족 지역의 예측 범위 확대",</a:t>
            </a:r>
          </a:p>
          <a:p xmlns:a="http://schemas.openxmlformats.org/drawingml/2006/main">
            <a:r>
              <a:t>      "비교 평가를 통한 예측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"관측 분포·지역별 불확실성",</a:t>
            </a:r>
          </a:p>
          <a:p xmlns:a="http://schemas.openxmlformats.org/drawingml/2006/main">
            <a:r>
              <a:t>      "경보 정확도와 실제 대응 효과의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"수문·기상 자료",</a:t>
            </a:r>
          </a:p>
          <a:p xmlns:a="http://schemas.openxmlformats.org/drawingml/2006/main">
            <a:r>
              <a:t>      "홍수 예측 모델",</a:t>
            </a:r>
          </a:p>
          <a:p xmlns:a="http://schemas.openxmlformats.org/drawingml/2006/main">
            <a:r>
              <a:t>      "하천·예측 이력",</a:t>
            </a:r>
          </a:p>
          <a:p xmlns:a="http://schemas.openxmlformats.org/drawingml/2006/main">
            <a:r>
              <a:t>      "지역 대응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"강수·유량",</a:t>
            </a:r>
          </a:p>
          <a:p xmlns:a="http://schemas.openxmlformats.org/drawingml/2006/main">
            <a:r>
              <a:t>      "시간별 예측",</a:t>
            </a:r>
          </a:p>
          <a:p xmlns:a="http://schemas.openxmlformats.org/drawingml/2006/main">
            <a:r>
              <a:t>      "위험·예상 시점",</a:t>
            </a:r>
          </a:p>
          <a:p xmlns:a="http://schemas.openxmlformats.org/drawingml/2006/main">
            <a:r>
              <a:t>      "현장 대응 판단"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"지역별 오탐·미탐과 선행시간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Google 홍수 예측 · Nature 연구 / 2024 https://research.google/pubs/ai-increases-global-access-to-reliable-flood-forecasts-2/</a:t>
            </a:r>
          </a:p>
          <a:p xmlns:a="http://schemas.openxmlformats.org/drawingml/2006/main">
            <a:r>
              <a:t>홈페이지 https://heen1987-ops.github.io/TS-business-Plan-001/index.html?view=casebook&amp;case=AX12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"title": "뉴욕 MyCity 챗봇 감사",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"공공 서비스 AI 품질·사업관리",</a:t>
            </a:r>
          </a:p>
          <a:p xmlns:a="http://schemas.openxmlformats.org/drawingml/2006/main">
            <a:r>
              <a:t>    "period": "2025 감사 / 2026 갱신",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"공공 서비스 AI 품질",</a:t>
            </a:r>
          </a:p>
          <a:p xmlns:a="http://schemas.openxmlformats.org/drawingml/2006/main">
            <a:r>
              <a:t>      "사업관리"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"부정확·비일관 답변과 사업관리·통합서비스 미비에 대한 감사 지적",</a:t>
            </a:r>
          </a:p>
          <a:p xmlns:a="http://schemas.openxmlformats.org/drawingml/2006/main">
            <a:r>
              <a:t>    "limit": "운영기관의 정확도 주장과 감사 판단의 차이 존재 · 개별 질의·평가 방식 대조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"공공 안내 자료",</a:t>
            </a:r>
          </a:p>
          <a:p xmlns:a="http://schemas.openxmlformats.org/drawingml/2006/main">
            <a:r>
              <a:t>      "AI 챗봇",</a:t>
            </a:r>
          </a:p>
          <a:p xmlns:a="http://schemas.openxmlformats.org/drawingml/2006/main">
            <a:r>
              <a:t>      "사업자 안내",</a:t>
            </a:r>
          </a:p>
          <a:p xmlns:a="http://schemas.openxmlformats.org/drawingml/2006/main">
            <a:r>
              <a:t>      "감사·개선 요청"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"반례 정답셋·오안내 신고·책임부서 인계",</a:t>
            </a:r>
          </a:p>
          <a:p xmlns:a="http://schemas.openxmlformats.org/drawingml/2006/main">
            <a:r>
              <a:t>    "test": "규정과 상충하는 안내 및 미완료 신청 재현",</a:t>
            </a:r>
          </a:p>
          <a:p xmlns:a="http://schemas.openxmlformats.org/drawingml/2006/main">
            <a:r>
              <a:t>    "metric": "오안내율 / 신청 완료율 / 재접촉률",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"canonicalId": "AX13",</a:t>
            </a:r>
          </a:p>
          <a:p xmlns:a="http://schemas.openxmlformats.org/drawingml/2006/main">
            <a:r>
              <a:t>    "purpose": "대민 챗봇의 답변 품질·사업관리 실패 분석",</a:t>
            </a:r>
          </a:p>
          <a:p xmlns:a="http://schemas.openxmlformats.org/drawingml/2006/main">
            <a:r>
              <a:t>    "users": "사업자·시민·서비스 운영부서",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"포털 통합",</a:t>
            </a:r>
          </a:p>
          <a:p xmlns:a="http://schemas.openxmlformats.org/drawingml/2006/main">
            <a:r>
              <a:t>      "계약·감사"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"MyCity 안내",</a:t>
            </a:r>
          </a:p>
          <a:p xmlns:a="http://schemas.openxmlformats.org/drawingml/2006/main">
            <a:r>
              <a:t>        "detail": "요청 업무와 공식 소관·이용조건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"질의응답 / 포털 통합 / 계약·감사",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"AI 챗봇·포털",</a:t>
            </a:r>
          </a:p>
          <a:p xmlns:a="http://schemas.openxmlformats.org/drawingml/2006/main">
            <a:r>
              <a:t>        "detail": "공식 정보 검색과 근거별 답변 대조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"사업자·서비스 담당",</a:t>
            </a:r>
          </a:p>
          <a:p xmlns:a="http://schemas.openxmlformats.org/drawingml/2006/main">
            <a:r>
              <a:t>        "detail": "검증된 안내와 실제 신청 경로의 분리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"공공 안내·응답 기록",</a:t>
            </a:r>
          </a:p>
          <a:p xmlns:a="http://schemas.openxmlformats.org/drawingml/2006/main">
            <a:r>
              <a:t>        "detail": "정책 원문·서비스 목록·시험 질문의 버전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"회귀시험·오답 보완·계약 산출물의 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"공공 안내 자료",</a:t>
            </a:r>
          </a:p>
          <a:p xmlns:a="http://schemas.openxmlformats.org/drawingml/2006/main">
            <a:r>
              <a:t>        "input": "요청 업무와 공식 소관·이용조건 식별",</a:t>
            </a:r>
          </a:p>
          <a:p xmlns:a="http://schemas.openxmlformats.org/drawingml/2006/main">
            <a:r>
              <a:t>        "process": "정책 원문·서비스 목록·시험 질문의 버전 관리",</a:t>
            </a:r>
          </a:p>
          <a:p xmlns:a="http://schemas.openxmlformats.org/drawingml/2006/main">
            <a:r>
              <a:t>        "output": "이용자 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챗봇",</a:t>
            </a:r>
          </a:p>
          <a:p xmlns:a="http://schemas.openxmlformats.org/drawingml/2006/main">
            <a:r>
              <a:t>        "input": "이용자 질문",</a:t>
            </a:r>
          </a:p>
          <a:p xmlns:a="http://schemas.openxmlformats.org/drawingml/2006/main">
            <a:r>
              <a:t>        "process": "공식 정보 검색과 근거별 답변 대조 설계",</a:t>
            </a:r>
          </a:p>
          <a:p xmlns:a="http://schemas.openxmlformats.org/drawingml/2006/main">
            <a:r>
              <a:t>        "output": "안내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"사업자 안내",</a:t>
            </a:r>
          </a:p>
          <a:p xmlns:a="http://schemas.openxmlformats.org/drawingml/2006/main">
            <a:r>
              <a:t>        "input": "안내 자료",</a:t>
            </a:r>
          </a:p>
          <a:p xmlns:a="http://schemas.openxmlformats.org/drawingml/2006/main">
            <a:r>
              <a:t>        "process": "OTI 반론을 함께 보존한 근거별 평가",</a:t>
            </a:r>
          </a:p>
          <a:p xmlns:a="http://schemas.openxmlformats.org/drawingml/2006/main">
            <a:r>
              <a:t>        "output": "챗봇 답변·연결"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"감사·개선 요청",</a:t>
            </a:r>
          </a:p>
          <a:p xmlns:a="http://schemas.openxmlformats.org/drawingml/2006/main">
            <a:r>
              <a:t>        "input": "챗봇 답변·연결",</a:t>
            </a:r>
          </a:p>
          <a:p xmlns:a="http://schemas.openxmlformats.org/drawingml/2006/main">
            <a:r>
              <a:t>        "process": "검증된 안내와 실제 신청 경로의 분리 제공",</a:t>
            </a:r>
          </a:p>
          <a:p xmlns:a="http://schemas.openxmlformats.org/drawingml/2006/main">
            <a:r>
              <a:t>        "output": "피드백·감사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"사업자가 허가 조건을 질문해 공식 안내로 이동",</a:t>
            </a:r>
          </a:p>
          <a:p xmlns:a="http://schemas.openxmlformats.org/drawingml/2006/main">
            <a:r>
              <a:t>      "exception": "동일 질문 표현 변경·상충 규정·폐지된 서비스",</a:t>
            </a:r>
          </a:p>
          <a:p xmlns:a="http://schemas.openxmlformats.org/drawingml/2006/main">
            <a:r>
              <a:t>      "evidence": "질문별 정답·변형 질의 일관성·실제 서비스 도달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"사업자·시민·서비스 운영부서",</a:t>
            </a:r>
          </a:p>
          <a:p xmlns:a="http://schemas.openxmlformats.org/drawingml/2006/main">
            <a:r>
              <a:t>          "processing": "요청 업무와 공식 소관·이용조건 식별",</a:t>
            </a:r>
          </a:p>
          <a:p xmlns:a="http://schemas.openxmlformats.org/drawingml/2006/main">
            <a:r>
              <a:t>          "output": "이용자 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"공공 안내·응답 기록",</a:t>
            </a:r>
          </a:p>
          <a:p xmlns:a="http://schemas.openxmlformats.org/drawingml/2006/main">
            <a:r>
              <a:t>          "processing": "정책 원문·서비스 목록·시험 질문의 버전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"이용자 질문",</a:t>
            </a:r>
          </a:p>
          <a:p xmlns:a="http://schemas.openxmlformats.org/drawingml/2006/main">
            <a:r>
              <a:t>          "processing": "공식 정보 검색과 근거별 답변 대조 설계",</a:t>
            </a:r>
          </a:p>
          <a:p xmlns:a="http://schemas.openxmlformats.org/drawingml/2006/main">
            <a:r>
              <a:t>          "output": "챗봇 답변·연결"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"챗봇 답변·연결",</a:t>
            </a:r>
          </a:p>
          <a:p xmlns:a="http://schemas.openxmlformats.org/drawingml/2006/main">
            <a:r>
              <a:t>          "processing": "검증된 안내와 실제 신청 경로의 분리 제공",</a:t>
            </a:r>
          </a:p>
          <a:p xmlns:a="http://schemas.openxmlformats.org/drawingml/2006/main">
            <a:r>
              <a:t>          "output": "피드백·감사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"회귀시험·오답 보완·계약 산출물의 대사",</a:t>
            </a:r>
          </a:p>
          <a:p xmlns:a="http://schemas.openxmlformats.org/drawingml/2006/main">
            <a:r>
              <a:t>          "output":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"회귀시험·오답 보완·계약 산출물의 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"S-AX13",</a:t>
            </a:r>
          </a:p>
          <a:p xmlns:a="http://schemas.openxmlformats.org/drawingml/2006/main">
            <a:r>
              <a:t>        "title": "뉴욕 MyCity 챗봇 감사 · 뉴욕시 감사기관 / 2025-12-30",</a:t>
            </a:r>
          </a:p>
          <a:p xmlns:a="http://schemas.openxmlformats.org/drawingml/2006/main">
            <a:r>
              <a:t>        "url": "https://comptroller.nyc.gov/reports/audit-report-on-the-new-york-city-office-of-technology-and-innovations-mycity-system/",</a:t>
            </a:r>
          </a:p>
          <a:p xmlns:a="http://schemas.openxmlformats.org/drawingml/2006/main">
            <a:r>
              <a:t>        "published": "2025 감사 / 2026 갱신",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"뉴욕 MyCity의 챗봇 답변 품질과 통합서비스 사업관리 문제를 다룬 감사 사례. 공식 안내의 정확성과 서비스 통합·계약 감독을 함께 봐야 하는 대민 AI 사업의 사례.",</a:t>
            </a:r>
          </a:p>
          <a:p xmlns:a="http://schemas.openxmlformats.org/drawingml/2006/main">
            <a:r>
              <a:t>      "질문별 근거 문서, 답변 결과, 공식 신청 경로, 오류 수정 이력을 연결하는 재구성. 독립 시험셋과 계약 산출물 목록을 대응시키고 감사 지적·기관 반론을 근거별로 구분해 비교하는 방식.",</a:t>
            </a:r>
          </a:p>
          <a:p xmlns:a="http://schemas.openxmlformats.org/drawingml/2006/main">
            <a:r>
              <a:t>      "TS에서는 챗봇 공개와 민원 업무 완결을 같은 성과로 보지 않는 설계에 활용. 부정확·상충 안내의 회귀시험, 완료조건 정의, 변경 요구와 인수 증빙의 연결을 CCK 사업관리 기능에 반영할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"MyCity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"사업자·시민·서비스 운영부서",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"소관·이용조건",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"요청 업무와 공식 소관·이용조건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"공식 안내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"이용자 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"근거형 답변 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"공식 정보 검색과 근거별 답변 대조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"위법·상충 안내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"OTI 반론을 함께 보존한 근거별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"서비스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"사업자가 허가 조건을 질문해 공식 안내로 이동",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"신청 경로 안내",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"검증된 안내와 실제 신청 경로의 분리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"오답·계약 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"회귀시험·오답 보완·계약 산출물의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"정책·서비스 목록",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"공공 안내·응답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"판본·적용조건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"정책 원문·서비스 목록·시험 질문의 버전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"안내·회귀시험셋",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"질문별 정답·변형 질의 일관성·실제 서비스 도달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"업무 책임·품질기준",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"동일 질문 표현 변경·상충 규정·폐지된 서비스",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"요청 업무와 공식 소관·이용조건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"이용자 질문",</a:t>
            </a:r>
          </a:p>
          <a:p xmlns:a="http://schemas.openxmlformats.org/drawingml/2006/main">
            <a:r>
              <a:t>          "check": "OTI 반론을 함께 보존한 근거별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"안내 자료",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"동일 질문 표현 변경·상충 규정·폐지된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"검증된 안내와 실제 신청 경로의 분리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"피드백·감사 기록",</a:t>
            </a:r>
          </a:p>
          <a:p xmlns:a="http://schemas.openxmlformats.org/drawingml/2006/main">
            <a:r>
              <a:t>          "check":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"대민 챗봇의 답변 품질·사업관리 실패 분석 / 질의응답·포털 통합·계약·감사",</a:t>
            </a:r>
          </a:p>
          <a:p xmlns:a="http://schemas.openxmlformats.org/drawingml/2006/main">
            <a:r>
              <a:t>        "extension": "TS 대민 안내의 근거·소관·신청 완료까지 검수"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"동일 질문 표현 변경·상충 규정·폐지된 서비스",</a:t>
            </a:r>
          </a:p>
          <a:p xmlns:a="http://schemas.openxmlformats.org/drawingml/2006/main">
            <a:r>
              <a:t>        "hold": "OTI 반론을 함께 보존한 근거별 평가",</a:t>
            </a:r>
          </a:p>
          <a:p xmlns:a="http://schemas.openxmlformats.org/drawingml/2006/main">
            <a:r>
              <a:t>        "recovery": "회귀시험·오답 보완·계약 산출물의 대사",</a:t>
            </a:r>
          </a:p>
          <a:p xmlns:a="http://schemas.openxmlformats.org/drawingml/2006/main">
            <a:r>
              <a:t>        "evidence": "질문별 정답·변형 질의 일관성·실제 서비스 도달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"공공 안내·응답 기록",</a:t>
            </a:r>
          </a:p>
          <a:p xmlns:a="http://schemas.openxmlformats.org/drawingml/2006/main">
            <a:r>
              <a:t>        "prepare": "정책 원문·서비스 목록·시험 질문의 버전 관리",</a:t>
            </a:r>
          </a:p>
          <a:p xmlns:a="http://schemas.openxmlformats.org/drawingml/2006/main">
            <a:r>
              <a:t>        "output": "이용자 질문",</a:t>
            </a:r>
          </a:p>
          <a:p xmlns:a="http://schemas.openxmlformats.org/drawingml/2006/main">
            <a:r>
              <a:t>        "refresh": "회귀시험·오답 보완·계약 산출물의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"업무 완결 조건과 책임 범위 정의",</a:t>
            </a:r>
          </a:p>
          <a:p xmlns:a="http://schemas.openxmlformats.org/drawingml/2006/main">
            <a:r>
              <a:t>      "독립 평가셋·계약 산출물 추적"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"감사에서 지적된 부정확·비일관 답변",</a:t>
            </a:r>
          </a:p>
          <a:p xmlns:a="http://schemas.openxmlformats.org/drawingml/2006/main">
            <a:r>
              <a:t>      "통합서비스 계획·계약 감독의 미비"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"MyCity 안내",</a:t>
            </a:r>
          </a:p>
          <a:p xmlns:a="http://schemas.openxmlformats.org/drawingml/2006/main">
            <a:r>
              <a:t>      "AI 챗봇·포털",</a:t>
            </a:r>
          </a:p>
          <a:p xmlns:a="http://schemas.openxmlformats.org/drawingml/2006/main">
            <a:r>
              <a:t>      "공공 안내·응답 기록",</a:t>
            </a:r>
          </a:p>
          <a:p xmlns:a="http://schemas.openxmlformats.org/drawingml/2006/main">
            <a:r>
              <a:t>      "사업자·서비스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"이용자 질문",</a:t>
            </a:r>
          </a:p>
          <a:p xmlns:a="http://schemas.openxmlformats.org/drawingml/2006/main">
            <a:r>
              <a:t>      "안내 자료",</a:t>
            </a:r>
          </a:p>
          <a:p xmlns:a="http://schemas.openxmlformats.org/drawingml/2006/main">
            <a:r>
              <a:t>      "챗봇 답변·연결",</a:t>
            </a:r>
          </a:p>
          <a:p xmlns:a="http://schemas.openxmlformats.org/drawingml/2006/main">
            <a:r>
              <a:t>      "피드백·감사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"OTI 반론을 함께 보존한 근거별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뉴욕 MyCity 챗봇 감사 · 뉴욕시 감사기관 / 2025-12-30 https://comptroller.nyc.gov/reports/audit-report-on-the-new-york-city-office-of-technology-and-innovations-mycity-system/</a:t>
            </a:r>
          </a:p>
          <a:p xmlns:a="http://schemas.openxmlformats.org/drawingml/2006/main">
            <a:r>
              <a:t>홈페이지 https://heen1987-ops.github.io/TS-business-Plan-001/index.html?view=casebook&amp;case=AX13</a:t>
            </a:r>
          </a:p>
          <a:p xmlns:a="http://schemas.openxmlformats.org/drawingml/2006/main">
            <a:r>
              <a:t>한계: 운영기관의 정확도 주장과 감사 판단의 차이 존재 · 개별 질의·평가 방식 대조 필요</a:t>
            </a:r>
          </a:p>
          <a:p xmlns:a="http://schemas.openxmlformats.org/drawingml/2006/main">
            <a:r>
              <a:t>재발 방지 조건: 업무 완결 조건과 책임 범위 정의 / 독립 평가셋·계약 산출물 추적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"title": "뉴욕 MyCity 챗봇 감사",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"공공 서비스 AI 품질·사업관리",</a:t>
            </a:r>
          </a:p>
          <a:p xmlns:a="http://schemas.openxmlformats.org/drawingml/2006/main">
            <a:r>
              <a:t>    "period": "2025 감사 / 2026 갱신",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"공공 서비스 AI 품질",</a:t>
            </a:r>
          </a:p>
          <a:p xmlns:a="http://schemas.openxmlformats.org/drawingml/2006/main">
            <a:r>
              <a:t>      "사업관리"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"부정확·비일관 답변과 사업관리·통합서비스 미비에 대한 감사 지적",</a:t>
            </a:r>
          </a:p>
          <a:p xmlns:a="http://schemas.openxmlformats.org/drawingml/2006/main">
            <a:r>
              <a:t>    "limit": "운영기관의 정확도 주장과 감사 판단의 차이 존재 · 개별 질의·평가 방식 대조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"공공 안내 자료",</a:t>
            </a:r>
          </a:p>
          <a:p xmlns:a="http://schemas.openxmlformats.org/drawingml/2006/main">
            <a:r>
              <a:t>      "AI 챗봇",</a:t>
            </a:r>
          </a:p>
          <a:p xmlns:a="http://schemas.openxmlformats.org/drawingml/2006/main">
            <a:r>
              <a:t>      "사업자 안내",</a:t>
            </a:r>
          </a:p>
          <a:p xmlns:a="http://schemas.openxmlformats.org/drawingml/2006/main">
            <a:r>
              <a:t>      "감사·개선 요청"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"반례 정답셋·오안내 신고·책임부서 인계",</a:t>
            </a:r>
          </a:p>
          <a:p xmlns:a="http://schemas.openxmlformats.org/drawingml/2006/main">
            <a:r>
              <a:t>    "test": "규정과 상충하는 안내 및 미완료 신청 재현",</a:t>
            </a:r>
          </a:p>
          <a:p xmlns:a="http://schemas.openxmlformats.org/drawingml/2006/main">
            <a:r>
              <a:t>    "metric": "오안내율 / 신청 완료율 / 재접촉률",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"canonicalId": "AX13",</a:t>
            </a:r>
          </a:p>
          <a:p xmlns:a="http://schemas.openxmlformats.org/drawingml/2006/main">
            <a:r>
              <a:t>    "purpose": "대민 챗봇의 답변 품질·사업관리 실패 분석",</a:t>
            </a:r>
          </a:p>
          <a:p xmlns:a="http://schemas.openxmlformats.org/drawingml/2006/main">
            <a:r>
              <a:t>    "users": "사업자·시민·서비스 운영부서",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"포털 통합",</a:t>
            </a:r>
          </a:p>
          <a:p xmlns:a="http://schemas.openxmlformats.org/drawingml/2006/main">
            <a:r>
              <a:t>      "계약·감사"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"MyCity 안내",</a:t>
            </a:r>
          </a:p>
          <a:p xmlns:a="http://schemas.openxmlformats.org/drawingml/2006/main">
            <a:r>
              <a:t>        "detail": "요청 업무와 공식 소관·이용조건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"질의응답 / 포털 통합 / 계약·감사",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"AI 챗봇·포털",</a:t>
            </a:r>
          </a:p>
          <a:p xmlns:a="http://schemas.openxmlformats.org/drawingml/2006/main">
            <a:r>
              <a:t>        "detail": "공식 정보 검색과 근거별 답변 대조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"사업자·서비스 담당",</a:t>
            </a:r>
          </a:p>
          <a:p xmlns:a="http://schemas.openxmlformats.org/drawingml/2006/main">
            <a:r>
              <a:t>        "detail": "검증된 안내와 실제 신청 경로의 분리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"공공 안내·응답 기록",</a:t>
            </a:r>
          </a:p>
          <a:p xmlns:a="http://schemas.openxmlformats.org/drawingml/2006/main">
            <a:r>
              <a:t>        "detail": "정책 원문·서비스 목록·시험 질문의 버전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"회귀시험·오답 보완·계약 산출물의 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"공공 안내 자료",</a:t>
            </a:r>
          </a:p>
          <a:p xmlns:a="http://schemas.openxmlformats.org/drawingml/2006/main">
            <a:r>
              <a:t>        "input": "요청 업무와 공식 소관·이용조건 식별",</a:t>
            </a:r>
          </a:p>
          <a:p xmlns:a="http://schemas.openxmlformats.org/drawingml/2006/main">
            <a:r>
              <a:t>        "process": "정책 원문·서비스 목록·시험 질문의 버전 관리",</a:t>
            </a:r>
          </a:p>
          <a:p xmlns:a="http://schemas.openxmlformats.org/drawingml/2006/main">
            <a:r>
              <a:t>        "output": "이용자 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챗봇",</a:t>
            </a:r>
          </a:p>
          <a:p xmlns:a="http://schemas.openxmlformats.org/drawingml/2006/main">
            <a:r>
              <a:t>        "input": "이용자 질문",</a:t>
            </a:r>
          </a:p>
          <a:p xmlns:a="http://schemas.openxmlformats.org/drawingml/2006/main">
            <a:r>
              <a:t>        "process": "공식 정보 검색과 근거별 답변 대조 설계",</a:t>
            </a:r>
          </a:p>
          <a:p xmlns:a="http://schemas.openxmlformats.org/drawingml/2006/main">
            <a:r>
              <a:t>        "output": "안내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"사업자 안내",</a:t>
            </a:r>
          </a:p>
          <a:p xmlns:a="http://schemas.openxmlformats.org/drawingml/2006/main">
            <a:r>
              <a:t>        "input": "안내 자료",</a:t>
            </a:r>
          </a:p>
          <a:p xmlns:a="http://schemas.openxmlformats.org/drawingml/2006/main">
            <a:r>
              <a:t>        "process": "OTI 반론을 함께 보존한 근거별 평가",</a:t>
            </a:r>
          </a:p>
          <a:p xmlns:a="http://schemas.openxmlformats.org/drawingml/2006/main">
            <a:r>
              <a:t>        "output": "챗봇 답변·연결"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"감사·개선 요청",</a:t>
            </a:r>
          </a:p>
          <a:p xmlns:a="http://schemas.openxmlformats.org/drawingml/2006/main">
            <a:r>
              <a:t>        "input": "챗봇 답변·연결",</a:t>
            </a:r>
          </a:p>
          <a:p xmlns:a="http://schemas.openxmlformats.org/drawingml/2006/main">
            <a:r>
              <a:t>        "process": "검증된 안내와 실제 신청 경로의 분리 제공",</a:t>
            </a:r>
          </a:p>
          <a:p xmlns:a="http://schemas.openxmlformats.org/drawingml/2006/main">
            <a:r>
              <a:t>        "output": "피드백·감사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"사업자가 허가 조건을 질문해 공식 안내로 이동",</a:t>
            </a:r>
          </a:p>
          <a:p xmlns:a="http://schemas.openxmlformats.org/drawingml/2006/main">
            <a:r>
              <a:t>      "exception": "동일 질문 표현 변경·상충 규정·폐지된 서비스",</a:t>
            </a:r>
          </a:p>
          <a:p xmlns:a="http://schemas.openxmlformats.org/drawingml/2006/main">
            <a:r>
              <a:t>      "evidence": "질문별 정답·변형 질의 일관성·실제 서비스 도달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"사업자·시민·서비스 운영부서",</a:t>
            </a:r>
          </a:p>
          <a:p xmlns:a="http://schemas.openxmlformats.org/drawingml/2006/main">
            <a:r>
              <a:t>          "processing": "요청 업무와 공식 소관·이용조건 식별",</a:t>
            </a:r>
          </a:p>
          <a:p xmlns:a="http://schemas.openxmlformats.org/drawingml/2006/main">
            <a:r>
              <a:t>          "output": "이용자 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"공공 안내·응답 기록",</a:t>
            </a:r>
          </a:p>
          <a:p xmlns:a="http://schemas.openxmlformats.org/drawingml/2006/main">
            <a:r>
              <a:t>          "processing": "정책 원문·서비스 목록·시험 질문의 버전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"이용자 질문",</a:t>
            </a:r>
          </a:p>
          <a:p xmlns:a="http://schemas.openxmlformats.org/drawingml/2006/main">
            <a:r>
              <a:t>          "processing": "공식 정보 검색과 근거별 답변 대조 설계",</a:t>
            </a:r>
          </a:p>
          <a:p xmlns:a="http://schemas.openxmlformats.org/drawingml/2006/main">
            <a:r>
              <a:t>          "output": "챗봇 답변·연결"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"챗봇 답변·연결",</a:t>
            </a:r>
          </a:p>
          <a:p xmlns:a="http://schemas.openxmlformats.org/drawingml/2006/main">
            <a:r>
              <a:t>          "processing": "검증된 안내와 실제 신청 경로의 분리 제공",</a:t>
            </a:r>
          </a:p>
          <a:p xmlns:a="http://schemas.openxmlformats.org/drawingml/2006/main">
            <a:r>
              <a:t>          "output": "피드백·감사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"회귀시험·오답 보완·계약 산출물의 대사",</a:t>
            </a:r>
          </a:p>
          <a:p xmlns:a="http://schemas.openxmlformats.org/drawingml/2006/main">
            <a:r>
              <a:t>          "output":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"회귀시험·오답 보완·계약 산출물의 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"S-AX13",</a:t>
            </a:r>
          </a:p>
          <a:p xmlns:a="http://schemas.openxmlformats.org/drawingml/2006/main">
            <a:r>
              <a:t>        "title": "뉴욕 MyCity 챗봇 감사 · 뉴욕시 감사기관 / 2025-12-30",</a:t>
            </a:r>
          </a:p>
          <a:p xmlns:a="http://schemas.openxmlformats.org/drawingml/2006/main">
            <a:r>
              <a:t>        "url": "https://comptroller.nyc.gov/reports/audit-report-on-the-new-york-city-office-of-technology-and-innovations-mycity-system/",</a:t>
            </a:r>
          </a:p>
          <a:p xmlns:a="http://schemas.openxmlformats.org/drawingml/2006/main">
            <a:r>
              <a:t>        "published": "2025 감사 / 2026 갱신",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"뉴욕 MyCity의 챗봇 답변 품질과 통합서비스 사업관리 문제를 다룬 감사 사례. 공식 안내의 정확성과 서비스 통합·계약 감독을 함께 봐야 하는 대민 AI 사업의 사례.",</a:t>
            </a:r>
          </a:p>
          <a:p xmlns:a="http://schemas.openxmlformats.org/drawingml/2006/main">
            <a:r>
              <a:t>      "질문별 근거 문서, 답변 결과, 공식 신청 경로, 오류 수정 이력을 연결하는 재구성. 독립 시험셋과 계약 산출물 목록을 대응시키고 감사 지적·기관 반론을 근거별로 구분해 비교하는 방식.",</a:t>
            </a:r>
          </a:p>
          <a:p xmlns:a="http://schemas.openxmlformats.org/drawingml/2006/main">
            <a:r>
              <a:t>      "TS에서는 챗봇 공개와 민원 업무 완결을 같은 성과로 보지 않는 설계에 활용. 부정확·상충 안내의 회귀시험, 완료조건 정의, 변경 요구와 인수 증빙의 연결을 CCK 사업관리 기능에 반영할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"MyCity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"사업자·시민·서비스 운영부서",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"소관·이용조건",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"요청 업무와 공식 소관·이용조건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"공식 안내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"이용자 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"근거형 답변 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"공식 정보 검색과 근거별 답변 대조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"위법·상충 안내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"OTI 반론을 함께 보존한 근거별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"서비스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"사업자가 허가 조건을 질문해 공식 안내로 이동",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"신청 경로 안내",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"검증된 안내와 실제 신청 경로의 분리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"오답·계약 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"회귀시험·오답 보완·계약 산출물의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"정책·서비스 목록",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"공공 안내·응답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"판본·적용조건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"정책 원문·서비스 목록·시험 질문의 버전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"안내·회귀시험셋",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"질문별 정답·변형 질의 일관성·실제 서비스 도달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"업무 책임·품질기준",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"동일 질문 표현 변경·상충 규정·폐지된 서비스",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"요청 업무와 공식 소관·이용조건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"이용자 질문",</a:t>
            </a:r>
          </a:p>
          <a:p xmlns:a="http://schemas.openxmlformats.org/drawingml/2006/main">
            <a:r>
              <a:t>          "check": "OTI 반론을 함께 보존한 근거별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"안내 자료",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"동일 질문 표현 변경·상충 규정·폐지된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"검증된 안내와 실제 신청 경로의 분리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"피드백·감사 기록",</a:t>
            </a:r>
          </a:p>
          <a:p xmlns:a="http://schemas.openxmlformats.org/drawingml/2006/main">
            <a:r>
              <a:t>          "check":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"대민 챗봇의 답변 품질·사업관리 실패 분석 / 질의응답·포털 통합·계약·감사",</a:t>
            </a:r>
          </a:p>
          <a:p xmlns:a="http://schemas.openxmlformats.org/drawingml/2006/main">
            <a:r>
              <a:t>        "extension": "TS 대민 안내의 근거·소관·신청 완료까지 검수"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"동일 질문 표현 변경·상충 규정·폐지된 서비스",</a:t>
            </a:r>
          </a:p>
          <a:p xmlns:a="http://schemas.openxmlformats.org/drawingml/2006/main">
            <a:r>
              <a:t>        "hold": "OTI 반론을 함께 보존한 근거별 평가",</a:t>
            </a:r>
          </a:p>
          <a:p xmlns:a="http://schemas.openxmlformats.org/drawingml/2006/main">
            <a:r>
              <a:t>        "recovery": "회귀시험·오답 보완·계약 산출물의 대사",</a:t>
            </a:r>
          </a:p>
          <a:p xmlns:a="http://schemas.openxmlformats.org/drawingml/2006/main">
            <a:r>
              <a:t>        "evidence": "질문별 정답·변형 질의 일관성·실제 서비스 도달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"공공 안내·응답 기록",</a:t>
            </a:r>
          </a:p>
          <a:p xmlns:a="http://schemas.openxmlformats.org/drawingml/2006/main">
            <a:r>
              <a:t>        "prepare": "정책 원문·서비스 목록·시험 질문의 버전 관리",</a:t>
            </a:r>
          </a:p>
          <a:p xmlns:a="http://schemas.openxmlformats.org/drawingml/2006/main">
            <a:r>
              <a:t>        "output": "이용자 질문",</a:t>
            </a:r>
          </a:p>
          <a:p xmlns:a="http://schemas.openxmlformats.org/drawingml/2006/main">
            <a:r>
              <a:t>        "refresh": "회귀시험·오답 보완·계약 산출물의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"업무 완결 조건과 책임 범위 정의",</a:t>
            </a:r>
          </a:p>
          <a:p xmlns:a="http://schemas.openxmlformats.org/drawingml/2006/main">
            <a:r>
              <a:t>      "독립 평가셋·계약 산출물 추적"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"감사에서 지적된 부정확·비일관 답변",</a:t>
            </a:r>
          </a:p>
          <a:p xmlns:a="http://schemas.openxmlformats.org/drawingml/2006/main">
            <a:r>
              <a:t>      "통합서비스 계획·계약 감독의 미비"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"MyCity 안내",</a:t>
            </a:r>
          </a:p>
          <a:p xmlns:a="http://schemas.openxmlformats.org/drawingml/2006/main">
            <a:r>
              <a:t>      "AI 챗봇·포털",</a:t>
            </a:r>
          </a:p>
          <a:p xmlns:a="http://schemas.openxmlformats.org/drawingml/2006/main">
            <a:r>
              <a:t>      "공공 안내·응답 기록",</a:t>
            </a:r>
          </a:p>
          <a:p xmlns:a="http://schemas.openxmlformats.org/drawingml/2006/main">
            <a:r>
              <a:t>      "사업자·서비스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"이용자 질문",</a:t>
            </a:r>
          </a:p>
          <a:p xmlns:a="http://schemas.openxmlformats.org/drawingml/2006/main">
            <a:r>
              <a:t>      "안내 자료",</a:t>
            </a:r>
          </a:p>
          <a:p xmlns:a="http://schemas.openxmlformats.org/drawingml/2006/main">
            <a:r>
              <a:t>      "챗봇 답변·연결",</a:t>
            </a:r>
          </a:p>
          <a:p xmlns:a="http://schemas.openxmlformats.org/drawingml/2006/main">
            <a:r>
              <a:t>      "피드백·감사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"OTI 반론을 함께 보존한 근거별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뉴욕 MyCity 챗봇 감사 · 뉴욕시 감사기관 / 2025-12-30 https://comptroller.nyc.gov/reports/audit-report-on-the-new-york-city-office-of-technology-and-innovations-mycity-system/</a:t>
            </a:r>
          </a:p>
          <a:p xmlns:a="http://schemas.openxmlformats.org/drawingml/2006/main">
            <a:r>
              <a:t>홈페이지 https://heen1987-ops.github.io/TS-business-Plan-001/index.html?view=casebook&amp;case=AX13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"title": "뉴욕 MyCity 챗봇 감사",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"공공 서비스 AI 품질·사업관리",</a:t>
            </a:r>
          </a:p>
          <a:p xmlns:a="http://schemas.openxmlformats.org/drawingml/2006/main">
            <a:r>
              <a:t>    "period": "2025 감사 / 2026 갱신",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"공공 서비스 AI 품질",</a:t>
            </a:r>
          </a:p>
          <a:p xmlns:a="http://schemas.openxmlformats.org/drawingml/2006/main">
            <a:r>
              <a:t>      "사업관리"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"부정확·비일관 답변과 사업관리·통합서비스 미비에 대한 감사 지적",</a:t>
            </a:r>
          </a:p>
          <a:p xmlns:a="http://schemas.openxmlformats.org/drawingml/2006/main">
            <a:r>
              <a:t>    "limit": "운영기관의 정확도 주장과 감사 판단의 차이 존재 · 개별 질의·평가 방식 대조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"공공 안내 자료",</a:t>
            </a:r>
          </a:p>
          <a:p xmlns:a="http://schemas.openxmlformats.org/drawingml/2006/main">
            <a:r>
              <a:t>      "AI 챗봇",</a:t>
            </a:r>
          </a:p>
          <a:p xmlns:a="http://schemas.openxmlformats.org/drawingml/2006/main">
            <a:r>
              <a:t>      "사업자 안내",</a:t>
            </a:r>
          </a:p>
          <a:p xmlns:a="http://schemas.openxmlformats.org/drawingml/2006/main">
            <a:r>
              <a:t>      "감사·개선 요청"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"반례 정답셋·오안내 신고·책임부서 인계",</a:t>
            </a:r>
          </a:p>
          <a:p xmlns:a="http://schemas.openxmlformats.org/drawingml/2006/main">
            <a:r>
              <a:t>    "test": "규정과 상충하는 안내 및 미완료 신청 재현",</a:t>
            </a:r>
          </a:p>
          <a:p xmlns:a="http://schemas.openxmlformats.org/drawingml/2006/main">
            <a:r>
              <a:t>    "metric": "오안내율 / 신청 완료율 / 재접촉률",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"canonicalId": "AX13",</a:t>
            </a:r>
          </a:p>
          <a:p xmlns:a="http://schemas.openxmlformats.org/drawingml/2006/main">
            <a:r>
              <a:t>    "purpose": "대민 챗봇의 답변 품질·사업관리 실패 분석",</a:t>
            </a:r>
          </a:p>
          <a:p xmlns:a="http://schemas.openxmlformats.org/drawingml/2006/main">
            <a:r>
              <a:t>    "users": "사업자·시민·서비스 운영부서",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"포털 통합",</a:t>
            </a:r>
          </a:p>
          <a:p xmlns:a="http://schemas.openxmlformats.org/drawingml/2006/main">
            <a:r>
              <a:t>      "계약·감사"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"MyCity 안내",</a:t>
            </a:r>
          </a:p>
          <a:p xmlns:a="http://schemas.openxmlformats.org/drawingml/2006/main">
            <a:r>
              <a:t>        "detail": "요청 업무와 공식 소관·이용조건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"질의응답 / 포털 통합 / 계약·감사",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"AI 챗봇·포털",</a:t>
            </a:r>
          </a:p>
          <a:p xmlns:a="http://schemas.openxmlformats.org/drawingml/2006/main">
            <a:r>
              <a:t>        "detail": "공식 정보 검색과 근거별 답변 대조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"사업자·서비스 담당",</a:t>
            </a:r>
          </a:p>
          <a:p xmlns:a="http://schemas.openxmlformats.org/drawingml/2006/main">
            <a:r>
              <a:t>        "detail": "검증된 안내와 실제 신청 경로의 분리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"공공 안내·응답 기록",</a:t>
            </a:r>
          </a:p>
          <a:p xmlns:a="http://schemas.openxmlformats.org/drawingml/2006/main">
            <a:r>
              <a:t>        "detail": "정책 원문·서비스 목록·시험 질문의 버전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"회귀시험·오답 보완·계약 산출물의 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"공공 안내 자료",</a:t>
            </a:r>
          </a:p>
          <a:p xmlns:a="http://schemas.openxmlformats.org/drawingml/2006/main">
            <a:r>
              <a:t>        "input": "요청 업무와 공식 소관·이용조건 식별",</a:t>
            </a:r>
          </a:p>
          <a:p xmlns:a="http://schemas.openxmlformats.org/drawingml/2006/main">
            <a:r>
              <a:t>        "process": "정책 원문·서비스 목록·시험 질문의 버전 관리",</a:t>
            </a:r>
          </a:p>
          <a:p xmlns:a="http://schemas.openxmlformats.org/drawingml/2006/main">
            <a:r>
              <a:t>        "output": "이용자 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챗봇",</a:t>
            </a:r>
          </a:p>
          <a:p xmlns:a="http://schemas.openxmlformats.org/drawingml/2006/main">
            <a:r>
              <a:t>        "input": "이용자 질문",</a:t>
            </a:r>
          </a:p>
          <a:p xmlns:a="http://schemas.openxmlformats.org/drawingml/2006/main">
            <a:r>
              <a:t>        "process": "공식 정보 검색과 근거별 답변 대조 설계",</a:t>
            </a:r>
          </a:p>
          <a:p xmlns:a="http://schemas.openxmlformats.org/drawingml/2006/main">
            <a:r>
              <a:t>        "output": "안내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"사업자 안내",</a:t>
            </a:r>
          </a:p>
          <a:p xmlns:a="http://schemas.openxmlformats.org/drawingml/2006/main">
            <a:r>
              <a:t>        "input": "안내 자료",</a:t>
            </a:r>
          </a:p>
          <a:p xmlns:a="http://schemas.openxmlformats.org/drawingml/2006/main">
            <a:r>
              <a:t>        "process": "OTI 반론을 함께 보존한 근거별 평가",</a:t>
            </a:r>
          </a:p>
          <a:p xmlns:a="http://schemas.openxmlformats.org/drawingml/2006/main">
            <a:r>
              <a:t>        "output": "챗봇 답변·연결"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"감사·개선 요청",</a:t>
            </a:r>
          </a:p>
          <a:p xmlns:a="http://schemas.openxmlformats.org/drawingml/2006/main">
            <a:r>
              <a:t>        "input": "챗봇 답변·연결",</a:t>
            </a:r>
          </a:p>
          <a:p xmlns:a="http://schemas.openxmlformats.org/drawingml/2006/main">
            <a:r>
              <a:t>        "process": "검증된 안내와 실제 신청 경로의 분리 제공",</a:t>
            </a:r>
          </a:p>
          <a:p xmlns:a="http://schemas.openxmlformats.org/drawingml/2006/main">
            <a:r>
              <a:t>        "output": "피드백·감사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"사업자가 허가 조건을 질문해 공식 안내로 이동",</a:t>
            </a:r>
          </a:p>
          <a:p xmlns:a="http://schemas.openxmlformats.org/drawingml/2006/main">
            <a:r>
              <a:t>      "exception": "동일 질문 표현 변경·상충 규정·폐지된 서비스",</a:t>
            </a:r>
          </a:p>
          <a:p xmlns:a="http://schemas.openxmlformats.org/drawingml/2006/main">
            <a:r>
              <a:t>      "evidence": "질문별 정답·변형 질의 일관성·실제 서비스 도달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"사업자·시민·서비스 운영부서",</a:t>
            </a:r>
          </a:p>
          <a:p xmlns:a="http://schemas.openxmlformats.org/drawingml/2006/main">
            <a:r>
              <a:t>          "processing": "요청 업무와 공식 소관·이용조건 식별",</a:t>
            </a:r>
          </a:p>
          <a:p xmlns:a="http://schemas.openxmlformats.org/drawingml/2006/main">
            <a:r>
              <a:t>          "output": "이용자 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"공공 안내·응답 기록",</a:t>
            </a:r>
          </a:p>
          <a:p xmlns:a="http://schemas.openxmlformats.org/drawingml/2006/main">
            <a:r>
              <a:t>          "processing": "정책 원문·서비스 목록·시험 질문의 버전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"이용자 질문",</a:t>
            </a:r>
          </a:p>
          <a:p xmlns:a="http://schemas.openxmlformats.org/drawingml/2006/main">
            <a:r>
              <a:t>          "processing": "공식 정보 검색과 근거별 답변 대조 설계",</a:t>
            </a:r>
          </a:p>
          <a:p xmlns:a="http://schemas.openxmlformats.org/drawingml/2006/main">
            <a:r>
              <a:t>          "output": "챗봇 답변·연결"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"챗봇 답변·연결",</a:t>
            </a:r>
          </a:p>
          <a:p xmlns:a="http://schemas.openxmlformats.org/drawingml/2006/main">
            <a:r>
              <a:t>          "processing": "검증된 안내와 실제 신청 경로의 분리 제공",</a:t>
            </a:r>
          </a:p>
          <a:p xmlns:a="http://schemas.openxmlformats.org/drawingml/2006/main">
            <a:r>
              <a:t>          "output": "피드백·감사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"회귀시험·오답 보완·계약 산출물의 대사",</a:t>
            </a:r>
          </a:p>
          <a:p xmlns:a="http://schemas.openxmlformats.org/drawingml/2006/main">
            <a:r>
              <a:t>          "output":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"회귀시험·오답 보완·계약 산출물의 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"S-AX13",</a:t>
            </a:r>
          </a:p>
          <a:p xmlns:a="http://schemas.openxmlformats.org/drawingml/2006/main">
            <a:r>
              <a:t>        "title": "뉴욕 MyCity 챗봇 감사 · 뉴욕시 감사기관 / 2025-12-30",</a:t>
            </a:r>
          </a:p>
          <a:p xmlns:a="http://schemas.openxmlformats.org/drawingml/2006/main">
            <a:r>
              <a:t>        "url": "https://comptroller.nyc.gov/reports/audit-report-on-the-new-york-city-office-of-technology-and-innovations-mycity-system/",</a:t>
            </a:r>
          </a:p>
          <a:p xmlns:a="http://schemas.openxmlformats.org/drawingml/2006/main">
            <a:r>
              <a:t>        "published": "2025 감사 / 2026 갱신",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"뉴욕 MyCity의 챗봇 답변 품질과 통합서비스 사업관리 문제를 다룬 감사 사례. 공식 안내의 정확성과 서비스 통합·계약 감독을 함께 봐야 하는 대민 AI 사업의 사례.",</a:t>
            </a:r>
          </a:p>
          <a:p xmlns:a="http://schemas.openxmlformats.org/drawingml/2006/main">
            <a:r>
              <a:t>      "질문별 근거 문서, 답변 결과, 공식 신청 경로, 오류 수정 이력을 연결하는 재구성. 독립 시험셋과 계약 산출물 목록을 대응시키고 감사 지적·기관 반론을 근거별로 구분해 비교하는 방식.",</a:t>
            </a:r>
          </a:p>
          <a:p xmlns:a="http://schemas.openxmlformats.org/drawingml/2006/main">
            <a:r>
              <a:t>      "TS에서는 챗봇 공개와 민원 업무 완결을 같은 성과로 보지 않는 설계에 활용. 부정확·상충 안내의 회귀시험, 완료조건 정의, 변경 요구와 인수 증빙의 연결을 CCK 사업관리 기능에 반영할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"MyCity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"사업자·시민·서비스 운영부서",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"소관·이용조건",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"요청 업무와 공식 소관·이용조건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"공식 안내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"이용자 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"근거형 답변 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"공식 정보 검색과 근거별 답변 대조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"위법·상충 안내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"OTI 반론을 함께 보존한 근거별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"서비스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"사업자가 허가 조건을 질문해 공식 안내로 이동",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"신청 경로 안내",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"검증된 안내와 실제 신청 경로의 분리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"오답·계약 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"회귀시험·오답 보완·계약 산출물의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"정책·서비스 목록",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"공공 안내·응답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"판본·적용조건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"정책 원문·서비스 목록·시험 질문의 버전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"안내·회귀시험셋",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"질문별 정답·변형 질의 일관성·실제 서비스 도달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"업무 책임·품질기준",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"동일 질문 표현 변경·상충 규정·폐지된 서비스",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"요청 업무와 공식 소관·이용조건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"이용자 질문",</a:t>
            </a:r>
          </a:p>
          <a:p xmlns:a="http://schemas.openxmlformats.org/drawingml/2006/main">
            <a:r>
              <a:t>          "check": "OTI 반론을 함께 보존한 근거별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"안내 자료",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"동일 질문 표현 변경·상충 규정·폐지된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"검증된 안내와 실제 신청 경로의 분리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"피드백·감사 기록",</a:t>
            </a:r>
          </a:p>
          <a:p xmlns:a="http://schemas.openxmlformats.org/drawingml/2006/main">
            <a:r>
              <a:t>          "check":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"대민 챗봇의 답변 품질·사업관리 실패 분석 / 질의응답·포털 통합·계약·감사",</a:t>
            </a:r>
          </a:p>
          <a:p xmlns:a="http://schemas.openxmlformats.org/drawingml/2006/main">
            <a:r>
              <a:t>        "extension": "TS 대민 안내의 근거·소관·신청 완료까지 검수"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"동일 질문 표현 변경·상충 규정·폐지된 서비스",</a:t>
            </a:r>
          </a:p>
          <a:p xmlns:a="http://schemas.openxmlformats.org/drawingml/2006/main">
            <a:r>
              <a:t>        "hold": "OTI 반론을 함께 보존한 근거별 평가",</a:t>
            </a:r>
          </a:p>
          <a:p xmlns:a="http://schemas.openxmlformats.org/drawingml/2006/main">
            <a:r>
              <a:t>        "recovery": "회귀시험·오답 보완·계약 산출물의 대사",</a:t>
            </a:r>
          </a:p>
          <a:p xmlns:a="http://schemas.openxmlformats.org/drawingml/2006/main">
            <a:r>
              <a:t>        "evidence": "질문별 정답·변형 질의 일관성·실제 서비스 도달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"공공 안내·응답 기록",</a:t>
            </a:r>
          </a:p>
          <a:p xmlns:a="http://schemas.openxmlformats.org/drawingml/2006/main">
            <a:r>
              <a:t>        "prepare": "정책 원문·서비스 목록·시험 질문의 버전 관리",</a:t>
            </a:r>
          </a:p>
          <a:p xmlns:a="http://schemas.openxmlformats.org/drawingml/2006/main">
            <a:r>
              <a:t>        "output": "이용자 질문",</a:t>
            </a:r>
          </a:p>
          <a:p xmlns:a="http://schemas.openxmlformats.org/drawingml/2006/main">
            <a:r>
              <a:t>        "refresh": "회귀시험·오답 보완·계약 산출물의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"업무 완결 조건과 책임 범위 정의",</a:t>
            </a:r>
          </a:p>
          <a:p xmlns:a="http://schemas.openxmlformats.org/drawingml/2006/main">
            <a:r>
              <a:t>      "독립 평가셋·계약 산출물 추적"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"감사에서 지적된 부정확·비일관 답변",</a:t>
            </a:r>
          </a:p>
          <a:p xmlns:a="http://schemas.openxmlformats.org/drawingml/2006/main">
            <a:r>
              <a:t>      "통합서비스 계획·계약 감독의 미비"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"MyCity 안내",</a:t>
            </a:r>
          </a:p>
          <a:p xmlns:a="http://schemas.openxmlformats.org/drawingml/2006/main">
            <a:r>
              <a:t>      "AI 챗봇·포털",</a:t>
            </a:r>
          </a:p>
          <a:p xmlns:a="http://schemas.openxmlformats.org/drawingml/2006/main">
            <a:r>
              <a:t>      "공공 안내·응답 기록",</a:t>
            </a:r>
          </a:p>
          <a:p xmlns:a="http://schemas.openxmlformats.org/drawingml/2006/main">
            <a:r>
              <a:t>      "사업자·서비스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"이용자 질문",</a:t>
            </a:r>
          </a:p>
          <a:p xmlns:a="http://schemas.openxmlformats.org/drawingml/2006/main">
            <a:r>
              <a:t>      "안내 자료",</a:t>
            </a:r>
          </a:p>
          <a:p xmlns:a="http://schemas.openxmlformats.org/drawingml/2006/main">
            <a:r>
              <a:t>      "챗봇 답변·연결",</a:t>
            </a:r>
          </a:p>
          <a:p xmlns:a="http://schemas.openxmlformats.org/drawingml/2006/main">
            <a:r>
              <a:t>      "피드백·감사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"OTI 반론을 함께 보존한 근거별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뉴욕 MyCity 챗봇 감사 · 뉴욕시 감사기관 / 2025-12-30 https://comptroller.nyc.gov/reports/audit-report-on-the-new-york-city-office-of-technology-and-innovations-mycity-system/</a:t>
            </a:r>
          </a:p>
          <a:p xmlns:a="http://schemas.openxmlformats.org/drawingml/2006/main">
            <a:r>
              <a:t>홈페이지 https://heen1987-ops.github.io/TS-business-Plan-001/index.html?view=casebook&amp;case=AX13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"title": "뉴욕 MyCity 챗봇 감사",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"미국",</a:t>
            </a:r>
          </a:p>
          <a:p xmlns:a="http://schemas.openxmlformats.org/drawingml/2006/main">
            <a:r>
              <a:t>    "result": "실패",</a:t>
            </a:r>
          </a:p>
          <a:p xmlns:a="http://schemas.openxmlformats.org/drawingml/2006/main">
            <a:r>
              <a:t>    "kind": "공공 서비스 AI 품질·사업관리",</a:t>
            </a:r>
          </a:p>
          <a:p xmlns:a="http://schemas.openxmlformats.org/drawingml/2006/main">
            <a:r>
              <a:t>    "period": "2025 감사 / 2026 갱신",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"공공 서비스 AI 품질",</a:t>
            </a:r>
          </a:p>
          <a:p xmlns:a="http://schemas.openxmlformats.org/drawingml/2006/main">
            <a:r>
              <a:t>      "사업관리"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"부정확·비일관 답변과 사업관리·통합서비스 미비에 대한 감사 지적",</a:t>
            </a:r>
          </a:p>
          <a:p xmlns:a="http://schemas.openxmlformats.org/drawingml/2006/main">
            <a:r>
              <a:t>    "limit": "운영기관의 정확도 주장과 감사 판단의 차이 존재 · 개별 질의·평가 방식 대조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"공공 안내 자료",</a:t>
            </a:r>
          </a:p>
          <a:p xmlns:a="http://schemas.openxmlformats.org/drawingml/2006/main">
            <a:r>
              <a:t>      "AI 챗봇",</a:t>
            </a:r>
          </a:p>
          <a:p xmlns:a="http://schemas.openxmlformats.org/drawingml/2006/main">
            <a:r>
              <a:t>      "사업자 안내",</a:t>
            </a:r>
          </a:p>
          <a:p xmlns:a="http://schemas.openxmlformats.org/drawingml/2006/main">
            <a:r>
              <a:t>      "감사·개선 요청"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"반례 정답셋·오안내 신고·책임부서 인계",</a:t>
            </a:r>
          </a:p>
          <a:p xmlns:a="http://schemas.openxmlformats.org/drawingml/2006/main">
            <a:r>
              <a:t>    "test": "규정과 상충하는 안내 및 미완료 신청 재현",</a:t>
            </a:r>
          </a:p>
          <a:p xmlns:a="http://schemas.openxmlformats.org/drawingml/2006/main">
            <a:r>
              <a:t>    "metric": "오안내율 / 신청 완료율 / 재접촉률",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"canonicalId": "AX13",</a:t>
            </a:r>
          </a:p>
          <a:p xmlns:a="http://schemas.openxmlformats.org/drawingml/2006/main">
            <a:r>
              <a:t>    "purpose": "대민 챗봇의 답변 품질·사업관리 실패 분석",</a:t>
            </a:r>
          </a:p>
          <a:p xmlns:a="http://schemas.openxmlformats.org/drawingml/2006/main">
            <a:r>
              <a:t>    "users": "사업자·시민·서비스 운영부서",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"포털 통합",</a:t>
            </a:r>
          </a:p>
          <a:p xmlns:a="http://schemas.openxmlformats.org/drawingml/2006/main">
            <a:r>
              <a:t>      "계약·감사"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"MyCity 안내",</a:t>
            </a:r>
          </a:p>
          <a:p xmlns:a="http://schemas.openxmlformats.org/drawingml/2006/main">
            <a:r>
              <a:t>        "detail": "요청 업무와 공식 소관·이용조건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"질의응답 / 포털 통합 / 계약·감사",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"AI 챗봇·포털",</a:t>
            </a:r>
          </a:p>
          <a:p xmlns:a="http://schemas.openxmlformats.org/drawingml/2006/main">
            <a:r>
              <a:t>        "detail": "공식 정보 검색과 근거별 답변 대조 설계",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"사업자·서비스 담당",</a:t>
            </a:r>
          </a:p>
          <a:p xmlns:a="http://schemas.openxmlformats.org/drawingml/2006/main">
            <a:r>
              <a:t>        "detail": "검증된 안내와 실제 신청 경로의 분리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"공공 안내·응답 기록",</a:t>
            </a:r>
          </a:p>
          <a:p xmlns:a="http://schemas.openxmlformats.org/drawingml/2006/main">
            <a:r>
              <a:t>        "detail": "정책 원문·서비스 목록·시험 질문의 버전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"회귀시험·오답 보완·계약 산출물의 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"공공 안내 자료",</a:t>
            </a:r>
          </a:p>
          <a:p xmlns:a="http://schemas.openxmlformats.org/drawingml/2006/main">
            <a:r>
              <a:t>        "input": "요청 업무와 공식 소관·이용조건 식별",</a:t>
            </a:r>
          </a:p>
          <a:p xmlns:a="http://schemas.openxmlformats.org/drawingml/2006/main">
            <a:r>
              <a:t>        "process": "정책 원문·서비스 목록·시험 질문의 버전 관리",</a:t>
            </a:r>
          </a:p>
          <a:p xmlns:a="http://schemas.openxmlformats.org/drawingml/2006/main">
            <a:r>
              <a:t>        "output": "이용자 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챗봇",</a:t>
            </a:r>
          </a:p>
          <a:p xmlns:a="http://schemas.openxmlformats.org/drawingml/2006/main">
            <a:r>
              <a:t>        "input": "이용자 질문",</a:t>
            </a:r>
          </a:p>
          <a:p xmlns:a="http://schemas.openxmlformats.org/drawingml/2006/main">
            <a:r>
              <a:t>        "process": "공식 정보 검색과 근거별 답변 대조 설계",</a:t>
            </a:r>
          </a:p>
          <a:p xmlns:a="http://schemas.openxmlformats.org/drawingml/2006/main">
            <a:r>
              <a:t>        "output": "안내 자료"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"사업자 안내",</a:t>
            </a:r>
          </a:p>
          <a:p xmlns:a="http://schemas.openxmlformats.org/drawingml/2006/main">
            <a:r>
              <a:t>        "input": "안내 자료",</a:t>
            </a:r>
          </a:p>
          <a:p xmlns:a="http://schemas.openxmlformats.org/drawingml/2006/main">
            <a:r>
              <a:t>        "process": "OTI 반론을 함께 보존한 근거별 평가",</a:t>
            </a:r>
          </a:p>
          <a:p xmlns:a="http://schemas.openxmlformats.org/drawingml/2006/main">
            <a:r>
              <a:t>        "output": "챗봇 답변·연결"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"감사·개선 요청",</a:t>
            </a:r>
          </a:p>
          <a:p xmlns:a="http://schemas.openxmlformats.org/drawingml/2006/main">
            <a:r>
              <a:t>        "input": "챗봇 답변·연결",</a:t>
            </a:r>
          </a:p>
          <a:p xmlns:a="http://schemas.openxmlformats.org/drawingml/2006/main">
            <a:r>
              <a:t>        "process": "검증된 안내와 실제 신청 경로의 분리 제공",</a:t>
            </a:r>
          </a:p>
          <a:p xmlns:a="http://schemas.openxmlformats.org/drawingml/2006/main">
            <a:r>
              <a:t>        "output": "피드백·감사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"사업자가 허가 조건을 질문해 공식 안내로 이동",</a:t>
            </a:r>
          </a:p>
          <a:p xmlns:a="http://schemas.openxmlformats.org/drawingml/2006/main">
            <a:r>
              <a:t>      "exception": "동일 질문 표현 변경·상충 규정·폐지된 서비스",</a:t>
            </a:r>
          </a:p>
          <a:p xmlns:a="http://schemas.openxmlformats.org/drawingml/2006/main">
            <a:r>
              <a:t>      "evidence": "질문별 정답·변형 질의 일관성·실제 서비스 도달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"사업자·시민·서비스 운영부서",</a:t>
            </a:r>
          </a:p>
          <a:p xmlns:a="http://schemas.openxmlformats.org/drawingml/2006/main">
            <a:r>
              <a:t>          "processing": "요청 업무와 공식 소관·이용조건 식별",</a:t>
            </a:r>
          </a:p>
          <a:p xmlns:a="http://schemas.openxmlformats.org/drawingml/2006/main">
            <a:r>
              <a:t>          "output": "이용자 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"공공 안내·응답 기록",</a:t>
            </a:r>
          </a:p>
          <a:p xmlns:a="http://schemas.openxmlformats.org/drawingml/2006/main">
            <a:r>
              <a:t>          "processing": "정책 원문·서비스 목록·시험 질문의 버전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"이용자 질문",</a:t>
            </a:r>
          </a:p>
          <a:p xmlns:a="http://schemas.openxmlformats.org/drawingml/2006/main">
            <a:r>
              <a:t>          "processing": "공식 정보 검색과 근거별 답변 대조 설계",</a:t>
            </a:r>
          </a:p>
          <a:p xmlns:a="http://schemas.openxmlformats.org/drawingml/2006/main">
            <a:r>
              <a:t>          "output": "챗봇 답변·연결"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"챗봇 답변·연결",</a:t>
            </a:r>
          </a:p>
          <a:p xmlns:a="http://schemas.openxmlformats.org/drawingml/2006/main">
            <a:r>
              <a:t>          "processing": "검증된 안내와 실제 신청 경로의 분리 제공",</a:t>
            </a:r>
          </a:p>
          <a:p xmlns:a="http://schemas.openxmlformats.org/drawingml/2006/main">
            <a:r>
              <a:t>          "output": "피드백·감사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"회귀시험·오답 보완·계약 산출물의 대사",</a:t>
            </a:r>
          </a:p>
          <a:p xmlns:a="http://schemas.openxmlformats.org/drawingml/2006/main">
            <a:r>
              <a:t>          "output":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"회귀시험·오답 보완·계약 산출물의 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"S-AX13",</a:t>
            </a:r>
          </a:p>
          <a:p xmlns:a="http://schemas.openxmlformats.org/drawingml/2006/main">
            <a:r>
              <a:t>        "title": "뉴욕 MyCity 챗봇 감사 · 뉴욕시 감사기관 / 2025-12-30",</a:t>
            </a:r>
          </a:p>
          <a:p xmlns:a="http://schemas.openxmlformats.org/drawingml/2006/main">
            <a:r>
              <a:t>        "url": "https://comptroller.nyc.gov/reports/audit-report-on-the-new-york-city-office-of-technology-and-innovations-mycity-system/",</a:t>
            </a:r>
          </a:p>
          <a:p xmlns:a="http://schemas.openxmlformats.org/drawingml/2006/main">
            <a:r>
              <a:t>        "published": "2025 감사 / 2026 갱신",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"출시 여부와 실제 민원 과업 완료의 분리 평가",</a:t>
            </a:r>
          </a:p>
          <a:p xmlns:a="http://schemas.openxmlformats.org/drawingml/2006/main">
            <a:r>
              <a:t>    "local": "TS 대민 안내의 근거·소관·신청 완료까지 검수",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"뉴욕 MyCity의 챗봇 답변 품질과 통합서비스 사업관리 문제를 다룬 감사 사례. 공식 안내의 정확성과 서비스 통합·계약 감독을 함께 봐야 하는 대민 AI 사업의 사례.",</a:t>
            </a:r>
          </a:p>
          <a:p xmlns:a="http://schemas.openxmlformats.org/drawingml/2006/main">
            <a:r>
              <a:t>      "질문별 근거 문서, 답변 결과, 공식 신청 경로, 오류 수정 이력을 연결하는 재구성. 독립 시험셋과 계약 산출물 목록을 대응시키고 감사 지적·기관 반론을 근거별로 구분해 비교하는 방식.",</a:t>
            </a:r>
          </a:p>
          <a:p xmlns:a="http://schemas.openxmlformats.org/drawingml/2006/main">
            <a:r>
              <a:t>      "TS에서는 챗봇 공개와 민원 업무 완결을 같은 성과로 보지 않는 설계에 활용. 부정확·상충 안내의 회귀시험, 완료조건 정의, 변경 요구와 인수 증빙의 연결을 CCK 사업관리 기능에 반영할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"MyCity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"사업자·시민·서비스 운영부서",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"소관·이용조건",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"요청 업무와 공식 소관·이용조건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"공식 안내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"이용자 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"근거형 답변 구성",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"공식 정보 검색과 근거별 답변 대조 설계",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"위법·상충 안내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"OTI 반론을 함께 보존한 근거별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"서비스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"사업자가 허가 조건을 질문해 공식 안내로 이동",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"신청 경로 안내",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"검증된 안내와 실제 신청 경로의 분리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"오답·계약 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"회귀시험·오답 보완·계약 산출물의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"정책·서비스 목록",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"공공 안내·응답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"판본·적용조건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"정책 원문·서비스 목록·시험 질문의 버전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"안내·회귀시험셋",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"질문별 정답·변형 질의 일관성·실제 서비스 도달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"업무 책임·품질기준",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"동일 질문 표현 변경·상충 규정·폐지된 서비스",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"요청 업무와 공식 소관·이용조건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"이용자 질문",</a:t>
            </a:r>
          </a:p>
          <a:p xmlns:a="http://schemas.openxmlformats.org/drawingml/2006/main">
            <a:r>
              <a:t>          "check": "OTI 반론을 함께 보존한 근거별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"안내 자료",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"동일 질문 표현 변경·상충 규정·폐지된 서비스"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"챗봇 답변·연결",</a:t>
            </a:r>
          </a:p>
          <a:p xmlns:a="http://schemas.openxmlformats.org/drawingml/2006/main">
            <a:r>
              <a:t>          "check": "검증된 안내와 실제 신청 경로의 분리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"피드백·감사 기록",</a:t>
            </a:r>
          </a:p>
          <a:p xmlns:a="http://schemas.openxmlformats.org/drawingml/2006/main">
            <a:r>
              <a:t>          "check": "질문별 정답·변형 질의 일관성·실제 서비스 도달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"대민 챗봇의 답변 품질·사업관리 실패 분석 / 질의응답·포털 통합·계약·감사",</a:t>
            </a:r>
          </a:p>
          <a:p xmlns:a="http://schemas.openxmlformats.org/drawingml/2006/main">
            <a:r>
              <a:t>        "extension": "TS 대민 안내의 근거·소관·신청 완료까지 검수"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"동일 질문 표현 변경·상충 규정·폐지된 서비스",</a:t>
            </a:r>
          </a:p>
          <a:p xmlns:a="http://schemas.openxmlformats.org/drawingml/2006/main">
            <a:r>
              <a:t>        "hold": "OTI 반론을 함께 보존한 근거별 평가",</a:t>
            </a:r>
          </a:p>
          <a:p xmlns:a="http://schemas.openxmlformats.org/drawingml/2006/main">
            <a:r>
              <a:t>        "recovery": "회귀시험·오답 보완·계약 산출물의 대사",</a:t>
            </a:r>
          </a:p>
          <a:p xmlns:a="http://schemas.openxmlformats.org/drawingml/2006/main">
            <a:r>
              <a:t>        "evidence": "질문별 정답·변형 질의 일관성·실제 서비스 도달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"공공 안내·응답 기록",</a:t>
            </a:r>
          </a:p>
          <a:p xmlns:a="http://schemas.openxmlformats.org/drawingml/2006/main">
            <a:r>
              <a:t>        "prepare": "정책 원문·서비스 목록·시험 질문의 버전 관리",</a:t>
            </a:r>
          </a:p>
          <a:p xmlns:a="http://schemas.openxmlformats.org/drawingml/2006/main">
            <a:r>
              <a:t>        "output": "이용자 질문",</a:t>
            </a:r>
          </a:p>
          <a:p xmlns:a="http://schemas.openxmlformats.org/drawingml/2006/main">
            <a:r>
              <a:t>        "refresh": "회귀시험·오답 보완·계약 산출물의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"업무 완결 조건과 책임 범위 정의",</a:t>
            </a:r>
          </a:p>
          <a:p xmlns:a="http://schemas.openxmlformats.org/drawingml/2006/main">
            <a:r>
              <a:t>      "독립 평가셋·계약 산출물 추적"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"감사에서 지적된 부정확·비일관 답변",</a:t>
            </a:r>
          </a:p>
          <a:p xmlns:a="http://schemas.openxmlformats.org/drawingml/2006/main">
            <a:r>
              <a:t>      "통합서비스 계획·계약 감독의 미비"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"MyCity 안내",</a:t>
            </a:r>
          </a:p>
          <a:p xmlns:a="http://schemas.openxmlformats.org/drawingml/2006/main">
            <a:r>
              <a:t>      "AI 챗봇·포털",</a:t>
            </a:r>
          </a:p>
          <a:p xmlns:a="http://schemas.openxmlformats.org/drawingml/2006/main">
            <a:r>
              <a:t>      "공공 안내·응답 기록",</a:t>
            </a:r>
          </a:p>
          <a:p xmlns:a="http://schemas.openxmlformats.org/drawingml/2006/main">
            <a:r>
              <a:t>      "사업자·서비스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"이용자 질문",</a:t>
            </a:r>
          </a:p>
          <a:p xmlns:a="http://schemas.openxmlformats.org/drawingml/2006/main">
            <a:r>
              <a:t>      "안내 자료",</a:t>
            </a:r>
          </a:p>
          <a:p xmlns:a="http://schemas.openxmlformats.org/drawingml/2006/main">
            <a:r>
              <a:t>      "챗봇 답변·연결",</a:t>
            </a:r>
          </a:p>
          <a:p xmlns:a="http://schemas.openxmlformats.org/drawingml/2006/main">
            <a:r>
              <a:t>      "피드백·감사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"OTI 반론을 함께 보존한 근거별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뉴욕 MyCity 챗봇 감사 · 뉴욕시 감사기관 / 2025-12-30 https://comptroller.nyc.gov/reports/audit-report-on-the-new-york-city-office-of-technology-and-innovations-mycity-system/</a:t>
            </a:r>
          </a:p>
          <a:p xmlns:a="http://schemas.openxmlformats.org/drawingml/2006/main">
            <a:r>
              <a:t>홈페이지 https://heen1987-ops.github.io/TS-business-Plan-001/index.html?view=casebook&amp;case=AX13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"title": "DHL Protex AI 안전 실증",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"영상 기반 작업장 안전",</a:t>
            </a:r>
          </a:p>
          <a:p xmlns:a="http://schemas.openxmlformats.org/drawingml/2006/main">
            <a:r>
              <a:t>    "period": "PoC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"영상 기반 작업장 안전"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"영상의 위험 행동·상황 식별을 안전 담당자의 사전 조치에 활용하는 실증",</a:t>
            </a:r>
          </a:p>
          <a:p xmlns:a="http://schemas.openxmlformats.org/drawingml/2006/main">
            <a:r>
              <a:t>    "limit": "PoC 범위 · 전 사업장 확산·재해 감소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"현장 영상",</a:t>
            </a:r>
          </a:p>
          <a:p xmlns:a="http://schemas.openxmlformats.org/drawingml/2006/main">
            <a:r>
              <a:t>      "위험 이벤트 탐지",</a:t>
            </a:r>
          </a:p>
          <a:p xmlns:a="http://schemas.openxmlformats.org/drawingml/2006/main">
            <a:r>
              <a:t>      "안전 담당 검토",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"현장 사건 사전·검토 큐·조치 이력",</a:t>
            </a:r>
          </a:p>
          <a:p xmlns:a="http://schemas.openxmlformats.org/drawingml/2006/main">
            <a:r>
              <a:t>    "test": "오탐·미탐·사람 가림·조치 누락 시나리오",</a:t>
            </a:r>
          </a:p>
          <a:p xmlns:a="http://schemas.openxmlformats.org/drawingml/2006/main">
            <a:r>
              <a:t>    "metric": "위험 확인시간 /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"canonicalId": "AX14",</a:t>
            </a:r>
          </a:p>
          <a:p xmlns:a="http://schemas.openxmlformats.org/drawingml/2006/main">
            <a:r>
              <a:t>    "purpose": "작업장 위험 상황의 조기 발견 지원",</a:t>
            </a:r>
          </a:p>
          <a:p xmlns:a="http://schemas.openxmlformats.org/drawingml/2006/main">
            <a:r>
              <a:t>    "users": "물류 현장·안전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이벤트",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"개선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"물류 현장 영상",</a:t>
            </a:r>
          </a:p>
          <a:p xmlns:a="http://schemas.openxmlformats.org/drawingml/2006/main">
            <a:r>
              <a:t>        "detail": "구역·작업시간·관측 목적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이벤트 / 위험 분류 / 개선 조치",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"위험 행동 탐지",</a:t>
            </a:r>
          </a:p>
          <a:p xmlns:a="http://schemas.openxmlformats.org/drawingml/2006/main">
            <a:r>
              <a:t>        "detail": "위험 행동·근접 상황의 영상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담당자",</a:t>
            </a:r>
          </a:p>
          <a:p xmlns:a="http://schemas.openxmlformats.org/drawingml/2006/main">
            <a:r>
              <a:t>        "detail": "안전 담당자 확인 후 현장 개선 조치",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"이벤트·조치 기록",</a:t>
            </a:r>
          </a:p>
          <a:p xmlns:a="http://schemas.openxmlformats.org/drawingml/2006/main">
            <a:r>
              <a:t>        "detail": "영상 접근범위·구역 지도·사건 이력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"오탐·누락·조치 완료와 재발 여부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영상",</a:t>
            </a:r>
          </a:p>
          <a:p xmlns:a="http://schemas.openxmlformats.org/drawingml/2006/main">
            <a:r>
              <a:t>        "input": "구역·작업시간·관측 목적 지정",</a:t>
            </a:r>
          </a:p>
          <a:p xmlns:a="http://schemas.openxmlformats.org/drawingml/2006/main">
            <a:r>
              <a:t>        "process": "영상 접근범위·구역 지도·사건 이력 정리",</a:t>
            </a:r>
          </a:p>
          <a:p xmlns:a="http://schemas.openxmlformats.org/drawingml/2006/main">
            <a:r>
              <a:t>        "output": "영상"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이벤트 탐지",</a:t>
            </a:r>
          </a:p>
          <a:p xmlns:a="http://schemas.openxmlformats.org/drawingml/2006/main">
            <a:r>
              <a:t>        "input": "영상",</a:t>
            </a:r>
          </a:p>
          <a:p xmlns:a="http://schemas.openxmlformats.org/drawingml/2006/main">
            <a:r>
              <a:t>        "process": "위험 행동·근접 상황의 영상 분석",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"오경보·중요 미탐과 조치 이행 측정",</a:t>
            </a:r>
          </a:p>
          <a:p xmlns:a="http://schemas.openxmlformats.org/drawingml/2006/main">
            <a:r>
              <a:t>        "output": "검토 이벤트"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"예방 조치",</a:t>
            </a:r>
          </a:p>
          <a:p xmlns:a="http://schemas.openxmlformats.org/drawingml/2006/main">
            <a:r>
              <a:t>        "input": "검토 이벤트",</a:t>
            </a:r>
          </a:p>
          <a:p xmlns:a="http://schemas.openxmlformats.org/drawingml/2006/main">
            <a:r>
              <a:t>        "process": "안전 담당자 확인 후 현장 개선 조치",</a:t>
            </a:r>
          </a:p>
          <a:p xmlns:a="http://schemas.openxmlformats.org/drawingml/2006/main">
            <a:r>
              <a:t>        "output": "예방 조치"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"영상에서 위험 상황을 발견하고 담당자가 조치 등록",</a:t>
            </a:r>
          </a:p>
          <a:p xmlns:a="http://schemas.openxmlformats.org/drawingml/2006/main">
            <a:r>
              <a:t>      "exception": "가림·조명 변화·작업 동선 변경·비위험 행동",</a:t>
            </a:r>
          </a:p>
          <a:p xmlns:a="http://schemas.openxmlformats.org/drawingml/2006/main">
            <a:r>
              <a:t>      "evidence": "사건 표본별 오탐·미탐과 확인·조치 완료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"물류 현장·안전 담당자",</a:t>
            </a:r>
          </a:p>
          <a:p xmlns:a="http://schemas.openxmlformats.org/drawingml/2006/main">
            <a:r>
              <a:t>          "processing": "구역·작업시간·관측 목적 지정",</a:t>
            </a:r>
          </a:p>
          <a:p xmlns:a="http://schemas.openxmlformats.org/drawingml/2006/main">
            <a:r>
              <a:t>          "output": "영상"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"이벤트·조치 기록",</a:t>
            </a:r>
          </a:p>
          <a:p xmlns:a="http://schemas.openxmlformats.org/drawingml/2006/main">
            <a:r>
              <a:t>          "processing": "영상 접근범위·구역 지도·사건 이력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"영상",</a:t>
            </a:r>
          </a:p>
          <a:p xmlns:a="http://schemas.openxmlformats.org/drawingml/2006/main">
            <a:r>
              <a:t>          "processing": "위험 행동·근접 상황의 영상 분석",</a:t>
            </a:r>
          </a:p>
          <a:p xmlns:a="http://schemas.openxmlformats.org/drawingml/2006/main">
            <a:r>
              <a:t>          "output": "검토 이벤트"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"검토 이벤트",</a:t>
            </a:r>
          </a:p>
          <a:p xmlns:a="http://schemas.openxmlformats.org/drawingml/2006/main">
            <a:r>
              <a:t>          "processing": "안전 담당자 확인 후 현장 개선 조치",</a:t>
            </a:r>
          </a:p>
          <a:p xmlns:a="http://schemas.openxmlformats.org/drawingml/2006/main">
            <a:r>
              <a:t>          "output": "예방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"오탐·누락·조치 완료와 재발 여부 추적",</a:t>
            </a:r>
          </a:p>
          <a:p xmlns:a="http://schemas.openxmlformats.org/drawingml/2006/main">
            <a:r>
              <a:t>          "output":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"오탐·누락·조치 완료와 재발 여부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"S-AX14",</a:t>
            </a:r>
          </a:p>
          <a:p xmlns:a="http://schemas.openxmlformats.org/drawingml/2006/main">
            <a:r>
              <a:t>        "title": "DHL Protex AI 안전 실증 · 사업자 기술 실증 소개 / 게시일 미표시",</a:t>
            </a:r>
          </a:p>
          <a:p xmlns:a="http://schemas.openxmlformats.org/drawingml/2006/main">
            <a:r>
              <a:t>        "url": "https://www.dhlfreight.com/nl-en/microsites/csi/computer-vision/logistics-use-cases/people-health-and-safety.html",</a:t>
            </a:r>
          </a:p>
          <a:p xmlns:a="http://schemas.openxmlformats.org/drawingml/2006/main">
            <a:r>
              <a:t>        "published": "PoC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"물류 작업장의 영상에서 위험 행동·근접 상황을 선별해 안전 담당자의 예방 조치를 돕는 사례. 탐지 이후의 검토·조치 연결이 현장 적용의 핵심.",</a:t>
            </a:r>
          </a:p>
          <a:p xmlns:a="http://schemas.openxmlformats.org/drawingml/2006/main">
            <a:r>
              <a:t>      "구역·작업시간·영상 접근범위를 지정하고 위험 후보를 사건 단위로 저장하는 구조의 재구성. 담당자가 현장 상황을 확인해 개선 조치를 기록하고 재발 여부를 검토하는 흐름.",</a:t>
            </a:r>
          </a:p>
          <a:p xmlns:a="http://schemas.openxmlformats.org/drawingml/2006/main">
            <a:r>
              <a:t>      "TS 시설·사업장 적용에서 카메라 설치만으로 안전 효과를 주장하기 어려운 유형. 구역·작업별 오경보와 중요 미탐, 경보 확인·조치 시간, 조치 후 재발을 분리해 평가할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"현장 영상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"물류 현장·안전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"구역·작업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"구역·작업시간·관측 목적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행동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"위험 행동·근접 상황의 영상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"오경보·미탐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"오경보·중요 미탐과 조치 이행 측정",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"영상에서 위험 상황을 발견하고 담당자가 조치 등록",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"개선 조치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"안전 담당자 확인 후 현장 개선 조치",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"재발·조치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"오탐·누락·조치 완료와 재발 여부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"영상·구역 지도",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"이벤트·조치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"사건·위치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"영상 접근범위·구역 지도·사건 이력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"위험·조치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"사건 표본별 오탐·미탐과 확인·조치 완료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 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"가림·조명 변화·작업 동선 변경·비위험 행동",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"구역·작업시간·관측 목적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"영상",</a:t>
            </a:r>
          </a:p>
          <a:p xmlns:a="http://schemas.openxmlformats.org/drawingml/2006/main">
            <a:r>
              <a:t>          "check": "오경보·중요 미탐과 조치 이행 측정"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"가림·조명 변화·작업 동선 변경·비위험 행동"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"안전 담당자 확인 후 현장 개선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"예방 조치",</a:t>
            </a:r>
          </a:p>
          <a:p xmlns:a="http://schemas.openxmlformats.org/drawingml/2006/main">
            <a:r>
              <a:t>          "check":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"작업장 위험 상황의 조기 발견 지원 / 영상 이벤트·위험 분류·개선 조치",</a:t>
            </a:r>
          </a:p>
          <a:p xmlns:a="http://schemas.openxmlformats.org/drawingml/2006/main">
            <a:r>
              <a:t>        "extension": "검사·시험·시설 현장 위험 증거와 안전 직무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"가림·조명 변화·작업 동선 변경·비위험 행동",</a:t>
            </a:r>
          </a:p>
          <a:p xmlns:a="http://schemas.openxmlformats.org/drawingml/2006/main">
            <a:r>
              <a:t>        "hold": "오경보·중요 미탐과 조치 이행 측정",</a:t>
            </a:r>
          </a:p>
          <a:p xmlns:a="http://schemas.openxmlformats.org/drawingml/2006/main">
            <a:r>
              <a:t>        "recovery": "오탐·누락·조치 완료와 재발 여부 추적",</a:t>
            </a:r>
          </a:p>
          <a:p xmlns:a="http://schemas.openxmlformats.org/drawingml/2006/main">
            <a:r>
              <a:t>        "evidence": "사건 표본별 오탐·미탐과 확인·조치 완료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"이벤트·조치 기록",</a:t>
            </a:r>
          </a:p>
          <a:p xmlns:a="http://schemas.openxmlformats.org/drawingml/2006/main">
            <a:r>
              <a:t>        "prepare": "영상 접근범위·구역 지도·사건 이력 정리",</a:t>
            </a:r>
          </a:p>
          <a:p xmlns:a="http://schemas.openxmlformats.org/drawingml/2006/main">
            <a:r>
              <a:t>        "output": "영상",</a:t>
            </a:r>
          </a:p>
          <a:p xmlns:a="http://schemas.openxmlformats.org/drawingml/2006/main">
            <a:r>
              <a:t>        "refresh": "오탐·누락·조치 완료와 재발 여부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"현장 영상에서 위험 이벤트 선별",</a:t>
            </a:r>
          </a:p>
          <a:p xmlns:a="http://schemas.openxmlformats.org/drawingml/2006/main">
            <a:r>
              <a:t>      "안전 담당자의 예방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"카메라 위치·작업 유형별 편차",</a:t>
            </a:r>
          </a:p>
          <a:p xmlns:a="http://schemas.openxmlformats.org/drawingml/2006/main">
            <a:r>
              <a:t>      "실증 탐지와 실제 재해 감소의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"물류 현장 영상",</a:t>
            </a:r>
          </a:p>
          <a:p xmlns:a="http://schemas.openxmlformats.org/drawingml/2006/main">
            <a:r>
              <a:t>      "위험 행동 탐지",</a:t>
            </a:r>
          </a:p>
          <a:p xmlns:a="http://schemas.openxmlformats.org/drawingml/2006/main">
            <a:r>
              <a:t>      "이벤트·조치 기록",</a:t>
            </a:r>
          </a:p>
          <a:p xmlns:a="http://schemas.openxmlformats.org/drawingml/2006/main">
            <a:r>
              <a:t>      "안전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"검토 이벤트",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"오경보·중요 미탐과 조치 이행 측정",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DHL Protex AI 안전 실증 · 사업자 기술 실증 소개 / 게시일 미표시 https://www.dhlfreight.com/nl-en/microsites/csi/computer-vision/logistics-use-cases/people-health-and-safety.html</a:t>
            </a:r>
          </a:p>
          <a:p xmlns:a="http://schemas.openxmlformats.org/drawingml/2006/main">
            <a:r>
              <a:t>홈페이지 https://heen1987-ops.github.io/TS-business-Plan-001/index.html?view=casebook&amp;case=AX14</a:t>
            </a:r>
          </a:p>
          <a:p xmlns:a="http://schemas.openxmlformats.org/drawingml/2006/main">
            <a:r>
              <a:t>한계: PoC 범위 · 전 사업장 확산·재해 감소 실측과 구분</a:t>
            </a:r>
          </a:p>
          <a:p xmlns:a="http://schemas.openxmlformats.org/drawingml/2006/main">
            <a:r>
              <a:t>실패 위험: 카메라 위치·작업 유형별 편차 / 실증 탐지와 실제 재해 감소의 차이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"title": "DHL Protex AI 안전 실증",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"영상 기반 작업장 안전",</a:t>
            </a:r>
          </a:p>
          <a:p xmlns:a="http://schemas.openxmlformats.org/drawingml/2006/main">
            <a:r>
              <a:t>    "period": "PoC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"영상 기반 작업장 안전"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"영상의 위험 행동·상황 식별을 안전 담당자의 사전 조치에 활용하는 실증",</a:t>
            </a:r>
          </a:p>
          <a:p xmlns:a="http://schemas.openxmlformats.org/drawingml/2006/main">
            <a:r>
              <a:t>    "limit": "PoC 범위 · 전 사업장 확산·재해 감소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"현장 영상",</a:t>
            </a:r>
          </a:p>
          <a:p xmlns:a="http://schemas.openxmlformats.org/drawingml/2006/main">
            <a:r>
              <a:t>      "위험 이벤트 탐지",</a:t>
            </a:r>
          </a:p>
          <a:p xmlns:a="http://schemas.openxmlformats.org/drawingml/2006/main">
            <a:r>
              <a:t>      "안전 담당 검토",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"현장 사건 사전·검토 큐·조치 이력",</a:t>
            </a:r>
          </a:p>
          <a:p xmlns:a="http://schemas.openxmlformats.org/drawingml/2006/main">
            <a:r>
              <a:t>    "test": "오탐·미탐·사람 가림·조치 누락 시나리오",</a:t>
            </a:r>
          </a:p>
          <a:p xmlns:a="http://schemas.openxmlformats.org/drawingml/2006/main">
            <a:r>
              <a:t>    "metric": "위험 확인시간 /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"canonicalId": "AX14",</a:t>
            </a:r>
          </a:p>
          <a:p xmlns:a="http://schemas.openxmlformats.org/drawingml/2006/main">
            <a:r>
              <a:t>    "purpose": "작업장 위험 상황의 조기 발견 지원",</a:t>
            </a:r>
          </a:p>
          <a:p xmlns:a="http://schemas.openxmlformats.org/drawingml/2006/main">
            <a:r>
              <a:t>    "users": "물류 현장·안전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이벤트",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"개선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"물류 현장 영상",</a:t>
            </a:r>
          </a:p>
          <a:p xmlns:a="http://schemas.openxmlformats.org/drawingml/2006/main">
            <a:r>
              <a:t>        "detail": "구역·작업시간·관측 목적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이벤트 / 위험 분류 / 개선 조치",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"위험 행동 탐지",</a:t>
            </a:r>
          </a:p>
          <a:p xmlns:a="http://schemas.openxmlformats.org/drawingml/2006/main">
            <a:r>
              <a:t>        "detail": "위험 행동·근접 상황의 영상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담당자",</a:t>
            </a:r>
          </a:p>
          <a:p xmlns:a="http://schemas.openxmlformats.org/drawingml/2006/main">
            <a:r>
              <a:t>        "detail": "안전 담당자 확인 후 현장 개선 조치",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"이벤트·조치 기록",</a:t>
            </a:r>
          </a:p>
          <a:p xmlns:a="http://schemas.openxmlformats.org/drawingml/2006/main">
            <a:r>
              <a:t>        "detail": "영상 접근범위·구역 지도·사건 이력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"오탐·누락·조치 완료와 재발 여부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영상",</a:t>
            </a:r>
          </a:p>
          <a:p xmlns:a="http://schemas.openxmlformats.org/drawingml/2006/main">
            <a:r>
              <a:t>        "input": "구역·작업시간·관측 목적 지정",</a:t>
            </a:r>
          </a:p>
          <a:p xmlns:a="http://schemas.openxmlformats.org/drawingml/2006/main">
            <a:r>
              <a:t>        "process": "영상 접근범위·구역 지도·사건 이력 정리",</a:t>
            </a:r>
          </a:p>
          <a:p xmlns:a="http://schemas.openxmlformats.org/drawingml/2006/main">
            <a:r>
              <a:t>        "output": "영상"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이벤트 탐지",</a:t>
            </a:r>
          </a:p>
          <a:p xmlns:a="http://schemas.openxmlformats.org/drawingml/2006/main">
            <a:r>
              <a:t>        "input": "영상",</a:t>
            </a:r>
          </a:p>
          <a:p xmlns:a="http://schemas.openxmlformats.org/drawingml/2006/main">
            <a:r>
              <a:t>        "process": "위험 행동·근접 상황의 영상 분석",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"오경보·중요 미탐과 조치 이행 측정",</a:t>
            </a:r>
          </a:p>
          <a:p xmlns:a="http://schemas.openxmlformats.org/drawingml/2006/main">
            <a:r>
              <a:t>        "output": "검토 이벤트"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"예방 조치",</a:t>
            </a:r>
          </a:p>
          <a:p xmlns:a="http://schemas.openxmlformats.org/drawingml/2006/main">
            <a:r>
              <a:t>        "input": "검토 이벤트",</a:t>
            </a:r>
          </a:p>
          <a:p xmlns:a="http://schemas.openxmlformats.org/drawingml/2006/main">
            <a:r>
              <a:t>        "process": "안전 담당자 확인 후 현장 개선 조치",</a:t>
            </a:r>
          </a:p>
          <a:p xmlns:a="http://schemas.openxmlformats.org/drawingml/2006/main">
            <a:r>
              <a:t>        "output": "예방 조치"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"영상에서 위험 상황을 발견하고 담당자가 조치 등록",</a:t>
            </a:r>
          </a:p>
          <a:p xmlns:a="http://schemas.openxmlformats.org/drawingml/2006/main">
            <a:r>
              <a:t>      "exception": "가림·조명 변화·작업 동선 변경·비위험 행동",</a:t>
            </a:r>
          </a:p>
          <a:p xmlns:a="http://schemas.openxmlformats.org/drawingml/2006/main">
            <a:r>
              <a:t>      "evidence": "사건 표본별 오탐·미탐과 확인·조치 완료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"물류 현장·안전 담당자",</a:t>
            </a:r>
          </a:p>
          <a:p xmlns:a="http://schemas.openxmlformats.org/drawingml/2006/main">
            <a:r>
              <a:t>          "processing": "구역·작업시간·관측 목적 지정",</a:t>
            </a:r>
          </a:p>
          <a:p xmlns:a="http://schemas.openxmlformats.org/drawingml/2006/main">
            <a:r>
              <a:t>          "output": "영상"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"이벤트·조치 기록",</a:t>
            </a:r>
          </a:p>
          <a:p xmlns:a="http://schemas.openxmlformats.org/drawingml/2006/main">
            <a:r>
              <a:t>          "processing": "영상 접근범위·구역 지도·사건 이력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"영상",</a:t>
            </a:r>
          </a:p>
          <a:p xmlns:a="http://schemas.openxmlformats.org/drawingml/2006/main">
            <a:r>
              <a:t>          "processing": "위험 행동·근접 상황의 영상 분석",</a:t>
            </a:r>
          </a:p>
          <a:p xmlns:a="http://schemas.openxmlformats.org/drawingml/2006/main">
            <a:r>
              <a:t>          "output": "검토 이벤트"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"검토 이벤트",</a:t>
            </a:r>
          </a:p>
          <a:p xmlns:a="http://schemas.openxmlformats.org/drawingml/2006/main">
            <a:r>
              <a:t>          "processing": "안전 담당자 확인 후 현장 개선 조치",</a:t>
            </a:r>
          </a:p>
          <a:p xmlns:a="http://schemas.openxmlformats.org/drawingml/2006/main">
            <a:r>
              <a:t>          "output": "예방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"오탐·누락·조치 완료와 재발 여부 추적",</a:t>
            </a:r>
          </a:p>
          <a:p xmlns:a="http://schemas.openxmlformats.org/drawingml/2006/main">
            <a:r>
              <a:t>          "output":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"오탐·누락·조치 완료와 재발 여부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"S-AX14",</a:t>
            </a:r>
          </a:p>
          <a:p xmlns:a="http://schemas.openxmlformats.org/drawingml/2006/main">
            <a:r>
              <a:t>        "title": "DHL Protex AI 안전 실증 · 사업자 기술 실증 소개 / 게시일 미표시",</a:t>
            </a:r>
          </a:p>
          <a:p xmlns:a="http://schemas.openxmlformats.org/drawingml/2006/main">
            <a:r>
              <a:t>        "url": "https://www.dhlfreight.com/nl-en/microsites/csi/computer-vision/logistics-use-cases/people-health-and-safety.html",</a:t>
            </a:r>
          </a:p>
          <a:p xmlns:a="http://schemas.openxmlformats.org/drawingml/2006/main">
            <a:r>
              <a:t>        "published": "PoC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"물류 작업장의 영상에서 위험 행동·근접 상황을 선별해 안전 담당자의 예방 조치를 돕는 사례. 탐지 이후의 검토·조치 연결이 현장 적용의 핵심.",</a:t>
            </a:r>
          </a:p>
          <a:p xmlns:a="http://schemas.openxmlformats.org/drawingml/2006/main">
            <a:r>
              <a:t>      "구역·작업시간·영상 접근범위를 지정하고 위험 후보를 사건 단위로 저장하는 구조의 재구성. 담당자가 현장 상황을 확인해 개선 조치를 기록하고 재발 여부를 검토하는 흐름.",</a:t>
            </a:r>
          </a:p>
          <a:p xmlns:a="http://schemas.openxmlformats.org/drawingml/2006/main">
            <a:r>
              <a:t>      "TS 시설·사업장 적용에서 카메라 설치만으로 안전 효과를 주장하기 어려운 유형. 구역·작업별 오경보와 중요 미탐, 경보 확인·조치 시간, 조치 후 재발을 분리해 평가할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"현장 영상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"물류 현장·안전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"구역·작업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"구역·작업시간·관측 목적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행동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"위험 행동·근접 상황의 영상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"오경보·미탐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"오경보·중요 미탐과 조치 이행 측정",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"영상에서 위험 상황을 발견하고 담당자가 조치 등록",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"개선 조치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"안전 담당자 확인 후 현장 개선 조치",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"재발·조치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"오탐·누락·조치 완료와 재발 여부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"영상·구역 지도",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"이벤트·조치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"사건·위치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"영상 접근범위·구역 지도·사건 이력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"위험·조치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"사건 표본별 오탐·미탐과 확인·조치 완료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 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"가림·조명 변화·작업 동선 변경·비위험 행동",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"구역·작업시간·관측 목적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"영상",</a:t>
            </a:r>
          </a:p>
          <a:p xmlns:a="http://schemas.openxmlformats.org/drawingml/2006/main">
            <a:r>
              <a:t>          "check": "오경보·중요 미탐과 조치 이행 측정"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"가림·조명 변화·작업 동선 변경·비위험 행동"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"안전 담당자 확인 후 현장 개선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"예방 조치",</a:t>
            </a:r>
          </a:p>
          <a:p xmlns:a="http://schemas.openxmlformats.org/drawingml/2006/main">
            <a:r>
              <a:t>          "check":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"작업장 위험 상황의 조기 발견 지원 / 영상 이벤트·위험 분류·개선 조치",</a:t>
            </a:r>
          </a:p>
          <a:p xmlns:a="http://schemas.openxmlformats.org/drawingml/2006/main">
            <a:r>
              <a:t>        "extension": "검사·시험·시설 현장 위험 증거와 안전 직무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"가림·조명 변화·작업 동선 변경·비위험 행동",</a:t>
            </a:r>
          </a:p>
          <a:p xmlns:a="http://schemas.openxmlformats.org/drawingml/2006/main">
            <a:r>
              <a:t>        "hold": "오경보·중요 미탐과 조치 이행 측정",</a:t>
            </a:r>
          </a:p>
          <a:p xmlns:a="http://schemas.openxmlformats.org/drawingml/2006/main">
            <a:r>
              <a:t>        "recovery": "오탐·누락·조치 완료와 재발 여부 추적",</a:t>
            </a:r>
          </a:p>
          <a:p xmlns:a="http://schemas.openxmlformats.org/drawingml/2006/main">
            <a:r>
              <a:t>        "evidence": "사건 표본별 오탐·미탐과 확인·조치 완료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"이벤트·조치 기록",</a:t>
            </a:r>
          </a:p>
          <a:p xmlns:a="http://schemas.openxmlformats.org/drawingml/2006/main">
            <a:r>
              <a:t>        "prepare": "영상 접근범위·구역 지도·사건 이력 정리",</a:t>
            </a:r>
          </a:p>
          <a:p xmlns:a="http://schemas.openxmlformats.org/drawingml/2006/main">
            <a:r>
              <a:t>        "output": "영상",</a:t>
            </a:r>
          </a:p>
          <a:p xmlns:a="http://schemas.openxmlformats.org/drawingml/2006/main">
            <a:r>
              <a:t>        "refresh": "오탐·누락·조치 완료와 재발 여부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"현장 영상에서 위험 이벤트 선별",</a:t>
            </a:r>
          </a:p>
          <a:p xmlns:a="http://schemas.openxmlformats.org/drawingml/2006/main">
            <a:r>
              <a:t>      "안전 담당자의 예방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"카메라 위치·작업 유형별 편차",</a:t>
            </a:r>
          </a:p>
          <a:p xmlns:a="http://schemas.openxmlformats.org/drawingml/2006/main">
            <a:r>
              <a:t>      "실증 탐지와 실제 재해 감소의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"물류 현장 영상",</a:t>
            </a:r>
          </a:p>
          <a:p xmlns:a="http://schemas.openxmlformats.org/drawingml/2006/main">
            <a:r>
              <a:t>      "위험 행동 탐지",</a:t>
            </a:r>
          </a:p>
          <a:p xmlns:a="http://schemas.openxmlformats.org/drawingml/2006/main">
            <a:r>
              <a:t>      "이벤트·조치 기록",</a:t>
            </a:r>
          </a:p>
          <a:p xmlns:a="http://schemas.openxmlformats.org/drawingml/2006/main">
            <a:r>
              <a:t>      "안전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"검토 이벤트",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"오경보·중요 미탐과 조치 이행 측정",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DHL Protex AI 안전 실증 · 사업자 기술 실증 소개 / 게시일 미표시 https://www.dhlfreight.com/nl-en/microsites/csi/computer-vision/logistics-use-cases/people-health-and-safety.html</a:t>
            </a:r>
          </a:p>
          <a:p xmlns:a="http://schemas.openxmlformats.org/drawingml/2006/main">
            <a:r>
              <a:t>홈페이지 https://heen1987-ops.github.io/TS-business-Plan-001/index.html?view=casebook&amp;case=AX14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"title": "DHL Protex AI 안전 실증",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"영상 기반 작업장 안전",</a:t>
            </a:r>
          </a:p>
          <a:p xmlns:a="http://schemas.openxmlformats.org/drawingml/2006/main">
            <a:r>
              <a:t>    "period": "PoC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"영상 기반 작업장 안전"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"영상의 위험 행동·상황 식별을 안전 담당자의 사전 조치에 활용하는 실증",</a:t>
            </a:r>
          </a:p>
          <a:p xmlns:a="http://schemas.openxmlformats.org/drawingml/2006/main">
            <a:r>
              <a:t>    "limit": "PoC 범위 · 전 사업장 확산·재해 감소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"현장 영상",</a:t>
            </a:r>
          </a:p>
          <a:p xmlns:a="http://schemas.openxmlformats.org/drawingml/2006/main">
            <a:r>
              <a:t>      "위험 이벤트 탐지",</a:t>
            </a:r>
          </a:p>
          <a:p xmlns:a="http://schemas.openxmlformats.org/drawingml/2006/main">
            <a:r>
              <a:t>      "안전 담당 검토",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"현장 사건 사전·검토 큐·조치 이력",</a:t>
            </a:r>
          </a:p>
          <a:p xmlns:a="http://schemas.openxmlformats.org/drawingml/2006/main">
            <a:r>
              <a:t>    "test": "오탐·미탐·사람 가림·조치 누락 시나리오",</a:t>
            </a:r>
          </a:p>
          <a:p xmlns:a="http://schemas.openxmlformats.org/drawingml/2006/main">
            <a:r>
              <a:t>    "metric": "위험 확인시간 /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"canonicalId": "AX14",</a:t>
            </a:r>
          </a:p>
          <a:p xmlns:a="http://schemas.openxmlformats.org/drawingml/2006/main">
            <a:r>
              <a:t>    "purpose": "작업장 위험 상황의 조기 발견 지원",</a:t>
            </a:r>
          </a:p>
          <a:p xmlns:a="http://schemas.openxmlformats.org/drawingml/2006/main">
            <a:r>
              <a:t>    "users": "물류 현장·안전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이벤트",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"개선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"물류 현장 영상",</a:t>
            </a:r>
          </a:p>
          <a:p xmlns:a="http://schemas.openxmlformats.org/drawingml/2006/main">
            <a:r>
              <a:t>        "detail": "구역·작업시간·관측 목적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이벤트 / 위험 분류 / 개선 조치",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"위험 행동 탐지",</a:t>
            </a:r>
          </a:p>
          <a:p xmlns:a="http://schemas.openxmlformats.org/drawingml/2006/main">
            <a:r>
              <a:t>        "detail": "위험 행동·근접 상황의 영상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담당자",</a:t>
            </a:r>
          </a:p>
          <a:p xmlns:a="http://schemas.openxmlformats.org/drawingml/2006/main">
            <a:r>
              <a:t>        "detail": "안전 담당자 확인 후 현장 개선 조치",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"이벤트·조치 기록",</a:t>
            </a:r>
          </a:p>
          <a:p xmlns:a="http://schemas.openxmlformats.org/drawingml/2006/main">
            <a:r>
              <a:t>        "detail": "영상 접근범위·구역 지도·사건 이력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"오탐·누락·조치 완료와 재발 여부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영상",</a:t>
            </a:r>
          </a:p>
          <a:p xmlns:a="http://schemas.openxmlformats.org/drawingml/2006/main">
            <a:r>
              <a:t>        "input": "구역·작업시간·관측 목적 지정",</a:t>
            </a:r>
          </a:p>
          <a:p xmlns:a="http://schemas.openxmlformats.org/drawingml/2006/main">
            <a:r>
              <a:t>        "process": "영상 접근범위·구역 지도·사건 이력 정리",</a:t>
            </a:r>
          </a:p>
          <a:p xmlns:a="http://schemas.openxmlformats.org/drawingml/2006/main">
            <a:r>
              <a:t>        "output": "영상"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이벤트 탐지",</a:t>
            </a:r>
          </a:p>
          <a:p xmlns:a="http://schemas.openxmlformats.org/drawingml/2006/main">
            <a:r>
              <a:t>        "input": "영상",</a:t>
            </a:r>
          </a:p>
          <a:p xmlns:a="http://schemas.openxmlformats.org/drawingml/2006/main">
            <a:r>
              <a:t>        "process": "위험 행동·근접 상황의 영상 분석",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"오경보·중요 미탐과 조치 이행 측정",</a:t>
            </a:r>
          </a:p>
          <a:p xmlns:a="http://schemas.openxmlformats.org/drawingml/2006/main">
            <a:r>
              <a:t>        "output": "검토 이벤트"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"예방 조치",</a:t>
            </a:r>
          </a:p>
          <a:p xmlns:a="http://schemas.openxmlformats.org/drawingml/2006/main">
            <a:r>
              <a:t>        "input": "검토 이벤트",</a:t>
            </a:r>
          </a:p>
          <a:p xmlns:a="http://schemas.openxmlformats.org/drawingml/2006/main">
            <a:r>
              <a:t>        "process": "안전 담당자 확인 후 현장 개선 조치",</a:t>
            </a:r>
          </a:p>
          <a:p xmlns:a="http://schemas.openxmlformats.org/drawingml/2006/main">
            <a:r>
              <a:t>        "output": "예방 조치"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"영상에서 위험 상황을 발견하고 담당자가 조치 등록",</a:t>
            </a:r>
          </a:p>
          <a:p xmlns:a="http://schemas.openxmlformats.org/drawingml/2006/main">
            <a:r>
              <a:t>      "exception": "가림·조명 변화·작업 동선 변경·비위험 행동",</a:t>
            </a:r>
          </a:p>
          <a:p xmlns:a="http://schemas.openxmlformats.org/drawingml/2006/main">
            <a:r>
              <a:t>      "evidence": "사건 표본별 오탐·미탐과 확인·조치 완료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"물류 현장·안전 담당자",</a:t>
            </a:r>
          </a:p>
          <a:p xmlns:a="http://schemas.openxmlformats.org/drawingml/2006/main">
            <a:r>
              <a:t>          "processing": "구역·작업시간·관측 목적 지정",</a:t>
            </a:r>
          </a:p>
          <a:p xmlns:a="http://schemas.openxmlformats.org/drawingml/2006/main">
            <a:r>
              <a:t>          "output": "영상"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"이벤트·조치 기록",</a:t>
            </a:r>
          </a:p>
          <a:p xmlns:a="http://schemas.openxmlformats.org/drawingml/2006/main">
            <a:r>
              <a:t>          "processing": "영상 접근범위·구역 지도·사건 이력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"영상",</a:t>
            </a:r>
          </a:p>
          <a:p xmlns:a="http://schemas.openxmlformats.org/drawingml/2006/main">
            <a:r>
              <a:t>          "processing": "위험 행동·근접 상황의 영상 분석",</a:t>
            </a:r>
          </a:p>
          <a:p xmlns:a="http://schemas.openxmlformats.org/drawingml/2006/main">
            <a:r>
              <a:t>          "output": "검토 이벤트"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"검토 이벤트",</a:t>
            </a:r>
          </a:p>
          <a:p xmlns:a="http://schemas.openxmlformats.org/drawingml/2006/main">
            <a:r>
              <a:t>          "processing": "안전 담당자 확인 후 현장 개선 조치",</a:t>
            </a:r>
          </a:p>
          <a:p xmlns:a="http://schemas.openxmlformats.org/drawingml/2006/main">
            <a:r>
              <a:t>          "output": "예방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"오탐·누락·조치 완료와 재발 여부 추적",</a:t>
            </a:r>
          </a:p>
          <a:p xmlns:a="http://schemas.openxmlformats.org/drawingml/2006/main">
            <a:r>
              <a:t>          "output":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"오탐·누락·조치 완료와 재발 여부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"S-AX14",</a:t>
            </a:r>
          </a:p>
          <a:p xmlns:a="http://schemas.openxmlformats.org/drawingml/2006/main">
            <a:r>
              <a:t>        "title": "DHL Protex AI 안전 실증 · 사업자 기술 실증 소개 / 게시일 미표시",</a:t>
            </a:r>
          </a:p>
          <a:p xmlns:a="http://schemas.openxmlformats.org/drawingml/2006/main">
            <a:r>
              <a:t>        "url": "https://www.dhlfreight.com/nl-en/microsites/csi/computer-vision/logistics-use-cases/people-health-and-safety.html",</a:t>
            </a:r>
          </a:p>
          <a:p xmlns:a="http://schemas.openxmlformats.org/drawingml/2006/main">
            <a:r>
              <a:t>        "published": "PoC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"물류 작업장의 영상에서 위험 행동·근접 상황을 선별해 안전 담당자의 예방 조치를 돕는 사례. 탐지 이후의 검토·조치 연결이 현장 적용의 핵심.",</a:t>
            </a:r>
          </a:p>
          <a:p xmlns:a="http://schemas.openxmlformats.org/drawingml/2006/main">
            <a:r>
              <a:t>      "구역·작업시간·영상 접근범위를 지정하고 위험 후보를 사건 단위로 저장하는 구조의 재구성. 담당자가 현장 상황을 확인해 개선 조치를 기록하고 재발 여부를 검토하는 흐름.",</a:t>
            </a:r>
          </a:p>
          <a:p xmlns:a="http://schemas.openxmlformats.org/drawingml/2006/main">
            <a:r>
              <a:t>      "TS 시설·사업장 적용에서 카메라 설치만으로 안전 효과를 주장하기 어려운 유형. 구역·작업별 오경보와 중요 미탐, 경보 확인·조치 시간, 조치 후 재발을 분리해 평가할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"현장 영상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"물류 현장·안전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"구역·작업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"구역·작업시간·관측 목적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행동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"위험 행동·근접 상황의 영상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"오경보·미탐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"오경보·중요 미탐과 조치 이행 측정",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"영상에서 위험 상황을 발견하고 담당자가 조치 등록",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"개선 조치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"안전 담당자 확인 후 현장 개선 조치",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"재발·조치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"오탐·누락·조치 완료와 재발 여부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"영상·구역 지도",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"이벤트·조치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"사건·위치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"영상 접근범위·구역 지도·사건 이력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"위험·조치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"사건 표본별 오탐·미탐과 확인·조치 완료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 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"가림·조명 변화·작업 동선 변경·비위험 행동",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"구역·작업시간·관측 목적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"영상",</a:t>
            </a:r>
          </a:p>
          <a:p xmlns:a="http://schemas.openxmlformats.org/drawingml/2006/main">
            <a:r>
              <a:t>          "check": "오경보·중요 미탐과 조치 이행 측정"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"가림·조명 변화·작업 동선 변경·비위험 행동"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"안전 담당자 확인 후 현장 개선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"예방 조치",</a:t>
            </a:r>
          </a:p>
          <a:p xmlns:a="http://schemas.openxmlformats.org/drawingml/2006/main">
            <a:r>
              <a:t>          "check":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"작업장 위험 상황의 조기 발견 지원 / 영상 이벤트·위험 분류·개선 조치",</a:t>
            </a:r>
          </a:p>
          <a:p xmlns:a="http://schemas.openxmlformats.org/drawingml/2006/main">
            <a:r>
              <a:t>        "extension": "검사·시험·시설 현장 위험 증거와 안전 직무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"가림·조명 변화·작업 동선 변경·비위험 행동",</a:t>
            </a:r>
          </a:p>
          <a:p xmlns:a="http://schemas.openxmlformats.org/drawingml/2006/main">
            <a:r>
              <a:t>        "hold": "오경보·중요 미탐과 조치 이행 측정",</a:t>
            </a:r>
          </a:p>
          <a:p xmlns:a="http://schemas.openxmlformats.org/drawingml/2006/main">
            <a:r>
              <a:t>        "recovery": "오탐·누락·조치 완료와 재발 여부 추적",</a:t>
            </a:r>
          </a:p>
          <a:p xmlns:a="http://schemas.openxmlformats.org/drawingml/2006/main">
            <a:r>
              <a:t>        "evidence": "사건 표본별 오탐·미탐과 확인·조치 완료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"이벤트·조치 기록",</a:t>
            </a:r>
          </a:p>
          <a:p xmlns:a="http://schemas.openxmlformats.org/drawingml/2006/main">
            <a:r>
              <a:t>        "prepare": "영상 접근범위·구역 지도·사건 이력 정리",</a:t>
            </a:r>
          </a:p>
          <a:p xmlns:a="http://schemas.openxmlformats.org/drawingml/2006/main">
            <a:r>
              <a:t>        "output": "영상",</a:t>
            </a:r>
          </a:p>
          <a:p xmlns:a="http://schemas.openxmlformats.org/drawingml/2006/main">
            <a:r>
              <a:t>        "refresh": "오탐·누락·조치 완료와 재발 여부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"현장 영상에서 위험 이벤트 선별",</a:t>
            </a:r>
          </a:p>
          <a:p xmlns:a="http://schemas.openxmlformats.org/drawingml/2006/main">
            <a:r>
              <a:t>      "안전 담당자의 예방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"카메라 위치·작업 유형별 편차",</a:t>
            </a:r>
          </a:p>
          <a:p xmlns:a="http://schemas.openxmlformats.org/drawingml/2006/main">
            <a:r>
              <a:t>      "실증 탐지와 실제 재해 감소의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"물류 현장 영상",</a:t>
            </a:r>
          </a:p>
          <a:p xmlns:a="http://schemas.openxmlformats.org/drawingml/2006/main">
            <a:r>
              <a:t>      "위험 행동 탐지",</a:t>
            </a:r>
          </a:p>
          <a:p xmlns:a="http://schemas.openxmlformats.org/drawingml/2006/main">
            <a:r>
              <a:t>      "이벤트·조치 기록",</a:t>
            </a:r>
          </a:p>
          <a:p xmlns:a="http://schemas.openxmlformats.org/drawingml/2006/main">
            <a:r>
              <a:t>      "안전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"검토 이벤트",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"오경보·중요 미탐과 조치 이행 측정",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DHL Protex AI 안전 실증 · 사업자 기술 실증 소개 / 게시일 미표시 https://www.dhlfreight.com/nl-en/microsites/csi/computer-vision/logistics-use-cases/people-health-and-safety.html</a:t>
            </a:r>
          </a:p>
          <a:p xmlns:a="http://schemas.openxmlformats.org/drawingml/2006/main">
            <a:r>
              <a:t>홈페이지 https://heen1987-ops.github.io/TS-business-Plan-001/index.html?view=casebook&amp;case=AX14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"title": "DHL Protex AI 안전 실증",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"다국가",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"영상 기반 작업장 안전",</a:t>
            </a:r>
          </a:p>
          <a:p xmlns:a="http://schemas.openxmlformats.org/drawingml/2006/main">
            <a:r>
              <a:t>    "period": "PoC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"영상 기반 작업장 안전"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"영상의 위험 행동·상황 식별을 안전 담당자의 사전 조치에 활용하는 실증",</a:t>
            </a:r>
          </a:p>
          <a:p xmlns:a="http://schemas.openxmlformats.org/drawingml/2006/main">
            <a:r>
              <a:t>    "limit": "PoC 범위 · 전 사업장 확산·재해 감소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"현장 영상",</a:t>
            </a:r>
          </a:p>
          <a:p xmlns:a="http://schemas.openxmlformats.org/drawingml/2006/main">
            <a:r>
              <a:t>      "위험 이벤트 탐지",</a:t>
            </a:r>
          </a:p>
          <a:p xmlns:a="http://schemas.openxmlformats.org/drawingml/2006/main">
            <a:r>
              <a:t>      "안전 담당 검토",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"현장 사건 사전·검토 큐·조치 이력",</a:t>
            </a:r>
          </a:p>
          <a:p xmlns:a="http://schemas.openxmlformats.org/drawingml/2006/main">
            <a:r>
              <a:t>    "test": "오탐·미탐·사람 가림·조치 누락 시나리오",</a:t>
            </a:r>
          </a:p>
          <a:p xmlns:a="http://schemas.openxmlformats.org/drawingml/2006/main">
            <a:r>
              <a:t>    "metric": "위험 확인시간 /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"ST-11"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"canonicalId": "AX14",</a:t>
            </a:r>
          </a:p>
          <a:p xmlns:a="http://schemas.openxmlformats.org/drawingml/2006/main">
            <a:r>
              <a:t>    "purpose": "작업장 위험 상황의 조기 발견 지원",</a:t>
            </a:r>
          </a:p>
          <a:p xmlns:a="http://schemas.openxmlformats.org/drawingml/2006/main">
            <a:r>
              <a:t>    "users": "물류 현장·안전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"영상 이벤트",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"개선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"물류 현장 영상",</a:t>
            </a:r>
          </a:p>
          <a:p xmlns:a="http://schemas.openxmlformats.org/drawingml/2006/main">
            <a:r>
              <a:t>        "detail": "구역·작업시간·관측 목적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"영상 이벤트 / 위험 분류 / 개선 조치",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"위험 행동 탐지",</a:t>
            </a:r>
          </a:p>
          <a:p xmlns:a="http://schemas.openxmlformats.org/drawingml/2006/main">
            <a:r>
              <a:t>        "detail": "위험 행동·근접 상황의 영상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담당자",</a:t>
            </a:r>
          </a:p>
          <a:p xmlns:a="http://schemas.openxmlformats.org/drawingml/2006/main">
            <a:r>
              <a:t>        "detail": "안전 담당자 확인 후 현장 개선 조치",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"이벤트·조치 기록",</a:t>
            </a:r>
          </a:p>
          <a:p xmlns:a="http://schemas.openxmlformats.org/drawingml/2006/main">
            <a:r>
              <a:t>        "detail": "영상 접근범위·구역 지도·사건 이력 정리",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"오탐·누락·조치 완료와 재발 여부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"현장 영상",</a:t>
            </a:r>
          </a:p>
          <a:p xmlns:a="http://schemas.openxmlformats.org/drawingml/2006/main">
            <a:r>
              <a:t>        "input": "구역·작업시간·관측 목적 지정",</a:t>
            </a:r>
          </a:p>
          <a:p xmlns:a="http://schemas.openxmlformats.org/drawingml/2006/main">
            <a:r>
              <a:t>        "process": "영상 접근범위·구역 지도·사건 이력 정리",</a:t>
            </a:r>
          </a:p>
          <a:p xmlns:a="http://schemas.openxmlformats.org/drawingml/2006/main">
            <a:r>
              <a:t>        "output": "영상"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이벤트 탐지",</a:t>
            </a:r>
          </a:p>
          <a:p xmlns:a="http://schemas.openxmlformats.org/drawingml/2006/main">
            <a:r>
              <a:t>        "input": "영상",</a:t>
            </a:r>
          </a:p>
          <a:p xmlns:a="http://schemas.openxmlformats.org/drawingml/2006/main">
            <a:r>
              <a:t>        "process": "위험 행동·근접 상황의 영상 분석",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"오경보·중요 미탐과 조치 이행 측정",</a:t>
            </a:r>
          </a:p>
          <a:p xmlns:a="http://schemas.openxmlformats.org/drawingml/2006/main">
            <a:r>
              <a:t>        "output": "검토 이벤트"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"예방 조치",</a:t>
            </a:r>
          </a:p>
          <a:p xmlns:a="http://schemas.openxmlformats.org/drawingml/2006/main">
            <a:r>
              <a:t>        "input": "검토 이벤트",</a:t>
            </a:r>
          </a:p>
          <a:p xmlns:a="http://schemas.openxmlformats.org/drawingml/2006/main">
            <a:r>
              <a:t>        "process": "안전 담당자 확인 후 현장 개선 조치",</a:t>
            </a:r>
          </a:p>
          <a:p xmlns:a="http://schemas.openxmlformats.org/drawingml/2006/main">
            <a:r>
              <a:t>        "output": "예방 조치"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"영상에서 위험 상황을 발견하고 담당자가 조치 등록",</a:t>
            </a:r>
          </a:p>
          <a:p xmlns:a="http://schemas.openxmlformats.org/drawingml/2006/main">
            <a:r>
              <a:t>      "exception": "가림·조명 변화·작업 동선 변경·비위험 행동",</a:t>
            </a:r>
          </a:p>
          <a:p xmlns:a="http://schemas.openxmlformats.org/drawingml/2006/main">
            <a:r>
              <a:t>      "evidence": "사건 표본별 오탐·미탐과 확인·조치 완료 이력",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"물류 현장·안전 담당자",</a:t>
            </a:r>
          </a:p>
          <a:p xmlns:a="http://schemas.openxmlformats.org/drawingml/2006/main">
            <a:r>
              <a:t>          "processing": "구역·작업시간·관측 목적 지정",</a:t>
            </a:r>
          </a:p>
          <a:p xmlns:a="http://schemas.openxmlformats.org/drawingml/2006/main">
            <a:r>
              <a:t>          "output": "영상"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"이벤트·조치 기록",</a:t>
            </a:r>
          </a:p>
          <a:p xmlns:a="http://schemas.openxmlformats.org/drawingml/2006/main">
            <a:r>
              <a:t>          "processing": "영상 접근범위·구역 지도·사건 이력 정리",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"영상",</a:t>
            </a:r>
          </a:p>
          <a:p xmlns:a="http://schemas.openxmlformats.org/drawingml/2006/main">
            <a:r>
              <a:t>          "processing": "위험 행동·근접 상황의 영상 분석",</a:t>
            </a:r>
          </a:p>
          <a:p xmlns:a="http://schemas.openxmlformats.org/drawingml/2006/main">
            <a:r>
              <a:t>          "output": "검토 이벤트"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"검토 이벤트",</a:t>
            </a:r>
          </a:p>
          <a:p xmlns:a="http://schemas.openxmlformats.org/drawingml/2006/main">
            <a:r>
              <a:t>          "processing": "안전 담당자 확인 후 현장 개선 조치",</a:t>
            </a:r>
          </a:p>
          <a:p xmlns:a="http://schemas.openxmlformats.org/drawingml/2006/main">
            <a:r>
              <a:t>          "output": "예방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"오탐·누락·조치 완료와 재발 여부 추적",</a:t>
            </a:r>
          </a:p>
          <a:p xmlns:a="http://schemas.openxmlformats.org/drawingml/2006/main">
            <a:r>
              <a:t>          "output":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"오탐·누락·조치 완료와 재발 여부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"S-AX14",</a:t>
            </a:r>
          </a:p>
          <a:p xmlns:a="http://schemas.openxmlformats.org/drawingml/2006/main">
            <a:r>
              <a:t>        "title": "DHL Protex AI 안전 실증 · 사업자 기술 실증 소개 / 게시일 미표시",</a:t>
            </a:r>
          </a:p>
          <a:p xmlns:a="http://schemas.openxmlformats.org/drawingml/2006/main">
            <a:r>
              <a:t>        "url": "https://www.dhlfreight.com/nl-en/microsites/csi/computer-vision/logistics-use-cases/people-health-and-safety.html",</a:t>
            </a:r>
          </a:p>
          <a:p xmlns:a="http://schemas.openxmlformats.org/drawingml/2006/main">
            <a:r>
              <a:t>        "published": "PoC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"탐지 결과에서 조치 완료까지의 책임 연결",</a:t>
            </a:r>
          </a:p>
          <a:p xmlns:a="http://schemas.openxmlformats.org/drawingml/2006/main">
            <a:r>
              <a:t>    "local": "검사·시험·시설 현장 위험 증거와 안전 직무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"물류 작업장의 영상에서 위험 행동·근접 상황을 선별해 안전 담당자의 예방 조치를 돕는 사례. 탐지 이후의 검토·조치 연결이 현장 적용의 핵심.",</a:t>
            </a:r>
          </a:p>
          <a:p xmlns:a="http://schemas.openxmlformats.org/drawingml/2006/main">
            <a:r>
              <a:t>      "구역·작업시간·영상 접근범위를 지정하고 위험 후보를 사건 단위로 저장하는 구조의 재구성. 담당자가 현장 상황을 확인해 개선 조치를 기록하고 재발 여부를 검토하는 흐름.",</a:t>
            </a:r>
          </a:p>
          <a:p xmlns:a="http://schemas.openxmlformats.org/drawingml/2006/main">
            <a:r>
              <a:t>      "TS 시설·사업장 적용에서 카메라 설치만으로 안전 효과를 주장하기 어려운 유형. 구역·작업별 오경보와 중요 미탐, 경보 확인·조치 시간, 조치 후 재발을 분리해 평가할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"현장 영상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"물류 현장·안전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"구역·작업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"구역·작업시간·관측 목적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"영상·이력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행동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"위험 행동·근접 상황의 영상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"오경보·미탐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"오경보·중요 미탐과 조치 이행 측정",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"영상에서 위험 상황을 발견하고 담당자가 조치 등록",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"개선 조치 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"안전 담당자 확인 후 현장 개선 조치",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"재발·조치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"오탐·누락·조치 완료와 재발 여부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"영상·구역 지도",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"이벤트·조치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"사건·위치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"영상 접근범위·구역 지도·사건 이력 정리",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"위험·조치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"사건 표본별 오탐·미탐과 확인·조치 완료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"영상 열람정책",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"가림·조명 변화·작업 동선 변경·비위험 행동",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"구역·작업시간·관측 목적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"영상",</a:t>
            </a:r>
          </a:p>
          <a:p xmlns:a="http://schemas.openxmlformats.org/drawingml/2006/main">
            <a:r>
              <a:t>          "check": "오경보·중요 미탐과 조치 이행 측정"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"가림·조명 변화·작업 동선 변경·비위험 행동"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"검토 이벤트",</a:t>
            </a:r>
          </a:p>
          <a:p xmlns:a="http://schemas.openxmlformats.org/drawingml/2006/main">
            <a:r>
              <a:t>          "check": "안전 담당자 확인 후 현장 개선 조치"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"예방 조치",</a:t>
            </a:r>
          </a:p>
          <a:p xmlns:a="http://schemas.openxmlformats.org/drawingml/2006/main">
            <a:r>
              <a:t>          "check": "사건 표본별 오탐·미탐과 확인·조치 완료 이력"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"작업장 위험 상황의 조기 발견 지원 / 영상 이벤트·위험 분류·개선 조치",</a:t>
            </a:r>
          </a:p>
          <a:p xmlns:a="http://schemas.openxmlformats.org/drawingml/2006/main">
            <a:r>
              <a:t>        "extension": "검사·시험·시설 현장 위험 증거와 안전 직무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"가림·조명 변화·작업 동선 변경·비위험 행동",</a:t>
            </a:r>
          </a:p>
          <a:p xmlns:a="http://schemas.openxmlformats.org/drawingml/2006/main">
            <a:r>
              <a:t>        "hold": "오경보·중요 미탐과 조치 이행 측정",</a:t>
            </a:r>
          </a:p>
          <a:p xmlns:a="http://schemas.openxmlformats.org/drawingml/2006/main">
            <a:r>
              <a:t>        "recovery": "오탐·누락·조치 완료와 재발 여부 추적",</a:t>
            </a:r>
          </a:p>
          <a:p xmlns:a="http://schemas.openxmlformats.org/drawingml/2006/main">
            <a:r>
              <a:t>        "evidence": "사건 표본별 오탐·미탐과 확인·조치 완료 이력"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"이벤트·조치 기록",</a:t>
            </a:r>
          </a:p>
          <a:p xmlns:a="http://schemas.openxmlformats.org/drawingml/2006/main">
            <a:r>
              <a:t>        "prepare": "영상 접근범위·구역 지도·사건 이력 정리",</a:t>
            </a:r>
          </a:p>
          <a:p xmlns:a="http://schemas.openxmlformats.org/drawingml/2006/main">
            <a:r>
              <a:t>        "output": "영상",</a:t>
            </a:r>
          </a:p>
          <a:p xmlns:a="http://schemas.openxmlformats.org/drawingml/2006/main">
            <a:r>
              <a:t>        "refresh": "오탐·누락·조치 완료와 재발 여부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"현장 영상에서 위험 이벤트 선별",</a:t>
            </a:r>
          </a:p>
          <a:p xmlns:a="http://schemas.openxmlformats.org/drawingml/2006/main">
            <a:r>
              <a:t>      "안전 담당자의 예방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"카메라 위치·작업 유형별 편차",</a:t>
            </a:r>
          </a:p>
          <a:p xmlns:a="http://schemas.openxmlformats.org/drawingml/2006/main">
            <a:r>
              <a:t>      "실증 탐지와 실제 재해 감소의 차이"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"물류 현장 영상",</a:t>
            </a:r>
          </a:p>
          <a:p xmlns:a="http://schemas.openxmlformats.org/drawingml/2006/main">
            <a:r>
              <a:t>      "위험 행동 탐지",</a:t>
            </a:r>
          </a:p>
          <a:p xmlns:a="http://schemas.openxmlformats.org/drawingml/2006/main">
            <a:r>
              <a:t>      "이벤트·조치 기록",</a:t>
            </a:r>
          </a:p>
          <a:p xmlns:a="http://schemas.openxmlformats.org/drawingml/2006/main">
            <a:r>
              <a:t>      "안전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"영상",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"검토 이벤트",</a:t>
            </a:r>
          </a:p>
          <a:p xmlns:a="http://schemas.openxmlformats.org/drawingml/2006/main">
            <a:r>
              <a:t>      "예방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"오경보·중요 미탐과 조치 이행 측정",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DHL Protex AI 안전 실증 · 사업자 기술 실증 소개 / 게시일 미표시 https://www.dhlfreight.com/nl-en/microsites/csi/computer-vision/logistics-use-cases/people-health-and-safety.html</a:t>
            </a:r>
          </a:p>
          <a:p xmlns:a="http://schemas.openxmlformats.org/drawingml/2006/main">
            <a:r>
              <a:t>홈페이지 https://heen1987-ops.github.io/TS-business-Plan-001/index.html?view=casebook&amp;case=AX14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"title": "국세청 AI 전화상담",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"음성 기반 민원 안내",</a:t>
            </a:r>
          </a:p>
          <a:p xmlns:a="http://schemas.openxmlformats.org/drawingml/2006/main">
            <a:r>
              <a:t>    "period": "2024 시범 / 2025 확대 계획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 기반 민원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"일부 세무서 시범 전화상담과 전국 확대 계획 공개",</a:t>
            </a:r>
          </a:p>
          <a:p xmlns:a="http://schemas.openxmlformats.org/drawingml/2006/main">
            <a:r>
              <a:t>    "limit": "시범 운영과 이후 확대 계획 구분 · 개인별 과세 판단 자동화로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 분류",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"추가 상담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"발화 정리·확인·소관 서비스·상담 인계",</a:t>
            </a:r>
          </a:p>
          <a:p xmlns:a="http://schemas.openxmlformats.org/drawingml/2006/main">
            <a:r>
              <a:t>    "test": "고령·소음·중도 정정·상담 전환 과업 시험",</a:t>
            </a:r>
          </a:p>
          <a:p xmlns:a="http://schemas.openxmlformats.org/drawingml/2006/main">
            <a:r>
              <a:t>    "metric": "안내 도달률 / 포기율 / 재문의율",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"canonicalId": "AX15",</a:t>
            </a:r>
          </a:p>
          <a:p xmlns:a="http://schemas.openxmlformats.org/drawingml/2006/main">
            <a:r>
              <a:t>    "purpose": "반복 세무 문의의 음성 상담 지원",</a:t>
            </a:r>
          </a:p>
          <a:p xmlns:a="http://schemas.openxmlformats.org/drawingml/2006/main">
            <a:r>
              <a:t>    "users": "납세자·상담원",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"전화 응대",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"상담 전환"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"전화 상담",</a:t>
            </a:r>
          </a:p>
          <a:p xmlns:a="http://schemas.openxmlformats.org/drawingml/2006/main">
            <a:r>
              <a:t>        "detail": "발화에서 세목·기간·문의 목적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"전화 응대 / 세무 안내 / 상담 전환",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"음성·의도 처리",</a:t>
            </a:r>
          </a:p>
          <a:p xmlns:a="http://schemas.openxmlformats.org/drawingml/2006/main">
            <a:r>
              <a:t>        "detail": "질의에 맞춘 상담 지식 탐색·음성 안내",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"이용자·상담원",</a:t>
            </a:r>
          </a:p>
          <a:p xmlns:a="http://schemas.openxmlformats.org/drawingml/2006/main">
            <a:r>
              <a:t>        "detail": "해결 곤란 질문의 상담원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"세무 안내 지식",</a:t>
            </a:r>
          </a:p>
          <a:p xmlns:a="http://schemas.openxmlformats.org/drawingml/2006/main">
            <a:r>
              <a:t>        "detail": "승인 상담자료·세목·적용연도별 지식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"상담 이관·반복 문의·안내 오류 점검",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"전화 발화",</a:t>
            </a:r>
          </a:p>
          <a:p xmlns:a="http://schemas.openxmlformats.org/drawingml/2006/main">
            <a:r>
              <a:t>        "input": "발화에서 세목·기간·문의 목적 확인",</a:t>
            </a:r>
          </a:p>
          <a:p xmlns:a="http://schemas.openxmlformats.org/drawingml/2006/main">
            <a:r>
              <a:t>        "process": "승인 상담자료·세목·적용연도별 지식 관리",</a:t>
            </a:r>
          </a:p>
          <a:p xmlns:a="http://schemas.openxmlformats.org/drawingml/2006/main">
            <a:r>
              <a:t>        "output": "전화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"질의 의도 분류",</a:t>
            </a:r>
          </a:p>
          <a:p xmlns:a="http://schemas.openxmlformats.org/drawingml/2006/main">
            <a:r>
              <a:t>        "input": "전화 발화",</a:t>
            </a:r>
          </a:p>
          <a:p xmlns:a="http://schemas.openxmlformats.org/drawingml/2006/main">
            <a:r>
              <a:t>        "process": "질의에 맞춘 상담 지식 탐색·음성 안내",</a:t>
            </a:r>
          </a:p>
          <a:p xmlns:a="http://schemas.openxmlformats.org/drawingml/2006/main">
            <a:r>
              <a:t>        "output": "질의 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"세무 안내",</a:t>
            </a:r>
          </a:p>
          <a:p xmlns:a="http://schemas.openxmlformats.org/drawingml/2006/main">
            <a:r>
              <a:t>        "input": "질의 의도",</a:t>
            </a:r>
          </a:p>
          <a:p xmlns:a="http://schemas.openxmlformats.org/drawingml/2006/main">
            <a:r>
              <a:t>        "process": "핵심 발화 확인·전문 상담 전환",</a:t>
            </a:r>
          </a:p>
          <a:p xmlns:a="http://schemas.openxmlformats.org/drawingml/2006/main">
            <a:r>
              <a:t>        "output": "세무 안내"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"추가 상담 연결",</a:t>
            </a:r>
          </a:p>
          <a:p xmlns:a="http://schemas.openxmlformats.org/drawingml/2006/main">
            <a:r>
              <a:t>        "input": "세무 안내",</a:t>
            </a:r>
          </a:p>
          <a:p xmlns:a="http://schemas.openxmlformats.org/drawingml/2006/main">
            <a:r>
              <a:t>        "process": "해결 곤란 질문의 상담원 연결",</a:t>
            </a:r>
          </a:p>
          <a:p xmlns:a="http://schemas.openxmlformats.org/drawingml/2006/main">
            <a:r>
              <a:t>        "output": "후속 상담"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"납세자의 세목·귀속연도를 확인한 뒤 안내·상담 전환",</a:t>
            </a:r>
          </a:p>
          <a:p xmlns:a="http://schemas.openxmlformats.org/drawingml/2006/main">
            <a:r>
              <a:t>      "exception": "발화 인식 실패·다른 귀속연도·개인별 과세 판단 요청",</a:t>
            </a:r>
          </a:p>
          <a:p xmlns:a="http://schemas.openxmlformats.org/drawingml/2006/main">
            <a:r>
              <a:t>      "evidence": "필수 항목 인식표와 상담원 인계·해결 여부",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"납세자·상담원",</a:t>
            </a:r>
          </a:p>
          <a:p xmlns:a="http://schemas.openxmlformats.org/drawingml/2006/main">
            <a:r>
              <a:t>          "processing": "발화에서 세목·기간·문의 목적 확인",</a:t>
            </a:r>
          </a:p>
          <a:p xmlns:a="http://schemas.openxmlformats.org/drawingml/2006/main">
            <a:r>
              <a:t>          "output": "전화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"세무 안내 지식",</a:t>
            </a:r>
          </a:p>
          <a:p xmlns:a="http://schemas.openxmlformats.org/drawingml/2006/main">
            <a:r>
              <a:t>          "processing": "승인 상담자료·세목·적용연도별 지식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"전화 발화",</a:t>
            </a:r>
          </a:p>
          <a:p xmlns:a="http://schemas.openxmlformats.org/drawingml/2006/main">
            <a:r>
              <a:t>          "processing": "질의에 맞춘 상담 지식 탐색·음성 안내",</a:t>
            </a:r>
          </a:p>
          <a:p xmlns:a="http://schemas.openxmlformats.org/drawingml/2006/main">
            <a:r>
              <a:t>          "output": "세무 안내"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"세무 안내",</a:t>
            </a:r>
          </a:p>
          <a:p xmlns:a="http://schemas.openxmlformats.org/drawingml/2006/main">
            <a:r>
              <a:t>          "processing": "해결 곤란 질문의 상담원 연결",</a:t>
            </a:r>
          </a:p>
          <a:p xmlns:a="http://schemas.openxmlformats.org/drawingml/2006/main">
            <a:r>
              <a:t>          "output": "후속 상담"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"상담 이관·반복 문의·안내 오류 점검",</a:t>
            </a:r>
          </a:p>
          <a:p xmlns:a="http://schemas.openxmlformats.org/drawingml/2006/main">
            <a:r>
              <a:t>          "output":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"상담 이관·반복 문의·안내 오류 점검",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"S-AX15",</a:t>
            </a:r>
          </a:p>
          <a:p xmlns:a="http://schemas.openxmlformats.org/drawingml/2006/main">
            <a:r>
              <a:t>        "title": "국세청 AI 전화상담 · 국세청 발표 / 2024-11-14",</a:t>
            </a:r>
          </a:p>
          <a:p xmlns:a="http://schemas.openxmlformats.org/drawingml/2006/main">
            <a:r>
              <a:t>        "url": "https://www.nts.go.kr/nts/na/ntt/selectNttInfo.do?bbsId=1011&amp;mi=2207&amp;nttSn=1339206",</a:t>
            </a:r>
          </a:p>
          <a:p xmlns:a="http://schemas.openxmlformats.org/drawingml/2006/main">
            <a:r>
              <a:t>        "published": "2024 시범 / 2025 확대 계획 발표",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"반복 세무 문의를 전화 채널에서 안내하고 복잡한 질문을 상담원에게 연결하는 음성 상담 사례. 상담내용의 범위와 적용 연도를 정확히 식별하는 작업이 중요.",</a:t>
            </a:r>
          </a:p>
          <a:p xmlns:a="http://schemas.openxmlformats.org/drawingml/2006/main">
            <a:r>
              <a:t>      "발화의 세목·기간·질문 목적을 정리하고 승인 지식을 찾아 음성으로 안내하는 구조의 재구성. 응답이 불분명하거나 예외 판단이 필요한 경우 대화 맥락을 상담원에게 전달.",</a:t>
            </a:r>
          </a:p>
          <a:p xmlns:a="http://schemas.openxmlformats.org/drawingml/2006/main">
            <a:r>
              <a:t>      "TS 음성 민원 접점에서 인식률만으로 검수하지 않고 필수 항목 확인과 인계 성공을 포함할 근거. 시범 운영과 전국 확대 계획, 실제 해결률을 각각 구분한 비교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"전화 상담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"납세자·상담원",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"세목·기간 확인",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"발화에서 세목·기간·문의 목적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"전화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"발화·의도 처리",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"질의에 맞춘 상담 지식 탐색·음성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"핵심 조건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"핵심 발화 확인·전문 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"이용자·상담원",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"납세자의 세목·귀속연도를 확인한 뒤 안내·상담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"음성 안내·인계",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"해결 곤란 질문의 상담원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"반복 문의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"상담 이관·반복 문의·안내 오류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"세무 상담자료",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"세무 안내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"적용연도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상담자료·세목·적용연도별 지식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"지식·상담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"필수 항목 인식표와 상담원 인계·해결 여부",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 상담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"발화 인식 실패·다른 귀속연도·개인별 과세 판단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"발화에서 세목·기간·문의 목적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"전화 발화",</a:t>
            </a:r>
          </a:p>
          <a:p xmlns:a="http://schemas.openxmlformats.org/drawingml/2006/main">
            <a:r>
              <a:t>          "check": "핵심 발화 확인·전문 상담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"질의 의도",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"발화 인식 실패·다른 귀속연도·개인별 과세 판단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"해결 곤란 질문의 상담원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"후속 상담",</a:t>
            </a:r>
          </a:p>
          <a:p xmlns:a="http://schemas.openxmlformats.org/drawingml/2006/main">
            <a:r>
              <a:t>          "check":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"반복 세무 문의의 음성 상담 지원 / 전화 응대·세무 안내·상담 전환",</a:t>
            </a:r>
          </a:p>
          <a:p xmlns:a="http://schemas.openxmlformats.org/drawingml/2006/main">
            <a:r>
              <a:t>        "extension": "TS 기존 민원 메뉴에 음성·텍스트 진입점 추가"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"발화 인식 실패·다른 귀속연도·개인별 과세 판단 요청",</a:t>
            </a:r>
          </a:p>
          <a:p xmlns:a="http://schemas.openxmlformats.org/drawingml/2006/main">
            <a:r>
              <a:t>        "hold": "핵심 발화 확인·전문 상담 전환",</a:t>
            </a:r>
          </a:p>
          <a:p xmlns:a="http://schemas.openxmlformats.org/drawingml/2006/main">
            <a:r>
              <a:t>        "recovery": "상담 이관·반복 문의·안내 오류 점검",</a:t>
            </a:r>
          </a:p>
          <a:p xmlns:a="http://schemas.openxmlformats.org/drawingml/2006/main">
            <a:r>
              <a:t>        "evidence": "필수 항목 인식표와 상담원 인계·해결 여부"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"세무 안내 지식",</a:t>
            </a:r>
          </a:p>
          <a:p xmlns:a="http://schemas.openxmlformats.org/drawingml/2006/main">
            <a:r>
              <a:t>        "prepare": "승인 상담자료·세목·적용연도별 지식 관리",</a:t>
            </a:r>
          </a:p>
          <a:p xmlns:a="http://schemas.openxmlformats.org/drawingml/2006/main">
            <a:r>
              <a:t>        "output": "전화 발화",</a:t>
            </a:r>
          </a:p>
          <a:p xmlns:a="http://schemas.openxmlformats.org/drawingml/2006/main">
            <a:r>
              <a:t>        "refresh": "상담 이관·반복 문의·안내 오류 점검"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채널과 세무 안내 결합",</a:t>
            </a:r>
          </a:p>
          <a:p xmlns:a="http://schemas.openxmlformats.org/drawingml/2006/main">
            <a:r>
              <a:t>      "시범 적용 후 확대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"예외 세무상담의 잘못된 안내",</a:t>
            </a:r>
          </a:p>
          <a:p xmlns:a="http://schemas.openxmlformats.org/drawingml/2006/main">
            <a:r>
              <a:t>      "시범 성과와 전국 운영의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"전화 상담",</a:t>
            </a:r>
          </a:p>
          <a:p xmlns:a="http://schemas.openxmlformats.org/drawingml/2006/main">
            <a:r>
              <a:t>      "음성·의도 처리",</a:t>
            </a:r>
          </a:p>
          <a:p xmlns:a="http://schemas.openxmlformats.org/drawingml/2006/main">
            <a:r>
              <a:t>      "세무 안내 지식",</a:t>
            </a:r>
          </a:p>
          <a:p xmlns:a="http://schemas.openxmlformats.org/drawingml/2006/main">
            <a:r>
              <a:t>      "이용자·상담원"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"후속 상담"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"핵심 발화 확인·전문 상담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국세청 AI 전화상담 · 국세청 발표 / 2024-11-14 https://www.nts.go.kr/nts/na/ntt/selectNttInfo.do?bbsId=1011&amp;mi=2207&amp;nttSn=1339206</a:t>
            </a:r>
          </a:p>
          <a:p xmlns:a="http://schemas.openxmlformats.org/drawingml/2006/main">
            <a:r>
              <a:t>홈페이지 https://heen1987-ops.github.io/TS-business-Plan-001/index.html?view=casebook&amp;case=AX15</a:t>
            </a:r>
          </a:p>
          <a:p xmlns:a="http://schemas.openxmlformats.org/drawingml/2006/main">
            <a:r>
              <a:t>한계: 시범 운영과 이후 확대 계획 구분 · 개인별 과세 판단 자동화로 해석 금지</a:t>
            </a:r>
          </a:p>
          <a:p xmlns:a="http://schemas.openxmlformats.org/drawingml/2006/main">
            <a:r>
              <a:t>실패 위험: 예외 세무상담의 잘못된 안내 / 시범 성과와 전국 운영의 혼동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"title": "국세청 AI 전화상담",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"음성 기반 민원 안내",</a:t>
            </a:r>
          </a:p>
          <a:p xmlns:a="http://schemas.openxmlformats.org/drawingml/2006/main">
            <a:r>
              <a:t>    "period": "2024 시범 / 2025 확대 계획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 기반 민원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"일부 세무서 시범 전화상담과 전국 확대 계획 공개",</a:t>
            </a:r>
          </a:p>
          <a:p xmlns:a="http://schemas.openxmlformats.org/drawingml/2006/main">
            <a:r>
              <a:t>    "limit": "시범 운영과 이후 확대 계획 구분 · 개인별 과세 판단 자동화로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 분류",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"추가 상담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"발화 정리·확인·소관 서비스·상담 인계",</a:t>
            </a:r>
          </a:p>
          <a:p xmlns:a="http://schemas.openxmlformats.org/drawingml/2006/main">
            <a:r>
              <a:t>    "test": "고령·소음·중도 정정·상담 전환 과업 시험",</a:t>
            </a:r>
          </a:p>
          <a:p xmlns:a="http://schemas.openxmlformats.org/drawingml/2006/main">
            <a:r>
              <a:t>    "metric": "안내 도달률 / 포기율 / 재문의율",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"canonicalId": "AX15",</a:t>
            </a:r>
          </a:p>
          <a:p xmlns:a="http://schemas.openxmlformats.org/drawingml/2006/main">
            <a:r>
              <a:t>    "purpose": "반복 세무 문의의 음성 상담 지원",</a:t>
            </a:r>
          </a:p>
          <a:p xmlns:a="http://schemas.openxmlformats.org/drawingml/2006/main">
            <a:r>
              <a:t>    "users": "납세자·상담원",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"전화 응대",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"상담 전환"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"전화 상담",</a:t>
            </a:r>
          </a:p>
          <a:p xmlns:a="http://schemas.openxmlformats.org/drawingml/2006/main">
            <a:r>
              <a:t>        "detail": "발화에서 세목·기간·문의 목적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"전화 응대 / 세무 안내 / 상담 전환",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"음성·의도 처리",</a:t>
            </a:r>
          </a:p>
          <a:p xmlns:a="http://schemas.openxmlformats.org/drawingml/2006/main">
            <a:r>
              <a:t>        "detail": "질의에 맞춘 상담 지식 탐색·음성 안내",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"이용자·상담원",</a:t>
            </a:r>
          </a:p>
          <a:p xmlns:a="http://schemas.openxmlformats.org/drawingml/2006/main">
            <a:r>
              <a:t>        "detail": "해결 곤란 질문의 상담원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"세무 안내 지식",</a:t>
            </a:r>
          </a:p>
          <a:p xmlns:a="http://schemas.openxmlformats.org/drawingml/2006/main">
            <a:r>
              <a:t>        "detail": "승인 상담자료·세목·적용연도별 지식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"상담 이관·반복 문의·안내 오류 점검",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"전화 발화",</a:t>
            </a:r>
          </a:p>
          <a:p xmlns:a="http://schemas.openxmlformats.org/drawingml/2006/main">
            <a:r>
              <a:t>        "input": "발화에서 세목·기간·문의 목적 확인",</a:t>
            </a:r>
          </a:p>
          <a:p xmlns:a="http://schemas.openxmlformats.org/drawingml/2006/main">
            <a:r>
              <a:t>        "process": "승인 상담자료·세목·적용연도별 지식 관리",</a:t>
            </a:r>
          </a:p>
          <a:p xmlns:a="http://schemas.openxmlformats.org/drawingml/2006/main">
            <a:r>
              <a:t>        "output": "전화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"질의 의도 분류",</a:t>
            </a:r>
          </a:p>
          <a:p xmlns:a="http://schemas.openxmlformats.org/drawingml/2006/main">
            <a:r>
              <a:t>        "input": "전화 발화",</a:t>
            </a:r>
          </a:p>
          <a:p xmlns:a="http://schemas.openxmlformats.org/drawingml/2006/main">
            <a:r>
              <a:t>        "process": "질의에 맞춘 상담 지식 탐색·음성 안내",</a:t>
            </a:r>
          </a:p>
          <a:p xmlns:a="http://schemas.openxmlformats.org/drawingml/2006/main">
            <a:r>
              <a:t>        "output": "질의 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"세무 안내",</a:t>
            </a:r>
          </a:p>
          <a:p xmlns:a="http://schemas.openxmlformats.org/drawingml/2006/main">
            <a:r>
              <a:t>        "input": "질의 의도",</a:t>
            </a:r>
          </a:p>
          <a:p xmlns:a="http://schemas.openxmlformats.org/drawingml/2006/main">
            <a:r>
              <a:t>        "process": "핵심 발화 확인·전문 상담 전환",</a:t>
            </a:r>
          </a:p>
          <a:p xmlns:a="http://schemas.openxmlformats.org/drawingml/2006/main">
            <a:r>
              <a:t>        "output": "세무 안내"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"추가 상담 연결",</a:t>
            </a:r>
          </a:p>
          <a:p xmlns:a="http://schemas.openxmlformats.org/drawingml/2006/main">
            <a:r>
              <a:t>        "input": "세무 안내",</a:t>
            </a:r>
          </a:p>
          <a:p xmlns:a="http://schemas.openxmlformats.org/drawingml/2006/main">
            <a:r>
              <a:t>        "process": "해결 곤란 질문의 상담원 연결",</a:t>
            </a:r>
          </a:p>
          <a:p xmlns:a="http://schemas.openxmlformats.org/drawingml/2006/main">
            <a:r>
              <a:t>        "output": "후속 상담"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"납세자의 세목·귀속연도를 확인한 뒤 안내·상담 전환",</a:t>
            </a:r>
          </a:p>
          <a:p xmlns:a="http://schemas.openxmlformats.org/drawingml/2006/main">
            <a:r>
              <a:t>      "exception": "발화 인식 실패·다른 귀속연도·개인별 과세 판단 요청",</a:t>
            </a:r>
          </a:p>
          <a:p xmlns:a="http://schemas.openxmlformats.org/drawingml/2006/main">
            <a:r>
              <a:t>      "evidence": "필수 항목 인식표와 상담원 인계·해결 여부",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"납세자·상담원",</a:t>
            </a:r>
          </a:p>
          <a:p xmlns:a="http://schemas.openxmlformats.org/drawingml/2006/main">
            <a:r>
              <a:t>          "processing": "발화에서 세목·기간·문의 목적 확인",</a:t>
            </a:r>
          </a:p>
          <a:p xmlns:a="http://schemas.openxmlformats.org/drawingml/2006/main">
            <a:r>
              <a:t>          "output": "전화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"세무 안내 지식",</a:t>
            </a:r>
          </a:p>
          <a:p xmlns:a="http://schemas.openxmlformats.org/drawingml/2006/main">
            <a:r>
              <a:t>          "processing": "승인 상담자료·세목·적용연도별 지식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"전화 발화",</a:t>
            </a:r>
          </a:p>
          <a:p xmlns:a="http://schemas.openxmlformats.org/drawingml/2006/main">
            <a:r>
              <a:t>          "processing": "질의에 맞춘 상담 지식 탐색·음성 안내",</a:t>
            </a:r>
          </a:p>
          <a:p xmlns:a="http://schemas.openxmlformats.org/drawingml/2006/main">
            <a:r>
              <a:t>          "output": "세무 안내"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"세무 안내",</a:t>
            </a:r>
          </a:p>
          <a:p xmlns:a="http://schemas.openxmlformats.org/drawingml/2006/main">
            <a:r>
              <a:t>          "processing": "해결 곤란 질문의 상담원 연결",</a:t>
            </a:r>
          </a:p>
          <a:p xmlns:a="http://schemas.openxmlformats.org/drawingml/2006/main">
            <a:r>
              <a:t>          "output": "후속 상담"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"상담 이관·반복 문의·안내 오류 점검",</a:t>
            </a:r>
          </a:p>
          <a:p xmlns:a="http://schemas.openxmlformats.org/drawingml/2006/main">
            <a:r>
              <a:t>          "output":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"상담 이관·반복 문의·안내 오류 점검",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"S-AX15",</a:t>
            </a:r>
          </a:p>
          <a:p xmlns:a="http://schemas.openxmlformats.org/drawingml/2006/main">
            <a:r>
              <a:t>        "title": "국세청 AI 전화상담 · 국세청 발표 / 2024-11-14",</a:t>
            </a:r>
          </a:p>
          <a:p xmlns:a="http://schemas.openxmlformats.org/drawingml/2006/main">
            <a:r>
              <a:t>        "url": "https://www.nts.go.kr/nts/na/ntt/selectNttInfo.do?bbsId=1011&amp;mi=2207&amp;nttSn=1339206",</a:t>
            </a:r>
          </a:p>
          <a:p xmlns:a="http://schemas.openxmlformats.org/drawingml/2006/main">
            <a:r>
              <a:t>        "published": "2024 시범 / 2025 확대 계획 발표",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"반복 세무 문의를 전화 채널에서 안내하고 복잡한 질문을 상담원에게 연결하는 음성 상담 사례. 상담내용의 범위와 적용 연도를 정확히 식별하는 작업이 중요.",</a:t>
            </a:r>
          </a:p>
          <a:p xmlns:a="http://schemas.openxmlformats.org/drawingml/2006/main">
            <a:r>
              <a:t>      "발화의 세목·기간·질문 목적을 정리하고 승인 지식을 찾아 음성으로 안내하는 구조의 재구성. 응답이 불분명하거나 예외 판단이 필요한 경우 대화 맥락을 상담원에게 전달.",</a:t>
            </a:r>
          </a:p>
          <a:p xmlns:a="http://schemas.openxmlformats.org/drawingml/2006/main">
            <a:r>
              <a:t>      "TS 음성 민원 접점에서 인식률만으로 검수하지 않고 필수 항목 확인과 인계 성공을 포함할 근거. 시범 운영과 전국 확대 계획, 실제 해결률을 각각 구분한 비교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"전화 상담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"납세자·상담원",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"세목·기간 확인",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"발화에서 세목·기간·문의 목적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"전화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"발화·의도 처리",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"질의에 맞춘 상담 지식 탐색·음성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"핵심 조건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"핵심 발화 확인·전문 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"이용자·상담원",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"납세자의 세목·귀속연도를 확인한 뒤 안내·상담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"음성 안내·인계",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"해결 곤란 질문의 상담원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"반복 문의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"상담 이관·반복 문의·안내 오류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"세무 상담자료",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"세무 안내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"적용연도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상담자료·세목·적용연도별 지식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"지식·상담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"필수 항목 인식표와 상담원 인계·해결 여부",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 상담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"발화 인식 실패·다른 귀속연도·개인별 과세 판단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"발화에서 세목·기간·문의 목적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"전화 발화",</a:t>
            </a:r>
          </a:p>
          <a:p xmlns:a="http://schemas.openxmlformats.org/drawingml/2006/main">
            <a:r>
              <a:t>          "check": "핵심 발화 확인·전문 상담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"질의 의도",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"발화 인식 실패·다른 귀속연도·개인별 과세 판단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"해결 곤란 질문의 상담원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"후속 상담",</a:t>
            </a:r>
          </a:p>
          <a:p xmlns:a="http://schemas.openxmlformats.org/drawingml/2006/main">
            <a:r>
              <a:t>          "check":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"반복 세무 문의의 음성 상담 지원 / 전화 응대·세무 안내·상담 전환",</a:t>
            </a:r>
          </a:p>
          <a:p xmlns:a="http://schemas.openxmlformats.org/drawingml/2006/main">
            <a:r>
              <a:t>        "extension": "TS 기존 민원 메뉴에 음성·텍스트 진입점 추가"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"발화 인식 실패·다른 귀속연도·개인별 과세 판단 요청",</a:t>
            </a:r>
          </a:p>
          <a:p xmlns:a="http://schemas.openxmlformats.org/drawingml/2006/main">
            <a:r>
              <a:t>        "hold": "핵심 발화 확인·전문 상담 전환",</a:t>
            </a:r>
          </a:p>
          <a:p xmlns:a="http://schemas.openxmlformats.org/drawingml/2006/main">
            <a:r>
              <a:t>        "recovery": "상담 이관·반복 문의·안내 오류 점검",</a:t>
            </a:r>
          </a:p>
          <a:p xmlns:a="http://schemas.openxmlformats.org/drawingml/2006/main">
            <a:r>
              <a:t>        "evidence": "필수 항목 인식표와 상담원 인계·해결 여부"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"세무 안내 지식",</a:t>
            </a:r>
          </a:p>
          <a:p xmlns:a="http://schemas.openxmlformats.org/drawingml/2006/main">
            <a:r>
              <a:t>        "prepare": "승인 상담자료·세목·적용연도별 지식 관리",</a:t>
            </a:r>
          </a:p>
          <a:p xmlns:a="http://schemas.openxmlformats.org/drawingml/2006/main">
            <a:r>
              <a:t>        "output": "전화 발화",</a:t>
            </a:r>
          </a:p>
          <a:p xmlns:a="http://schemas.openxmlformats.org/drawingml/2006/main">
            <a:r>
              <a:t>        "refresh": "상담 이관·반복 문의·안내 오류 점검"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채널과 세무 안내 결합",</a:t>
            </a:r>
          </a:p>
          <a:p xmlns:a="http://schemas.openxmlformats.org/drawingml/2006/main">
            <a:r>
              <a:t>      "시범 적용 후 확대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"예외 세무상담의 잘못된 안내",</a:t>
            </a:r>
          </a:p>
          <a:p xmlns:a="http://schemas.openxmlformats.org/drawingml/2006/main">
            <a:r>
              <a:t>      "시범 성과와 전국 운영의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"전화 상담",</a:t>
            </a:r>
          </a:p>
          <a:p xmlns:a="http://schemas.openxmlformats.org/drawingml/2006/main">
            <a:r>
              <a:t>      "음성·의도 처리",</a:t>
            </a:r>
          </a:p>
          <a:p xmlns:a="http://schemas.openxmlformats.org/drawingml/2006/main">
            <a:r>
              <a:t>      "세무 안내 지식",</a:t>
            </a:r>
          </a:p>
          <a:p xmlns:a="http://schemas.openxmlformats.org/drawingml/2006/main">
            <a:r>
              <a:t>      "이용자·상담원"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"후속 상담"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"핵심 발화 확인·전문 상담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국세청 AI 전화상담 · 국세청 발표 / 2024-11-14 https://www.nts.go.kr/nts/na/ntt/selectNttInfo.do?bbsId=1011&amp;mi=2207&amp;nttSn=1339206</a:t>
            </a:r>
          </a:p>
          <a:p xmlns:a="http://schemas.openxmlformats.org/drawingml/2006/main">
            <a:r>
              <a:t>홈페이지 https://heen1987-ops.github.io/TS-business-Plan-001/index.html?view=casebook&amp;case=AX15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"title": "국세청 AI 전화상담",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"음성 기반 민원 안내",</a:t>
            </a:r>
          </a:p>
          <a:p xmlns:a="http://schemas.openxmlformats.org/drawingml/2006/main">
            <a:r>
              <a:t>    "period": "2024 시범 / 2025 확대 계획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 기반 민원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"일부 세무서 시범 전화상담과 전국 확대 계획 공개",</a:t>
            </a:r>
          </a:p>
          <a:p xmlns:a="http://schemas.openxmlformats.org/drawingml/2006/main">
            <a:r>
              <a:t>    "limit": "시범 운영과 이후 확대 계획 구분 · 개인별 과세 판단 자동화로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 분류",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"추가 상담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"발화 정리·확인·소관 서비스·상담 인계",</a:t>
            </a:r>
          </a:p>
          <a:p xmlns:a="http://schemas.openxmlformats.org/drawingml/2006/main">
            <a:r>
              <a:t>    "test": "고령·소음·중도 정정·상담 전환 과업 시험",</a:t>
            </a:r>
          </a:p>
          <a:p xmlns:a="http://schemas.openxmlformats.org/drawingml/2006/main">
            <a:r>
              <a:t>    "metric": "안내 도달률 / 포기율 / 재문의율",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"canonicalId": "AX15",</a:t>
            </a:r>
          </a:p>
          <a:p xmlns:a="http://schemas.openxmlformats.org/drawingml/2006/main">
            <a:r>
              <a:t>    "purpose": "반복 세무 문의의 음성 상담 지원",</a:t>
            </a:r>
          </a:p>
          <a:p xmlns:a="http://schemas.openxmlformats.org/drawingml/2006/main">
            <a:r>
              <a:t>    "users": "납세자·상담원",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"전화 응대",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"상담 전환"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"전화 상담",</a:t>
            </a:r>
          </a:p>
          <a:p xmlns:a="http://schemas.openxmlformats.org/drawingml/2006/main">
            <a:r>
              <a:t>        "detail": "발화에서 세목·기간·문의 목적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"전화 응대 / 세무 안내 / 상담 전환",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"음성·의도 처리",</a:t>
            </a:r>
          </a:p>
          <a:p xmlns:a="http://schemas.openxmlformats.org/drawingml/2006/main">
            <a:r>
              <a:t>        "detail": "질의에 맞춘 상담 지식 탐색·음성 안내",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"이용자·상담원",</a:t>
            </a:r>
          </a:p>
          <a:p xmlns:a="http://schemas.openxmlformats.org/drawingml/2006/main">
            <a:r>
              <a:t>        "detail": "해결 곤란 질문의 상담원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"세무 안내 지식",</a:t>
            </a:r>
          </a:p>
          <a:p xmlns:a="http://schemas.openxmlformats.org/drawingml/2006/main">
            <a:r>
              <a:t>        "detail": "승인 상담자료·세목·적용연도별 지식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"상담 이관·반복 문의·안내 오류 점검",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"전화 발화",</a:t>
            </a:r>
          </a:p>
          <a:p xmlns:a="http://schemas.openxmlformats.org/drawingml/2006/main">
            <a:r>
              <a:t>        "input": "발화에서 세목·기간·문의 목적 확인",</a:t>
            </a:r>
          </a:p>
          <a:p xmlns:a="http://schemas.openxmlformats.org/drawingml/2006/main">
            <a:r>
              <a:t>        "process": "승인 상담자료·세목·적용연도별 지식 관리",</a:t>
            </a:r>
          </a:p>
          <a:p xmlns:a="http://schemas.openxmlformats.org/drawingml/2006/main">
            <a:r>
              <a:t>        "output": "전화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"질의 의도 분류",</a:t>
            </a:r>
          </a:p>
          <a:p xmlns:a="http://schemas.openxmlformats.org/drawingml/2006/main">
            <a:r>
              <a:t>        "input": "전화 발화",</a:t>
            </a:r>
          </a:p>
          <a:p xmlns:a="http://schemas.openxmlformats.org/drawingml/2006/main">
            <a:r>
              <a:t>        "process": "질의에 맞춘 상담 지식 탐색·음성 안내",</a:t>
            </a:r>
          </a:p>
          <a:p xmlns:a="http://schemas.openxmlformats.org/drawingml/2006/main">
            <a:r>
              <a:t>        "output": "질의 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"세무 안내",</a:t>
            </a:r>
          </a:p>
          <a:p xmlns:a="http://schemas.openxmlformats.org/drawingml/2006/main">
            <a:r>
              <a:t>        "input": "질의 의도",</a:t>
            </a:r>
          </a:p>
          <a:p xmlns:a="http://schemas.openxmlformats.org/drawingml/2006/main">
            <a:r>
              <a:t>        "process": "핵심 발화 확인·전문 상담 전환",</a:t>
            </a:r>
          </a:p>
          <a:p xmlns:a="http://schemas.openxmlformats.org/drawingml/2006/main">
            <a:r>
              <a:t>        "output": "세무 안내"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"추가 상담 연결",</a:t>
            </a:r>
          </a:p>
          <a:p xmlns:a="http://schemas.openxmlformats.org/drawingml/2006/main">
            <a:r>
              <a:t>        "input": "세무 안내",</a:t>
            </a:r>
          </a:p>
          <a:p xmlns:a="http://schemas.openxmlformats.org/drawingml/2006/main">
            <a:r>
              <a:t>        "process": "해결 곤란 질문의 상담원 연결",</a:t>
            </a:r>
          </a:p>
          <a:p xmlns:a="http://schemas.openxmlformats.org/drawingml/2006/main">
            <a:r>
              <a:t>        "output": "후속 상담"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"납세자의 세목·귀속연도를 확인한 뒤 안내·상담 전환",</a:t>
            </a:r>
          </a:p>
          <a:p xmlns:a="http://schemas.openxmlformats.org/drawingml/2006/main">
            <a:r>
              <a:t>      "exception": "발화 인식 실패·다른 귀속연도·개인별 과세 판단 요청",</a:t>
            </a:r>
          </a:p>
          <a:p xmlns:a="http://schemas.openxmlformats.org/drawingml/2006/main">
            <a:r>
              <a:t>      "evidence": "필수 항목 인식표와 상담원 인계·해결 여부",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"납세자·상담원",</a:t>
            </a:r>
          </a:p>
          <a:p xmlns:a="http://schemas.openxmlformats.org/drawingml/2006/main">
            <a:r>
              <a:t>          "processing": "발화에서 세목·기간·문의 목적 확인",</a:t>
            </a:r>
          </a:p>
          <a:p xmlns:a="http://schemas.openxmlformats.org/drawingml/2006/main">
            <a:r>
              <a:t>          "output": "전화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"세무 안내 지식",</a:t>
            </a:r>
          </a:p>
          <a:p xmlns:a="http://schemas.openxmlformats.org/drawingml/2006/main">
            <a:r>
              <a:t>          "processing": "승인 상담자료·세목·적용연도별 지식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"전화 발화",</a:t>
            </a:r>
          </a:p>
          <a:p xmlns:a="http://schemas.openxmlformats.org/drawingml/2006/main">
            <a:r>
              <a:t>          "processing": "질의에 맞춘 상담 지식 탐색·음성 안내",</a:t>
            </a:r>
          </a:p>
          <a:p xmlns:a="http://schemas.openxmlformats.org/drawingml/2006/main">
            <a:r>
              <a:t>          "output": "세무 안내"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"세무 안내",</a:t>
            </a:r>
          </a:p>
          <a:p xmlns:a="http://schemas.openxmlformats.org/drawingml/2006/main">
            <a:r>
              <a:t>          "processing": "해결 곤란 질문의 상담원 연결",</a:t>
            </a:r>
          </a:p>
          <a:p xmlns:a="http://schemas.openxmlformats.org/drawingml/2006/main">
            <a:r>
              <a:t>          "output": "후속 상담"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"상담 이관·반복 문의·안내 오류 점검",</a:t>
            </a:r>
          </a:p>
          <a:p xmlns:a="http://schemas.openxmlformats.org/drawingml/2006/main">
            <a:r>
              <a:t>          "output":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"상담 이관·반복 문의·안내 오류 점검",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"S-AX15",</a:t>
            </a:r>
          </a:p>
          <a:p xmlns:a="http://schemas.openxmlformats.org/drawingml/2006/main">
            <a:r>
              <a:t>        "title": "국세청 AI 전화상담 · 국세청 발표 / 2024-11-14",</a:t>
            </a:r>
          </a:p>
          <a:p xmlns:a="http://schemas.openxmlformats.org/drawingml/2006/main">
            <a:r>
              <a:t>        "url": "https://www.nts.go.kr/nts/na/ntt/selectNttInfo.do?bbsId=1011&amp;mi=2207&amp;nttSn=1339206",</a:t>
            </a:r>
          </a:p>
          <a:p xmlns:a="http://schemas.openxmlformats.org/drawingml/2006/main">
            <a:r>
              <a:t>        "published": "2024 시범 / 2025 확대 계획 발표",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"반복 세무 문의를 전화 채널에서 안내하고 복잡한 질문을 상담원에게 연결하는 음성 상담 사례. 상담내용의 범위와 적용 연도를 정확히 식별하는 작업이 중요.",</a:t>
            </a:r>
          </a:p>
          <a:p xmlns:a="http://schemas.openxmlformats.org/drawingml/2006/main">
            <a:r>
              <a:t>      "발화의 세목·기간·질문 목적을 정리하고 승인 지식을 찾아 음성으로 안내하는 구조의 재구성. 응답이 불분명하거나 예외 판단이 필요한 경우 대화 맥락을 상담원에게 전달.",</a:t>
            </a:r>
          </a:p>
          <a:p xmlns:a="http://schemas.openxmlformats.org/drawingml/2006/main">
            <a:r>
              <a:t>      "TS 음성 민원 접점에서 인식률만으로 검수하지 않고 필수 항목 확인과 인계 성공을 포함할 근거. 시범 운영과 전국 확대 계획, 실제 해결률을 각각 구분한 비교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"전화 상담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"납세자·상담원",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"세목·기간 확인",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"발화에서 세목·기간·문의 목적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"전화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"발화·의도 처리",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"질의에 맞춘 상담 지식 탐색·음성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"핵심 조건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"핵심 발화 확인·전문 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"이용자·상담원",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"납세자의 세목·귀속연도를 확인한 뒤 안내·상담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"음성 안내·인계",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"해결 곤란 질문의 상담원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"반복 문의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"상담 이관·반복 문의·안내 오류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"세무 상담자료",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"세무 안내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"적용연도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상담자료·세목·적용연도별 지식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"지식·상담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"필수 항목 인식표와 상담원 인계·해결 여부",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 상담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"발화 인식 실패·다른 귀속연도·개인별 과세 판단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"발화에서 세목·기간·문의 목적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"전화 발화",</a:t>
            </a:r>
          </a:p>
          <a:p xmlns:a="http://schemas.openxmlformats.org/drawingml/2006/main">
            <a:r>
              <a:t>          "check": "핵심 발화 확인·전문 상담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"질의 의도",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"발화 인식 실패·다른 귀속연도·개인별 과세 판단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"해결 곤란 질문의 상담원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"후속 상담",</a:t>
            </a:r>
          </a:p>
          <a:p xmlns:a="http://schemas.openxmlformats.org/drawingml/2006/main">
            <a:r>
              <a:t>          "check":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"반복 세무 문의의 음성 상담 지원 / 전화 응대·세무 안내·상담 전환",</a:t>
            </a:r>
          </a:p>
          <a:p xmlns:a="http://schemas.openxmlformats.org/drawingml/2006/main">
            <a:r>
              <a:t>        "extension": "TS 기존 민원 메뉴에 음성·텍스트 진입점 추가"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"발화 인식 실패·다른 귀속연도·개인별 과세 판단 요청",</a:t>
            </a:r>
          </a:p>
          <a:p xmlns:a="http://schemas.openxmlformats.org/drawingml/2006/main">
            <a:r>
              <a:t>        "hold": "핵심 발화 확인·전문 상담 전환",</a:t>
            </a:r>
          </a:p>
          <a:p xmlns:a="http://schemas.openxmlformats.org/drawingml/2006/main">
            <a:r>
              <a:t>        "recovery": "상담 이관·반복 문의·안내 오류 점검",</a:t>
            </a:r>
          </a:p>
          <a:p xmlns:a="http://schemas.openxmlformats.org/drawingml/2006/main">
            <a:r>
              <a:t>        "evidence": "필수 항목 인식표와 상담원 인계·해결 여부"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"세무 안내 지식",</a:t>
            </a:r>
          </a:p>
          <a:p xmlns:a="http://schemas.openxmlformats.org/drawingml/2006/main">
            <a:r>
              <a:t>        "prepare": "승인 상담자료·세목·적용연도별 지식 관리",</a:t>
            </a:r>
          </a:p>
          <a:p xmlns:a="http://schemas.openxmlformats.org/drawingml/2006/main">
            <a:r>
              <a:t>        "output": "전화 발화",</a:t>
            </a:r>
          </a:p>
          <a:p xmlns:a="http://schemas.openxmlformats.org/drawingml/2006/main">
            <a:r>
              <a:t>        "refresh": "상담 이관·반복 문의·안내 오류 점검"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채널과 세무 안내 결합",</a:t>
            </a:r>
          </a:p>
          <a:p xmlns:a="http://schemas.openxmlformats.org/drawingml/2006/main">
            <a:r>
              <a:t>      "시범 적용 후 확대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"예외 세무상담의 잘못된 안내",</a:t>
            </a:r>
          </a:p>
          <a:p xmlns:a="http://schemas.openxmlformats.org/drawingml/2006/main">
            <a:r>
              <a:t>      "시범 성과와 전국 운영의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"전화 상담",</a:t>
            </a:r>
          </a:p>
          <a:p xmlns:a="http://schemas.openxmlformats.org/drawingml/2006/main">
            <a:r>
              <a:t>      "음성·의도 처리",</a:t>
            </a:r>
          </a:p>
          <a:p xmlns:a="http://schemas.openxmlformats.org/drawingml/2006/main">
            <a:r>
              <a:t>      "세무 안내 지식",</a:t>
            </a:r>
          </a:p>
          <a:p xmlns:a="http://schemas.openxmlformats.org/drawingml/2006/main">
            <a:r>
              <a:t>      "이용자·상담원"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"후속 상담"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"핵심 발화 확인·전문 상담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국세청 AI 전화상담 · 국세청 발표 / 2024-11-14 https://www.nts.go.kr/nts/na/ntt/selectNttInfo.do?bbsId=1011&amp;mi=2207&amp;nttSn=1339206</a:t>
            </a:r>
          </a:p>
          <a:p xmlns:a="http://schemas.openxmlformats.org/drawingml/2006/main">
            <a:r>
              <a:t>홈페이지 https://heen1987-ops.github.io/TS-business-Plan-001/index.html?view=casebook&amp;case=AX15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"title": "국세청 AI 전화상담",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"음성 기반 민원 안내",</a:t>
            </a:r>
          </a:p>
          <a:p xmlns:a="http://schemas.openxmlformats.org/drawingml/2006/main">
            <a:r>
              <a:t>    "period": "2024 시범 / 2025 확대 계획 발표",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"음성 기반 민원 안내"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"일부 세무서 시범 전화상담과 전국 확대 계획 공개",</a:t>
            </a:r>
          </a:p>
          <a:p xmlns:a="http://schemas.openxmlformats.org/drawingml/2006/main">
            <a:r>
              <a:t>    "limit": "시범 운영과 이후 확대 계획 구분 · 개인별 과세 판단 자동화로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 분류",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"추가 상담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"발화 정리·확인·소관 서비스·상담 인계",</a:t>
            </a:r>
          </a:p>
          <a:p xmlns:a="http://schemas.openxmlformats.org/drawingml/2006/main">
            <a:r>
              <a:t>    "test": "고령·소음·중도 정정·상담 전환 과업 시험",</a:t>
            </a:r>
          </a:p>
          <a:p xmlns:a="http://schemas.openxmlformats.org/drawingml/2006/main">
            <a:r>
              <a:t>    "metric": "안내 도달률 / 포기율 / 재문의율",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"ST-08",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"canonicalId": "AX15",</a:t>
            </a:r>
          </a:p>
          <a:p xmlns:a="http://schemas.openxmlformats.org/drawingml/2006/main">
            <a:r>
              <a:t>    "purpose": "반복 세무 문의의 음성 상담 지원",</a:t>
            </a:r>
          </a:p>
          <a:p xmlns:a="http://schemas.openxmlformats.org/drawingml/2006/main">
            <a:r>
              <a:t>    "users": "납세자·상담원",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"전화 응대",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"상담 전환"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"전화 상담",</a:t>
            </a:r>
          </a:p>
          <a:p xmlns:a="http://schemas.openxmlformats.org/drawingml/2006/main">
            <a:r>
              <a:t>        "detail": "발화에서 세목·기간·문의 목적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"전화 응대 / 세무 안내 / 상담 전환",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"음성·의도 처리",</a:t>
            </a:r>
          </a:p>
          <a:p xmlns:a="http://schemas.openxmlformats.org/drawingml/2006/main">
            <a:r>
              <a:t>        "detail": "질의에 맞춘 상담 지식 탐색·음성 안내",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"이용자·상담원",</a:t>
            </a:r>
          </a:p>
          <a:p xmlns:a="http://schemas.openxmlformats.org/drawingml/2006/main">
            <a:r>
              <a:t>        "detail": "해결 곤란 질문의 상담원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"세무 안내 지식",</a:t>
            </a:r>
          </a:p>
          <a:p xmlns:a="http://schemas.openxmlformats.org/drawingml/2006/main">
            <a:r>
              <a:t>        "detail": "승인 상담자료·세목·적용연도별 지식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"상담 이관·반복 문의·안내 오류 점검",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"전화 발화",</a:t>
            </a:r>
          </a:p>
          <a:p xmlns:a="http://schemas.openxmlformats.org/drawingml/2006/main">
            <a:r>
              <a:t>        "input": "발화에서 세목·기간·문의 목적 확인",</a:t>
            </a:r>
          </a:p>
          <a:p xmlns:a="http://schemas.openxmlformats.org/drawingml/2006/main">
            <a:r>
              <a:t>        "process": "승인 상담자료·세목·적용연도별 지식 관리",</a:t>
            </a:r>
          </a:p>
          <a:p xmlns:a="http://schemas.openxmlformats.org/drawingml/2006/main">
            <a:r>
              <a:t>        "output": "전화 발화"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"질의 의도 분류",</a:t>
            </a:r>
          </a:p>
          <a:p xmlns:a="http://schemas.openxmlformats.org/drawingml/2006/main">
            <a:r>
              <a:t>        "input": "전화 발화",</a:t>
            </a:r>
          </a:p>
          <a:p xmlns:a="http://schemas.openxmlformats.org/drawingml/2006/main">
            <a:r>
              <a:t>        "process": "질의에 맞춘 상담 지식 탐색·음성 안내",</a:t>
            </a:r>
          </a:p>
          <a:p xmlns:a="http://schemas.openxmlformats.org/drawingml/2006/main">
            <a:r>
              <a:t>        "output": "질의 의도"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"세무 안내",</a:t>
            </a:r>
          </a:p>
          <a:p xmlns:a="http://schemas.openxmlformats.org/drawingml/2006/main">
            <a:r>
              <a:t>        "input": "질의 의도",</a:t>
            </a:r>
          </a:p>
          <a:p xmlns:a="http://schemas.openxmlformats.org/drawingml/2006/main">
            <a:r>
              <a:t>        "process": "핵심 발화 확인·전문 상담 전환",</a:t>
            </a:r>
          </a:p>
          <a:p xmlns:a="http://schemas.openxmlformats.org/drawingml/2006/main">
            <a:r>
              <a:t>        "output": "세무 안내"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"추가 상담 연결",</a:t>
            </a:r>
          </a:p>
          <a:p xmlns:a="http://schemas.openxmlformats.org/drawingml/2006/main">
            <a:r>
              <a:t>        "input": "세무 안내",</a:t>
            </a:r>
          </a:p>
          <a:p xmlns:a="http://schemas.openxmlformats.org/drawingml/2006/main">
            <a:r>
              <a:t>        "process": "해결 곤란 질문의 상담원 연결",</a:t>
            </a:r>
          </a:p>
          <a:p xmlns:a="http://schemas.openxmlformats.org/drawingml/2006/main">
            <a:r>
              <a:t>        "output": "후속 상담"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"납세자의 세목·귀속연도를 확인한 뒤 안내·상담 전환",</a:t>
            </a:r>
          </a:p>
          <a:p xmlns:a="http://schemas.openxmlformats.org/drawingml/2006/main">
            <a:r>
              <a:t>      "exception": "발화 인식 실패·다른 귀속연도·개인별 과세 판단 요청",</a:t>
            </a:r>
          </a:p>
          <a:p xmlns:a="http://schemas.openxmlformats.org/drawingml/2006/main">
            <a:r>
              <a:t>      "evidence": "필수 항목 인식표와 상담원 인계·해결 여부",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"납세자·상담원",</a:t>
            </a:r>
          </a:p>
          <a:p xmlns:a="http://schemas.openxmlformats.org/drawingml/2006/main">
            <a:r>
              <a:t>          "processing": "발화에서 세목·기간·문의 목적 확인",</a:t>
            </a:r>
          </a:p>
          <a:p xmlns:a="http://schemas.openxmlformats.org/drawingml/2006/main">
            <a:r>
              <a:t>          "output": "전화 발화"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"세무 안내 지식",</a:t>
            </a:r>
          </a:p>
          <a:p xmlns:a="http://schemas.openxmlformats.org/drawingml/2006/main">
            <a:r>
              <a:t>          "processing": "승인 상담자료·세목·적용연도별 지식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"전화 발화",</a:t>
            </a:r>
          </a:p>
          <a:p xmlns:a="http://schemas.openxmlformats.org/drawingml/2006/main">
            <a:r>
              <a:t>          "processing": "질의에 맞춘 상담 지식 탐색·음성 안내",</a:t>
            </a:r>
          </a:p>
          <a:p xmlns:a="http://schemas.openxmlformats.org/drawingml/2006/main">
            <a:r>
              <a:t>          "output": "세무 안내"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"세무 안내",</a:t>
            </a:r>
          </a:p>
          <a:p xmlns:a="http://schemas.openxmlformats.org/drawingml/2006/main">
            <a:r>
              <a:t>          "processing": "해결 곤란 질문의 상담원 연결",</a:t>
            </a:r>
          </a:p>
          <a:p xmlns:a="http://schemas.openxmlformats.org/drawingml/2006/main">
            <a:r>
              <a:t>          "output": "후속 상담"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"상담 이관·반복 문의·안내 오류 점검",</a:t>
            </a:r>
          </a:p>
          <a:p xmlns:a="http://schemas.openxmlformats.org/drawingml/2006/main">
            <a:r>
              <a:t>          "output":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"상담 이관·반복 문의·안내 오류 점검",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"S-AX15",</a:t>
            </a:r>
          </a:p>
          <a:p xmlns:a="http://schemas.openxmlformats.org/drawingml/2006/main">
            <a:r>
              <a:t>        "title": "국세청 AI 전화상담 · 국세청 발표 / 2024-11-14",</a:t>
            </a:r>
          </a:p>
          <a:p xmlns:a="http://schemas.openxmlformats.org/drawingml/2006/main">
            <a:r>
              <a:t>        "url": "https://www.nts.go.kr/nts/na/ntt/selectNttInfo.do?bbsId=1011&amp;mi=2207&amp;nttSn=1339206",</a:t>
            </a:r>
          </a:p>
          <a:p xmlns:a="http://schemas.openxmlformats.org/drawingml/2006/main">
            <a:r>
              <a:t>        "published": "2024 시범 / 2025 확대 계획 발표",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"음성 접점과 상담 전환의 연속성",</a:t>
            </a:r>
          </a:p>
          <a:p xmlns:a="http://schemas.openxmlformats.org/drawingml/2006/main">
            <a:r>
              <a:t>    "local": "TS 기존 민원 메뉴에 음성·텍스트 진입점 추가",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"반복 세무 문의를 전화 채널에서 안내하고 복잡한 질문을 상담원에게 연결하는 음성 상담 사례. 상담내용의 범위와 적용 연도를 정확히 식별하는 작업이 중요.",</a:t>
            </a:r>
          </a:p>
          <a:p xmlns:a="http://schemas.openxmlformats.org/drawingml/2006/main">
            <a:r>
              <a:t>      "발화의 세목·기간·질문 목적을 정리하고 승인 지식을 찾아 음성으로 안내하는 구조의 재구성. 응답이 불분명하거나 예외 판단이 필요한 경우 대화 맥락을 상담원에게 전달.",</a:t>
            </a:r>
          </a:p>
          <a:p xmlns:a="http://schemas.openxmlformats.org/drawingml/2006/main">
            <a:r>
              <a:t>      "TS 음성 민원 접점에서 인식률만으로 검수하지 않고 필수 항목 확인과 인계 성공을 포함할 근거. 시범 운영과 전국 확대 계획, 실제 해결률을 각각 구분한 비교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"전화 상담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"납세자·상담원",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"세목·기간 확인",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"발화에서 세목·기간·문의 목적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"승인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"전화 발화",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"발화·의도 처리",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"질의에 맞춘 상담 지식 탐색·음성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"핵심 조건 확인",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"핵심 발화 확인·전문 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"이용자·상담원",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"납세자의 세목·귀속연도를 확인한 뒤 안내·상담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"음성 안내·인계",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"해결 곤란 질문의 상담원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"반복 문의 분석",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"상담 이관·반복 문의·안내 오류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"세무 상담자료",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"세무 안내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"적용연도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"승인 상담자료·세목·적용연도별 지식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"지식·상담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"필수 항목 인식표와 상담원 인계·해결 여부",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 상담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"발화 인식 실패·다른 귀속연도·개인별 과세 판단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"발화에서 세목·기간·문의 목적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"전화 발화",</a:t>
            </a:r>
          </a:p>
          <a:p xmlns:a="http://schemas.openxmlformats.org/drawingml/2006/main">
            <a:r>
              <a:t>          "check": "핵심 발화 확인·전문 상담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"질의 의도",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"발화 인식 실패·다른 귀속연도·개인별 과세 판단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"세무 안내",</a:t>
            </a:r>
          </a:p>
          <a:p xmlns:a="http://schemas.openxmlformats.org/drawingml/2006/main">
            <a:r>
              <a:t>          "check": "해결 곤란 질문의 상담원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"후속 상담",</a:t>
            </a:r>
          </a:p>
          <a:p xmlns:a="http://schemas.openxmlformats.org/drawingml/2006/main">
            <a:r>
              <a:t>          "check": "필수 항목 인식표와 상담원 인계·해결 여부"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"반복 세무 문의의 음성 상담 지원 / 전화 응대·세무 안내·상담 전환",</a:t>
            </a:r>
          </a:p>
          <a:p xmlns:a="http://schemas.openxmlformats.org/drawingml/2006/main">
            <a:r>
              <a:t>        "extension": "TS 기존 민원 메뉴에 음성·텍스트 진입점 추가"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"발화 인식 실패·다른 귀속연도·개인별 과세 판단 요청",</a:t>
            </a:r>
          </a:p>
          <a:p xmlns:a="http://schemas.openxmlformats.org/drawingml/2006/main">
            <a:r>
              <a:t>        "hold": "핵심 발화 확인·전문 상담 전환",</a:t>
            </a:r>
          </a:p>
          <a:p xmlns:a="http://schemas.openxmlformats.org/drawingml/2006/main">
            <a:r>
              <a:t>        "recovery": "상담 이관·반복 문의·안내 오류 점검",</a:t>
            </a:r>
          </a:p>
          <a:p xmlns:a="http://schemas.openxmlformats.org/drawingml/2006/main">
            <a:r>
              <a:t>        "evidence": "필수 항목 인식표와 상담원 인계·해결 여부"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"세무 안내 지식",</a:t>
            </a:r>
          </a:p>
          <a:p xmlns:a="http://schemas.openxmlformats.org/drawingml/2006/main">
            <a:r>
              <a:t>        "prepare": "승인 상담자료·세목·적용연도별 지식 관리",</a:t>
            </a:r>
          </a:p>
          <a:p xmlns:a="http://schemas.openxmlformats.org/drawingml/2006/main">
            <a:r>
              <a:t>        "output": "전화 발화",</a:t>
            </a:r>
          </a:p>
          <a:p xmlns:a="http://schemas.openxmlformats.org/drawingml/2006/main">
            <a:r>
              <a:t>        "refresh": "상담 이관·반복 문의·안내 오류 점검"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"전화 채널과 세무 안내 결합",</a:t>
            </a:r>
          </a:p>
          <a:p xmlns:a="http://schemas.openxmlformats.org/drawingml/2006/main">
            <a:r>
              <a:t>      "시범 적용 후 확대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"예외 세무상담의 잘못된 안내",</a:t>
            </a:r>
          </a:p>
          <a:p xmlns:a="http://schemas.openxmlformats.org/drawingml/2006/main">
            <a:r>
              <a:t>      "시범 성과와 전국 운영의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"전화 상담",</a:t>
            </a:r>
          </a:p>
          <a:p xmlns:a="http://schemas.openxmlformats.org/drawingml/2006/main">
            <a:r>
              <a:t>      "음성·의도 처리",</a:t>
            </a:r>
          </a:p>
          <a:p xmlns:a="http://schemas.openxmlformats.org/drawingml/2006/main">
            <a:r>
              <a:t>      "세무 안내 지식",</a:t>
            </a:r>
          </a:p>
          <a:p xmlns:a="http://schemas.openxmlformats.org/drawingml/2006/main">
            <a:r>
              <a:t>      "이용자·상담원"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"전화 발화",</a:t>
            </a:r>
          </a:p>
          <a:p xmlns:a="http://schemas.openxmlformats.org/drawingml/2006/main">
            <a:r>
              <a:t>      "질의 의도",</a:t>
            </a:r>
          </a:p>
          <a:p xmlns:a="http://schemas.openxmlformats.org/drawingml/2006/main">
            <a:r>
              <a:t>      "세무 안내",</a:t>
            </a:r>
          </a:p>
          <a:p xmlns:a="http://schemas.openxmlformats.org/drawingml/2006/main">
            <a:r>
              <a:t>      "후속 상담"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"핵심 발화 확인·전문 상담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국세청 AI 전화상담 · 국세청 발표 / 2024-11-14 https://www.nts.go.kr/nts/na/ntt/selectNttInfo.do?bbsId=1011&amp;mi=2207&amp;nttSn=1339206</a:t>
            </a:r>
          </a:p>
          <a:p xmlns:a="http://schemas.openxmlformats.org/drawingml/2006/main">
            <a:r>
              <a:t>홈페이지 https://heen1987-ops.github.io/TS-business-Plan-001/index.html?view=casebook&amp;case=AX15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"title": "싱가포르 버스 충돌경고 확대",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"싱가포르",</a:t>
            </a:r>
          </a:p>
          <a:p xmlns:a="http://schemas.openxmlformats.org/drawingml/2006/main">
            <a:r>
              <a:t>    "result": "계획",</a:t>
            </a:r>
          </a:p>
          <a:p xmlns:a="http://schemas.openxmlformats.org/drawingml/2006/main">
            <a:r>
              <a:t>    "kind": "버스 안전 AI 도입",</a:t>
            </a:r>
          </a:p>
          <a:p xmlns:a="http://schemas.openxmlformats.org/drawingml/2006/main">
            <a:r>
              <a:t>    "period": "2025 도입·확대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"버스 안전 AI 도입"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"충돌경고 등 AI 안전 기능의 버스 도입·확대 방향 공개",</a:t>
            </a:r>
          </a:p>
          <a:p xmlns:a="http://schemas.openxmlformats.org/drawingml/2006/main">
            <a:r>
              <a:t>    "limit": "계획·조달 단계와 전 차량 운영 성과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"차량 센서·영상",</a:t>
            </a:r>
          </a:p>
          <a:p xmlns:a="http://schemas.openxmlformats.org/drawingml/2006/main">
            <a:r>
              <a:t>      "위험 판단",</a:t>
            </a:r>
          </a:p>
          <a:p xmlns:a="http://schemas.openxmlformats.org/drawingml/2006/main">
            <a:r>
              <a:t>      "운전자 경고",</a:t>
            </a:r>
          </a:p>
          <a:p xmlns:a="http://schemas.openxmlformats.org/drawingml/2006/main">
            <a:r>
              <a:t>      "운행 안전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"장치 상태·경고 이력·점검 항목 매핑",</a:t>
            </a:r>
          </a:p>
          <a:p xmlns:a="http://schemas.openxmlformats.org/drawingml/2006/main">
            <a:r>
              <a:t>    "test": "결측·장치 고장·과경보 및 점검 증빙 대조",</a:t>
            </a:r>
          </a:p>
          <a:p xmlns:a="http://schemas.openxmlformats.org/drawingml/2006/main">
            <a:r>
              <a:t>    "metric": "경고 신뢰도 / 증빙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"canonicalId": "AX16",</a:t>
            </a:r>
          </a:p>
          <a:p xmlns:a="http://schemas.openxmlformats.org/drawingml/2006/main">
            <a:r>
              <a:t>    "purpose": "버스 운행 중 위험 인지와 충돌 경고",</a:t>
            </a:r>
          </a:p>
          <a:p xmlns:a="http://schemas.openxmlformats.org/drawingml/2006/main">
            <a:r>
              <a:t>    "users": "운전자·운수사 안전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"주변 감지",</a:t>
            </a:r>
          </a:p>
          <a:p xmlns:a="http://schemas.openxmlformats.org/drawingml/2006/main">
            <a:r>
              <a:t>      "위험 경고",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"버스 센서·영상",</a:t>
            </a:r>
          </a:p>
          <a:p xmlns:a="http://schemas.openxmlformats.org/drawingml/2006/main">
            <a:r>
              <a:t>        "detail": "차량·시간·주변 상황 인지",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"주변 감지 / 위험 경고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"충돌 위험 탐지",</a:t>
            </a:r>
          </a:p>
          <a:p xmlns:a="http://schemas.openxmlformats.org/drawingml/2006/main">
            <a:r>
              <a:t>        "detail": "장애물·차량 간 위험 상황 판단",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"운전자·안전 관리자",</a:t>
            </a:r>
          </a:p>
          <a:p xmlns:a="http://schemas.openxmlformats.org/drawingml/2006/main">
            <a:r>
              <a:t>        "detail": "운전자에게 경고 전달 및 운행 후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"위험 이벤트 기록",</a:t>
            </a:r>
          </a:p>
          <a:p xmlns:a="http://schemas.openxmlformats.org/drawingml/2006/main">
            <a:r>
              <a:t>        "detail": "차량 센서·영상·경고 이벤트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"오경보·미탐과 운전자 반응의 표본 확인",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"차량 센서·영상",</a:t>
            </a:r>
          </a:p>
          <a:p xmlns:a="http://schemas.openxmlformats.org/drawingml/2006/main">
            <a:r>
              <a:t>        "input": "차량·시간·주변 상황 인지",</a:t>
            </a:r>
          </a:p>
          <a:p xmlns:a="http://schemas.openxmlformats.org/drawingml/2006/main">
            <a:r>
              <a:t>        "process": "차량 센서·영상·경고 이벤트 정합화",</a:t>
            </a:r>
          </a:p>
          <a:p xmlns:a="http://schemas.openxmlformats.org/drawingml/2006/main">
            <a:r>
              <a:t>        "output": "센서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판단",</a:t>
            </a:r>
          </a:p>
          <a:p xmlns:a="http://schemas.openxmlformats.org/drawingml/2006/main">
            <a:r>
              <a:t>        "input": "센서 관측",</a:t>
            </a:r>
          </a:p>
          <a:p xmlns:a="http://schemas.openxmlformats.org/drawingml/2006/main">
            <a:r>
              <a:t>        "process": "장애물·차량 간 위험 상황 판단",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"운전자 경고",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"경보 지연·오탐·운전자 수용성 평가",</a:t>
            </a:r>
          </a:p>
          <a:p xmlns:a="http://schemas.openxmlformats.org/drawingml/2006/main">
            <a:r>
              <a:t>        "output": "경고"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"운행 안전 검토",</a:t>
            </a:r>
          </a:p>
          <a:p xmlns:a="http://schemas.openxmlformats.org/drawingml/2006/main">
            <a:r>
              <a:t>        "input": "경고",</a:t>
            </a:r>
          </a:p>
          <a:p xmlns:a="http://schemas.openxmlformats.org/drawingml/2006/main">
            <a:r>
              <a:t>        "process": "운전자에게 경고 전달 및 운행 후 검토",</a:t>
            </a:r>
          </a:p>
          <a:p xmlns:a="http://schemas.openxmlformats.org/drawingml/2006/main">
            <a:r>
              <a:t>        "output": "운행 후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"운행 중 접근 위험을 감지하고 운전자에게 경고",</a:t>
            </a:r>
          </a:p>
          <a:p xmlns:a="http://schemas.openxmlformats.org/drawingml/2006/main">
            <a:r>
              <a:t>      "exception": "우천·야간·가림·정차 상태의 비위험 객체",</a:t>
            </a:r>
          </a:p>
          <a:p xmlns:a="http://schemas.openxmlformats.org/drawingml/2006/main">
            <a:r>
              <a:t>      "evidence": "환경별 경고 적정성과 운전자 반응의 표본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"운전자·운수사 안전 담당",</a:t>
            </a:r>
          </a:p>
          <a:p xmlns:a="http://schemas.openxmlformats.org/drawingml/2006/main">
            <a:r>
              <a:t>          "processing": "차량·시간·주변 상황 인지",</a:t>
            </a:r>
          </a:p>
          <a:p xmlns:a="http://schemas.openxmlformats.org/drawingml/2006/main">
            <a:r>
              <a:t>          "output": "센서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"위험 이벤트 기록",</a:t>
            </a:r>
          </a:p>
          <a:p xmlns:a="http://schemas.openxmlformats.org/drawingml/2006/main">
            <a:r>
              <a:t>          "processing": "차량 센서·영상·경고 이벤트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관측",</a:t>
            </a:r>
          </a:p>
          <a:p xmlns:a="http://schemas.openxmlformats.org/drawingml/2006/main">
            <a:r>
              <a:t>          "processing": "장애물·차량 간 위험 상황 판단",</a:t>
            </a:r>
          </a:p>
          <a:p xmlns:a="http://schemas.openxmlformats.org/drawingml/2006/main">
            <a:r>
              <a:t>          "output": "경고"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"경고",</a:t>
            </a:r>
          </a:p>
          <a:p xmlns:a="http://schemas.openxmlformats.org/drawingml/2006/main">
            <a:r>
              <a:t>          "processing": "운전자에게 경고 전달 및 운행 후 검토",</a:t>
            </a:r>
          </a:p>
          <a:p xmlns:a="http://schemas.openxmlformats.org/drawingml/2006/main">
            <a:r>
              <a:t>          "output": "운행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"오경보·미탐과 운전자 반응의 표본 확인",</a:t>
            </a:r>
          </a:p>
          <a:p xmlns:a="http://schemas.openxmlformats.org/drawingml/2006/main">
            <a:r>
              <a:t>          "output":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"오경보·미탐과 운전자 반응의 표본 확인",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"S-AX16",</a:t>
            </a:r>
          </a:p>
          <a:p xmlns:a="http://schemas.openxmlformats.org/drawingml/2006/main">
            <a:r>
              <a:t>        "title": "싱가포르 버스 충돌경고 확대 · LTA / 2025-08-23",</a:t>
            </a:r>
          </a:p>
          <a:p xmlns:a="http://schemas.openxmlformats.org/drawingml/2006/main">
            <a:r>
              <a:t>        "url": "https://www.lta.gov.sg/content/ltagov/en/newsroom/2025/8/news-releases/making_bus_journeys_safer.html",</a:t>
            </a:r>
          </a:p>
          <a:p xmlns:a="http://schemas.openxmlformats.org/drawingml/2006/main">
            <a:r>
              <a:t>        "published": "2025 도입·확대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"버스 주변 위험을 감지해 운전자에게 즉시 경고하는 안전 지원 사례. 운전자의 판단과 대응을 전제로 한 경고 시스템이며 운행 후 위험 이벤트 검토와도 연결.",</a:t>
            </a:r>
          </a:p>
          <a:p xmlns:a="http://schemas.openxmlformats.org/drawingml/2006/main">
            <a:r>
              <a:t>      "차량·시간·주변 상황을 센서·영상과 맞추고 위험 후보에서 경고로 이어지는 지연을 관리하는 구조. 경고 발생, 운전자 반응, 실제 위험 여부를 서로 다른 기록으로 보존하는 CCK 분석.",</a:t>
            </a:r>
          </a:p>
          <a:p xmlns:a="http://schemas.openxmlformats.org/drawingml/2006/main">
            <a:r>
              <a:t>      "TS 적용에서는 경보 과다로 인한 무시와 중요한 위험의 미탐을 동시에 확인할 필요. 차량·도로·시간대별 경보 지연·정확도·수용성을 비교하고 보급 규모를 사고 감소 실적으로 환산하지 않는 평가."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"차량 센서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"운전자·운수사 안전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"차량·주변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"차량·시간·주변 상황 인지",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"영상·센서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"충돌 위험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"장애물·차량 간 위험 상황 판단",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"경보 지연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"경보 지연·오탐·운전자 수용성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"운전자 상황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"운행 중 접근 위험을 감지하고 운전자에게 경고",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"위험 경고 전달",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"운전자에게 경고 전달 및 운행 후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후 검토",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"오경보·미탐과 운전자 반응의 표본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"영상·센서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"위험 이벤트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 동기화",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"차량 센서·영상·경고 이벤트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"경고·반응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"환경별 경고 적정성과 운전자 반응의 표본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"차량 안전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"우천·야간·가림·정차 상태의 비위험 객체",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"차량·시간·주변 상황 인지",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관측",</a:t>
            </a:r>
          </a:p>
          <a:p xmlns:a="http://schemas.openxmlformats.org/drawingml/2006/main">
            <a:r>
              <a:t>          "check": "경보 지연·오탐·운전자 수용성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후보·예상 경고 시점",</a:t>
            </a:r>
          </a:p>
          <a:p xmlns:a="http://schemas.openxmlformats.org/drawingml/2006/main">
            <a:r>
              <a:t>          "check": "우천·야간·가림·정차 상태의 비위험 객체"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"경고",</a:t>
            </a:r>
          </a:p>
          <a:p xmlns:a="http://schemas.openxmlformats.org/drawingml/2006/main">
            <a:r>
              <a:t>          "check": "운전자에게 경고 전달 및 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"운행 후 검토",</a:t>
            </a:r>
          </a:p>
          <a:p xmlns:a="http://schemas.openxmlformats.org/drawingml/2006/main">
            <a:r>
              <a:t>          "check":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"버스 운행 중 위험 인지와 충돌 경고 / 주변 감지·위험 경고·운행 검토",</a:t>
            </a:r>
          </a:p>
          <a:p xmlns:a="http://schemas.openxmlformats.org/drawingml/2006/main">
            <a:r>
              <a:t>        "extension": "TS 운수회사 안전 점검의 장치·운행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"우천·야간·가림·정차 상태의 비위험 객체",</a:t>
            </a:r>
          </a:p>
          <a:p xmlns:a="http://schemas.openxmlformats.org/drawingml/2006/main">
            <a:r>
              <a:t>        "hold": "경보 지연·오탐·운전자 수용성 평가",</a:t>
            </a:r>
          </a:p>
          <a:p xmlns:a="http://schemas.openxmlformats.org/drawingml/2006/main">
            <a:r>
              <a:t>        "recovery": "오경보·미탐과 운전자 반응의 표본 확인",</a:t>
            </a:r>
          </a:p>
          <a:p xmlns:a="http://schemas.openxmlformats.org/drawingml/2006/main">
            <a:r>
              <a:t>        "evidence": "환경별 경고 적정성과 운전자 반응의 표본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"위험 이벤트 기록",</a:t>
            </a:r>
          </a:p>
          <a:p xmlns:a="http://schemas.openxmlformats.org/drawingml/2006/main">
            <a:r>
              <a:t>        "prepare": "차량 센서·영상·경고 이벤트 정합화",</a:t>
            </a:r>
          </a:p>
          <a:p xmlns:a="http://schemas.openxmlformats.org/drawingml/2006/main">
            <a:r>
              <a:t>        "output": "센서 관측",</a:t>
            </a:r>
          </a:p>
          <a:p xmlns:a="http://schemas.openxmlformats.org/drawingml/2006/main">
            <a:r>
              <a:t>        "refresh": "오경보·미탐과 운전자 반응의 표본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"차량의 위험 인지와 즉시 경고",</a:t>
            </a:r>
          </a:p>
          <a:p xmlns:a="http://schemas.openxmlformats.org/drawingml/2006/main">
            <a:r>
              <a:t>      "운전자 대응을 전제로 한 안전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"경보 과다에 따른 무시 위험",</a:t>
            </a:r>
          </a:p>
          <a:p xmlns:a="http://schemas.openxmlformats.org/drawingml/2006/main">
            <a:r>
              <a:t>      "확대 계획을 사고 감소 실적으로 해석"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"버스 센서·영상",</a:t>
            </a:r>
          </a:p>
          <a:p xmlns:a="http://schemas.openxmlformats.org/drawingml/2006/main">
            <a:r>
              <a:t>      "충돌 위험 탐지",</a:t>
            </a:r>
          </a:p>
          <a:p xmlns:a="http://schemas.openxmlformats.org/drawingml/2006/main">
            <a:r>
              <a:t>      "위험 이벤트 기록",</a:t>
            </a:r>
          </a:p>
          <a:p xmlns:a="http://schemas.openxmlformats.org/drawingml/2006/main">
            <a:r>
              <a:t>      "운전자·안전 관리자"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관측",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"경고",</a:t>
            </a:r>
          </a:p>
          <a:p xmlns:a="http://schemas.openxmlformats.org/drawingml/2006/main">
            <a:r>
              <a:t>      "운행 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"경보 지연·오탐·운전자 수용성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싱가포르 버스 충돌경고 확대 · LTA / 2025-08-23 https://www.lta.gov.sg/content/ltagov/en/newsroom/2025/8/news-releases/making_bus_journeys_safer.html</a:t>
            </a:r>
          </a:p>
          <a:p xmlns:a="http://schemas.openxmlformats.org/drawingml/2006/main">
            <a:r>
              <a:t>홈페이지 https://heen1987-ops.github.io/TS-business-Plan-001/index.html?view=casebook&amp;case=AX16</a:t>
            </a:r>
          </a:p>
          <a:p xmlns:a="http://schemas.openxmlformats.org/drawingml/2006/main">
            <a:r>
              <a:t>한계: 계획·조달 단계와 전 차량 운영 성과 구분</a:t>
            </a:r>
          </a:p>
          <a:p xmlns:a="http://schemas.openxmlformats.org/drawingml/2006/main">
            <a:r>
              <a:t>실패 위험: 경보 과다에 따른 무시 위험 / 확대 계획을 사고 감소 실적으로 해석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"title": "싱가포르 버스 충돌경고 확대",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"싱가포르",</a:t>
            </a:r>
          </a:p>
          <a:p xmlns:a="http://schemas.openxmlformats.org/drawingml/2006/main">
            <a:r>
              <a:t>    "result": "계획",</a:t>
            </a:r>
          </a:p>
          <a:p xmlns:a="http://schemas.openxmlformats.org/drawingml/2006/main">
            <a:r>
              <a:t>    "kind": "버스 안전 AI 도입",</a:t>
            </a:r>
          </a:p>
          <a:p xmlns:a="http://schemas.openxmlformats.org/drawingml/2006/main">
            <a:r>
              <a:t>    "period": "2025 도입·확대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"버스 안전 AI 도입"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"충돌경고 등 AI 안전 기능의 버스 도입·확대 방향 공개",</a:t>
            </a:r>
          </a:p>
          <a:p xmlns:a="http://schemas.openxmlformats.org/drawingml/2006/main">
            <a:r>
              <a:t>    "limit": "계획·조달 단계와 전 차량 운영 성과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"차량 센서·영상",</a:t>
            </a:r>
          </a:p>
          <a:p xmlns:a="http://schemas.openxmlformats.org/drawingml/2006/main">
            <a:r>
              <a:t>      "위험 판단",</a:t>
            </a:r>
          </a:p>
          <a:p xmlns:a="http://schemas.openxmlformats.org/drawingml/2006/main">
            <a:r>
              <a:t>      "운전자 경고",</a:t>
            </a:r>
          </a:p>
          <a:p xmlns:a="http://schemas.openxmlformats.org/drawingml/2006/main">
            <a:r>
              <a:t>      "운행 안전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"장치 상태·경고 이력·점검 항목 매핑",</a:t>
            </a:r>
          </a:p>
          <a:p xmlns:a="http://schemas.openxmlformats.org/drawingml/2006/main">
            <a:r>
              <a:t>    "test": "결측·장치 고장·과경보 및 점검 증빙 대조",</a:t>
            </a:r>
          </a:p>
          <a:p xmlns:a="http://schemas.openxmlformats.org/drawingml/2006/main">
            <a:r>
              <a:t>    "metric": "경고 신뢰도 / 증빙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"canonicalId": "AX16",</a:t>
            </a:r>
          </a:p>
          <a:p xmlns:a="http://schemas.openxmlformats.org/drawingml/2006/main">
            <a:r>
              <a:t>    "purpose": "버스 운행 중 위험 인지와 충돌 경고",</a:t>
            </a:r>
          </a:p>
          <a:p xmlns:a="http://schemas.openxmlformats.org/drawingml/2006/main">
            <a:r>
              <a:t>    "users": "운전자·운수사 안전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"주변 감지",</a:t>
            </a:r>
          </a:p>
          <a:p xmlns:a="http://schemas.openxmlformats.org/drawingml/2006/main">
            <a:r>
              <a:t>      "위험 경고",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"버스 센서·영상",</a:t>
            </a:r>
          </a:p>
          <a:p xmlns:a="http://schemas.openxmlformats.org/drawingml/2006/main">
            <a:r>
              <a:t>        "detail": "차량·시간·주변 상황 인지",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"주변 감지 / 위험 경고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"충돌 위험 탐지",</a:t>
            </a:r>
          </a:p>
          <a:p xmlns:a="http://schemas.openxmlformats.org/drawingml/2006/main">
            <a:r>
              <a:t>        "detail": "장애물·차량 간 위험 상황 판단",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"운전자·안전 관리자",</a:t>
            </a:r>
          </a:p>
          <a:p xmlns:a="http://schemas.openxmlformats.org/drawingml/2006/main">
            <a:r>
              <a:t>        "detail": "운전자에게 경고 전달 및 운행 후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"위험 이벤트 기록",</a:t>
            </a:r>
          </a:p>
          <a:p xmlns:a="http://schemas.openxmlformats.org/drawingml/2006/main">
            <a:r>
              <a:t>        "detail": "차량 센서·영상·경고 이벤트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"오경보·미탐과 운전자 반응의 표본 확인",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"차량 센서·영상",</a:t>
            </a:r>
          </a:p>
          <a:p xmlns:a="http://schemas.openxmlformats.org/drawingml/2006/main">
            <a:r>
              <a:t>        "input": "차량·시간·주변 상황 인지",</a:t>
            </a:r>
          </a:p>
          <a:p xmlns:a="http://schemas.openxmlformats.org/drawingml/2006/main">
            <a:r>
              <a:t>        "process": "차량 센서·영상·경고 이벤트 정합화",</a:t>
            </a:r>
          </a:p>
          <a:p xmlns:a="http://schemas.openxmlformats.org/drawingml/2006/main">
            <a:r>
              <a:t>        "output": "센서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판단",</a:t>
            </a:r>
          </a:p>
          <a:p xmlns:a="http://schemas.openxmlformats.org/drawingml/2006/main">
            <a:r>
              <a:t>        "input": "센서 관측",</a:t>
            </a:r>
          </a:p>
          <a:p xmlns:a="http://schemas.openxmlformats.org/drawingml/2006/main">
            <a:r>
              <a:t>        "process": "장애물·차량 간 위험 상황 판단",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"운전자 경고",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"경보 지연·오탐·운전자 수용성 평가",</a:t>
            </a:r>
          </a:p>
          <a:p xmlns:a="http://schemas.openxmlformats.org/drawingml/2006/main">
            <a:r>
              <a:t>        "output": "경고"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"운행 안전 검토",</a:t>
            </a:r>
          </a:p>
          <a:p xmlns:a="http://schemas.openxmlformats.org/drawingml/2006/main">
            <a:r>
              <a:t>        "input": "경고",</a:t>
            </a:r>
          </a:p>
          <a:p xmlns:a="http://schemas.openxmlformats.org/drawingml/2006/main">
            <a:r>
              <a:t>        "process": "운전자에게 경고 전달 및 운행 후 검토",</a:t>
            </a:r>
          </a:p>
          <a:p xmlns:a="http://schemas.openxmlformats.org/drawingml/2006/main">
            <a:r>
              <a:t>        "output": "운행 후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"운행 중 접근 위험을 감지하고 운전자에게 경고",</a:t>
            </a:r>
          </a:p>
          <a:p xmlns:a="http://schemas.openxmlformats.org/drawingml/2006/main">
            <a:r>
              <a:t>      "exception": "우천·야간·가림·정차 상태의 비위험 객체",</a:t>
            </a:r>
          </a:p>
          <a:p xmlns:a="http://schemas.openxmlformats.org/drawingml/2006/main">
            <a:r>
              <a:t>      "evidence": "환경별 경고 적정성과 운전자 반응의 표본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"운전자·운수사 안전 담당",</a:t>
            </a:r>
          </a:p>
          <a:p xmlns:a="http://schemas.openxmlformats.org/drawingml/2006/main">
            <a:r>
              <a:t>          "processing": "차량·시간·주변 상황 인지",</a:t>
            </a:r>
          </a:p>
          <a:p xmlns:a="http://schemas.openxmlformats.org/drawingml/2006/main">
            <a:r>
              <a:t>          "output": "센서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"위험 이벤트 기록",</a:t>
            </a:r>
          </a:p>
          <a:p xmlns:a="http://schemas.openxmlformats.org/drawingml/2006/main">
            <a:r>
              <a:t>          "processing": "차량 센서·영상·경고 이벤트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관측",</a:t>
            </a:r>
          </a:p>
          <a:p xmlns:a="http://schemas.openxmlformats.org/drawingml/2006/main">
            <a:r>
              <a:t>          "processing": "장애물·차량 간 위험 상황 판단",</a:t>
            </a:r>
          </a:p>
          <a:p xmlns:a="http://schemas.openxmlformats.org/drawingml/2006/main">
            <a:r>
              <a:t>          "output": "경고"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"경고",</a:t>
            </a:r>
          </a:p>
          <a:p xmlns:a="http://schemas.openxmlformats.org/drawingml/2006/main">
            <a:r>
              <a:t>          "processing": "운전자에게 경고 전달 및 운행 후 검토",</a:t>
            </a:r>
          </a:p>
          <a:p xmlns:a="http://schemas.openxmlformats.org/drawingml/2006/main">
            <a:r>
              <a:t>          "output": "운행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"오경보·미탐과 운전자 반응의 표본 확인",</a:t>
            </a:r>
          </a:p>
          <a:p xmlns:a="http://schemas.openxmlformats.org/drawingml/2006/main">
            <a:r>
              <a:t>          "output":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"오경보·미탐과 운전자 반응의 표본 확인",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"S-AX16",</a:t>
            </a:r>
          </a:p>
          <a:p xmlns:a="http://schemas.openxmlformats.org/drawingml/2006/main">
            <a:r>
              <a:t>        "title": "싱가포르 버스 충돌경고 확대 · LTA / 2025-08-23",</a:t>
            </a:r>
          </a:p>
          <a:p xmlns:a="http://schemas.openxmlformats.org/drawingml/2006/main">
            <a:r>
              <a:t>        "url": "https://www.lta.gov.sg/content/ltagov/en/newsroom/2025/8/news-releases/making_bus_journeys_safer.html",</a:t>
            </a:r>
          </a:p>
          <a:p xmlns:a="http://schemas.openxmlformats.org/drawingml/2006/main">
            <a:r>
              <a:t>        "published": "2025 도입·확대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"버스 주변 위험을 감지해 운전자에게 즉시 경고하는 안전 지원 사례. 운전자의 판단과 대응을 전제로 한 경고 시스템이며 운행 후 위험 이벤트 검토와도 연결.",</a:t>
            </a:r>
          </a:p>
          <a:p xmlns:a="http://schemas.openxmlformats.org/drawingml/2006/main">
            <a:r>
              <a:t>      "차량·시간·주변 상황을 센서·영상과 맞추고 위험 후보에서 경고로 이어지는 지연을 관리하는 구조. 경고 발생, 운전자 반응, 실제 위험 여부를 서로 다른 기록으로 보존하는 CCK 분석.",</a:t>
            </a:r>
          </a:p>
          <a:p xmlns:a="http://schemas.openxmlformats.org/drawingml/2006/main">
            <a:r>
              <a:t>      "TS 적용에서는 경보 과다로 인한 무시와 중요한 위험의 미탐을 동시에 확인할 필요. 차량·도로·시간대별 경보 지연·정확도·수용성을 비교하고 보급 규모를 사고 감소 실적으로 환산하지 않는 평가."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"차량 센서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"운전자·운수사 안전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"차량·주변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"차량·시간·주변 상황 인지",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"영상·센서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"충돌 위험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"장애물·차량 간 위험 상황 판단",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"경보 지연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"경보 지연·오탐·운전자 수용성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"운전자 상황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"운행 중 접근 위험을 감지하고 운전자에게 경고",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"위험 경고 전달",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"운전자에게 경고 전달 및 운행 후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후 검토",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"오경보·미탐과 운전자 반응의 표본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"영상·센서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"위험 이벤트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 동기화",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"차량 센서·영상·경고 이벤트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"경고·반응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"환경별 경고 적정성과 운전자 반응의 표본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"차량 안전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"우천·야간·가림·정차 상태의 비위험 객체",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"차량·시간·주변 상황 인지",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관측",</a:t>
            </a:r>
          </a:p>
          <a:p xmlns:a="http://schemas.openxmlformats.org/drawingml/2006/main">
            <a:r>
              <a:t>          "check": "경보 지연·오탐·운전자 수용성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후보·예상 경고 시점",</a:t>
            </a:r>
          </a:p>
          <a:p xmlns:a="http://schemas.openxmlformats.org/drawingml/2006/main">
            <a:r>
              <a:t>          "check": "우천·야간·가림·정차 상태의 비위험 객체"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"경고",</a:t>
            </a:r>
          </a:p>
          <a:p xmlns:a="http://schemas.openxmlformats.org/drawingml/2006/main">
            <a:r>
              <a:t>          "check": "운전자에게 경고 전달 및 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"운행 후 검토",</a:t>
            </a:r>
          </a:p>
          <a:p xmlns:a="http://schemas.openxmlformats.org/drawingml/2006/main">
            <a:r>
              <a:t>          "check":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"버스 운행 중 위험 인지와 충돌 경고 / 주변 감지·위험 경고·운행 검토",</a:t>
            </a:r>
          </a:p>
          <a:p xmlns:a="http://schemas.openxmlformats.org/drawingml/2006/main">
            <a:r>
              <a:t>        "extension": "TS 운수회사 안전 점검의 장치·운행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"우천·야간·가림·정차 상태의 비위험 객체",</a:t>
            </a:r>
          </a:p>
          <a:p xmlns:a="http://schemas.openxmlformats.org/drawingml/2006/main">
            <a:r>
              <a:t>        "hold": "경보 지연·오탐·운전자 수용성 평가",</a:t>
            </a:r>
          </a:p>
          <a:p xmlns:a="http://schemas.openxmlformats.org/drawingml/2006/main">
            <a:r>
              <a:t>        "recovery": "오경보·미탐과 운전자 반응의 표본 확인",</a:t>
            </a:r>
          </a:p>
          <a:p xmlns:a="http://schemas.openxmlformats.org/drawingml/2006/main">
            <a:r>
              <a:t>        "evidence": "환경별 경고 적정성과 운전자 반응의 표본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"위험 이벤트 기록",</a:t>
            </a:r>
          </a:p>
          <a:p xmlns:a="http://schemas.openxmlformats.org/drawingml/2006/main">
            <a:r>
              <a:t>        "prepare": "차량 센서·영상·경고 이벤트 정합화",</a:t>
            </a:r>
          </a:p>
          <a:p xmlns:a="http://schemas.openxmlformats.org/drawingml/2006/main">
            <a:r>
              <a:t>        "output": "센서 관측",</a:t>
            </a:r>
          </a:p>
          <a:p xmlns:a="http://schemas.openxmlformats.org/drawingml/2006/main">
            <a:r>
              <a:t>        "refresh": "오경보·미탐과 운전자 반응의 표본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"차량의 위험 인지와 즉시 경고",</a:t>
            </a:r>
          </a:p>
          <a:p xmlns:a="http://schemas.openxmlformats.org/drawingml/2006/main">
            <a:r>
              <a:t>      "운전자 대응을 전제로 한 안전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"경보 과다에 따른 무시 위험",</a:t>
            </a:r>
          </a:p>
          <a:p xmlns:a="http://schemas.openxmlformats.org/drawingml/2006/main">
            <a:r>
              <a:t>      "확대 계획을 사고 감소 실적으로 해석"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"버스 센서·영상",</a:t>
            </a:r>
          </a:p>
          <a:p xmlns:a="http://schemas.openxmlformats.org/drawingml/2006/main">
            <a:r>
              <a:t>      "충돌 위험 탐지",</a:t>
            </a:r>
          </a:p>
          <a:p xmlns:a="http://schemas.openxmlformats.org/drawingml/2006/main">
            <a:r>
              <a:t>      "위험 이벤트 기록",</a:t>
            </a:r>
          </a:p>
          <a:p xmlns:a="http://schemas.openxmlformats.org/drawingml/2006/main">
            <a:r>
              <a:t>      "운전자·안전 관리자"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관측",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"경고",</a:t>
            </a:r>
          </a:p>
          <a:p xmlns:a="http://schemas.openxmlformats.org/drawingml/2006/main">
            <a:r>
              <a:t>      "운행 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"경보 지연·오탐·운전자 수용성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싱가포르 버스 충돌경고 확대 · LTA / 2025-08-23 https://www.lta.gov.sg/content/ltagov/en/newsroom/2025/8/news-releases/making_bus_journeys_safer.html</a:t>
            </a:r>
          </a:p>
          <a:p xmlns:a="http://schemas.openxmlformats.org/drawingml/2006/main">
            <a:r>
              <a:t>홈페이지 https://heen1987-ops.github.io/TS-business-Plan-001/index.html?view=casebook&amp;case=AX16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"title": "싱가포르 버스 충돌경고 확대",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"싱가포르",</a:t>
            </a:r>
          </a:p>
          <a:p xmlns:a="http://schemas.openxmlformats.org/drawingml/2006/main">
            <a:r>
              <a:t>    "result": "계획",</a:t>
            </a:r>
          </a:p>
          <a:p xmlns:a="http://schemas.openxmlformats.org/drawingml/2006/main">
            <a:r>
              <a:t>    "kind": "버스 안전 AI 도입",</a:t>
            </a:r>
          </a:p>
          <a:p xmlns:a="http://schemas.openxmlformats.org/drawingml/2006/main">
            <a:r>
              <a:t>    "period": "2025 도입·확대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"버스 안전 AI 도입"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"충돌경고 등 AI 안전 기능의 버스 도입·확대 방향 공개",</a:t>
            </a:r>
          </a:p>
          <a:p xmlns:a="http://schemas.openxmlformats.org/drawingml/2006/main">
            <a:r>
              <a:t>    "limit": "계획·조달 단계와 전 차량 운영 성과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"차량 센서·영상",</a:t>
            </a:r>
          </a:p>
          <a:p xmlns:a="http://schemas.openxmlformats.org/drawingml/2006/main">
            <a:r>
              <a:t>      "위험 판단",</a:t>
            </a:r>
          </a:p>
          <a:p xmlns:a="http://schemas.openxmlformats.org/drawingml/2006/main">
            <a:r>
              <a:t>      "운전자 경고",</a:t>
            </a:r>
          </a:p>
          <a:p xmlns:a="http://schemas.openxmlformats.org/drawingml/2006/main">
            <a:r>
              <a:t>      "운행 안전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"장치 상태·경고 이력·점검 항목 매핑",</a:t>
            </a:r>
          </a:p>
          <a:p xmlns:a="http://schemas.openxmlformats.org/drawingml/2006/main">
            <a:r>
              <a:t>    "test": "결측·장치 고장·과경보 및 점검 증빙 대조",</a:t>
            </a:r>
          </a:p>
          <a:p xmlns:a="http://schemas.openxmlformats.org/drawingml/2006/main">
            <a:r>
              <a:t>    "metric": "경고 신뢰도 / 증빙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"canonicalId": "AX16",</a:t>
            </a:r>
          </a:p>
          <a:p xmlns:a="http://schemas.openxmlformats.org/drawingml/2006/main">
            <a:r>
              <a:t>    "purpose": "버스 운행 중 위험 인지와 충돌 경고",</a:t>
            </a:r>
          </a:p>
          <a:p xmlns:a="http://schemas.openxmlformats.org/drawingml/2006/main">
            <a:r>
              <a:t>    "users": "운전자·운수사 안전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"주변 감지",</a:t>
            </a:r>
          </a:p>
          <a:p xmlns:a="http://schemas.openxmlformats.org/drawingml/2006/main">
            <a:r>
              <a:t>      "위험 경고",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"버스 센서·영상",</a:t>
            </a:r>
          </a:p>
          <a:p xmlns:a="http://schemas.openxmlformats.org/drawingml/2006/main">
            <a:r>
              <a:t>        "detail": "차량·시간·주변 상황 인지",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"주변 감지 / 위험 경고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"충돌 위험 탐지",</a:t>
            </a:r>
          </a:p>
          <a:p xmlns:a="http://schemas.openxmlformats.org/drawingml/2006/main">
            <a:r>
              <a:t>        "detail": "장애물·차량 간 위험 상황 판단",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"운전자·안전 관리자",</a:t>
            </a:r>
          </a:p>
          <a:p xmlns:a="http://schemas.openxmlformats.org/drawingml/2006/main">
            <a:r>
              <a:t>        "detail": "운전자에게 경고 전달 및 운행 후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"위험 이벤트 기록",</a:t>
            </a:r>
          </a:p>
          <a:p xmlns:a="http://schemas.openxmlformats.org/drawingml/2006/main">
            <a:r>
              <a:t>        "detail": "차량 센서·영상·경고 이벤트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"오경보·미탐과 운전자 반응의 표본 확인",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"차량 센서·영상",</a:t>
            </a:r>
          </a:p>
          <a:p xmlns:a="http://schemas.openxmlformats.org/drawingml/2006/main">
            <a:r>
              <a:t>        "input": "차량·시간·주변 상황 인지",</a:t>
            </a:r>
          </a:p>
          <a:p xmlns:a="http://schemas.openxmlformats.org/drawingml/2006/main">
            <a:r>
              <a:t>        "process": "차량 센서·영상·경고 이벤트 정합화",</a:t>
            </a:r>
          </a:p>
          <a:p xmlns:a="http://schemas.openxmlformats.org/drawingml/2006/main">
            <a:r>
              <a:t>        "output": "센서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판단",</a:t>
            </a:r>
          </a:p>
          <a:p xmlns:a="http://schemas.openxmlformats.org/drawingml/2006/main">
            <a:r>
              <a:t>        "input": "센서 관측",</a:t>
            </a:r>
          </a:p>
          <a:p xmlns:a="http://schemas.openxmlformats.org/drawingml/2006/main">
            <a:r>
              <a:t>        "process": "장애물·차량 간 위험 상황 판단",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"운전자 경고",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"경보 지연·오탐·운전자 수용성 평가",</a:t>
            </a:r>
          </a:p>
          <a:p xmlns:a="http://schemas.openxmlformats.org/drawingml/2006/main">
            <a:r>
              <a:t>        "output": "경고"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"운행 안전 검토",</a:t>
            </a:r>
          </a:p>
          <a:p xmlns:a="http://schemas.openxmlformats.org/drawingml/2006/main">
            <a:r>
              <a:t>        "input": "경고",</a:t>
            </a:r>
          </a:p>
          <a:p xmlns:a="http://schemas.openxmlformats.org/drawingml/2006/main">
            <a:r>
              <a:t>        "process": "운전자에게 경고 전달 및 운행 후 검토",</a:t>
            </a:r>
          </a:p>
          <a:p xmlns:a="http://schemas.openxmlformats.org/drawingml/2006/main">
            <a:r>
              <a:t>        "output": "운행 후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"운행 중 접근 위험을 감지하고 운전자에게 경고",</a:t>
            </a:r>
          </a:p>
          <a:p xmlns:a="http://schemas.openxmlformats.org/drawingml/2006/main">
            <a:r>
              <a:t>      "exception": "우천·야간·가림·정차 상태의 비위험 객체",</a:t>
            </a:r>
          </a:p>
          <a:p xmlns:a="http://schemas.openxmlformats.org/drawingml/2006/main">
            <a:r>
              <a:t>      "evidence": "환경별 경고 적정성과 운전자 반응의 표본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"운전자·운수사 안전 담당",</a:t>
            </a:r>
          </a:p>
          <a:p xmlns:a="http://schemas.openxmlformats.org/drawingml/2006/main">
            <a:r>
              <a:t>          "processing": "차량·시간·주변 상황 인지",</a:t>
            </a:r>
          </a:p>
          <a:p xmlns:a="http://schemas.openxmlformats.org/drawingml/2006/main">
            <a:r>
              <a:t>          "output": "센서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"위험 이벤트 기록",</a:t>
            </a:r>
          </a:p>
          <a:p xmlns:a="http://schemas.openxmlformats.org/drawingml/2006/main">
            <a:r>
              <a:t>          "processing": "차량 센서·영상·경고 이벤트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관측",</a:t>
            </a:r>
          </a:p>
          <a:p xmlns:a="http://schemas.openxmlformats.org/drawingml/2006/main">
            <a:r>
              <a:t>          "processing": "장애물·차량 간 위험 상황 판단",</a:t>
            </a:r>
          </a:p>
          <a:p xmlns:a="http://schemas.openxmlformats.org/drawingml/2006/main">
            <a:r>
              <a:t>          "output": "경고"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"경고",</a:t>
            </a:r>
          </a:p>
          <a:p xmlns:a="http://schemas.openxmlformats.org/drawingml/2006/main">
            <a:r>
              <a:t>          "processing": "운전자에게 경고 전달 및 운행 후 검토",</a:t>
            </a:r>
          </a:p>
          <a:p xmlns:a="http://schemas.openxmlformats.org/drawingml/2006/main">
            <a:r>
              <a:t>          "output": "운행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"오경보·미탐과 운전자 반응의 표본 확인",</a:t>
            </a:r>
          </a:p>
          <a:p xmlns:a="http://schemas.openxmlformats.org/drawingml/2006/main">
            <a:r>
              <a:t>          "output":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"오경보·미탐과 운전자 반응의 표본 확인",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"S-AX16",</a:t>
            </a:r>
          </a:p>
          <a:p xmlns:a="http://schemas.openxmlformats.org/drawingml/2006/main">
            <a:r>
              <a:t>        "title": "싱가포르 버스 충돌경고 확대 · LTA / 2025-08-23",</a:t>
            </a:r>
          </a:p>
          <a:p xmlns:a="http://schemas.openxmlformats.org/drawingml/2006/main">
            <a:r>
              <a:t>        "url": "https://www.lta.gov.sg/content/ltagov/en/newsroom/2025/8/news-releases/making_bus_journeys_safer.html",</a:t>
            </a:r>
          </a:p>
          <a:p xmlns:a="http://schemas.openxmlformats.org/drawingml/2006/main">
            <a:r>
              <a:t>        "published": "2025 도입·확대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"버스 주변 위험을 감지해 운전자에게 즉시 경고하는 안전 지원 사례. 운전자의 판단과 대응을 전제로 한 경고 시스템이며 운행 후 위험 이벤트 검토와도 연결.",</a:t>
            </a:r>
          </a:p>
          <a:p xmlns:a="http://schemas.openxmlformats.org/drawingml/2006/main">
            <a:r>
              <a:t>      "차량·시간·주변 상황을 센서·영상과 맞추고 위험 후보에서 경고로 이어지는 지연을 관리하는 구조. 경고 발생, 운전자 반응, 실제 위험 여부를 서로 다른 기록으로 보존하는 CCK 분석.",</a:t>
            </a:r>
          </a:p>
          <a:p xmlns:a="http://schemas.openxmlformats.org/drawingml/2006/main">
            <a:r>
              <a:t>      "TS 적용에서는 경보 과다로 인한 무시와 중요한 위험의 미탐을 동시에 확인할 필요. 차량·도로·시간대별 경보 지연·정확도·수용성을 비교하고 보급 규모를 사고 감소 실적으로 환산하지 않는 평가."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"차량 센서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"운전자·운수사 안전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"차량·주변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"차량·시간·주변 상황 인지",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"영상·센서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"충돌 위험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"장애물·차량 간 위험 상황 판단",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"경보 지연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"경보 지연·오탐·운전자 수용성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"운전자 상황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"운행 중 접근 위험을 감지하고 운전자에게 경고",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"위험 경고 전달",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"운전자에게 경고 전달 및 운행 후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후 검토",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"오경보·미탐과 운전자 반응의 표본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"영상·센서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"위험 이벤트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 동기화",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"차량 센서·영상·경고 이벤트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"경고·반응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"환경별 경고 적정성과 운전자 반응의 표본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"차량 안전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"우천·야간·가림·정차 상태의 비위험 객체",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"차량·시간·주변 상황 인지",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관측",</a:t>
            </a:r>
          </a:p>
          <a:p xmlns:a="http://schemas.openxmlformats.org/drawingml/2006/main">
            <a:r>
              <a:t>          "check": "경보 지연·오탐·운전자 수용성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후보·예상 경고 시점",</a:t>
            </a:r>
          </a:p>
          <a:p xmlns:a="http://schemas.openxmlformats.org/drawingml/2006/main">
            <a:r>
              <a:t>          "check": "우천·야간·가림·정차 상태의 비위험 객체"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"경고",</a:t>
            </a:r>
          </a:p>
          <a:p xmlns:a="http://schemas.openxmlformats.org/drawingml/2006/main">
            <a:r>
              <a:t>          "check": "운전자에게 경고 전달 및 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"운행 후 검토",</a:t>
            </a:r>
          </a:p>
          <a:p xmlns:a="http://schemas.openxmlformats.org/drawingml/2006/main">
            <a:r>
              <a:t>          "check":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"버스 운행 중 위험 인지와 충돌 경고 / 주변 감지·위험 경고·운행 검토",</a:t>
            </a:r>
          </a:p>
          <a:p xmlns:a="http://schemas.openxmlformats.org/drawingml/2006/main">
            <a:r>
              <a:t>        "extension": "TS 운수회사 안전 점검의 장치·운행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"우천·야간·가림·정차 상태의 비위험 객체",</a:t>
            </a:r>
          </a:p>
          <a:p xmlns:a="http://schemas.openxmlformats.org/drawingml/2006/main">
            <a:r>
              <a:t>        "hold": "경보 지연·오탐·운전자 수용성 평가",</a:t>
            </a:r>
          </a:p>
          <a:p xmlns:a="http://schemas.openxmlformats.org/drawingml/2006/main">
            <a:r>
              <a:t>        "recovery": "오경보·미탐과 운전자 반응의 표본 확인",</a:t>
            </a:r>
          </a:p>
          <a:p xmlns:a="http://schemas.openxmlformats.org/drawingml/2006/main">
            <a:r>
              <a:t>        "evidence": "환경별 경고 적정성과 운전자 반응의 표본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"위험 이벤트 기록",</a:t>
            </a:r>
          </a:p>
          <a:p xmlns:a="http://schemas.openxmlformats.org/drawingml/2006/main">
            <a:r>
              <a:t>        "prepare": "차량 센서·영상·경고 이벤트 정합화",</a:t>
            </a:r>
          </a:p>
          <a:p xmlns:a="http://schemas.openxmlformats.org/drawingml/2006/main">
            <a:r>
              <a:t>        "output": "센서 관측",</a:t>
            </a:r>
          </a:p>
          <a:p xmlns:a="http://schemas.openxmlformats.org/drawingml/2006/main">
            <a:r>
              <a:t>        "refresh": "오경보·미탐과 운전자 반응의 표본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"차량의 위험 인지와 즉시 경고",</a:t>
            </a:r>
          </a:p>
          <a:p xmlns:a="http://schemas.openxmlformats.org/drawingml/2006/main">
            <a:r>
              <a:t>      "운전자 대응을 전제로 한 안전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"경보 과다에 따른 무시 위험",</a:t>
            </a:r>
          </a:p>
          <a:p xmlns:a="http://schemas.openxmlformats.org/drawingml/2006/main">
            <a:r>
              <a:t>      "확대 계획을 사고 감소 실적으로 해석"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"버스 센서·영상",</a:t>
            </a:r>
          </a:p>
          <a:p xmlns:a="http://schemas.openxmlformats.org/drawingml/2006/main">
            <a:r>
              <a:t>      "충돌 위험 탐지",</a:t>
            </a:r>
          </a:p>
          <a:p xmlns:a="http://schemas.openxmlformats.org/drawingml/2006/main">
            <a:r>
              <a:t>      "위험 이벤트 기록",</a:t>
            </a:r>
          </a:p>
          <a:p xmlns:a="http://schemas.openxmlformats.org/drawingml/2006/main">
            <a:r>
              <a:t>      "운전자·안전 관리자"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관측",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"경고",</a:t>
            </a:r>
          </a:p>
          <a:p xmlns:a="http://schemas.openxmlformats.org/drawingml/2006/main">
            <a:r>
              <a:t>      "운행 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"경보 지연·오탐·운전자 수용성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싱가포르 버스 충돌경고 확대 · LTA / 2025-08-23 https://www.lta.gov.sg/content/ltagov/en/newsroom/2025/8/news-releases/making_bus_journeys_safer.html</a:t>
            </a:r>
          </a:p>
          <a:p xmlns:a="http://schemas.openxmlformats.org/drawingml/2006/main">
            <a:r>
              <a:t>홈페이지 https://heen1987-ops.github.io/TS-business-Plan-001/index.html?view=casebook&amp;case=AX16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"title": "싱가포르 버스 충돌경고 확대",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"싱가포르",</a:t>
            </a:r>
          </a:p>
          <a:p xmlns:a="http://schemas.openxmlformats.org/drawingml/2006/main">
            <a:r>
              <a:t>    "result": "계획",</a:t>
            </a:r>
          </a:p>
          <a:p xmlns:a="http://schemas.openxmlformats.org/drawingml/2006/main">
            <a:r>
              <a:t>    "kind": "버스 안전 AI 도입",</a:t>
            </a:r>
          </a:p>
          <a:p xmlns:a="http://schemas.openxmlformats.org/drawingml/2006/main">
            <a:r>
              <a:t>    "period": "2025 도입·확대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"버스 안전 AI 도입"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"충돌경고 등 AI 안전 기능의 버스 도입·확대 방향 공개",</a:t>
            </a:r>
          </a:p>
          <a:p xmlns:a="http://schemas.openxmlformats.org/drawingml/2006/main">
            <a:r>
              <a:t>    "limit": "계획·조달 단계와 전 차량 운영 성과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"차량 센서·영상",</a:t>
            </a:r>
          </a:p>
          <a:p xmlns:a="http://schemas.openxmlformats.org/drawingml/2006/main">
            <a:r>
              <a:t>      "위험 판단",</a:t>
            </a:r>
          </a:p>
          <a:p xmlns:a="http://schemas.openxmlformats.org/drawingml/2006/main">
            <a:r>
              <a:t>      "운전자 경고",</a:t>
            </a:r>
          </a:p>
          <a:p xmlns:a="http://schemas.openxmlformats.org/drawingml/2006/main">
            <a:r>
              <a:t>      "운행 안전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"장치 상태·경고 이력·점검 항목 매핑",</a:t>
            </a:r>
          </a:p>
          <a:p xmlns:a="http://schemas.openxmlformats.org/drawingml/2006/main">
            <a:r>
              <a:t>    "test": "결측·장치 고장·과경보 및 점검 증빙 대조",</a:t>
            </a:r>
          </a:p>
          <a:p xmlns:a="http://schemas.openxmlformats.org/drawingml/2006/main">
            <a:r>
              <a:t>    "metric": "경고 신뢰도 / 증빙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"canonicalId": "AX16",</a:t>
            </a:r>
          </a:p>
          <a:p xmlns:a="http://schemas.openxmlformats.org/drawingml/2006/main">
            <a:r>
              <a:t>    "purpose": "버스 운행 중 위험 인지와 충돌 경고",</a:t>
            </a:r>
          </a:p>
          <a:p xmlns:a="http://schemas.openxmlformats.org/drawingml/2006/main">
            <a:r>
              <a:t>    "users": "운전자·운수사 안전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"주변 감지",</a:t>
            </a:r>
          </a:p>
          <a:p xmlns:a="http://schemas.openxmlformats.org/drawingml/2006/main">
            <a:r>
              <a:t>      "위험 경고",</a:t>
            </a:r>
          </a:p>
          <a:p xmlns:a="http://schemas.openxmlformats.org/drawingml/2006/main">
            <a:r>
              <a:t>      "운행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"버스 센서·영상",</a:t>
            </a:r>
          </a:p>
          <a:p xmlns:a="http://schemas.openxmlformats.org/drawingml/2006/main">
            <a:r>
              <a:t>        "detail": "차량·시간·주변 상황 인지",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"주변 감지 / 위험 경고 / 운행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"충돌 위험 탐지",</a:t>
            </a:r>
          </a:p>
          <a:p xmlns:a="http://schemas.openxmlformats.org/drawingml/2006/main">
            <a:r>
              <a:t>        "detail": "장애물·차량 간 위험 상황 판단",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"운전자·안전 관리자",</a:t>
            </a:r>
          </a:p>
          <a:p xmlns:a="http://schemas.openxmlformats.org/drawingml/2006/main">
            <a:r>
              <a:t>        "detail": "운전자에게 경고 전달 및 운행 후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"위험 이벤트 기록",</a:t>
            </a:r>
          </a:p>
          <a:p xmlns:a="http://schemas.openxmlformats.org/drawingml/2006/main">
            <a:r>
              <a:t>        "detail": "차량 센서·영상·경고 이벤트 정합화",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"오경보·미탐과 운전자 반응의 표본 확인",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"차량 센서·영상",</a:t>
            </a:r>
          </a:p>
          <a:p xmlns:a="http://schemas.openxmlformats.org/drawingml/2006/main">
            <a:r>
              <a:t>        "input": "차량·시간·주변 상황 인지",</a:t>
            </a:r>
          </a:p>
          <a:p xmlns:a="http://schemas.openxmlformats.org/drawingml/2006/main">
            <a:r>
              <a:t>        "process": "차량 센서·영상·경고 이벤트 정합화",</a:t>
            </a:r>
          </a:p>
          <a:p xmlns:a="http://schemas.openxmlformats.org/drawingml/2006/main">
            <a:r>
              <a:t>        "output": "센서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"위험 판단",</a:t>
            </a:r>
          </a:p>
          <a:p xmlns:a="http://schemas.openxmlformats.org/drawingml/2006/main">
            <a:r>
              <a:t>        "input": "센서 관측",</a:t>
            </a:r>
          </a:p>
          <a:p xmlns:a="http://schemas.openxmlformats.org/drawingml/2006/main">
            <a:r>
              <a:t>        "process": "장애물·차량 간 위험 상황 판단",</a:t>
            </a:r>
          </a:p>
          <a:p xmlns:a="http://schemas.openxmlformats.org/drawingml/2006/main">
            <a:r>
              <a:t>        "output": "위험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"운전자 경고",</a:t>
            </a:r>
          </a:p>
          <a:p xmlns:a="http://schemas.openxmlformats.org/drawingml/2006/main">
            <a:r>
              <a:t>        "input": "위험 후보",</a:t>
            </a:r>
          </a:p>
          <a:p xmlns:a="http://schemas.openxmlformats.org/drawingml/2006/main">
            <a:r>
              <a:t>        "process": "경보 지연·오탐·운전자 수용성 평가",</a:t>
            </a:r>
          </a:p>
          <a:p xmlns:a="http://schemas.openxmlformats.org/drawingml/2006/main">
            <a:r>
              <a:t>        "output": "경고"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"운행 안전 검토",</a:t>
            </a:r>
          </a:p>
          <a:p xmlns:a="http://schemas.openxmlformats.org/drawingml/2006/main">
            <a:r>
              <a:t>        "input": "경고",</a:t>
            </a:r>
          </a:p>
          <a:p xmlns:a="http://schemas.openxmlformats.org/drawingml/2006/main">
            <a:r>
              <a:t>        "process": "운전자에게 경고 전달 및 운행 후 검토",</a:t>
            </a:r>
          </a:p>
          <a:p xmlns:a="http://schemas.openxmlformats.org/drawingml/2006/main">
            <a:r>
              <a:t>        "output": "운행 후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"운행 중 접근 위험을 감지하고 운전자에게 경고",</a:t>
            </a:r>
          </a:p>
          <a:p xmlns:a="http://schemas.openxmlformats.org/drawingml/2006/main">
            <a:r>
              <a:t>      "exception": "우천·야간·가림·정차 상태의 비위험 객체",</a:t>
            </a:r>
          </a:p>
          <a:p xmlns:a="http://schemas.openxmlformats.org/drawingml/2006/main">
            <a:r>
              <a:t>      "evidence": "환경별 경고 적정성과 운전자 반응의 표본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"운전자·운수사 안전 담당",</a:t>
            </a:r>
          </a:p>
          <a:p xmlns:a="http://schemas.openxmlformats.org/drawingml/2006/main">
            <a:r>
              <a:t>          "processing": "차량·시간·주변 상황 인지",</a:t>
            </a:r>
          </a:p>
          <a:p xmlns:a="http://schemas.openxmlformats.org/drawingml/2006/main">
            <a:r>
              <a:t>          "output": "센서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"위험 이벤트 기록",</a:t>
            </a:r>
          </a:p>
          <a:p xmlns:a="http://schemas.openxmlformats.org/drawingml/2006/main">
            <a:r>
              <a:t>          "processing": "차량 센서·영상·경고 이벤트 정합화",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"센서 관측",</a:t>
            </a:r>
          </a:p>
          <a:p xmlns:a="http://schemas.openxmlformats.org/drawingml/2006/main">
            <a:r>
              <a:t>          "processing": "장애물·차량 간 위험 상황 판단",</a:t>
            </a:r>
          </a:p>
          <a:p xmlns:a="http://schemas.openxmlformats.org/drawingml/2006/main">
            <a:r>
              <a:t>          "output": "경고"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"경고",</a:t>
            </a:r>
          </a:p>
          <a:p xmlns:a="http://schemas.openxmlformats.org/drawingml/2006/main">
            <a:r>
              <a:t>          "processing": "운전자에게 경고 전달 및 운행 후 검토",</a:t>
            </a:r>
          </a:p>
          <a:p xmlns:a="http://schemas.openxmlformats.org/drawingml/2006/main">
            <a:r>
              <a:t>          "output": "운행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"오경보·미탐과 운전자 반응의 표본 확인",</a:t>
            </a:r>
          </a:p>
          <a:p xmlns:a="http://schemas.openxmlformats.org/drawingml/2006/main">
            <a:r>
              <a:t>          "output":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"오경보·미탐과 운전자 반응의 표본 확인",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"S-AX16",</a:t>
            </a:r>
          </a:p>
          <a:p xmlns:a="http://schemas.openxmlformats.org/drawingml/2006/main">
            <a:r>
              <a:t>        "title": "싱가포르 버스 충돌경고 확대 · LTA / 2025-08-23",</a:t>
            </a:r>
          </a:p>
          <a:p xmlns:a="http://schemas.openxmlformats.org/drawingml/2006/main">
            <a:r>
              <a:t>        "url": "https://www.lta.gov.sg/content/ltagov/en/newsroom/2025/8/news-releases/making_bus_journeys_safer.html",</a:t>
            </a:r>
          </a:p>
          <a:p xmlns:a="http://schemas.openxmlformats.org/drawingml/2006/main">
            <a:r>
              <a:t>        "published": "2025 도입·확대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"안전 기능의 도입 조건과 운전자 대응 검증",</a:t>
            </a:r>
          </a:p>
          <a:p xmlns:a="http://schemas.openxmlformats.org/drawingml/2006/main">
            <a:r>
              <a:t>    "local": "TS 운수회사 안전 점검의 장치·운행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"버스 주변 위험을 감지해 운전자에게 즉시 경고하는 안전 지원 사례. 운전자의 판단과 대응을 전제로 한 경고 시스템이며 운행 후 위험 이벤트 검토와도 연결.",</a:t>
            </a:r>
          </a:p>
          <a:p xmlns:a="http://schemas.openxmlformats.org/drawingml/2006/main">
            <a:r>
              <a:t>      "차량·시간·주변 상황을 센서·영상과 맞추고 위험 후보에서 경고로 이어지는 지연을 관리하는 구조. 경고 발생, 운전자 반응, 실제 위험 여부를 서로 다른 기록으로 보존하는 CCK 분석.",</a:t>
            </a:r>
          </a:p>
          <a:p xmlns:a="http://schemas.openxmlformats.org/drawingml/2006/main">
            <a:r>
              <a:t>      "TS 적용에서는 경보 과다로 인한 무시와 중요한 위험의 미탐을 동시에 확인할 필요. 차량·도로·시간대별 경보 지연·정확도·수용성을 비교하고 보급 규모를 사고 감소 실적으로 환산하지 않는 평가."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"차량 센서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"운전자·운수사 안전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"차량·주변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"차량·시간·주변 상황 인지",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"영상·센서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"센서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"충돌 위험 탐지",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"장애물·차량 간 위험 상황 판단",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"경보 지연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"경보 지연·오탐·운전자 수용성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"운전자 상황 판단",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"운행 중 접근 위험을 감지하고 운전자에게 경고",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"위험 경고 전달",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"운전자에게 경고 전달 및 운행 후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"운행 후 검토",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"오경보·미탐과 운전자 반응의 표본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"영상·센서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"위험 이벤트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 동기화",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"차량 센서·영상·경고 이벤트 정합화",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"경고·반응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"환경별 경고 적정성과 운전자 반응의 표본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"차량 안전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"우천·야간·가림·정차 상태의 비위험 객체",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"차량·시간·주변 상황 인지",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"센서 관측",</a:t>
            </a:r>
          </a:p>
          <a:p xmlns:a="http://schemas.openxmlformats.org/drawingml/2006/main">
            <a:r>
              <a:t>          "check": "경보 지연·오탐·운전자 수용성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"위험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후보·예상 경고 시점",</a:t>
            </a:r>
          </a:p>
          <a:p xmlns:a="http://schemas.openxmlformats.org/drawingml/2006/main">
            <a:r>
              <a:t>          "check": "우천·야간·가림·정차 상태의 비위험 객체"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"경고",</a:t>
            </a:r>
          </a:p>
          <a:p xmlns:a="http://schemas.openxmlformats.org/drawingml/2006/main">
            <a:r>
              <a:t>          "check": "운전자에게 경고 전달 및 운행 후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"운행 후 검토",</a:t>
            </a:r>
          </a:p>
          <a:p xmlns:a="http://schemas.openxmlformats.org/drawingml/2006/main">
            <a:r>
              <a:t>          "check": "환경별 경고 적정성과 운전자 반응의 표본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"버스 운행 중 위험 인지와 충돌 경고 / 주변 감지·위험 경고·운행 검토",</a:t>
            </a:r>
          </a:p>
          <a:p xmlns:a="http://schemas.openxmlformats.org/drawingml/2006/main">
            <a:r>
              <a:t>        "extension": "TS 운수회사 안전 점검의 장치·운행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"우천·야간·가림·정차 상태의 비위험 객체",</a:t>
            </a:r>
          </a:p>
          <a:p xmlns:a="http://schemas.openxmlformats.org/drawingml/2006/main">
            <a:r>
              <a:t>        "hold": "경보 지연·오탐·운전자 수용성 평가",</a:t>
            </a:r>
          </a:p>
          <a:p xmlns:a="http://schemas.openxmlformats.org/drawingml/2006/main">
            <a:r>
              <a:t>        "recovery": "오경보·미탐과 운전자 반응의 표본 확인",</a:t>
            </a:r>
          </a:p>
          <a:p xmlns:a="http://schemas.openxmlformats.org/drawingml/2006/main">
            <a:r>
              <a:t>        "evidence": "환경별 경고 적정성과 운전자 반응의 표본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"위험 이벤트 기록",</a:t>
            </a:r>
          </a:p>
          <a:p xmlns:a="http://schemas.openxmlformats.org/drawingml/2006/main">
            <a:r>
              <a:t>        "prepare": "차량 센서·영상·경고 이벤트 정합화",</a:t>
            </a:r>
          </a:p>
          <a:p xmlns:a="http://schemas.openxmlformats.org/drawingml/2006/main">
            <a:r>
              <a:t>        "output": "센서 관측",</a:t>
            </a:r>
          </a:p>
          <a:p xmlns:a="http://schemas.openxmlformats.org/drawingml/2006/main">
            <a:r>
              <a:t>        "refresh": "오경보·미탐과 운전자 반응의 표본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"차량의 위험 인지와 즉시 경고",</a:t>
            </a:r>
          </a:p>
          <a:p xmlns:a="http://schemas.openxmlformats.org/drawingml/2006/main">
            <a:r>
              <a:t>      "운전자 대응을 전제로 한 안전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"경보 과다에 따른 무시 위험",</a:t>
            </a:r>
          </a:p>
          <a:p xmlns:a="http://schemas.openxmlformats.org/drawingml/2006/main">
            <a:r>
              <a:t>      "확대 계획을 사고 감소 실적으로 해석"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"버스 센서·영상",</a:t>
            </a:r>
          </a:p>
          <a:p xmlns:a="http://schemas.openxmlformats.org/drawingml/2006/main">
            <a:r>
              <a:t>      "충돌 위험 탐지",</a:t>
            </a:r>
          </a:p>
          <a:p xmlns:a="http://schemas.openxmlformats.org/drawingml/2006/main">
            <a:r>
              <a:t>      "위험 이벤트 기록",</a:t>
            </a:r>
          </a:p>
          <a:p xmlns:a="http://schemas.openxmlformats.org/drawingml/2006/main">
            <a:r>
              <a:t>      "운전자·안전 관리자"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"센서 관측",</a:t>
            </a:r>
          </a:p>
          <a:p xmlns:a="http://schemas.openxmlformats.org/drawingml/2006/main">
            <a:r>
              <a:t>      "위험 후보",</a:t>
            </a:r>
          </a:p>
          <a:p xmlns:a="http://schemas.openxmlformats.org/drawingml/2006/main">
            <a:r>
              <a:t>      "경고",</a:t>
            </a:r>
          </a:p>
          <a:p xmlns:a="http://schemas.openxmlformats.org/drawingml/2006/main">
            <a:r>
              <a:t>      "운행 후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"경보 지연·오탐·운전자 수용성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싱가포르 버스 충돌경고 확대 · LTA / 2025-08-23 https://www.lta.gov.sg/content/ltagov/en/newsroom/2025/8/news-releases/making_bus_journeys_safer.html</a:t>
            </a:r>
          </a:p>
          <a:p xmlns:a="http://schemas.openxmlformats.org/drawingml/2006/main">
            <a:r>
              <a:t>홈페이지 https://heen1987-ops.github.io/TS-business-Plan-001/index.html?view=casebook&amp;case=AX16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"title": "코레일 자동검측·AI 확대",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"철도 설비 자동점검",</a:t>
            </a:r>
          </a:p>
          <a:p xmlns:a="http://schemas.openxmlformats.org/drawingml/2006/main">
            <a:r>
              <a:t>    "period": "2025 운영·고도화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설비 자동점검"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"자동검측 운영을 통한 설비 이상 탐지와 AI 분석 고도화 방향 공개",</a:t>
            </a:r>
          </a:p>
          <a:p xmlns:a="http://schemas.openxmlformats.org/drawingml/2006/main">
            <a:r>
              <a:t>    "limit": "현재 검측 기능과 향후 AI 확대 구분 · 안전 감소 효과의 인과 검증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"검측·영상 수집",</a:t>
            </a:r>
          </a:p>
          <a:p xmlns:a="http://schemas.openxmlformats.org/drawingml/2006/main">
            <a:r>
              <a:t>      "이상 후보 추출",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"정비·검사 이력"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 ID·판정 기준·검사 시점 대사",</a:t>
            </a:r>
          </a:p>
          <a:p xmlns:a="http://schemas.openxmlformats.org/drawingml/2006/main">
            <a:r>
              <a:t>    "test": "정상·이상·판정 변경 및 미조치 자료 재현",</a:t>
            </a:r>
          </a:p>
          <a:p xmlns:a="http://schemas.openxmlformats.org/drawingml/2006/main">
            <a:r>
              <a:t>    "metric": "검사 검토시간 / 증거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"canonicalId": "AX17",</a:t>
            </a:r>
          </a:p>
          <a:p xmlns:a="http://schemas.openxmlformats.org/drawingml/2006/main">
            <a:r>
              <a:t>    "purpose": "철도 설비 자동검측과 유지보수 우선순위 지원",</a:t>
            </a:r>
          </a:p>
          <a:p xmlns:a="http://schemas.openxmlformats.org/drawingml/2006/main">
            <a:r>
              <a:t>    "users": "검측·시설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탐지",</a:t>
            </a:r>
          </a:p>
          <a:p xmlns:a="http://schemas.openxmlformats.org/drawingml/2006/main">
            <a:r>
              <a:t>      "정비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"검측 장비",</a:t>
            </a:r>
          </a:p>
          <a:p xmlns:a="http://schemas.openxmlformats.org/drawingml/2006/main">
            <a:r>
              <a:t>        "detail": "노선·설비 ID·검측구간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"설비 관측 / 이상 탐지 / 정비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"이상 후보 분석",</a:t>
            </a:r>
          </a:p>
          <a:p xmlns:a="http://schemas.openxmlformats.org/drawingml/2006/main">
            <a:r>
              <a:t>        "detail": "검측 수치의 이상 후보와 추세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"철도 정비 담당",</a:t>
            </a:r>
          </a:p>
          <a:p xmlns:a="http://schemas.openxmlformats.org/drawingml/2006/main">
            <a:r>
              <a:t>        "detail": "점검 담당자의 확인 후 정비계획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"검측·정비 기록",</a:t>
            </a:r>
          </a:p>
          <a:p xmlns:a="http://schemas.openxmlformats.org/drawingml/2006/main">
            <a:r>
              <a:t>        "detail": "검측값·설비대장·과거 정비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확인값과 조치 후 재검측 결과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"검측·영상 수집",</a:t>
            </a:r>
          </a:p>
          <a:p xmlns:a="http://schemas.openxmlformats.org/drawingml/2006/main">
            <a:r>
              <a:t>        "input": "노선·설비 ID·검측구간 식별",</a:t>
            </a:r>
          </a:p>
          <a:p xmlns:a="http://schemas.openxmlformats.org/drawingml/2006/main">
            <a:r>
              <a:t>        "process": "검측값·설비대장·과거 정비 이력 연결",</a:t>
            </a:r>
          </a:p>
          <a:p xmlns:a="http://schemas.openxmlformats.org/drawingml/2006/main">
            <a:r>
              <a:t>        "output": "검측값·영상"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"이상 후보 추출",</a:t>
            </a:r>
          </a:p>
          <a:p xmlns:a="http://schemas.openxmlformats.org/drawingml/2006/main">
            <a:r>
              <a:t>        "input": "검측값·영상",</a:t>
            </a:r>
          </a:p>
          <a:p xmlns:a="http://schemas.openxmlformats.org/drawingml/2006/main">
            <a:r>
              <a:t>        "process": "검측 수치의 이상 후보와 추세 분석",</a:t>
            </a:r>
          </a:p>
          <a:p xmlns:a="http://schemas.openxmlformats.org/drawingml/2006/main">
            <a:r>
              <a:t>        "output": "결함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확인",</a:t>
            </a:r>
          </a:p>
          <a:p xmlns:a="http://schemas.openxmlformats.org/drawingml/2006/main">
            <a:r>
              <a:t>        "input": "결함 후보",</a:t>
            </a:r>
          </a:p>
          <a:p xmlns:a="http://schemas.openxmlformats.org/drawingml/2006/main">
            <a:r>
              <a:t>        "process": "실제 결함과 검측 후보 대사",</a:t>
            </a:r>
          </a:p>
          <a:p xmlns:a="http://schemas.openxmlformats.org/drawingml/2006/main">
            <a:r>
              <a:t>        "output": "전문가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"정비·검사 이력",</a:t>
            </a:r>
          </a:p>
          <a:p xmlns:a="http://schemas.openxmlformats.org/drawingml/2006/main">
            <a:r>
              <a:t>        "input": "전문가 확인",</a:t>
            </a:r>
          </a:p>
          <a:p xmlns:a="http://schemas.openxmlformats.org/drawingml/2006/main">
            <a:r>
              <a:t>        "process": "점검 담당자의 확인 후 정비계획 반영",</a:t>
            </a:r>
          </a:p>
          <a:p xmlns:a="http://schemas.openxmlformats.org/drawingml/2006/main">
            <a:r>
              <a:t>        "output": "정비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"검측 이상을 설비대장에 연결하고 점검 대상 선정",</a:t>
            </a:r>
          </a:p>
          <a:p xmlns:a="http://schemas.openxmlformats.org/drawingml/2006/main">
            <a:r>
              <a:t>      "exception": "설비 ID 불일치·센서 튐·정비 후 상태 미갱신",</a:t>
            </a:r>
          </a:p>
          <a:p xmlns:a="http://schemas.openxmlformats.org/drawingml/2006/main">
            <a:r>
              <a:t>      "evidence": "검측 원천·설비·현장 판정·재검측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"검측·시설 유지보수 담당",</a:t>
            </a:r>
          </a:p>
          <a:p xmlns:a="http://schemas.openxmlformats.org/drawingml/2006/main">
            <a:r>
              <a:t>          "processing": "노선·설비 ID·검측구간 식별",</a:t>
            </a:r>
          </a:p>
          <a:p xmlns:a="http://schemas.openxmlformats.org/drawingml/2006/main">
            <a:r>
              <a:t>          "output": "검측값·영상"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"검측·정비 기록",</a:t>
            </a:r>
          </a:p>
          <a:p xmlns:a="http://schemas.openxmlformats.org/drawingml/2006/main">
            <a:r>
              <a:t>          "processing": "검측값·설비대장·과거 정비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"검측값·영상",</a:t>
            </a:r>
          </a:p>
          <a:p xmlns:a="http://schemas.openxmlformats.org/drawingml/2006/main">
            <a:r>
              <a:t>          "processing": "검측 수치의 이상 후보와 추세 분석",</a:t>
            </a:r>
          </a:p>
          <a:p xmlns:a="http://schemas.openxmlformats.org/drawingml/2006/main">
            <a:r>
              <a:t>          "output": "전문가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"전문가 확인",</a:t>
            </a:r>
          </a:p>
          <a:p xmlns:a="http://schemas.openxmlformats.org/drawingml/2006/main">
            <a:r>
              <a:t>          "processing": "점검 담당자의 확인 후 정비계획 반영",</a:t>
            </a:r>
          </a:p>
          <a:p xmlns:a="http://schemas.openxmlformats.org/drawingml/2006/main">
            <a:r>
              <a:t>          "output": "정비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확인값과 조치 후 재검측 결과 비교",</a:t>
            </a:r>
          </a:p>
          <a:p xmlns:a="http://schemas.openxmlformats.org/drawingml/2006/main">
            <a:r>
              <a:t>          "output":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확인값과 조치 후 재검측 결과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"S-AX17",</a:t>
            </a:r>
          </a:p>
          <a:p xmlns:a="http://schemas.openxmlformats.org/drawingml/2006/main">
            <a:r>
              <a:t>        "title": "코레일 자동검측·AI 확대 · 코레일 / 2025-08-17",</a:t>
            </a:r>
          </a:p>
          <a:p xmlns:a="http://schemas.openxmlformats.org/drawingml/2006/main">
            <a:r>
              <a:t>        "url": "https://info.korail.com/info/selectBbsNttView.do?bbsNo=199&amp;key=911&amp;nttNo=25238",</a:t>
            </a:r>
          </a:p>
          <a:p xmlns:a="http://schemas.openxmlformats.org/drawingml/2006/main">
            <a:r>
              <a:t>        "published": "2025 운영·고도화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"철도 설비의 자동검측 자료를 유지보수 검토에 활용하는 사례. 검측 데이터 확보, AI 이상 분석, 현장 정비 판단은 서로 다른 기능·사업 범위.",</a:t>
            </a:r>
          </a:p>
          <a:p xmlns:a="http://schemas.openxmlformats.org/drawingml/2006/main">
            <a:r>
              <a:t>      "노선·설비 ID·검측구간을 기준으로 관측값과 과거 정비 이력을 결합하고 이상 후보를 점검자에게 제공하는 재구성. 현장 확인과 조치 후 재검측을 연결해 후보의 유효성을 확인.",</a:t>
            </a:r>
          </a:p>
          <a:p xmlns:a="http://schemas.openxmlformats.org/drawingml/2006/main">
            <a:r>
              <a:t>      "TS 철도 안전 업무에서는 기존 자동검측 장비와 추가 분석 모델을 분리해 재사용 범위를 산정할 필요. 실제 결함 정답, 설비별 탐지 편차, 정비 조치·재점검 증빙을 검수에 연결."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"자동검측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"검측·시설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"노선·설비 ID",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"노선·설비 ID·검측구간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"검측·정비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"검측값·영상",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"검측 수치의 이상 후보와 추세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"결함 기준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"실제 결함과 검측 후보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"점검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"검측 이상을 설비대장에 연결하고 점검 대상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"점검 담당자의 확인 후 정비계획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후 재검측",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확인값과 조치 후 재검측 결과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"설비·검측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"검측·정비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"위치·단위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"검측값·설비대장·과거 정비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"결함·정비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"검측 원천·설비·현장 판정·재검측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"점검·판정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"설비 ID 불일치·센서 튐·정비 후 상태 미갱신",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"노선·설비 ID·검측구간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"검측값·영상",</a:t>
            </a:r>
          </a:p>
          <a:p xmlns:a="http://schemas.openxmlformats.org/drawingml/2006/main">
            <a:r>
              <a:t>          "check": "실제 결함과 검측 후보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"결함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"설비 ID 불일치·센서 튐·정비 후 상태 미갱신"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"점검 담당자의 확인 후 정비계획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"정비 기록",</a:t>
            </a:r>
          </a:p>
          <a:p xmlns:a="http://schemas.openxmlformats.org/drawingml/2006/main">
            <a:r>
              <a:t>          "check":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"철도 설비 자동검측과 유지보수 우선순위 지원 / 설비 관측·이상 탐지·정비 확인",</a:t>
            </a:r>
          </a:p>
          <a:p xmlns:a="http://schemas.openxmlformats.org/drawingml/2006/main">
            <a:r>
              <a:t>        "extension": "TS 철도 안전 점검의 설비·검사·조치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"설비 ID 불일치·센서 튐·정비 후 상태 미갱신",</a:t>
            </a:r>
          </a:p>
          <a:p xmlns:a="http://schemas.openxmlformats.org/drawingml/2006/main">
            <a:r>
              <a:t>        "hold": "실제 결함과 검측 후보 대사",</a:t>
            </a:r>
          </a:p>
          <a:p xmlns:a="http://schemas.openxmlformats.org/drawingml/2006/main">
            <a:r>
              <a:t>        "recovery": "현장 확인값과 조치 후 재검측 결과 비교",</a:t>
            </a:r>
          </a:p>
          <a:p xmlns:a="http://schemas.openxmlformats.org/drawingml/2006/main">
            <a:r>
              <a:t>        "evidence": "검측 원천·설비·현장 판정·재검측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"검측·정비 기록",</a:t>
            </a:r>
          </a:p>
          <a:p xmlns:a="http://schemas.openxmlformats.org/drawingml/2006/main">
            <a:r>
              <a:t>        "prepare": "검측값·설비대장·과거 정비 이력 연결",</a:t>
            </a:r>
          </a:p>
          <a:p xmlns:a="http://schemas.openxmlformats.org/drawingml/2006/main">
            <a:r>
              <a:t>        "output": "검측값·영상",</a:t>
            </a:r>
          </a:p>
          <a:p xmlns:a="http://schemas.openxmlformats.org/drawingml/2006/main">
            <a:r>
              <a:t>        "refresh": "현장 확인값과 조치 후 재검측 결과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"자동검측 자료의 지속 확보",</a:t>
            </a:r>
          </a:p>
          <a:p xmlns:a="http://schemas.openxmlformats.org/drawingml/2006/main">
            <a:r>
              <a:t>      "이상 후보와 정비 이력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"자동검측과 AI 개발 범위 혼동",</a:t>
            </a:r>
          </a:p>
          <a:p xmlns:a="http://schemas.openxmlformats.org/drawingml/2006/main">
            <a:r>
              <a:t>      "설비·노선별 탐지 편차"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"검측 장비",</a:t>
            </a:r>
          </a:p>
          <a:p xmlns:a="http://schemas.openxmlformats.org/drawingml/2006/main">
            <a:r>
              <a:t>      "이상 후보 분석",</a:t>
            </a:r>
          </a:p>
          <a:p xmlns:a="http://schemas.openxmlformats.org/drawingml/2006/main">
            <a:r>
              <a:t>      "검측·정비 기록",</a:t>
            </a:r>
          </a:p>
          <a:p xmlns:a="http://schemas.openxmlformats.org/drawingml/2006/main">
            <a:r>
              <a:t>      "철도 정비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"검측값·영상",</a:t>
            </a:r>
          </a:p>
          <a:p xmlns:a="http://schemas.openxmlformats.org/drawingml/2006/main">
            <a:r>
              <a:t>      "결함 후보",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"실제 결함과 검측 후보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코레일 자동검측·AI 확대 · 코레일 / 2025-08-17 https://info.korail.com/info/selectBbsNttView.do?bbsNo=199&amp;key=911&amp;nttNo=25238</a:t>
            </a:r>
          </a:p>
          <a:p xmlns:a="http://schemas.openxmlformats.org/drawingml/2006/main">
            <a:r>
              <a:t>홈페이지 https://heen1987-ops.github.io/TS-business-Plan-001/index.html?view=casebook&amp;case=AX17</a:t>
            </a:r>
          </a:p>
          <a:p xmlns:a="http://schemas.openxmlformats.org/drawingml/2006/main">
            <a:r>
              <a:t>한계: 현재 검측 기능과 향후 AI 확대 구분 · 안전 감소 효과의 인과 검증 별도</a:t>
            </a:r>
          </a:p>
          <a:p xmlns:a="http://schemas.openxmlformats.org/drawingml/2006/main">
            <a:r>
              <a:t>실패 위험: 자동검측과 AI 개발 범위 혼동 / 설비·노선별 탐지 편차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"title": "코레일 자동검측·AI 확대",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"철도 설비 자동점검",</a:t>
            </a:r>
          </a:p>
          <a:p xmlns:a="http://schemas.openxmlformats.org/drawingml/2006/main">
            <a:r>
              <a:t>    "period": "2025 운영·고도화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설비 자동점검"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"자동검측 운영을 통한 설비 이상 탐지와 AI 분석 고도화 방향 공개",</a:t>
            </a:r>
          </a:p>
          <a:p xmlns:a="http://schemas.openxmlformats.org/drawingml/2006/main">
            <a:r>
              <a:t>    "limit": "현재 검측 기능과 향후 AI 확대 구분 · 안전 감소 효과의 인과 검증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"검측·영상 수집",</a:t>
            </a:r>
          </a:p>
          <a:p xmlns:a="http://schemas.openxmlformats.org/drawingml/2006/main">
            <a:r>
              <a:t>      "이상 후보 추출",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"정비·검사 이력"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 ID·판정 기준·검사 시점 대사",</a:t>
            </a:r>
          </a:p>
          <a:p xmlns:a="http://schemas.openxmlformats.org/drawingml/2006/main">
            <a:r>
              <a:t>    "test": "정상·이상·판정 변경 및 미조치 자료 재현",</a:t>
            </a:r>
          </a:p>
          <a:p xmlns:a="http://schemas.openxmlformats.org/drawingml/2006/main">
            <a:r>
              <a:t>    "metric": "검사 검토시간 / 증거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"canonicalId": "AX17",</a:t>
            </a:r>
          </a:p>
          <a:p xmlns:a="http://schemas.openxmlformats.org/drawingml/2006/main">
            <a:r>
              <a:t>    "purpose": "철도 설비 자동검측과 유지보수 우선순위 지원",</a:t>
            </a:r>
          </a:p>
          <a:p xmlns:a="http://schemas.openxmlformats.org/drawingml/2006/main">
            <a:r>
              <a:t>    "users": "검측·시설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탐지",</a:t>
            </a:r>
          </a:p>
          <a:p xmlns:a="http://schemas.openxmlformats.org/drawingml/2006/main">
            <a:r>
              <a:t>      "정비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"검측 장비",</a:t>
            </a:r>
          </a:p>
          <a:p xmlns:a="http://schemas.openxmlformats.org/drawingml/2006/main">
            <a:r>
              <a:t>        "detail": "노선·설비 ID·검측구간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"설비 관측 / 이상 탐지 / 정비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"이상 후보 분석",</a:t>
            </a:r>
          </a:p>
          <a:p xmlns:a="http://schemas.openxmlformats.org/drawingml/2006/main">
            <a:r>
              <a:t>        "detail": "검측 수치의 이상 후보와 추세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"철도 정비 담당",</a:t>
            </a:r>
          </a:p>
          <a:p xmlns:a="http://schemas.openxmlformats.org/drawingml/2006/main">
            <a:r>
              <a:t>        "detail": "점검 담당자의 확인 후 정비계획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"검측·정비 기록",</a:t>
            </a:r>
          </a:p>
          <a:p xmlns:a="http://schemas.openxmlformats.org/drawingml/2006/main">
            <a:r>
              <a:t>        "detail": "검측값·설비대장·과거 정비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확인값과 조치 후 재검측 결과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"검측·영상 수집",</a:t>
            </a:r>
          </a:p>
          <a:p xmlns:a="http://schemas.openxmlformats.org/drawingml/2006/main">
            <a:r>
              <a:t>        "input": "노선·설비 ID·검측구간 식별",</a:t>
            </a:r>
          </a:p>
          <a:p xmlns:a="http://schemas.openxmlformats.org/drawingml/2006/main">
            <a:r>
              <a:t>        "process": "검측값·설비대장·과거 정비 이력 연결",</a:t>
            </a:r>
          </a:p>
          <a:p xmlns:a="http://schemas.openxmlformats.org/drawingml/2006/main">
            <a:r>
              <a:t>        "output": "검측값·영상"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"이상 후보 추출",</a:t>
            </a:r>
          </a:p>
          <a:p xmlns:a="http://schemas.openxmlformats.org/drawingml/2006/main">
            <a:r>
              <a:t>        "input": "검측값·영상",</a:t>
            </a:r>
          </a:p>
          <a:p xmlns:a="http://schemas.openxmlformats.org/drawingml/2006/main">
            <a:r>
              <a:t>        "process": "검측 수치의 이상 후보와 추세 분석",</a:t>
            </a:r>
          </a:p>
          <a:p xmlns:a="http://schemas.openxmlformats.org/drawingml/2006/main">
            <a:r>
              <a:t>        "output": "결함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확인",</a:t>
            </a:r>
          </a:p>
          <a:p xmlns:a="http://schemas.openxmlformats.org/drawingml/2006/main">
            <a:r>
              <a:t>        "input": "결함 후보",</a:t>
            </a:r>
          </a:p>
          <a:p xmlns:a="http://schemas.openxmlformats.org/drawingml/2006/main">
            <a:r>
              <a:t>        "process": "실제 결함과 검측 후보 대사",</a:t>
            </a:r>
          </a:p>
          <a:p xmlns:a="http://schemas.openxmlformats.org/drawingml/2006/main">
            <a:r>
              <a:t>        "output": "전문가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"정비·검사 이력",</a:t>
            </a:r>
          </a:p>
          <a:p xmlns:a="http://schemas.openxmlformats.org/drawingml/2006/main">
            <a:r>
              <a:t>        "input": "전문가 확인",</a:t>
            </a:r>
          </a:p>
          <a:p xmlns:a="http://schemas.openxmlformats.org/drawingml/2006/main">
            <a:r>
              <a:t>        "process": "점검 담당자의 확인 후 정비계획 반영",</a:t>
            </a:r>
          </a:p>
          <a:p xmlns:a="http://schemas.openxmlformats.org/drawingml/2006/main">
            <a:r>
              <a:t>        "output": "정비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"검측 이상을 설비대장에 연결하고 점검 대상 선정",</a:t>
            </a:r>
          </a:p>
          <a:p xmlns:a="http://schemas.openxmlformats.org/drawingml/2006/main">
            <a:r>
              <a:t>      "exception": "설비 ID 불일치·센서 튐·정비 후 상태 미갱신",</a:t>
            </a:r>
          </a:p>
          <a:p xmlns:a="http://schemas.openxmlformats.org/drawingml/2006/main">
            <a:r>
              <a:t>      "evidence": "검측 원천·설비·현장 판정·재검측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"검측·시설 유지보수 담당",</a:t>
            </a:r>
          </a:p>
          <a:p xmlns:a="http://schemas.openxmlformats.org/drawingml/2006/main">
            <a:r>
              <a:t>          "processing": "노선·설비 ID·검측구간 식별",</a:t>
            </a:r>
          </a:p>
          <a:p xmlns:a="http://schemas.openxmlformats.org/drawingml/2006/main">
            <a:r>
              <a:t>          "output": "검측값·영상"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"검측·정비 기록",</a:t>
            </a:r>
          </a:p>
          <a:p xmlns:a="http://schemas.openxmlformats.org/drawingml/2006/main">
            <a:r>
              <a:t>          "processing": "검측값·설비대장·과거 정비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"검측값·영상",</a:t>
            </a:r>
          </a:p>
          <a:p xmlns:a="http://schemas.openxmlformats.org/drawingml/2006/main">
            <a:r>
              <a:t>          "processing": "검측 수치의 이상 후보와 추세 분석",</a:t>
            </a:r>
          </a:p>
          <a:p xmlns:a="http://schemas.openxmlformats.org/drawingml/2006/main">
            <a:r>
              <a:t>          "output": "전문가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"전문가 확인",</a:t>
            </a:r>
          </a:p>
          <a:p xmlns:a="http://schemas.openxmlformats.org/drawingml/2006/main">
            <a:r>
              <a:t>          "processing": "점검 담당자의 확인 후 정비계획 반영",</a:t>
            </a:r>
          </a:p>
          <a:p xmlns:a="http://schemas.openxmlformats.org/drawingml/2006/main">
            <a:r>
              <a:t>          "output": "정비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확인값과 조치 후 재검측 결과 비교",</a:t>
            </a:r>
          </a:p>
          <a:p xmlns:a="http://schemas.openxmlformats.org/drawingml/2006/main">
            <a:r>
              <a:t>          "output":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확인값과 조치 후 재검측 결과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"S-AX17",</a:t>
            </a:r>
          </a:p>
          <a:p xmlns:a="http://schemas.openxmlformats.org/drawingml/2006/main">
            <a:r>
              <a:t>        "title": "코레일 자동검측·AI 확대 · 코레일 / 2025-08-17",</a:t>
            </a:r>
          </a:p>
          <a:p xmlns:a="http://schemas.openxmlformats.org/drawingml/2006/main">
            <a:r>
              <a:t>        "url": "https://info.korail.com/info/selectBbsNttView.do?bbsNo=199&amp;key=911&amp;nttNo=25238",</a:t>
            </a:r>
          </a:p>
          <a:p xmlns:a="http://schemas.openxmlformats.org/drawingml/2006/main">
            <a:r>
              <a:t>        "published": "2025 운영·고도화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"철도 설비의 자동검측 자료를 유지보수 검토에 활용하는 사례. 검측 데이터 확보, AI 이상 분석, 현장 정비 판단은 서로 다른 기능·사업 범위.",</a:t>
            </a:r>
          </a:p>
          <a:p xmlns:a="http://schemas.openxmlformats.org/drawingml/2006/main">
            <a:r>
              <a:t>      "노선·설비 ID·검측구간을 기준으로 관측값과 과거 정비 이력을 결합하고 이상 후보를 점검자에게 제공하는 재구성. 현장 확인과 조치 후 재검측을 연결해 후보의 유효성을 확인.",</a:t>
            </a:r>
          </a:p>
          <a:p xmlns:a="http://schemas.openxmlformats.org/drawingml/2006/main">
            <a:r>
              <a:t>      "TS 철도 안전 업무에서는 기존 자동검측 장비와 추가 분석 모델을 분리해 재사용 범위를 산정할 필요. 실제 결함 정답, 설비별 탐지 편차, 정비 조치·재점검 증빙을 검수에 연결."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"자동검측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"검측·시설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"노선·설비 ID",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"노선·설비 ID·검측구간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"검측·정비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"검측값·영상",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"검측 수치의 이상 후보와 추세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"결함 기준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"실제 결함과 검측 후보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"점검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"검측 이상을 설비대장에 연결하고 점검 대상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"점검 담당자의 확인 후 정비계획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후 재검측",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확인값과 조치 후 재검측 결과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"설비·검측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"검측·정비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"위치·단위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"검측값·설비대장·과거 정비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"결함·정비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"검측 원천·설비·현장 판정·재검측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"점검·판정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"설비 ID 불일치·센서 튐·정비 후 상태 미갱신",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"노선·설비 ID·검측구간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"검측값·영상",</a:t>
            </a:r>
          </a:p>
          <a:p xmlns:a="http://schemas.openxmlformats.org/drawingml/2006/main">
            <a:r>
              <a:t>          "check": "실제 결함과 검측 후보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"결함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"설비 ID 불일치·센서 튐·정비 후 상태 미갱신"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"점검 담당자의 확인 후 정비계획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"정비 기록",</a:t>
            </a:r>
          </a:p>
          <a:p xmlns:a="http://schemas.openxmlformats.org/drawingml/2006/main">
            <a:r>
              <a:t>          "check":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"철도 설비 자동검측과 유지보수 우선순위 지원 / 설비 관측·이상 탐지·정비 확인",</a:t>
            </a:r>
          </a:p>
          <a:p xmlns:a="http://schemas.openxmlformats.org/drawingml/2006/main">
            <a:r>
              <a:t>        "extension": "TS 철도 안전 점검의 설비·검사·조치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"설비 ID 불일치·센서 튐·정비 후 상태 미갱신",</a:t>
            </a:r>
          </a:p>
          <a:p xmlns:a="http://schemas.openxmlformats.org/drawingml/2006/main">
            <a:r>
              <a:t>        "hold": "실제 결함과 검측 후보 대사",</a:t>
            </a:r>
          </a:p>
          <a:p xmlns:a="http://schemas.openxmlformats.org/drawingml/2006/main">
            <a:r>
              <a:t>        "recovery": "현장 확인값과 조치 후 재검측 결과 비교",</a:t>
            </a:r>
          </a:p>
          <a:p xmlns:a="http://schemas.openxmlformats.org/drawingml/2006/main">
            <a:r>
              <a:t>        "evidence": "검측 원천·설비·현장 판정·재검측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"검측·정비 기록",</a:t>
            </a:r>
          </a:p>
          <a:p xmlns:a="http://schemas.openxmlformats.org/drawingml/2006/main">
            <a:r>
              <a:t>        "prepare": "검측값·설비대장·과거 정비 이력 연결",</a:t>
            </a:r>
          </a:p>
          <a:p xmlns:a="http://schemas.openxmlformats.org/drawingml/2006/main">
            <a:r>
              <a:t>        "output": "검측값·영상",</a:t>
            </a:r>
          </a:p>
          <a:p xmlns:a="http://schemas.openxmlformats.org/drawingml/2006/main">
            <a:r>
              <a:t>        "refresh": "현장 확인값과 조치 후 재검측 결과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"자동검측 자료의 지속 확보",</a:t>
            </a:r>
          </a:p>
          <a:p xmlns:a="http://schemas.openxmlformats.org/drawingml/2006/main">
            <a:r>
              <a:t>      "이상 후보와 정비 이력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"자동검측과 AI 개발 범위 혼동",</a:t>
            </a:r>
          </a:p>
          <a:p xmlns:a="http://schemas.openxmlformats.org/drawingml/2006/main">
            <a:r>
              <a:t>      "설비·노선별 탐지 편차"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"검측 장비",</a:t>
            </a:r>
          </a:p>
          <a:p xmlns:a="http://schemas.openxmlformats.org/drawingml/2006/main">
            <a:r>
              <a:t>      "이상 후보 분석",</a:t>
            </a:r>
          </a:p>
          <a:p xmlns:a="http://schemas.openxmlformats.org/drawingml/2006/main">
            <a:r>
              <a:t>      "검측·정비 기록",</a:t>
            </a:r>
          </a:p>
          <a:p xmlns:a="http://schemas.openxmlformats.org/drawingml/2006/main">
            <a:r>
              <a:t>      "철도 정비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"검측값·영상",</a:t>
            </a:r>
          </a:p>
          <a:p xmlns:a="http://schemas.openxmlformats.org/drawingml/2006/main">
            <a:r>
              <a:t>      "결함 후보",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"실제 결함과 검측 후보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코레일 자동검측·AI 확대 · 코레일 / 2025-08-17 https://info.korail.com/info/selectBbsNttView.do?bbsNo=199&amp;key=911&amp;nttNo=25238</a:t>
            </a:r>
          </a:p>
          <a:p xmlns:a="http://schemas.openxmlformats.org/drawingml/2006/main">
            <a:r>
              <a:t>홈페이지 https://heen1987-ops.github.io/TS-business-Plan-001/index.html?view=casebook&amp;case=AX17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"title": "코레일 자동검측·AI 확대",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"철도 설비 자동점검",</a:t>
            </a:r>
          </a:p>
          <a:p xmlns:a="http://schemas.openxmlformats.org/drawingml/2006/main">
            <a:r>
              <a:t>    "period": "2025 운영·고도화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설비 자동점검"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"자동검측 운영을 통한 설비 이상 탐지와 AI 분석 고도화 방향 공개",</a:t>
            </a:r>
          </a:p>
          <a:p xmlns:a="http://schemas.openxmlformats.org/drawingml/2006/main">
            <a:r>
              <a:t>    "limit": "현재 검측 기능과 향후 AI 확대 구분 · 안전 감소 효과의 인과 검증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"검측·영상 수집",</a:t>
            </a:r>
          </a:p>
          <a:p xmlns:a="http://schemas.openxmlformats.org/drawingml/2006/main">
            <a:r>
              <a:t>      "이상 후보 추출",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"정비·검사 이력"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 ID·판정 기준·검사 시점 대사",</a:t>
            </a:r>
          </a:p>
          <a:p xmlns:a="http://schemas.openxmlformats.org/drawingml/2006/main">
            <a:r>
              <a:t>    "test": "정상·이상·판정 변경 및 미조치 자료 재현",</a:t>
            </a:r>
          </a:p>
          <a:p xmlns:a="http://schemas.openxmlformats.org/drawingml/2006/main">
            <a:r>
              <a:t>    "metric": "검사 검토시간 / 증거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"canonicalId": "AX17",</a:t>
            </a:r>
          </a:p>
          <a:p xmlns:a="http://schemas.openxmlformats.org/drawingml/2006/main">
            <a:r>
              <a:t>    "purpose": "철도 설비 자동검측과 유지보수 우선순위 지원",</a:t>
            </a:r>
          </a:p>
          <a:p xmlns:a="http://schemas.openxmlformats.org/drawingml/2006/main">
            <a:r>
              <a:t>    "users": "검측·시설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탐지",</a:t>
            </a:r>
          </a:p>
          <a:p xmlns:a="http://schemas.openxmlformats.org/drawingml/2006/main">
            <a:r>
              <a:t>      "정비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"검측 장비",</a:t>
            </a:r>
          </a:p>
          <a:p xmlns:a="http://schemas.openxmlformats.org/drawingml/2006/main">
            <a:r>
              <a:t>        "detail": "노선·설비 ID·검측구간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"설비 관측 / 이상 탐지 / 정비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"이상 후보 분석",</a:t>
            </a:r>
          </a:p>
          <a:p xmlns:a="http://schemas.openxmlformats.org/drawingml/2006/main">
            <a:r>
              <a:t>        "detail": "검측 수치의 이상 후보와 추세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"철도 정비 담당",</a:t>
            </a:r>
          </a:p>
          <a:p xmlns:a="http://schemas.openxmlformats.org/drawingml/2006/main">
            <a:r>
              <a:t>        "detail": "점검 담당자의 확인 후 정비계획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"검측·정비 기록",</a:t>
            </a:r>
          </a:p>
          <a:p xmlns:a="http://schemas.openxmlformats.org/drawingml/2006/main">
            <a:r>
              <a:t>        "detail": "검측값·설비대장·과거 정비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확인값과 조치 후 재검측 결과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"검측·영상 수집",</a:t>
            </a:r>
          </a:p>
          <a:p xmlns:a="http://schemas.openxmlformats.org/drawingml/2006/main">
            <a:r>
              <a:t>        "input": "노선·설비 ID·검측구간 식별",</a:t>
            </a:r>
          </a:p>
          <a:p xmlns:a="http://schemas.openxmlformats.org/drawingml/2006/main">
            <a:r>
              <a:t>        "process": "검측값·설비대장·과거 정비 이력 연결",</a:t>
            </a:r>
          </a:p>
          <a:p xmlns:a="http://schemas.openxmlformats.org/drawingml/2006/main">
            <a:r>
              <a:t>        "output": "검측값·영상"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"이상 후보 추출",</a:t>
            </a:r>
          </a:p>
          <a:p xmlns:a="http://schemas.openxmlformats.org/drawingml/2006/main">
            <a:r>
              <a:t>        "input": "검측값·영상",</a:t>
            </a:r>
          </a:p>
          <a:p xmlns:a="http://schemas.openxmlformats.org/drawingml/2006/main">
            <a:r>
              <a:t>        "process": "검측 수치의 이상 후보와 추세 분석",</a:t>
            </a:r>
          </a:p>
          <a:p xmlns:a="http://schemas.openxmlformats.org/drawingml/2006/main">
            <a:r>
              <a:t>        "output": "결함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확인",</a:t>
            </a:r>
          </a:p>
          <a:p xmlns:a="http://schemas.openxmlformats.org/drawingml/2006/main">
            <a:r>
              <a:t>        "input": "결함 후보",</a:t>
            </a:r>
          </a:p>
          <a:p xmlns:a="http://schemas.openxmlformats.org/drawingml/2006/main">
            <a:r>
              <a:t>        "process": "실제 결함과 검측 후보 대사",</a:t>
            </a:r>
          </a:p>
          <a:p xmlns:a="http://schemas.openxmlformats.org/drawingml/2006/main">
            <a:r>
              <a:t>        "output": "전문가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"정비·검사 이력",</a:t>
            </a:r>
          </a:p>
          <a:p xmlns:a="http://schemas.openxmlformats.org/drawingml/2006/main">
            <a:r>
              <a:t>        "input": "전문가 확인",</a:t>
            </a:r>
          </a:p>
          <a:p xmlns:a="http://schemas.openxmlformats.org/drawingml/2006/main">
            <a:r>
              <a:t>        "process": "점검 담당자의 확인 후 정비계획 반영",</a:t>
            </a:r>
          </a:p>
          <a:p xmlns:a="http://schemas.openxmlformats.org/drawingml/2006/main">
            <a:r>
              <a:t>        "output": "정비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"검측 이상을 설비대장에 연결하고 점검 대상 선정",</a:t>
            </a:r>
          </a:p>
          <a:p xmlns:a="http://schemas.openxmlformats.org/drawingml/2006/main">
            <a:r>
              <a:t>      "exception": "설비 ID 불일치·센서 튐·정비 후 상태 미갱신",</a:t>
            </a:r>
          </a:p>
          <a:p xmlns:a="http://schemas.openxmlformats.org/drawingml/2006/main">
            <a:r>
              <a:t>      "evidence": "검측 원천·설비·현장 판정·재검측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"검측·시설 유지보수 담당",</a:t>
            </a:r>
          </a:p>
          <a:p xmlns:a="http://schemas.openxmlformats.org/drawingml/2006/main">
            <a:r>
              <a:t>          "processing": "노선·설비 ID·검측구간 식별",</a:t>
            </a:r>
          </a:p>
          <a:p xmlns:a="http://schemas.openxmlformats.org/drawingml/2006/main">
            <a:r>
              <a:t>          "output": "검측값·영상"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"검측·정비 기록",</a:t>
            </a:r>
          </a:p>
          <a:p xmlns:a="http://schemas.openxmlformats.org/drawingml/2006/main">
            <a:r>
              <a:t>          "processing": "검측값·설비대장·과거 정비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"검측값·영상",</a:t>
            </a:r>
          </a:p>
          <a:p xmlns:a="http://schemas.openxmlformats.org/drawingml/2006/main">
            <a:r>
              <a:t>          "processing": "검측 수치의 이상 후보와 추세 분석",</a:t>
            </a:r>
          </a:p>
          <a:p xmlns:a="http://schemas.openxmlformats.org/drawingml/2006/main">
            <a:r>
              <a:t>          "output": "전문가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"전문가 확인",</a:t>
            </a:r>
          </a:p>
          <a:p xmlns:a="http://schemas.openxmlformats.org/drawingml/2006/main">
            <a:r>
              <a:t>          "processing": "점검 담당자의 확인 후 정비계획 반영",</a:t>
            </a:r>
          </a:p>
          <a:p xmlns:a="http://schemas.openxmlformats.org/drawingml/2006/main">
            <a:r>
              <a:t>          "output": "정비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확인값과 조치 후 재검측 결과 비교",</a:t>
            </a:r>
          </a:p>
          <a:p xmlns:a="http://schemas.openxmlformats.org/drawingml/2006/main">
            <a:r>
              <a:t>          "output":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확인값과 조치 후 재검측 결과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"S-AX17",</a:t>
            </a:r>
          </a:p>
          <a:p xmlns:a="http://schemas.openxmlformats.org/drawingml/2006/main">
            <a:r>
              <a:t>        "title": "코레일 자동검측·AI 확대 · 코레일 / 2025-08-17",</a:t>
            </a:r>
          </a:p>
          <a:p xmlns:a="http://schemas.openxmlformats.org/drawingml/2006/main">
            <a:r>
              <a:t>        "url": "https://info.korail.com/info/selectBbsNttView.do?bbsNo=199&amp;key=911&amp;nttNo=25238",</a:t>
            </a:r>
          </a:p>
          <a:p xmlns:a="http://schemas.openxmlformats.org/drawingml/2006/main">
            <a:r>
              <a:t>        "published": "2025 운영·고도화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"철도 설비의 자동검측 자료를 유지보수 검토에 활용하는 사례. 검측 데이터 확보, AI 이상 분석, 현장 정비 판단은 서로 다른 기능·사업 범위.",</a:t>
            </a:r>
          </a:p>
          <a:p xmlns:a="http://schemas.openxmlformats.org/drawingml/2006/main">
            <a:r>
              <a:t>      "노선·설비 ID·검측구간을 기준으로 관측값과 과거 정비 이력을 결합하고 이상 후보를 점검자에게 제공하는 재구성. 현장 확인과 조치 후 재검측을 연결해 후보의 유효성을 확인.",</a:t>
            </a:r>
          </a:p>
          <a:p xmlns:a="http://schemas.openxmlformats.org/drawingml/2006/main">
            <a:r>
              <a:t>      "TS 철도 안전 업무에서는 기존 자동검측 장비와 추가 분석 모델을 분리해 재사용 범위를 산정할 필요. 실제 결함 정답, 설비별 탐지 편차, 정비 조치·재점검 증빙을 검수에 연결."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"자동검측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"검측·시설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"노선·설비 ID",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"노선·설비 ID·검측구간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"검측·정비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"검측값·영상",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"검측 수치의 이상 후보와 추세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"결함 기준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"실제 결함과 검측 후보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"점검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"검측 이상을 설비대장에 연결하고 점검 대상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"점검 담당자의 확인 후 정비계획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후 재검측",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확인값과 조치 후 재검측 결과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"설비·검측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"검측·정비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"위치·단위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"검측값·설비대장·과거 정비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"결함·정비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"검측 원천·설비·현장 판정·재검측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"점검·판정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"설비 ID 불일치·센서 튐·정비 후 상태 미갱신",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"노선·설비 ID·검측구간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"검측값·영상",</a:t>
            </a:r>
          </a:p>
          <a:p xmlns:a="http://schemas.openxmlformats.org/drawingml/2006/main">
            <a:r>
              <a:t>          "check": "실제 결함과 검측 후보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"결함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"설비 ID 불일치·센서 튐·정비 후 상태 미갱신"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"점검 담당자의 확인 후 정비계획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"정비 기록",</a:t>
            </a:r>
          </a:p>
          <a:p xmlns:a="http://schemas.openxmlformats.org/drawingml/2006/main">
            <a:r>
              <a:t>          "check":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"철도 설비 자동검측과 유지보수 우선순위 지원 / 설비 관측·이상 탐지·정비 확인",</a:t>
            </a:r>
          </a:p>
          <a:p xmlns:a="http://schemas.openxmlformats.org/drawingml/2006/main">
            <a:r>
              <a:t>        "extension": "TS 철도 안전 점검의 설비·검사·조치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"설비 ID 불일치·센서 튐·정비 후 상태 미갱신",</a:t>
            </a:r>
          </a:p>
          <a:p xmlns:a="http://schemas.openxmlformats.org/drawingml/2006/main">
            <a:r>
              <a:t>        "hold": "실제 결함과 검측 후보 대사",</a:t>
            </a:r>
          </a:p>
          <a:p xmlns:a="http://schemas.openxmlformats.org/drawingml/2006/main">
            <a:r>
              <a:t>        "recovery": "현장 확인값과 조치 후 재검측 결과 비교",</a:t>
            </a:r>
          </a:p>
          <a:p xmlns:a="http://schemas.openxmlformats.org/drawingml/2006/main">
            <a:r>
              <a:t>        "evidence": "검측 원천·설비·현장 판정·재검측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"검측·정비 기록",</a:t>
            </a:r>
          </a:p>
          <a:p xmlns:a="http://schemas.openxmlformats.org/drawingml/2006/main">
            <a:r>
              <a:t>        "prepare": "검측값·설비대장·과거 정비 이력 연결",</a:t>
            </a:r>
          </a:p>
          <a:p xmlns:a="http://schemas.openxmlformats.org/drawingml/2006/main">
            <a:r>
              <a:t>        "output": "검측값·영상",</a:t>
            </a:r>
          </a:p>
          <a:p xmlns:a="http://schemas.openxmlformats.org/drawingml/2006/main">
            <a:r>
              <a:t>        "refresh": "현장 확인값과 조치 후 재검측 결과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"자동검측 자료의 지속 확보",</a:t>
            </a:r>
          </a:p>
          <a:p xmlns:a="http://schemas.openxmlformats.org/drawingml/2006/main">
            <a:r>
              <a:t>      "이상 후보와 정비 이력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"자동검측과 AI 개발 범위 혼동",</a:t>
            </a:r>
          </a:p>
          <a:p xmlns:a="http://schemas.openxmlformats.org/drawingml/2006/main">
            <a:r>
              <a:t>      "설비·노선별 탐지 편차"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"검측 장비",</a:t>
            </a:r>
          </a:p>
          <a:p xmlns:a="http://schemas.openxmlformats.org/drawingml/2006/main">
            <a:r>
              <a:t>      "이상 후보 분석",</a:t>
            </a:r>
          </a:p>
          <a:p xmlns:a="http://schemas.openxmlformats.org/drawingml/2006/main">
            <a:r>
              <a:t>      "검측·정비 기록",</a:t>
            </a:r>
          </a:p>
          <a:p xmlns:a="http://schemas.openxmlformats.org/drawingml/2006/main">
            <a:r>
              <a:t>      "철도 정비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"검측값·영상",</a:t>
            </a:r>
          </a:p>
          <a:p xmlns:a="http://schemas.openxmlformats.org/drawingml/2006/main">
            <a:r>
              <a:t>      "결함 후보",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"실제 결함과 검측 후보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코레일 자동검측·AI 확대 · 코레일 / 2025-08-17 https://info.korail.com/info/selectBbsNttView.do?bbsNo=199&amp;key=911&amp;nttNo=25238</a:t>
            </a:r>
          </a:p>
          <a:p xmlns:a="http://schemas.openxmlformats.org/drawingml/2006/main">
            <a:r>
              <a:t>홈페이지 https://heen1987-ops.github.io/TS-business-Plan-001/index.html?view=casebook&amp;case=AX17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"title": "코레일 자동검측·AI 확대",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"혼합",</a:t>
            </a:r>
          </a:p>
          <a:p xmlns:a="http://schemas.openxmlformats.org/drawingml/2006/main">
            <a:r>
              <a:t>    "kind": "철도 설비 자동점검",</a:t>
            </a:r>
          </a:p>
          <a:p xmlns:a="http://schemas.openxmlformats.org/drawingml/2006/main">
            <a:r>
              <a:t>    "period": "2025 운영·고도화 계획",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"S-AX17"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설비 자동점검"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"자동검측 운영을 통한 설비 이상 탐지와 AI 분석 고도화 방향 공개",</a:t>
            </a:r>
          </a:p>
          <a:p xmlns:a="http://schemas.openxmlformats.org/drawingml/2006/main">
            <a:r>
              <a:t>    "limit": "현재 검측 기능과 향후 AI 확대 구분 · 안전 감소 효과의 인과 검증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"검측·영상 수집",</a:t>
            </a:r>
          </a:p>
          <a:p xmlns:a="http://schemas.openxmlformats.org/drawingml/2006/main">
            <a:r>
              <a:t>      "이상 후보 추출",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"정비·검사 이력"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 ID·판정 기준·검사 시점 대사",</a:t>
            </a:r>
          </a:p>
          <a:p xmlns:a="http://schemas.openxmlformats.org/drawingml/2006/main">
            <a:r>
              <a:t>    "test": "정상·이상·판정 변경 및 미조치 자료 재현",</a:t>
            </a:r>
          </a:p>
          <a:p xmlns:a="http://schemas.openxmlformats.org/drawingml/2006/main">
            <a:r>
              <a:t>    "metric": "검사 검토시간 / 증거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"canonicalId": "AX17",</a:t>
            </a:r>
          </a:p>
          <a:p xmlns:a="http://schemas.openxmlformats.org/drawingml/2006/main">
            <a:r>
              <a:t>    "purpose": "철도 설비 자동검측과 유지보수 우선순위 지원",</a:t>
            </a:r>
          </a:p>
          <a:p xmlns:a="http://schemas.openxmlformats.org/drawingml/2006/main">
            <a:r>
              <a:t>    "users": "검측·시설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탐지",</a:t>
            </a:r>
          </a:p>
          <a:p xmlns:a="http://schemas.openxmlformats.org/drawingml/2006/main">
            <a:r>
              <a:t>      "정비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"검측 장비",</a:t>
            </a:r>
          </a:p>
          <a:p xmlns:a="http://schemas.openxmlformats.org/drawingml/2006/main">
            <a:r>
              <a:t>        "detail": "노선·설비 ID·검측구간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"설비 관측 / 이상 탐지 / 정비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"이상 후보 분석",</a:t>
            </a:r>
          </a:p>
          <a:p xmlns:a="http://schemas.openxmlformats.org/drawingml/2006/main">
            <a:r>
              <a:t>        "detail": "검측 수치의 이상 후보와 추세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"철도 정비 담당",</a:t>
            </a:r>
          </a:p>
          <a:p xmlns:a="http://schemas.openxmlformats.org/drawingml/2006/main">
            <a:r>
              <a:t>        "detail": "점검 담당자의 확인 후 정비계획 반영",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"검측·정비 기록",</a:t>
            </a:r>
          </a:p>
          <a:p xmlns:a="http://schemas.openxmlformats.org/drawingml/2006/main">
            <a:r>
              <a:t>        "detail": "검측값·설비대장·과거 정비 이력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확인값과 조치 후 재검측 결과 비교",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"검측·영상 수집",</a:t>
            </a:r>
          </a:p>
          <a:p xmlns:a="http://schemas.openxmlformats.org/drawingml/2006/main">
            <a:r>
              <a:t>        "input": "노선·설비 ID·검측구간 식별",</a:t>
            </a:r>
          </a:p>
          <a:p xmlns:a="http://schemas.openxmlformats.org/drawingml/2006/main">
            <a:r>
              <a:t>        "process": "검측값·설비대장·과거 정비 이력 연결",</a:t>
            </a:r>
          </a:p>
          <a:p xmlns:a="http://schemas.openxmlformats.org/drawingml/2006/main">
            <a:r>
              <a:t>        "output": "검측값·영상"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"이상 후보 추출",</a:t>
            </a:r>
          </a:p>
          <a:p xmlns:a="http://schemas.openxmlformats.org/drawingml/2006/main">
            <a:r>
              <a:t>        "input": "검측값·영상",</a:t>
            </a:r>
          </a:p>
          <a:p xmlns:a="http://schemas.openxmlformats.org/drawingml/2006/main">
            <a:r>
              <a:t>        "process": "검측 수치의 이상 후보와 추세 분석",</a:t>
            </a:r>
          </a:p>
          <a:p xmlns:a="http://schemas.openxmlformats.org/drawingml/2006/main">
            <a:r>
              <a:t>        "output": "결함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"전문가 확인",</a:t>
            </a:r>
          </a:p>
          <a:p xmlns:a="http://schemas.openxmlformats.org/drawingml/2006/main">
            <a:r>
              <a:t>        "input": "결함 후보",</a:t>
            </a:r>
          </a:p>
          <a:p xmlns:a="http://schemas.openxmlformats.org/drawingml/2006/main">
            <a:r>
              <a:t>        "process": "실제 결함과 검측 후보 대사",</a:t>
            </a:r>
          </a:p>
          <a:p xmlns:a="http://schemas.openxmlformats.org/drawingml/2006/main">
            <a:r>
              <a:t>        "output": "전문가 확인"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"정비·검사 이력",</a:t>
            </a:r>
          </a:p>
          <a:p xmlns:a="http://schemas.openxmlformats.org/drawingml/2006/main">
            <a:r>
              <a:t>        "input": "전문가 확인",</a:t>
            </a:r>
          </a:p>
          <a:p xmlns:a="http://schemas.openxmlformats.org/drawingml/2006/main">
            <a:r>
              <a:t>        "process": "점검 담당자의 확인 후 정비계획 반영",</a:t>
            </a:r>
          </a:p>
          <a:p xmlns:a="http://schemas.openxmlformats.org/drawingml/2006/main">
            <a:r>
              <a:t>        "output": "정비 기록"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"검측 이상을 설비대장에 연결하고 점검 대상 선정",</a:t>
            </a:r>
          </a:p>
          <a:p xmlns:a="http://schemas.openxmlformats.org/drawingml/2006/main">
            <a:r>
              <a:t>      "exception": "설비 ID 불일치·센서 튐·정비 후 상태 미갱신",</a:t>
            </a:r>
          </a:p>
          <a:p xmlns:a="http://schemas.openxmlformats.org/drawingml/2006/main">
            <a:r>
              <a:t>      "evidence": "검측 원천·설비·현장 판정·재검측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"검측·시설 유지보수 담당",</a:t>
            </a:r>
          </a:p>
          <a:p xmlns:a="http://schemas.openxmlformats.org/drawingml/2006/main">
            <a:r>
              <a:t>          "processing": "노선·설비 ID·검측구간 식별",</a:t>
            </a:r>
          </a:p>
          <a:p xmlns:a="http://schemas.openxmlformats.org/drawingml/2006/main">
            <a:r>
              <a:t>          "output": "검측값·영상"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"검측·정비 기록",</a:t>
            </a:r>
          </a:p>
          <a:p xmlns:a="http://schemas.openxmlformats.org/drawingml/2006/main">
            <a:r>
              <a:t>          "processing": "검측값·설비대장·과거 정비 이력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"검측값·영상",</a:t>
            </a:r>
          </a:p>
          <a:p xmlns:a="http://schemas.openxmlformats.org/drawingml/2006/main">
            <a:r>
              <a:t>          "processing": "검측 수치의 이상 후보와 추세 분석",</a:t>
            </a:r>
          </a:p>
          <a:p xmlns:a="http://schemas.openxmlformats.org/drawingml/2006/main">
            <a:r>
              <a:t>          "output": "전문가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"전문가 확인",</a:t>
            </a:r>
          </a:p>
          <a:p xmlns:a="http://schemas.openxmlformats.org/drawingml/2006/main">
            <a:r>
              <a:t>          "processing": "점검 담당자의 확인 후 정비계획 반영",</a:t>
            </a:r>
          </a:p>
          <a:p xmlns:a="http://schemas.openxmlformats.org/drawingml/2006/main">
            <a:r>
              <a:t>          "output": "정비 기록"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확인값과 조치 후 재검측 결과 비교",</a:t>
            </a:r>
          </a:p>
          <a:p xmlns:a="http://schemas.openxmlformats.org/drawingml/2006/main">
            <a:r>
              <a:t>          "output":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확인값과 조치 후 재검측 결과 비교",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"S-AX17",</a:t>
            </a:r>
          </a:p>
          <a:p xmlns:a="http://schemas.openxmlformats.org/drawingml/2006/main">
            <a:r>
              <a:t>        "title": "코레일 자동검측·AI 확대 · 코레일 / 2025-08-17",</a:t>
            </a:r>
          </a:p>
          <a:p xmlns:a="http://schemas.openxmlformats.org/drawingml/2006/main">
            <a:r>
              <a:t>        "url": "https://info.korail.com/info/selectBbsNttView.do?bbsNo=199&amp;key=911&amp;nttNo=25238",</a:t>
            </a:r>
          </a:p>
          <a:p xmlns:a="http://schemas.openxmlformats.org/drawingml/2006/main">
            <a:r>
              <a:t>        "published": "2025 운영·고도화 계획",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"원천 검측과 판정 근거의 일관된 인계",</a:t>
            </a:r>
          </a:p>
          <a:p xmlns:a="http://schemas.openxmlformats.org/drawingml/2006/main">
            <a:r>
              <a:t>    "local": "TS 철도 안전 점검의 설비·검사·조치 증거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"철도 설비의 자동검측 자료를 유지보수 검토에 활용하는 사례. 검측 데이터 확보, AI 이상 분석, 현장 정비 판단은 서로 다른 기능·사업 범위.",</a:t>
            </a:r>
          </a:p>
          <a:p xmlns:a="http://schemas.openxmlformats.org/drawingml/2006/main">
            <a:r>
              <a:t>      "노선·설비 ID·검측구간을 기준으로 관측값과 과거 정비 이력을 결합하고 이상 후보를 점검자에게 제공하는 재구성. 현장 확인과 조치 후 재검측을 연결해 후보의 유효성을 확인.",</a:t>
            </a:r>
          </a:p>
          <a:p xmlns:a="http://schemas.openxmlformats.org/drawingml/2006/main">
            <a:r>
              <a:t>      "TS 철도 안전 업무에서는 기존 자동검측 장비와 추가 분석 모델을 분리해 재사용 범위를 산정할 필요. 실제 결함 정답, 설비별 탐지 편차, 정비 조치·재점검 증빙을 검수에 연결."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"자동검측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"검측·시설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"노선·설비 ID",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"노선·설비 ID·검측구간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"검측·정비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"검측값·영상",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후보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"검측 수치의 이상 후보와 추세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"결함 기준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"실제 결함과 검측 후보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"점검 담당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"검측 이상을 설비대장에 연결하고 점검 대상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"정비계획 반영",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"점검 담당자의 확인 후 정비계획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"조치 후 재검측",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확인값과 조치 후 재검측 결과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"설비·검측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"검측·정비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"위치·단위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"검측값·설비대장·과거 정비 이력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"결함·정비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"검측 원천·설비·현장 판정·재검측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"점검·판정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"설비 ID 불일치·센서 튐·정비 후 상태 미갱신",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"노선·설비 ID·검측구간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"검측값·영상",</a:t>
            </a:r>
          </a:p>
          <a:p xmlns:a="http://schemas.openxmlformats.org/drawingml/2006/main">
            <a:r>
              <a:t>          "check": "실제 결함과 검측 후보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"결함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"설비 ID 불일치·센서 튐·정비 후 상태 미갱신"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"전문가 확인",</a:t>
            </a:r>
          </a:p>
          <a:p xmlns:a="http://schemas.openxmlformats.org/drawingml/2006/main">
            <a:r>
              <a:t>          "check": "점검 담당자의 확인 후 정비계획 반영"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"정비 기록",</a:t>
            </a:r>
          </a:p>
          <a:p xmlns:a="http://schemas.openxmlformats.org/drawingml/2006/main">
            <a:r>
              <a:t>          "check": "검측 원천·설비·현장 판정·재검측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"철도 설비 자동검측과 유지보수 우선순위 지원 / 설비 관측·이상 탐지·정비 확인",</a:t>
            </a:r>
          </a:p>
          <a:p xmlns:a="http://schemas.openxmlformats.org/drawingml/2006/main">
            <a:r>
              <a:t>        "extension": "TS 철도 안전 점검의 설비·검사·조치 증거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"설비 ID 불일치·센서 튐·정비 후 상태 미갱신",</a:t>
            </a:r>
          </a:p>
          <a:p xmlns:a="http://schemas.openxmlformats.org/drawingml/2006/main">
            <a:r>
              <a:t>        "hold": "실제 결함과 검측 후보 대사",</a:t>
            </a:r>
          </a:p>
          <a:p xmlns:a="http://schemas.openxmlformats.org/drawingml/2006/main">
            <a:r>
              <a:t>        "recovery": "현장 확인값과 조치 후 재검측 결과 비교",</a:t>
            </a:r>
          </a:p>
          <a:p xmlns:a="http://schemas.openxmlformats.org/drawingml/2006/main">
            <a:r>
              <a:t>        "evidence": "검측 원천·설비·현장 판정·재검측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"검측·정비 기록",</a:t>
            </a:r>
          </a:p>
          <a:p xmlns:a="http://schemas.openxmlformats.org/drawingml/2006/main">
            <a:r>
              <a:t>        "prepare": "검측값·설비대장·과거 정비 이력 연결",</a:t>
            </a:r>
          </a:p>
          <a:p xmlns:a="http://schemas.openxmlformats.org/drawingml/2006/main">
            <a:r>
              <a:t>        "output": "검측값·영상",</a:t>
            </a:r>
          </a:p>
          <a:p xmlns:a="http://schemas.openxmlformats.org/drawingml/2006/main">
            <a:r>
              <a:t>        "refresh": "현장 확인값과 조치 후 재검측 결과 비교"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"AX17",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"자동검측 자료의 지속 확보",</a:t>
            </a:r>
          </a:p>
          <a:p xmlns:a="http://schemas.openxmlformats.org/drawingml/2006/main">
            <a:r>
              <a:t>      "이상 후보와 정비 이력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"자동검측과 AI 개발 범위 혼동",</a:t>
            </a:r>
          </a:p>
          <a:p xmlns:a="http://schemas.openxmlformats.org/drawingml/2006/main">
            <a:r>
              <a:t>      "설비·노선별 탐지 편차"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"검측 장비",</a:t>
            </a:r>
          </a:p>
          <a:p xmlns:a="http://schemas.openxmlformats.org/drawingml/2006/main">
            <a:r>
              <a:t>      "이상 후보 분석",</a:t>
            </a:r>
          </a:p>
          <a:p xmlns:a="http://schemas.openxmlformats.org/drawingml/2006/main">
            <a:r>
              <a:t>      "검측·정비 기록",</a:t>
            </a:r>
          </a:p>
          <a:p xmlns:a="http://schemas.openxmlformats.org/drawingml/2006/main">
            <a:r>
              <a:t>      "철도 정비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"검측값·영상",</a:t>
            </a:r>
          </a:p>
          <a:p xmlns:a="http://schemas.openxmlformats.org/drawingml/2006/main">
            <a:r>
              <a:t>      "결함 후보",</a:t>
            </a:r>
          </a:p>
          <a:p xmlns:a="http://schemas.openxmlformats.org/drawingml/2006/main">
            <a:r>
              <a:t>      "전문가 확인",</a:t>
            </a:r>
          </a:p>
          <a:p xmlns:a="http://schemas.openxmlformats.org/drawingml/2006/main">
            <a:r>
              <a:t>      "정비 기록"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"실제 결함과 검측 후보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코레일 자동검측·AI 확대 · 코레일 / 2025-08-17 https://info.korail.com/info/selectBbsNttView.do?bbsNo=199&amp;key=911&amp;nttNo=25238</a:t>
            </a:r>
          </a:p>
          <a:p xmlns:a="http://schemas.openxmlformats.org/drawingml/2006/main">
            <a:r>
              <a:t>홈페이지 https://heen1987-ops.github.io/TS-business-Plan-001/index.html?view=casebook&amp;case=AX17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"title": "Network Rail Insight",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"철도 예지정비",</a:t>
            </a:r>
          </a:p>
          <a:p xmlns:a="http://schemas.openxmlformats.org/drawingml/2006/main">
            <a:r>
              <a:t>    "period": "2023 운영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예지정비"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"설비 데이터와 AI 분석을 결합하여 철도 유지관리의 이상 징후·우선순위 검토 지원",</a:t>
            </a:r>
          </a:p>
          <a:p xmlns:a="http://schemas.openxmlformats.org/drawingml/2006/main">
            <a:r>
              <a:t>    "limit": "철도 운영사 사례 · TS의 검사·감독 책임 범위에 맞춘 현지화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"설비·검측 자료",</a:t>
            </a:r>
          </a:p>
          <a:p xmlns:a="http://schemas.openxmlformats.org/drawingml/2006/main">
            <a:r>
              <a:t>      "AI 이상 분석",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"담당자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"설비별 위험 근거 묶음·담당 배정·기한 관리",</a:t>
            </a:r>
          </a:p>
          <a:p xmlns:a="http://schemas.openxmlformats.org/drawingml/2006/main">
            <a:r>
              <a:t>    "test": "결측·상충 신호·미조치 건 우선순위 검증",</a:t>
            </a:r>
          </a:p>
          <a:p xmlns:a="http://schemas.openxmlformats.org/drawingml/2006/main">
            <a:r>
              <a:t>    "metric": "점검 준비시간 / 미조치 추적률",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"canonicalId": "AX18",</a:t>
            </a:r>
          </a:p>
          <a:p xmlns:a="http://schemas.openxmlformats.org/drawingml/2006/main">
            <a:r>
              <a:t>    "purpose": "설비 데이터 통합에 기반한 철도 예방정비",</a:t>
            </a:r>
          </a:p>
          <a:p xmlns:a="http://schemas.openxmlformats.org/drawingml/2006/main">
            <a:r>
              <a:t>    "users": "설비관리자·현장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"우선순위",</a:t>
            </a:r>
          </a:p>
          <a:p xmlns:a="http://schemas.openxmlformats.org/drawingml/2006/main">
            <a:r>
              <a:t>      "정비 계획"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"설비·검측 수집",</a:t>
            </a:r>
          </a:p>
          <a:p xmlns:a="http://schemas.openxmlformats.org/drawingml/2006/main">
            <a:r>
              <a:t>        "detail": "설비·위치·고장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"이상 징후 / 우선순위 / 정비 계획",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"Insight 분석",</a:t>
            </a:r>
          </a:p>
          <a:p xmlns:a="http://schemas.openxmlformats.org/drawingml/2006/main">
            <a:r>
              <a:t>        "detail": "서로 다른 관측자료의 이상 신호 결합",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"유지관리 담당",</a:t>
            </a:r>
          </a:p>
          <a:p xmlns:a="http://schemas.openxmlformats.org/drawingml/2006/main">
            <a:r>
              <a:t>        "detail": "위험 후보를 현장 점검·정비계획으로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"설비·이상 이력",</a:t>
            </a:r>
          </a:p>
          <a:p xmlns:a="http://schemas.openxmlformats.org/drawingml/2006/main">
            <a:r>
              <a:t>        "detail": "설비 ID 기준 관측·상태·정비 이력 통합",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판정과 실제 결함을 다음 분석에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"설비·검측 자료",</a:t>
            </a:r>
          </a:p>
          <a:p xmlns:a="http://schemas.openxmlformats.org/drawingml/2006/main">
            <a:r>
              <a:t>        "input": "설비·위치·고장 맥락 지정",</a:t>
            </a:r>
          </a:p>
          <a:p xmlns:a="http://schemas.openxmlformats.org/drawingml/2006/main">
            <a:r>
              <a:t>        "process": "설비 ID 기준 관측·상태·정비 이력 통합",</a:t>
            </a:r>
          </a:p>
          <a:p xmlns:a="http://schemas.openxmlformats.org/drawingml/2006/main">
            <a:r>
              <a:t>        "output": "설비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이상 분석",</a:t>
            </a:r>
          </a:p>
          <a:p xmlns:a="http://schemas.openxmlformats.org/drawingml/2006/main">
            <a:r>
              <a:t>        "input": "설비 관측",</a:t>
            </a:r>
          </a:p>
          <a:p xmlns:a="http://schemas.openxmlformats.org/drawingml/2006/main">
            <a:r>
              <a:t>        "process": "서로 다른 관측자료의 이상 신호 결합",</a:t>
            </a:r>
          </a:p>
          <a:p xmlns:a="http://schemas.openxmlformats.org/drawingml/2006/main">
            <a:r>
              <a:t>        "output": "이상 징후"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 우선순위",</a:t>
            </a:r>
          </a:p>
          <a:p xmlns:a="http://schemas.openxmlformats.org/drawingml/2006/main">
            <a:r>
              <a:t>        "input": "이상 징후",</a:t>
            </a:r>
          </a:p>
          <a:p xmlns:a="http://schemas.openxmlformats.org/drawingml/2006/main">
            <a:r>
              <a:t>        "process": "누락 설비·중요 결함 별도 평가",</a:t>
            </a:r>
          </a:p>
          <a:p xmlns:a="http://schemas.openxmlformats.org/drawingml/2006/main">
            <a:r>
              <a:t>        "output": "정비 우선순위"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조치",</a:t>
            </a:r>
          </a:p>
          <a:p xmlns:a="http://schemas.openxmlformats.org/drawingml/2006/main">
            <a:r>
              <a:t>        "input": "정비 우선순위",</a:t>
            </a:r>
          </a:p>
          <a:p xmlns:a="http://schemas.openxmlformats.org/drawingml/2006/main">
            <a:r>
              <a:t>        "process": "위험 후보를 현장 점검·정비계획으로 연결",</a:t>
            </a:r>
          </a:p>
          <a:p xmlns:a="http://schemas.openxmlformats.org/drawingml/2006/main">
            <a:r>
              <a:t>        "output": "조치·재점검"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"설비의 여러 관측 신호로 정비 우선순위를 검토",</a:t>
            </a:r>
          </a:p>
          <a:p xmlns:a="http://schemas.openxmlformats.org/drawingml/2006/main">
            <a:r>
              <a:t>      "exception": "데이터 지연·상충 신호·정비 완료 이력 누락",</a:t>
            </a:r>
          </a:p>
          <a:p xmlns:a="http://schemas.openxmlformats.org/drawingml/2006/main">
            <a:r>
              <a:t>      "evidence": "우선순위 근거와 현장 확인·정비 결과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"설비관리자·현장 유지보수 담당",</a:t>
            </a:r>
          </a:p>
          <a:p xmlns:a="http://schemas.openxmlformats.org/drawingml/2006/main">
            <a:r>
              <a:t>          "processing": "설비·위치·고장 맥락 지정",</a:t>
            </a:r>
          </a:p>
          <a:p xmlns:a="http://schemas.openxmlformats.org/drawingml/2006/main">
            <a:r>
              <a:t>          "output": "설비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"설비·이상 이력",</a:t>
            </a:r>
          </a:p>
          <a:p xmlns:a="http://schemas.openxmlformats.org/drawingml/2006/main">
            <a:r>
              <a:t>          "processing": "설비 ID 기준 관측·상태·정비 이력 통합",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"설비 관측",</a:t>
            </a:r>
          </a:p>
          <a:p xmlns:a="http://schemas.openxmlformats.org/drawingml/2006/main">
            <a:r>
              <a:t>          "processing": "서로 다른 관측자료의 이상 신호 결합",</a:t>
            </a:r>
          </a:p>
          <a:p xmlns:a="http://schemas.openxmlformats.org/drawingml/2006/main">
            <a:r>
              <a:t>          "output": "정비 우선순위"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"정비 우선순위",</a:t>
            </a:r>
          </a:p>
          <a:p xmlns:a="http://schemas.openxmlformats.org/drawingml/2006/main">
            <a:r>
              <a:t>          "processing": "위험 후보를 현장 점검·정비계획으로 연결",</a:t>
            </a:r>
          </a:p>
          <a:p xmlns:a="http://schemas.openxmlformats.org/drawingml/2006/main">
            <a:r>
              <a:t>          "output": "조치·재점검"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판정과 실제 결함을 다음 분석에 반영",</a:t>
            </a:r>
          </a:p>
          <a:p xmlns:a="http://schemas.openxmlformats.org/drawingml/2006/main">
            <a:r>
              <a:t>          "output":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판정과 실제 결함을 다음 분석에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"S-AX18",</a:t>
            </a:r>
          </a:p>
          <a:p xmlns:a="http://schemas.openxmlformats.org/drawingml/2006/main">
            <a:r>
              <a:t>        "title": "Network Rail Insight · 운영기관 / 2023-12-22",</a:t>
            </a:r>
          </a:p>
          <a:p xmlns:a="http://schemas.openxmlformats.org/drawingml/2006/main">
            <a:r>
              <a:t>        "url": "https://www.networkrail.co.uk/stories/using-artificial-intelligence-to-create-a-better-railway/",</a:t>
            </a:r>
          </a:p>
          <a:p xmlns:a="http://schemas.openxmlformats.org/drawingml/2006/main">
            <a:r>
              <a:t>        "published": "2023 운영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"여러 철도 설비의 관측 자료를 통합해 예방정비 우선순위를 지원하는 사례. 서로 다른 설비 데이터의 품질과 식별자를 맞추는 기반 작업이 주요 전제.",</a:t>
            </a:r>
          </a:p>
          <a:p xmlns:a="http://schemas.openxmlformats.org/drawingml/2006/main">
            <a:r>
              <a:t>      "설비 ID에 관측·위치·고장·정비 이력을 연결하고 이상 신호를 합쳐 점검 후보를 만드는 구조. 위험 순위는 현장 담당자의 확인 후 정비계획으로 전환하고 실제 결함 여부를 환류.",</a:t>
            </a:r>
          </a:p>
          <a:p xmlns:a="http://schemas.openxmlformats.org/drawingml/2006/main">
            <a:r>
              <a:t>      "CCK에서는 이상 경보를 정비 완료로 처리하지 않는 상태 모델을 적용. 누락 설비, 관측 결측, 실제 결함과 오경보, 점검 후 조치 완료를 함께 추적하는 TS 후속 업무 설계."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"설비 상태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"설비관리자·현장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"위치·고장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"설비·위치·고장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"다종 관측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"설비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신호 결합",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"서로 다른 관측자료의 이상 신호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"누락 설비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"누락 설비·중요 결함 별도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점검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"설비의 여러 관측 신호로 정비 우선순위를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 우선순위",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현장 점검·정비계획으로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"결함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판정과 실제 결함을 다음 분석에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"관측·설비대장",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"설비·이상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"설비 식별자 통합",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"설비 ID 기준 관측·상태·정비 이력 통합",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"우선순위 근거와 현장 확인·정비 결과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"설비 관리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"데이터 지연·상충 신호·정비 완료 이력 누락",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"설비·위치·고장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"설비 관측",</a:t>
            </a:r>
          </a:p>
          <a:p xmlns:a="http://schemas.openxmlformats.org/drawingml/2006/main">
            <a:r>
              <a:t>          "check": "누락 설비·중요 결함 별도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"이상 징후",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"데이터 지연·상충 신호·정비 완료 이력 누락"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"위험 후보를 현장 점검·정비계획으로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"조치·재점검",</a:t>
            </a:r>
          </a:p>
          <a:p xmlns:a="http://schemas.openxmlformats.org/drawingml/2006/main">
            <a:r>
              <a:t>          "check":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"설비 데이터 통합에 기반한 철도 예방정비 / 이상 징후·우선순위·정비 계획",</a:t>
            </a:r>
          </a:p>
          <a:p xmlns:a="http://schemas.openxmlformats.org/drawingml/2006/main">
            <a:r>
              <a:t>        "extension": "TS 점검 계획의 위험 근거·소관·이력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"데이터 지연·상충 신호·정비 완료 이력 누락",</a:t>
            </a:r>
          </a:p>
          <a:p xmlns:a="http://schemas.openxmlformats.org/drawingml/2006/main">
            <a:r>
              <a:t>        "hold": "누락 설비·중요 결함 별도 평가",</a:t>
            </a:r>
          </a:p>
          <a:p xmlns:a="http://schemas.openxmlformats.org/drawingml/2006/main">
            <a:r>
              <a:t>        "recovery": "현장 판정과 실제 결함을 다음 분석에 반영",</a:t>
            </a:r>
          </a:p>
          <a:p xmlns:a="http://schemas.openxmlformats.org/drawingml/2006/main">
            <a:r>
              <a:t>        "evidence": "우선순위 근거와 현장 확인·정비 결과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"설비·이상 이력",</a:t>
            </a:r>
          </a:p>
          <a:p xmlns:a="http://schemas.openxmlformats.org/drawingml/2006/main">
            <a:r>
              <a:t>        "prepare": "설비 ID 기준 관측·상태·정비 이력 통합",</a:t>
            </a:r>
          </a:p>
          <a:p xmlns:a="http://schemas.openxmlformats.org/drawingml/2006/main">
            <a:r>
              <a:t>        "output": "설비 관측",</a:t>
            </a:r>
          </a:p>
          <a:p xmlns:a="http://schemas.openxmlformats.org/drawingml/2006/main">
            <a:r>
              <a:t>        "refresh": "현장 판정과 실제 결함을 다음 분석에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"여러 설비 자료의 통합 분석",</a:t>
            </a:r>
          </a:p>
          <a:p xmlns:a="http://schemas.openxmlformats.org/drawingml/2006/main">
            <a:r>
              <a:t>      "정비 우선순위와 현장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"설비별 데이터 품질 차이",</a:t>
            </a:r>
          </a:p>
          <a:p xmlns:a="http://schemas.openxmlformats.org/drawingml/2006/main">
            <a:r>
              <a:t>      "권고를 정비 완료로 간주하는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"설비·검측 수집",</a:t>
            </a:r>
          </a:p>
          <a:p xmlns:a="http://schemas.openxmlformats.org/drawingml/2006/main">
            <a:r>
              <a:t>      "Insight 분석",</a:t>
            </a:r>
          </a:p>
          <a:p xmlns:a="http://schemas.openxmlformats.org/drawingml/2006/main">
            <a:r>
              <a:t>      "설비·이상 이력",</a:t>
            </a:r>
          </a:p>
          <a:p xmlns:a="http://schemas.openxmlformats.org/drawingml/2006/main">
            <a:r>
              <a:t>      "유지관리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"조치·재점검"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"누락 설비·중요 결함 별도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Network Rail Insight · 운영기관 / 2023-12-22 https://www.networkrail.co.uk/stories/using-artificial-intelligence-to-create-a-better-railway/</a:t>
            </a:r>
          </a:p>
          <a:p xmlns:a="http://schemas.openxmlformats.org/drawingml/2006/main">
            <a:r>
              <a:t>홈페이지 https://heen1987-ops.github.io/TS-business-Plan-001/index.html?view=casebook&amp;case=AX18</a:t>
            </a:r>
          </a:p>
          <a:p xmlns:a="http://schemas.openxmlformats.org/drawingml/2006/main">
            <a:r>
              <a:t>한계: 철도 운영사 사례 · TS의 검사·감독 책임 범위에 맞춘 현지화 필요</a:t>
            </a:r>
          </a:p>
          <a:p xmlns:a="http://schemas.openxmlformats.org/drawingml/2006/main">
            <a:r>
              <a:t>실패 위험: 설비별 데이터 품질 차이 / 권고를 정비 완료로 간주하는 위험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"title": "Network Rail Insight",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"철도 예지정비",</a:t>
            </a:r>
          </a:p>
          <a:p xmlns:a="http://schemas.openxmlformats.org/drawingml/2006/main">
            <a:r>
              <a:t>    "period": "2023 운영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예지정비"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"설비 데이터와 AI 분석을 결합하여 철도 유지관리의 이상 징후·우선순위 검토 지원",</a:t>
            </a:r>
          </a:p>
          <a:p xmlns:a="http://schemas.openxmlformats.org/drawingml/2006/main">
            <a:r>
              <a:t>    "limit": "철도 운영사 사례 · TS의 검사·감독 책임 범위에 맞춘 현지화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"설비·검측 자료",</a:t>
            </a:r>
          </a:p>
          <a:p xmlns:a="http://schemas.openxmlformats.org/drawingml/2006/main">
            <a:r>
              <a:t>      "AI 이상 분석",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"담당자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"설비별 위험 근거 묶음·담당 배정·기한 관리",</a:t>
            </a:r>
          </a:p>
          <a:p xmlns:a="http://schemas.openxmlformats.org/drawingml/2006/main">
            <a:r>
              <a:t>    "test": "결측·상충 신호·미조치 건 우선순위 검증",</a:t>
            </a:r>
          </a:p>
          <a:p xmlns:a="http://schemas.openxmlformats.org/drawingml/2006/main">
            <a:r>
              <a:t>    "metric": "점검 준비시간 / 미조치 추적률",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"canonicalId": "AX18",</a:t>
            </a:r>
          </a:p>
          <a:p xmlns:a="http://schemas.openxmlformats.org/drawingml/2006/main">
            <a:r>
              <a:t>    "purpose": "설비 데이터 통합에 기반한 철도 예방정비",</a:t>
            </a:r>
          </a:p>
          <a:p xmlns:a="http://schemas.openxmlformats.org/drawingml/2006/main">
            <a:r>
              <a:t>    "users": "설비관리자·현장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"우선순위",</a:t>
            </a:r>
          </a:p>
          <a:p xmlns:a="http://schemas.openxmlformats.org/drawingml/2006/main">
            <a:r>
              <a:t>      "정비 계획"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"설비·검측 수집",</a:t>
            </a:r>
          </a:p>
          <a:p xmlns:a="http://schemas.openxmlformats.org/drawingml/2006/main">
            <a:r>
              <a:t>        "detail": "설비·위치·고장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"이상 징후 / 우선순위 / 정비 계획",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"Insight 분석",</a:t>
            </a:r>
          </a:p>
          <a:p xmlns:a="http://schemas.openxmlformats.org/drawingml/2006/main">
            <a:r>
              <a:t>        "detail": "서로 다른 관측자료의 이상 신호 결합",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"유지관리 담당",</a:t>
            </a:r>
          </a:p>
          <a:p xmlns:a="http://schemas.openxmlformats.org/drawingml/2006/main">
            <a:r>
              <a:t>        "detail": "위험 후보를 현장 점검·정비계획으로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"설비·이상 이력",</a:t>
            </a:r>
          </a:p>
          <a:p xmlns:a="http://schemas.openxmlformats.org/drawingml/2006/main">
            <a:r>
              <a:t>        "detail": "설비 ID 기준 관측·상태·정비 이력 통합",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판정과 실제 결함을 다음 분석에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"설비·검측 자료",</a:t>
            </a:r>
          </a:p>
          <a:p xmlns:a="http://schemas.openxmlformats.org/drawingml/2006/main">
            <a:r>
              <a:t>        "input": "설비·위치·고장 맥락 지정",</a:t>
            </a:r>
          </a:p>
          <a:p xmlns:a="http://schemas.openxmlformats.org/drawingml/2006/main">
            <a:r>
              <a:t>        "process": "설비 ID 기준 관측·상태·정비 이력 통합",</a:t>
            </a:r>
          </a:p>
          <a:p xmlns:a="http://schemas.openxmlformats.org/drawingml/2006/main">
            <a:r>
              <a:t>        "output": "설비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이상 분석",</a:t>
            </a:r>
          </a:p>
          <a:p xmlns:a="http://schemas.openxmlformats.org/drawingml/2006/main">
            <a:r>
              <a:t>        "input": "설비 관측",</a:t>
            </a:r>
          </a:p>
          <a:p xmlns:a="http://schemas.openxmlformats.org/drawingml/2006/main">
            <a:r>
              <a:t>        "process": "서로 다른 관측자료의 이상 신호 결합",</a:t>
            </a:r>
          </a:p>
          <a:p xmlns:a="http://schemas.openxmlformats.org/drawingml/2006/main">
            <a:r>
              <a:t>        "output": "이상 징후"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 우선순위",</a:t>
            </a:r>
          </a:p>
          <a:p xmlns:a="http://schemas.openxmlformats.org/drawingml/2006/main">
            <a:r>
              <a:t>        "input": "이상 징후",</a:t>
            </a:r>
          </a:p>
          <a:p xmlns:a="http://schemas.openxmlformats.org/drawingml/2006/main">
            <a:r>
              <a:t>        "process": "누락 설비·중요 결함 별도 평가",</a:t>
            </a:r>
          </a:p>
          <a:p xmlns:a="http://schemas.openxmlformats.org/drawingml/2006/main">
            <a:r>
              <a:t>        "output": "정비 우선순위"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조치",</a:t>
            </a:r>
          </a:p>
          <a:p xmlns:a="http://schemas.openxmlformats.org/drawingml/2006/main">
            <a:r>
              <a:t>        "input": "정비 우선순위",</a:t>
            </a:r>
          </a:p>
          <a:p xmlns:a="http://schemas.openxmlformats.org/drawingml/2006/main">
            <a:r>
              <a:t>        "process": "위험 후보를 현장 점검·정비계획으로 연결",</a:t>
            </a:r>
          </a:p>
          <a:p xmlns:a="http://schemas.openxmlformats.org/drawingml/2006/main">
            <a:r>
              <a:t>        "output": "조치·재점검"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"설비의 여러 관측 신호로 정비 우선순위를 검토",</a:t>
            </a:r>
          </a:p>
          <a:p xmlns:a="http://schemas.openxmlformats.org/drawingml/2006/main">
            <a:r>
              <a:t>      "exception": "데이터 지연·상충 신호·정비 완료 이력 누락",</a:t>
            </a:r>
          </a:p>
          <a:p xmlns:a="http://schemas.openxmlformats.org/drawingml/2006/main">
            <a:r>
              <a:t>      "evidence": "우선순위 근거와 현장 확인·정비 결과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"설비관리자·현장 유지보수 담당",</a:t>
            </a:r>
          </a:p>
          <a:p xmlns:a="http://schemas.openxmlformats.org/drawingml/2006/main">
            <a:r>
              <a:t>          "processing": "설비·위치·고장 맥락 지정",</a:t>
            </a:r>
          </a:p>
          <a:p xmlns:a="http://schemas.openxmlformats.org/drawingml/2006/main">
            <a:r>
              <a:t>          "output": "설비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"설비·이상 이력",</a:t>
            </a:r>
          </a:p>
          <a:p xmlns:a="http://schemas.openxmlformats.org/drawingml/2006/main">
            <a:r>
              <a:t>          "processing": "설비 ID 기준 관측·상태·정비 이력 통합",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"설비 관측",</a:t>
            </a:r>
          </a:p>
          <a:p xmlns:a="http://schemas.openxmlformats.org/drawingml/2006/main">
            <a:r>
              <a:t>          "processing": "서로 다른 관측자료의 이상 신호 결합",</a:t>
            </a:r>
          </a:p>
          <a:p xmlns:a="http://schemas.openxmlformats.org/drawingml/2006/main">
            <a:r>
              <a:t>          "output": "정비 우선순위"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"정비 우선순위",</a:t>
            </a:r>
          </a:p>
          <a:p xmlns:a="http://schemas.openxmlformats.org/drawingml/2006/main">
            <a:r>
              <a:t>          "processing": "위험 후보를 현장 점검·정비계획으로 연결",</a:t>
            </a:r>
          </a:p>
          <a:p xmlns:a="http://schemas.openxmlformats.org/drawingml/2006/main">
            <a:r>
              <a:t>          "output": "조치·재점검"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판정과 실제 결함을 다음 분석에 반영",</a:t>
            </a:r>
          </a:p>
          <a:p xmlns:a="http://schemas.openxmlformats.org/drawingml/2006/main">
            <a:r>
              <a:t>          "output":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판정과 실제 결함을 다음 분석에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"S-AX18",</a:t>
            </a:r>
          </a:p>
          <a:p xmlns:a="http://schemas.openxmlformats.org/drawingml/2006/main">
            <a:r>
              <a:t>        "title": "Network Rail Insight · 운영기관 / 2023-12-22",</a:t>
            </a:r>
          </a:p>
          <a:p xmlns:a="http://schemas.openxmlformats.org/drawingml/2006/main">
            <a:r>
              <a:t>        "url": "https://www.networkrail.co.uk/stories/using-artificial-intelligence-to-create-a-better-railway/",</a:t>
            </a:r>
          </a:p>
          <a:p xmlns:a="http://schemas.openxmlformats.org/drawingml/2006/main">
            <a:r>
              <a:t>        "published": "2023 운영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"여러 철도 설비의 관측 자료를 통합해 예방정비 우선순위를 지원하는 사례. 서로 다른 설비 데이터의 품질과 식별자를 맞추는 기반 작업이 주요 전제.",</a:t>
            </a:r>
          </a:p>
          <a:p xmlns:a="http://schemas.openxmlformats.org/drawingml/2006/main">
            <a:r>
              <a:t>      "설비 ID에 관측·위치·고장·정비 이력을 연결하고 이상 신호를 합쳐 점검 후보를 만드는 구조. 위험 순위는 현장 담당자의 확인 후 정비계획으로 전환하고 실제 결함 여부를 환류.",</a:t>
            </a:r>
          </a:p>
          <a:p xmlns:a="http://schemas.openxmlformats.org/drawingml/2006/main">
            <a:r>
              <a:t>      "CCK에서는 이상 경보를 정비 완료로 처리하지 않는 상태 모델을 적용. 누락 설비, 관측 결측, 실제 결함과 오경보, 점검 후 조치 완료를 함께 추적하는 TS 후속 업무 설계."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"설비 상태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"설비관리자·현장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"위치·고장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"설비·위치·고장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"다종 관측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"설비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신호 결합",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"서로 다른 관측자료의 이상 신호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"누락 설비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"누락 설비·중요 결함 별도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점검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"설비의 여러 관측 신호로 정비 우선순위를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 우선순위",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현장 점검·정비계획으로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"결함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판정과 실제 결함을 다음 분석에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"관측·설비대장",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"설비·이상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"설비 식별자 통합",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"설비 ID 기준 관측·상태·정비 이력 통합",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"우선순위 근거와 현장 확인·정비 결과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"설비 관리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"데이터 지연·상충 신호·정비 완료 이력 누락",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"설비·위치·고장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"설비 관측",</a:t>
            </a:r>
          </a:p>
          <a:p xmlns:a="http://schemas.openxmlformats.org/drawingml/2006/main">
            <a:r>
              <a:t>          "check": "누락 설비·중요 결함 별도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"이상 징후",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"데이터 지연·상충 신호·정비 완료 이력 누락"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"위험 후보를 현장 점검·정비계획으로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"조치·재점검",</a:t>
            </a:r>
          </a:p>
          <a:p xmlns:a="http://schemas.openxmlformats.org/drawingml/2006/main">
            <a:r>
              <a:t>          "check":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"설비 데이터 통합에 기반한 철도 예방정비 / 이상 징후·우선순위·정비 계획",</a:t>
            </a:r>
          </a:p>
          <a:p xmlns:a="http://schemas.openxmlformats.org/drawingml/2006/main">
            <a:r>
              <a:t>        "extension": "TS 점검 계획의 위험 근거·소관·이력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"데이터 지연·상충 신호·정비 완료 이력 누락",</a:t>
            </a:r>
          </a:p>
          <a:p xmlns:a="http://schemas.openxmlformats.org/drawingml/2006/main">
            <a:r>
              <a:t>        "hold": "누락 설비·중요 결함 별도 평가",</a:t>
            </a:r>
          </a:p>
          <a:p xmlns:a="http://schemas.openxmlformats.org/drawingml/2006/main">
            <a:r>
              <a:t>        "recovery": "현장 판정과 실제 결함을 다음 분석에 반영",</a:t>
            </a:r>
          </a:p>
          <a:p xmlns:a="http://schemas.openxmlformats.org/drawingml/2006/main">
            <a:r>
              <a:t>        "evidence": "우선순위 근거와 현장 확인·정비 결과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"설비·이상 이력",</a:t>
            </a:r>
          </a:p>
          <a:p xmlns:a="http://schemas.openxmlformats.org/drawingml/2006/main">
            <a:r>
              <a:t>        "prepare": "설비 ID 기준 관측·상태·정비 이력 통합",</a:t>
            </a:r>
          </a:p>
          <a:p xmlns:a="http://schemas.openxmlformats.org/drawingml/2006/main">
            <a:r>
              <a:t>        "output": "설비 관측",</a:t>
            </a:r>
          </a:p>
          <a:p xmlns:a="http://schemas.openxmlformats.org/drawingml/2006/main">
            <a:r>
              <a:t>        "refresh": "현장 판정과 실제 결함을 다음 분석에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"여러 설비 자료의 통합 분석",</a:t>
            </a:r>
          </a:p>
          <a:p xmlns:a="http://schemas.openxmlformats.org/drawingml/2006/main">
            <a:r>
              <a:t>      "정비 우선순위와 현장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"설비별 데이터 품질 차이",</a:t>
            </a:r>
          </a:p>
          <a:p xmlns:a="http://schemas.openxmlformats.org/drawingml/2006/main">
            <a:r>
              <a:t>      "권고를 정비 완료로 간주하는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"설비·검측 수집",</a:t>
            </a:r>
          </a:p>
          <a:p xmlns:a="http://schemas.openxmlformats.org/drawingml/2006/main">
            <a:r>
              <a:t>      "Insight 분석",</a:t>
            </a:r>
          </a:p>
          <a:p xmlns:a="http://schemas.openxmlformats.org/drawingml/2006/main">
            <a:r>
              <a:t>      "설비·이상 이력",</a:t>
            </a:r>
          </a:p>
          <a:p xmlns:a="http://schemas.openxmlformats.org/drawingml/2006/main">
            <a:r>
              <a:t>      "유지관리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"조치·재점검"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"누락 설비·중요 결함 별도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Network Rail Insight · 운영기관 / 2023-12-22 https://www.networkrail.co.uk/stories/using-artificial-intelligence-to-create-a-better-railway/</a:t>
            </a:r>
          </a:p>
          <a:p xmlns:a="http://schemas.openxmlformats.org/drawingml/2006/main">
            <a:r>
              <a:t>홈페이지 https://heen1987-ops.github.io/TS-business-Plan-001/index.html?view=casebook&amp;case=AX18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"title": "Network Rail Insight",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"철도 예지정비",</a:t>
            </a:r>
          </a:p>
          <a:p xmlns:a="http://schemas.openxmlformats.org/drawingml/2006/main">
            <a:r>
              <a:t>    "period": "2023 운영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예지정비"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"설비 데이터와 AI 분석을 결합하여 철도 유지관리의 이상 징후·우선순위 검토 지원",</a:t>
            </a:r>
          </a:p>
          <a:p xmlns:a="http://schemas.openxmlformats.org/drawingml/2006/main">
            <a:r>
              <a:t>    "limit": "철도 운영사 사례 · TS의 검사·감독 책임 범위에 맞춘 현지화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"설비·검측 자료",</a:t>
            </a:r>
          </a:p>
          <a:p xmlns:a="http://schemas.openxmlformats.org/drawingml/2006/main">
            <a:r>
              <a:t>      "AI 이상 분석",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"담당자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"설비별 위험 근거 묶음·담당 배정·기한 관리",</a:t>
            </a:r>
          </a:p>
          <a:p xmlns:a="http://schemas.openxmlformats.org/drawingml/2006/main">
            <a:r>
              <a:t>    "test": "결측·상충 신호·미조치 건 우선순위 검증",</a:t>
            </a:r>
          </a:p>
          <a:p xmlns:a="http://schemas.openxmlformats.org/drawingml/2006/main">
            <a:r>
              <a:t>    "metric": "점검 준비시간 / 미조치 추적률",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"canonicalId": "AX18",</a:t>
            </a:r>
          </a:p>
          <a:p xmlns:a="http://schemas.openxmlformats.org/drawingml/2006/main">
            <a:r>
              <a:t>    "purpose": "설비 데이터 통합에 기반한 철도 예방정비",</a:t>
            </a:r>
          </a:p>
          <a:p xmlns:a="http://schemas.openxmlformats.org/drawingml/2006/main">
            <a:r>
              <a:t>    "users": "설비관리자·현장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"우선순위",</a:t>
            </a:r>
          </a:p>
          <a:p xmlns:a="http://schemas.openxmlformats.org/drawingml/2006/main">
            <a:r>
              <a:t>      "정비 계획"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"설비·검측 수집",</a:t>
            </a:r>
          </a:p>
          <a:p xmlns:a="http://schemas.openxmlformats.org/drawingml/2006/main">
            <a:r>
              <a:t>        "detail": "설비·위치·고장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"이상 징후 / 우선순위 / 정비 계획",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"Insight 분석",</a:t>
            </a:r>
          </a:p>
          <a:p xmlns:a="http://schemas.openxmlformats.org/drawingml/2006/main">
            <a:r>
              <a:t>        "detail": "서로 다른 관측자료의 이상 신호 결합",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"유지관리 담당",</a:t>
            </a:r>
          </a:p>
          <a:p xmlns:a="http://schemas.openxmlformats.org/drawingml/2006/main">
            <a:r>
              <a:t>        "detail": "위험 후보를 현장 점검·정비계획으로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"설비·이상 이력",</a:t>
            </a:r>
          </a:p>
          <a:p xmlns:a="http://schemas.openxmlformats.org/drawingml/2006/main">
            <a:r>
              <a:t>        "detail": "설비 ID 기준 관측·상태·정비 이력 통합",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판정과 실제 결함을 다음 분석에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"설비·검측 자료",</a:t>
            </a:r>
          </a:p>
          <a:p xmlns:a="http://schemas.openxmlformats.org/drawingml/2006/main">
            <a:r>
              <a:t>        "input": "설비·위치·고장 맥락 지정",</a:t>
            </a:r>
          </a:p>
          <a:p xmlns:a="http://schemas.openxmlformats.org/drawingml/2006/main">
            <a:r>
              <a:t>        "process": "설비 ID 기준 관측·상태·정비 이력 통합",</a:t>
            </a:r>
          </a:p>
          <a:p xmlns:a="http://schemas.openxmlformats.org/drawingml/2006/main">
            <a:r>
              <a:t>        "output": "설비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이상 분석",</a:t>
            </a:r>
          </a:p>
          <a:p xmlns:a="http://schemas.openxmlformats.org/drawingml/2006/main">
            <a:r>
              <a:t>        "input": "설비 관측",</a:t>
            </a:r>
          </a:p>
          <a:p xmlns:a="http://schemas.openxmlformats.org/drawingml/2006/main">
            <a:r>
              <a:t>        "process": "서로 다른 관측자료의 이상 신호 결합",</a:t>
            </a:r>
          </a:p>
          <a:p xmlns:a="http://schemas.openxmlformats.org/drawingml/2006/main">
            <a:r>
              <a:t>        "output": "이상 징후"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 우선순위",</a:t>
            </a:r>
          </a:p>
          <a:p xmlns:a="http://schemas.openxmlformats.org/drawingml/2006/main">
            <a:r>
              <a:t>        "input": "이상 징후",</a:t>
            </a:r>
          </a:p>
          <a:p xmlns:a="http://schemas.openxmlformats.org/drawingml/2006/main">
            <a:r>
              <a:t>        "process": "누락 설비·중요 결함 별도 평가",</a:t>
            </a:r>
          </a:p>
          <a:p xmlns:a="http://schemas.openxmlformats.org/drawingml/2006/main">
            <a:r>
              <a:t>        "output": "정비 우선순위"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조치",</a:t>
            </a:r>
          </a:p>
          <a:p xmlns:a="http://schemas.openxmlformats.org/drawingml/2006/main">
            <a:r>
              <a:t>        "input": "정비 우선순위",</a:t>
            </a:r>
          </a:p>
          <a:p xmlns:a="http://schemas.openxmlformats.org/drawingml/2006/main">
            <a:r>
              <a:t>        "process": "위험 후보를 현장 점검·정비계획으로 연결",</a:t>
            </a:r>
          </a:p>
          <a:p xmlns:a="http://schemas.openxmlformats.org/drawingml/2006/main">
            <a:r>
              <a:t>        "output": "조치·재점검"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"설비의 여러 관측 신호로 정비 우선순위를 검토",</a:t>
            </a:r>
          </a:p>
          <a:p xmlns:a="http://schemas.openxmlformats.org/drawingml/2006/main">
            <a:r>
              <a:t>      "exception": "데이터 지연·상충 신호·정비 완료 이력 누락",</a:t>
            </a:r>
          </a:p>
          <a:p xmlns:a="http://schemas.openxmlformats.org/drawingml/2006/main">
            <a:r>
              <a:t>      "evidence": "우선순위 근거와 현장 확인·정비 결과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"설비관리자·현장 유지보수 담당",</a:t>
            </a:r>
          </a:p>
          <a:p xmlns:a="http://schemas.openxmlformats.org/drawingml/2006/main">
            <a:r>
              <a:t>          "processing": "설비·위치·고장 맥락 지정",</a:t>
            </a:r>
          </a:p>
          <a:p xmlns:a="http://schemas.openxmlformats.org/drawingml/2006/main">
            <a:r>
              <a:t>          "output": "설비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"설비·이상 이력",</a:t>
            </a:r>
          </a:p>
          <a:p xmlns:a="http://schemas.openxmlformats.org/drawingml/2006/main">
            <a:r>
              <a:t>          "processing": "설비 ID 기준 관측·상태·정비 이력 통합",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"설비 관측",</a:t>
            </a:r>
          </a:p>
          <a:p xmlns:a="http://schemas.openxmlformats.org/drawingml/2006/main">
            <a:r>
              <a:t>          "processing": "서로 다른 관측자료의 이상 신호 결합",</a:t>
            </a:r>
          </a:p>
          <a:p xmlns:a="http://schemas.openxmlformats.org/drawingml/2006/main">
            <a:r>
              <a:t>          "output": "정비 우선순위"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"정비 우선순위",</a:t>
            </a:r>
          </a:p>
          <a:p xmlns:a="http://schemas.openxmlformats.org/drawingml/2006/main">
            <a:r>
              <a:t>          "processing": "위험 후보를 현장 점검·정비계획으로 연결",</a:t>
            </a:r>
          </a:p>
          <a:p xmlns:a="http://schemas.openxmlformats.org/drawingml/2006/main">
            <a:r>
              <a:t>          "output": "조치·재점검"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판정과 실제 결함을 다음 분석에 반영",</a:t>
            </a:r>
          </a:p>
          <a:p xmlns:a="http://schemas.openxmlformats.org/drawingml/2006/main">
            <a:r>
              <a:t>          "output":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판정과 실제 결함을 다음 분석에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"S-AX18",</a:t>
            </a:r>
          </a:p>
          <a:p xmlns:a="http://schemas.openxmlformats.org/drawingml/2006/main">
            <a:r>
              <a:t>        "title": "Network Rail Insight · 운영기관 / 2023-12-22",</a:t>
            </a:r>
          </a:p>
          <a:p xmlns:a="http://schemas.openxmlformats.org/drawingml/2006/main">
            <a:r>
              <a:t>        "url": "https://www.networkrail.co.uk/stories/using-artificial-intelligence-to-create-a-better-railway/",</a:t>
            </a:r>
          </a:p>
          <a:p xmlns:a="http://schemas.openxmlformats.org/drawingml/2006/main">
            <a:r>
              <a:t>        "published": "2023 운영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"여러 철도 설비의 관측 자료를 통합해 예방정비 우선순위를 지원하는 사례. 서로 다른 설비 데이터의 품질과 식별자를 맞추는 기반 작업이 주요 전제.",</a:t>
            </a:r>
          </a:p>
          <a:p xmlns:a="http://schemas.openxmlformats.org/drawingml/2006/main">
            <a:r>
              <a:t>      "설비 ID에 관측·위치·고장·정비 이력을 연결하고 이상 신호를 합쳐 점검 후보를 만드는 구조. 위험 순위는 현장 담당자의 확인 후 정비계획으로 전환하고 실제 결함 여부를 환류.",</a:t>
            </a:r>
          </a:p>
          <a:p xmlns:a="http://schemas.openxmlformats.org/drawingml/2006/main">
            <a:r>
              <a:t>      "CCK에서는 이상 경보를 정비 완료로 처리하지 않는 상태 모델을 적용. 누락 설비, 관측 결측, 실제 결함과 오경보, 점검 후 조치 완료를 함께 추적하는 TS 후속 업무 설계."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"설비 상태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"설비관리자·현장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"위치·고장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"설비·위치·고장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"다종 관측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"설비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신호 결합",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"서로 다른 관측자료의 이상 신호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"누락 설비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"누락 설비·중요 결함 별도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점검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"설비의 여러 관측 신호로 정비 우선순위를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 우선순위",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현장 점검·정비계획으로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"결함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판정과 실제 결함을 다음 분석에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"관측·설비대장",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"설비·이상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"설비 식별자 통합",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"설비 ID 기준 관측·상태·정비 이력 통합",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"우선순위 근거와 현장 확인·정비 결과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"설비 관리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"데이터 지연·상충 신호·정비 완료 이력 누락",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"설비·위치·고장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"설비 관측",</a:t>
            </a:r>
          </a:p>
          <a:p xmlns:a="http://schemas.openxmlformats.org/drawingml/2006/main">
            <a:r>
              <a:t>          "check": "누락 설비·중요 결함 별도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"이상 징후",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"데이터 지연·상충 신호·정비 완료 이력 누락"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"위험 후보를 현장 점검·정비계획으로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"조치·재점검",</a:t>
            </a:r>
          </a:p>
          <a:p xmlns:a="http://schemas.openxmlformats.org/drawingml/2006/main">
            <a:r>
              <a:t>          "check":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"설비 데이터 통합에 기반한 철도 예방정비 / 이상 징후·우선순위·정비 계획",</a:t>
            </a:r>
          </a:p>
          <a:p xmlns:a="http://schemas.openxmlformats.org/drawingml/2006/main">
            <a:r>
              <a:t>        "extension": "TS 점검 계획의 위험 근거·소관·이력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"데이터 지연·상충 신호·정비 완료 이력 누락",</a:t>
            </a:r>
          </a:p>
          <a:p xmlns:a="http://schemas.openxmlformats.org/drawingml/2006/main">
            <a:r>
              <a:t>        "hold": "누락 설비·중요 결함 별도 평가",</a:t>
            </a:r>
          </a:p>
          <a:p xmlns:a="http://schemas.openxmlformats.org/drawingml/2006/main">
            <a:r>
              <a:t>        "recovery": "현장 판정과 실제 결함을 다음 분석에 반영",</a:t>
            </a:r>
          </a:p>
          <a:p xmlns:a="http://schemas.openxmlformats.org/drawingml/2006/main">
            <a:r>
              <a:t>        "evidence": "우선순위 근거와 현장 확인·정비 결과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"설비·이상 이력",</a:t>
            </a:r>
          </a:p>
          <a:p xmlns:a="http://schemas.openxmlformats.org/drawingml/2006/main">
            <a:r>
              <a:t>        "prepare": "설비 ID 기준 관측·상태·정비 이력 통합",</a:t>
            </a:r>
          </a:p>
          <a:p xmlns:a="http://schemas.openxmlformats.org/drawingml/2006/main">
            <a:r>
              <a:t>        "output": "설비 관측",</a:t>
            </a:r>
          </a:p>
          <a:p xmlns:a="http://schemas.openxmlformats.org/drawingml/2006/main">
            <a:r>
              <a:t>        "refresh": "현장 판정과 실제 결함을 다음 분석에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"여러 설비 자료의 통합 분석",</a:t>
            </a:r>
          </a:p>
          <a:p xmlns:a="http://schemas.openxmlformats.org/drawingml/2006/main">
            <a:r>
              <a:t>      "정비 우선순위와 현장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"설비별 데이터 품질 차이",</a:t>
            </a:r>
          </a:p>
          <a:p xmlns:a="http://schemas.openxmlformats.org/drawingml/2006/main">
            <a:r>
              <a:t>      "권고를 정비 완료로 간주하는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"설비·검측 수집",</a:t>
            </a:r>
          </a:p>
          <a:p xmlns:a="http://schemas.openxmlformats.org/drawingml/2006/main">
            <a:r>
              <a:t>      "Insight 분석",</a:t>
            </a:r>
          </a:p>
          <a:p xmlns:a="http://schemas.openxmlformats.org/drawingml/2006/main">
            <a:r>
              <a:t>      "설비·이상 이력",</a:t>
            </a:r>
          </a:p>
          <a:p xmlns:a="http://schemas.openxmlformats.org/drawingml/2006/main">
            <a:r>
              <a:t>      "유지관리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"조치·재점검"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"누락 설비·중요 결함 별도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Network Rail Insight · 운영기관 / 2023-12-22 https://www.networkrail.co.uk/stories/using-artificial-intelligence-to-create-a-better-railway/</a:t>
            </a:r>
          </a:p>
          <a:p xmlns:a="http://schemas.openxmlformats.org/drawingml/2006/main">
            <a:r>
              <a:t>홈페이지 https://heen1987-ops.github.io/TS-business-Plan-001/index.html?view=casebook&amp;case=AX18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"title": "Network Rail Insight",</a:t>
            </a:r>
          </a:p>
          <a:p xmlns:a="http://schemas.openxmlformats.org/drawingml/2006/main">
            <a:r>
              <a:t>    "region": "해외",</a:t>
            </a:r>
          </a:p>
          <a:p xmlns:a="http://schemas.openxmlformats.org/drawingml/2006/main">
            <a:r>
              <a:t>    "country": "영국",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"철도 예지정비",</a:t>
            </a:r>
          </a:p>
          <a:p xmlns:a="http://schemas.openxmlformats.org/drawingml/2006/main">
            <a:r>
              <a:t>    "period": "2023 운영 소개",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"S-AX18"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"철도 예지정비"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"설비 데이터와 AI 분석을 결합하여 철도 유지관리의 이상 징후·우선순위 검토 지원",</a:t>
            </a:r>
          </a:p>
          <a:p xmlns:a="http://schemas.openxmlformats.org/drawingml/2006/main">
            <a:r>
              <a:t>    "limit": "철도 운영사 사례 · TS의 검사·감독 책임 범위에 맞춘 현지화 필요",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"설비·검측 자료",</a:t>
            </a:r>
          </a:p>
          <a:p xmlns:a="http://schemas.openxmlformats.org/drawingml/2006/main">
            <a:r>
              <a:t>      "AI 이상 분석",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"담당자 조치"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"설비별 위험 근거 묶음·담당 배정·기한 관리",</a:t>
            </a:r>
          </a:p>
          <a:p xmlns:a="http://schemas.openxmlformats.org/drawingml/2006/main">
            <a:r>
              <a:t>    "test": "결측·상충 신호·미조치 건 우선순위 검증",</a:t>
            </a:r>
          </a:p>
          <a:p xmlns:a="http://schemas.openxmlformats.org/drawingml/2006/main">
            <a:r>
              <a:t>    "metric": "점검 준비시간 / 미조치 추적률",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"canonicalId": "AX18",</a:t>
            </a:r>
          </a:p>
          <a:p xmlns:a="http://schemas.openxmlformats.org/drawingml/2006/main">
            <a:r>
              <a:t>    "purpose": "설비 데이터 통합에 기반한 철도 예방정비",</a:t>
            </a:r>
          </a:p>
          <a:p xmlns:a="http://schemas.openxmlformats.org/drawingml/2006/main">
            <a:r>
              <a:t>    "users": "설비관리자·현장 유지보수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"우선순위",</a:t>
            </a:r>
          </a:p>
          <a:p xmlns:a="http://schemas.openxmlformats.org/drawingml/2006/main">
            <a:r>
              <a:t>      "정비 계획"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"설비·검측 수집",</a:t>
            </a:r>
          </a:p>
          <a:p xmlns:a="http://schemas.openxmlformats.org/drawingml/2006/main">
            <a:r>
              <a:t>        "detail": "설비·위치·고장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"이상 징후 / 우선순위 / 정비 계획",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"Insight 분석",</a:t>
            </a:r>
          </a:p>
          <a:p xmlns:a="http://schemas.openxmlformats.org/drawingml/2006/main">
            <a:r>
              <a:t>        "detail": "서로 다른 관측자료의 이상 신호 결합",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"유지관리 담당",</a:t>
            </a:r>
          </a:p>
          <a:p xmlns:a="http://schemas.openxmlformats.org/drawingml/2006/main">
            <a:r>
              <a:t>        "detail": "위험 후보를 현장 점검·정비계획으로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"설비·이상 이력",</a:t>
            </a:r>
          </a:p>
          <a:p xmlns:a="http://schemas.openxmlformats.org/drawingml/2006/main">
            <a:r>
              <a:t>        "detail": "설비 ID 기준 관측·상태·정비 이력 통합",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"현장 판정과 실제 결함을 다음 분석에 반영",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"설비·검측 자료",</a:t>
            </a:r>
          </a:p>
          <a:p xmlns:a="http://schemas.openxmlformats.org/drawingml/2006/main">
            <a:r>
              <a:t>        "input": "설비·위치·고장 맥락 지정",</a:t>
            </a:r>
          </a:p>
          <a:p xmlns:a="http://schemas.openxmlformats.org/drawingml/2006/main">
            <a:r>
              <a:t>        "process": "설비 ID 기준 관측·상태·정비 이력 통합",</a:t>
            </a:r>
          </a:p>
          <a:p xmlns:a="http://schemas.openxmlformats.org/drawingml/2006/main">
            <a:r>
              <a:t>        "output": "설비 관측"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"AI 이상 분석",</a:t>
            </a:r>
          </a:p>
          <a:p xmlns:a="http://schemas.openxmlformats.org/drawingml/2006/main">
            <a:r>
              <a:t>        "input": "설비 관측",</a:t>
            </a:r>
          </a:p>
          <a:p xmlns:a="http://schemas.openxmlformats.org/drawingml/2006/main">
            <a:r>
              <a:t>        "process": "서로 다른 관측자료의 이상 신호 결합",</a:t>
            </a:r>
          </a:p>
          <a:p xmlns:a="http://schemas.openxmlformats.org/drawingml/2006/main">
            <a:r>
              <a:t>        "output": "이상 징후"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"정비 우선순위",</a:t>
            </a:r>
          </a:p>
          <a:p xmlns:a="http://schemas.openxmlformats.org/drawingml/2006/main">
            <a:r>
              <a:t>        "input": "이상 징후",</a:t>
            </a:r>
          </a:p>
          <a:p xmlns:a="http://schemas.openxmlformats.org/drawingml/2006/main">
            <a:r>
              <a:t>        "process": "누락 설비·중요 결함 별도 평가",</a:t>
            </a:r>
          </a:p>
          <a:p xmlns:a="http://schemas.openxmlformats.org/drawingml/2006/main">
            <a:r>
              <a:t>        "output": "정비 우선순위"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조치",</a:t>
            </a:r>
          </a:p>
          <a:p xmlns:a="http://schemas.openxmlformats.org/drawingml/2006/main">
            <a:r>
              <a:t>        "input": "정비 우선순위",</a:t>
            </a:r>
          </a:p>
          <a:p xmlns:a="http://schemas.openxmlformats.org/drawingml/2006/main">
            <a:r>
              <a:t>        "process": "위험 후보를 현장 점검·정비계획으로 연결",</a:t>
            </a:r>
          </a:p>
          <a:p xmlns:a="http://schemas.openxmlformats.org/drawingml/2006/main">
            <a:r>
              <a:t>        "output": "조치·재점검"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"설비의 여러 관측 신호로 정비 우선순위를 검토",</a:t>
            </a:r>
          </a:p>
          <a:p xmlns:a="http://schemas.openxmlformats.org/drawingml/2006/main">
            <a:r>
              <a:t>      "exception": "데이터 지연·상충 신호·정비 완료 이력 누락",</a:t>
            </a:r>
          </a:p>
          <a:p xmlns:a="http://schemas.openxmlformats.org/drawingml/2006/main">
            <a:r>
              <a:t>      "evidence": "우선순위 근거와 현장 확인·정비 결과 대사",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"설비관리자·현장 유지보수 담당",</a:t>
            </a:r>
          </a:p>
          <a:p xmlns:a="http://schemas.openxmlformats.org/drawingml/2006/main">
            <a:r>
              <a:t>          "processing": "설비·위치·고장 맥락 지정",</a:t>
            </a:r>
          </a:p>
          <a:p xmlns:a="http://schemas.openxmlformats.org/drawingml/2006/main">
            <a:r>
              <a:t>          "output": "설비 관측"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"설비·이상 이력",</a:t>
            </a:r>
          </a:p>
          <a:p xmlns:a="http://schemas.openxmlformats.org/drawingml/2006/main">
            <a:r>
              <a:t>          "processing": "설비 ID 기준 관측·상태·정비 이력 통합",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"설비 관측",</a:t>
            </a:r>
          </a:p>
          <a:p xmlns:a="http://schemas.openxmlformats.org/drawingml/2006/main">
            <a:r>
              <a:t>          "processing": "서로 다른 관측자료의 이상 신호 결합",</a:t>
            </a:r>
          </a:p>
          <a:p xmlns:a="http://schemas.openxmlformats.org/drawingml/2006/main">
            <a:r>
              <a:t>          "output": "정비 우선순위"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"정비 우선순위",</a:t>
            </a:r>
          </a:p>
          <a:p xmlns:a="http://schemas.openxmlformats.org/drawingml/2006/main">
            <a:r>
              <a:t>          "processing": "위험 후보를 현장 점검·정비계획으로 연결",</a:t>
            </a:r>
          </a:p>
          <a:p xmlns:a="http://schemas.openxmlformats.org/drawingml/2006/main">
            <a:r>
              <a:t>          "output": "조치·재점검"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"현장 판정과 실제 결함을 다음 분석에 반영",</a:t>
            </a:r>
          </a:p>
          <a:p xmlns:a="http://schemas.openxmlformats.org/drawingml/2006/main">
            <a:r>
              <a:t>          "output":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"현장 판정과 실제 결함을 다음 분석에 반영",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"S-AX18",</a:t>
            </a:r>
          </a:p>
          <a:p xmlns:a="http://schemas.openxmlformats.org/drawingml/2006/main">
            <a:r>
              <a:t>        "title": "Network Rail Insight · 운영기관 / 2023-12-22",</a:t>
            </a:r>
          </a:p>
          <a:p xmlns:a="http://schemas.openxmlformats.org/drawingml/2006/main">
            <a:r>
              <a:t>        "url": "https://www.networkrail.co.uk/stories/using-artificial-intelligence-to-create-a-better-railway/",</a:t>
            </a:r>
          </a:p>
          <a:p xmlns:a="http://schemas.openxmlformats.org/drawingml/2006/main">
            <a:r>
              <a:t>        "published": "2023 운영 소개",</a:t>
            </a:r>
          </a:p>
          <a:p xmlns:a="http://schemas.openxmlformats.org/drawingml/2006/main">
            <a:r>
              <a:t>        "level": "공식·1차 출처",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예측과 정비 의사결정의 연결",</a:t>
            </a:r>
          </a:p>
          <a:p xmlns:a="http://schemas.openxmlformats.org/drawingml/2006/main">
            <a:r>
              <a:t>    "local": "TS 점검 계획의 위험 근거·소관·이력 연결",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"여러 철도 설비의 관측 자료를 통합해 예방정비 우선순위를 지원하는 사례. 서로 다른 설비 데이터의 품질과 식별자를 맞추는 기반 작업이 주요 전제.",</a:t>
            </a:r>
          </a:p>
          <a:p xmlns:a="http://schemas.openxmlformats.org/drawingml/2006/main">
            <a:r>
              <a:t>      "설비 ID에 관측·위치·고장·정비 이력을 연결하고 이상 신호를 합쳐 점검 후보를 만드는 구조. 위험 순위는 현장 담당자의 확인 후 정비계획으로 전환하고 실제 결함 여부를 환류.",</a:t>
            </a:r>
          </a:p>
          <a:p xmlns:a="http://schemas.openxmlformats.org/drawingml/2006/main">
            <a:r>
              <a:t>      "CCK에서는 이상 경보를 정비 완료로 처리하지 않는 상태 모델을 적용. 누락 설비, 관측 결측, 실제 결함과 오경보, 점검 후 조치 완료를 함께 추적하는 TS 후속 업무 설계."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"설비 상태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"설비관리자·현장 유지보수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"위치·고장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"설비·위치·고장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"다종 관측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"설비 관측",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"이상 신호 결합",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"서로 다른 관측자료의 이상 신호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"누락 설비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"누락 설비·중요 결함 별도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점검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"설비의 여러 관측 신호로 정비 우선순위를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"정비 우선순위",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현장 점검·정비계획으로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"결함 결과 환류",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"현장 판정과 실제 결함을 다음 분석에 반영",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"관측·설비대장",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"설비·이상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"설비 식별자 통합",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"설비 ID 기준 관측·상태·정비 이력 통합",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"상태·정비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"우선순위 근거와 현장 확인·정비 결과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"설비 관리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"데이터 지연·상충 신호·정비 완료 이력 누락",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"설비·위치·고장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"설비 관측",</a:t>
            </a:r>
          </a:p>
          <a:p xmlns:a="http://schemas.openxmlformats.org/drawingml/2006/main">
            <a:r>
              <a:t>          "check": "누락 설비·중요 결함 별도 평가"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"이상 징후",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"데이터 지연·상충 신호·정비 완료 이력 누락"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"정비 우선순위",</a:t>
            </a:r>
          </a:p>
          <a:p xmlns:a="http://schemas.openxmlformats.org/drawingml/2006/main">
            <a:r>
              <a:t>          "check": "위험 후보를 현장 점검·정비계획으로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"조치·재점검",</a:t>
            </a:r>
          </a:p>
          <a:p xmlns:a="http://schemas.openxmlformats.org/drawingml/2006/main">
            <a:r>
              <a:t>          "check": "우선순위 근거와 현장 확인·정비 결과 대사"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"설비 데이터 통합에 기반한 철도 예방정비 / 이상 징후·우선순위·정비 계획",</a:t>
            </a:r>
          </a:p>
          <a:p xmlns:a="http://schemas.openxmlformats.org/drawingml/2006/main">
            <a:r>
              <a:t>        "extension": "TS 점검 계획의 위험 근거·소관·이력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"데이터 지연·상충 신호·정비 완료 이력 누락",</a:t>
            </a:r>
          </a:p>
          <a:p xmlns:a="http://schemas.openxmlformats.org/drawingml/2006/main">
            <a:r>
              <a:t>        "hold": "누락 설비·중요 결함 별도 평가",</a:t>
            </a:r>
          </a:p>
          <a:p xmlns:a="http://schemas.openxmlformats.org/drawingml/2006/main">
            <a:r>
              <a:t>        "recovery": "현장 판정과 실제 결함을 다음 분석에 반영",</a:t>
            </a:r>
          </a:p>
          <a:p xmlns:a="http://schemas.openxmlformats.org/drawingml/2006/main">
            <a:r>
              <a:t>        "evidence": "우선순위 근거와 현장 확인·정비 결과 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"설비·이상 이력",</a:t>
            </a:r>
          </a:p>
          <a:p xmlns:a="http://schemas.openxmlformats.org/drawingml/2006/main">
            <a:r>
              <a:t>        "prepare": "설비 ID 기준 관측·상태·정비 이력 통합",</a:t>
            </a:r>
          </a:p>
          <a:p xmlns:a="http://schemas.openxmlformats.org/drawingml/2006/main">
            <a:r>
              <a:t>        "output": "설비 관측",</a:t>
            </a:r>
          </a:p>
          <a:p xmlns:a="http://schemas.openxmlformats.org/drawingml/2006/main">
            <a:r>
              <a:t>        "refresh": "현장 판정과 실제 결함을 다음 분석에 반영"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"AX18",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"여러 설비 자료의 통합 분석",</a:t>
            </a:r>
          </a:p>
          <a:p xmlns:a="http://schemas.openxmlformats.org/drawingml/2006/main">
            <a:r>
              <a:t>      "정비 우선순위와 현장 조치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"설비별 데이터 품질 차이",</a:t>
            </a:r>
          </a:p>
          <a:p xmlns:a="http://schemas.openxmlformats.org/drawingml/2006/main">
            <a:r>
              <a:t>      "권고를 정비 완료로 간주하는 위험"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"설비·검측 수집",</a:t>
            </a:r>
          </a:p>
          <a:p xmlns:a="http://schemas.openxmlformats.org/drawingml/2006/main">
            <a:r>
              <a:t>      "Insight 분석",</a:t>
            </a:r>
          </a:p>
          <a:p xmlns:a="http://schemas.openxmlformats.org/drawingml/2006/main">
            <a:r>
              <a:t>      "설비·이상 이력",</a:t>
            </a:r>
          </a:p>
          <a:p xmlns:a="http://schemas.openxmlformats.org/drawingml/2006/main">
            <a:r>
              <a:t>      "유지관리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"설비 관측",</a:t>
            </a:r>
          </a:p>
          <a:p xmlns:a="http://schemas.openxmlformats.org/drawingml/2006/main">
            <a:r>
              <a:t>      "이상 징후",</a:t>
            </a:r>
          </a:p>
          <a:p xmlns:a="http://schemas.openxmlformats.org/drawingml/2006/main">
            <a:r>
              <a:t>      "정비 우선순위",</a:t>
            </a:r>
          </a:p>
          <a:p xmlns:a="http://schemas.openxmlformats.org/drawingml/2006/main">
            <a:r>
              <a:t>      "조치·재점검"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"누락 설비·중요 결함 별도 평가",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Network Rail Insight · 운영기관 / 2023-12-22 https://www.networkrail.co.uk/stories/using-artificial-intelligence-to-create-a-better-railway/</a:t>
            </a:r>
          </a:p>
          <a:p xmlns:a="http://schemas.openxmlformats.org/drawingml/2006/main">
            <a:r>
              <a:t>홈페이지 https://heen1987-ops.github.io/TS-business-Plan-001/index.html?view=casebook&amp;case=AX18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"title": "청년농업인 특화 AI 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"지역·산업 특화 지식 서비스",</a:t>
            </a:r>
          </a:p>
          <a:p xmlns:a="http://schemas.openxmlformats.org/drawingml/2006/main">
            <a:r>
              <a:t>    "period": "2024 구축 / 2025.02 개시",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"산업 특화 지식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"농업기술 앱에 초거대 AI 상담을 결합하고 전문가·청년농업인 사전 평가 후 서비스 개시",</a:t>
            </a:r>
          </a:p>
          <a:p xmlns:a="http://schemas.openxmlformats.org/drawingml/2006/main">
            <a:r>
              <a:t>    "limit": "기관 실증 사례 수록 · 정착·소득 개선 인과효과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"위치·작물 맥락",</a:t>
            </a:r>
          </a:p>
          <a:p xmlns:a="http://schemas.openxmlformats.org/drawingml/2006/main">
            <a:r>
              <a:t>      "전문 상담",</a:t>
            </a:r>
          </a:p>
          <a:p xmlns:a="http://schemas.openxmlformats.org/drawingml/2006/main">
            <a:r>
              <a:t>      "현업·이용자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"업종·지역·자격 조건·지원 절차 사전",</a:t>
            </a:r>
          </a:p>
          <a:p xmlns:a="http://schemas.openxmlformats.org/drawingml/2006/main">
            <a:r>
              <a:t>    "test": "업종·지역별 답변 근거와 신청 조건 대조",</a:t>
            </a:r>
          </a:p>
          <a:p xmlns:a="http://schemas.openxmlformats.org/drawingml/2006/main">
            <a:r>
              <a:t>    "metric": "정보 탐색시간 / 조건 오안내율",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"canonicalId": "AX19",</a:t>
            </a:r>
          </a:p>
          <a:p xmlns:a="http://schemas.openxmlformats.org/drawingml/2006/main">
            <a:r>
              <a:t>    "purpose": "농업 전문지식의 현장 상담 연결",</a:t>
            </a:r>
          </a:p>
          <a:p xmlns:a="http://schemas.openxmlformats.org/drawingml/2006/main">
            <a:r>
              <a:t>    "users": "청년농업인·농업 전문가",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"재배 질의",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"농업기술 앱",</a:t>
            </a:r>
          </a:p>
          <a:p xmlns:a="http://schemas.openxmlformats.org/drawingml/2006/main">
            <a:r>
              <a:t>        "detail": "작물·지역·생육단계·문제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"재배 질의 / 전문지식 / 사전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"맥락 기반 상담",</a:t>
            </a:r>
          </a:p>
          <a:p xmlns:a="http://schemas.openxmlformats.org/drawingml/2006/main">
            <a:r>
              <a:t>        "detail": "질의 관련 농업 지식의 검색·설명",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"농업인·전문가",</a:t>
            </a:r>
          </a:p>
          <a:p xmlns:a="http://schemas.openxmlformats.org/drawingml/2006/main">
            <a:r>
              <a:t>        "detail": "원문 근거 안내와 전문가 확인 경로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"detail": "기술 문서·상담자료·전문가 평가셋 정비",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"작물·상황별 오답과 현장 적용성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"input": "작물·지역·생육단계·문제 상황 확인",</a:t>
            </a:r>
          </a:p>
          <a:p xmlns:a="http://schemas.openxmlformats.org/drawingml/2006/main">
            <a:r>
              <a:t>        "process": "기술 문서·상담자료·전문가 평가셋 정비",</a:t>
            </a:r>
          </a:p>
          <a:p xmlns:a="http://schemas.openxmlformats.org/drawingml/2006/main">
            <a:r>
              <a:t>        "output": "질문·작물·위치"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"위치·작물 맥락",</a:t>
            </a:r>
          </a:p>
          <a:p xmlns:a="http://schemas.openxmlformats.org/drawingml/2006/main">
            <a:r>
              <a:t>        "input": "질문·작물·위치",</a:t>
            </a:r>
          </a:p>
          <a:p xmlns:a="http://schemas.openxmlformats.org/drawingml/2006/main">
            <a:r>
              <a:t>        "process": "질의 관련 농업 지식의 검색·설명",</a:t>
            </a:r>
          </a:p>
          <a:p xmlns:a="http://schemas.openxmlformats.org/drawingml/2006/main">
            <a:r>
              <a:t>        "output": "관련 영농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 상담",</a:t>
            </a:r>
          </a:p>
          <a:p xmlns:a="http://schemas.openxmlformats.org/drawingml/2006/main">
            <a:r>
              <a:t>        "input": "관련 영농 근거",</a:t>
            </a:r>
          </a:p>
          <a:p xmlns:a="http://schemas.openxmlformats.org/drawingml/2006/main">
            <a:r>
              <a:t>        "process": "지역·작물별 정답 및 전문가 전환",</a:t>
            </a:r>
          </a:p>
          <a:p xmlns:a="http://schemas.openxmlformats.org/drawingml/2006/main">
            <a:r>
              <a:t>        "output": "상담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"현업·이용자 평가",</a:t>
            </a:r>
          </a:p>
          <a:p xmlns:a="http://schemas.openxmlformats.org/drawingml/2006/main">
            <a:r>
              <a:t>        "input": "상담 답변",</a:t>
            </a:r>
          </a:p>
          <a:p xmlns:a="http://schemas.openxmlformats.org/drawingml/2006/main">
            <a:r>
              <a:t>        "process": "원문 근거 안내와 전문가 확인 경로 제공",</a:t>
            </a:r>
          </a:p>
          <a:p xmlns:a="http://schemas.openxmlformats.org/drawingml/2006/main">
            <a:r>
              <a:t>        "output": "이용자 검증"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"작물·지역·생육단계에 맞는 기술 지식 안내",</a:t>
            </a:r>
          </a:p>
          <a:p xmlns:a="http://schemas.openxmlformats.org/drawingml/2006/main">
            <a:r>
              <a:t>      "exception": "다른 작물 지침·증상 누락·전문가 판단이 필요한 요청",</a:t>
            </a:r>
          </a:p>
          <a:p xmlns:a="http://schemas.openxmlformats.org/drawingml/2006/main">
            <a:r>
              <a:t>      "evidence": "조건별 근거 일치와 전문가 전환 판정표",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"청년농업인·농업 전문가",</a:t>
            </a:r>
          </a:p>
          <a:p xmlns:a="http://schemas.openxmlformats.org/drawingml/2006/main">
            <a:r>
              <a:t>          "processing": "작물·지역·생육단계·문제 상황 확인",</a:t>
            </a:r>
          </a:p>
          <a:p xmlns:a="http://schemas.openxmlformats.org/drawingml/2006/main">
            <a:r>
              <a:t>          "output": "질문·작물·위치"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"영농 지식",</a:t>
            </a:r>
          </a:p>
          <a:p xmlns:a="http://schemas.openxmlformats.org/drawingml/2006/main">
            <a:r>
              <a:t>          "processing": "기술 문서·상담자료·전문가 평가셋 정비",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"질문·작물·위치",</a:t>
            </a:r>
          </a:p>
          <a:p xmlns:a="http://schemas.openxmlformats.org/drawingml/2006/main">
            <a:r>
              <a:t>          "processing": "질의 관련 농업 지식의 검색·설명",</a:t>
            </a:r>
          </a:p>
          <a:p xmlns:a="http://schemas.openxmlformats.org/drawingml/2006/main">
            <a:r>
              <a:t>          "output": "상담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"상담 답변",</a:t>
            </a:r>
          </a:p>
          <a:p xmlns:a="http://schemas.openxmlformats.org/drawingml/2006/main">
            <a:r>
              <a:t>          "processing": "원문 근거 안내와 전문가 확인 경로 제공",</a:t>
            </a:r>
          </a:p>
          <a:p xmlns:a="http://schemas.openxmlformats.org/drawingml/2006/main">
            <a:r>
              <a:t>          "output": "이용자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"작물·상황별 오답과 현장 적용성 검토",</a:t>
            </a:r>
          </a:p>
          <a:p xmlns:a="http://schemas.openxmlformats.org/drawingml/2006/main">
            <a:r>
              <a:t>          "output":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"작물·상황별 오답과 현장 적용성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"S-AX19",</a:t>
            </a:r>
          </a:p>
          <a:p xmlns:a="http://schemas.openxmlformats.org/drawingml/2006/main">
            <a:r>
              <a:t>        "title": "청년농업인 특화 AI 상담 · 공공AI 사례집 44–45쪽",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 / 2025.02 개시",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"농업인이 작물·지역·생육 상황에 맞는 전문지식을 찾도록 지원하는 상담 사례. 범용 질문 답변에 현장 문맥과 전문가 확인을 결합하는 유형.",</a:t>
            </a:r>
          </a:p>
          <a:p xmlns:a="http://schemas.openxmlformats.org/drawingml/2006/main">
            <a:r>
              <a:t>      "입력에서 작물·생육단계·지역·문제 상황을 정리한 뒤 관련 기술자료를 검색하고 원문 근거를 안내하는 구조의 재구성. 정보가 부족하거나 지역 예외가 있는 질문은 추가 확인·전문가 상담으로 연결.",</a:t>
            </a:r>
          </a:p>
          <a:p xmlns:a="http://schemas.openxmlformats.org/drawingml/2006/main">
            <a:r>
              <a:t>      "TS 업무에는 차량·시설·지역·시행일 등 도메인 문맥을 먼저 확보하는 방식으로 현지화. 평균 정답률보다 상황별 오류와 전문가 전환율, 실제 업무에 맞는 안내인지의 검토가 중요."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"영농 질의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"청년농업인·농업 전문가",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"작물·생육단계",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"작물·지역·생육단계·문제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"농업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"질문·작물·위치",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"맥락형 상담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 관련 농업 지식의 검색·설명",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"지역·상황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"지역·작물별 정답 및 전문가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"전문가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"작물·지역·생육단계에 맞는 기술 지식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"원문·상담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"원문 근거 안내와 전문가 확인 경로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"현장 적합성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"작물·상황별 오답과 현장 적용성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"기술·상담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"영농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"작물·지역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"기술 문서·상담자료·전문가 평가셋 정비",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"조건별 근거 일치와 전문가 전환 판정표",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"전문가 전환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작물 지침·증상 누락·전문가 판단이 필요한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"작물·지역·생육단계·문제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"질문·작물·위치",</a:t>
            </a:r>
          </a:p>
          <a:p xmlns:a="http://schemas.openxmlformats.org/drawingml/2006/main">
            <a:r>
              <a:t>          "check": "지역·작물별 정답 및 전문가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영농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"다른 작물 지침·증상 누락·전문가 판단이 필요한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"원문 근거 안내와 전문가 확인 경로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"이용자 검증",</a:t>
            </a:r>
          </a:p>
          <a:p xmlns:a="http://schemas.openxmlformats.org/drawingml/2006/main">
            <a:r>
              <a:t>          "check":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"농업 전문지식의 현장 상담 연결 / 재배 질의·전문지식·사전 평가",</a:t>
            </a:r>
          </a:p>
          <a:p xmlns:a="http://schemas.openxmlformats.org/drawingml/2006/main">
            <a:r>
              <a:t>        "extension": "운수사업자·지역별 안전·지원 업무 지식 구분"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작물 지침·증상 누락·전문가 판단이 필요한 요청",</a:t>
            </a:r>
          </a:p>
          <a:p xmlns:a="http://schemas.openxmlformats.org/drawingml/2006/main">
            <a:r>
              <a:t>        "hold": "지역·작물별 정답 및 전문가 전환",</a:t>
            </a:r>
          </a:p>
          <a:p xmlns:a="http://schemas.openxmlformats.org/drawingml/2006/main">
            <a:r>
              <a:t>        "recovery": "작물·상황별 오답과 현장 적용성 검토",</a:t>
            </a:r>
          </a:p>
          <a:p xmlns:a="http://schemas.openxmlformats.org/drawingml/2006/main">
            <a:r>
              <a:t>        "evidence": "조건별 근거 일치와 전문가 전환 판정표"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"영농 지식",</a:t>
            </a:r>
          </a:p>
          <a:p xmlns:a="http://schemas.openxmlformats.org/drawingml/2006/main">
            <a:r>
              <a:t>        "prepare": "기술 문서·상담자료·전문가 평가셋 정비",</a:t>
            </a:r>
          </a:p>
          <a:p xmlns:a="http://schemas.openxmlformats.org/drawingml/2006/main">
            <a:r>
              <a:t>        "output": "질문·작물·위치",</a:t>
            </a:r>
          </a:p>
          <a:p xmlns:a="http://schemas.openxmlformats.org/drawingml/2006/main">
            <a:r>
              <a:t>        "refresh": "작물·상황별 오답과 현장 적용성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"작물·위치 맥락의 전문 지식 연결",</a:t>
            </a:r>
          </a:p>
          <a:p xmlns:a="http://schemas.openxmlformats.org/drawingml/2006/main">
            <a:r>
              <a:t>      "전문가·이용자 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"지역·생육환경 예외",</a:t>
            </a:r>
          </a:p>
          <a:p xmlns:a="http://schemas.openxmlformats.org/drawingml/2006/main">
            <a:r>
              <a:t>      "상담 답변과 현장 적합성의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"농업기술 앱",</a:t>
            </a:r>
          </a:p>
          <a:p xmlns:a="http://schemas.openxmlformats.org/drawingml/2006/main">
            <a:r>
              <a:t>      "맥락 기반 상담",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"농업인·전문가"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"질문·작물·위치",</a:t>
            </a:r>
          </a:p>
          <a:p xmlns:a="http://schemas.openxmlformats.org/drawingml/2006/main">
            <a:r>
              <a:t>      "관련 영농 근거",</a:t>
            </a:r>
          </a:p>
          <a:p xmlns:a="http://schemas.openxmlformats.org/drawingml/2006/main">
            <a:r>
              <a:t>      "상담 답변",</a:t>
            </a:r>
          </a:p>
          <a:p xmlns:a="http://schemas.openxmlformats.org/drawingml/2006/main">
            <a:r>
              <a:t>      "이용자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"지역·작물별 정답 및 전문가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청년농업인 특화 AI 상담 · 공공AI 사례집 44–45쪽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https://heen1987-ops.github.io/TS-business-Plan-001/index.html?view=casebook&amp;case=AX19</a:t>
            </a:r>
          </a:p>
          <a:p xmlns:a="http://schemas.openxmlformats.org/drawingml/2006/main">
            <a:r>
              <a:t>한계: 기관 실증 사례 수록 · 정착·소득 개선 인과효과 실측과 구분</a:t>
            </a:r>
          </a:p>
          <a:p xmlns:a="http://schemas.openxmlformats.org/drawingml/2006/main">
            <a:r>
              <a:t>실패 위험: 지역·생육환경 예외 / 상담 답변과 현장 적합성의 간극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"title": "청년농업인 특화 AI 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"지역·산업 특화 지식 서비스",</a:t>
            </a:r>
          </a:p>
          <a:p xmlns:a="http://schemas.openxmlformats.org/drawingml/2006/main">
            <a:r>
              <a:t>    "period": "2024 구축 / 2025.02 개시",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"산업 특화 지식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"농업기술 앱에 초거대 AI 상담을 결합하고 전문가·청년농업인 사전 평가 후 서비스 개시",</a:t>
            </a:r>
          </a:p>
          <a:p xmlns:a="http://schemas.openxmlformats.org/drawingml/2006/main">
            <a:r>
              <a:t>    "limit": "기관 실증 사례 수록 · 정착·소득 개선 인과효과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"위치·작물 맥락",</a:t>
            </a:r>
          </a:p>
          <a:p xmlns:a="http://schemas.openxmlformats.org/drawingml/2006/main">
            <a:r>
              <a:t>      "전문 상담",</a:t>
            </a:r>
          </a:p>
          <a:p xmlns:a="http://schemas.openxmlformats.org/drawingml/2006/main">
            <a:r>
              <a:t>      "현업·이용자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"업종·지역·자격 조건·지원 절차 사전",</a:t>
            </a:r>
          </a:p>
          <a:p xmlns:a="http://schemas.openxmlformats.org/drawingml/2006/main">
            <a:r>
              <a:t>    "test": "업종·지역별 답변 근거와 신청 조건 대조",</a:t>
            </a:r>
          </a:p>
          <a:p xmlns:a="http://schemas.openxmlformats.org/drawingml/2006/main">
            <a:r>
              <a:t>    "metric": "정보 탐색시간 / 조건 오안내율",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"canonicalId": "AX19",</a:t>
            </a:r>
          </a:p>
          <a:p xmlns:a="http://schemas.openxmlformats.org/drawingml/2006/main">
            <a:r>
              <a:t>    "purpose": "농업 전문지식의 현장 상담 연결",</a:t>
            </a:r>
          </a:p>
          <a:p xmlns:a="http://schemas.openxmlformats.org/drawingml/2006/main">
            <a:r>
              <a:t>    "users": "청년농업인·농업 전문가",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"재배 질의",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"농업기술 앱",</a:t>
            </a:r>
          </a:p>
          <a:p xmlns:a="http://schemas.openxmlformats.org/drawingml/2006/main">
            <a:r>
              <a:t>        "detail": "작물·지역·생육단계·문제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"재배 질의 / 전문지식 / 사전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"맥락 기반 상담",</a:t>
            </a:r>
          </a:p>
          <a:p xmlns:a="http://schemas.openxmlformats.org/drawingml/2006/main">
            <a:r>
              <a:t>        "detail": "질의 관련 농업 지식의 검색·설명",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"농업인·전문가",</a:t>
            </a:r>
          </a:p>
          <a:p xmlns:a="http://schemas.openxmlformats.org/drawingml/2006/main">
            <a:r>
              <a:t>        "detail": "원문 근거 안내와 전문가 확인 경로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"detail": "기술 문서·상담자료·전문가 평가셋 정비",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"작물·상황별 오답과 현장 적용성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"input": "작물·지역·생육단계·문제 상황 확인",</a:t>
            </a:r>
          </a:p>
          <a:p xmlns:a="http://schemas.openxmlformats.org/drawingml/2006/main">
            <a:r>
              <a:t>        "process": "기술 문서·상담자료·전문가 평가셋 정비",</a:t>
            </a:r>
          </a:p>
          <a:p xmlns:a="http://schemas.openxmlformats.org/drawingml/2006/main">
            <a:r>
              <a:t>        "output": "질문·작물·위치"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"위치·작물 맥락",</a:t>
            </a:r>
          </a:p>
          <a:p xmlns:a="http://schemas.openxmlformats.org/drawingml/2006/main">
            <a:r>
              <a:t>        "input": "질문·작물·위치",</a:t>
            </a:r>
          </a:p>
          <a:p xmlns:a="http://schemas.openxmlformats.org/drawingml/2006/main">
            <a:r>
              <a:t>        "process": "질의 관련 농업 지식의 검색·설명",</a:t>
            </a:r>
          </a:p>
          <a:p xmlns:a="http://schemas.openxmlformats.org/drawingml/2006/main">
            <a:r>
              <a:t>        "output": "관련 영농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 상담",</a:t>
            </a:r>
          </a:p>
          <a:p xmlns:a="http://schemas.openxmlformats.org/drawingml/2006/main">
            <a:r>
              <a:t>        "input": "관련 영농 근거",</a:t>
            </a:r>
          </a:p>
          <a:p xmlns:a="http://schemas.openxmlformats.org/drawingml/2006/main">
            <a:r>
              <a:t>        "process": "지역·작물별 정답 및 전문가 전환",</a:t>
            </a:r>
          </a:p>
          <a:p xmlns:a="http://schemas.openxmlformats.org/drawingml/2006/main">
            <a:r>
              <a:t>        "output": "상담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"현업·이용자 평가",</a:t>
            </a:r>
          </a:p>
          <a:p xmlns:a="http://schemas.openxmlformats.org/drawingml/2006/main">
            <a:r>
              <a:t>        "input": "상담 답변",</a:t>
            </a:r>
          </a:p>
          <a:p xmlns:a="http://schemas.openxmlformats.org/drawingml/2006/main">
            <a:r>
              <a:t>        "process": "원문 근거 안내와 전문가 확인 경로 제공",</a:t>
            </a:r>
          </a:p>
          <a:p xmlns:a="http://schemas.openxmlformats.org/drawingml/2006/main">
            <a:r>
              <a:t>        "output": "이용자 검증"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"작물·지역·생육단계에 맞는 기술 지식 안내",</a:t>
            </a:r>
          </a:p>
          <a:p xmlns:a="http://schemas.openxmlformats.org/drawingml/2006/main">
            <a:r>
              <a:t>      "exception": "다른 작물 지침·증상 누락·전문가 판단이 필요한 요청",</a:t>
            </a:r>
          </a:p>
          <a:p xmlns:a="http://schemas.openxmlformats.org/drawingml/2006/main">
            <a:r>
              <a:t>      "evidence": "조건별 근거 일치와 전문가 전환 판정표",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"청년농업인·농업 전문가",</a:t>
            </a:r>
          </a:p>
          <a:p xmlns:a="http://schemas.openxmlformats.org/drawingml/2006/main">
            <a:r>
              <a:t>          "processing": "작물·지역·생육단계·문제 상황 확인",</a:t>
            </a:r>
          </a:p>
          <a:p xmlns:a="http://schemas.openxmlformats.org/drawingml/2006/main">
            <a:r>
              <a:t>          "output": "질문·작물·위치"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"영농 지식",</a:t>
            </a:r>
          </a:p>
          <a:p xmlns:a="http://schemas.openxmlformats.org/drawingml/2006/main">
            <a:r>
              <a:t>          "processing": "기술 문서·상담자료·전문가 평가셋 정비",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"질문·작물·위치",</a:t>
            </a:r>
          </a:p>
          <a:p xmlns:a="http://schemas.openxmlformats.org/drawingml/2006/main">
            <a:r>
              <a:t>          "processing": "질의 관련 농업 지식의 검색·설명",</a:t>
            </a:r>
          </a:p>
          <a:p xmlns:a="http://schemas.openxmlformats.org/drawingml/2006/main">
            <a:r>
              <a:t>          "output": "상담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"상담 답변",</a:t>
            </a:r>
          </a:p>
          <a:p xmlns:a="http://schemas.openxmlformats.org/drawingml/2006/main">
            <a:r>
              <a:t>          "processing": "원문 근거 안내와 전문가 확인 경로 제공",</a:t>
            </a:r>
          </a:p>
          <a:p xmlns:a="http://schemas.openxmlformats.org/drawingml/2006/main">
            <a:r>
              <a:t>          "output": "이용자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"작물·상황별 오답과 현장 적용성 검토",</a:t>
            </a:r>
          </a:p>
          <a:p xmlns:a="http://schemas.openxmlformats.org/drawingml/2006/main">
            <a:r>
              <a:t>          "output":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"작물·상황별 오답과 현장 적용성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"S-AX19",</a:t>
            </a:r>
          </a:p>
          <a:p xmlns:a="http://schemas.openxmlformats.org/drawingml/2006/main">
            <a:r>
              <a:t>        "title": "청년농업인 특화 AI 상담 · 공공AI 사례집 44–45쪽",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 / 2025.02 개시",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"농업인이 작물·지역·생육 상황에 맞는 전문지식을 찾도록 지원하는 상담 사례. 범용 질문 답변에 현장 문맥과 전문가 확인을 결합하는 유형.",</a:t>
            </a:r>
          </a:p>
          <a:p xmlns:a="http://schemas.openxmlformats.org/drawingml/2006/main">
            <a:r>
              <a:t>      "입력에서 작물·생육단계·지역·문제 상황을 정리한 뒤 관련 기술자료를 검색하고 원문 근거를 안내하는 구조의 재구성. 정보가 부족하거나 지역 예외가 있는 질문은 추가 확인·전문가 상담으로 연결.",</a:t>
            </a:r>
          </a:p>
          <a:p xmlns:a="http://schemas.openxmlformats.org/drawingml/2006/main">
            <a:r>
              <a:t>      "TS 업무에는 차량·시설·지역·시행일 등 도메인 문맥을 먼저 확보하는 방식으로 현지화. 평균 정답률보다 상황별 오류와 전문가 전환율, 실제 업무에 맞는 안내인지의 검토가 중요."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"영농 질의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"청년농업인·농업 전문가",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"작물·생육단계",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"작물·지역·생육단계·문제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"농업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"질문·작물·위치",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"맥락형 상담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 관련 농업 지식의 검색·설명",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"지역·상황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"지역·작물별 정답 및 전문가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"전문가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"작물·지역·생육단계에 맞는 기술 지식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"원문·상담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"원문 근거 안내와 전문가 확인 경로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"현장 적합성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"작물·상황별 오답과 현장 적용성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"기술·상담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"영농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"작물·지역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"기술 문서·상담자료·전문가 평가셋 정비",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"조건별 근거 일치와 전문가 전환 판정표",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"전문가 전환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작물 지침·증상 누락·전문가 판단이 필요한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"작물·지역·생육단계·문제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"질문·작물·위치",</a:t>
            </a:r>
          </a:p>
          <a:p xmlns:a="http://schemas.openxmlformats.org/drawingml/2006/main">
            <a:r>
              <a:t>          "check": "지역·작물별 정답 및 전문가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영농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"다른 작물 지침·증상 누락·전문가 판단이 필요한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"원문 근거 안내와 전문가 확인 경로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"이용자 검증",</a:t>
            </a:r>
          </a:p>
          <a:p xmlns:a="http://schemas.openxmlformats.org/drawingml/2006/main">
            <a:r>
              <a:t>          "check":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"농업 전문지식의 현장 상담 연결 / 재배 질의·전문지식·사전 평가",</a:t>
            </a:r>
          </a:p>
          <a:p xmlns:a="http://schemas.openxmlformats.org/drawingml/2006/main">
            <a:r>
              <a:t>        "extension": "운수사업자·지역별 안전·지원 업무 지식 구분"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작물 지침·증상 누락·전문가 판단이 필요한 요청",</a:t>
            </a:r>
          </a:p>
          <a:p xmlns:a="http://schemas.openxmlformats.org/drawingml/2006/main">
            <a:r>
              <a:t>        "hold": "지역·작물별 정답 및 전문가 전환",</a:t>
            </a:r>
          </a:p>
          <a:p xmlns:a="http://schemas.openxmlformats.org/drawingml/2006/main">
            <a:r>
              <a:t>        "recovery": "작물·상황별 오답과 현장 적용성 검토",</a:t>
            </a:r>
          </a:p>
          <a:p xmlns:a="http://schemas.openxmlformats.org/drawingml/2006/main">
            <a:r>
              <a:t>        "evidence": "조건별 근거 일치와 전문가 전환 판정표"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"영농 지식",</a:t>
            </a:r>
          </a:p>
          <a:p xmlns:a="http://schemas.openxmlformats.org/drawingml/2006/main">
            <a:r>
              <a:t>        "prepare": "기술 문서·상담자료·전문가 평가셋 정비",</a:t>
            </a:r>
          </a:p>
          <a:p xmlns:a="http://schemas.openxmlformats.org/drawingml/2006/main">
            <a:r>
              <a:t>        "output": "질문·작물·위치",</a:t>
            </a:r>
          </a:p>
          <a:p xmlns:a="http://schemas.openxmlformats.org/drawingml/2006/main">
            <a:r>
              <a:t>        "refresh": "작물·상황별 오답과 현장 적용성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"작물·위치 맥락의 전문 지식 연결",</a:t>
            </a:r>
          </a:p>
          <a:p xmlns:a="http://schemas.openxmlformats.org/drawingml/2006/main">
            <a:r>
              <a:t>      "전문가·이용자 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"지역·생육환경 예외",</a:t>
            </a:r>
          </a:p>
          <a:p xmlns:a="http://schemas.openxmlformats.org/drawingml/2006/main">
            <a:r>
              <a:t>      "상담 답변과 현장 적합성의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"농업기술 앱",</a:t>
            </a:r>
          </a:p>
          <a:p xmlns:a="http://schemas.openxmlformats.org/drawingml/2006/main">
            <a:r>
              <a:t>      "맥락 기반 상담",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"농업인·전문가"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"질문·작물·위치",</a:t>
            </a:r>
          </a:p>
          <a:p xmlns:a="http://schemas.openxmlformats.org/drawingml/2006/main">
            <a:r>
              <a:t>      "관련 영농 근거",</a:t>
            </a:r>
          </a:p>
          <a:p xmlns:a="http://schemas.openxmlformats.org/drawingml/2006/main">
            <a:r>
              <a:t>      "상담 답변",</a:t>
            </a:r>
          </a:p>
          <a:p xmlns:a="http://schemas.openxmlformats.org/drawingml/2006/main">
            <a:r>
              <a:t>      "이용자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"지역·작물별 정답 및 전문가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청년농업인 특화 AI 상담 · 공공AI 사례집 44–45쪽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"title": "청년농업인 특화 AI 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"지역·산업 특화 지식 서비스",</a:t>
            </a:r>
          </a:p>
          <a:p xmlns:a="http://schemas.openxmlformats.org/drawingml/2006/main">
            <a:r>
              <a:t>    "period": "2024 구축 / 2025.02 개시",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"산업 특화 지식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"농업기술 앱에 초거대 AI 상담을 결합하고 전문가·청년농업인 사전 평가 후 서비스 개시",</a:t>
            </a:r>
          </a:p>
          <a:p xmlns:a="http://schemas.openxmlformats.org/drawingml/2006/main">
            <a:r>
              <a:t>    "limit": "기관 실증 사례 수록 · 정착·소득 개선 인과효과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"위치·작물 맥락",</a:t>
            </a:r>
          </a:p>
          <a:p xmlns:a="http://schemas.openxmlformats.org/drawingml/2006/main">
            <a:r>
              <a:t>      "전문 상담",</a:t>
            </a:r>
          </a:p>
          <a:p xmlns:a="http://schemas.openxmlformats.org/drawingml/2006/main">
            <a:r>
              <a:t>      "현업·이용자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"업종·지역·자격 조건·지원 절차 사전",</a:t>
            </a:r>
          </a:p>
          <a:p xmlns:a="http://schemas.openxmlformats.org/drawingml/2006/main">
            <a:r>
              <a:t>    "test": "업종·지역별 답변 근거와 신청 조건 대조",</a:t>
            </a:r>
          </a:p>
          <a:p xmlns:a="http://schemas.openxmlformats.org/drawingml/2006/main">
            <a:r>
              <a:t>    "metric": "정보 탐색시간 / 조건 오안내율",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"canonicalId": "AX19",</a:t>
            </a:r>
          </a:p>
          <a:p xmlns:a="http://schemas.openxmlformats.org/drawingml/2006/main">
            <a:r>
              <a:t>    "purpose": "농업 전문지식의 현장 상담 연결",</a:t>
            </a:r>
          </a:p>
          <a:p xmlns:a="http://schemas.openxmlformats.org/drawingml/2006/main">
            <a:r>
              <a:t>    "users": "청년농업인·농업 전문가",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"재배 질의",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"농업기술 앱",</a:t>
            </a:r>
          </a:p>
          <a:p xmlns:a="http://schemas.openxmlformats.org/drawingml/2006/main">
            <a:r>
              <a:t>        "detail": "작물·지역·생육단계·문제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"재배 질의 / 전문지식 / 사전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"맥락 기반 상담",</a:t>
            </a:r>
          </a:p>
          <a:p xmlns:a="http://schemas.openxmlformats.org/drawingml/2006/main">
            <a:r>
              <a:t>        "detail": "질의 관련 농업 지식의 검색·설명",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"농업인·전문가",</a:t>
            </a:r>
          </a:p>
          <a:p xmlns:a="http://schemas.openxmlformats.org/drawingml/2006/main">
            <a:r>
              <a:t>        "detail": "원문 근거 안내와 전문가 확인 경로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"detail": "기술 문서·상담자료·전문가 평가셋 정비",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"작물·상황별 오답과 현장 적용성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"input": "작물·지역·생육단계·문제 상황 확인",</a:t>
            </a:r>
          </a:p>
          <a:p xmlns:a="http://schemas.openxmlformats.org/drawingml/2006/main">
            <a:r>
              <a:t>        "process": "기술 문서·상담자료·전문가 평가셋 정비",</a:t>
            </a:r>
          </a:p>
          <a:p xmlns:a="http://schemas.openxmlformats.org/drawingml/2006/main">
            <a:r>
              <a:t>        "output": "질문·작물·위치"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"위치·작물 맥락",</a:t>
            </a:r>
          </a:p>
          <a:p xmlns:a="http://schemas.openxmlformats.org/drawingml/2006/main">
            <a:r>
              <a:t>        "input": "질문·작물·위치",</a:t>
            </a:r>
          </a:p>
          <a:p xmlns:a="http://schemas.openxmlformats.org/drawingml/2006/main">
            <a:r>
              <a:t>        "process": "질의 관련 농업 지식의 검색·설명",</a:t>
            </a:r>
          </a:p>
          <a:p xmlns:a="http://schemas.openxmlformats.org/drawingml/2006/main">
            <a:r>
              <a:t>        "output": "관련 영농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 상담",</a:t>
            </a:r>
          </a:p>
          <a:p xmlns:a="http://schemas.openxmlformats.org/drawingml/2006/main">
            <a:r>
              <a:t>        "input": "관련 영농 근거",</a:t>
            </a:r>
          </a:p>
          <a:p xmlns:a="http://schemas.openxmlformats.org/drawingml/2006/main">
            <a:r>
              <a:t>        "process": "지역·작물별 정답 및 전문가 전환",</a:t>
            </a:r>
          </a:p>
          <a:p xmlns:a="http://schemas.openxmlformats.org/drawingml/2006/main">
            <a:r>
              <a:t>        "output": "상담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"현업·이용자 평가",</a:t>
            </a:r>
          </a:p>
          <a:p xmlns:a="http://schemas.openxmlformats.org/drawingml/2006/main">
            <a:r>
              <a:t>        "input": "상담 답변",</a:t>
            </a:r>
          </a:p>
          <a:p xmlns:a="http://schemas.openxmlformats.org/drawingml/2006/main">
            <a:r>
              <a:t>        "process": "원문 근거 안내와 전문가 확인 경로 제공",</a:t>
            </a:r>
          </a:p>
          <a:p xmlns:a="http://schemas.openxmlformats.org/drawingml/2006/main">
            <a:r>
              <a:t>        "output": "이용자 검증"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"작물·지역·생육단계에 맞는 기술 지식 안내",</a:t>
            </a:r>
          </a:p>
          <a:p xmlns:a="http://schemas.openxmlformats.org/drawingml/2006/main">
            <a:r>
              <a:t>      "exception": "다른 작물 지침·증상 누락·전문가 판단이 필요한 요청",</a:t>
            </a:r>
          </a:p>
          <a:p xmlns:a="http://schemas.openxmlformats.org/drawingml/2006/main">
            <a:r>
              <a:t>      "evidence": "조건별 근거 일치와 전문가 전환 판정표",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"청년농업인·농업 전문가",</a:t>
            </a:r>
          </a:p>
          <a:p xmlns:a="http://schemas.openxmlformats.org/drawingml/2006/main">
            <a:r>
              <a:t>          "processing": "작물·지역·생육단계·문제 상황 확인",</a:t>
            </a:r>
          </a:p>
          <a:p xmlns:a="http://schemas.openxmlformats.org/drawingml/2006/main">
            <a:r>
              <a:t>          "output": "질문·작물·위치"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"영농 지식",</a:t>
            </a:r>
          </a:p>
          <a:p xmlns:a="http://schemas.openxmlformats.org/drawingml/2006/main">
            <a:r>
              <a:t>          "processing": "기술 문서·상담자료·전문가 평가셋 정비",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"질문·작물·위치",</a:t>
            </a:r>
          </a:p>
          <a:p xmlns:a="http://schemas.openxmlformats.org/drawingml/2006/main">
            <a:r>
              <a:t>          "processing": "질의 관련 농업 지식의 검색·설명",</a:t>
            </a:r>
          </a:p>
          <a:p xmlns:a="http://schemas.openxmlformats.org/drawingml/2006/main">
            <a:r>
              <a:t>          "output": "상담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"상담 답변",</a:t>
            </a:r>
          </a:p>
          <a:p xmlns:a="http://schemas.openxmlformats.org/drawingml/2006/main">
            <a:r>
              <a:t>          "processing": "원문 근거 안내와 전문가 확인 경로 제공",</a:t>
            </a:r>
          </a:p>
          <a:p xmlns:a="http://schemas.openxmlformats.org/drawingml/2006/main">
            <a:r>
              <a:t>          "output": "이용자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"작물·상황별 오답과 현장 적용성 검토",</a:t>
            </a:r>
          </a:p>
          <a:p xmlns:a="http://schemas.openxmlformats.org/drawingml/2006/main">
            <a:r>
              <a:t>          "output":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"작물·상황별 오답과 현장 적용성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"S-AX19",</a:t>
            </a:r>
          </a:p>
          <a:p xmlns:a="http://schemas.openxmlformats.org/drawingml/2006/main">
            <a:r>
              <a:t>        "title": "청년농업인 특화 AI 상담 · 공공AI 사례집 44–45쪽",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 / 2025.02 개시",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"농업인이 작물·지역·생육 상황에 맞는 전문지식을 찾도록 지원하는 상담 사례. 범용 질문 답변에 현장 문맥과 전문가 확인을 결합하는 유형.",</a:t>
            </a:r>
          </a:p>
          <a:p xmlns:a="http://schemas.openxmlformats.org/drawingml/2006/main">
            <a:r>
              <a:t>      "입력에서 작물·생육단계·지역·문제 상황을 정리한 뒤 관련 기술자료를 검색하고 원문 근거를 안내하는 구조의 재구성. 정보가 부족하거나 지역 예외가 있는 질문은 추가 확인·전문가 상담으로 연결.",</a:t>
            </a:r>
          </a:p>
          <a:p xmlns:a="http://schemas.openxmlformats.org/drawingml/2006/main">
            <a:r>
              <a:t>      "TS 업무에는 차량·시설·지역·시행일 등 도메인 문맥을 먼저 확보하는 방식으로 현지화. 평균 정답률보다 상황별 오류와 전문가 전환율, 실제 업무에 맞는 안내인지의 검토가 중요."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"영농 질의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"청년농업인·농업 전문가",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"작물·생육단계",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"작물·지역·생육단계·문제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"농업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"질문·작물·위치",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"맥락형 상담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 관련 농업 지식의 검색·설명",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"지역·상황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"지역·작물별 정답 및 전문가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"전문가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"작물·지역·생육단계에 맞는 기술 지식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"원문·상담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"원문 근거 안내와 전문가 확인 경로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"현장 적합성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"작물·상황별 오답과 현장 적용성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"기술·상담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"영농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"작물·지역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"기술 문서·상담자료·전문가 평가셋 정비",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"조건별 근거 일치와 전문가 전환 판정표",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"전문가 전환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작물 지침·증상 누락·전문가 판단이 필요한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"작물·지역·생육단계·문제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"질문·작물·위치",</a:t>
            </a:r>
          </a:p>
          <a:p xmlns:a="http://schemas.openxmlformats.org/drawingml/2006/main">
            <a:r>
              <a:t>          "check": "지역·작물별 정답 및 전문가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영농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"다른 작물 지침·증상 누락·전문가 판단이 필요한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"원문 근거 안내와 전문가 확인 경로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"이용자 검증",</a:t>
            </a:r>
          </a:p>
          <a:p xmlns:a="http://schemas.openxmlformats.org/drawingml/2006/main">
            <a:r>
              <a:t>          "check":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"농업 전문지식의 현장 상담 연결 / 재배 질의·전문지식·사전 평가",</a:t>
            </a:r>
          </a:p>
          <a:p xmlns:a="http://schemas.openxmlformats.org/drawingml/2006/main">
            <a:r>
              <a:t>        "extension": "운수사업자·지역별 안전·지원 업무 지식 구분"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작물 지침·증상 누락·전문가 판단이 필요한 요청",</a:t>
            </a:r>
          </a:p>
          <a:p xmlns:a="http://schemas.openxmlformats.org/drawingml/2006/main">
            <a:r>
              <a:t>        "hold": "지역·작물별 정답 및 전문가 전환",</a:t>
            </a:r>
          </a:p>
          <a:p xmlns:a="http://schemas.openxmlformats.org/drawingml/2006/main">
            <a:r>
              <a:t>        "recovery": "작물·상황별 오답과 현장 적용성 검토",</a:t>
            </a:r>
          </a:p>
          <a:p xmlns:a="http://schemas.openxmlformats.org/drawingml/2006/main">
            <a:r>
              <a:t>        "evidence": "조건별 근거 일치와 전문가 전환 판정표"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"영농 지식",</a:t>
            </a:r>
          </a:p>
          <a:p xmlns:a="http://schemas.openxmlformats.org/drawingml/2006/main">
            <a:r>
              <a:t>        "prepare": "기술 문서·상담자료·전문가 평가셋 정비",</a:t>
            </a:r>
          </a:p>
          <a:p xmlns:a="http://schemas.openxmlformats.org/drawingml/2006/main">
            <a:r>
              <a:t>        "output": "질문·작물·위치",</a:t>
            </a:r>
          </a:p>
          <a:p xmlns:a="http://schemas.openxmlformats.org/drawingml/2006/main">
            <a:r>
              <a:t>        "refresh": "작물·상황별 오답과 현장 적용성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"작물·위치 맥락의 전문 지식 연결",</a:t>
            </a:r>
          </a:p>
          <a:p xmlns:a="http://schemas.openxmlformats.org/drawingml/2006/main">
            <a:r>
              <a:t>      "전문가·이용자 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"지역·생육환경 예외",</a:t>
            </a:r>
          </a:p>
          <a:p xmlns:a="http://schemas.openxmlformats.org/drawingml/2006/main">
            <a:r>
              <a:t>      "상담 답변과 현장 적합성의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"농업기술 앱",</a:t>
            </a:r>
          </a:p>
          <a:p xmlns:a="http://schemas.openxmlformats.org/drawingml/2006/main">
            <a:r>
              <a:t>      "맥락 기반 상담",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"농업인·전문가"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"질문·작물·위치",</a:t>
            </a:r>
          </a:p>
          <a:p xmlns:a="http://schemas.openxmlformats.org/drawingml/2006/main">
            <a:r>
              <a:t>      "관련 영농 근거",</a:t>
            </a:r>
          </a:p>
          <a:p xmlns:a="http://schemas.openxmlformats.org/drawingml/2006/main">
            <a:r>
              <a:t>      "상담 답변",</a:t>
            </a:r>
          </a:p>
          <a:p xmlns:a="http://schemas.openxmlformats.org/drawingml/2006/main">
            <a:r>
              <a:t>      "이용자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"지역·작물별 정답 및 전문가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청년농업인 특화 AI 상담 · 공공AI 사례집 44–45쪽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"title": "청년농업인 특화 AI 상담",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"지역·산업 특화 지식 서비스",</a:t>
            </a:r>
          </a:p>
          <a:p xmlns:a="http://schemas.openxmlformats.org/drawingml/2006/main">
            <a:r>
              <a:t>    "period": "2024 구축 / 2025.02 개시",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"S-AX19"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"지역",</a:t>
            </a:r>
          </a:p>
          <a:p xmlns:a="http://schemas.openxmlformats.org/drawingml/2006/main">
            <a:r>
              <a:t>      "산업 특화 지식 서비스"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"농업기술 앱에 초거대 AI 상담을 결합하고 전문가·청년농업인 사전 평가 후 서비스 개시",</a:t>
            </a:r>
          </a:p>
          <a:p xmlns:a="http://schemas.openxmlformats.org/drawingml/2006/main">
            <a:r>
              <a:t>    "limit": "기관 실증 사례 수록 · 정착·소득 개선 인과효과 실측과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"위치·작물 맥락",</a:t>
            </a:r>
          </a:p>
          <a:p xmlns:a="http://schemas.openxmlformats.org/drawingml/2006/main">
            <a:r>
              <a:t>      "전문 상담",</a:t>
            </a:r>
          </a:p>
          <a:p xmlns:a="http://schemas.openxmlformats.org/drawingml/2006/main">
            <a:r>
              <a:t>      "현업·이용자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"업종·지역·자격 조건·지원 절차 사전",</a:t>
            </a:r>
          </a:p>
          <a:p xmlns:a="http://schemas.openxmlformats.org/drawingml/2006/main">
            <a:r>
              <a:t>    "test": "업종·지역별 답변 근거와 신청 조건 대조",</a:t>
            </a:r>
          </a:p>
          <a:p xmlns:a="http://schemas.openxmlformats.org/drawingml/2006/main">
            <a:r>
              <a:t>    "metric": "정보 탐색시간 / 조건 오안내율",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"ST-08"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"canonicalId": "AX19",</a:t>
            </a:r>
          </a:p>
          <a:p xmlns:a="http://schemas.openxmlformats.org/drawingml/2006/main">
            <a:r>
              <a:t>    "purpose": "농업 전문지식의 현장 상담 연결",</a:t>
            </a:r>
          </a:p>
          <a:p xmlns:a="http://schemas.openxmlformats.org/drawingml/2006/main">
            <a:r>
              <a:t>    "users": "청년농업인·농업 전문가",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"재배 질의",</a:t>
            </a:r>
          </a:p>
          <a:p xmlns:a="http://schemas.openxmlformats.org/drawingml/2006/main">
            <a:r>
              <a:t>      "전문지식",</a:t>
            </a:r>
          </a:p>
          <a:p xmlns:a="http://schemas.openxmlformats.org/drawingml/2006/main">
            <a:r>
              <a:t>      "사전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"농업기술 앱",</a:t>
            </a:r>
          </a:p>
          <a:p xmlns:a="http://schemas.openxmlformats.org/drawingml/2006/main">
            <a:r>
              <a:t>        "detail": "작물·지역·생육단계·문제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"재배 질의 / 전문지식 / 사전 평가",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"맥락 기반 상담",</a:t>
            </a:r>
          </a:p>
          <a:p xmlns:a="http://schemas.openxmlformats.org/drawingml/2006/main">
            <a:r>
              <a:t>        "detail": "질의 관련 농업 지식의 검색·설명",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"농업인·전문가",</a:t>
            </a:r>
          </a:p>
          <a:p xmlns:a="http://schemas.openxmlformats.org/drawingml/2006/main">
            <a:r>
              <a:t>        "detail": "원문 근거 안내와 전문가 확인 경로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"detail": "기술 문서·상담자료·전문가 평가셋 정비",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"작물·상황별 오답과 현장 적용성 검토",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"영농 지식",</a:t>
            </a:r>
          </a:p>
          <a:p xmlns:a="http://schemas.openxmlformats.org/drawingml/2006/main">
            <a:r>
              <a:t>        "input": "작물·지역·생육단계·문제 상황 확인",</a:t>
            </a:r>
          </a:p>
          <a:p xmlns:a="http://schemas.openxmlformats.org/drawingml/2006/main">
            <a:r>
              <a:t>        "process": "기술 문서·상담자료·전문가 평가셋 정비",</a:t>
            </a:r>
          </a:p>
          <a:p xmlns:a="http://schemas.openxmlformats.org/drawingml/2006/main">
            <a:r>
              <a:t>        "output": "질문·작물·위치"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"위치·작물 맥락",</a:t>
            </a:r>
          </a:p>
          <a:p xmlns:a="http://schemas.openxmlformats.org/drawingml/2006/main">
            <a:r>
              <a:t>        "input": "질문·작물·위치",</a:t>
            </a:r>
          </a:p>
          <a:p xmlns:a="http://schemas.openxmlformats.org/drawingml/2006/main">
            <a:r>
              <a:t>        "process": "질의 관련 농업 지식의 검색·설명",</a:t>
            </a:r>
          </a:p>
          <a:p xmlns:a="http://schemas.openxmlformats.org/drawingml/2006/main">
            <a:r>
              <a:t>        "output": "관련 영농 근거"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"전문 상담",</a:t>
            </a:r>
          </a:p>
          <a:p xmlns:a="http://schemas.openxmlformats.org/drawingml/2006/main">
            <a:r>
              <a:t>        "input": "관련 영농 근거",</a:t>
            </a:r>
          </a:p>
          <a:p xmlns:a="http://schemas.openxmlformats.org/drawingml/2006/main">
            <a:r>
              <a:t>        "process": "지역·작물별 정답 및 전문가 전환",</a:t>
            </a:r>
          </a:p>
          <a:p xmlns:a="http://schemas.openxmlformats.org/drawingml/2006/main">
            <a:r>
              <a:t>        "output": "상담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"현업·이용자 평가",</a:t>
            </a:r>
          </a:p>
          <a:p xmlns:a="http://schemas.openxmlformats.org/drawingml/2006/main">
            <a:r>
              <a:t>        "input": "상담 답변",</a:t>
            </a:r>
          </a:p>
          <a:p xmlns:a="http://schemas.openxmlformats.org/drawingml/2006/main">
            <a:r>
              <a:t>        "process": "원문 근거 안내와 전문가 확인 경로 제공",</a:t>
            </a:r>
          </a:p>
          <a:p xmlns:a="http://schemas.openxmlformats.org/drawingml/2006/main">
            <a:r>
              <a:t>        "output": "이용자 검증"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"작물·지역·생육단계에 맞는 기술 지식 안내",</a:t>
            </a:r>
          </a:p>
          <a:p xmlns:a="http://schemas.openxmlformats.org/drawingml/2006/main">
            <a:r>
              <a:t>      "exception": "다른 작물 지침·증상 누락·전문가 판단이 필요한 요청",</a:t>
            </a:r>
          </a:p>
          <a:p xmlns:a="http://schemas.openxmlformats.org/drawingml/2006/main">
            <a:r>
              <a:t>      "evidence": "조건별 근거 일치와 전문가 전환 판정표",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"청년농업인·농업 전문가",</a:t>
            </a:r>
          </a:p>
          <a:p xmlns:a="http://schemas.openxmlformats.org/drawingml/2006/main">
            <a:r>
              <a:t>          "processing": "작물·지역·생육단계·문제 상황 확인",</a:t>
            </a:r>
          </a:p>
          <a:p xmlns:a="http://schemas.openxmlformats.org/drawingml/2006/main">
            <a:r>
              <a:t>          "output": "질문·작물·위치"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"영농 지식",</a:t>
            </a:r>
          </a:p>
          <a:p xmlns:a="http://schemas.openxmlformats.org/drawingml/2006/main">
            <a:r>
              <a:t>          "processing": "기술 문서·상담자료·전문가 평가셋 정비",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"질문·작물·위치",</a:t>
            </a:r>
          </a:p>
          <a:p xmlns:a="http://schemas.openxmlformats.org/drawingml/2006/main">
            <a:r>
              <a:t>          "processing": "질의 관련 농업 지식의 검색·설명",</a:t>
            </a:r>
          </a:p>
          <a:p xmlns:a="http://schemas.openxmlformats.org/drawingml/2006/main">
            <a:r>
              <a:t>          "output": "상담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"상담 답변",</a:t>
            </a:r>
          </a:p>
          <a:p xmlns:a="http://schemas.openxmlformats.org/drawingml/2006/main">
            <a:r>
              <a:t>          "processing": "원문 근거 안내와 전문가 확인 경로 제공",</a:t>
            </a:r>
          </a:p>
          <a:p xmlns:a="http://schemas.openxmlformats.org/drawingml/2006/main">
            <a:r>
              <a:t>          "output": "이용자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"작물·상황별 오답과 현장 적용성 검토",</a:t>
            </a:r>
          </a:p>
          <a:p xmlns:a="http://schemas.openxmlformats.org/drawingml/2006/main">
            <a:r>
              <a:t>          "output":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"작물·상황별 오답과 현장 적용성 검토",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"S-AX19",</a:t>
            </a:r>
          </a:p>
          <a:p xmlns:a="http://schemas.openxmlformats.org/drawingml/2006/main">
            <a:r>
              <a:t>        "title": "청년농업인 특화 AI 상담 · 공공AI 사례집 44–45쪽",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 / 2025.02 개시",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"지역·산업 맥락과 전문가 사전 평가",</a:t>
            </a:r>
          </a:p>
          <a:p xmlns:a="http://schemas.openxmlformats.org/drawingml/2006/main">
            <a:r>
              <a:t>    "local": "운수사업자·지역별 안전·지원 업무 지식 구분",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"농업인이 작물·지역·생육 상황에 맞는 전문지식을 찾도록 지원하는 상담 사례. 범용 질문 답변에 현장 문맥과 전문가 확인을 결합하는 유형.",</a:t>
            </a:r>
          </a:p>
          <a:p xmlns:a="http://schemas.openxmlformats.org/drawingml/2006/main">
            <a:r>
              <a:t>      "입력에서 작물·생육단계·지역·문제 상황을 정리한 뒤 관련 기술자료를 검색하고 원문 근거를 안내하는 구조의 재구성. 정보가 부족하거나 지역 예외가 있는 질문은 추가 확인·전문가 상담으로 연결.",</a:t>
            </a:r>
          </a:p>
          <a:p xmlns:a="http://schemas.openxmlformats.org/drawingml/2006/main">
            <a:r>
              <a:t>      "TS 업무에는 차량·시설·지역·시행일 등 도메인 문맥을 먼저 확보하는 방식으로 현지화. 평균 정답률보다 상황별 오류와 전문가 전환율, 실제 업무에 맞는 안내인지의 검토가 중요."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"영농 질의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"청년농업인·농업 전문가",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"작물·생육단계",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"작물·지역·생육단계·문제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"농업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"질문·작물·위치",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"맥락형 상담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"질의 관련 농업 지식의 검색·설명",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"지역·상황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"지역·작물별 정답 및 전문가 전환",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"전문가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"작물·지역·생육단계에 맞는 기술 지식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"원문·상담 연결",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"원문 근거 안내와 전문가 확인 경로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"현장 적합성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"작물·상황별 오답과 현장 적용성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"기술·상담 자료",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"영농 지식",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"작물·지역 태깅",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"기술 문서·상담자료·전문가 평가셋 정비",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"문서·평가셋",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"조건별 근거 일치와 전문가 전환 판정표",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"전문가 전환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작물 지침·증상 누락·전문가 판단이 필요한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"작물·지역·생육단계·문제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"질문·작물·위치",</a:t>
            </a:r>
          </a:p>
          <a:p xmlns:a="http://schemas.openxmlformats.org/drawingml/2006/main">
            <a:r>
              <a:t>          "check": "지역·작물별 정답 및 전문가 전환"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영농 근거",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"다른 작물 지침·증상 누락·전문가 판단이 필요한 요청"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"상담 답변",</a:t>
            </a:r>
          </a:p>
          <a:p xmlns:a="http://schemas.openxmlformats.org/drawingml/2006/main">
            <a:r>
              <a:t>          "check": "원문 근거 안내와 전문가 확인 경로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"이용자 검증",</a:t>
            </a:r>
          </a:p>
          <a:p xmlns:a="http://schemas.openxmlformats.org/drawingml/2006/main">
            <a:r>
              <a:t>          "check": "조건별 근거 일치와 전문가 전환 판정표"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"농업 전문지식의 현장 상담 연결 / 재배 질의·전문지식·사전 평가",</a:t>
            </a:r>
          </a:p>
          <a:p xmlns:a="http://schemas.openxmlformats.org/drawingml/2006/main">
            <a:r>
              <a:t>        "extension": "운수사업자·지역별 안전·지원 업무 지식 구분"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작물 지침·증상 누락·전문가 판단이 필요한 요청",</a:t>
            </a:r>
          </a:p>
          <a:p xmlns:a="http://schemas.openxmlformats.org/drawingml/2006/main">
            <a:r>
              <a:t>        "hold": "지역·작물별 정답 및 전문가 전환",</a:t>
            </a:r>
          </a:p>
          <a:p xmlns:a="http://schemas.openxmlformats.org/drawingml/2006/main">
            <a:r>
              <a:t>        "recovery": "작물·상황별 오답과 현장 적용성 검토",</a:t>
            </a:r>
          </a:p>
          <a:p xmlns:a="http://schemas.openxmlformats.org/drawingml/2006/main">
            <a:r>
              <a:t>        "evidence": "조건별 근거 일치와 전문가 전환 판정표"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"영농 지식",</a:t>
            </a:r>
          </a:p>
          <a:p xmlns:a="http://schemas.openxmlformats.org/drawingml/2006/main">
            <a:r>
              <a:t>        "prepare": "기술 문서·상담자료·전문가 평가셋 정비",</a:t>
            </a:r>
          </a:p>
          <a:p xmlns:a="http://schemas.openxmlformats.org/drawingml/2006/main">
            <a:r>
              <a:t>        "output": "질문·작물·위치",</a:t>
            </a:r>
          </a:p>
          <a:p xmlns:a="http://schemas.openxmlformats.org/drawingml/2006/main">
            <a:r>
              <a:t>        "refresh": "작물·상황별 오답과 현장 적용성 검토"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"AX19",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"작물·위치 맥락의 전문 지식 연결",</a:t>
            </a:r>
          </a:p>
          <a:p xmlns:a="http://schemas.openxmlformats.org/drawingml/2006/main">
            <a:r>
              <a:t>      "전문가·이용자 사전 평가"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"지역·생육환경 예외",</a:t>
            </a:r>
          </a:p>
          <a:p xmlns:a="http://schemas.openxmlformats.org/drawingml/2006/main">
            <a:r>
              <a:t>      "상담 답변과 현장 적합성의 간극"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"농업기술 앱",</a:t>
            </a:r>
          </a:p>
          <a:p xmlns:a="http://schemas.openxmlformats.org/drawingml/2006/main">
            <a:r>
              <a:t>      "맥락 기반 상담",</a:t>
            </a:r>
          </a:p>
          <a:p xmlns:a="http://schemas.openxmlformats.org/drawingml/2006/main">
            <a:r>
              <a:t>      "영농 지식",</a:t>
            </a:r>
          </a:p>
          <a:p xmlns:a="http://schemas.openxmlformats.org/drawingml/2006/main">
            <a:r>
              <a:t>      "농업인·전문가"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"질문·작물·위치",</a:t>
            </a:r>
          </a:p>
          <a:p xmlns:a="http://schemas.openxmlformats.org/drawingml/2006/main">
            <a:r>
              <a:t>      "관련 영농 근거",</a:t>
            </a:r>
          </a:p>
          <a:p xmlns:a="http://schemas.openxmlformats.org/drawingml/2006/main">
            <a:r>
              <a:t>      "상담 답변",</a:t>
            </a:r>
          </a:p>
          <a:p xmlns:a="http://schemas.openxmlformats.org/drawingml/2006/main">
            <a:r>
              <a:t>      "이용자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"지역·작물별 정답 및 전문가 전환",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청년농업인 특화 AI 상담 · 공공AI 사례집 44–45쪽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"title": "K-인파관리지원시스템",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"데이터 기반 위험 상황 공유",</a:t>
            </a:r>
          </a:p>
          <a:p xmlns:a="http://schemas.openxmlformats.org/drawingml/2006/main">
            <a:r>
              <a:t>    "period": "2023 구축·운영",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"데이터 기반 위험 상황 공유"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"유동인구·공간정보의 밀집도 분석과 GIS 상황판·위험 알림 제공",</a:t>
            </a:r>
          </a:p>
          <a:p xmlns:a="http://schemas.openxmlformats.org/drawingml/2006/main">
            <a:r>
              <a:t>    "limit": "데이터 분석 운영 사례 · 생성형 AI 아님 · 사고 감소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"GIS·위험 알림",</a:t>
            </a:r>
          </a:p>
          <a:p xmlns:a="http://schemas.openxmlformats.org/drawingml/2006/main">
            <a:r>
              <a:t>      "지자체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"장소·시간·단계·담당 기관 매핑",</a:t>
            </a:r>
          </a:p>
          <a:p xmlns:a="http://schemas.openxmlformats.org/drawingml/2006/main">
            <a:r>
              <a:t>    "test": "자료 지연·경계 지역·알림 미수신 시험",</a:t>
            </a:r>
          </a:p>
          <a:p xmlns:a="http://schemas.openxmlformats.org/drawingml/2006/main">
            <a:r>
              <a:t>    "metric": "상황 전파시간 / 조치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"canonicalId": "AX20",</a:t>
            </a:r>
          </a:p>
          <a:p xmlns:a="http://schemas.openxmlformats.org/drawingml/2006/main">
            <a:r>
              <a:t>    "purpose": "인파 밀집 위험의 공간 기반 상황 관리",</a:t>
            </a:r>
          </a:p>
          <a:p xmlns:a="http://schemas.openxmlformats.org/drawingml/2006/main">
            <a:r>
              <a:t>    "users": "지자체 상황실·현장 대응부서",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"밀집도",</a:t>
            </a:r>
          </a:p>
          <a:p xmlns:a="http://schemas.openxmlformats.org/drawingml/2006/main">
            <a:r>
              <a:t>      "GIS 상황판",</a:t>
            </a:r>
          </a:p>
          <a:p xmlns:a="http://schemas.openxmlformats.org/drawingml/2006/main">
            <a:r>
              <a:t>      "위험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"detail": "구역·시간·행사 등 상황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"밀집도 / GIS 상황판 / 위험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"detail": "유동인구와 공간 조건의 밀집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"지자체 상황실",</a:t>
            </a:r>
          </a:p>
          <a:p xmlns:a="http://schemas.openxmlformats.org/drawingml/2006/main">
            <a:r>
              <a:t>        "detail": "상황판 경보와 현장 확인·대응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밀집 이력",</a:t>
            </a:r>
          </a:p>
          <a:p xmlns:a="http://schemas.openxmlformats.org/drawingml/2006/main">
            <a:r>
              <a:t>        "detail": "유동인구 집계·공간정보·구역 코드 결합",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"실제 밀집상태·경보·대응시간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"input": "구역·시간·행사 등 상황 맥락 지정",</a:t>
            </a:r>
          </a:p>
          <a:p xmlns:a="http://schemas.openxmlformats.org/drawingml/2006/main">
            <a:r>
              <a:t>        "process": "유동인구 집계·공간정보·구역 코드 결합",</a:t>
            </a:r>
          </a:p>
          <a:p xmlns:a="http://schemas.openxmlformats.org/drawingml/2006/main">
            <a:r>
              <a:t>        "output": "인구·공간 집계"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"input": "인구·공간 집계",</a:t>
            </a:r>
          </a:p>
          <a:p xmlns:a="http://schemas.openxmlformats.org/drawingml/2006/main">
            <a:r>
              <a:t>        "process": "유동인구와 공간 조건의 밀집 분석",</a:t>
            </a:r>
          </a:p>
          <a:p xmlns:a="http://schemas.openxmlformats.org/drawingml/2006/main">
            <a:r>
              <a:t>        "output": "밀집 지표"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"GIS·위험 알림",</a:t>
            </a:r>
          </a:p>
          <a:p xmlns:a="http://schemas.openxmlformats.org/drawingml/2006/main">
            <a:r>
              <a:t>        "input": "밀집 지표",</a:t>
            </a:r>
          </a:p>
          <a:p xmlns:a="http://schemas.openxmlformats.org/drawingml/2006/main">
            <a:r>
              <a:t>        "process": "공간·시간 단위 대사와 조치 확인",</a:t>
            </a:r>
          </a:p>
          <a:p xmlns:a="http://schemas.openxmlformats.org/drawingml/2006/main">
            <a:r>
              <a:t>        "output": "위험 알림"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"지자체 대응",</a:t>
            </a:r>
          </a:p>
          <a:p xmlns:a="http://schemas.openxmlformats.org/drawingml/2006/main">
            <a:r>
              <a:t>        "input": "위험 알림",</a:t>
            </a:r>
          </a:p>
          <a:p xmlns:a="http://schemas.openxmlformats.org/drawingml/2006/main">
            <a:r>
              <a:t>        "process": "상황판 경보와 현장 확인·대응 연결",</a:t>
            </a:r>
          </a:p>
          <a:p xmlns:a="http://schemas.openxmlformats.org/drawingml/2006/main">
            <a:r>
              <a:t>        "output": "현장 대응"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"구역별 인파 밀집을 파악하고 현장 확인 요청",</a:t>
            </a:r>
          </a:p>
          <a:p xmlns:a="http://schemas.openxmlformats.org/drawingml/2006/main">
            <a:r>
              <a:t>      "exception": "집계 지연·통신 표본 편향·구역 경계 변경",</a:t>
            </a:r>
          </a:p>
          <a:p xmlns:a="http://schemas.openxmlformats.org/drawingml/2006/main">
            <a:r>
              <a:t>      "evidence": "현장 밀집상태 대비 경보·전파·조치 시각",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"지자체 상황실·현장 대응부서",</a:t>
            </a:r>
          </a:p>
          <a:p xmlns:a="http://schemas.openxmlformats.org/drawingml/2006/main">
            <a:r>
              <a:t>          "processing": "구역·시간·행사 등 상황 맥락 지정",</a:t>
            </a:r>
          </a:p>
          <a:p xmlns:a="http://schemas.openxmlformats.org/drawingml/2006/main">
            <a:r>
              <a:t>          "output": "인구·공간 집계"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밀집 이력",</a:t>
            </a:r>
          </a:p>
          <a:p xmlns:a="http://schemas.openxmlformats.org/drawingml/2006/main">
            <a:r>
              <a:t>          "processing": "유동인구 집계·공간정보·구역 코드 결합",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"인구·공간 집계",</a:t>
            </a:r>
          </a:p>
          <a:p xmlns:a="http://schemas.openxmlformats.org/drawingml/2006/main">
            <a:r>
              <a:t>          "processing": "유동인구와 공간 조건의 밀집 분석",</a:t>
            </a:r>
          </a:p>
          <a:p xmlns:a="http://schemas.openxmlformats.org/drawingml/2006/main">
            <a:r>
              <a:t>          "output": "위험 알림"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알림",</a:t>
            </a:r>
          </a:p>
          <a:p xmlns:a="http://schemas.openxmlformats.org/drawingml/2006/main">
            <a:r>
              <a:t>          "processing": "상황판 경보와 현장 확인·대응 연결",</a:t>
            </a:r>
          </a:p>
          <a:p xmlns:a="http://schemas.openxmlformats.org/drawingml/2006/main">
            <a:r>
              <a:t>          "output": "현장 대응"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"실제 밀집상태·경보·대응시간 대조",</a:t>
            </a:r>
          </a:p>
          <a:p xmlns:a="http://schemas.openxmlformats.org/drawingml/2006/main">
            <a:r>
              <a:t>          "output":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"실제 밀집상태·경보·대응시간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"S-AX20",</a:t>
            </a:r>
          </a:p>
          <a:p xmlns:a="http://schemas.openxmlformats.org/drawingml/2006/main">
            <a:r>
              <a:t>        "title": "K-인파관리지원시스템 · 공공AI 사례집 86–87쪽",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구축·운영",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"유동인구와 공간정보를 결합해 밀집 위험을 상황실과 현장 대응부서에 전달하는 사례. 추정 밀집도와 실제 현장 상태를 확인하는 조직적 대응이 결합된 구조.",</a:t>
            </a:r>
          </a:p>
          <a:p xmlns:a="http://schemas.openxmlformats.org/drawingml/2006/main">
            <a:r>
              <a:t>      "시간·구역·행사 맥락에 따라 집계 자료를 정합화하고 GIS 상황판과 경보를 생성하는 재구성. 경보 발생, 상황실 확인, 현장 출동·통제, 결과 보고를 별도 상태로 연결.",</a:t>
            </a:r>
          </a:p>
          <a:p xmlns:a="http://schemas.openxmlformats.org/drawingml/2006/main">
            <a:r>
              <a:t>      "TS 교통·시설 안전 적용에서 집계 공간 단위와 관측 편차를 먼저 확인할 필요. 오경보·미탐 외에 알림 수신·확인·대응까지 걸린 시간과 담당 부서의 인계 누락을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"상황실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"지자체 상황실·현장 대응부서",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"구역·행사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"구역·시간·행사 등 상황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"인구·공간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"인구·공간 집계",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"밀집 위험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"유동인구와 공간 조건의 밀집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"관측·추정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"공간·시간 단위 대사와 조치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"상황실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"구역별 인파 밀집을 파악하고 현장 확인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"현장 대응 알림",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"상황판 경보와 현장 확인·대응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"대응시간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"실제 밀집상태·경보·대응시간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"유동인구·GIS",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밀집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"시간·구역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"유동인구 집계·공간정보·구역 코드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"밀집·대응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"현장 밀집상태 대비 경보·전파·조치 시각",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"집계·경보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"집계 지연·통신 표본 편향·구역 경계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"구역·시간·행사 등 상황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"인구·공간 집계",</a:t>
            </a:r>
          </a:p>
          <a:p xmlns:a="http://schemas.openxmlformats.org/drawingml/2006/main">
            <a:r>
              <a:t>          "check": "공간·시간 단위 대사와 조치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"밀집 지표",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"집계 지연·통신 표본 편향·구역 경계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"상황판 경보와 현장 확인·대응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대응",</a:t>
            </a:r>
          </a:p>
          <a:p xmlns:a="http://schemas.openxmlformats.org/drawingml/2006/main">
            <a:r>
              <a:t>          "check":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"인파 밀집 위험의 공간 기반 상황 관리 / 밀집도·GIS 상황판·위험 알림",</a:t>
            </a:r>
          </a:p>
          <a:p xmlns:a="http://schemas.openxmlformats.org/drawingml/2006/main">
            <a:r>
              <a:t>        "extension": "행사·교통시설 혼잡 정보의 관할·업무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"집계 지연·통신 표본 편향·구역 경계 변경",</a:t>
            </a:r>
          </a:p>
          <a:p xmlns:a="http://schemas.openxmlformats.org/drawingml/2006/main">
            <a:r>
              <a:t>        "hold": "공간·시간 단위 대사와 조치 확인",</a:t>
            </a:r>
          </a:p>
          <a:p xmlns:a="http://schemas.openxmlformats.org/drawingml/2006/main">
            <a:r>
              <a:t>        "recovery": "실제 밀집상태·경보·대응시간 대조",</a:t>
            </a:r>
          </a:p>
          <a:p xmlns:a="http://schemas.openxmlformats.org/drawingml/2006/main">
            <a:r>
              <a:t>        "evidence": "현장 밀집상태 대비 경보·전파·조치 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밀집 이력",</a:t>
            </a:r>
          </a:p>
          <a:p xmlns:a="http://schemas.openxmlformats.org/drawingml/2006/main">
            <a:r>
              <a:t>        "prepare": "유동인구 집계·공간정보·구역 코드 결합",</a:t>
            </a:r>
          </a:p>
          <a:p xmlns:a="http://schemas.openxmlformats.org/drawingml/2006/main">
            <a:r>
              <a:t>        "output": "인구·공간 집계",</a:t>
            </a:r>
          </a:p>
          <a:p xmlns:a="http://schemas.openxmlformats.org/drawingml/2006/main">
            <a:r>
              <a:t>        "refresh": "실제 밀집상태·경보·대응시간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"공간정보와 유동인구의 결합",</a:t>
            </a:r>
          </a:p>
          <a:p xmlns:a="http://schemas.openxmlformats.org/drawingml/2006/main">
            <a:r>
              <a:t>      "상황판·알림과 지자체 대응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"추정 인구와 실제 밀집의 차이",</a:t>
            </a:r>
          </a:p>
          <a:p xmlns:a="http://schemas.openxmlformats.org/drawingml/2006/main">
            <a:r>
              <a:t>      "알림 발생과 대응 완료의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"지역별 밀집 이력",</a:t>
            </a:r>
          </a:p>
          <a:p xmlns:a="http://schemas.openxmlformats.org/drawingml/2006/main">
            <a:r>
              <a:t>      "지자체 상황실"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"인구·공간 집계",</a:t>
            </a:r>
          </a:p>
          <a:p xmlns:a="http://schemas.openxmlformats.org/drawingml/2006/main">
            <a:r>
              <a:t>      "밀집 지표",</a:t>
            </a:r>
          </a:p>
          <a:p xmlns:a="http://schemas.openxmlformats.org/drawingml/2006/main">
            <a:r>
              <a:t>      "위험 알림",</a:t>
            </a:r>
          </a:p>
          <a:p xmlns:a="http://schemas.openxmlformats.org/drawingml/2006/main">
            <a:r>
              <a:t>      "현장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"공간·시간 단위 대사와 조치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K-인파관리지원시스템 · 공공AI 사례집 86–87쪽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https://heen1987-ops.github.io/TS-business-Plan-001/index.html?view=casebook&amp;case=AX20</a:t>
            </a:r>
          </a:p>
          <a:p xmlns:a="http://schemas.openxmlformats.org/drawingml/2006/main">
            <a:r>
              <a:t>한계: 데이터 분석 운영 사례 · 생성형 AI 아님 · 사고 감소 인과효과 별도</a:t>
            </a:r>
          </a:p>
          <a:p xmlns:a="http://schemas.openxmlformats.org/drawingml/2006/main">
            <a:r>
              <a:t>실패 위험: 추정 인구와 실제 밀집의 차이 / 알림 발생과 대응 완료의 혼동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"title": "K-인파관리지원시스템",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"데이터 기반 위험 상황 공유",</a:t>
            </a:r>
          </a:p>
          <a:p xmlns:a="http://schemas.openxmlformats.org/drawingml/2006/main">
            <a:r>
              <a:t>    "period": "2023 구축·운영",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"데이터 기반 위험 상황 공유"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"유동인구·공간정보의 밀집도 분석과 GIS 상황판·위험 알림 제공",</a:t>
            </a:r>
          </a:p>
          <a:p xmlns:a="http://schemas.openxmlformats.org/drawingml/2006/main">
            <a:r>
              <a:t>    "limit": "데이터 분석 운영 사례 · 생성형 AI 아님 · 사고 감소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"GIS·위험 알림",</a:t>
            </a:r>
          </a:p>
          <a:p xmlns:a="http://schemas.openxmlformats.org/drawingml/2006/main">
            <a:r>
              <a:t>      "지자체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"장소·시간·단계·담당 기관 매핑",</a:t>
            </a:r>
          </a:p>
          <a:p xmlns:a="http://schemas.openxmlformats.org/drawingml/2006/main">
            <a:r>
              <a:t>    "test": "자료 지연·경계 지역·알림 미수신 시험",</a:t>
            </a:r>
          </a:p>
          <a:p xmlns:a="http://schemas.openxmlformats.org/drawingml/2006/main">
            <a:r>
              <a:t>    "metric": "상황 전파시간 / 조치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"canonicalId": "AX20",</a:t>
            </a:r>
          </a:p>
          <a:p xmlns:a="http://schemas.openxmlformats.org/drawingml/2006/main">
            <a:r>
              <a:t>    "purpose": "인파 밀집 위험의 공간 기반 상황 관리",</a:t>
            </a:r>
          </a:p>
          <a:p xmlns:a="http://schemas.openxmlformats.org/drawingml/2006/main">
            <a:r>
              <a:t>    "users": "지자체 상황실·현장 대응부서",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"밀집도",</a:t>
            </a:r>
          </a:p>
          <a:p xmlns:a="http://schemas.openxmlformats.org/drawingml/2006/main">
            <a:r>
              <a:t>      "GIS 상황판",</a:t>
            </a:r>
          </a:p>
          <a:p xmlns:a="http://schemas.openxmlformats.org/drawingml/2006/main">
            <a:r>
              <a:t>      "위험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"detail": "구역·시간·행사 등 상황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"밀집도 / GIS 상황판 / 위험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"detail": "유동인구와 공간 조건의 밀집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"지자체 상황실",</a:t>
            </a:r>
          </a:p>
          <a:p xmlns:a="http://schemas.openxmlformats.org/drawingml/2006/main">
            <a:r>
              <a:t>        "detail": "상황판 경보와 현장 확인·대응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밀집 이력",</a:t>
            </a:r>
          </a:p>
          <a:p xmlns:a="http://schemas.openxmlformats.org/drawingml/2006/main">
            <a:r>
              <a:t>        "detail": "유동인구 집계·공간정보·구역 코드 결합",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"실제 밀집상태·경보·대응시간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"input": "구역·시간·행사 등 상황 맥락 지정",</a:t>
            </a:r>
          </a:p>
          <a:p xmlns:a="http://schemas.openxmlformats.org/drawingml/2006/main">
            <a:r>
              <a:t>        "process": "유동인구 집계·공간정보·구역 코드 결합",</a:t>
            </a:r>
          </a:p>
          <a:p xmlns:a="http://schemas.openxmlformats.org/drawingml/2006/main">
            <a:r>
              <a:t>        "output": "인구·공간 집계"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"input": "인구·공간 집계",</a:t>
            </a:r>
          </a:p>
          <a:p xmlns:a="http://schemas.openxmlformats.org/drawingml/2006/main">
            <a:r>
              <a:t>        "process": "유동인구와 공간 조건의 밀집 분석",</a:t>
            </a:r>
          </a:p>
          <a:p xmlns:a="http://schemas.openxmlformats.org/drawingml/2006/main">
            <a:r>
              <a:t>        "output": "밀집 지표"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"GIS·위험 알림",</a:t>
            </a:r>
          </a:p>
          <a:p xmlns:a="http://schemas.openxmlformats.org/drawingml/2006/main">
            <a:r>
              <a:t>        "input": "밀집 지표",</a:t>
            </a:r>
          </a:p>
          <a:p xmlns:a="http://schemas.openxmlformats.org/drawingml/2006/main">
            <a:r>
              <a:t>        "process": "공간·시간 단위 대사와 조치 확인",</a:t>
            </a:r>
          </a:p>
          <a:p xmlns:a="http://schemas.openxmlformats.org/drawingml/2006/main">
            <a:r>
              <a:t>        "output": "위험 알림"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"지자체 대응",</a:t>
            </a:r>
          </a:p>
          <a:p xmlns:a="http://schemas.openxmlformats.org/drawingml/2006/main">
            <a:r>
              <a:t>        "input": "위험 알림",</a:t>
            </a:r>
          </a:p>
          <a:p xmlns:a="http://schemas.openxmlformats.org/drawingml/2006/main">
            <a:r>
              <a:t>        "process": "상황판 경보와 현장 확인·대응 연결",</a:t>
            </a:r>
          </a:p>
          <a:p xmlns:a="http://schemas.openxmlformats.org/drawingml/2006/main">
            <a:r>
              <a:t>        "output": "현장 대응"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"구역별 인파 밀집을 파악하고 현장 확인 요청",</a:t>
            </a:r>
          </a:p>
          <a:p xmlns:a="http://schemas.openxmlformats.org/drawingml/2006/main">
            <a:r>
              <a:t>      "exception": "집계 지연·통신 표본 편향·구역 경계 변경",</a:t>
            </a:r>
          </a:p>
          <a:p xmlns:a="http://schemas.openxmlformats.org/drawingml/2006/main">
            <a:r>
              <a:t>      "evidence": "현장 밀집상태 대비 경보·전파·조치 시각",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"지자체 상황실·현장 대응부서",</a:t>
            </a:r>
          </a:p>
          <a:p xmlns:a="http://schemas.openxmlformats.org/drawingml/2006/main">
            <a:r>
              <a:t>          "processing": "구역·시간·행사 등 상황 맥락 지정",</a:t>
            </a:r>
          </a:p>
          <a:p xmlns:a="http://schemas.openxmlformats.org/drawingml/2006/main">
            <a:r>
              <a:t>          "output": "인구·공간 집계"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밀집 이력",</a:t>
            </a:r>
          </a:p>
          <a:p xmlns:a="http://schemas.openxmlformats.org/drawingml/2006/main">
            <a:r>
              <a:t>          "processing": "유동인구 집계·공간정보·구역 코드 결합",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"인구·공간 집계",</a:t>
            </a:r>
          </a:p>
          <a:p xmlns:a="http://schemas.openxmlformats.org/drawingml/2006/main">
            <a:r>
              <a:t>          "processing": "유동인구와 공간 조건의 밀집 분석",</a:t>
            </a:r>
          </a:p>
          <a:p xmlns:a="http://schemas.openxmlformats.org/drawingml/2006/main">
            <a:r>
              <a:t>          "output": "위험 알림"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알림",</a:t>
            </a:r>
          </a:p>
          <a:p xmlns:a="http://schemas.openxmlformats.org/drawingml/2006/main">
            <a:r>
              <a:t>          "processing": "상황판 경보와 현장 확인·대응 연결",</a:t>
            </a:r>
          </a:p>
          <a:p xmlns:a="http://schemas.openxmlformats.org/drawingml/2006/main">
            <a:r>
              <a:t>          "output": "현장 대응"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"실제 밀집상태·경보·대응시간 대조",</a:t>
            </a:r>
          </a:p>
          <a:p xmlns:a="http://schemas.openxmlformats.org/drawingml/2006/main">
            <a:r>
              <a:t>          "output":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"실제 밀집상태·경보·대응시간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"S-AX20",</a:t>
            </a:r>
          </a:p>
          <a:p xmlns:a="http://schemas.openxmlformats.org/drawingml/2006/main">
            <a:r>
              <a:t>        "title": "K-인파관리지원시스템 · 공공AI 사례집 86–87쪽",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구축·운영",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"유동인구와 공간정보를 결합해 밀집 위험을 상황실과 현장 대응부서에 전달하는 사례. 추정 밀집도와 실제 현장 상태를 확인하는 조직적 대응이 결합된 구조.",</a:t>
            </a:r>
          </a:p>
          <a:p xmlns:a="http://schemas.openxmlformats.org/drawingml/2006/main">
            <a:r>
              <a:t>      "시간·구역·행사 맥락에 따라 집계 자료를 정합화하고 GIS 상황판과 경보를 생성하는 재구성. 경보 발생, 상황실 확인, 현장 출동·통제, 결과 보고를 별도 상태로 연결.",</a:t>
            </a:r>
          </a:p>
          <a:p xmlns:a="http://schemas.openxmlformats.org/drawingml/2006/main">
            <a:r>
              <a:t>      "TS 교통·시설 안전 적용에서 집계 공간 단위와 관측 편차를 먼저 확인할 필요. 오경보·미탐 외에 알림 수신·확인·대응까지 걸린 시간과 담당 부서의 인계 누락을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"상황실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"지자체 상황실·현장 대응부서",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"구역·행사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"구역·시간·행사 등 상황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"인구·공간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"인구·공간 집계",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"밀집 위험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"유동인구와 공간 조건의 밀집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"관측·추정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"공간·시간 단위 대사와 조치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"상황실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"구역별 인파 밀집을 파악하고 현장 확인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"현장 대응 알림",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"상황판 경보와 현장 확인·대응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"대응시간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"실제 밀집상태·경보·대응시간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"유동인구·GIS",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밀집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"시간·구역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"유동인구 집계·공간정보·구역 코드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"밀집·대응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"현장 밀집상태 대비 경보·전파·조치 시각",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"집계·경보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"집계 지연·통신 표본 편향·구역 경계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"구역·시간·행사 등 상황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"인구·공간 집계",</a:t>
            </a:r>
          </a:p>
          <a:p xmlns:a="http://schemas.openxmlformats.org/drawingml/2006/main">
            <a:r>
              <a:t>          "check": "공간·시간 단위 대사와 조치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"밀집 지표",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"집계 지연·통신 표본 편향·구역 경계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"상황판 경보와 현장 확인·대응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대응",</a:t>
            </a:r>
          </a:p>
          <a:p xmlns:a="http://schemas.openxmlformats.org/drawingml/2006/main">
            <a:r>
              <a:t>          "check":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"인파 밀집 위험의 공간 기반 상황 관리 / 밀집도·GIS 상황판·위험 알림",</a:t>
            </a:r>
          </a:p>
          <a:p xmlns:a="http://schemas.openxmlformats.org/drawingml/2006/main">
            <a:r>
              <a:t>        "extension": "행사·교통시설 혼잡 정보의 관할·업무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"집계 지연·통신 표본 편향·구역 경계 변경",</a:t>
            </a:r>
          </a:p>
          <a:p xmlns:a="http://schemas.openxmlformats.org/drawingml/2006/main">
            <a:r>
              <a:t>        "hold": "공간·시간 단위 대사와 조치 확인",</a:t>
            </a:r>
          </a:p>
          <a:p xmlns:a="http://schemas.openxmlformats.org/drawingml/2006/main">
            <a:r>
              <a:t>        "recovery": "실제 밀집상태·경보·대응시간 대조",</a:t>
            </a:r>
          </a:p>
          <a:p xmlns:a="http://schemas.openxmlformats.org/drawingml/2006/main">
            <a:r>
              <a:t>        "evidence": "현장 밀집상태 대비 경보·전파·조치 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밀집 이력",</a:t>
            </a:r>
          </a:p>
          <a:p xmlns:a="http://schemas.openxmlformats.org/drawingml/2006/main">
            <a:r>
              <a:t>        "prepare": "유동인구 집계·공간정보·구역 코드 결합",</a:t>
            </a:r>
          </a:p>
          <a:p xmlns:a="http://schemas.openxmlformats.org/drawingml/2006/main">
            <a:r>
              <a:t>        "output": "인구·공간 집계",</a:t>
            </a:r>
          </a:p>
          <a:p xmlns:a="http://schemas.openxmlformats.org/drawingml/2006/main">
            <a:r>
              <a:t>        "refresh": "실제 밀집상태·경보·대응시간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"공간정보와 유동인구의 결합",</a:t>
            </a:r>
          </a:p>
          <a:p xmlns:a="http://schemas.openxmlformats.org/drawingml/2006/main">
            <a:r>
              <a:t>      "상황판·알림과 지자체 대응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"추정 인구와 실제 밀집의 차이",</a:t>
            </a:r>
          </a:p>
          <a:p xmlns:a="http://schemas.openxmlformats.org/drawingml/2006/main">
            <a:r>
              <a:t>      "알림 발생과 대응 완료의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"지역별 밀집 이력",</a:t>
            </a:r>
          </a:p>
          <a:p xmlns:a="http://schemas.openxmlformats.org/drawingml/2006/main">
            <a:r>
              <a:t>      "지자체 상황실"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"인구·공간 집계",</a:t>
            </a:r>
          </a:p>
          <a:p xmlns:a="http://schemas.openxmlformats.org/drawingml/2006/main">
            <a:r>
              <a:t>      "밀집 지표",</a:t>
            </a:r>
          </a:p>
          <a:p xmlns:a="http://schemas.openxmlformats.org/drawingml/2006/main">
            <a:r>
              <a:t>      "위험 알림",</a:t>
            </a:r>
          </a:p>
          <a:p xmlns:a="http://schemas.openxmlformats.org/drawingml/2006/main">
            <a:r>
              <a:t>      "현장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"공간·시간 단위 대사와 조치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K-인파관리지원시스템 · 공공AI 사례집 86–87쪽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"title": "K-인파관리지원시스템",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"데이터 기반 위험 상황 공유",</a:t>
            </a:r>
          </a:p>
          <a:p xmlns:a="http://schemas.openxmlformats.org/drawingml/2006/main">
            <a:r>
              <a:t>    "period": "2023 구축·운영",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"데이터 기반 위험 상황 공유"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"유동인구·공간정보의 밀집도 분석과 GIS 상황판·위험 알림 제공",</a:t>
            </a:r>
          </a:p>
          <a:p xmlns:a="http://schemas.openxmlformats.org/drawingml/2006/main">
            <a:r>
              <a:t>    "limit": "데이터 분석 운영 사례 · 생성형 AI 아님 · 사고 감소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"GIS·위험 알림",</a:t>
            </a:r>
          </a:p>
          <a:p xmlns:a="http://schemas.openxmlformats.org/drawingml/2006/main">
            <a:r>
              <a:t>      "지자체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"장소·시간·단계·담당 기관 매핑",</a:t>
            </a:r>
          </a:p>
          <a:p xmlns:a="http://schemas.openxmlformats.org/drawingml/2006/main">
            <a:r>
              <a:t>    "test": "자료 지연·경계 지역·알림 미수신 시험",</a:t>
            </a:r>
          </a:p>
          <a:p xmlns:a="http://schemas.openxmlformats.org/drawingml/2006/main">
            <a:r>
              <a:t>    "metric": "상황 전파시간 / 조치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"canonicalId": "AX20",</a:t>
            </a:r>
          </a:p>
          <a:p xmlns:a="http://schemas.openxmlformats.org/drawingml/2006/main">
            <a:r>
              <a:t>    "purpose": "인파 밀집 위험의 공간 기반 상황 관리",</a:t>
            </a:r>
          </a:p>
          <a:p xmlns:a="http://schemas.openxmlformats.org/drawingml/2006/main">
            <a:r>
              <a:t>    "users": "지자체 상황실·현장 대응부서",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"밀집도",</a:t>
            </a:r>
          </a:p>
          <a:p xmlns:a="http://schemas.openxmlformats.org/drawingml/2006/main">
            <a:r>
              <a:t>      "GIS 상황판",</a:t>
            </a:r>
          </a:p>
          <a:p xmlns:a="http://schemas.openxmlformats.org/drawingml/2006/main">
            <a:r>
              <a:t>      "위험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"detail": "구역·시간·행사 등 상황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"밀집도 / GIS 상황판 / 위험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"detail": "유동인구와 공간 조건의 밀집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"지자체 상황실",</a:t>
            </a:r>
          </a:p>
          <a:p xmlns:a="http://schemas.openxmlformats.org/drawingml/2006/main">
            <a:r>
              <a:t>        "detail": "상황판 경보와 현장 확인·대응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밀집 이력",</a:t>
            </a:r>
          </a:p>
          <a:p xmlns:a="http://schemas.openxmlformats.org/drawingml/2006/main">
            <a:r>
              <a:t>        "detail": "유동인구 집계·공간정보·구역 코드 결합",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"실제 밀집상태·경보·대응시간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"input": "구역·시간·행사 등 상황 맥락 지정",</a:t>
            </a:r>
          </a:p>
          <a:p xmlns:a="http://schemas.openxmlformats.org/drawingml/2006/main">
            <a:r>
              <a:t>        "process": "유동인구 집계·공간정보·구역 코드 결합",</a:t>
            </a:r>
          </a:p>
          <a:p xmlns:a="http://schemas.openxmlformats.org/drawingml/2006/main">
            <a:r>
              <a:t>        "output": "인구·공간 집계"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"input": "인구·공간 집계",</a:t>
            </a:r>
          </a:p>
          <a:p xmlns:a="http://schemas.openxmlformats.org/drawingml/2006/main">
            <a:r>
              <a:t>        "process": "유동인구와 공간 조건의 밀집 분석",</a:t>
            </a:r>
          </a:p>
          <a:p xmlns:a="http://schemas.openxmlformats.org/drawingml/2006/main">
            <a:r>
              <a:t>        "output": "밀집 지표"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"GIS·위험 알림",</a:t>
            </a:r>
          </a:p>
          <a:p xmlns:a="http://schemas.openxmlformats.org/drawingml/2006/main">
            <a:r>
              <a:t>        "input": "밀집 지표",</a:t>
            </a:r>
          </a:p>
          <a:p xmlns:a="http://schemas.openxmlformats.org/drawingml/2006/main">
            <a:r>
              <a:t>        "process": "공간·시간 단위 대사와 조치 확인",</a:t>
            </a:r>
          </a:p>
          <a:p xmlns:a="http://schemas.openxmlformats.org/drawingml/2006/main">
            <a:r>
              <a:t>        "output": "위험 알림"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"지자체 대응",</a:t>
            </a:r>
          </a:p>
          <a:p xmlns:a="http://schemas.openxmlformats.org/drawingml/2006/main">
            <a:r>
              <a:t>        "input": "위험 알림",</a:t>
            </a:r>
          </a:p>
          <a:p xmlns:a="http://schemas.openxmlformats.org/drawingml/2006/main">
            <a:r>
              <a:t>        "process": "상황판 경보와 현장 확인·대응 연결",</a:t>
            </a:r>
          </a:p>
          <a:p xmlns:a="http://schemas.openxmlformats.org/drawingml/2006/main">
            <a:r>
              <a:t>        "output": "현장 대응"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"구역별 인파 밀집을 파악하고 현장 확인 요청",</a:t>
            </a:r>
          </a:p>
          <a:p xmlns:a="http://schemas.openxmlformats.org/drawingml/2006/main">
            <a:r>
              <a:t>      "exception": "집계 지연·통신 표본 편향·구역 경계 변경",</a:t>
            </a:r>
          </a:p>
          <a:p xmlns:a="http://schemas.openxmlformats.org/drawingml/2006/main">
            <a:r>
              <a:t>      "evidence": "현장 밀집상태 대비 경보·전파·조치 시각",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"지자체 상황실·현장 대응부서",</a:t>
            </a:r>
          </a:p>
          <a:p xmlns:a="http://schemas.openxmlformats.org/drawingml/2006/main">
            <a:r>
              <a:t>          "processing": "구역·시간·행사 등 상황 맥락 지정",</a:t>
            </a:r>
          </a:p>
          <a:p xmlns:a="http://schemas.openxmlformats.org/drawingml/2006/main">
            <a:r>
              <a:t>          "output": "인구·공간 집계"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밀집 이력",</a:t>
            </a:r>
          </a:p>
          <a:p xmlns:a="http://schemas.openxmlformats.org/drawingml/2006/main">
            <a:r>
              <a:t>          "processing": "유동인구 집계·공간정보·구역 코드 결합",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"인구·공간 집계",</a:t>
            </a:r>
          </a:p>
          <a:p xmlns:a="http://schemas.openxmlformats.org/drawingml/2006/main">
            <a:r>
              <a:t>          "processing": "유동인구와 공간 조건의 밀집 분석",</a:t>
            </a:r>
          </a:p>
          <a:p xmlns:a="http://schemas.openxmlformats.org/drawingml/2006/main">
            <a:r>
              <a:t>          "output": "위험 알림"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알림",</a:t>
            </a:r>
          </a:p>
          <a:p xmlns:a="http://schemas.openxmlformats.org/drawingml/2006/main">
            <a:r>
              <a:t>          "processing": "상황판 경보와 현장 확인·대응 연결",</a:t>
            </a:r>
          </a:p>
          <a:p xmlns:a="http://schemas.openxmlformats.org/drawingml/2006/main">
            <a:r>
              <a:t>          "output": "현장 대응"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"실제 밀집상태·경보·대응시간 대조",</a:t>
            </a:r>
          </a:p>
          <a:p xmlns:a="http://schemas.openxmlformats.org/drawingml/2006/main">
            <a:r>
              <a:t>          "output":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"실제 밀집상태·경보·대응시간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"S-AX20",</a:t>
            </a:r>
          </a:p>
          <a:p xmlns:a="http://schemas.openxmlformats.org/drawingml/2006/main">
            <a:r>
              <a:t>        "title": "K-인파관리지원시스템 · 공공AI 사례집 86–87쪽",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구축·운영",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"유동인구와 공간정보를 결합해 밀집 위험을 상황실과 현장 대응부서에 전달하는 사례. 추정 밀집도와 실제 현장 상태를 확인하는 조직적 대응이 결합된 구조.",</a:t>
            </a:r>
          </a:p>
          <a:p xmlns:a="http://schemas.openxmlformats.org/drawingml/2006/main">
            <a:r>
              <a:t>      "시간·구역·행사 맥락에 따라 집계 자료를 정합화하고 GIS 상황판과 경보를 생성하는 재구성. 경보 발생, 상황실 확인, 현장 출동·통제, 결과 보고를 별도 상태로 연결.",</a:t>
            </a:r>
          </a:p>
          <a:p xmlns:a="http://schemas.openxmlformats.org/drawingml/2006/main">
            <a:r>
              <a:t>      "TS 교통·시설 안전 적용에서 집계 공간 단위와 관측 편차를 먼저 확인할 필요. 오경보·미탐 외에 알림 수신·확인·대응까지 걸린 시간과 담당 부서의 인계 누락을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"상황실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"지자체 상황실·현장 대응부서",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"구역·행사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"구역·시간·행사 등 상황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"인구·공간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"인구·공간 집계",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"밀집 위험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"유동인구와 공간 조건의 밀집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"관측·추정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"공간·시간 단위 대사와 조치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"상황실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"구역별 인파 밀집을 파악하고 현장 확인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"현장 대응 알림",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"상황판 경보와 현장 확인·대응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"대응시간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"실제 밀집상태·경보·대응시간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"유동인구·GIS",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밀집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"시간·구역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"유동인구 집계·공간정보·구역 코드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"밀집·대응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"현장 밀집상태 대비 경보·전파·조치 시각",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"집계·경보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"집계 지연·통신 표본 편향·구역 경계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"구역·시간·행사 등 상황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"인구·공간 집계",</a:t>
            </a:r>
          </a:p>
          <a:p xmlns:a="http://schemas.openxmlformats.org/drawingml/2006/main">
            <a:r>
              <a:t>          "check": "공간·시간 단위 대사와 조치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"밀집 지표",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"집계 지연·통신 표본 편향·구역 경계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"상황판 경보와 현장 확인·대응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대응",</a:t>
            </a:r>
          </a:p>
          <a:p xmlns:a="http://schemas.openxmlformats.org/drawingml/2006/main">
            <a:r>
              <a:t>          "check":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"인파 밀집 위험의 공간 기반 상황 관리 / 밀집도·GIS 상황판·위험 알림",</a:t>
            </a:r>
          </a:p>
          <a:p xmlns:a="http://schemas.openxmlformats.org/drawingml/2006/main">
            <a:r>
              <a:t>        "extension": "행사·교통시설 혼잡 정보의 관할·업무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"집계 지연·통신 표본 편향·구역 경계 변경",</a:t>
            </a:r>
          </a:p>
          <a:p xmlns:a="http://schemas.openxmlformats.org/drawingml/2006/main">
            <a:r>
              <a:t>        "hold": "공간·시간 단위 대사와 조치 확인",</a:t>
            </a:r>
          </a:p>
          <a:p xmlns:a="http://schemas.openxmlformats.org/drawingml/2006/main">
            <a:r>
              <a:t>        "recovery": "실제 밀집상태·경보·대응시간 대조",</a:t>
            </a:r>
          </a:p>
          <a:p xmlns:a="http://schemas.openxmlformats.org/drawingml/2006/main">
            <a:r>
              <a:t>        "evidence": "현장 밀집상태 대비 경보·전파·조치 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밀집 이력",</a:t>
            </a:r>
          </a:p>
          <a:p xmlns:a="http://schemas.openxmlformats.org/drawingml/2006/main">
            <a:r>
              <a:t>        "prepare": "유동인구 집계·공간정보·구역 코드 결합",</a:t>
            </a:r>
          </a:p>
          <a:p xmlns:a="http://schemas.openxmlformats.org/drawingml/2006/main">
            <a:r>
              <a:t>        "output": "인구·공간 집계",</a:t>
            </a:r>
          </a:p>
          <a:p xmlns:a="http://schemas.openxmlformats.org/drawingml/2006/main">
            <a:r>
              <a:t>        "refresh": "실제 밀집상태·경보·대응시간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"공간정보와 유동인구의 결합",</a:t>
            </a:r>
          </a:p>
          <a:p xmlns:a="http://schemas.openxmlformats.org/drawingml/2006/main">
            <a:r>
              <a:t>      "상황판·알림과 지자체 대응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"추정 인구와 실제 밀집의 차이",</a:t>
            </a:r>
          </a:p>
          <a:p xmlns:a="http://schemas.openxmlformats.org/drawingml/2006/main">
            <a:r>
              <a:t>      "알림 발생과 대응 완료의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"지역별 밀집 이력",</a:t>
            </a:r>
          </a:p>
          <a:p xmlns:a="http://schemas.openxmlformats.org/drawingml/2006/main">
            <a:r>
              <a:t>      "지자체 상황실"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"인구·공간 집계",</a:t>
            </a:r>
          </a:p>
          <a:p xmlns:a="http://schemas.openxmlformats.org/drawingml/2006/main">
            <a:r>
              <a:t>      "밀집 지표",</a:t>
            </a:r>
          </a:p>
          <a:p xmlns:a="http://schemas.openxmlformats.org/drawingml/2006/main">
            <a:r>
              <a:t>      "위험 알림",</a:t>
            </a:r>
          </a:p>
          <a:p xmlns:a="http://schemas.openxmlformats.org/drawingml/2006/main">
            <a:r>
              <a:t>      "현장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"공간·시간 단위 대사와 조치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K-인파관리지원시스템 · 공공AI 사례집 86–87쪽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"title": "K-인파관리지원시스템",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"성공",</a:t>
            </a:r>
          </a:p>
          <a:p xmlns:a="http://schemas.openxmlformats.org/drawingml/2006/main">
            <a:r>
              <a:t>    "kind": "데이터 기반 위험 상황 공유",</a:t>
            </a:r>
          </a:p>
          <a:p xmlns:a="http://schemas.openxmlformats.org/drawingml/2006/main">
            <a:r>
              <a:t>    "period": "2023 구축·운영",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"S-AX20"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"데이터 기반 위험 상황 공유"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"유동인구·공간정보의 밀집도 분석과 GIS 상황판·위험 알림 제공",</a:t>
            </a:r>
          </a:p>
          <a:p xmlns:a="http://schemas.openxmlformats.org/drawingml/2006/main">
            <a:r>
              <a:t>    "limit": "데이터 분석 운영 사례 · 생성형 AI 아님 · 사고 감소 인과효과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"GIS·위험 알림",</a:t>
            </a:r>
          </a:p>
          <a:p xmlns:a="http://schemas.openxmlformats.org/drawingml/2006/main">
            <a:r>
              <a:t>      "지자체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"장소·시간·단계·담당 기관 매핑",</a:t>
            </a:r>
          </a:p>
          <a:p xmlns:a="http://schemas.openxmlformats.org/drawingml/2006/main">
            <a:r>
              <a:t>    "test": "자료 지연·경계 지역·알림 미수신 시험",</a:t>
            </a:r>
          </a:p>
          <a:p xmlns:a="http://schemas.openxmlformats.org/drawingml/2006/main">
            <a:r>
              <a:t>    "metric": "상황 전파시간 / 조치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"canonicalId": "AX20",</a:t>
            </a:r>
          </a:p>
          <a:p xmlns:a="http://schemas.openxmlformats.org/drawingml/2006/main">
            <a:r>
              <a:t>    "purpose": "인파 밀집 위험의 공간 기반 상황 관리",</a:t>
            </a:r>
          </a:p>
          <a:p xmlns:a="http://schemas.openxmlformats.org/drawingml/2006/main">
            <a:r>
              <a:t>    "users": "지자체 상황실·현장 대응부서",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"밀집도",</a:t>
            </a:r>
          </a:p>
          <a:p xmlns:a="http://schemas.openxmlformats.org/drawingml/2006/main">
            <a:r>
              <a:t>      "GIS 상황판",</a:t>
            </a:r>
          </a:p>
          <a:p xmlns:a="http://schemas.openxmlformats.org/drawingml/2006/main">
            <a:r>
              <a:t>      "위험 알림"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"detail": "구역·시간·행사 등 상황 맥락 지정",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"밀집도 / GIS 상황판 / 위험 알림",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"detail": "유동인구와 공간 조건의 밀집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"지자체 상황실",</a:t>
            </a:r>
          </a:p>
          <a:p xmlns:a="http://schemas.openxmlformats.org/drawingml/2006/main">
            <a:r>
              <a:t>        "detail": "상황판 경보와 현장 확인·대응 연결",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밀집 이력",</a:t>
            </a:r>
          </a:p>
          <a:p xmlns:a="http://schemas.openxmlformats.org/drawingml/2006/main">
            <a:r>
              <a:t>        "detail": "유동인구 집계·공간정보·구역 코드 결합",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"실제 밀집상태·경보·대응시간 대조",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"유동인구·공간정보",</a:t>
            </a:r>
          </a:p>
          <a:p xmlns:a="http://schemas.openxmlformats.org/drawingml/2006/main">
            <a:r>
              <a:t>        "input": "구역·시간·행사 등 상황 맥락 지정",</a:t>
            </a:r>
          </a:p>
          <a:p xmlns:a="http://schemas.openxmlformats.org/drawingml/2006/main">
            <a:r>
              <a:t>        "process": "유동인구 집계·공간정보·구역 코드 결합",</a:t>
            </a:r>
          </a:p>
          <a:p xmlns:a="http://schemas.openxmlformats.org/drawingml/2006/main">
            <a:r>
              <a:t>        "output": "인구·공간 집계"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"밀집도 분석",</a:t>
            </a:r>
          </a:p>
          <a:p xmlns:a="http://schemas.openxmlformats.org/drawingml/2006/main">
            <a:r>
              <a:t>        "input": "인구·공간 집계",</a:t>
            </a:r>
          </a:p>
          <a:p xmlns:a="http://schemas.openxmlformats.org/drawingml/2006/main">
            <a:r>
              <a:t>        "process": "유동인구와 공간 조건의 밀집 분석",</a:t>
            </a:r>
          </a:p>
          <a:p xmlns:a="http://schemas.openxmlformats.org/drawingml/2006/main">
            <a:r>
              <a:t>        "output": "밀집 지표"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"GIS·위험 알림",</a:t>
            </a:r>
          </a:p>
          <a:p xmlns:a="http://schemas.openxmlformats.org/drawingml/2006/main">
            <a:r>
              <a:t>        "input": "밀집 지표",</a:t>
            </a:r>
          </a:p>
          <a:p xmlns:a="http://schemas.openxmlformats.org/drawingml/2006/main">
            <a:r>
              <a:t>        "process": "공간·시간 단위 대사와 조치 확인",</a:t>
            </a:r>
          </a:p>
          <a:p xmlns:a="http://schemas.openxmlformats.org/drawingml/2006/main">
            <a:r>
              <a:t>        "output": "위험 알림"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"지자체 대응",</a:t>
            </a:r>
          </a:p>
          <a:p xmlns:a="http://schemas.openxmlformats.org/drawingml/2006/main">
            <a:r>
              <a:t>        "input": "위험 알림",</a:t>
            </a:r>
          </a:p>
          <a:p xmlns:a="http://schemas.openxmlformats.org/drawingml/2006/main">
            <a:r>
              <a:t>        "process": "상황판 경보와 현장 확인·대응 연결",</a:t>
            </a:r>
          </a:p>
          <a:p xmlns:a="http://schemas.openxmlformats.org/drawingml/2006/main">
            <a:r>
              <a:t>        "output": "현장 대응"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"구역별 인파 밀집을 파악하고 현장 확인 요청",</a:t>
            </a:r>
          </a:p>
          <a:p xmlns:a="http://schemas.openxmlformats.org/drawingml/2006/main">
            <a:r>
              <a:t>      "exception": "집계 지연·통신 표본 편향·구역 경계 변경",</a:t>
            </a:r>
          </a:p>
          <a:p xmlns:a="http://schemas.openxmlformats.org/drawingml/2006/main">
            <a:r>
              <a:t>      "evidence": "현장 밀집상태 대비 경보·전파·조치 시각",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"지자체 상황실·현장 대응부서",</a:t>
            </a:r>
          </a:p>
          <a:p xmlns:a="http://schemas.openxmlformats.org/drawingml/2006/main">
            <a:r>
              <a:t>          "processing": "구역·시간·행사 등 상황 맥락 지정",</a:t>
            </a:r>
          </a:p>
          <a:p xmlns:a="http://schemas.openxmlformats.org/drawingml/2006/main">
            <a:r>
              <a:t>          "output": "인구·공간 집계"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밀집 이력",</a:t>
            </a:r>
          </a:p>
          <a:p xmlns:a="http://schemas.openxmlformats.org/drawingml/2006/main">
            <a:r>
              <a:t>          "processing": "유동인구 집계·공간정보·구역 코드 결합",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"인구·공간 집계",</a:t>
            </a:r>
          </a:p>
          <a:p xmlns:a="http://schemas.openxmlformats.org/drawingml/2006/main">
            <a:r>
              <a:t>          "processing": "유동인구와 공간 조건의 밀집 분석",</a:t>
            </a:r>
          </a:p>
          <a:p xmlns:a="http://schemas.openxmlformats.org/drawingml/2006/main">
            <a:r>
              <a:t>          "output": "위험 알림"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알림",</a:t>
            </a:r>
          </a:p>
          <a:p xmlns:a="http://schemas.openxmlformats.org/drawingml/2006/main">
            <a:r>
              <a:t>          "processing": "상황판 경보와 현장 확인·대응 연결",</a:t>
            </a:r>
          </a:p>
          <a:p xmlns:a="http://schemas.openxmlformats.org/drawingml/2006/main">
            <a:r>
              <a:t>          "output": "현장 대응"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"실제 밀집상태·경보·대응시간 대조",</a:t>
            </a:r>
          </a:p>
          <a:p xmlns:a="http://schemas.openxmlformats.org/drawingml/2006/main">
            <a:r>
              <a:t>          "output":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"실제 밀집상태·경보·대응시간 대조",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"S-AX20",</a:t>
            </a:r>
          </a:p>
          <a:p xmlns:a="http://schemas.openxmlformats.org/drawingml/2006/main">
            <a:r>
              <a:t>        "title": "K-인파관리지원시스템 · 공공AI 사례집 86–87쪽",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구축·운영",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"위험 감지와 소관기관 상황 전파 연결",</a:t>
            </a:r>
          </a:p>
          <a:p xmlns:a="http://schemas.openxmlformats.org/drawingml/2006/main">
            <a:r>
              <a:t>    "local": "행사·교통시설 혼잡 정보의 관할·업무 인계",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"유동인구와 공간정보를 결합해 밀집 위험을 상황실과 현장 대응부서에 전달하는 사례. 추정 밀집도와 실제 현장 상태를 확인하는 조직적 대응이 결합된 구조.",</a:t>
            </a:r>
          </a:p>
          <a:p xmlns:a="http://schemas.openxmlformats.org/drawingml/2006/main">
            <a:r>
              <a:t>      "시간·구역·행사 맥락에 따라 집계 자료를 정합화하고 GIS 상황판과 경보를 생성하는 재구성. 경보 발생, 상황실 확인, 현장 출동·통제, 결과 보고를 별도 상태로 연결.",</a:t>
            </a:r>
          </a:p>
          <a:p xmlns:a="http://schemas.openxmlformats.org/drawingml/2006/main">
            <a:r>
              <a:t>      "TS 교통·시설 안전 적용에서 집계 공간 단위와 관측 편차를 먼저 확인할 필요. 오경보·미탐 외에 알림 수신·확인·대응까지 걸린 시간과 담당 부서의 인계 누락을 검수할 대상."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"상황실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"지자체 상황실·현장 대응부서",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"구역·행사 맥락",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"구역·시간·행사 등 상황 맥락 지정",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"인구·공간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"인구·공간 집계",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"밀집 위험 분석",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"유동인구와 공간 조건의 밀집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"관측·추정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"공간·시간 단위 대사와 조치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"상황실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"구역별 인파 밀집을 파악하고 현장 확인 요청",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"현장 대응 알림",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"상황판 경보와 현장 확인·대응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"대응시간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"실제 밀집상태·경보·대응시간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"유동인구·GIS",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밀집 이력",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"시간·구역 정합화",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"유동인구 집계·공간정보·구역 코드 결합",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"밀집·대응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"현장 밀집상태 대비 경보·전파·조치 시각",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"집계·경보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"집계 지연·통신 표본 편향·구역 경계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"구역·시간·행사 등 상황 맥락 지정",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"인구·공간 집계",</a:t>
            </a:r>
          </a:p>
          <a:p xmlns:a="http://schemas.openxmlformats.org/drawingml/2006/main">
            <a:r>
              <a:t>          "check": "공간·시간 단위 대사와 조치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"밀집 지표",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"집계 지연·통신 표본 편향·구역 경계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알림",</a:t>
            </a:r>
          </a:p>
          <a:p xmlns:a="http://schemas.openxmlformats.org/drawingml/2006/main">
            <a:r>
              <a:t>          "check": "상황판 경보와 현장 확인·대응 연결"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대응",</a:t>
            </a:r>
          </a:p>
          <a:p xmlns:a="http://schemas.openxmlformats.org/drawingml/2006/main">
            <a:r>
              <a:t>          "check": "현장 밀집상태 대비 경보·전파·조치 시각"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"인파 밀집 위험의 공간 기반 상황 관리 / 밀집도·GIS 상황판·위험 알림",</a:t>
            </a:r>
          </a:p>
          <a:p xmlns:a="http://schemas.openxmlformats.org/drawingml/2006/main">
            <a:r>
              <a:t>        "extension": "행사·교통시설 혼잡 정보의 관할·업무 인계"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"집계 지연·통신 표본 편향·구역 경계 변경",</a:t>
            </a:r>
          </a:p>
          <a:p xmlns:a="http://schemas.openxmlformats.org/drawingml/2006/main">
            <a:r>
              <a:t>        "hold": "공간·시간 단위 대사와 조치 확인",</a:t>
            </a:r>
          </a:p>
          <a:p xmlns:a="http://schemas.openxmlformats.org/drawingml/2006/main">
            <a:r>
              <a:t>        "recovery": "실제 밀집상태·경보·대응시간 대조",</a:t>
            </a:r>
          </a:p>
          <a:p xmlns:a="http://schemas.openxmlformats.org/drawingml/2006/main">
            <a:r>
              <a:t>        "evidence": "현장 밀집상태 대비 경보·전파·조치 시각"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밀집 이력",</a:t>
            </a:r>
          </a:p>
          <a:p xmlns:a="http://schemas.openxmlformats.org/drawingml/2006/main">
            <a:r>
              <a:t>        "prepare": "유동인구 집계·공간정보·구역 코드 결합",</a:t>
            </a:r>
          </a:p>
          <a:p xmlns:a="http://schemas.openxmlformats.org/drawingml/2006/main">
            <a:r>
              <a:t>        "output": "인구·공간 집계",</a:t>
            </a:r>
          </a:p>
          <a:p xmlns:a="http://schemas.openxmlformats.org/drawingml/2006/main">
            <a:r>
              <a:t>        "refresh": "실제 밀집상태·경보·대응시간 대조"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"AX20",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"공간정보와 유동인구의 결합",</a:t>
            </a:r>
          </a:p>
          <a:p xmlns:a="http://schemas.openxmlformats.org/drawingml/2006/main">
            <a:r>
              <a:t>      "상황판·알림과 지자체 대응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"추정 인구와 실제 밀집의 차이",</a:t>
            </a:r>
          </a:p>
          <a:p xmlns:a="http://schemas.openxmlformats.org/drawingml/2006/main">
            <a:r>
              <a:t>      "알림 발생과 대응 완료의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"유동인구·공간정보",</a:t>
            </a:r>
          </a:p>
          <a:p xmlns:a="http://schemas.openxmlformats.org/drawingml/2006/main">
            <a:r>
              <a:t>      "밀집도 분석",</a:t>
            </a:r>
          </a:p>
          <a:p xmlns:a="http://schemas.openxmlformats.org/drawingml/2006/main">
            <a:r>
              <a:t>      "지역별 밀집 이력",</a:t>
            </a:r>
          </a:p>
          <a:p xmlns:a="http://schemas.openxmlformats.org/drawingml/2006/main">
            <a:r>
              <a:t>      "지자체 상황실"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"인구·공간 집계",</a:t>
            </a:r>
          </a:p>
          <a:p xmlns:a="http://schemas.openxmlformats.org/drawingml/2006/main">
            <a:r>
              <a:t>      "밀집 지표",</a:t>
            </a:r>
          </a:p>
          <a:p xmlns:a="http://schemas.openxmlformats.org/drawingml/2006/main">
            <a:r>
              <a:t>      "위험 알림",</a:t>
            </a:r>
          </a:p>
          <a:p xmlns:a="http://schemas.openxmlformats.org/drawingml/2006/main">
            <a:r>
              <a:t>      "현장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"공간·시간 단위 대사와 조치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K-인파관리지원시스템 · 공공AI 사례집 86–87쪽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"title": "항공안전 이슈 분석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"안전 문서 분류·분석",</a:t>
            </a:r>
          </a:p>
          <a:p xmlns:a="http://schemas.openxmlformats.org/drawingml/2006/main">
            <a:r>
              <a:t>    "period": "2024 기술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"안전 문서 분류",</a:t>
            </a:r>
          </a:p>
          <a:p xmlns:a="http://schemas.openxmlformats.org/drawingml/2006/main">
            <a:r>
              <a:t>      "분석"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"항공안전 기사·분류체계 기반 번역·요약·위험 분류와 분석원 검토의 기술 실증",</a:t>
            </a:r>
          </a:p>
          <a:p xmlns:a="http://schemas.openxmlformats.org/drawingml/2006/main">
            <a:r>
              <a:t>    "limit": "PoC 범위 · 운영 생산성 실측으로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"요약·위험 분류",</a:t>
            </a:r>
          </a:p>
          <a:p xmlns:a="http://schemas.openxmlformats.org/drawingml/2006/main">
            <a:r>
              <a:t>      "분석원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"안전 이슈 분류셋·근거 위치·검토 기록",</a:t>
            </a:r>
          </a:p>
          <a:p xmlns:a="http://schemas.openxmlformats.org/drawingml/2006/main">
            <a:r>
              <a:t>    "test": "위험 유형별 누락·오분류·번역 오류 평가",</a:t>
            </a:r>
          </a:p>
          <a:p xmlns:a="http://schemas.openxmlformats.org/drawingml/2006/main">
            <a:r>
              <a:t>    "metric": "분류 재현율 / 검토 포함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"canonicalId": "AX21",</a:t>
            </a:r>
          </a:p>
          <a:p xmlns:a="http://schemas.openxmlformats.org/drawingml/2006/main">
            <a:r>
              <a:t>    "purpose": "항공안전 이슈의 번역·분류·검토 지원",</a:t>
            </a:r>
          </a:p>
          <a:p xmlns:a="http://schemas.openxmlformats.org/drawingml/2006/main">
            <a:r>
              <a:t>    "users": "항공안전 분석원",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"기사 수집",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"분석원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"detail": "기사 출처·발생일·대상 항공 업무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"기사 수집 / 위험 분류 / 분석원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"전처리·RAG·분류",</a:t>
            </a:r>
          </a:p>
          <a:p xmlns:a="http://schemas.openxmlformats.org/drawingml/2006/main">
            <a:r>
              <a:t>        "detail": "번역·요약 후 안전 분류체계별 후보 제시",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"항공안전 분석원",</a:t>
            </a:r>
          </a:p>
          <a:p xmlns:a="http://schemas.openxmlformats.org/drawingml/2006/main">
            <a:r>
              <a:t>        "detail": "분류 근거와 원문을 분석원에게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"기사·위험 분류체계",</a:t>
            </a:r>
          </a:p>
          <a:p xmlns:a="http://schemas.openxmlformats.org/drawingml/2006/main">
            <a:r>
              <a:t>        "detail": "원문 기사·번역문·분류체계 판본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"분석원 수정과 분류 누락의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"input": "기사 출처·발생일·대상 항공 업무 식별",</a:t>
            </a:r>
          </a:p>
          <a:p xmlns:a="http://schemas.openxmlformats.org/drawingml/2006/main">
            <a:r>
              <a:t>        "process": "원문 기사·번역문·분류체계 판본 관리",</a:t>
            </a:r>
          </a:p>
          <a:p xmlns:a="http://schemas.openxmlformats.org/drawingml/2006/main">
            <a:r>
              <a:t>        "output": "기사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"input": "기사 원문",</a:t>
            </a:r>
          </a:p>
          <a:p xmlns:a="http://schemas.openxmlformats.org/drawingml/2006/main">
            <a:r>
              <a:t>        "process": "번역·요약 후 안전 분류체계별 후보 제시",</a:t>
            </a:r>
          </a:p>
          <a:p xmlns:a="http://schemas.openxmlformats.org/drawingml/2006/main">
            <a:r>
              <a:t>        "output": "분석용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"요약·위험 분류",</a:t>
            </a:r>
          </a:p>
          <a:p xmlns:a="http://schemas.openxmlformats.org/drawingml/2006/main">
            <a:r>
              <a:t>        "input": "분석용 문서",</a:t>
            </a:r>
          </a:p>
          <a:p xmlns:a="http://schemas.openxmlformats.org/drawingml/2006/main">
            <a:r>
              <a:t>        "process": "원문 사건·시각·위험등급 대조",</a:t>
            </a:r>
          </a:p>
          <a:p xmlns:a="http://schemas.openxmlformats.org/drawingml/2006/main">
            <a:r>
              <a:t>        "output": "요약·위험 태그"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"분석원 재검토",</a:t>
            </a:r>
          </a:p>
          <a:p xmlns:a="http://schemas.openxmlformats.org/drawingml/2006/main">
            <a:r>
              <a:t>        "input": "요약·위험 태그",</a:t>
            </a:r>
          </a:p>
          <a:p xmlns:a="http://schemas.openxmlformats.org/drawingml/2006/main">
            <a:r>
              <a:t>        "process": "분류 근거와 원문을 분석원에게 전달",</a:t>
            </a:r>
          </a:p>
          <a:p xmlns:a="http://schemas.openxmlformats.org/drawingml/2006/main">
            <a:r>
              <a:t>        "output": "분석원 수정"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"기사의 사건·번역·분류 근거를 분석원이 검토",</a:t>
            </a:r>
          </a:p>
          <a:p xmlns:a="http://schemas.openxmlformats.org/drawingml/2006/main">
            <a:r>
              <a:t>      "exception": "다른 사건의 혼합·번역 부정문 오류·분류 중복",</a:t>
            </a:r>
          </a:p>
          <a:p xmlns:a="http://schemas.openxmlformats.org/drawingml/2006/main">
            <a:r>
              <a:t>      "evidence": "원문 구간과 번역·분류·분석원 수정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"항공안전 분석원",</a:t>
            </a:r>
          </a:p>
          <a:p xmlns:a="http://schemas.openxmlformats.org/drawingml/2006/main">
            <a:r>
              <a:t>          "processing": "기사 출처·발생일·대상 항공 업무 식별",</a:t>
            </a:r>
          </a:p>
          <a:p xmlns:a="http://schemas.openxmlformats.org/drawingml/2006/main">
            <a:r>
              <a:t>          "output": "기사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"기사·위험 분류체계",</a:t>
            </a:r>
          </a:p>
          <a:p xmlns:a="http://schemas.openxmlformats.org/drawingml/2006/main">
            <a:r>
              <a:t>          "processing": "원문 기사·번역문·분류체계 판본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"기사 원문",</a:t>
            </a:r>
          </a:p>
          <a:p xmlns:a="http://schemas.openxmlformats.org/drawingml/2006/main">
            <a:r>
              <a:t>          "processing": "번역·요약 후 안전 분류체계별 후보 제시",</a:t>
            </a:r>
          </a:p>
          <a:p xmlns:a="http://schemas.openxmlformats.org/drawingml/2006/main">
            <a:r>
              <a:t>          "output": "요약·위험 태그"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"요약·위험 태그",</a:t>
            </a:r>
          </a:p>
          <a:p xmlns:a="http://schemas.openxmlformats.org/drawingml/2006/main">
            <a:r>
              <a:t>          "processing": "분류 근거와 원문을 분석원에게 전달",</a:t>
            </a:r>
          </a:p>
          <a:p xmlns:a="http://schemas.openxmlformats.org/drawingml/2006/main">
            <a:r>
              <a:t>          "output": "분석원 수정"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"분석원 수정과 분류 누락의 회귀 평가",</a:t>
            </a:r>
          </a:p>
          <a:p xmlns:a="http://schemas.openxmlformats.org/drawingml/2006/main">
            <a:r>
              <a:t>          "output":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"분석원 수정과 분류 누락의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"S-AX21",</a:t>
            </a:r>
          </a:p>
          <a:p xmlns:a="http://schemas.openxmlformats.org/drawingml/2006/main">
            <a:r>
              <a:t>        "title": "항공안전 이슈 분석 AI PoC · 공공AI 사례집 100–101쪽",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기술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"항공안전 관련 기사에서 사건과 위험 요인을 찾아 분석원의 검토를 돕는 사례. 다국어 자료의 번역·요약과 정해진 안전 분류체계 적용이 결합된 업무.",</a:t>
            </a:r>
          </a:p>
          <a:p xmlns:a="http://schemas.openxmlformats.org/drawingml/2006/main">
            <a:r>
              <a:t>      "기사 출처·발생일·항공업무를 식별한 뒤 번역문과 원문을 연결하고 위험 태그 후보를 제시하는 재구성. 분석원의 수정값과 판정 근거를 보존해 분류 누락·오역을 회귀 평가.",</a:t>
            </a:r>
          </a:p>
          <a:p xmlns:a="http://schemas.openxmlformats.org/drawingml/2006/main">
            <a:r>
              <a:t>      "TS 적용에서는 기사량 처리보다 사건·시각·위험등급의 정확한 추출과 근거 추적을 우선. 원문 대비 중요 사건 누락, 분류체계 개정, 다국어 전문용어 오역을 독립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"기사 수집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"항공안전 분석원",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"출처·발생일",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"기사 출처·발생일·대상 항공 업무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"분류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"기사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"번역·요약·태깅",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"번역·요약 후 안전 분류체계별 후보 제시",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"사건·등급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"원문 사건·시각·위험등급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"분석원 수정",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"기사의 사건·번역·분류 근거를 분석원이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"검토 보고서",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"분류 근거와 원문을 분석원에게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"분석원 수정과 분류 누락의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"기사·안전 분류",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"기사·위험 분류체계",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"번역·판본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"원문 기사·번역문·분류체계 판본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"기사·분류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"원문 구간과 번역·분류·분석원 수정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"분류·검토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사건의 혼합·번역 부정문 오류·분류 중복",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"기사 출처·발생일·대상 항공 업무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"기사 원문",</a:t>
            </a:r>
          </a:p>
          <a:p xmlns:a="http://schemas.openxmlformats.org/drawingml/2006/main">
            <a:r>
              <a:t>          "check": "원문 사건·시각·위험등급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"분석용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"다른 사건의 혼합·번역 부정문 오류·분류 중복"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"분류 근거와 원문을 분석원에게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"분석원 수정",</a:t>
            </a:r>
          </a:p>
          <a:p xmlns:a="http://schemas.openxmlformats.org/drawingml/2006/main">
            <a:r>
              <a:t>          "check":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"항공안전 이슈의 번역·분류·검토 지원 / 기사 수집·위험 분류·분석원 검토",</a:t>
            </a:r>
          </a:p>
          <a:p xmlns:a="http://schemas.openxmlformats.org/drawingml/2006/main">
            <a:r>
              <a:t>        "extension": "TS 분야별 사고·위험 용어와 책임 직무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사건의 혼합·번역 부정문 오류·분류 중복",</a:t>
            </a:r>
          </a:p>
          <a:p xmlns:a="http://schemas.openxmlformats.org/drawingml/2006/main">
            <a:r>
              <a:t>        "hold": "원문 사건·시각·위험등급 대조",</a:t>
            </a:r>
          </a:p>
          <a:p xmlns:a="http://schemas.openxmlformats.org/drawingml/2006/main">
            <a:r>
              <a:t>        "recovery": "분석원 수정과 분류 누락의 회귀 평가",</a:t>
            </a:r>
          </a:p>
          <a:p xmlns:a="http://schemas.openxmlformats.org/drawingml/2006/main">
            <a:r>
              <a:t>        "evidence": "원문 구간과 번역·분류·분석원 수정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"기사·위험 분류체계",</a:t>
            </a:r>
          </a:p>
          <a:p xmlns:a="http://schemas.openxmlformats.org/drawingml/2006/main">
            <a:r>
              <a:t>        "prepare": "원문 기사·번역문·분류체계 판본 관리",</a:t>
            </a:r>
          </a:p>
          <a:p xmlns:a="http://schemas.openxmlformats.org/drawingml/2006/main">
            <a:r>
              <a:t>        "output": "기사 원문",</a:t>
            </a:r>
          </a:p>
          <a:p xmlns:a="http://schemas.openxmlformats.org/drawingml/2006/main">
            <a:r>
              <a:t>        "refresh": "분석원 수정과 분류 누락의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"분류체계에 맞춘 번역·요약",</a:t>
            </a:r>
          </a:p>
          <a:p xmlns:a="http://schemas.openxmlformats.org/drawingml/2006/main">
            <a:r>
              <a:t>      "안전 분석원의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"다국어 용어·위험 분류 오류",</a:t>
            </a:r>
          </a:p>
          <a:p xmlns:a="http://schemas.openxmlformats.org/drawingml/2006/main">
            <a:r>
              <a:t>      "기사 요약에서 중요 사건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"전처리·RAG·분류",</a:t>
            </a:r>
          </a:p>
          <a:p xmlns:a="http://schemas.openxmlformats.org/drawingml/2006/main">
            <a:r>
              <a:t>      "기사·위험 분류체계",</a:t>
            </a:r>
          </a:p>
          <a:p xmlns:a="http://schemas.openxmlformats.org/drawingml/2006/main">
            <a:r>
              <a:t>      "항공안전 분석원"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"기사 원문",</a:t>
            </a:r>
          </a:p>
          <a:p xmlns:a="http://schemas.openxmlformats.org/drawingml/2006/main">
            <a:r>
              <a:t>      "분석용 문서",</a:t>
            </a:r>
          </a:p>
          <a:p xmlns:a="http://schemas.openxmlformats.org/drawingml/2006/main">
            <a:r>
              <a:t>      "요약·위험 태그",</a:t>
            </a:r>
          </a:p>
          <a:p xmlns:a="http://schemas.openxmlformats.org/drawingml/2006/main">
            <a:r>
              <a:t>      "분석원 수정"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"원문 사건·시각·위험등급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항공안전 이슈 분석 AI PoC · 공공AI 사례집 100–101쪽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https://heen1987-ops.github.io/TS-business-Plan-001/index.html?view=casebook&amp;case=AX21</a:t>
            </a:r>
          </a:p>
          <a:p xmlns:a="http://schemas.openxmlformats.org/drawingml/2006/main">
            <a:r>
              <a:t>한계: PoC 범위 · 운영 생산성 실측으로 해석 금지</a:t>
            </a:r>
          </a:p>
          <a:p xmlns:a="http://schemas.openxmlformats.org/drawingml/2006/main">
            <a:r>
              <a:t>실패 위험: 다국어 용어·위험 분류 오류 / 기사 요약에서 중요 사건 누락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"title": "항공안전 이슈 분석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"안전 문서 분류·분석",</a:t>
            </a:r>
          </a:p>
          <a:p xmlns:a="http://schemas.openxmlformats.org/drawingml/2006/main">
            <a:r>
              <a:t>    "period": "2024 기술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"안전 문서 분류",</a:t>
            </a:r>
          </a:p>
          <a:p xmlns:a="http://schemas.openxmlformats.org/drawingml/2006/main">
            <a:r>
              <a:t>      "분석"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"항공안전 기사·분류체계 기반 번역·요약·위험 분류와 분석원 검토의 기술 실증",</a:t>
            </a:r>
          </a:p>
          <a:p xmlns:a="http://schemas.openxmlformats.org/drawingml/2006/main">
            <a:r>
              <a:t>    "limit": "PoC 범위 · 운영 생산성 실측으로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"요약·위험 분류",</a:t>
            </a:r>
          </a:p>
          <a:p xmlns:a="http://schemas.openxmlformats.org/drawingml/2006/main">
            <a:r>
              <a:t>      "분석원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"안전 이슈 분류셋·근거 위치·검토 기록",</a:t>
            </a:r>
          </a:p>
          <a:p xmlns:a="http://schemas.openxmlformats.org/drawingml/2006/main">
            <a:r>
              <a:t>    "test": "위험 유형별 누락·오분류·번역 오류 평가",</a:t>
            </a:r>
          </a:p>
          <a:p xmlns:a="http://schemas.openxmlformats.org/drawingml/2006/main">
            <a:r>
              <a:t>    "metric": "분류 재현율 / 검토 포함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"canonicalId": "AX21",</a:t>
            </a:r>
          </a:p>
          <a:p xmlns:a="http://schemas.openxmlformats.org/drawingml/2006/main">
            <a:r>
              <a:t>    "purpose": "항공안전 이슈의 번역·분류·검토 지원",</a:t>
            </a:r>
          </a:p>
          <a:p xmlns:a="http://schemas.openxmlformats.org/drawingml/2006/main">
            <a:r>
              <a:t>    "users": "항공안전 분석원",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"기사 수집",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"분석원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"detail": "기사 출처·발생일·대상 항공 업무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"기사 수집 / 위험 분류 / 분석원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"전처리·RAG·분류",</a:t>
            </a:r>
          </a:p>
          <a:p xmlns:a="http://schemas.openxmlformats.org/drawingml/2006/main">
            <a:r>
              <a:t>        "detail": "번역·요약 후 안전 분류체계별 후보 제시",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"항공안전 분석원",</a:t>
            </a:r>
          </a:p>
          <a:p xmlns:a="http://schemas.openxmlformats.org/drawingml/2006/main">
            <a:r>
              <a:t>        "detail": "분류 근거와 원문을 분석원에게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"기사·위험 분류체계",</a:t>
            </a:r>
          </a:p>
          <a:p xmlns:a="http://schemas.openxmlformats.org/drawingml/2006/main">
            <a:r>
              <a:t>        "detail": "원문 기사·번역문·분류체계 판본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"분석원 수정과 분류 누락의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"input": "기사 출처·발생일·대상 항공 업무 식별",</a:t>
            </a:r>
          </a:p>
          <a:p xmlns:a="http://schemas.openxmlformats.org/drawingml/2006/main">
            <a:r>
              <a:t>        "process": "원문 기사·번역문·분류체계 판본 관리",</a:t>
            </a:r>
          </a:p>
          <a:p xmlns:a="http://schemas.openxmlformats.org/drawingml/2006/main">
            <a:r>
              <a:t>        "output": "기사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"input": "기사 원문",</a:t>
            </a:r>
          </a:p>
          <a:p xmlns:a="http://schemas.openxmlformats.org/drawingml/2006/main">
            <a:r>
              <a:t>        "process": "번역·요약 후 안전 분류체계별 후보 제시",</a:t>
            </a:r>
          </a:p>
          <a:p xmlns:a="http://schemas.openxmlformats.org/drawingml/2006/main">
            <a:r>
              <a:t>        "output": "분석용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"요약·위험 분류",</a:t>
            </a:r>
          </a:p>
          <a:p xmlns:a="http://schemas.openxmlformats.org/drawingml/2006/main">
            <a:r>
              <a:t>        "input": "분석용 문서",</a:t>
            </a:r>
          </a:p>
          <a:p xmlns:a="http://schemas.openxmlformats.org/drawingml/2006/main">
            <a:r>
              <a:t>        "process": "원문 사건·시각·위험등급 대조",</a:t>
            </a:r>
          </a:p>
          <a:p xmlns:a="http://schemas.openxmlformats.org/drawingml/2006/main">
            <a:r>
              <a:t>        "output": "요약·위험 태그"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"분석원 재검토",</a:t>
            </a:r>
          </a:p>
          <a:p xmlns:a="http://schemas.openxmlformats.org/drawingml/2006/main">
            <a:r>
              <a:t>        "input": "요약·위험 태그",</a:t>
            </a:r>
          </a:p>
          <a:p xmlns:a="http://schemas.openxmlformats.org/drawingml/2006/main">
            <a:r>
              <a:t>        "process": "분류 근거와 원문을 분석원에게 전달",</a:t>
            </a:r>
          </a:p>
          <a:p xmlns:a="http://schemas.openxmlformats.org/drawingml/2006/main">
            <a:r>
              <a:t>        "output": "분석원 수정"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"기사의 사건·번역·분류 근거를 분석원이 검토",</a:t>
            </a:r>
          </a:p>
          <a:p xmlns:a="http://schemas.openxmlformats.org/drawingml/2006/main">
            <a:r>
              <a:t>      "exception": "다른 사건의 혼합·번역 부정문 오류·분류 중복",</a:t>
            </a:r>
          </a:p>
          <a:p xmlns:a="http://schemas.openxmlformats.org/drawingml/2006/main">
            <a:r>
              <a:t>      "evidence": "원문 구간과 번역·분류·분석원 수정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"항공안전 분석원",</a:t>
            </a:r>
          </a:p>
          <a:p xmlns:a="http://schemas.openxmlformats.org/drawingml/2006/main">
            <a:r>
              <a:t>          "processing": "기사 출처·발생일·대상 항공 업무 식별",</a:t>
            </a:r>
          </a:p>
          <a:p xmlns:a="http://schemas.openxmlformats.org/drawingml/2006/main">
            <a:r>
              <a:t>          "output": "기사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"기사·위험 분류체계",</a:t>
            </a:r>
          </a:p>
          <a:p xmlns:a="http://schemas.openxmlformats.org/drawingml/2006/main">
            <a:r>
              <a:t>          "processing": "원문 기사·번역문·분류체계 판본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"기사 원문",</a:t>
            </a:r>
          </a:p>
          <a:p xmlns:a="http://schemas.openxmlformats.org/drawingml/2006/main">
            <a:r>
              <a:t>          "processing": "번역·요약 후 안전 분류체계별 후보 제시",</a:t>
            </a:r>
          </a:p>
          <a:p xmlns:a="http://schemas.openxmlformats.org/drawingml/2006/main">
            <a:r>
              <a:t>          "output": "요약·위험 태그"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"요약·위험 태그",</a:t>
            </a:r>
          </a:p>
          <a:p xmlns:a="http://schemas.openxmlformats.org/drawingml/2006/main">
            <a:r>
              <a:t>          "processing": "분류 근거와 원문을 분석원에게 전달",</a:t>
            </a:r>
          </a:p>
          <a:p xmlns:a="http://schemas.openxmlformats.org/drawingml/2006/main">
            <a:r>
              <a:t>          "output": "분석원 수정"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"분석원 수정과 분류 누락의 회귀 평가",</a:t>
            </a:r>
          </a:p>
          <a:p xmlns:a="http://schemas.openxmlformats.org/drawingml/2006/main">
            <a:r>
              <a:t>          "output":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"분석원 수정과 분류 누락의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"S-AX21",</a:t>
            </a:r>
          </a:p>
          <a:p xmlns:a="http://schemas.openxmlformats.org/drawingml/2006/main">
            <a:r>
              <a:t>        "title": "항공안전 이슈 분석 AI PoC · 공공AI 사례집 100–101쪽",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기술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"항공안전 관련 기사에서 사건과 위험 요인을 찾아 분석원의 검토를 돕는 사례. 다국어 자료의 번역·요약과 정해진 안전 분류체계 적용이 결합된 업무.",</a:t>
            </a:r>
          </a:p>
          <a:p xmlns:a="http://schemas.openxmlformats.org/drawingml/2006/main">
            <a:r>
              <a:t>      "기사 출처·발생일·항공업무를 식별한 뒤 번역문과 원문을 연결하고 위험 태그 후보를 제시하는 재구성. 분석원의 수정값과 판정 근거를 보존해 분류 누락·오역을 회귀 평가.",</a:t>
            </a:r>
          </a:p>
          <a:p xmlns:a="http://schemas.openxmlformats.org/drawingml/2006/main">
            <a:r>
              <a:t>      "TS 적용에서는 기사량 처리보다 사건·시각·위험등급의 정확한 추출과 근거 추적을 우선. 원문 대비 중요 사건 누락, 분류체계 개정, 다국어 전문용어 오역을 독립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"기사 수집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"항공안전 분석원",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"출처·발생일",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"기사 출처·발생일·대상 항공 업무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"분류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"기사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"번역·요약·태깅",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"번역·요약 후 안전 분류체계별 후보 제시",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"사건·등급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"원문 사건·시각·위험등급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"분석원 수정",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"기사의 사건·번역·분류 근거를 분석원이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"검토 보고서",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"분류 근거와 원문을 분석원에게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"분석원 수정과 분류 누락의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"기사·안전 분류",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"기사·위험 분류체계",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"번역·판본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"원문 기사·번역문·분류체계 판본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"기사·분류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"원문 구간과 번역·분류·분석원 수정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"분류·검토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사건의 혼합·번역 부정문 오류·분류 중복",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"기사 출처·발생일·대상 항공 업무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"기사 원문",</a:t>
            </a:r>
          </a:p>
          <a:p xmlns:a="http://schemas.openxmlformats.org/drawingml/2006/main">
            <a:r>
              <a:t>          "check": "원문 사건·시각·위험등급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"분석용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"다른 사건의 혼합·번역 부정문 오류·분류 중복"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"분류 근거와 원문을 분석원에게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"분석원 수정",</a:t>
            </a:r>
          </a:p>
          <a:p xmlns:a="http://schemas.openxmlformats.org/drawingml/2006/main">
            <a:r>
              <a:t>          "check":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"항공안전 이슈의 번역·분류·검토 지원 / 기사 수집·위험 분류·분석원 검토",</a:t>
            </a:r>
          </a:p>
          <a:p xmlns:a="http://schemas.openxmlformats.org/drawingml/2006/main">
            <a:r>
              <a:t>        "extension": "TS 분야별 사고·위험 용어와 책임 직무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사건의 혼합·번역 부정문 오류·분류 중복",</a:t>
            </a:r>
          </a:p>
          <a:p xmlns:a="http://schemas.openxmlformats.org/drawingml/2006/main">
            <a:r>
              <a:t>        "hold": "원문 사건·시각·위험등급 대조",</a:t>
            </a:r>
          </a:p>
          <a:p xmlns:a="http://schemas.openxmlformats.org/drawingml/2006/main">
            <a:r>
              <a:t>        "recovery": "분석원 수정과 분류 누락의 회귀 평가",</a:t>
            </a:r>
          </a:p>
          <a:p xmlns:a="http://schemas.openxmlformats.org/drawingml/2006/main">
            <a:r>
              <a:t>        "evidence": "원문 구간과 번역·분류·분석원 수정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"기사·위험 분류체계",</a:t>
            </a:r>
          </a:p>
          <a:p xmlns:a="http://schemas.openxmlformats.org/drawingml/2006/main">
            <a:r>
              <a:t>        "prepare": "원문 기사·번역문·분류체계 판본 관리",</a:t>
            </a:r>
          </a:p>
          <a:p xmlns:a="http://schemas.openxmlformats.org/drawingml/2006/main">
            <a:r>
              <a:t>        "output": "기사 원문",</a:t>
            </a:r>
          </a:p>
          <a:p xmlns:a="http://schemas.openxmlformats.org/drawingml/2006/main">
            <a:r>
              <a:t>        "refresh": "분석원 수정과 분류 누락의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"분류체계에 맞춘 번역·요약",</a:t>
            </a:r>
          </a:p>
          <a:p xmlns:a="http://schemas.openxmlformats.org/drawingml/2006/main">
            <a:r>
              <a:t>      "안전 분석원의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"다국어 용어·위험 분류 오류",</a:t>
            </a:r>
          </a:p>
          <a:p xmlns:a="http://schemas.openxmlformats.org/drawingml/2006/main">
            <a:r>
              <a:t>      "기사 요약에서 중요 사건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"전처리·RAG·분류",</a:t>
            </a:r>
          </a:p>
          <a:p xmlns:a="http://schemas.openxmlformats.org/drawingml/2006/main">
            <a:r>
              <a:t>      "기사·위험 분류체계",</a:t>
            </a:r>
          </a:p>
          <a:p xmlns:a="http://schemas.openxmlformats.org/drawingml/2006/main">
            <a:r>
              <a:t>      "항공안전 분석원"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"기사 원문",</a:t>
            </a:r>
          </a:p>
          <a:p xmlns:a="http://schemas.openxmlformats.org/drawingml/2006/main">
            <a:r>
              <a:t>      "분석용 문서",</a:t>
            </a:r>
          </a:p>
          <a:p xmlns:a="http://schemas.openxmlformats.org/drawingml/2006/main">
            <a:r>
              <a:t>      "요약·위험 태그",</a:t>
            </a:r>
          </a:p>
          <a:p xmlns:a="http://schemas.openxmlformats.org/drawingml/2006/main">
            <a:r>
              <a:t>      "분석원 수정"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"원문 사건·시각·위험등급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항공안전 이슈 분석 AI PoC · 공공AI 사례집 100–101쪽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"title": "항공안전 이슈 분석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"안전 문서 분류·분석",</a:t>
            </a:r>
          </a:p>
          <a:p xmlns:a="http://schemas.openxmlformats.org/drawingml/2006/main">
            <a:r>
              <a:t>    "period": "2024 기술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"안전 문서 분류",</a:t>
            </a:r>
          </a:p>
          <a:p xmlns:a="http://schemas.openxmlformats.org/drawingml/2006/main">
            <a:r>
              <a:t>      "분석"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"항공안전 기사·분류체계 기반 번역·요약·위험 분류와 분석원 검토의 기술 실증",</a:t>
            </a:r>
          </a:p>
          <a:p xmlns:a="http://schemas.openxmlformats.org/drawingml/2006/main">
            <a:r>
              <a:t>    "limit": "PoC 범위 · 운영 생산성 실측으로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"요약·위험 분류",</a:t>
            </a:r>
          </a:p>
          <a:p xmlns:a="http://schemas.openxmlformats.org/drawingml/2006/main">
            <a:r>
              <a:t>      "분석원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"안전 이슈 분류셋·근거 위치·검토 기록",</a:t>
            </a:r>
          </a:p>
          <a:p xmlns:a="http://schemas.openxmlformats.org/drawingml/2006/main">
            <a:r>
              <a:t>    "test": "위험 유형별 누락·오분류·번역 오류 평가",</a:t>
            </a:r>
          </a:p>
          <a:p xmlns:a="http://schemas.openxmlformats.org/drawingml/2006/main">
            <a:r>
              <a:t>    "metric": "분류 재현율 / 검토 포함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"canonicalId": "AX21",</a:t>
            </a:r>
          </a:p>
          <a:p xmlns:a="http://schemas.openxmlformats.org/drawingml/2006/main">
            <a:r>
              <a:t>    "purpose": "항공안전 이슈의 번역·분류·검토 지원",</a:t>
            </a:r>
          </a:p>
          <a:p xmlns:a="http://schemas.openxmlformats.org/drawingml/2006/main">
            <a:r>
              <a:t>    "users": "항공안전 분석원",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"기사 수집",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"분석원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"detail": "기사 출처·발생일·대상 항공 업무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"기사 수집 / 위험 분류 / 분석원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"전처리·RAG·분류",</a:t>
            </a:r>
          </a:p>
          <a:p xmlns:a="http://schemas.openxmlformats.org/drawingml/2006/main">
            <a:r>
              <a:t>        "detail": "번역·요약 후 안전 분류체계별 후보 제시",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"항공안전 분석원",</a:t>
            </a:r>
          </a:p>
          <a:p xmlns:a="http://schemas.openxmlformats.org/drawingml/2006/main">
            <a:r>
              <a:t>        "detail": "분류 근거와 원문을 분석원에게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"기사·위험 분류체계",</a:t>
            </a:r>
          </a:p>
          <a:p xmlns:a="http://schemas.openxmlformats.org/drawingml/2006/main">
            <a:r>
              <a:t>        "detail": "원문 기사·번역문·분류체계 판본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"분석원 수정과 분류 누락의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"input": "기사 출처·발생일·대상 항공 업무 식별",</a:t>
            </a:r>
          </a:p>
          <a:p xmlns:a="http://schemas.openxmlformats.org/drawingml/2006/main">
            <a:r>
              <a:t>        "process": "원문 기사·번역문·분류체계 판본 관리",</a:t>
            </a:r>
          </a:p>
          <a:p xmlns:a="http://schemas.openxmlformats.org/drawingml/2006/main">
            <a:r>
              <a:t>        "output": "기사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"input": "기사 원문",</a:t>
            </a:r>
          </a:p>
          <a:p xmlns:a="http://schemas.openxmlformats.org/drawingml/2006/main">
            <a:r>
              <a:t>        "process": "번역·요약 후 안전 분류체계별 후보 제시",</a:t>
            </a:r>
          </a:p>
          <a:p xmlns:a="http://schemas.openxmlformats.org/drawingml/2006/main">
            <a:r>
              <a:t>        "output": "분석용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"요약·위험 분류",</a:t>
            </a:r>
          </a:p>
          <a:p xmlns:a="http://schemas.openxmlformats.org/drawingml/2006/main">
            <a:r>
              <a:t>        "input": "분석용 문서",</a:t>
            </a:r>
          </a:p>
          <a:p xmlns:a="http://schemas.openxmlformats.org/drawingml/2006/main">
            <a:r>
              <a:t>        "process": "원문 사건·시각·위험등급 대조",</a:t>
            </a:r>
          </a:p>
          <a:p xmlns:a="http://schemas.openxmlformats.org/drawingml/2006/main">
            <a:r>
              <a:t>        "output": "요약·위험 태그"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"분석원 재검토",</a:t>
            </a:r>
          </a:p>
          <a:p xmlns:a="http://schemas.openxmlformats.org/drawingml/2006/main">
            <a:r>
              <a:t>        "input": "요약·위험 태그",</a:t>
            </a:r>
          </a:p>
          <a:p xmlns:a="http://schemas.openxmlformats.org/drawingml/2006/main">
            <a:r>
              <a:t>        "process": "분류 근거와 원문을 분석원에게 전달",</a:t>
            </a:r>
          </a:p>
          <a:p xmlns:a="http://schemas.openxmlformats.org/drawingml/2006/main">
            <a:r>
              <a:t>        "output": "분석원 수정"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"기사의 사건·번역·분류 근거를 분석원이 검토",</a:t>
            </a:r>
          </a:p>
          <a:p xmlns:a="http://schemas.openxmlformats.org/drawingml/2006/main">
            <a:r>
              <a:t>      "exception": "다른 사건의 혼합·번역 부정문 오류·분류 중복",</a:t>
            </a:r>
          </a:p>
          <a:p xmlns:a="http://schemas.openxmlformats.org/drawingml/2006/main">
            <a:r>
              <a:t>      "evidence": "원문 구간과 번역·분류·분석원 수정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"항공안전 분석원",</a:t>
            </a:r>
          </a:p>
          <a:p xmlns:a="http://schemas.openxmlformats.org/drawingml/2006/main">
            <a:r>
              <a:t>          "processing": "기사 출처·발생일·대상 항공 업무 식별",</a:t>
            </a:r>
          </a:p>
          <a:p xmlns:a="http://schemas.openxmlformats.org/drawingml/2006/main">
            <a:r>
              <a:t>          "output": "기사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"기사·위험 분류체계",</a:t>
            </a:r>
          </a:p>
          <a:p xmlns:a="http://schemas.openxmlformats.org/drawingml/2006/main">
            <a:r>
              <a:t>          "processing": "원문 기사·번역문·분류체계 판본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"기사 원문",</a:t>
            </a:r>
          </a:p>
          <a:p xmlns:a="http://schemas.openxmlformats.org/drawingml/2006/main">
            <a:r>
              <a:t>          "processing": "번역·요약 후 안전 분류체계별 후보 제시",</a:t>
            </a:r>
          </a:p>
          <a:p xmlns:a="http://schemas.openxmlformats.org/drawingml/2006/main">
            <a:r>
              <a:t>          "output": "요약·위험 태그"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"요약·위험 태그",</a:t>
            </a:r>
          </a:p>
          <a:p xmlns:a="http://schemas.openxmlformats.org/drawingml/2006/main">
            <a:r>
              <a:t>          "processing": "분류 근거와 원문을 분석원에게 전달",</a:t>
            </a:r>
          </a:p>
          <a:p xmlns:a="http://schemas.openxmlformats.org/drawingml/2006/main">
            <a:r>
              <a:t>          "output": "분석원 수정"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"분석원 수정과 분류 누락의 회귀 평가",</a:t>
            </a:r>
          </a:p>
          <a:p xmlns:a="http://schemas.openxmlformats.org/drawingml/2006/main">
            <a:r>
              <a:t>          "output":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"분석원 수정과 분류 누락의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"S-AX21",</a:t>
            </a:r>
          </a:p>
          <a:p xmlns:a="http://schemas.openxmlformats.org/drawingml/2006/main">
            <a:r>
              <a:t>        "title": "항공안전 이슈 분석 AI PoC · 공공AI 사례집 100–101쪽",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기술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"항공안전 관련 기사에서 사건과 위험 요인을 찾아 분석원의 검토를 돕는 사례. 다국어 자료의 번역·요약과 정해진 안전 분류체계 적용이 결합된 업무.",</a:t>
            </a:r>
          </a:p>
          <a:p xmlns:a="http://schemas.openxmlformats.org/drawingml/2006/main">
            <a:r>
              <a:t>      "기사 출처·발생일·항공업무를 식별한 뒤 번역문과 원문을 연결하고 위험 태그 후보를 제시하는 재구성. 분석원의 수정값과 판정 근거를 보존해 분류 누락·오역을 회귀 평가.",</a:t>
            </a:r>
          </a:p>
          <a:p xmlns:a="http://schemas.openxmlformats.org/drawingml/2006/main">
            <a:r>
              <a:t>      "TS 적용에서는 기사량 처리보다 사건·시각·위험등급의 정확한 추출과 근거 추적을 우선. 원문 대비 중요 사건 누락, 분류체계 개정, 다국어 전문용어 오역을 독립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"기사 수집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"항공안전 분석원",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"출처·발생일",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"기사 출처·발생일·대상 항공 업무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"분류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"기사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"번역·요약·태깅",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"번역·요약 후 안전 분류체계별 후보 제시",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"사건·등급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"원문 사건·시각·위험등급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"분석원 수정",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"기사의 사건·번역·분류 근거를 분석원이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"검토 보고서",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"분류 근거와 원문을 분석원에게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"분석원 수정과 분류 누락의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"기사·안전 분류",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"기사·위험 분류체계",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"번역·판본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"원문 기사·번역문·분류체계 판본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"기사·분류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"원문 구간과 번역·분류·분석원 수정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"분류·검토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사건의 혼합·번역 부정문 오류·분류 중복",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"기사 출처·발생일·대상 항공 업무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"기사 원문",</a:t>
            </a:r>
          </a:p>
          <a:p xmlns:a="http://schemas.openxmlformats.org/drawingml/2006/main">
            <a:r>
              <a:t>          "check": "원문 사건·시각·위험등급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"분석용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"다른 사건의 혼합·번역 부정문 오류·분류 중복"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"분류 근거와 원문을 분석원에게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"분석원 수정",</a:t>
            </a:r>
          </a:p>
          <a:p xmlns:a="http://schemas.openxmlformats.org/drawingml/2006/main">
            <a:r>
              <a:t>          "check":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"항공안전 이슈의 번역·분류·검토 지원 / 기사 수집·위험 분류·분석원 검토",</a:t>
            </a:r>
          </a:p>
          <a:p xmlns:a="http://schemas.openxmlformats.org/drawingml/2006/main">
            <a:r>
              <a:t>        "extension": "TS 분야별 사고·위험 용어와 책임 직무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사건의 혼합·번역 부정문 오류·분류 중복",</a:t>
            </a:r>
          </a:p>
          <a:p xmlns:a="http://schemas.openxmlformats.org/drawingml/2006/main">
            <a:r>
              <a:t>        "hold": "원문 사건·시각·위험등급 대조",</a:t>
            </a:r>
          </a:p>
          <a:p xmlns:a="http://schemas.openxmlformats.org/drawingml/2006/main">
            <a:r>
              <a:t>        "recovery": "분석원 수정과 분류 누락의 회귀 평가",</a:t>
            </a:r>
          </a:p>
          <a:p xmlns:a="http://schemas.openxmlformats.org/drawingml/2006/main">
            <a:r>
              <a:t>        "evidence": "원문 구간과 번역·분류·분석원 수정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"기사·위험 분류체계",</a:t>
            </a:r>
          </a:p>
          <a:p xmlns:a="http://schemas.openxmlformats.org/drawingml/2006/main">
            <a:r>
              <a:t>        "prepare": "원문 기사·번역문·분류체계 판본 관리",</a:t>
            </a:r>
          </a:p>
          <a:p xmlns:a="http://schemas.openxmlformats.org/drawingml/2006/main">
            <a:r>
              <a:t>        "output": "기사 원문",</a:t>
            </a:r>
          </a:p>
          <a:p xmlns:a="http://schemas.openxmlformats.org/drawingml/2006/main">
            <a:r>
              <a:t>        "refresh": "분석원 수정과 분류 누락의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"분류체계에 맞춘 번역·요약",</a:t>
            </a:r>
          </a:p>
          <a:p xmlns:a="http://schemas.openxmlformats.org/drawingml/2006/main">
            <a:r>
              <a:t>      "안전 분석원의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"다국어 용어·위험 분류 오류",</a:t>
            </a:r>
          </a:p>
          <a:p xmlns:a="http://schemas.openxmlformats.org/drawingml/2006/main">
            <a:r>
              <a:t>      "기사 요약에서 중요 사건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"전처리·RAG·분류",</a:t>
            </a:r>
          </a:p>
          <a:p xmlns:a="http://schemas.openxmlformats.org/drawingml/2006/main">
            <a:r>
              <a:t>      "기사·위험 분류체계",</a:t>
            </a:r>
          </a:p>
          <a:p xmlns:a="http://schemas.openxmlformats.org/drawingml/2006/main">
            <a:r>
              <a:t>      "항공안전 분석원"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"기사 원문",</a:t>
            </a:r>
          </a:p>
          <a:p xmlns:a="http://schemas.openxmlformats.org/drawingml/2006/main">
            <a:r>
              <a:t>      "분석용 문서",</a:t>
            </a:r>
          </a:p>
          <a:p xmlns:a="http://schemas.openxmlformats.org/drawingml/2006/main">
            <a:r>
              <a:t>      "요약·위험 태그",</a:t>
            </a:r>
          </a:p>
          <a:p xmlns:a="http://schemas.openxmlformats.org/drawingml/2006/main">
            <a:r>
              <a:t>      "분석원 수정"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"원문 사건·시각·위험등급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항공안전 이슈 분석 AI PoC · 공공AI 사례집 100–101쪽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"title": "항공안전 이슈 분석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"안전 문서 분류·분석",</a:t>
            </a:r>
          </a:p>
          <a:p xmlns:a="http://schemas.openxmlformats.org/drawingml/2006/main">
            <a:r>
              <a:t>    "period": "2024 기술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"S-AX21"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"안전 문서 분류",</a:t>
            </a:r>
          </a:p>
          <a:p xmlns:a="http://schemas.openxmlformats.org/drawingml/2006/main">
            <a:r>
              <a:t>      "분석"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"항공안전 기사·분류체계 기반 번역·요약·위험 분류와 분석원 검토의 기술 실증",</a:t>
            </a:r>
          </a:p>
          <a:p xmlns:a="http://schemas.openxmlformats.org/drawingml/2006/main">
            <a:r>
              <a:t>    "limit": "PoC 범위 · 운영 생산성 실측으로 해석 금지",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"요약·위험 분류",</a:t>
            </a:r>
          </a:p>
          <a:p xmlns:a="http://schemas.openxmlformats.org/drawingml/2006/main">
            <a:r>
              <a:t>      "분석원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"안전 이슈 분류셋·근거 위치·검토 기록",</a:t>
            </a:r>
          </a:p>
          <a:p xmlns:a="http://schemas.openxmlformats.org/drawingml/2006/main">
            <a:r>
              <a:t>    "test": "위험 유형별 누락·오분류·번역 오류 평가",</a:t>
            </a:r>
          </a:p>
          <a:p xmlns:a="http://schemas.openxmlformats.org/drawingml/2006/main">
            <a:r>
              <a:t>    "metric": "분류 재현율 / 검토 포함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"ST-05",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"canonicalId": "AX21",</a:t>
            </a:r>
          </a:p>
          <a:p xmlns:a="http://schemas.openxmlformats.org/drawingml/2006/main">
            <a:r>
              <a:t>    "purpose": "항공안전 이슈의 번역·분류·검토 지원",</a:t>
            </a:r>
          </a:p>
          <a:p xmlns:a="http://schemas.openxmlformats.org/drawingml/2006/main">
            <a:r>
              <a:t>    "users": "항공안전 분석원",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"기사 수집",</a:t>
            </a:r>
          </a:p>
          <a:p xmlns:a="http://schemas.openxmlformats.org/drawingml/2006/main">
            <a:r>
              <a:t>      "위험 분류",</a:t>
            </a:r>
          </a:p>
          <a:p xmlns:a="http://schemas.openxmlformats.org/drawingml/2006/main">
            <a:r>
              <a:t>      "분석원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"detail": "기사 출처·발생일·대상 항공 업무 식별",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"기사 수집 / 위험 분류 / 분석원 검토",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"전처리·RAG·분류",</a:t>
            </a:r>
          </a:p>
          <a:p xmlns:a="http://schemas.openxmlformats.org/drawingml/2006/main">
            <a:r>
              <a:t>        "detail": "번역·요약 후 안전 분류체계별 후보 제시",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"항공안전 분석원",</a:t>
            </a:r>
          </a:p>
          <a:p xmlns:a="http://schemas.openxmlformats.org/drawingml/2006/main">
            <a:r>
              <a:t>        "detail": "분류 근거와 원문을 분석원에게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"기사·위험 분류체계",</a:t>
            </a:r>
          </a:p>
          <a:p xmlns:a="http://schemas.openxmlformats.org/drawingml/2006/main">
            <a:r>
              <a:t>        "detail": "원문 기사·번역문·분류체계 판본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"분석원 수정과 분류 누락의 회귀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"항공안전 기사",</a:t>
            </a:r>
          </a:p>
          <a:p xmlns:a="http://schemas.openxmlformats.org/drawingml/2006/main">
            <a:r>
              <a:t>        "input": "기사 출처·발생일·대상 항공 업무 식별",</a:t>
            </a:r>
          </a:p>
          <a:p xmlns:a="http://schemas.openxmlformats.org/drawingml/2006/main">
            <a:r>
              <a:t>        "process": "원문 기사·번역문·분류체계 판본 관리",</a:t>
            </a:r>
          </a:p>
          <a:p xmlns:a="http://schemas.openxmlformats.org/drawingml/2006/main">
            <a:r>
              <a:t>        "output": "기사 원문"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"input": "기사 원문",</a:t>
            </a:r>
          </a:p>
          <a:p xmlns:a="http://schemas.openxmlformats.org/drawingml/2006/main">
            <a:r>
              <a:t>        "process": "번역·요약 후 안전 분류체계별 후보 제시",</a:t>
            </a:r>
          </a:p>
          <a:p xmlns:a="http://schemas.openxmlformats.org/drawingml/2006/main">
            <a:r>
              <a:t>        "output": "분석용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"요약·위험 분류",</a:t>
            </a:r>
          </a:p>
          <a:p xmlns:a="http://schemas.openxmlformats.org/drawingml/2006/main">
            <a:r>
              <a:t>        "input": "분석용 문서",</a:t>
            </a:r>
          </a:p>
          <a:p xmlns:a="http://schemas.openxmlformats.org/drawingml/2006/main">
            <a:r>
              <a:t>        "process": "원문 사건·시각·위험등급 대조",</a:t>
            </a:r>
          </a:p>
          <a:p xmlns:a="http://schemas.openxmlformats.org/drawingml/2006/main">
            <a:r>
              <a:t>        "output": "요약·위험 태그"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"분석원 재검토",</a:t>
            </a:r>
          </a:p>
          <a:p xmlns:a="http://schemas.openxmlformats.org/drawingml/2006/main">
            <a:r>
              <a:t>        "input": "요약·위험 태그",</a:t>
            </a:r>
          </a:p>
          <a:p xmlns:a="http://schemas.openxmlformats.org/drawingml/2006/main">
            <a:r>
              <a:t>        "process": "분류 근거와 원문을 분석원에게 전달",</a:t>
            </a:r>
          </a:p>
          <a:p xmlns:a="http://schemas.openxmlformats.org/drawingml/2006/main">
            <a:r>
              <a:t>        "output": "분석원 수정"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"기사의 사건·번역·분류 근거를 분석원이 검토",</a:t>
            </a:r>
          </a:p>
          <a:p xmlns:a="http://schemas.openxmlformats.org/drawingml/2006/main">
            <a:r>
              <a:t>      "exception": "다른 사건의 혼합·번역 부정문 오류·분류 중복",</a:t>
            </a:r>
          </a:p>
          <a:p xmlns:a="http://schemas.openxmlformats.org/drawingml/2006/main">
            <a:r>
              <a:t>      "evidence": "원문 구간과 번역·분류·분석원 수정 연결표",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"항공안전 분석원",</a:t>
            </a:r>
          </a:p>
          <a:p xmlns:a="http://schemas.openxmlformats.org/drawingml/2006/main">
            <a:r>
              <a:t>          "processing": "기사 출처·발생일·대상 항공 업무 식별",</a:t>
            </a:r>
          </a:p>
          <a:p xmlns:a="http://schemas.openxmlformats.org/drawingml/2006/main">
            <a:r>
              <a:t>          "output": "기사 원문"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"기사·위험 분류체계",</a:t>
            </a:r>
          </a:p>
          <a:p xmlns:a="http://schemas.openxmlformats.org/drawingml/2006/main">
            <a:r>
              <a:t>          "processing": "원문 기사·번역문·분류체계 판본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"기사 원문",</a:t>
            </a:r>
          </a:p>
          <a:p xmlns:a="http://schemas.openxmlformats.org/drawingml/2006/main">
            <a:r>
              <a:t>          "processing": "번역·요약 후 안전 분류체계별 후보 제시",</a:t>
            </a:r>
          </a:p>
          <a:p xmlns:a="http://schemas.openxmlformats.org/drawingml/2006/main">
            <a:r>
              <a:t>          "output": "요약·위험 태그"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"요약·위험 태그",</a:t>
            </a:r>
          </a:p>
          <a:p xmlns:a="http://schemas.openxmlformats.org/drawingml/2006/main">
            <a:r>
              <a:t>          "processing": "분류 근거와 원문을 분석원에게 전달",</a:t>
            </a:r>
          </a:p>
          <a:p xmlns:a="http://schemas.openxmlformats.org/drawingml/2006/main">
            <a:r>
              <a:t>          "output": "분석원 수정"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"분석원 수정과 분류 누락의 회귀 평가",</a:t>
            </a:r>
          </a:p>
          <a:p xmlns:a="http://schemas.openxmlformats.org/drawingml/2006/main">
            <a:r>
              <a:t>          "output":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"분석원 수정과 분류 누락의 회귀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"S-AX21",</a:t>
            </a:r>
          </a:p>
          <a:p xmlns:a="http://schemas.openxmlformats.org/drawingml/2006/main">
            <a:r>
              <a:t>        "title": "항공안전 이슈 분석 AI PoC · 공공AI 사례집 100–101쪽",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기술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"전문 분류체계와 사람의 재검토 결합",</a:t>
            </a:r>
          </a:p>
          <a:p xmlns:a="http://schemas.openxmlformats.org/drawingml/2006/main">
            <a:r>
              <a:t>    "local": "TS 분야별 사고·위험 용어와 책임 직무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"항공안전 관련 기사에서 사건과 위험 요인을 찾아 분석원의 검토를 돕는 사례. 다국어 자료의 번역·요약과 정해진 안전 분류체계 적용이 결합된 업무.",</a:t>
            </a:r>
          </a:p>
          <a:p xmlns:a="http://schemas.openxmlformats.org/drawingml/2006/main">
            <a:r>
              <a:t>      "기사 출처·발생일·항공업무를 식별한 뒤 번역문과 원문을 연결하고 위험 태그 후보를 제시하는 재구성. 분석원의 수정값과 판정 근거를 보존해 분류 누락·오역을 회귀 평가.",</a:t>
            </a:r>
          </a:p>
          <a:p xmlns:a="http://schemas.openxmlformats.org/drawingml/2006/main">
            <a:r>
              <a:t>      "TS 적용에서는 기사량 처리보다 사건·시각·위험등급의 정확한 추출과 근거 추적을 우선. 원문 대비 중요 사건 누락, 분류체계 개정, 다국어 전문용어 오역을 독립 시험할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"기사 수집 접점",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"항공안전 분석원",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"출처·발생일",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"기사 출처·발생일·대상 항공 업무 식별",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"분류 지식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"기사 원문",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"번역·요약·태깅",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"번역·요약 후 안전 분류체계별 후보 제시",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"사건·등급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"원문 사건·시각·위험등급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"분석원 수정",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"기사의 사건·번역·분류 근거를 분석원이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"검토 보고서",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"분류 근거와 원문을 분석원에게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"누락 회귀평가",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"분석원 수정과 분류 누락의 회귀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"기사·안전 분류",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"기사·위험 분류체계",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"번역·판본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"원문 기사·번역문·분류체계 판본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"기사·분류 이력",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"원문 구간과 번역·분류·분석원 수정 연결표",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"분류·검토 책임",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사건의 혼합·번역 부정문 오류·분류 중복",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"기사 출처·발생일·대상 항공 업무 식별",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"기사 원문",</a:t>
            </a:r>
          </a:p>
          <a:p xmlns:a="http://schemas.openxmlformats.org/drawingml/2006/main">
            <a:r>
              <a:t>          "check": "원문 사건·시각·위험등급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"분석용 문서",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"다른 사건의 혼합·번역 부정문 오류·분류 중복"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"요약·위험 태그",</a:t>
            </a:r>
          </a:p>
          <a:p xmlns:a="http://schemas.openxmlformats.org/drawingml/2006/main">
            <a:r>
              <a:t>          "check": "분류 근거와 원문을 분석원에게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"분석원 수정",</a:t>
            </a:r>
          </a:p>
          <a:p xmlns:a="http://schemas.openxmlformats.org/drawingml/2006/main">
            <a:r>
              <a:t>          "check": "원문 구간과 번역·분류·분석원 수정 연결표"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"항공안전 이슈의 번역·분류·검토 지원 / 기사 수집·위험 분류·분석원 검토",</a:t>
            </a:r>
          </a:p>
          <a:p xmlns:a="http://schemas.openxmlformats.org/drawingml/2006/main">
            <a:r>
              <a:t>        "extension": "TS 분야별 사고·위험 용어와 책임 직무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사건의 혼합·번역 부정문 오류·분류 중복",</a:t>
            </a:r>
          </a:p>
          <a:p xmlns:a="http://schemas.openxmlformats.org/drawingml/2006/main">
            <a:r>
              <a:t>        "hold": "원문 사건·시각·위험등급 대조",</a:t>
            </a:r>
          </a:p>
          <a:p xmlns:a="http://schemas.openxmlformats.org/drawingml/2006/main">
            <a:r>
              <a:t>        "recovery": "분석원 수정과 분류 누락의 회귀 평가",</a:t>
            </a:r>
          </a:p>
          <a:p xmlns:a="http://schemas.openxmlformats.org/drawingml/2006/main">
            <a:r>
              <a:t>        "evidence": "원문 구간과 번역·분류·분석원 수정 연결표"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"기사·위험 분류체계",</a:t>
            </a:r>
          </a:p>
          <a:p xmlns:a="http://schemas.openxmlformats.org/drawingml/2006/main">
            <a:r>
              <a:t>        "prepare": "원문 기사·번역문·분류체계 판본 관리",</a:t>
            </a:r>
          </a:p>
          <a:p xmlns:a="http://schemas.openxmlformats.org/drawingml/2006/main">
            <a:r>
              <a:t>        "output": "기사 원문",</a:t>
            </a:r>
          </a:p>
          <a:p xmlns:a="http://schemas.openxmlformats.org/drawingml/2006/main">
            <a:r>
              <a:t>        "refresh": "분석원 수정과 분류 누락의 회귀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"AX21",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"분류체계에 맞춘 번역·요약",</a:t>
            </a:r>
          </a:p>
          <a:p xmlns:a="http://schemas.openxmlformats.org/drawingml/2006/main">
            <a:r>
              <a:t>      "안전 분석원의 재검토"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"다국어 용어·위험 분류 오류",</a:t>
            </a:r>
          </a:p>
          <a:p xmlns:a="http://schemas.openxmlformats.org/drawingml/2006/main">
            <a:r>
              <a:t>      "기사 요약에서 중요 사건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"항공안전 기사",</a:t>
            </a:r>
          </a:p>
          <a:p xmlns:a="http://schemas.openxmlformats.org/drawingml/2006/main">
            <a:r>
              <a:t>      "전처리·RAG·분류",</a:t>
            </a:r>
          </a:p>
          <a:p xmlns:a="http://schemas.openxmlformats.org/drawingml/2006/main">
            <a:r>
              <a:t>      "기사·위험 분류체계",</a:t>
            </a:r>
          </a:p>
          <a:p xmlns:a="http://schemas.openxmlformats.org/drawingml/2006/main">
            <a:r>
              <a:t>      "항공안전 분석원"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"기사 원문",</a:t>
            </a:r>
          </a:p>
          <a:p xmlns:a="http://schemas.openxmlformats.org/drawingml/2006/main">
            <a:r>
              <a:t>      "분석용 문서",</a:t>
            </a:r>
          </a:p>
          <a:p xmlns:a="http://schemas.openxmlformats.org/drawingml/2006/main">
            <a:r>
              <a:t>      "요약·위험 태그",</a:t>
            </a:r>
          </a:p>
          <a:p xmlns:a="http://schemas.openxmlformats.org/drawingml/2006/main">
            <a:r>
              <a:t>      "분석원 수정"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"원문 사건·시각·위험등급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항공안전 이슈 분석 AI PoC · 공공AI 사례집 100–101쪽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"title": "도시철도 교통안전 GPT",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"규정·매뉴얼 지식 지원",</a:t>
            </a:r>
          </a:p>
          <a:p xmlns:a="http://schemas.openxmlformats.org/drawingml/2006/main">
            <a:r>
              <a:t>    "period": "2023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"매뉴얼 지식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"안전 법령·사규·매뉴얼을 활용한 질의응답과 최신 근거 제공 서비스 실증",</a:t>
            </a:r>
          </a:p>
          <a:p xmlns:a="http://schemas.openxmlformats.org/drawingml/2006/main">
            <a:r>
              <a:t>    "limit": "실증과 기대효과 소개 · 사고 예방의 인과성과 수치 미제시",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"법령·사규·매뉴얼",</a:t>
            </a:r>
          </a:p>
          <a:p xmlns:a="http://schemas.openxmlformats.org/drawingml/2006/main">
            <a:r>
              <a:t>      "전처리·검색",</a:t>
            </a:r>
          </a:p>
          <a:p xmlns:a="http://schemas.openxmlformats.org/drawingml/2006/main">
            <a:r>
              <a:t>      "안전 Q&amp;A",</a:t>
            </a:r>
          </a:p>
          <a:p xmlns:a="http://schemas.openxmlformats.org/drawingml/2006/main">
            <a:r>
              <a:t>      "안전 담당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"규정 효력일·폐지 문서·업무별 평가셋",</a:t>
            </a:r>
          </a:p>
          <a:p xmlns:a="http://schemas.openxmlformats.org/drawingml/2006/main">
            <a:r>
              <a:t>    "test": "동일 질문의 개정 전후 근거·답변 일치 시험",</a:t>
            </a:r>
          </a:p>
          <a:p xmlns:a="http://schemas.openxmlformats.org/drawingml/2006/main">
            <a:r>
              <a:t>    "metric": "근거 정확도 / 검토시간",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"ST-04"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"canonicalId": "AX22",</a:t>
            </a:r>
          </a:p>
          <a:p xmlns:a="http://schemas.openxmlformats.org/drawingml/2006/main">
            <a:r>
              <a:t>    "purpose": "도시철도 안전 규정의 근거형 질의응답",</a:t>
            </a:r>
          </a:p>
          <a:p xmlns:a="http://schemas.openxmlformats.org/drawingml/2006/main">
            <a:r>
              <a:t>    "users": "안전·현장 운영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"법령·사규",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"판본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"안전 담당 질의",</a:t>
            </a:r>
          </a:p>
          <a:p xmlns:a="http://schemas.openxmlformats.org/drawingml/2006/main">
            <a:r>
              <a:t>        "detail": "업무·설비·적용 시점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"법령·사규 / 질의응답 / 판본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"문서 검색·Q&amp;A",</a:t>
            </a:r>
          </a:p>
          <a:p xmlns:a="http://schemas.openxmlformats.org/drawingml/2006/main">
            <a:r>
              <a:t>        "detail": "규정 검색과 조문 근거형 응답",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검토자",</a:t>
            </a:r>
          </a:p>
          <a:p xmlns:a="http://schemas.openxmlformats.org/drawingml/2006/main">
            <a:r>
              <a:t>        "detail": "현장 담당자가 출처를 확인한 후 적용",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"안전 규정·매뉴얼",</a:t>
            </a:r>
          </a:p>
          <a:p xmlns:a="http://schemas.openxmlformats.org/drawingml/2006/main">
            <a:r>
              <a:t>        "detail": "법령·사규·매뉴얼의 조문·개정일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"개정 후 구버전 인용과 충돌 답변 시험",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"법령·사규·매뉴얼",</a:t>
            </a:r>
          </a:p>
          <a:p xmlns:a="http://schemas.openxmlformats.org/drawingml/2006/main">
            <a:r>
              <a:t>        "input": "업무·설비·적용 시점 확인",</a:t>
            </a:r>
          </a:p>
          <a:p xmlns:a="http://schemas.openxmlformats.org/drawingml/2006/main">
            <a:r>
              <a:t>        "process": "법령·사규·매뉴얼의 조문·개정일 색인",</a:t>
            </a:r>
          </a:p>
          <a:p xmlns:a="http://schemas.openxmlformats.org/drawingml/2006/main">
            <a:r>
              <a:t>        "output": "질문"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"전처리·검색",</a:t>
            </a:r>
          </a:p>
          <a:p xmlns:a="http://schemas.openxmlformats.org/drawingml/2006/main">
            <a:r>
              <a:t>        "input": "질문",</a:t>
            </a:r>
          </a:p>
          <a:p xmlns:a="http://schemas.openxmlformats.org/drawingml/2006/main">
            <a:r>
              <a:t>        "process": "규정 검색과 조문 근거형 응답",</a:t>
            </a:r>
          </a:p>
          <a:p xmlns:a="http://schemas.openxmlformats.org/drawingml/2006/main">
            <a:r>
              <a:t>        "output": "관련 조문"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Q&amp;A",</a:t>
            </a:r>
          </a:p>
          <a:p xmlns:a="http://schemas.openxmlformats.org/drawingml/2006/main">
            <a:r>
              <a:t>        "input": "관련 조문",</a:t>
            </a:r>
          </a:p>
          <a:p xmlns:a="http://schemas.openxmlformats.org/drawingml/2006/main">
            <a:r>
              <a:t>        "process": "시행일·조문 위치·예외 조건 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"현장 담당자가 출처를 확인한 후 적용",</a:t>
            </a:r>
          </a:p>
          <a:p xmlns:a="http://schemas.openxmlformats.org/drawingml/2006/main">
            <a:r>
              <a:t>        "output": "현장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"현장 질문에 적용 시점의 안전 규정과 조문 제공",</a:t>
            </a:r>
          </a:p>
          <a:p xmlns:a="http://schemas.openxmlformats.org/drawingml/2006/main">
            <a:r>
              <a:t>      "exception": "폐지 규정·상위 법령과 사규 충돌·근거 부재",</a:t>
            </a:r>
          </a:p>
          <a:p xmlns:a="http://schemas.openxmlformats.org/drawingml/2006/main">
            <a:r>
              <a:t>      "evidence": "판본·조문 정답표와 충돌 경고·응답 보류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"안전·현장 운영 담당자",</a:t>
            </a:r>
          </a:p>
          <a:p xmlns:a="http://schemas.openxmlformats.org/drawingml/2006/main">
            <a:r>
              <a:t>          "processing": "업무·설비·적용 시점 확인",</a:t>
            </a:r>
          </a:p>
          <a:p xmlns:a="http://schemas.openxmlformats.org/drawingml/2006/main">
            <a:r>
              <a:t>          "output": "질문"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"안전 규정·매뉴얼",</a:t>
            </a:r>
          </a:p>
          <a:p xmlns:a="http://schemas.openxmlformats.org/drawingml/2006/main">
            <a:r>
              <a:t>          "processing": "법령·사규·매뉴얼의 조문·개정일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"질문",</a:t>
            </a:r>
          </a:p>
          <a:p xmlns:a="http://schemas.openxmlformats.org/drawingml/2006/main">
            <a:r>
              <a:t>          "processing": "규정 검색과 조문 근거형 응답",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"현장 담당자가 출처를 확인한 후 적용",</a:t>
            </a:r>
          </a:p>
          <a:p xmlns:a="http://schemas.openxmlformats.org/drawingml/2006/main">
            <a:r>
              <a:t>          "output": "현장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"개정 후 구버전 인용과 충돌 답변 시험",</a:t>
            </a:r>
          </a:p>
          <a:p xmlns:a="http://schemas.openxmlformats.org/drawingml/2006/main">
            <a:r>
              <a:t>          "output":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"개정 후 구버전 인용과 충돌 답변 시험",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"S-AX22",</a:t>
            </a:r>
          </a:p>
          <a:p xmlns:a="http://schemas.openxmlformats.org/drawingml/2006/main">
            <a:r>
              <a:t>        "title": "도시철도 교통안전 GPT · 공공AI 사례집 108–109쪽",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"도시철도 안전 업무에서 법령·사규·매뉴얼을 함께 검색하는 질의응답 사례. 자료가 여러 위치와 판본으로 존재할 때 관련 조문을 찾는 작업의 지원.",</a:t>
            </a:r>
          </a:p>
          <a:p xmlns:a="http://schemas.openxmlformats.org/drawingml/2006/main">
            <a:r>
              <a:t>      "질의의 업무·설비·적용 시점을 바탕으로 유효 문서를 검색하고 조문 위치를 포함한 답변을 구성하는 재구성. 현장 담당자가 예외 조건과 시행일을 확인한 후 업무에 참고하는 흐름.",</a:t>
            </a:r>
          </a:p>
          <a:p xmlns:a="http://schemas.openxmlformats.org/drawingml/2006/main">
            <a:r>
              <a:t>      "CCK에서는 검색 답변과 안전 승인 권한을 분리하고 개정 전후 충돌 답변을 시험할 근거. 구판 회수, 조문 위치 일치, 예외 조건 누락과 검토시간을 TS 부서별로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"안전업무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"안전·현장 운영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"설비·적용시점",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"업무·설비·적용 시점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조문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조문 근거형 응답",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"시행일·예외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"시행일·조문 위치·예외 조건 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"현장 질문에 적용 시점의 안전 규정과 조문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"안전업무 참고",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"현장 담당자가 출처를 확인한 후 적용",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"구판 인용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"개정 후 구버전 인용과 충돌 답변 시험",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"법령·사규·매뉴얼",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"안전 규정·매뉴얼",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"조문·개정일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"법령·사규·매뉴얼의 조문·개정일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"유효 문서·답변",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"판본·조문 정답표와 충돌 경고·응답 보류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"안전 승인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"폐지 규정·상위 법령과 사규 충돌·근거 부재",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"업무·설비·적용 시점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"질문",</a:t>
            </a:r>
          </a:p>
          <a:p xmlns:a="http://schemas.openxmlformats.org/drawingml/2006/main">
            <a:r>
              <a:t>          "check": "시행일·조문 위치·예외 조건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조문",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"폐지 규정·상위 법령과 사규 충돌·근거 부재"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"현장 담당자가 출처를 확인한 후 적용"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검토",</a:t>
            </a:r>
          </a:p>
          <a:p xmlns:a="http://schemas.openxmlformats.org/drawingml/2006/main">
            <a:r>
              <a:t>          "check":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"도시철도 안전 규정의 근거형 질의응답 / 법령·사규·질의응답·판본 확인",</a:t>
            </a:r>
          </a:p>
          <a:p xmlns:a="http://schemas.openxmlformats.org/drawingml/2006/main">
            <a:r>
              <a:t>        "extension": "TS 안전 직무별 규정·검사 기준 지식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"폐지 규정·상위 법령과 사규 충돌·근거 부재",</a:t>
            </a:r>
          </a:p>
          <a:p xmlns:a="http://schemas.openxmlformats.org/drawingml/2006/main">
            <a:r>
              <a:t>        "hold": "시행일·조문 위치·예외 조건 검증",</a:t>
            </a:r>
          </a:p>
          <a:p xmlns:a="http://schemas.openxmlformats.org/drawingml/2006/main">
            <a:r>
              <a:t>        "recovery": "개정 후 구버전 인용과 충돌 답변 시험",</a:t>
            </a:r>
          </a:p>
          <a:p xmlns:a="http://schemas.openxmlformats.org/drawingml/2006/main">
            <a:r>
              <a:t>        "evidence": "판본·조문 정답표와 충돌 경고·응답 보류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"안전 규정·매뉴얼",</a:t>
            </a:r>
          </a:p>
          <a:p xmlns:a="http://schemas.openxmlformats.org/drawingml/2006/main">
            <a:r>
              <a:t>        "prepare": "법령·사규·매뉴얼의 조문·개정일 색인",</a:t>
            </a:r>
          </a:p>
          <a:p xmlns:a="http://schemas.openxmlformats.org/drawingml/2006/main">
            <a:r>
              <a:t>        "output": "질문",</a:t>
            </a:r>
          </a:p>
          <a:p xmlns:a="http://schemas.openxmlformats.org/drawingml/2006/main">
            <a:r>
              <a:t>        "refresh": "개정 후 구버전 인용과 충돌 답변 시험"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"법령·사규·매뉴얼의 통합 검색",</a:t>
            </a:r>
          </a:p>
          <a:p xmlns:a="http://schemas.openxmlformats.org/drawingml/2006/main">
            <a:r>
              <a:t>      "안전 담당자의 근거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"폐지·개정 전 문서 인용",</a:t>
            </a:r>
          </a:p>
          <a:p xmlns:a="http://schemas.openxmlformats.org/drawingml/2006/main">
            <a:r>
              <a:t>      "질의응답을 안전 승인으로 오인"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"안전 담당 질의",</a:t>
            </a:r>
          </a:p>
          <a:p xmlns:a="http://schemas.openxmlformats.org/drawingml/2006/main">
            <a:r>
              <a:t>      "문서 검색·Q&amp;A",</a:t>
            </a:r>
          </a:p>
          <a:p xmlns:a="http://schemas.openxmlformats.org/drawingml/2006/main">
            <a:r>
              <a:t>      "안전 규정·매뉴얼",</a:t>
            </a:r>
          </a:p>
          <a:p xmlns:a="http://schemas.openxmlformats.org/drawingml/2006/main">
            <a:r>
              <a:t>      "안전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"질문",</a:t>
            </a:r>
          </a:p>
          <a:p xmlns:a="http://schemas.openxmlformats.org/drawingml/2006/main">
            <a:r>
              <a:t>      "관련 조문",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"현장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"시행일·조문 위치·예외 조건 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도시철도 교통안전 GPT · 공공AI 사례집 108–109쪽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https://heen1987-ops.github.io/TS-business-Plan-001/index.html?view=casebook&amp;case=AX22</a:t>
            </a:r>
          </a:p>
          <a:p xmlns:a="http://schemas.openxmlformats.org/drawingml/2006/main">
            <a:r>
              <a:t>한계: 실증과 기대효과 소개 · 사고 예방의 인과성과 수치 미제시</a:t>
            </a:r>
          </a:p>
          <a:p xmlns:a="http://schemas.openxmlformats.org/drawingml/2006/main">
            <a:r>
              <a:t>실패 위험: 폐지·개정 전 문서 인용 / 질의응답을 안전 승인으로 오인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"title": "도시철도 교통안전 GPT",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"규정·매뉴얼 지식 지원",</a:t>
            </a:r>
          </a:p>
          <a:p xmlns:a="http://schemas.openxmlformats.org/drawingml/2006/main">
            <a:r>
              <a:t>    "period": "2023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"매뉴얼 지식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"안전 법령·사규·매뉴얼을 활용한 질의응답과 최신 근거 제공 서비스 실증",</a:t>
            </a:r>
          </a:p>
          <a:p xmlns:a="http://schemas.openxmlformats.org/drawingml/2006/main">
            <a:r>
              <a:t>    "limit": "실증과 기대효과 소개 · 사고 예방의 인과성과 수치 미제시",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"법령·사규·매뉴얼",</a:t>
            </a:r>
          </a:p>
          <a:p xmlns:a="http://schemas.openxmlformats.org/drawingml/2006/main">
            <a:r>
              <a:t>      "전처리·검색",</a:t>
            </a:r>
          </a:p>
          <a:p xmlns:a="http://schemas.openxmlformats.org/drawingml/2006/main">
            <a:r>
              <a:t>      "안전 Q&amp;A",</a:t>
            </a:r>
          </a:p>
          <a:p xmlns:a="http://schemas.openxmlformats.org/drawingml/2006/main">
            <a:r>
              <a:t>      "안전 담당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"규정 효력일·폐지 문서·업무별 평가셋",</a:t>
            </a:r>
          </a:p>
          <a:p xmlns:a="http://schemas.openxmlformats.org/drawingml/2006/main">
            <a:r>
              <a:t>    "test": "동일 질문의 개정 전후 근거·답변 일치 시험",</a:t>
            </a:r>
          </a:p>
          <a:p xmlns:a="http://schemas.openxmlformats.org/drawingml/2006/main">
            <a:r>
              <a:t>    "metric": "근거 정확도 / 검토시간",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"ST-04"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"canonicalId": "AX22",</a:t>
            </a:r>
          </a:p>
          <a:p xmlns:a="http://schemas.openxmlformats.org/drawingml/2006/main">
            <a:r>
              <a:t>    "purpose": "도시철도 안전 규정의 근거형 질의응답",</a:t>
            </a:r>
          </a:p>
          <a:p xmlns:a="http://schemas.openxmlformats.org/drawingml/2006/main">
            <a:r>
              <a:t>    "users": "안전·현장 운영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"법령·사규",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"판본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"안전 담당 질의",</a:t>
            </a:r>
          </a:p>
          <a:p xmlns:a="http://schemas.openxmlformats.org/drawingml/2006/main">
            <a:r>
              <a:t>        "detail": "업무·설비·적용 시점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"법령·사규 / 질의응답 / 판본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"문서 검색·Q&amp;A",</a:t>
            </a:r>
          </a:p>
          <a:p xmlns:a="http://schemas.openxmlformats.org/drawingml/2006/main">
            <a:r>
              <a:t>        "detail": "규정 검색과 조문 근거형 응답",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검토자",</a:t>
            </a:r>
          </a:p>
          <a:p xmlns:a="http://schemas.openxmlformats.org/drawingml/2006/main">
            <a:r>
              <a:t>        "detail": "현장 담당자가 출처를 확인한 후 적용",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"안전 규정·매뉴얼",</a:t>
            </a:r>
          </a:p>
          <a:p xmlns:a="http://schemas.openxmlformats.org/drawingml/2006/main">
            <a:r>
              <a:t>        "detail": "법령·사규·매뉴얼의 조문·개정일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"개정 후 구버전 인용과 충돌 답변 시험",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"법령·사규·매뉴얼",</a:t>
            </a:r>
          </a:p>
          <a:p xmlns:a="http://schemas.openxmlformats.org/drawingml/2006/main">
            <a:r>
              <a:t>        "input": "업무·설비·적용 시점 확인",</a:t>
            </a:r>
          </a:p>
          <a:p xmlns:a="http://schemas.openxmlformats.org/drawingml/2006/main">
            <a:r>
              <a:t>        "process": "법령·사규·매뉴얼의 조문·개정일 색인",</a:t>
            </a:r>
          </a:p>
          <a:p xmlns:a="http://schemas.openxmlformats.org/drawingml/2006/main">
            <a:r>
              <a:t>        "output": "질문"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"전처리·검색",</a:t>
            </a:r>
          </a:p>
          <a:p xmlns:a="http://schemas.openxmlformats.org/drawingml/2006/main">
            <a:r>
              <a:t>        "input": "질문",</a:t>
            </a:r>
          </a:p>
          <a:p xmlns:a="http://schemas.openxmlformats.org/drawingml/2006/main">
            <a:r>
              <a:t>        "process": "규정 검색과 조문 근거형 응답",</a:t>
            </a:r>
          </a:p>
          <a:p xmlns:a="http://schemas.openxmlformats.org/drawingml/2006/main">
            <a:r>
              <a:t>        "output": "관련 조문"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Q&amp;A",</a:t>
            </a:r>
          </a:p>
          <a:p xmlns:a="http://schemas.openxmlformats.org/drawingml/2006/main">
            <a:r>
              <a:t>        "input": "관련 조문",</a:t>
            </a:r>
          </a:p>
          <a:p xmlns:a="http://schemas.openxmlformats.org/drawingml/2006/main">
            <a:r>
              <a:t>        "process": "시행일·조문 위치·예외 조건 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"현장 담당자가 출처를 확인한 후 적용",</a:t>
            </a:r>
          </a:p>
          <a:p xmlns:a="http://schemas.openxmlformats.org/drawingml/2006/main">
            <a:r>
              <a:t>        "output": "현장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"현장 질문에 적용 시점의 안전 규정과 조문 제공",</a:t>
            </a:r>
          </a:p>
          <a:p xmlns:a="http://schemas.openxmlformats.org/drawingml/2006/main">
            <a:r>
              <a:t>      "exception": "폐지 규정·상위 법령과 사규 충돌·근거 부재",</a:t>
            </a:r>
          </a:p>
          <a:p xmlns:a="http://schemas.openxmlformats.org/drawingml/2006/main">
            <a:r>
              <a:t>      "evidence": "판본·조문 정답표와 충돌 경고·응답 보류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"안전·현장 운영 담당자",</a:t>
            </a:r>
          </a:p>
          <a:p xmlns:a="http://schemas.openxmlformats.org/drawingml/2006/main">
            <a:r>
              <a:t>          "processing": "업무·설비·적용 시점 확인",</a:t>
            </a:r>
          </a:p>
          <a:p xmlns:a="http://schemas.openxmlformats.org/drawingml/2006/main">
            <a:r>
              <a:t>          "output": "질문"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"안전 규정·매뉴얼",</a:t>
            </a:r>
          </a:p>
          <a:p xmlns:a="http://schemas.openxmlformats.org/drawingml/2006/main">
            <a:r>
              <a:t>          "processing": "법령·사규·매뉴얼의 조문·개정일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"질문",</a:t>
            </a:r>
          </a:p>
          <a:p xmlns:a="http://schemas.openxmlformats.org/drawingml/2006/main">
            <a:r>
              <a:t>          "processing": "규정 검색과 조문 근거형 응답",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"현장 담당자가 출처를 확인한 후 적용",</a:t>
            </a:r>
          </a:p>
          <a:p xmlns:a="http://schemas.openxmlformats.org/drawingml/2006/main">
            <a:r>
              <a:t>          "output": "현장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"개정 후 구버전 인용과 충돌 답변 시험",</a:t>
            </a:r>
          </a:p>
          <a:p xmlns:a="http://schemas.openxmlformats.org/drawingml/2006/main">
            <a:r>
              <a:t>          "output":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"개정 후 구버전 인용과 충돌 답변 시험",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"S-AX22",</a:t>
            </a:r>
          </a:p>
          <a:p xmlns:a="http://schemas.openxmlformats.org/drawingml/2006/main">
            <a:r>
              <a:t>        "title": "도시철도 교통안전 GPT · 공공AI 사례집 108–109쪽",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"도시철도 안전 업무에서 법령·사규·매뉴얼을 함께 검색하는 질의응답 사례. 자료가 여러 위치와 판본으로 존재할 때 관련 조문을 찾는 작업의 지원.",</a:t>
            </a:r>
          </a:p>
          <a:p xmlns:a="http://schemas.openxmlformats.org/drawingml/2006/main">
            <a:r>
              <a:t>      "질의의 업무·설비·적용 시점을 바탕으로 유효 문서를 검색하고 조문 위치를 포함한 답변을 구성하는 재구성. 현장 담당자가 예외 조건과 시행일을 확인한 후 업무에 참고하는 흐름.",</a:t>
            </a:r>
          </a:p>
          <a:p xmlns:a="http://schemas.openxmlformats.org/drawingml/2006/main">
            <a:r>
              <a:t>      "CCK에서는 검색 답변과 안전 승인 권한을 분리하고 개정 전후 충돌 답변을 시험할 근거. 구판 회수, 조문 위치 일치, 예외 조건 누락과 검토시간을 TS 부서별로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"안전업무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"안전·현장 운영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"설비·적용시점",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"업무·설비·적용 시점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조문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조문 근거형 응답",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"시행일·예외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"시행일·조문 위치·예외 조건 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"현장 질문에 적용 시점의 안전 규정과 조문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"안전업무 참고",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"현장 담당자가 출처를 확인한 후 적용",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"구판 인용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"개정 후 구버전 인용과 충돌 답변 시험",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"법령·사규·매뉴얼",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"안전 규정·매뉴얼",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"조문·개정일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"법령·사규·매뉴얼의 조문·개정일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"유효 문서·답변",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"판본·조문 정답표와 충돌 경고·응답 보류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"안전 승인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"폐지 규정·상위 법령과 사규 충돌·근거 부재",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"업무·설비·적용 시점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"질문",</a:t>
            </a:r>
          </a:p>
          <a:p xmlns:a="http://schemas.openxmlformats.org/drawingml/2006/main">
            <a:r>
              <a:t>          "check": "시행일·조문 위치·예외 조건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조문",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"폐지 규정·상위 법령과 사규 충돌·근거 부재"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"현장 담당자가 출처를 확인한 후 적용"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검토",</a:t>
            </a:r>
          </a:p>
          <a:p xmlns:a="http://schemas.openxmlformats.org/drawingml/2006/main">
            <a:r>
              <a:t>          "check":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"도시철도 안전 규정의 근거형 질의응답 / 법령·사규·질의응답·판본 확인",</a:t>
            </a:r>
          </a:p>
          <a:p xmlns:a="http://schemas.openxmlformats.org/drawingml/2006/main">
            <a:r>
              <a:t>        "extension": "TS 안전 직무별 규정·검사 기준 지식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"폐지 규정·상위 법령과 사규 충돌·근거 부재",</a:t>
            </a:r>
          </a:p>
          <a:p xmlns:a="http://schemas.openxmlformats.org/drawingml/2006/main">
            <a:r>
              <a:t>        "hold": "시행일·조문 위치·예외 조건 검증",</a:t>
            </a:r>
          </a:p>
          <a:p xmlns:a="http://schemas.openxmlformats.org/drawingml/2006/main">
            <a:r>
              <a:t>        "recovery": "개정 후 구버전 인용과 충돌 답변 시험",</a:t>
            </a:r>
          </a:p>
          <a:p xmlns:a="http://schemas.openxmlformats.org/drawingml/2006/main">
            <a:r>
              <a:t>        "evidence": "판본·조문 정답표와 충돌 경고·응답 보류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"안전 규정·매뉴얼",</a:t>
            </a:r>
          </a:p>
          <a:p xmlns:a="http://schemas.openxmlformats.org/drawingml/2006/main">
            <a:r>
              <a:t>        "prepare": "법령·사규·매뉴얼의 조문·개정일 색인",</a:t>
            </a:r>
          </a:p>
          <a:p xmlns:a="http://schemas.openxmlformats.org/drawingml/2006/main">
            <a:r>
              <a:t>        "output": "질문",</a:t>
            </a:r>
          </a:p>
          <a:p xmlns:a="http://schemas.openxmlformats.org/drawingml/2006/main">
            <a:r>
              <a:t>        "refresh": "개정 후 구버전 인용과 충돌 답변 시험"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"법령·사규·매뉴얼의 통합 검색",</a:t>
            </a:r>
          </a:p>
          <a:p xmlns:a="http://schemas.openxmlformats.org/drawingml/2006/main">
            <a:r>
              <a:t>      "안전 담당자의 근거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"폐지·개정 전 문서 인용",</a:t>
            </a:r>
          </a:p>
          <a:p xmlns:a="http://schemas.openxmlformats.org/drawingml/2006/main">
            <a:r>
              <a:t>      "질의응답을 안전 승인으로 오인"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"안전 담당 질의",</a:t>
            </a:r>
          </a:p>
          <a:p xmlns:a="http://schemas.openxmlformats.org/drawingml/2006/main">
            <a:r>
              <a:t>      "문서 검색·Q&amp;A",</a:t>
            </a:r>
          </a:p>
          <a:p xmlns:a="http://schemas.openxmlformats.org/drawingml/2006/main">
            <a:r>
              <a:t>      "안전 규정·매뉴얼",</a:t>
            </a:r>
          </a:p>
          <a:p xmlns:a="http://schemas.openxmlformats.org/drawingml/2006/main">
            <a:r>
              <a:t>      "안전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"질문",</a:t>
            </a:r>
          </a:p>
          <a:p xmlns:a="http://schemas.openxmlformats.org/drawingml/2006/main">
            <a:r>
              <a:t>      "관련 조문",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"현장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"시행일·조문 위치·예외 조건 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도시철도 교통안전 GPT · 공공AI 사례집 108–109쪽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"title": "도시철도 교통안전 GPT",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"규정·매뉴얼 지식 지원",</a:t>
            </a:r>
          </a:p>
          <a:p xmlns:a="http://schemas.openxmlformats.org/drawingml/2006/main">
            <a:r>
              <a:t>    "period": "2023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"매뉴얼 지식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"안전 법령·사규·매뉴얼을 활용한 질의응답과 최신 근거 제공 서비스 실증",</a:t>
            </a:r>
          </a:p>
          <a:p xmlns:a="http://schemas.openxmlformats.org/drawingml/2006/main">
            <a:r>
              <a:t>    "limit": "실증과 기대효과 소개 · 사고 예방의 인과성과 수치 미제시",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"법령·사규·매뉴얼",</a:t>
            </a:r>
          </a:p>
          <a:p xmlns:a="http://schemas.openxmlformats.org/drawingml/2006/main">
            <a:r>
              <a:t>      "전처리·검색",</a:t>
            </a:r>
          </a:p>
          <a:p xmlns:a="http://schemas.openxmlformats.org/drawingml/2006/main">
            <a:r>
              <a:t>      "안전 Q&amp;A",</a:t>
            </a:r>
          </a:p>
          <a:p xmlns:a="http://schemas.openxmlformats.org/drawingml/2006/main">
            <a:r>
              <a:t>      "안전 담당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"규정 효력일·폐지 문서·업무별 평가셋",</a:t>
            </a:r>
          </a:p>
          <a:p xmlns:a="http://schemas.openxmlformats.org/drawingml/2006/main">
            <a:r>
              <a:t>    "test": "동일 질문의 개정 전후 근거·답변 일치 시험",</a:t>
            </a:r>
          </a:p>
          <a:p xmlns:a="http://schemas.openxmlformats.org/drawingml/2006/main">
            <a:r>
              <a:t>    "metric": "근거 정확도 / 검토시간",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"ST-04"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"canonicalId": "AX22",</a:t>
            </a:r>
          </a:p>
          <a:p xmlns:a="http://schemas.openxmlformats.org/drawingml/2006/main">
            <a:r>
              <a:t>    "purpose": "도시철도 안전 규정의 근거형 질의응답",</a:t>
            </a:r>
          </a:p>
          <a:p xmlns:a="http://schemas.openxmlformats.org/drawingml/2006/main">
            <a:r>
              <a:t>    "users": "안전·현장 운영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"법령·사규",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"판본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"안전 담당 질의",</a:t>
            </a:r>
          </a:p>
          <a:p xmlns:a="http://schemas.openxmlformats.org/drawingml/2006/main">
            <a:r>
              <a:t>        "detail": "업무·설비·적용 시점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"법령·사규 / 질의응답 / 판본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"문서 검색·Q&amp;A",</a:t>
            </a:r>
          </a:p>
          <a:p xmlns:a="http://schemas.openxmlformats.org/drawingml/2006/main">
            <a:r>
              <a:t>        "detail": "규정 검색과 조문 근거형 응답",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검토자",</a:t>
            </a:r>
          </a:p>
          <a:p xmlns:a="http://schemas.openxmlformats.org/drawingml/2006/main">
            <a:r>
              <a:t>        "detail": "현장 담당자가 출처를 확인한 후 적용",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"안전 규정·매뉴얼",</a:t>
            </a:r>
          </a:p>
          <a:p xmlns:a="http://schemas.openxmlformats.org/drawingml/2006/main">
            <a:r>
              <a:t>        "detail": "법령·사규·매뉴얼의 조문·개정일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"개정 후 구버전 인용과 충돌 답변 시험",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"법령·사규·매뉴얼",</a:t>
            </a:r>
          </a:p>
          <a:p xmlns:a="http://schemas.openxmlformats.org/drawingml/2006/main">
            <a:r>
              <a:t>        "input": "업무·설비·적용 시점 확인",</a:t>
            </a:r>
          </a:p>
          <a:p xmlns:a="http://schemas.openxmlformats.org/drawingml/2006/main">
            <a:r>
              <a:t>        "process": "법령·사규·매뉴얼의 조문·개정일 색인",</a:t>
            </a:r>
          </a:p>
          <a:p xmlns:a="http://schemas.openxmlformats.org/drawingml/2006/main">
            <a:r>
              <a:t>        "output": "질문"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"전처리·검색",</a:t>
            </a:r>
          </a:p>
          <a:p xmlns:a="http://schemas.openxmlformats.org/drawingml/2006/main">
            <a:r>
              <a:t>        "input": "질문",</a:t>
            </a:r>
          </a:p>
          <a:p xmlns:a="http://schemas.openxmlformats.org/drawingml/2006/main">
            <a:r>
              <a:t>        "process": "규정 검색과 조문 근거형 응답",</a:t>
            </a:r>
          </a:p>
          <a:p xmlns:a="http://schemas.openxmlformats.org/drawingml/2006/main">
            <a:r>
              <a:t>        "output": "관련 조문"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Q&amp;A",</a:t>
            </a:r>
          </a:p>
          <a:p xmlns:a="http://schemas.openxmlformats.org/drawingml/2006/main">
            <a:r>
              <a:t>        "input": "관련 조문",</a:t>
            </a:r>
          </a:p>
          <a:p xmlns:a="http://schemas.openxmlformats.org/drawingml/2006/main">
            <a:r>
              <a:t>        "process": "시행일·조문 위치·예외 조건 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"현장 담당자가 출처를 확인한 후 적용",</a:t>
            </a:r>
          </a:p>
          <a:p xmlns:a="http://schemas.openxmlformats.org/drawingml/2006/main">
            <a:r>
              <a:t>        "output": "현장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"현장 질문에 적용 시점의 안전 규정과 조문 제공",</a:t>
            </a:r>
          </a:p>
          <a:p xmlns:a="http://schemas.openxmlformats.org/drawingml/2006/main">
            <a:r>
              <a:t>      "exception": "폐지 규정·상위 법령과 사규 충돌·근거 부재",</a:t>
            </a:r>
          </a:p>
          <a:p xmlns:a="http://schemas.openxmlformats.org/drawingml/2006/main">
            <a:r>
              <a:t>      "evidence": "판본·조문 정답표와 충돌 경고·응답 보류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"안전·현장 운영 담당자",</a:t>
            </a:r>
          </a:p>
          <a:p xmlns:a="http://schemas.openxmlformats.org/drawingml/2006/main">
            <a:r>
              <a:t>          "processing": "업무·설비·적용 시점 확인",</a:t>
            </a:r>
          </a:p>
          <a:p xmlns:a="http://schemas.openxmlformats.org/drawingml/2006/main">
            <a:r>
              <a:t>          "output": "질문"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"안전 규정·매뉴얼",</a:t>
            </a:r>
          </a:p>
          <a:p xmlns:a="http://schemas.openxmlformats.org/drawingml/2006/main">
            <a:r>
              <a:t>          "processing": "법령·사규·매뉴얼의 조문·개정일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"질문",</a:t>
            </a:r>
          </a:p>
          <a:p xmlns:a="http://schemas.openxmlformats.org/drawingml/2006/main">
            <a:r>
              <a:t>          "processing": "규정 검색과 조문 근거형 응답",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"현장 담당자가 출처를 확인한 후 적용",</a:t>
            </a:r>
          </a:p>
          <a:p xmlns:a="http://schemas.openxmlformats.org/drawingml/2006/main">
            <a:r>
              <a:t>          "output": "현장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"개정 후 구버전 인용과 충돌 답변 시험",</a:t>
            </a:r>
          </a:p>
          <a:p xmlns:a="http://schemas.openxmlformats.org/drawingml/2006/main">
            <a:r>
              <a:t>          "output":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"개정 후 구버전 인용과 충돌 답변 시험",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"S-AX22",</a:t>
            </a:r>
          </a:p>
          <a:p xmlns:a="http://schemas.openxmlformats.org/drawingml/2006/main">
            <a:r>
              <a:t>        "title": "도시철도 교통안전 GPT · 공공AI 사례집 108–109쪽",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"도시철도 안전 업무에서 법령·사규·매뉴얼을 함께 검색하는 질의응답 사례. 자료가 여러 위치와 판본으로 존재할 때 관련 조문을 찾는 작업의 지원.",</a:t>
            </a:r>
          </a:p>
          <a:p xmlns:a="http://schemas.openxmlformats.org/drawingml/2006/main">
            <a:r>
              <a:t>      "질의의 업무·설비·적용 시점을 바탕으로 유효 문서를 검색하고 조문 위치를 포함한 답변을 구성하는 재구성. 현장 담당자가 예외 조건과 시행일을 확인한 후 업무에 참고하는 흐름.",</a:t>
            </a:r>
          </a:p>
          <a:p xmlns:a="http://schemas.openxmlformats.org/drawingml/2006/main">
            <a:r>
              <a:t>      "CCK에서는 검색 답변과 안전 승인 권한을 분리하고 개정 전후 충돌 답변을 시험할 근거. 구판 회수, 조문 위치 일치, 예외 조건 누락과 검토시간을 TS 부서별로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"안전업무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"안전·현장 운영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"설비·적용시점",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"업무·설비·적용 시점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조문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조문 근거형 응답",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"시행일·예외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"시행일·조문 위치·예외 조건 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"현장 질문에 적용 시점의 안전 규정과 조문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"안전업무 참고",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"현장 담당자가 출처를 확인한 후 적용",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"구판 인용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"개정 후 구버전 인용과 충돌 답변 시험",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"법령·사규·매뉴얼",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"안전 규정·매뉴얼",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"조문·개정일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"법령·사규·매뉴얼의 조문·개정일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"유효 문서·답변",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"판본·조문 정답표와 충돌 경고·응답 보류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"안전 승인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"폐지 규정·상위 법령과 사규 충돌·근거 부재",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"업무·설비·적용 시점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"질문",</a:t>
            </a:r>
          </a:p>
          <a:p xmlns:a="http://schemas.openxmlformats.org/drawingml/2006/main">
            <a:r>
              <a:t>          "check": "시행일·조문 위치·예외 조건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조문",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"폐지 규정·상위 법령과 사규 충돌·근거 부재"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"현장 담당자가 출처를 확인한 후 적용"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검토",</a:t>
            </a:r>
          </a:p>
          <a:p xmlns:a="http://schemas.openxmlformats.org/drawingml/2006/main">
            <a:r>
              <a:t>          "check":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"도시철도 안전 규정의 근거형 질의응답 / 법령·사규·질의응답·판본 확인",</a:t>
            </a:r>
          </a:p>
          <a:p xmlns:a="http://schemas.openxmlformats.org/drawingml/2006/main">
            <a:r>
              <a:t>        "extension": "TS 안전 직무별 규정·검사 기준 지식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"폐지 규정·상위 법령과 사규 충돌·근거 부재",</a:t>
            </a:r>
          </a:p>
          <a:p xmlns:a="http://schemas.openxmlformats.org/drawingml/2006/main">
            <a:r>
              <a:t>        "hold": "시행일·조문 위치·예외 조건 검증",</a:t>
            </a:r>
          </a:p>
          <a:p xmlns:a="http://schemas.openxmlformats.org/drawingml/2006/main">
            <a:r>
              <a:t>        "recovery": "개정 후 구버전 인용과 충돌 답변 시험",</a:t>
            </a:r>
          </a:p>
          <a:p xmlns:a="http://schemas.openxmlformats.org/drawingml/2006/main">
            <a:r>
              <a:t>        "evidence": "판본·조문 정답표와 충돌 경고·응답 보류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"안전 규정·매뉴얼",</a:t>
            </a:r>
          </a:p>
          <a:p xmlns:a="http://schemas.openxmlformats.org/drawingml/2006/main">
            <a:r>
              <a:t>        "prepare": "법령·사규·매뉴얼의 조문·개정일 색인",</a:t>
            </a:r>
          </a:p>
          <a:p xmlns:a="http://schemas.openxmlformats.org/drawingml/2006/main">
            <a:r>
              <a:t>        "output": "질문",</a:t>
            </a:r>
          </a:p>
          <a:p xmlns:a="http://schemas.openxmlformats.org/drawingml/2006/main">
            <a:r>
              <a:t>        "refresh": "개정 후 구버전 인용과 충돌 답변 시험"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"법령·사규·매뉴얼의 통합 검색",</a:t>
            </a:r>
          </a:p>
          <a:p xmlns:a="http://schemas.openxmlformats.org/drawingml/2006/main">
            <a:r>
              <a:t>      "안전 담당자의 근거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"폐지·개정 전 문서 인용",</a:t>
            </a:r>
          </a:p>
          <a:p xmlns:a="http://schemas.openxmlformats.org/drawingml/2006/main">
            <a:r>
              <a:t>      "질의응답을 안전 승인으로 오인"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"안전 담당 질의",</a:t>
            </a:r>
          </a:p>
          <a:p xmlns:a="http://schemas.openxmlformats.org/drawingml/2006/main">
            <a:r>
              <a:t>      "문서 검색·Q&amp;A",</a:t>
            </a:r>
          </a:p>
          <a:p xmlns:a="http://schemas.openxmlformats.org/drawingml/2006/main">
            <a:r>
              <a:t>      "안전 규정·매뉴얼",</a:t>
            </a:r>
          </a:p>
          <a:p xmlns:a="http://schemas.openxmlformats.org/drawingml/2006/main">
            <a:r>
              <a:t>      "안전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"질문",</a:t>
            </a:r>
          </a:p>
          <a:p xmlns:a="http://schemas.openxmlformats.org/drawingml/2006/main">
            <a:r>
              <a:t>      "관련 조문",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"현장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"시행일·조문 위치·예외 조건 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도시철도 교통안전 GPT · 공공AI 사례집 108–109쪽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"title": "도시철도 교통안전 GPT",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"규정·매뉴얼 지식 지원",</a:t>
            </a:r>
          </a:p>
          <a:p xmlns:a="http://schemas.openxmlformats.org/drawingml/2006/main">
            <a:r>
              <a:t>    "period": "2023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"매뉴얼 지식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"안전 법령·사규·매뉴얼을 활용한 질의응답과 최신 근거 제공 서비스 실증",</a:t>
            </a:r>
          </a:p>
          <a:p xmlns:a="http://schemas.openxmlformats.org/drawingml/2006/main">
            <a:r>
              <a:t>    "limit": "실증과 기대효과 소개 · 사고 예방의 인과성과 수치 미제시",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"법령·사규·매뉴얼",</a:t>
            </a:r>
          </a:p>
          <a:p xmlns:a="http://schemas.openxmlformats.org/drawingml/2006/main">
            <a:r>
              <a:t>      "전처리·검색",</a:t>
            </a:r>
          </a:p>
          <a:p xmlns:a="http://schemas.openxmlformats.org/drawingml/2006/main">
            <a:r>
              <a:t>      "안전 Q&amp;A",</a:t>
            </a:r>
          </a:p>
          <a:p xmlns:a="http://schemas.openxmlformats.org/drawingml/2006/main">
            <a:r>
              <a:t>      "안전 담당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"규정 효력일·폐지 문서·업무별 평가셋",</a:t>
            </a:r>
          </a:p>
          <a:p xmlns:a="http://schemas.openxmlformats.org/drawingml/2006/main">
            <a:r>
              <a:t>    "test": "동일 질문의 개정 전후 근거·답변 일치 시험",</a:t>
            </a:r>
          </a:p>
          <a:p xmlns:a="http://schemas.openxmlformats.org/drawingml/2006/main">
            <a:r>
              <a:t>    "metric": "근거 정확도 / 검토시간",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"ST-02",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"ST-04"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"canonicalId": "AX22",</a:t>
            </a:r>
          </a:p>
          <a:p xmlns:a="http://schemas.openxmlformats.org/drawingml/2006/main">
            <a:r>
              <a:t>    "purpose": "도시철도 안전 규정의 근거형 질의응답",</a:t>
            </a:r>
          </a:p>
          <a:p xmlns:a="http://schemas.openxmlformats.org/drawingml/2006/main">
            <a:r>
              <a:t>    "users": "안전·현장 운영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"법령·사규",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"판본 확인"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"안전 담당 질의",</a:t>
            </a:r>
          </a:p>
          <a:p xmlns:a="http://schemas.openxmlformats.org/drawingml/2006/main">
            <a:r>
              <a:t>        "detail": "업무·설비·적용 시점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"법령·사규 / 질의응답 / 판본 확인",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"문서 검색·Q&amp;A",</a:t>
            </a:r>
          </a:p>
          <a:p xmlns:a="http://schemas.openxmlformats.org/drawingml/2006/main">
            <a:r>
              <a:t>        "detail": "규정 검색과 조문 근거형 응답",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"안전 검토자",</a:t>
            </a:r>
          </a:p>
          <a:p xmlns:a="http://schemas.openxmlformats.org/drawingml/2006/main">
            <a:r>
              <a:t>        "detail": "현장 담당자가 출처를 확인한 후 적용",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"안전 규정·매뉴얼",</a:t>
            </a:r>
          </a:p>
          <a:p xmlns:a="http://schemas.openxmlformats.org/drawingml/2006/main">
            <a:r>
              <a:t>        "detail": "법령·사규·매뉴얼의 조문·개정일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"개정 후 구버전 인용과 충돌 답변 시험",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"법령·사규·매뉴얼",</a:t>
            </a:r>
          </a:p>
          <a:p xmlns:a="http://schemas.openxmlformats.org/drawingml/2006/main">
            <a:r>
              <a:t>        "input": "업무·설비·적용 시점 확인",</a:t>
            </a:r>
          </a:p>
          <a:p xmlns:a="http://schemas.openxmlformats.org/drawingml/2006/main">
            <a:r>
              <a:t>        "process": "법령·사규·매뉴얼의 조문·개정일 색인",</a:t>
            </a:r>
          </a:p>
          <a:p xmlns:a="http://schemas.openxmlformats.org/drawingml/2006/main">
            <a:r>
              <a:t>        "output": "질문"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"전처리·검색",</a:t>
            </a:r>
          </a:p>
          <a:p xmlns:a="http://schemas.openxmlformats.org/drawingml/2006/main">
            <a:r>
              <a:t>        "input": "질문",</a:t>
            </a:r>
          </a:p>
          <a:p xmlns:a="http://schemas.openxmlformats.org/drawingml/2006/main">
            <a:r>
              <a:t>        "process": "규정 검색과 조문 근거형 응답",</a:t>
            </a:r>
          </a:p>
          <a:p xmlns:a="http://schemas.openxmlformats.org/drawingml/2006/main">
            <a:r>
              <a:t>        "output": "관련 조문"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Q&amp;A",</a:t>
            </a:r>
          </a:p>
          <a:p xmlns:a="http://schemas.openxmlformats.org/drawingml/2006/main">
            <a:r>
              <a:t>        "input": "관련 조문",</a:t>
            </a:r>
          </a:p>
          <a:p xmlns:a="http://schemas.openxmlformats.org/drawingml/2006/main">
            <a:r>
              <a:t>        "process": "시행일·조문 위치·예외 조건 검증",</a:t>
            </a:r>
          </a:p>
          <a:p xmlns:a="http://schemas.openxmlformats.org/drawingml/2006/main">
            <a:r>
              <a:t>        "output": "근거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"안전 담당 검토",</a:t>
            </a:r>
          </a:p>
          <a:p xmlns:a="http://schemas.openxmlformats.org/drawingml/2006/main">
            <a:r>
              <a:t>        "input": "근거 답변",</a:t>
            </a:r>
          </a:p>
          <a:p xmlns:a="http://schemas.openxmlformats.org/drawingml/2006/main">
            <a:r>
              <a:t>        "process": "현장 담당자가 출처를 확인한 후 적용",</a:t>
            </a:r>
          </a:p>
          <a:p xmlns:a="http://schemas.openxmlformats.org/drawingml/2006/main">
            <a:r>
              <a:t>        "output": "현장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"현장 질문에 적용 시점의 안전 규정과 조문 제공",</a:t>
            </a:r>
          </a:p>
          <a:p xmlns:a="http://schemas.openxmlformats.org/drawingml/2006/main">
            <a:r>
              <a:t>      "exception": "폐지 규정·상위 법령과 사규 충돌·근거 부재",</a:t>
            </a:r>
          </a:p>
          <a:p xmlns:a="http://schemas.openxmlformats.org/drawingml/2006/main">
            <a:r>
              <a:t>      "evidence": "판본·조문 정답표와 충돌 경고·응답 보류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"안전·현장 운영 담당자",</a:t>
            </a:r>
          </a:p>
          <a:p xmlns:a="http://schemas.openxmlformats.org/drawingml/2006/main">
            <a:r>
              <a:t>          "processing": "업무·설비·적용 시점 확인",</a:t>
            </a:r>
          </a:p>
          <a:p xmlns:a="http://schemas.openxmlformats.org/drawingml/2006/main">
            <a:r>
              <a:t>          "output": "질문"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"안전 규정·매뉴얼",</a:t>
            </a:r>
          </a:p>
          <a:p xmlns:a="http://schemas.openxmlformats.org/drawingml/2006/main">
            <a:r>
              <a:t>          "processing": "법령·사규·매뉴얼의 조문·개정일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"질문",</a:t>
            </a:r>
          </a:p>
          <a:p xmlns:a="http://schemas.openxmlformats.org/drawingml/2006/main">
            <a:r>
              <a:t>          "processing": "규정 검색과 조문 근거형 응답",</a:t>
            </a:r>
          </a:p>
          <a:p xmlns:a="http://schemas.openxmlformats.org/drawingml/2006/main">
            <a:r>
              <a:t>          "output": "근거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답변",</a:t>
            </a:r>
          </a:p>
          <a:p xmlns:a="http://schemas.openxmlformats.org/drawingml/2006/main">
            <a:r>
              <a:t>          "processing": "현장 담당자가 출처를 확인한 후 적용",</a:t>
            </a:r>
          </a:p>
          <a:p xmlns:a="http://schemas.openxmlformats.org/drawingml/2006/main">
            <a:r>
              <a:t>          "output": "현장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"개정 후 구버전 인용과 충돌 답변 시험",</a:t>
            </a:r>
          </a:p>
          <a:p xmlns:a="http://schemas.openxmlformats.org/drawingml/2006/main">
            <a:r>
              <a:t>          "output":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"개정 후 구버전 인용과 충돌 답변 시험",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"S-AX22",</a:t>
            </a:r>
          </a:p>
          <a:p xmlns:a="http://schemas.openxmlformats.org/drawingml/2006/main">
            <a:r>
              <a:t>        "title": "도시철도 교통안전 GPT · 공공AI 사례집 108–109쪽",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"문서 판본과 안전 직무별 근거 연결",</a:t>
            </a:r>
          </a:p>
          <a:p xmlns:a="http://schemas.openxmlformats.org/drawingml/2006/main">
            <a:r>
              <a:t>    "local": "TS 안전 직무별 규정·검사 기준 지식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"도시철도 안전 업무에서 법령·사규·매뉴얼을 함께 검색하는 질의응답 사례. 자료가 여러 위치와 판본으로 존재할 때 관련 조문을 찾는 작업의 지원.",</a:t>
            </a:r>
          </a:p>
          <a:p xmlns:a="http://schemas.openxmlformats.org/drawingml/2006/main">
            <a:r>
              <a:t>      "질의의 업무·설비·적용 시점을 바탕으로 유효 문서를 검색하고 조문 위치를 포함한 답변을 구성하는 재구성. 현장 담당자가 예외 조건과 시행일을 확인한 후 업무에 참고하는 흐름.",</a:t>
            </a:r>
          </a:p>
          <a:p xmlns:a="http://schemas.openxmlformats.org/drawingml/2006/main">
            <a:r>
              <a:t>      "CCK에서는 검색 답변과 안전 승인 권한을 분리하고 개정 전후 충돌 답변을 시험할 근거. 구판 회수, 조문 위치 일치, 예외 조건 누락과 검토시간을 TS 부서별로 측정할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"안전업무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"안전·현장 운영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"설비·적용시점",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"업무·설비·적용 시점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조문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조문 근거형 응답",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"시행일·예외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"시행일·조문 위치·예외 조건 검증",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"현장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"현장 질문에 적용 시점의 안전 규정과 조문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"안전업무 참고",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"현장 담당자가 출처를 확인한 후 적용",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"구판 인용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"개정 후 구버전 인용과 충돌 답변 시험",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"법령·사규·매뉴얼",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"안전 규정·매뉴얼",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"조문·개정일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"법령·사규·매뉴얼의 조문·개정일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"유효 문서·답변",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"판본·조문 정답표와 충돌 경고·응답 보류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"안전 승인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"폐지 규정·상위 법령과 사규 충돌·근거 부재",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"업무·설비·적용 시점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"질문",</a:t>
            </a:r>
          </a:p>
          <a:p xmlns:a="http://schemas.openxmlformats.org/drawingml/2006/main">
            <a:r>
              <a:t>          "check": "시행일·조문 위치·예외 조건 검증"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조문",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"폐지 규정·상위 법령과 사규 충돌·근거 부재"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답변",</a:t>
            </a:r>
          </a:p>
          <a:p xmlns:a="http://schemas.openxmlformats.org/drawingml/2006/main">
            <a:r>
              <a:t>          "check": "현장 담당자가 출처를 확인한 후 적용"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검토",</a:t>
            </a:r>
          </a:p>
          <a:p xmlns:a="http://schemas.openxmlformats.org/drawingml/2006/main">
            <a:r>
              <a:t>          "check": "판본·조문 정답표와 충돌 경고·응답 보류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"도시철도 안전 규정의 근거형 질의응답 / 법령·사규·질의응답·판본 확인",</a:t>
            </a:r>
          </a:p>
          <a:p xmlns:a="http://schemas.openxmlformats.org/drawingml/2006/main">
            <a:r>
              <a:t>        "extension": "TS 안전 직무별 규정·검사 기준 지식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"폐지 규정·상위 법령과 사규 충돌·근거 부재",</a:t>
            </a:r>
          </a:p>
          <a:p xmlns:a="http://schemas.openxmlformats.org/drawingml/2006/main">
            <a:r>
              <a:t>        "hold": "시행일·조문 위치·예외 조건 검증",</a:t>
            </a:r>
          </a:p>
          <a:p xmlns:a="http://schemas.openxmlformats.org/drawingml/2006/main">
            <a:r>
              <a:t>        "recovery": "개정 후 구버전 인용과 충돌 답변 시험",</a:t>
            </a:r>
          </a:p>
          <a:p xmlns:a="http://schemas.openxmlformats.org/drawingml/2006/main">
            <a:r>
              <a:t>        "evidence": "판본·조문 정답표와 충돌 경고·응답 보류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"안전 규정·매뉴얼",</a:t>
            </a:r>
          </a:p>
          <a:p xmlns:a="http://schemas.openxmlformats.org/drawingml/2006/main">
            <a:r>
              <a:t>        "prepare": "법령·사규·매뉴얼의 조문·개정일 색인",</a:t>
            </a:r>
          </a:p>
          <a:p xmlns:a="http://schemas.openxmlformats.org/drawingml/2006/main">
            <a:r>
              <a:t>        "output": "질문",</a:t>
            </a:r>
          </a:p>
          <a:p xmlns:a="http://schemas.openxmlformats.org/drawingml/2006/main">
            <a:r>
              <a:t>        "refresh": "개정 후 구버전 인용과 충돌 답변 시험"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"AX22",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"법령·사규·매뉴얼의 통합 검색",</a:t>
            </a:r>
          </a:p>
          <a:p xmlns:a="http://schemas.openxmlformats.org/drawingml/2006/main">
            <a:r>
              <a:t>      "안전 담당자의 근거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"폐지·개정 전 문서 인용",</a:t>
            </a:r>
          </a:p>
          <a:p xmlns:a="http://schemas.openxmlformats.org/drawingml/2006/main">
            <a:r>
              <a:t>      "질의응답을 안전 승인으로 오인"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"안전 담당 질의",</a:t>
            </a:r>
          </a:p>
          <a:p xmlns:a="http://schemas.openxmlformats.org/drawingml/2006/main">
            <a:r>
              <a:t>      "문서 검색·Q&amp;A",</a:t>
            </a:r>
          </a:p>
          <a:p xmlns:a="http://schemas.openxmlformats.org/drawingml/2006/main">
            <a:r>
              <a:t>      "안전 규정·매뉴얼",</a:t>
            </a:r>
          </a:p>
          <a:p xmlns:a="http://schemas.openxmlformats.org/drawingml/2006/main">
            <a:r>
              <a:t>      "안전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"질문",</a:t>
            </a:r>
          </a:p>
          <a:p xmlns:a="http://schemas.openxmlformats.org/drawingml/2006/main">
            <a:r>
              <a:t>      "관련 조문",</a:t>
            </a:r>
          </a:p>
          <a:p xmlns:a="http://schemas.openxmlformats.org/drawingml/2006/main">
            <a:r>
              <a:t>      "근거 답변",</a:t>
            </a:r>
          </a:p>
          <a:p xmlns:a="http://schemas.openxmlformats.org/drawingml/2006/main">
            <a:r>
              <a:t>      "현장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"시행일·조문 위치·예외 조건 검증",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도시철도 교통안전 GPT · 공공AI 사례집 108–109쪽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"title": "경찰 AI 교통안전 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"교통사고 위험 예측",</a:t>
            </a:r>
          </a:p>
          <a:p xmlns:a="http://schemas.openxmlformats.org/drawingml/2006/main">
            <a:r>
              <a:t>    "period": "2024 구축·실증",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"교통사고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"교통사고·단속·시설·기상·교통량 데이터 기반 위험 예측과 지역 실증",</a:t>
            </a:r>
          </a:p>
          <a:p xmlns:a="http://schemas.openxmlformats.org/drawingml/2006/main">
            <a:r>
              <a:t>    "limit": "지역 실증 범위 · 전국 사고 감소 성과로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"사고 위험 예측",</a:t>
            </a:r>
          </a:p>
          <a:p xmlns:a="http://schemas.openxmlformats.org/drawingml/2006/main">
            <a:r>
              <a:t>      "지역 실증·현장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"지역·도로·시점 정규화 및 개선 이력 연결",</a:t>
            </a:r>
          </a:p>
          <a:p xmlns:a="http://schemas.openxmlformats.org/drawingml/2006/main">
            <a:r>
              <a:t>    "test": "시간·지역 분리 검증과 데이터 누락 시험",</a:t>
            </a:r>
          </a:p>
          <a:p xmlns:a="http://schemas.openxmlformats.org/drawingml/2006/main">
            <a:r>
              <a:t>    "metric": "위험 탐지율 / 예방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"canonicalId": "AX23",</a:t>
            </a:r>
          </a:p>
          <a:p xmlns:a="http://schemas.openxmlformats.org/drawingml/2006/main">
            <a:r>
              <a:t>    "purpose": "지역별 교통사고 위험 분석과 대응 지원",</a:t>
            </a:r>
          </a:p>
          <a:p xmlns:a="http://schemas.openxmlformats.org/drawingml/2006/main">
            <a:r>
              <a:t>    "users": "교통안전·단속·시설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"다종 데이터",</a:t>
            </a:r>
          </a:p>
          <a:p xmlns:a="http://schemas.openxmlformats.org/drawingml/2006/main">
            <a:r>
              <a:t>      "위험 예측",</a:t>
            </a:r>
          </a:p>
          <a:p xmlns:a="http://schemas.openxmlformats.org/drawingml/2006/main">
            <a:r>
              <a:t>      "지역 실증"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"detail": "지역·기간·사고유형 정의",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"다종 데이터 / 위험 예측 / 지역 실증",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"detail": "사고·단속·시설·기상·교통량 결합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"교통안전 담당",</a:t>
            </a:r>
          </a:p>
          <a:p xmlns:a="http://schemas.openxmlformats.org/drawingml/2006/main">
            <a:r>
              <a:t>        "detail": "위험 후보를 단속·시설 개선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위험 특징",</a:t>
            </a:r>
          </a:p>
          <a:p xmlns:a="http://schemas.openxmlformats.org/drawingml/2006/main">
            <a:r>
              <a:t>        "detail": "공간·시간 단위 정합화와 결측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"예측 오차·지역 편차·개입 후 지표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"input": "지역·기간·사고유형 정의",</a:t>
            </a:r>
          </a:p>
          <a:p xmlns:a="http://schemas.openxmlformats.org/drawingml/2006/main">
            <a:r>
              <a:t>        "process": "공간·시간 단위 정합화와 결측 점검",</a:t>
            </a:r>
          </a:p>
          <a:p xmlns:a="http://schemas.openxmlformats.org/drawingml/2006/main">
            <a:r>
              <a:t>        "output": "관측 데이터"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"input": "관측 데이터",</a:t>
            </a:r>
          </a:p>
          <a:p xmlns:a="http://schemas.openxmlformats.org/drawingml/2006/main">
            <a:r>
              <a:t>        "process": "사고·단속·시설·기상·교통량 결합 분석",</a:t>
            </a:r>
          </a:p>
          <a:p xmlns:a="http://schemas.openxmlformats.org/drawingml/2006/main">
            <a:r>
              <a:t>        "output": "학습·평가 특징"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위험 예측",</a:t>
            </a:r>
          </a:p>
          <a:p xmlns:a="http://schemas.openxmlformats.org/drawingml/2006/main">
            <a:r>
              <a:t>        "input": "학습·평가 특징",</a:t>
            </a:r>
          </a:p>
          <a:p xmlns:a="http://schemas.openxmlformats.org/drawingml/2006/main">
            <a:r>
              <a:t>        "process": "시간·지역 분리 평가와 누수 차단",</a:t>
            </a:r>
          </a:p>
          <a:p xmlns:a="http://schemas.openxmlformats.org/drawingml/2006/main">
            <a:r>
              <a:t>        "output": "위험 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"지역 실증·현장 대응",</a:t>
            </a:r>
          </a:p>
          <a:p xmlns:a="http://schemas.openxmlformats.org/drawingml/2006/main">
            <a:r>
              <a:t>        "input": "위험 순위",</a:t>
            </a:r>
          </a:p>
          <a:p xmlns:a="http://schemas.openxmlformats.org/drawingml/2006/main">
            <a:r>
              <a:t>        "process": "위험 후보를 단속·시설 개선 검토에 전달",</a:t>
            </a:r>
          </a:p>
          <a:p xmlns:a="http://schemas.openxmlformats.org/drawingml/2006/main">
            <a:r>
              <a:t>        "output": "현장 조치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지역·기간의 사고 위험을 분석하고 대응 후보 선정",</a:t>
            </a:r>
          </a:p>
          <a:p xmlns:a="http://schemas.openxmlformats.org/drawingml/2006/main">
            <a:r>
              <a:t>      "exception": "공간 코드 변경·기상 결측·학습 이후 자료 유입",</a:t>
            </a:r>
          </a:p>
          <a:p xmlns:a="http://schemas.openxmlformats.org/drawingml/2006/main">
            <a:r>
              <a:t>      "evidence": "시공간 분리 평가와 지역별 오차·대응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"교통안전·단속·시설 담당",</a:t>
            </a:r>
          </a:p>
          <a:p xmlns:a="http://schemas.openxmlformats.org/drawingml/2006/main">
            <a:r>
              <a:t>          "processing": "지역·기간·사고유형 정의",</a:t>
            </a:r>
          </a:p>
          <a:p xmlns:a="http://schemas.openxmlformats.org/drawingml/2006/main">
            <a:r>
              <a:t>          "output": "관측 데이터"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위험 특징",</a:t>
            </a:r>
          </a:p>
          <a:p xmlns:a="http://schemas.openxmlformats.org/drawingml/2006/main">
            <a:r>
              <a:t>          "processing": "공간·시간 단위 정합화와 결측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"관측 데이터",</a:t>
            </a:r>
          </a:p>
          <a:p xmlns:a="http://schemas.openxmlformats.org/drawingml/2006/main">
            <a:r>
              <a:t>          "processing": "사고·단속·시설·기상·교통량 결합 분석",</a:t>
            </a:r>
          </a:p>
          <a:p xmlns:a="http://schemas.openxmlformats.org/drawingml/2006/main">
            <a:r>
              <a:t>          "output": "위험 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순위",</a:t>
            </a:r>
          </a:p>
          <a:p xmlns:a="http://schemas.openxmlformats.org/drawingml/2006/main">
            <a:r>
              <a:t>          "processing": "위험 후보를 단속·시설 개선 검토에 전달",</a:t>
            </a:r>
          </a:p>
          <a:p xmlns:a="http://schemas.openxmlformats.org/drawingml/2006/main">
            <a:r>
              <a:t>          "output": "현장 조치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"예측 오차·지역 편차·개입 후 지표 평가",</a:t>
            </a:r>
          </a:p>
          <a:p xmlns:a="http://schemas.openxmlformats.org/drawingml/2006/main">
            <a:r>
              <a:t>          "output":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"예측 오차·지역 편차·개입 후 지표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"S-AX23",</a:t>
            </a:r>
          </a:p>
          <a:p xmlns:a="http://schemas.openxmlformats.org/drawingml/2006/main">
            <a:r>
              <a:t>        "title": "경찰 AI 교통안전 시스템 · 공공AI 사례집 110–111쪽",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구축·실증",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"사고·단속·시설·기상·교통량을 결합해 지역별 교통 위험을 분석하는 사례. 다양한 원천의 시간·공간 단위를 맞추고 현장 실증으로 예측을 평가하는 유형.",</a:t>
            </a:r>
          </a:p>
          <a:p xmlns:a="http://schemas.openxmlformats.org/drawingml/2006/main">
            <a:r>
              <a:t>      "원천 자료를 정합화하고 결측·표본 편차를 검사한 뒤 학습·평가 특징을 구성하는 재구성. 위험 순위는 단속·시설 개선 담당자의 검토 자료로 전달하고 실제 개입 결과를 별도 기록.",</a:t>
            </a:r>
          </a:p>
          <a:p xmlns:a="http://schemas.openxmlformats.org/drawingml/2006/main">
            <a:r>
              <a:t>      "CCK 비교에서는 시간·지역 분리 평가로 데이터 누수를 막고 희귀 사고의 미탐을 별도로 확인. 예측 성능과 개입 후 사고 변화의 인과효과를 구분하고 관할 부서별 조치 이력을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"지역 위험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"교통안전·단속·시설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"지역·기간·유형",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"지역·기간·사고유형 정의",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특징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"관측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순위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"사고·단속·시설·기상·교통량 결합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"누수·편향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"시간·지역 분리 평가와 누수 차단",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지역·기간의 사고 위험을 분석하고 대응 후보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"단속·시설 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단속·시설 개선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"지역 실증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"예측 오차·지역 편차·개입 후 지표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"사고·기상·시설",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위험 특징",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"시공간·결측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"공간·시간 단위 정합화와 결측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"특징·평가 자료",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"시공간 분리 평가와 지역별 오차·대응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"기간·지역 분리",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"공간 코드 변경·기상 결측·학습 이후 자료 유입",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"지역·기간·사고유형 정의",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"관측 데이터",</a:t>
            </a:r>
          </a:p>
          <a:p xmlns:a="http://schemas.openxmlformats.org/drawingml/2006/main">
            <a:r>
              <a:t>          "check": "시간·지역 분리 평가와 누수 차단"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"학습·평가 특징",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"지역별 위험 점수·평가 근거",</a:t>
            </a:r>
          </a:p>
          <a:p xmlns:a="http://schemas.openxmlformats.org/drawingml/2006/main">
            <a:r>
              <a:t>          "check": "공간 코드 변경·기상 결측·학습 이후 자료 유입"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순위",</a:t>
            </a:r>
          </a:p>
          <a:p xmlns:a="http://schemas.openxmlformats.org/drawingml/2006/main">
            <a:r>
              <a:t>          "check": "위험 후보를 단속·시설 개선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조치 검토",</a:t>
            </a:r>
          </a:p>
          <a:p xmlns:a="http://schemas.openxmlformats.org/drawingml/2006/main">
            <a:r>
              <a:t>          "check":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"지역별 교통사고 위험 분석과 대응 지원 / 다종 데이터·위험 예측·지역 실증",</a:t>
            </a:r>
          </a:p>
          <a:p xmlns:a="http://schemas.openxmlformats.org/drawingml/2006/main">
            <a:r>
              <a:t>        "extension": "TS 지역 안전 진단·개선 권고와 관할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"공간 코드 변경·기상 결측·학습 이후 자료 유입",</a:t>
            </a:r>
          </a:p>
          <a:p xmlns:a="http://schemas.openxmlformats.org/drawingml/2006/main">
            <a:r>
              <a:t>        "hold": "시간·지역 분리 평가와 누수 차단",</a:t>
            </a:r>
          </a:p>
          <a:p xmlns:a="http://schemas.openxmlformats.org/drawingml/2006/main">
            <a:r>
              <a:t>        "recovery": "예측 오차·지역 편차·개입 후 지표 평가",</a:t>
            </a:r>
          </a:p>
          <a:p xmlns:a="http://schemas.openxmlformats.org/drawingml/2006/main">
            <a:r>
              <a:t>        "evidence": "시공간 분리 평가와 지역별 오차·대응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위험 특징",</a:t>
            </a:r>
          </a:p>
          <a:p xmlns:a="http://schemas.openxmlformats.org/drawingml/2006/main">
            <a:r>
              <a:t>        "prepare": "공간·시간 단위 정합화와 결측 점검",</a:t>
            </a:r>
          </a:p>
          <a:p xmlns:a="http://schemas.openxmlformats.org/drawingml/2006/main">
            <a:r>
              <a:t>        "output": "관측 데이터",</a:t>
            </a:r>
          </a:p>
          <a:p xmlns:a="http://schemas.openxmlformats.org/drawingml/2006/main">
            <a:r>
              <a:t>        "refresh": "예측 오차·지역 편차·개입 후 지표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"사고·시설·기상·교통량 결합",</a:t>
            </a:r>
          </a:p>
          <a:p xmlns:a="http://schemas.openxmlformats.org/drawingml/2006/main">
            <a:r>
              <a:t>      "지역 현장 실증으로 위험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"희귀 사고의 표본 불균형",</a:t>
            </a:r>
          </a:p>
          <a:p xmlns:a="http://schemas.openxmlformats.org/drawingml/2006/main">
            <a:r>
              <a:t>      "예측지표를 예방 효과로 환산"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"지역별 위험 특징",</a:t>
            </a:r>
          </a:p>
          <a:p xmlns:a="http://schemas.openxmlformats.org/drawingml/2006/main">
            <a:r>
              <a:t>      "교통안전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"관측 데이터",</a:t>
            </a:r>
          </a:p>
          <a:p xmlns:a="http://schemas.openxmlformats.org/drawingml/2006/main">
            <a:r>
              <a:t>      "학습·평가 특징",</a:t>
            </a:r>
          </a:p>
          <a:p xmlns:a="http://schemas.openxmlformats.org/drawingml/2006/main">
            <a:r>
              <a:t>      "위험 순위",</a:t>
            </a:r>
          </a:p>
          <a:p xmlns:a="http://schemas.openxmlformats.org/drawingml/2006/main">
            <a:r>
              <a:t>      "현장 조치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"시간·지역 분리 평가와 누수 차단",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경찰 AI 교통안전 시스템 · 공공AI 사례집 110–111쪽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https://heen1987-ops.github.io/TS-business-Plan-001/index.html?view=casebook&amp;case=AX23</a:t>
            </a:r>
          </a:p>
          <a:p xmlns:a="http://schemas.openxmlformats.org/drawingml/2006/main">
            <a:r>
              <a:t>한계: 지역 실증 범위 · 전국 사고 감소 성과로 확대 불가</a:t>
            </a:r>
          </a:p>
          <a:p xmlns:a="http://schemas.openxmlformats.org/drawingml/2006/main">
            <a:r>
              <a:t>실패 위험: 희귀 사고의 표본 불균형 / 예측지표를 예방 효과로 환산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"title": "경찰 AI 교통안전 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"교통사고 위험 예측",</a:t>
            </a:r>
          </a:p>
          <a:p xmlns:a="http://schemas.openxmlformats.org/drawingml/2006/main">
            <a:r>
              <a:t>    "period": "2024 구축·실증",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"교통사고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"교통사고·단속·시설·기상·교통량 데이터 기반 위험 예측과 지역 실증",</a:t>
            </a:r>
          </a:p>
          <a:p xmlns:a="http://schemas.openxmlformats.org/drawingml/2006/main">
            <a:r>
              <a:t>    "limit": "지역 실증 범위 · 전국 사고 감소 성과로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"사고 위험 예측",</a:t>
            </a:r>
          </a:p>
          <a:p xmlns:a="http://schemas.openxmlformats.org/drawingml/2006/main">
            <a:r>
              <a:t>      "지역 실증·현장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"지역·도로·시점 정규화 및 개선 이력 연결",</a:t>
            </a:r>
          </a:p>
          <a:p xmlns:a="http://schemas.openxmlformats.org/drawingml/2006/main">
            <a:r>
              <a:t>    "test": "시간·지역 분리 검증과 데이터 누락 시험",</a:t>
            </a:r>
          </a:p>
          <a:p xmlns:a="http://schemas.openxmlformats.org/drawingml/2006/main">
            <a:r>
              <a:t>    "metric": "위험 탐지율 / 예방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"canonicalId": "AX23",</a:t>
            </a:r>
          </a:p>
          <a:p xmlns:a="http://schemas.openxmlformats.org/drawingml/2006/main">
            <a:r>
              <a:t>    "purpose": "지역별 교통사고 위험 분석과 대응 지원",</a:t>
            </a:r>
          </a:p>
          <a:p xmlns:a="http://schemas.openxmlformats.org/drawingml/2006/main">
            <a:r>
              <a:t>    "users": "교통안전·단속·시설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"다종 데이터",</a:t>
            </a:r>
          </a:p>
          <a:p xmlns:a="http://schemas.openxmlformats.org/drawingml/2006/main">
            <a:r>
              <a:t>      "위험 예측",</a:t>
            </a:r>
          </a:p>
          <a:p xmlns:a="http://schemas.openxmlformats.org/drawingml/2006/main">
            <a:r>
              <a:t>      "지역 실증"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"detail": "지역·기간·사고유형 정의",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"다종 데이터 / 위험 예측 / 지역 실증",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"detail": "사고·단속·시설·기상·교통량 결합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"교통안전 담당",</a:t>
            </a:r>
          </a:p>
          <a:p xmlns:a="http://schemas.openxmlformats.org/drawingml/2006/main">
            <a:r>
              <a:t>        "detail": "위험 후보를 단속·시설 개선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위험 특징",</a:t>
            </a:r>
          </a:p>
          <a:p xmlns:a="http://schemas.openxmlformats.org/drawingml/2006/main">
            <a:r>
              <a:t>        "detail": "공간·시간 단위 정합화와 결측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"예측 오차·지역 편차·개입 후 지표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"input": "지역·기간·사고유형 정의",</a:t>
            </a:r>
          </a:p>
          <a:p xmlns:a="http://schemas.openxmlformats.org/drawingml/2006/main">
            <a:r>
              <a:t>        "process": "공간·시간 단위 정합화와 결측 점검",</a:t>
            </a:r>
          </a:p>
          <a:p xmlns:a="http://schemas.openxmlformats.org/drawingml/2006/main">
            <a:r>
              <a:t>        "output": "관측 데이터"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"input": "관측 데이터",</a:t>
            </a:r>
          </a:p>
          <a:p xmlns:a="http://schemas.openxmlformats.org/drawingml/2006/main">
            <a:r>
              <a:t>        "process": "사고·단속·시설·기상·교통량 결합 분석",</a:t>
            </a:r>
          </a:p>
          <a:p xmlns:a="http://schemas.openxmlformats.org/drawingml/2006/main">
            <a:r>
              <a:t>        "output": "학습·평가 특징"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위험 예측",</a:t>
            </a:r>
          </a:p>
          <a:p xmlns:a="http://schemas.openxmlformats.org/drawingml/2006/main">
            <a:r>
              <a:t>        "input": "학습·평가 특징",</a:t>
            </a:r>
          </a:p>
          <a:p xmlns:a="http://schemas.openxmlformats.org/drawingml/2006/main">
            <a:r>
              <a:t>        "process": "시간·지역 분리 평가와 누수 차단",</a:t>
            </a:r>
          </a:p>
          <a:p xmlns:a="http://schemas.openxmlformats.org/drawingml/2006/main">
            <a:r>
              <a:t>        "output": "위험 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"지역 실증·현장 대응",</a:t>
            </a:r>
          </a:p>
          <a:p xmlns:a="http://schemas.openxmlformats.org/drawingml/2006/main">
            <a:r>
              <a:t>        "input": "위험 순위",</a:t>
            </a:r>
          </a:p>
          <a:p xmlns:a="http://schemas.openxmlformats.org/drawingml/2006/main">
            <a:r>
              <a:t>        "process": "위험 후보를 단속·시설 개선 검토에 전달",</a:t>
            </a:r>
          </a:p>
          <a:p xmlns:a="http://schemas.openxmlformats.org/drawingml/2006/main">
            <a:r>
              <a:t>        "output": "현장 조치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지역·기간의 사고 위험을 분석하고 대응 후보 선정",</a:t>
            </a:r>
          </a:p>
          <a:p xmlns:a="http://schemas.openxmlformats.org/drawingml/2006/main">
            <a:r>
              <a:t>      "exception": "공간 코드 변경·기상 결측·학습 이후 자료 유입",</a:t>
            </a:r>
          </a:p>
          <a:p xmlns:a="http://schemas.openxmlformats.org/drawingml/2006/main">
            <a:r>
              <a:t>      "evidence": "시공간 분리 평가와 지역별 오차·대응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"교통안전·단속·시설 담당",</a:t>
            </a:r>
          </a:p>
          <a:p xmlns:a="http://schemas.openxmlformats.org/drawingml/2006/main">
            <a:r>
              <a:t>          "processing": "지역·기간·사고유형 정의",</a:t>
            </a:r>
          </a:p>
          <a:p xmlns:a="http://schemas.openxmlformats.org/drawingml/2006/main">
            <a:r>
              <a:t>          "output": "관측 데이터"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위험 특징",</a:t>
            </a:r>
          </a:p>
          <a:p xmlns:a="http://schemas.openxmlformats.org/drawingml/2006/main">
            <a:r>
              <a:t>          "processing": "공간·시간 단위 정합화와 결측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"관측 데이터",</a:t>
            </a:r>
          </a:p>
          <a:p xmlns:a="http://schemas.openxmlformats.org/drawingml/2006/main">
            <a:r>
              <a:t>          "processing": "사고·단속·시설·기상·교통량 결합 분석",</a:t>
            </a:r>
          </a:p>
          <a:p xmlns:a="http://schemas.openxmlformats.org/drawingml/2006/main">
            <a:r>
              <a:t>          "output": "위험 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순위",</a:t>
            </a:r>
          </a:p>
          <a:p xmlns:a="http://schemas.openxmlformats.org/drawingml/2006/main">
            <a:r>
              <a:t>          "processing": "위험 후보를 단속·시설 개선 검토에 전달",</a:t>
            </a:r>
          </a:p>
          <a:p xmlns:a="http://schemas.openxmlformats.org/drawingml/2006/main">
            <a:r>
              <a:t>          "output": "현장 조치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"예측 오차·지역 편차·개입 후 지표 평가",</a:t>
            </a:r>
          </a:p>
          <a:p xmlns:a="http://schemas.openxmlformats.org/drawingml/2006/main">
            <a:r>
              <a:t>          "output":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"예측 오차·지역 편차·개입 후 지표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"S-AX23",</a:t>
            </a:r>
          </a:p>
          <a:p xmlns:a="http://schemas.openxmlformats.org/drawingml/2006/main">
            <a:r>
              <a:t>        "title": "경찰 AI 교통안전 시스템 · 공공AI 사례집 110–111쪽",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구축·실증",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"사고·단속·시설·기상·교통량을 결합해 지역별 교통 위험을 분석하는 사례. 다양한 원천의 시간·공간 단위를 맞추고 현장 실증으로 예측을 평가하는 유형.",</a:t>
            </a:r>
          </a:p>
          <a:p xmlns:a="http://schemas.openxmlformats.org/drawingml/2006/main">
            <a:r>
              <a:t>      "원천 자료를 정합화하고 결측·표본 편차를 검사한 뒤 학습·평가 특징을 구성하는 재구성. 위험 순위는 단속·시설 개선 담당자의 검토 자료로 전달하고 실제 개입 결과를 별도 기록.",</a:t>
            </a:r>
          </a:p>
          <a:p xmlns:a="http://schemas.openxmlformats.org/drawingml/2006/main">
            <a:r>
              <a:t>      "CCK 비교에서는 시간·지역 분리 평가로 데이터 누수를 막고 희귀 사고의 미탐을 별도로 확인. 예측 성능과 개입 후 사고 변화의 인과효과를 구분하고 관할 부서별 조치 이력을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"지역 위험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"교통안전·단속·시설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"지역·기간·유형",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"지역·기간·사고유형 정의",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특징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"관측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순위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"사고·단속·시설·기상·교통량 결합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"누수·편향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"시간·지역 분리 평가와 누수 차단",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지역·기간의 사고 위험을 분석하고 대응 후보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"단속·시설 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단속·시설 개선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"지역 실증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"예측 오차·지역 편차·개입 후 지표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"사고·기상·시설",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위험 특징",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"시공간·결측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"공간·시간 단위 정합화와 결측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"특징·평가 자료",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"시공간 분리 평가와 지역별 오차·대응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"기간·지역 분리",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"공간 코드 변경·기상 결측·학습 이후 자료 유입",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"지역·기간·사고유형 정의",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"관측 데이터",</a:t>
            </a:r>
          </a:p>
          <a:p xmlns:a="http://schemas.openxmlformats.org/drawingml/2006/main">
            <a:r>
              <a:t>          "check": "시간·지역 분리 평가와 누수 차단"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"학습·평가 특징",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"지역별 위험 점수·평가 근거",</a:t>
            </a:r>
          </a:p>
          <a:p xmlns:a="http://schemas.openxmlformats.org/drawingml/2006/main">
            <a:r>
              <a:t>          "check": "공간 코드 변경·기상 결측·학습 이후 자료 유입"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순위",</a:t>
            </a:r>
          </a:p>
          <a:p xmlns:a="http://schemas.openxmlformats.org/drawingml/2006/main">
            <a:r>
              <a:t>          "check": "위험 후보를 단속·시설 개선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조치 검토",</a:t>
            </a:r>
          </a:p>
          <a:p xmlns:a="http://schemas.openxmlformats.org/drawingml/2006/main">
            <a:r>
              <a:t>          "check":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"지역별 교통사고 위험 분석과 대응 지원 / 다종 데이터·위험 예측·지역 실증",</a:t>
            </a:r>
          </a:p>
          <a:p xmlns:a="http://schemas.openxmlformats.org/drawingml/2006/main">
            <a:r>
              <a:t>        "extension": "TS 지역 안전 진단·개선 권고와 관할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"공간 코드 변경·기상 결측·학습 이후 자료 유입",</a:t>
            </a:r>
          </a:p>
          <a:p xmlns:a="http://schemas.openxmlformats.org/drawingml/2006/main">
            <a:r>
              <a:t>        "hold": "시간·지역 분리 평가와 누수 차단",</a:t>
            </a:r>
          </a:p>
          <a:p xmlns:a="http://schemas.openxmlformats.org/drawingml/2006/main">
            <a:r>
              <a:t>        "recovery": "예측 오차·지역 편차·개입 후 지표 평가",</a:t>
            </a:r>
          </a:p>
          <a:p xmlns:a="http://schemas.openxmlformats.org/drawingml/2006/main">
            <a:r>
              <a:t>        "evidence": "시공간 분리 평가와 지역별 오차·대응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위험 특징",</a:t>
            </a:r>
          </a:p>
          <a:p xmlns:a="http://schemas.openxmlformats.org/drawingml/2006/main">
            <a:r>
              <a:t>        "prepare": "공간·시간 단위 정합화와 결측 점검",</a:t>
            </a:r>
          </a:p>
          <a:p xmlns:a="http://schemas.openxmlformats.org/drawingml/2006/main">
            <a:r>
              <a:t>        "output": "관측 데이터",</a:t>
            </a:r>
          </a:p>
          <a:p xmlns:a="http://schemas.openxmlformats.org/drawingml/2006/main">
            <a:r>
              <a:t>        "refresh": "예측 오차·지역 편차·개입 후 지표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"사고·시설·기상·교통량 결합",</a:t>
            </a:r>
          </a:p>
          <a:p xmlns:a="http://schemas.openxmlformats.org/drawingml/2006/main">
            <a:r>
              <a:t>      "지역 현장 실증으로 위험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"희귀 사고의 표본 불균형",</a:t>
            </a:r>
          </a:p>
          <a:p xmlns:a="http://schemas.openxmlformats.org/drawingml/2006/main">
            <a:r>
              <a:t>      "예측지표를 예방 효과로 환산"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"지역별 위험 특징",</a:t>
            </a:r>
          </a:p>
          <a:p xmlns:a="http://schemas.openxmlformats.org/drawingml/2006/main">
            <a:r>
              <a:t>      "교통안전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"관측 데이터",</a:t>
            </a:r>
          </a:p>
          <a:p xmlns:a="http://schemas.openxmlformats.org/drawingml/2006/main">
            <a:r>
              <a:t>      "학습·평가 특징",</a:t>
            </a:r>
          </a:p>
          <a:p xmlns:a="http://schemas.openxmlformats.org/drawingml/2006/main">
            <a:r>
              <a:t>      "위험 순위",</a:t>
            </a:r>
          </a:p>
          <a:p xmlns:a="http://schemas.openxmlformats.org/drawingml/2006/main">
            <a:r>
              <a:t>      "현장 조치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"시간·지역 분리 평가와 누수 차단",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경찰 AI 교통안전 시스템 · 공공AI 사례집 110–111쪽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"title": "경찰 AI 교통안전 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"교통사고 위험 예측",</a:t>
            </a:r>
          </a:p>
          <a:p xmlns:a="http://schemas.openxmlformats.org/drawingml/2006/main">
            <a:r>
              <a:t>    "period": "2024 구축·실증",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"교통사고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"교통사고·단속·시설·기상·교통량 데이터 기반 위험 예측과 지역 실증",</a:t>
            </a:r>
          </a:p>
          <a:p xmlns:a="http://schemas.openxmlformats.org/drawingml/2006/main">
            <a:r>
              <a:t>    "limit": "지역 실증 범위 · 전국 사고 감소 성과로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"사고 위험 예측",</a:t>
            </a:r>
          </a:p>
          <a:p xmlns:a="http://schemas.openxmlformats.org/drawingml/2006/main">
            <a:r>
              <a:t>      "지역 실증·현장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"지역·도로·시점 정규화 및 개선 이력 연결",</a:t>
            </a:r>
          </a:p>
          <a:p xmlns:a="http://schemas.openxmlformats.org/drawingml/2006/main">
            <a:r>
              <a:t>    "test": "시간·지역 분리 검증과 데이터 누락 시험",</a:t>
            </a:r>
          </a:p>
          <a:p xmlns:a="http://schemas.openxmlformats.org/drawingml/2006/main">
            <a:r>
              <a:t>    "metric": "위험 탐지율 / 예방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"canonicalId": "AX23",</a:t>
            </a:r>
          </a:p>
          <a:p xmlns:a="http://schemas.openxmlformats.org/drawingml/2006/main">
            <a:r>
              <a:t>    "purpose": "지역별 교통사고 위험 분석과 대응 지원",</a:t>
            </a:r>
          </a:p>
          <a:p xmlns:a="http://schemas.openxmlformats.org/drawingml/2006/main">
            <a:r>
              <a:t>    "users": "교통안전·단속·시설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"다종 데이터",</a:t>
            </a:r>
          </a:p>
          <a:p xmlns:a="http://schemas.openxmlformats.org/drawingml/2006/main">
            <a:r>
              <a:t>      "위험 예측",</a:t>
            </a:r>
          </a:p>
          <a:p xmlns:a="http://schemas.openxmlformats.org/drawingml/2006/main">
            <a:r>
              <a:t>      "지역 실증"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"detail": "지역·기간·사고유형 정의",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"다종 데이터 / 위험 예측 / 지역 실증",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"detail": "사고·단속·시설·기상·교통량 결합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"교통안전 담당",</a:t>
            </a:r>
          </a:p>
          <a:p xmlns:a="http://schemas.openxmlformats.org/drawingml/2006/main">
            <a:r>
              <a:t>        "detail": "위험 후보를 단속·시설 개선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위험 특징",</a:t>
            </a:r>
          </a:p>
          <a:p xmlns:a="http://schemas.openxmlformats.org/drawingml/2006/main">
            <a:r>
              <a:t>        "detail": "공간·시간 단위 정합화와 결측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"예측 오차·지역 편차·개입 후 지표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"input": "지역·기간·사고유형 정의",</a:t>
            </a:r>
          </a:p>
          <a:p xmlns:a="http://schemas.openxmlformats.org/drawingml/2006/main">
            <a:r>
              <a:t>        "process": "공간·시간 단위 정합화와 결측 점검",</a:t>
            </a:r>
          </a:p>
          <a:p xmlns:a="http://schemas.openxmlformats.org/drawingml/2006/main">
            <a:r>
              <a:t>        "output": "관측 데이터"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"input": "관측 데이터",</a:t>
            </a:r>
          </a:p>
          <a:p xmlns:a="http://schemas.openxmlformats.org/drawingml/2006/main">
            <a:r>
              <a:t>        "process": "사고·단속·시설·기상·교통량 결합 분석",</a:t>
            </a:r>
          </a:p>
          <a:p xmlns:a="http://schemas.openxmlformats.org/drawingml/2006/main">
            <a:r>
              <a:t>        "output": "학습·평가 특징"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위험 예측",</a:t>
            </a:r>
          </a:p>
          <a:p xmlns:a="http://schemas.openxmlformats.org/drawingml/2006/main">
            <a:r>
              <a:t>        "input": "학습·평가 특징",</a:t>
            </a:r>
          </a:p>
          <a:p xmlns:a="http://schemas.openxmlformats.org/drawingml/2006/main">
            <a:r>
              <a:t>        "process": "시간·지역 분리 평가와 누수 차단",</a:t>
            </a:r>
          </a:p>
          <a:p xmlns:a="http://schemas.openxmlformats.org/drawingml/2006/main">
            <a:r>
              <a:t>        "output": "위험 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"지역 실증·현장 대응",</a:t>
            </a:r>
          </a:p>
          <a:p xmlns:a="http://schemas.openxmlformats.org/drawingml/2006/main">
            <a:r>
              <a:t>        "input": "위험 순위",</a:t>
            </a:r>
          </a:p>
          <a:p xmlns:a="http://schemas.openxmlformats.org/drawingml/2006/main">
            <a:r>
              <a:t>        "process": "위험 후보를 단속·시설 개선 검토에 전달",</a:t>
            </a:r>
          </a:p>
          <a:p xmlns:a="http://schemas.openxmlformats.org/drawingml/2006/main">
            <a:r>
              <a:t>        "output": "현장 조치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지역·기간의 사고 위험을 분석하고 대응 후보 선정",</a:t>
            </a:r>
          </a:p>
          <a:p xmlns:a="http://schemas.openxmlformats.org/drawingml/2006/main">
            <a:r>
              <a:t>      "exception": "공간 코드 변경·기상 결측·학습 이후 자료 유입",</a:t>
            </a:r>
          </a:p>
          <a:p xmlns:a="http://schemas.openxmlformats.org/drawingml/2006/main">
            <a:r>
              <a:t>      "evidence": "시공간 분리 평가와 지역별 오차·대응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"교통안전·단속·시설 담당",</a:t>
            </a:r>
          </a:p>
          <a:p xmlns:a="http://schemas.openxmlformats.org/drawingml/2006/main">
            <a:r>
              <a:t>          "processing": "지역·기간·사고유형 정의",</a:t>
            </a:r>
          </a:p>
          <a:p xmlns:a="http://schemas.openxmlformats.org/drawingml/2006/main">
            <a:r>
              <a:t>          "output": "관측 데이터"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위험 특징",</a:t>
            </a:r>
          </a:p>
          <a:p xmlns:a="http://schemas.openxmlformats.org/drawingml/2006/main">
            <a:r>
              <a:t>          "processing": "공간·시간 단위 정합화와 결측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"관측 데이터",</a:t>
            </a:r>
          </a:p>
          <a:p xmlns:a="http://schemas.openxmlformats.org/drawingml/2006/main">
            <a:r>
              <a:t>          "processing": "사고·단속·시설·기상·교통량 결합 분석",</a:t>
            </a:r>
          </a:p>
          <a:p xmlns:a="http://schemas.openxmlformats.org/drawingml/2006/main">
            <a:r>
              <a:t>          "output": "위험 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순위",</a:t>
            </a:r>
          </a:p>
          <a:p xmlns:a="http://schemas.openxmlformats.org/drawingml/2006/main">
            <a:r>
              <a:t>          "processing": "위험 후보를 단속·시설 개선 검토에 전달",</a:t>
            </a:r>
          </a:p>
          <a:p xmlns:a="http://schemas.openxmlformats.org/drawingml/2006/main">
            <a:r>
              <a:t>          "output": "현장 조치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"예측 오차·지역 편차·개입 후 지표 평가",</a:t>
            </a:r>
          </a:p>
          <a:p xmlns:a="http://schemas.openxmlformats.org/drawingml/2006/main">
            <a:r>
              <a:t>          "output":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"예측 오차·지역 편차·개입 후 지표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"S-AX23",</a:t>
            </a:r>
          </a:p>
          <a:p xmlns:a="http://schemas.openxmlformats.org/drawingml/2006/main">
            <a:r>
              <a:t>        "title": "경찰 AI 교통안전 시스템 · 공공AI 사례집 110–111쪽",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구축·실증",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"사고·단속·시설·기상·교통량을 결합해 지역별 교통 위험을 분석하는 사례. 다양한 원천의 시간·공간 단위를 맞추고 현장 실증으로 예측을 평가하는 유형.",</a:t>
            </a:r>
          </a:p>
          <a:p xmlns:a="http://schemas.openxmlformats.org/drawingml/2006/main">
            <a:r>
              <a:t>      "원천 자료를 정합화하고 결측·표본 편차를 검사한 뒤 학습·평가 특징을 구성하는 재구성. 위험 순위는 단속·시설 개선 담당자의 검토 자료로 전달하고 실제 개입 결과를 별도 기록.",</a:t>
            </a:r>
          </a:p>
          <a:p xmlns:a="http://schemas.openxmlformats.org/drawingml/2006/main">
            <a:r>
              <a:t>      "CCK 비교에서는 시간·지역 분리 평가로 데이터 누수를 막고 희귀 사고의 미탐을 별도로 확인. 예측 성능과 개입 후 사고 변화의 인과효과를 구분하고 관할 부서별 조치 이력을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"지역 위험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"교통안전·단속·시설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"지역·기간·유형",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"지역·기간·사고유형 정의",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특징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"관측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순위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"사고·단속·시설·기상·교통량 결합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"누수·편향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"시간·지역 분리 평가와 누수 차단",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지역·기간의 사고 위험을 분석하고 대응 후보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"단속·시설 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단속·시설 개선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"지역 실증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"예측 오차·지역 편차·개입 후 지표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"사고·기상·시설",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위험 특징",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"시공간·결측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"공간·시간 단위 정합화와 결측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"특징·평가 자료",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"시공간 분리 평가와 지역별 오차·대응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"기간·지역 분리",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"공간 코드 변경·기상 결측·학습 이후 자료 유입",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"지역·기간·사고유형 정의",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"관측 데이터",</a:t>
            </a:r>
          </a:p>
          <a:p xmlns:a="http://schemas.openxmlformats.org/drawingml/2006/main">
            <a:r>
              <a:t>          "check": "시간·지역 분리 평가와 누수 차단"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"학습·평가 특징",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"지역별 위험 점수·평가 근거",</a:t>
            </a:r>
          </a:p>
          <a:p xmlns:a="http://schemas.openxmlformats.org/drawingml/2006/main">
            <a:r>
              <a:t>          "check": "공간 코드 변경·기상 결측·학습 이후 자료 유입"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순위",</a:t>
            </a:r>
          </a:p>
          <a:p xmlns:a="http://schemas.openxmlformats.org/drawingml/2006/main">
            <a:r>
              <a:t>          "check": "위험 후보를 단속·시설 개선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조치 검토",</a:t>
            </a:r>
          </a:p>
          <a:p xmlns:a="http://schemas.openxmlformats.org/drawingml/2006/main">
            <a:r>
              <a:t>          "check":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"지역별 교통사고 위험 분석과 대응 지원 / 다종 데이터·위험 예측·지역 실증",</a:t>
            </a:r>
          </a:p>
          <a:p xmlns:a="http://schemas.openxmlformats.org/drawingml/2006/main">
            <a:r>
              <a:t>        "extension": "TS 지역 안전 진단·개선 권고와 관할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"공간 코드 변경·기상 결측·학습 이후 자료 유입",</a:t>
            </a:r>
          </a:p>
          <a:p xmlns:a="http://schemas.openxmlformats.org/drawingml/2006/main">
            <a:r>
              <a:t>        "hold": "시간·지역 분리 평가와 누수 차단",</a:t>
            </a:r>
          </a:p>
          <a:p xmlns:a="http://schemas.openxmlformats.org/drawingml/2006/main">
            <a:r>
              <a:t>        "recovery": "예측 오차·지역 편차·개입 후 지표 평가",</a:t>
            </a:r>
          </a:p>
          <a:p xmlns:a="http://schemas.openxmlformats.org/drawingml/2006/main">
            <a:r>
              <a:t>        "evidence": "시공간 분리 평가와 지역별 오차·대응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위험 특징",</a:t>
            </a:r>
          </a:p>
          <a:p xmlns:a="http://schemas.openxmlformats.org/drawingml/2006/main">
            <a:r>
              <a:t>        "prepare": "공간·시간 단위 정합화와 결측 점검",</a:t>
            </a:r>
          </a:p>
          <a:p xmlns:a="http://schemas.openxmlformats.org/drawingml/2006/main">
            <a:r>
              <a:t>        "output": "관측 데이터",</a:t>
            </a:r>
          </a:p>
          <a:p xmlns:a="http://schemas.openxmlformats.org/drawingml/2006/main">
            <a:r>
              <a:t>        "refresh": "예측 오차·지역 편차·개입 후 지표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"사고·시설·기상·교통량 결합",</a:t>
            </a:r>
          </a:p>
          <a:p xmlns:a="http://schemas.openxmlformats.org/drawingml/2006/main">
            <a:r>
              <a:t>      "지역 현장 실증으로 위험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"희귀 사고의 표본 불균형",</a:t>
            </a:r>
          </a:p>
          <a:p xmlns:a="http://schemas.openxmlformats.org/drawingml/2006/main">
            <a:r>
              <a:t>      "예측지표를 예방 효과로 환산"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"지역별 위험 특징",</a:t>
            </a:r>
          </a:p>
          <a:p xmlns:a="http://schemas.openxmlformats.org/drawingml/2006/main">
            <a:r>
              <a:t>      "교통안전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"관측 데이터",</a:t>
            </a:r>
          </a:p>
          <a:p xmlns:a="http://schemas.openxmlformats.org/drawingml/2006/main">
            <a:r>
              <a:t>      "학습·평가 특징",</a:t>
            </a:r>
          </a:p>
          <a:p xmlns:a="http://schemas.openxmlformats.org/drawingml/2006/main">
            <a:r>
              <a:t>      "위험 순위",</a:t>
            </a:r>
          </a:p>
          <a:p xmlns:a="http://schemas.openxmlformats.org/drawingml/2006/main">
            <a:r>
              <a:t>      "현장 조치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"시간·지역 분리 평가와 누수 차단",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경찰 AI 교통안전 시스템 · 공공AI 사례집 110–111쪽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"title": "경찰 AI 교통안전 시스템",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"교통사고 위험 예측",</a:t>
            </a:r>
          </a:p>
          <a:p xmlns:a="http://schemas.openxmlformats.org/drawingml/2006/main">
            <a:r>
              <a:t>    "period": "2024 구축·실증",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"S-AX23"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"교통사고 위험 예측"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"교통사고·단속·시설·기상·교통량 데이터 기반 위험 예측과 지역 실증",</a:t>
            </a:r>
          </a:p>
          <a:p xmlns:a="http://schemas.openxmlformats.org/drawingml/2006/main">
            <a:r>
              <a:t>    "limit": "지역 실증 범위 · 전국 사고 감소 성과로 확대 불가",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"사고 위험 예측",</a:t>
            </a:r>
          </a:p>
          <a:p xmlns:a="http://schemas.openxmlformats.org/drawingml/2006/main">
            <a:r>
              <a:t>      "지역 실증·현장 대응"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"지역·도로·시점 정규화 및 개선 이력 연결",</a:t>
            </a:r>
          </a:p>
          <a:p xmlns:a="http://schemas.openxmlformats.org/drawingml/2006/main">
            <a:r>
              <a:t>    "test": "시간·지역 분리 검증과 데이터 누락 시험",</a:t>
            </a:r>
          </a:p>
          <a:p xmlns:a="http://schemas.openxmlformats.org/drawingml/2006/main">
            <a:r>
              <a:t>    "metric": "위험 탐지율 / 예방 조치 이행률",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"ST-01",</a:t>
            </a:r>
          </a:p>
          <a:p xmlns:a="http://schemas.openxmlformats.org/drawingml/2006/main">
            <a:r>
              <a:t>      "ST-03",</a:t>
            </a:r>
          </a:p>
          <a:p xmlns:a="http://schemas.openxmlformats.org/drawingml/2006/main">
            <a:r>
              <a:t>      "ST-07"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"canonicalId": "AX23",</a:t>
            </a:r>
          </a:p>
          <a:p xmlns:a="http://schemas.openxmlformats.org/drawingml/2006/main">
            <a:r>
              <a:t>    "purpose": "지역별 교통사고 위험 분석과 대응 지원",</a:t>
            </a:r>
          </a:p>
          <a:p xmlns:a="http://schemas.openxmlformats.org/drawingml/2006/main">
            <a:r>
              <a:t>    "users": "교통안전·단속·시설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"다종 데이터",</a:t>
            </a:r>
          </a:p>
          <a:p xmlns:a="http://schemas.openxmlformats.org/drawingml/2006/main">
            <a:r>
              <a:t>      "위험 예측",</a:t>
            </a:r>
          </a:p>
          <a:p xmlns:a="http://schemas.openxmlformats.org/drawingml/2006/main">
            <a:r>
              <a:t>      "지역 실증"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"detail": "지역·기간·사고유형 정의",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"다종 데이터 / 위험 예측 / 지역 실증",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"detail": "사고·단속·시설·기상·교통량 결합 분석",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"교통안전 담당",</a:t>
            </a:r>
          </a:p>
          <a:p xmlns:a="http://schemas.openxmlformats.org/drawingml/2006/main">
            <a:r>
              <a:t>        "detail": "위험 후보를 단속·시설 개선 검토에 전달",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"지역별 위험 특징",</a:t>
            </a:r>
          </a:p>
          <a:p xmlns:a="http://schemas.openxmlformats.org/drawingml/2006/main">
            <a:r>
              <a:t>        "detail": "공간·시간 단위 정합화와 결측 점검",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"예측 오차·지역 편차·개입 후 지표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"민관 교통 데이터",</a:t>
            </a:r>
          </a:p>
          <a:p xmlns:a="http://schemas.openxmlformats.org/drawingml/2006/main">
            <a:r>
              <a:t>        "input": "지역·기간·사고유형 정의",</a:t>
            </a:r>
          </a:p>
          <a:p xmlns:a="http://schemas.openxmlformats.org/drawingml/2006/main">
            <a:r>
              <a:t>        "process": "공간·시간 단위 정합화와 결측 점검",</a:t>
            </a:r>
          </a:p>
          <a:p xmlns:a="http://schemas.openxmlformats.org/drawingml/2006/main">
            <a:r>
              <a:t>        "output": "관측 데이터"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"전처리·MLOps",</a:t>
            </a:r>
          </a:p>
          <a:p xmlns:a="http://schemas.openxmlformats.org/drawingml/2006/main">
            <a:r>
              <a:t>        "input": "관측 데이터",</a:t>
            </a:r>
          </a:p>
          <a:p xmlns:a="http://schemas.openxmlformats.org/drawingml/2006/main">
            <a:r>
              <a:t>        "process": "사고·단속·시설·기상·교통량 결합 분석",</a:t>
            </a:r>
          </a:p>
          <a:p xmlns:a="http://schemas.openxmlformats.org/drawingml/2006/main">
            <a:r>
              <a:t>        "output": "학습·평가 특징"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"사고 위험 예측",</a:t>
            </a:r>
          </a:p>
          <a:p xmlns:a="http://schemas.openxmlformats.org/drawingml/2006/main">
            <a:r>
              <a:t>        "input": "학습·평가 특징",</a:t>
            </a:r>
          </a:p>
          <a:p xmlns:a="http://schemas.openxmlformats.org/drawingml/2006/main">
            <a:r>
              <a:t>        "process": "시간·지역 분리 평가와 누수 차단",</a:t>
            </a:r>
          </a:p>
          <a:p xmlns:a="http://schemas.openxmlformats.org/drawingml/2006/main">
            <a:r>
              <a:t>        "output": "위험 순위"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"지역 실증·현장 대응",</a:t>
            </a:r>
          </a:p>
          <a:p xmlns:a="http://schemas.openxmlformats.org/drawingml/2006/main">
            <a:r>
              <a:t>        "input": "위험 순위",</a:t>
            </a:r>
          </a:p>
          <a:p xmlns:a="http://schemas.openxmlformats.org/drawingml/2006/main">
            <a:r>
              <a:t>        "process": "위험 후보를 단속·시설 개선 검토에 전달",</a:t>
            </a:r>
          </a:p>
          <a:p xmlns:a="http://schemas.openxmlformats.org/drawingml/2006/main">
            <a:r>
              <a:t>        "output": "현장 조치 검토"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"같은 지역·기간의 사고 위험을 분석하고 대응 후보 선정",</a:t>
            </a:r>
          </a:p>
          <a:p xmlns:a="http://schemas.openxmlformats.org/drawingml/2006/main">
            <a:r>
              <a:t>      "exception": "공간 코드 변경·기상 결측·학습 이후 자료 유입",</a:t>
            </a:r>
          </a:p>
          <a:p xmlns:a="http://schemas.openxmlformats.org/drawingml/2006/main">
            <a:r>
              <a:t>      "evidence": "시공간 분리 평가와 지역별 오차·대응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"교통안전·단속·시설 담당",</a:t>
            </a:r>
          </a:p>
          <a:p xmlns:a="http://schemas.openxmlformats.org/drawingml/2006/main">
            <a:r>
              <a:t>          "processing": "지역·기간·사고유형 정의",</a:t>
            </a:r>
          </a:p>
          <a:p xmlns:a="http://schemas.openxmlformats.org/drawingml/2006/main">
            <a:r>
              <a:t>          "output": "관측 데이터"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"지역별 위험 특징",</a:t>
            </a:r>
          </a:p>
          <a:p xmlns:a="http://schemas.openxmlformats.org/drawingml/2006/main">
            <a:r>
              <a:t>          "processing": "공간·시간 단위 정합화와 결측 점검",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"관측 데이터",</a:t>
            </a:r>
          </a:p>
          <a:p xmlns:a="http://schemas.openxmlformats.org/drawingml/2006/main">
            <a:r>
              <a:t>          "processing": "사고·단속·시설·기상·교통량 결합 분석",</a:t>
            </a:r>
          </a:p>
          <a:p xmlns:a="http://schemas.openxmlformats.org/drawingml/2006/main">
            <a:r>
              <a:t>          "output": "위험 순위"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"위험 순위",</a:t>
            </a:r>
          </a:p>
          <a:p xmlns:a="http://schemas.openxmlformats.org/drawingml/2006/main">
            <a:r>
              <a:t>          "processing": "위험 후보를 단속·시설 개선 검토에 전달",</a:t>
            </a:r>
          </a:p>
          <a:p xmlns:a="http://schemas.openxmlformats.org/drawingml/2006/main">
            <a:r>
              <a:t>          "output": "현장 조치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"예측 오차·지역 편차·개입 후 지표 평가",</a:t>
            </a:r>
          </a:p>
          <a:p xmlns:a="http://schemas.openxmlformats.org/drawingml/2006/main">
            <a:r>
              <a:t>          "output":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"예측 오차·지역 편차·개입 후 지표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"S-AX23",</a:t>
            </a:r>
          </a:p>
          <a:p xmlns:a="http://schemas.openxmlformats.org/drawingml/2006/main">
            <a:r>
              <a:t>        "title": "경찰 AI 교통안전 시스템 · 공공AI 사례집 110–111쪽",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구축·실증",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"지역별 모델 평가와 예방 조치의 연결",</a:t>
            </a:r>
          </a:p>
          <a:p xmlns:a="http://schemas.openxmlformats.org/drawingml/2006/main">
            <a:r>
              <a:t>    "local": "TS 지역 안전 진단·개선 권고와 관할 매핑",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"사고·단속·시설·기상·교통량을 결합해 지역별 교통 위험을 분석하는 사례. 다양한 원천의 시간·공간 단위를 맞추고 현장 실증으로 예측을 평가하는 유형.",</a:t>
            </a:r>
          </a:p>
          <a:p xmlns:a="http://schemas.openxmlformats.org/drawingml/2006/main">
            <a:r>
              <a:t>      "원천 자료를 정합화하고 결측·표본 편차를 검사한 뒤 학습·평가 특징을 구성하는 재구성. 위험 순위는 단속·시설 개선 담당자의 검토 자료로 전달하고 실제 개입 결과를 별도 기록.",</a:t>
            </a:r>
          </a:p>
          <a:p xmlns:a="http://schemas.openxmlformats.org/drawingml/2006/main">
            <a:r>
              <a:t>      "CCK 비교에서는 시간·지역 분리 평가로 데이터 누수를 막고 희귀 사고의 미탐을 별도로 확인. 예측 성능과 개입 후 사고 변화의 인과효과를 구분하고 관할 부서별 조치 이력을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"지역 위험 조회",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"교통안전·단속·시설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"지역·기간·유형",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"지역·기간·사고유형 정의",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"교통 특징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"관측 데이터",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"위험 순위 예측",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"사고·단속·시설·기상·교통량 결합 분석",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"누수·편향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"시간·지역 분리 평가와 누수 차단",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"안전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"같은 지역·기간의 사고 위험을 분석하고 대응 후보 선정",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"단속·시설 계획",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"위험 후보를 단속·시설 개선 검토에 전달",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"지역 실증 평가",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"예측 오차·지역 편차·개입 후 지표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"사고·기상·시설",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"지역별 위험 특징",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"시공간·결측 정리",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"공간·시간 단위 정합화와 결측 점검",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"특징·평가 자료",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"시공간 분리 평가와 지역별 오차·대응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"기간·지역 분리",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"공간 코드 변경·기상 결측·학습 이후 자료 유입",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"지역·기간·사고유형 정의",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"관측 데이터",</a:t>
            </a:r>
          </a:p>
          <a:p xmlns:a="http://schemas.openxmlformats.org/drawingml/2006/main">
            <a:r>
              <a:t>          "check": "시간·지역 분리 평가와 누수 차단"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"학습·평가 특징",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"지역별 위험 점수·평가 근거",</a:t>
            </a:r>
          </a:p>
          <a:p xmlns:a="http://schemas.openxmlformats.org/drawingml/2006/main">
            <a:r>
              <a:t>          "check": "공간 코드 변경·기상 결측·학습 이후 자료 유입"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"위험 순위",</a:t>
            </a:r>
          </a:p>
          <a:p xmlns:a="http://schemas.openxmlformats.org/drawingml/2006/main">
            <a:r>
              <a:t>          "check": "위험 후보를 단속·시설 개선 검토에 전달"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"현장 조치 검토",</a:t>
            </a:r>
          </a:p>
          <a:p xmlns:a="http://schemas.openxmlformats.org/drawingml/2006/main">
            <a:r>
              <a:t>          "check": "시공간 분리 평가와 지역별 오차·대응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"지역별 교통사고 위험 분석과 대응 지원 / 다종 데이터·위험 예측·지역 실증",</a:t>
            </a:r>
          </a:p>
          <a:p xmlns:a="http://schemas.openxmlformats.org/drawingml/2006/main">
            <a:r>
              <a:t>        "extension": "TS 지역 안전 진단·개선 권고와 관할 매핑"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"공간 코드 변경·기상 결측·학습 이후 자료 유입",</a:t>
            </a:r>
          </a:p>
          <a:p xmlns:a="http://schemas.openxmlformats.org/drawingml/2006/main">
            <a:r>
              <a:t>        "hold": "시간·지역 분리 평가와 누수 차단",</a:t>
            </a:r>
          </a:p>
          <a:p xmlns:a="http://schemas.openxmlformats.org/drawingml/2006/main">
            <a:r>
              <a:t>        "recovery": "예측 오차·지역 편차·개입 후 지표 평가",</a:t>
            </a:r>
          </a:p>
          <a:p xmlns:a="http://schemas.openxmlformats.org/drawingml/2006/main">
            <a:r>
              <a:t>        "evidence": "시공간 분리 평가와 지역별 오차·대응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"지역별 위험 특징",</a:t>
            </a:r>
          </a:p>
          <a:p xmlns:a="http://schemas.openxmlformats.org/drawingml/2006/main">
            <a:r>
              <a:t>        "prepare": "공간·시간 단위 정합화와 결측 점검",</a:t>
            </a:r>
          </a:p>
          <a:p xmlns:a="http://schemas.openxmlformats.org/drawingml/2006/main">
            <a:r>
              <a:t>        "output": "관측 데이터",</a:t>
            </a:r>
          </a:p>
          <a:p xmlns:a="http://schemas.openxmlformats.org/drawingml/2006/main">
            <a:r>
              <a:t>        "refresh": "예측 오차·지역 편차·개입 후 지표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"AX23",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"사고·시설·기상·교통량 결합",</a:t>
            </a:r>
          </a:p>
          <a:p xmlns:a="http://schemas.openxmlformats.org/drawingml/2006/main">
            <a:r>
              <a:t>      "지역 현장 실증으로 위험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"희귀 사고의 표본 불균형",</a:t>
            </a:r>
          </a:p>
          <a:p xmlns:a="http://schemas.openxmlformats.org/drawingml/2006/main">
            <a:r>
              <a:t>      "예측지표를 예방 효과로 환산"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"민관 교통 데이터",</a:t>
            </a:r>
          </a:p>
          <a:p xmlns:a="http://schemas.openxmlformats.org/drawingml/2006/main">
            <a:r>
              <a:t>      "전처리·MLOps",</a:t>
            </a:r>
          </a:p>
          <a:p xmlns:a="http://schemas.openxmlformats.org/drawingml/2006/main">
            <a:r>
              <a:t>      "지역별 위험 특징",</a:t>
            </a:r>
          </a:p>
          <a:p xmlns:a="http://schemas.openxmlformats.org/drawingml/2006/main">
            <a:r>
              <a:t>      "교통안전 담당"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"관측 데이터",</a:t>
            </a:r>
          </a:p>
          <a:p xmlns:a="http://schemas.openxmlformats.org/drawingml/2006/main">
            <a:r>
              <a:t>      "학습·평가 특징",</a:t>
            </a:r>
          </a:p>
          <a:p xmlns:a="http://schemas.openxmlformats.org/drawingml/2006/main">
            <a:r>
              <a:t>      "위험 순위",</a:t>
            </a:r>
          </a:p>
          <a:p xmlns:a="http://schemas.openxmlformats.org/drawingml/2006/main">
            <a:r>
              <a:t>      "현장 조치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"시간·지역 분리 평가와 누수 차단",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경찰 AI 교통안전 시스템 · 공공AI 사례집 110–111쪽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"title": "국가 R&amp;D 사업비 Risk 지원",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"규정·증빙 기반 사업관리",</a:t>
            </a:r>
          </a:p>
          <a:p xmlns:a="http://schemas.openxmlformats.org/drawingml/2006/main">
            <a:r>
              <a:t>    "period": "2024 개발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"증빙 기반 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"R&amp;D 법규·부처 지침 상담과 집행 데이터 수집·서식 생성을 결합한 솔루션 개발",</a:t>
            </a:r>
          </a:p>
          <a:p xmlns:a="http://schemas.openxmlformats.org/drawingml/2006/main">
            <a:r>
              <a:t>    "limit": "성과 항목이 기대효과 중심 · 행정 부담 감소 실측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"부처 지침·집행자료",</a:t>
            </a:r>
          </a:p>
          <a:p xmlns:a="http://schemas.openxmlformats.org/drawingml/2006/main">
            <a:r>
              <a:t>      "규정 질의",</a:t>
            </a:r>
          </a:p>
          <a:p xmlns:a="http://schemas.openxmlformats.org/drawingml/2006/main">
            <a:r>
              <a:t>      "서식·증빙 정리",</a:t>
            </a:r>
          </a:p>
          <a:p xmlns:a="http://schemas.openxmlformats.org/drawingml/2006/main">
            <a:r>
              <a:t>      "연구자·기관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"부처·사업·계약 판본·증빙 요구 매핑",</a:t>
            </a:r>
          </a:p>
          <a:p xmlns:a="http://schemas.openxmlformats.org/drawingml/2006/main">
            <a:r>
              <a:t>    "test": "유효 규정·증빙 누락·목적 외 자료 차단 시험",</a:t>
            </a:r>
          </a:p>
          <a:p xmlns:a="http://schemas.openxmlformats.org/drawingml/2006/main">
            <a:r>
              <a:t>    "metric": "보완 왕복 횟수 / 검토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"canonicalId": "AX24",</a:t>
            </a:r>
          </a:p>
          <a:p xmlns:a="http://schemas.openxmlformats.org/drawingml/2006/main">
            <a:r>
              <a:t>    "purpose": "R&amp;D 사업비 문의와 증빙 정리 지원",</a:t>
            </a:r>
          </a:p>
          <a:p xmlns:a="http://schemas.openxmlformats.org/drawingml/2006/main">
            <a:r>
              <a:t>    "users": "과제 수행자·연구관리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"규정 상담",</a:t>
            </a:r>
          </a:p>
          <a:p xmlns:a="http://schemas.openxmlformats.org/drawingml/2006/main">
            <a:r>
              <a:t>      "집행자료",</a:t>
            </a:r>
          </a:p>
          <a:p xmlns:a="http://schemas.openxmlformats.org/drawingml/2006/main">
            <a:r>
              <a:t>      "서식 생성"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"연구비 집행 자료",</a:t>
            </a:r>
          </a:p>
          <a:p xmlns:a="http://schemas.openxmlformats.org/drawingml/2006/main">
            <a:r>
              <a:t>        "detail": "부처·사업·협약기간·집행항목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"규정 상담 / 집행자료 / 서식 생성",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"규정 검색·서식 구성",</a:t>
            </a:r>
          </a:p>
          <a:p xmlns:a="http://schemas.openxmlformats.org/drawingml/2006/main">
            <a:r>
              <a:t>        "detail": "규정 검색과 집행 항목의 조건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"연구자·기관 검토자",</a:t>
            </a:r>
          </a:p>
          <a:p xmlns:a="http://schemas.openxmlformats.org/drawingml/2006/main">
            <a:r>
              <a:t>        "detail": "근거·누락 항목·서식 초안의 담당자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"지침·증빙 기록",</a:t>
            </a:r>
          </a:p>
          <a:p xmlns:a="http://schemas.openxmlformats.org/drawingml/2006/main">
            <a:r>
              <a:t>        "detail": "법규·부처 지침·거래증빙의 판본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"오분류·증빙 누락과 검토 결과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"부처 지침·집행자료",</a:t>
            </a:r>
          </a:p>
          <a:p xmlns:a="http://schemas.openxmlformats.org/drawingml/2006/main">
            <a:r>
              <a:t>        "input": "부처·사업·협약기간·집행항목 확인",</a:t>
            </a:r>
          </a:p>
          <a:p xmlns:a="http://schemas.openxmlformats.org/drawingml/2006/main">
            <a:r>
              <a:t>        "process": "법규·부처 지침·거래증빙의 판본 연결",</a:t>
            </a:r>
          </a:p>
          <a:p xmlns:a="http://schemas.openxmlformats.org/drawingml/2006/main">
            <a:r>
              <a:t>        "output": "집행 내역"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"규정 질의",</a:t>
            </a:r>
          </a:p>
          <a:p xmlns:a="http://schemas.openxmlformats.org/drawingml/2006/main">
            <a:r>
              <a:t>        "input": "집행 내역",</a:t>
            </a:r>
          </a:p>
          <a:p xmlns:a="http://schemas.openxmlformats.org/drawingml/2006/main">
            <a:r>
              <a:t>        "process": "규정 검색과 집행 항목의 조건 비교",</a:t>
            </a:r>
          </a:p>
          <a:p xmlns:a="http://schemas.openxmlformats.org/drawingml/2006/main">
            <a:r>
              <a:t>        "output": "적용 규정"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"서식·증빙 정리",</a:t>
            </a:r>
          </a:p>
          <a:p xmlns:a="http://schemas.openxmlformats.org/drawingml/2006/main">
            <a:r>
              <a:t>        "input": "적용 규정",</a:t>
            </a:r>
          </a:p>
          <a:p xmlns:a="http://schemas.openxmlformats.org/drawingml/2006/main">
            <a:r>
              <a:t>        "process": "사업·판본별 의무와 예외 대사",</a:t>
            </a:r>
          </a:p>
          <a:p xmlns:a="http://schemas.openxmlformats.org/drawingml/2006/main">
            <a:r>
              <a:t>        "output": "서식·증빙 목록"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"연구자·기관 검토",</a:t>
            </a:r>
          </a:p>
          <a:p xmlns:a="http://schemas.openxmlformats.org/drawingml/2006/main">
            <a:r>
              <a:t>        "input": "서식·증빙 목록",</a:t>
            </a:r>
          </a:p>
          <a:p xmlns:a="http://schemas.openxmlformats.org/drawingml/2006/main">
            <a:r>
              <a:t>        "process": "근거·누락 항목·서식 초안의 담당자 검토",</a:t>
            </a:r>
          </a:p>
          <a:p xmlns:a="http://schemas.openxmlformats.org/drawingml/2006/main">
            <a:r>
              <a:t>        "output": "보완·검토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"부처·사업·협약기간에 맞는 집행 조건과 증빙 확인",</a:t>
            </a:r>
          </a:p>
          <a:p xmlns:a="http://schemas.openxmlformats.org/drawingml/2006/main">
            <a:r>
              <a:t>      "exception": "다른 부처 지침·기간 외 거래·중복 집행 증빙",</a:t>
            </a:r>
          </a:p>
          <a:p xmlns:a="http://schemas.openxmlformats.org/drawingml/2006/main">
            <a:r>
              <a:t>      "evidence": "요건·거래·증빙·검토자 연결표와 누락 검출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"과제 수행자·연구관리 담당",</a:t>
            </a:r>
          </a:p>
          <a:p xmlns:a="http://schemas.openxmlformats.org/drawingml/2006/main">
            <a:r>
              <a:t>          "processing": "부처·사업·협약기간·집행항목 확인",</a:t>
            </a:r>
          </a:p>
          <a:p xmlns:a="http://schemas.openxmlformats.org/drawingml/2006/main">
            <a:r>
              <a:t>          "output": "집행 내역"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"지침·증빙 기록",</a:t>
            </a:r>
          </a:p>
          <a:p xmlns:a="http://schemas.openxmlformats.org/drawingml/2006/main">
            <a:r>
              <a:t>          "processing": "법규·부처 지침·거래증빙의 판본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"집행 내역",</a:t>
            </a:r>
          </a:p>
          <a:p xmlns:a="http://schemas.openxmlformats.org/drawingml/2006/main">
            <a:r>
              <a:t>          "processing": "규정 검색과 집행 항목의 조건 비교",</a:t>
            </a:r>
          </a:p>
          <a:p xmlns:a="http://schemas.openxmlformats.org/drawingml/2006/main">
            <a:r>
              <a:t>          "output": "서식·증빙 목록"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"서식·증빙 목록",</a:t>
            </a:r>
          </a:p>
          <a:p xmlns:a="http://schemas.openxmlformats.org/drawingml/2006/main">
            <a:r>
              <a:t>          "processing": "근거·누락 항목·서식 초안의 담당자 검토",</a:t>
            </a:r>
          </a:p>
          <a:p xmlns:a="http://schemas.openxmlformats.org/drawingml/2006/main">
            <a:r>
              <a:t>          "output": "보완·검토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"오분류·증빙 누락과 검토 결과 추적",</a:t>
            </a:r>
          </a:p>
          <a:p xmlns:a="http://schemas.openxmlformats.org/drawingml/2006/main">
            <a:r>
              <a:t>          "output":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"오분류·증빙 누락과 검토 결과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"S-AX24",</a:t>
            </a:r>
          </a:p>
          <a:p xmlns:a="http://schemas.openxmlformats.org/drawingml/2006/main">
            <a:r>
              <a:t>        "title": "국가 R&amp;D 사업비 Risk 지원 · 공공AI 사례집 193–194쪽",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개발 사례",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"연구비 집행 자료와 부처·사업별 지침을 연결해 상담·증빙·서식 작성을 지원하는 사례. 같은 지출 항목도 사업·협약연도에 따라 적용 기준이 다른 업무.",</a:t>
            </a:r>
          </a:p>
          <a:p xmlns:a="http://schemas.openxmlformats.org/drawingml/2006/main">
            <a:r>
              <a:t>      "부처·사업·협약기간·집행항목을 먼저 식별하고 해당 판본의 규정과 거래증빙을 대조하는 재구성. 누락 서류·예외 조건·서식 초안을 담당 검토자에게 전달하는 흐름.",</a:t>
            </a:r>
          </a:p>
          <a:p xmlns:a="http://schemas.openxmlformats.org/drawingml/2006/main">
            <a:r>
              <a:t>      "CCK AI PMS에 적용할 경우 지침 검색·양식 재사용과 적정 집행 판단을 분리. 사업 변경·연차 차이·증빙 누락 시험을 수행하고 요구사항·검수·제출 증빙의 추적에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"연구비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"과제 수행자·연구관리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"사업·협약·항목",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"부처·사업·협약기간·집행항목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"규정·증빙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"집행 내역",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"조건 비교·서식",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집행 항목의 조건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"판본·누락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"사업·판본별 의무와 예외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"기관 검토자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"부처·사업·협약기간에 맞는 집행 조건과 증빙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"보완·집행 검토",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"근거·누락 항목·서식 초안의 담당자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"오분류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"오분류·증빙 누락과 검토 결과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"지침·거래 증빙",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"지침·증빙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"판본·항목 연결",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"법규·부처 지침·거래증빙의 판본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"집행·근거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"요건·거래·증빙·검토자 연결표와 누락 검출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"사업별 집행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부처 지침·기간 외 거래·중복 집행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"부처·사업·협약기간·집행항목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"집행 내역",</a:t>
            </a:r>
          </a:p>
          <a:p xmlns:a="http://schemas.openxmlformats.org/drawingml/2006/main">
            <a:r>
              <a:t>          "check": "사업·판본별 의무와 예외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"적용 규정",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"다른 부처 지침·기간 외 거래·중복 집행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"근거·누락 항목·서식 초안의 담당자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"보완·검토 결과",</a:t>
            </a:r>
          </a:p>
          <a:p xmlns:a="http://schemas.openxmlformats.org/drawingml/2006/main">
            <a:r>
              <a:t>          "check":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"R&amp;D 사업비 문의와 증빙 정리 지원 / 규정 상담·집행자료·서식 생성",</a:t>
            </a:r>
          </a:p>
          <a:p xmlns:a="http://schemas.openxmlformats.org/drawingml/2006/main">
            <a:r>
              <a:t>        "extension": "민간 AI PMS와 TS 기관 내부 업무를 역할별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부처 지침·기간 외 거래·중복 집행 증빙",</a:t>
            </a:r>
          </a:p>
          <a:p xmlns:a="http://schemas.openxmlformats.org/drawingml/2006/main">
            <a:r>
              <a:t>        "hold": "사업·판본별 의무와 예외 대사",</a:t>
            </a:r>
          </a:p>
          <a:p xmlns:a="http://schemas.openxmlformats.org/drawingml/2006/main">
            <a:r>
              <a:t>        "recovery": "오분류·증빙 누락과 검토 결과 추적",</a:t>
            </a:r>
          </a:p>
          <a:p xmlns:a="http://schemas.openxmlformats.org/drawingml/2006/main">
            <a:r>
              <a:t>        "evidence": "요건·거래·증빙·검토자 연결표와 누락 검출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"지침·증빙 기록",</a:t>
            </a:r>
          </a:p>
          <a:p xmlns:a="http://schemas.openxmlformats.org/drawingml/2006/main">
            <a:r>
              <a:t>        "prepare": "법규·부처 지침·거래증빙의 판본 연결",</a:t>
            </a:r>
          </a:p>
          <a:p xmlns:a="http://schemas.openxmlformats.org/drawingml/2006/main">
            <a:r>
              <a:t>        "output": "집행 내역",</a:t>
            </a:r>
          </a:p>
          <a:p xmlns:a="http://schemas.openxmlformats.org/drawingml/2006/main">
            <a:r>
              <a:t>        "refresh": "오분류·증빙 누락과 검토 결과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"부처 지침과 집행 자료 연결",</a:t>
            </a:r>
          </a:p>
          <a:p xmlns:a="http://schemas.openxmlformats.org/drawingml/2006/main">
            <a:r>
              <a:t>      "서식·증빙을 검토 과정에 결합"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"부처·연차별 집행기준 혼용",</a:t>
            </a:r>
          </a:p>
          <a:p xmlns:a="http://schemas.openxmlformats.org/drawingml/2006/main">
            <a:r>
              <a:t>      "서식 생성과 적정 집행 판정의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"연구비 집행 자료",</a:t>
            </a:r>
          </a:p>
          <a:p xmlns:a="http://schemas.openxmlformats.org/drawingml/2006/main">
            <a:r>
              <a:t>      "규정 검색·서식 구성",</a:t>
            </a:r>
          </a:p>
          <a:p xmlns:a="http://schemas.openxmlformats.org/drawingml/2006/main">
            <a:r>
              <a:t>      "지침·증빙 기록",</a:t>
            </a:r>
          </a:p>
          <a:p xmlns:a="http://schemas.openxmlformats.org/drawingml/2006/main">
            <a:r>
              <a:t>      "연구자·기관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"집행 내역",</a:t>
            </a:r>
          </a:p>
          <a:p xmlns:a="http://schemas.openxmlformats.org/drawingml/2006/main">
            <a:r>
              <a:t>      "적용 규정",</a:t>
            </a:r>
          </a:p>
          <a:p xmlns:a="http://schemas.openxmlformats.org/drawingml/2006/main">
            <a:r>
              <a:t>      "서식·증빙 목록",</a:t>
            </a:r>
          </a:p>
          <a:p xmlns:a="http://schemas.openxmlformats.org/drawingml/2006/main">
            <a:r>
              <a:t>      "보완·검토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"사업·판본별 의무와 예외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국가 R&amp;D 사업비 Risk 지원 · 공공AI 사례집 193–194쪽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https://heen1987-ops.github.io/TS-business-Plan-001/index.html?view=casebook&amp;case=AX24</a:t>
            </a:r>
          </a:p>
          <a:p xmlns:a="http://schemas.openxmlformats.org/drawingml/2006/main">
            <a:r>
              <a:t>한계: 성과 항목이 기대효과 중심 · 행정 부담 감소 실측 별도</a:t>
            </a:r>
          </a:p>
          <a:p xmlns:a="http://schemas.openxmlformats.org/drawingml/2006/main">
            <a:r>
              <a:t>실패 위험: 부처·연차별 집행기준 혼용 / 서식 생성과 적정 집행 판정의 혼동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"title": "국가 R&amp;D 사업비 Risk 지원",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"규정·증빙 기반 사업관리",</a:t>
            </a:r>
          </a:p>
          <a:p xmlns:a="http://schemas.openxmlformats.org/drawingml/2006/main">
            <a:r>
              <a:t>    "period": "2024 개발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"증빙 기반 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"R&amp;D 법규·부처 지침 상담과 집행 데이터 수집·서식 생성을 결합한 솔루션 개발",</a:t>
            </a:r>
          </a:p>
          <a:p xmlns:a="http://schemas.openxmlformats.org/drawingml/2006/main">
            <a:r>
              <a:t>    "limit": "성과 항목이 기대효과 중심 · 행정 부담 감소 실측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"부처 지침·집행자료",</a:t>
            </a:r>
          </a:p>
          <a:p xmlns:a="http://schemas.openxmlformats.org/drawingml/2006/main">
            <a:r>
              <a:t>      "규정 질의",</a:t>
            </a:r>
          </a:p>
          <a:p xmlns:a="http://schemas.openxmlformats.org/drawingml/2006/main">
            <a:r>
              <a:t>      "서식·증빙 정리",</a:t>
            </a:r>
          </a:p>
          <a:p xmlns:a="http://schemas.openxmlformats.org/drawingml/2006/main">
            <a:r>
              <a:t>      "연구자·기관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"부처·사업·계약 판본·증빙 요구 매핑",</a:t>
            </a:r>
          </a:p>
          <a:p xmlns:a="http://schemas.openxmlformats.org/drawingml/2006/main">
            <a:r>
              <a:t>    "test": "유효 규정·증빙 누락·목적 외 자료 차단 시험",</a:t>
            </a:r>
          </a:p>
          <a:p xmlns:a="http://schemas.openxmlformats.org/drawingml/2006/main">
            <a:r>
              <a:t>    "metric": "보완 왕복 횟수 / 검토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"canonicalId": "AX24",</a:t>
            </a:r>
          </a:p>
          <a:p xmlns:a="http://schemas.openxmlformats.org/drawingml/2006/main">
            <a:r>
              <a:t>    "purpose": "R&amp;D 사업비 문의와 증빙 정리 지원",</a:t>
            </a:r>
          </a:p>
          <a:p xmlns:a="http://schemas.openxmlformats.org/drawingml/2006/main">
            <a:r>
              <a:t>    "users": "과제 수행자·연구관리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"규정 상담",</a:t>
            </a:r>
          </a:p>
          <a:p xmlns:a="http://schemas.openxmlformats.org/drawingml/2006/main">
            <a:r>
              <a:t>      "집행자료",</a:t>
            </a:r>
          </a:p>
          <a:p xmlns:a="http://schemas.openxmlformats.org/drawingml/2006/main">
            <a:r>
              <a:t>      "서식 생성"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"연구비 집행 자료",</a:t>
            </a:r>
          </a:p>
          <a:p xmlns:a="http://schemas.openxmlformats.org/drawingml/2006/main">
            <a:r>
              <a:t>        "detail": "부처·사업·협약기간·집행항목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"규정 상담 / 집행자료 / 서식 생성",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"규정 검색·서식 구성",</a:t>
            </a:r>
          </a:p>
          <a:p xmlns:a="http://schemas.openxmlformats.org/drawingml/2006/main">
            <a:r>
              <a:t>        "detail": "규정 검색과 집행 항목의 조건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"연구자·기관 검토자",</a:t>
            </a:r>
          </a:p>
          <a:p xmlns:a="http://schemas.openxmlformats.org/drawingml/2006/main">
            <a:r>
              <a:t>        "detail": "근거·누락 항목·서식 초안의 담당자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"지침·증빙 기록",</a:t>
            </a:r>
          </a:p>
          <a:p xmlns:a="http://schemas.openxmlformats.org/drawingml/2006/main">
            <a:r>
              <a:t>        "detail": "법규·부처 지침·거래증빙의 판본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"오분류·증빙 누락과 검토 결과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"부처 지침·집행자료",</a:t>
            </a:r>
          </a:p>
          <a:p xmlns:a="http://schemas.openxmlformats.org/drawingml/2006/main">
            <a:r>
              <a:t>        "input": "부처·사업·협약기간·집행항목 확인",</a:t>
            </a:r>
          </a:p>
          <a:p xmlns:a="http://schemas.openxmlformats.org/drawingml/2006/main">
            <a:r>
              <a:t>        "process": "법규·부처 지침·거래증빙의 판본 연결",</a:t>
            </a:r>
          </a:p>
          <a:p xmlns:a="http://schemas.openxmlformats.org/drawingml/2006/main">
            <a:r>
              <a:t>        "output": "집행 내역"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"규정 질의",</a:t>
            </a:r>
          </a:p>
          <a:p xmlns:a="http://schemas.openxmlformats.org/drawingml/2006/main">
            <a:r>
              <a:t>        "input": "집행 내역",</a:t>
            </a:r>
          </a:p>
          <a:p xmlns:a="http://schemas.openxmlformats.org/drawingml/2006/main">
            <a:r>
              <a:t>        "process": "규정 검색과 집행 항목의 조건 비교",</a:t>
            </a:r>
          </a:p>
          <a:p xmlns:a="http://schemas.openxmlformats.org/drawingml/2006/main">
            <a:r>
              <a:t>        "output": "적용 규정"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"서식·증빙 정리",</a:t>
            </a:r>
          </a:p>
          <a:p xmlns:a="http://schemas.openxmlformats.org/drawingml/2006/main">
            <a:r>
              <a:t>        "input": "적용 규정",</a:t>
            </a:r>
          </a:p>
          <a:p xmlns:a="http://schemas.openxmlformats.org/drawingml/2006/main">
            <a:r>
              <a:t>        "process": "사업·판본별 의무와 예외 대사",</a:t>
            </a:r>
          </a:p>
          <a:p xmlns:a="http://schemas.openxmlformats.org/drawingml/2006/main">
            <a:r>
              <a:t>        "output": "서식·증빙 목록"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"연구자·기관 검토",</a:t>
            </a:r>
          </a:p>
          <a:p xmlns:a="http://schemas.openxmlformats.org/drawingml/2006/main">
            <a:r>
              <a:t>        "input": "서식·증빙 목록",</a:t>
            </a:r>
          </a:p>
          <a:p xmlns:a="http://schemas.openxmlformats.org/drawingml/2006/main">
            <a:r>
              <a:t>        "process": "근거·누락 항목·서식 초안의 담당자 검토",</a:t>
            </a:r>
          </a:p>
          <a:p xmlns:a="http://schemas.openxmlformats.org/drawingml/2006/main">
            <a:r>
              <a:t>        "output": "보완·검토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"부처·사업·협약기간에 맞는 집행 조건과 증빙 확인",</a:t>
            </a:r>
          </a:p>
          <a:p xmlns:a="http://schemas.openxmlformats.org/drawingml/2006/main">
            <a:r>
              <a:t>      "exception": "다른 부처 지침·기간 외 거래·중복 집행 증빙",</a:t>
            </a:r>
          </a:p>
          <a:p xmlns:a="http://schemas.openxmlformats.org/drawingml/2006/main">
            <a:r>
              <a:t>      "evidence": "요건·거래·증빙·검토자 연결표와 누락 검출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"과제 수행자·연구관리 담당",</a:t>
            </a:r>
          </a:p>
          <a:p xmlns:a="http://schemas.openxmlformats.org/drawingml/2006/main">
            <a:r>
              <a:t>          "processing": "부처·사업·협약기간·집행항목 확인",</a:t>
            </a:r>
          </a:p>
          <a:p xmlns:a="http://schemas.openxmlformats.org/drawingml/2006/main">
            <a:r>
              <a:t>          "output": "집행 내역"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"지침·증빙 기록",</a:t>
            </a:r>
          </a:p>
          <a:p xmlns:a="http://schemas.openxmlformats.org/drawingml/2006/main">
            <a:r>
              <a:t>          "processing": "법규·부처 지침·거래증빙의 판본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"집행 내역",</a:t>
            </a:r>
          </a:p>
          <a:p xmlns:a="http://schemas.openxmlformats.org/drawingml/2006/main">
            <a:r>
              <a:t>          "processing": "규정 검색과 집행 항목의 조건 비교",</a:t>
            </a:r>
          </a:p>
          <a:p xmlns:a="http://schemas.openxmlformats.org/drawingml/2006/main">
            <a:r>
              <a:t>          "output": "서식·증빙 목록"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"서식·증빙 목록",</a:t>
            </a:r>
          </a:p>
          <a:p xmlns:a="http://schemas.openxmlformats.org/drawingml/2006/main">
            <a:r>
              <a:t>          "processing": "근거·누락 항목·서식 초안의 담당자 검토",</a:t>
            </a:r>
          </a:p>
          <a:p xmlns:a="http://schemas.openxmlformats.org/drawingml/2006/main">
            <a:r>
              <a:t>          "output": "보완·검토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"오분류·증빙 누락과 검토 결과 추적",</a:t>
            </a:r>
          </a:p>
          <a:p xmlns:a="http://schemas.openxmlformats.org/drawingml/2006/main">
            <a:r>
              <a:t>          "output":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"오분류·증빙 누락과 검토 결과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"S-AX24",</a:t>
            </a:r>
          </a:p>
          <a:p xmlns:a="http://schemas.openxmlformats.org/drawingml/2006/main">
            <a:r>
              <a:t>        "title": "국가 R&amp;D 사업비 Risk 지원 · 공공AI 사례집 193–194쪽",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개발 사례",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"연구비 집행 자료와 부처·사업별 지침을 연결해 상담·증빙·서식 작성을 지원하는 사례. 같은 지출 항목도 사업·협약연도에 따라 적용 기준이 다른 업무.",</a:t>
            </a:r>
          </a:p>
          <a:p xmlns:a="http://schemas.openxmlformats.org/drawingml/2006/main">
            <a:r>
              <a:t>      "부처·사업·협약기간·집행항목을 먼저 식별하고 해당 판본의 규정과 거래증빙을 대조하는 재구성. 누락 서류·예외 조건·서식 초안을 담당 검토자에게 전달하는 흐름.",</a:t>
            </a:r>
          </a:p>
          <a:p xmlns:a="http://schemas.openxmlformats.org/drawingml/2006/main">
            <a:r>
              <a:t>      "CCK AI PMS에 적용할 경우 지침 검색·양식 재사용과 적정 집행 판단을 분리. 사업 변경·연차 차이·증빙 누락 시험을 수행하고 요구사항·검수·제출 증빙의 추적에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"연구비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"과제 수행자·연구관리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"사업·협약·항목",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"부처·사업·협약기간·집행항목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"규정·증빙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"집행 내역",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"조건 비교·서식",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집행 항목의 조건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"판본·누락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"사업·판본별 의무와 예외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"기관 검토자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"부처·사업·협약기간에 맞는 집행 조건과 증빙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"보완·집행 검토",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"근거·누락 항목·서식 초안의 담당자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"오분류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"오분류·증빙 누락과 검토 결과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"지침·거래 증빙",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"지침·증빙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"판본·항목 연결",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"법규·부처 지침·거래증빙의 판본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"집행·근거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"요건·거래·증빙·검토자 연결표와 누락 검출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"사업별 집행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부처 지침·기간 외 거래·중복 집행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"부처·사업·협약기간·집행항목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"집행 내역",</a:t>
            </a:r>
          </a:p>
          <a:p xmlns:a="http://schemas.openxmlformats.org/drawingml/2006/main">
            <a:r>
              <a:t>          "check": "사업·판본별 의무와 예외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"적용 규정",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"다른 부처 지침·기간 외 거래·중복 집행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"근거·누락 항목·서식 초안의 담당자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"보완·검토 결과",</a:t>
            </a:r>
          </a:p>
          <a:p xmlns:a="http://schemas.openxmlformats.org/drawingml/2006/main">
            <a:r>
              <a:t>          "check":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"R&amp;D 사업비 문의와 증빙 정리 지원 / 규정 상담·집행자료·서식 생성",</a:t>
            </a:r>
          </a:p>
          <a:p xmlns:a="http://schemas.openxmlformats.org/drawingml/2006/main">
            <a:r>
              <a:t>        "extension": "민간 AI PMS와 TS 기관 내부 업무를 역할별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부처 지침·기간 외 거래·중복 집행 증빙",</a:t>
            </a:r>
          </a:p>
          <a:p xmlns:a="http://schemas.openxmlformats.org/drawingml/2006/main">
            <a:r>
              <a:t>        "hold": "사업·판본별 의무와 예외 대사",</a:t>
            </a:r>
          </a:p>
          <a:p xmlns:a="http://schemas.openxmlformats.org/drawingml/2006/main">
            <a:r>
              <a:t>        "recovery": "오분류·증빙 누락과 검토 결과 추적",</a:t>
            </a:r>
          </a:p>
          <a:p xmlns:a="http://schemas.openxmlformats.org/drawingml/2006/main">
            <a:r>
              <a:t>        "evidence": "요건·거래·증빙·검토자 연결표와 누락 검출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"지침·증빙 기록",</a:t>
            </a:r>
          </a:p>
          <a:p xmlns:a="http://schemas.openxmlformats.org/drawingml/2006/main">
            <a:r>
              <a:t>        "prepare": "법규·부처 지침·거래증빙의 판본 연결",</a:t>
            </a:r>
          </a:p>
          <a:p xmlns:a="http://schemas.openxmlformats.org/drawingml/2006/main">
            <a:r>
              <a:t>        "output": "집행 내역",</a:t>
            </a:r>
          </a:p>
          <a:p xmlns:a="http://schemas.openxmlformats.org/drawingml/2006/main">
            <a:r>
              <a:t>        "refresh": "오분류·증빙 누락과 검토 결과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"부처 지침과 집행 자료 연결",</a:t>
            </a:r>
          </a:p>
          <a:p xmlns:a="http://schemas.openxmlformats.org/drawingml/2006/main">
            <a:r>
              <a:t>      "서식·증빙을 검토 과정에 결합"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"부처·연차별 집행기준 혼용",</a:t>
            </a:r>
          </a:p>
          <a:p xmlns:a="http://schemas.openxmlformats.org/drawingml/2006/main">
            <a:r>
              <a:t>      "서식 생성과 적정 집행 판정의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"연구비 집행 자료",</a:t>
            </a:r>
          </a:p>
          <a:p xmlns:a="http://schemas.openxmlformats.org/drawingml/2006/main">
            <a:r>
              <a:t>      "규정 검색·서식 구성",</a:t>
            </a:r>
          </a:p>
          <a:p xmlns:a="http://schemas.openxmlformats.org/drawingml/2006/main">
            <a:r>
              <a:t>      "지침·증빙 기록",</a:t>
            </a:r>
          </a:p>
          <a:p xmlns:a="http://schemas.openxmlformats.org/drawingml/2006/main">
            <a:r>
              <a:t>      "연구자·기관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"집행 내역",</a:t>
            </a:r>
          </a:p>
          <a:p xmlns:a="http://schemas.openxmlformats.org/drawingml/2006/main">
            <a:r>
              <a:t>      "적용 규정",</a:t>
            </a:r>
          </a:p>
          <a:p xmlns:a="http://schemas.openxmlformats.org/drawingml/2006/main">
            <a:r>
              <a:t>      "서식·증빙 목록",</a:t>
            </a:r>
          </a:p>
          <a:p xmlns:a="http://schemas.openxmlformats.org/drawingml/2006/main">
            <a:r>
              <a:t>      "보완·검토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"사업·판본별 의무와 예외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국가 R&amp;D 사업비 Risk 지원 · 공공AI 사례집 193–194쪽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"title": "국가 R&amp;D 사업비 Risk 지원",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"규정·증빙 기반 사업관리",</a:t>
            </a:r>
          </a:p>
          <a:p xmlns:a="http://schemas.openxmlformats.org/drawingml/2006/main">
            <a:r>
              <a:t>    "period": "2024 개발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"증빙 기반 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"R&amp;D 법규·부처 지침 상담과 집행 데이터 수집·서식 생성을 결합한 솔루션 개발",</a:t>
            </a:r>
          </a:p>
          <a:p xmlns:a="http://schemas.openxmlformats.org/drawingml/2006/main">
            <a:r>
              <a:t>    "limit": "성과 항목이 기대효과 중심 · 행정 부담 감소 실측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"부처 지침·집행자료",</a:t>
            </a:r>
          </a:p>
          <a:p xmlns:a="http://schemas.openxmlformats.org/drawingml/2006/main">
            <a:r>
              <a:t>      "규정 질의",</a:t>
            </a:r>
          </a:p>
          <a:p xmlns:a="http://schemas.openxmlformats.org/drawingml/2006/main">
            <a:r>
              <a:t>      "서식·증빙 정리",</a:t>
            </a:r>
          </a:p>
          <a:p xmlns:a="http://schemas.openxmlformats.org/drawingml/2006/main">
            <a:r>
              <a:t>      "연구자·기관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"부처·사업·계약 판본·증빙 요구 매핑",</a:t>
            </a:r>
          </a:p>
          <a:p xmlns:a="http://schemas.openxmlformats.org/drawingml/2006/main">
            <a:r>
              <a:t>    "test": "유효 규정·증빙 누락·목적 외 자료 차단 시험",</a:t>
            </a:r>
          </a:p>
          <a:p xmlns:a="http://schemas.openxmlformats.org/drawingml/2006/main">
            <a:r>
              <a:t>    "metric": "보완 왕복 횟수 / 검토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"canonicalId": "AX24",</a:t>
            </a:r>
          </a:p>
          <a:p xmlns:a="http://schemas.openxmlformats.org/drawingml/2006/main">
            <a:r>
              <a:t>    "purpose": "R&amp;D 사업비 문의와 증빙 정리 지원",</a:t>
            </a:r>
          </a:p>
          <a:p xmlns:a="http://schemas.openxmlformats.org/drawingml/2006/main">
            <a:r>
              <a:t>    "users": "과제 수행자·연구관리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"규정 상담",</a:t>
            </a:r>
          </a:p>
          <a:p xmlns:a="http://schemas.openxmlformats.org/drawingml/2006/main">
            <a:r>
              <a:t>      "집행자료",</a:t>
            </a:r>
          </a:p>
          <a:p xmlns:a="http://schemas.openxmlformats.org/drawingml/2006/main">
            <a:r>
              <a:t>      "서식 생성"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"연구비 집행 자료",</a:t>
            </a:r>
          </a:p>
          <a:p xmlns:a="http://schemas.openxmlformats.org/drawingml/2006/main">
            <a:r>
              <a:t>        "detail": "부처·사업·협약기간·집행항목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"규정 상담 / 집행자료 / 서식 생성",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"규정 검색·서식 구성",</a:t>
            </a:r>
          </a:p>
          <a:p xmlns:a="http://schemas.openxmlformats.org/drawingml/2006/main">
            <a:r>
              <a:t>        "detail": "규정 검색과 집행 항목의 조건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"연구자·기관 검토자",</a:t>
            </a:r>
          </a:p>
          <a:p xmlns:a="http://schemas.openxmlformats.org/drawingml/2006/main">
            <a:r>
              <a:t>        "detail": "근거·누락 항목·서식 초안의 담당자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"지침·증빙 기록",</a:t>
            </a:r>
          </a:p>
          <a:p xmlns:a="http://schemas.openxmlformats.org/drawingml/2006/main">
            <a:r>
              <a:t>        "detail": "법규·부처 지침·거래증빙의 판본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"오분류·증빙 누락과 검토 결과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"부처 지침·집행자료",</a:t>
            </a:r>
          </a:p>
          <a:p xmlns:a="http://schemas.openxmlformats.org/drawingml/2006/main">
            <a:r>
              <a:t>        "input": "부처·사업·협약기간·집행항목 확인",</a:t>
            </a:r>
          </a:p>
          <a:p xmlns:a="http://schemas.openxmlformats.org/drawingml/2006/main">
            <a:r>
              <a:t>        "process": "법규·부처 지침·거래증빙의 판본 연결",</a:t>
            </a:r>
          </a:p>
          <a:p xmlns:a="http://schemas.openxmlformats.org/drawingml/2006/main">
            <a:r>
              <a:t>        "output": "집행 내역"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"규정 질의",</a:t>
            </a:r>
          </a:p>
          <a:p xmlns:a="http://schemas.openxmlformats.org/drawingml/2006/main">
            <a:r>
              <a:t>        "input": "집행 내역",</a:t>
            </a:r>
          </a:p>
          <a:p xmlns:a="http://schemas.openxmlformats.org/drawingml/2006/main">
            <a:r>
              <a:t>        "process": "규정 검색과 집행 항목의 조건 비교",</a:t>
            </a:r>
          </a:p>
          <a:p xmlns:a="http://schemas.openxmlformats.org/drawingml/2006/main">
            <a:r>
              <a:t>        "output": "적용 규정"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"서식·증빙 정리",</a:t>
            </a:r>
          </a:p>
          <a:p xmlns:a="http://schemas.openxmlformats.org/drawingml/2006/main">
            <a:r>
              <a:t>        "input": "적용 규정",</a:t>
            </a:r>
          </a:p>
          <a:p xmlns:a="http://schemas.openxmlformats.org/drawingml/2006/main">
            <a:r>
              <a:t>        "process": "사업·판본별 의무와 예외 대사",</a:t>
            </a:r>
          </a:p>
          <a:p xmlns:a="http://schemas.openxmlformats.org/drawingml/2006/main">
            <a:r>
              <a:t>        "output": "서식·증빙 목록"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"연구자·기관 검토",</a:t>
            </a:r>
          </a:p>
          <a:p xmlns:a="http://schemas.openxmlformats.org/drawingml/2006/main">
            <a:r>
              <a:t>        "input": "서식·증빙 목록",</a:t>
            </a:r>
          </a:p>
          <a:p xmlns:a="http://schemas.openxmlformats.org/drawingml/2006/main">
            <a:r>
              <a:t>        "process": "근거·누락 항목·서식 초안의 담당자 검토",</a:t>
            </a:r>
          </a:p>
          <a:p xmlns:a="http://schemas.openxmlformats.org/drawingml/2006/main">
            <a:r>
              <a:t>        "output": "보완·검토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"부처·사업·협약기간에 맞는 집행 조건과 증빙 확인",</a:t>
            </a:r>
          </a:p>
          <a:p xmlns:a="http://schemas.openxmlformats.org/drawingml/2006/main">
            <a:r>
              <a:t>      "exception": "다른 부처 지침·기간 외 거래·중복 집행 증빙",</a:t>
            </a:r>
          </a:p>
          <a:p xmlns:a="http://schemas.openxmlformats.org/drawingml/2006/main">
            <a:r>
              <a:t>      "evidence": "요건·거래·증빙·검토자 연결표와 누락 검출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"과제 수행자·연구관리 담당",</a:t>
            </a:r>
          </a:p>
          <a:p xmlns:a="http://schemas.openxmlformats.org/drawingml/2006/main">
            <a:r>
              <a:t>          "processing": "부처·사업·협약기간·집행항목 확인",</a:t>
            </a:r>
          </a:p>
          <a:p xmlns:a="http://schemas.openxmlformats.org/drawingml/2006/main">
            <a:r>
              <a:t>          "output": "집행 내역"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"지침·증빙 기록",</a:t>
            </a:r>
          </a:p>
          <a:p xmlns:a="http://schemas.openxmlformats.org/drawingml/2006/main">
            <a:r>
              <a:t>          "processing": "법규·부처 지침·거래증빙의 판본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"집행 내역",</a:t>
            </a:r>
          </a:p>
          <a:p xmlns:a="http://schemas.openxmlformats.org/drawingml/2006/main">
            <a:r>
              <a:t>          "processing": "규정 검색과 집행 항목의 조건 비교",</a:t>
            </a:r>
          </a:p>
          <a:p xmlns:a="http://schemas.openxmlformats.org/drawingml/2006/main">
            <a:r>
              <a:t>          "output": "서식·증빙 목록"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"서식·증빙 목록",</a:t>
            </a:r>
          </a:p>
          <a:p xmlns:a="http://schemas.openxmlformats.org/drawingml/2006/main">
            <a:r>
              <a:t>          "processing": "근거·누락 항목·서식 초안의 담당자 검토",</a:t>
            </a:r>
          </a:p>
          <a:p xmlns:a="http://schemas.openxmlformats.org/drawingml/2006/main">
            <a:r>
              <a:t>          "output": "보완·검토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"오분류·증빙 누락과 검토 결과 추적",</a:t>
            </a:r>
          </a:p>
          <a:p xmlns:a="http://schemas.openxmlformats.org/drawingml/2006/main">
            <a:r>
              <a:t>          "output":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"오분류·증빙 누락과 검토 결과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"S-AX24",</a:t>
            </a:r>
          </a:p>
          <a:p xmlns:a="http://schemas.openxmlformats.org/drawingml/2006/main">
            <a:r>
              <a:t>        "title": "국가 R&amp;D 사업비 Risk 지원 · 공공AI 사례집 193–194쪽",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개발 사례",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"연구비 집행 자료와 부처·사업별 지침을 연결해 상담·증빙·서식 작성을 지원하는 사례. 같은 지출 항목도 사업·협약연도에 따라 적용 기준이 다른 업무.",</a:t>
            </a:r>
          </a:p>
          <a:p xmlns:a="http://schemas.openxmlformats.org/drawingml/2006/main">
            <a:r>
              <a:t>      "부처·사업·협약기간·집행항목을 먼저 식별하고 해당 판본의 규정과 거래증빙을 대조하는 재구성. 누락 서류·예외 조건·서식 초안을 담당 검토자에게 전달하는 흐름.",</a:t>
            </a:r>
          </a:p>
          <a:p xmlns:a="http://schemas.openxmlformats.org/drawingml/2006/main">
            <a:r>
              <a:t>      "CCK AI PMS에 적용할 경우 지침 검색·양식 재사용과 적정 집행 판단을 분리. 사업 변경·연차 차이·증빙 누락 시험을 수행하고 요구사항·검수·제출 증빙의 추적에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"연구비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"과제 수행자·연구관리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"사업·협약·항목",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"부처·사업·협약기간·집행항목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"규정·증빙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"집행 내역",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"조건 비교·서식",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집행 항목의 조건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"판본·누락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"사업·판본별 의무와 예외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"기관 검토자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"부처·사업·협약기간에 맞는 집행 조건과 증빙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"보완·집행 검토",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"근거·누락 항목·서식 초안의 담당자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"오분류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"오분류·증빙 누락과 검토 결과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"지침·거래 증빙",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"지침·증빙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"판본·항목 연결",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"법규·부처 지침·거래증빙의 판본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"집행·근거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"요건·거래·증빙·검토자 연결표와 누락 검출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"사업별 집행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부처 지침·기간 외 거래·중복 집행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"부처·사업·협약기간·집행항목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"집행 내역",</a:t>
            </a:r>
          </a:p>
          <a:p xmlns:a="http://schemas.openxmlformats.org/drawingml/2006/main">
            <a:r>
              <a:t>          "check": "사업·판본별 의무와 예외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"적용 규정",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"다른 부처 지침·기간 외 거래·중복 집행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"근거·누락 항목·서식 초안의 담당자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"보완·검토 결과",</a:t>
            </a:r>
          </a:p>
          <a:p xmlns:a="http://schemas.openxmlformats.org/drawingml/2006/main">
            <a:r>
              <a:t>          "check":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"R&amp;D 사업비 문의와 증빙 정리 지원 / 규정 상담·집행자료·서식 생성",</a:t>
            </a:r>
          </a:p>
          <a:p xmlns:a="http://schemas.openxmlformats.org/drawingml/2006/main">
            <a:r>
              <a:t>        "extension": "민간 AI PMS와 TS 기관 내부 업무를 역할별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부처 지침·기간 외 거래·중복 집행 증빙",</a:t>
            </a:r>
          </a:p>
          <a:p xmlns:a="http://schemas.openxmlformats.org/drawingml/2006/main">
            <a:r>
              <a:t>        "hold": "사업·판본별 의무와 예외 대사",</a:t>
            </a:r>
          </a:p>
          <a:p xmlns:a="http://schemas.openxmlformats.org/drawingml/2006/main">
            <a:r>
              <a:t>        "recovery": "오분류·증빙 누락과 검토 결과 추적",</a:t>
            </a:r>
          </a:p>
          <a:p xmlns:a="http://schemas.openxmlformats.org/drawingml/2006/main">
            <a:r>
              <a:t>        "evidence": "요건·거래·증빙·검토자 연결표와 누락 검출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"지침·증빙 기록",</a:t>
            </a:r>
          </a:p>
          <a:p xmlns:a="http://schemas.openxmlformats.org/drawingml/2006/main">
            <a:r>
              <a:t>        "prepare": "법규·부처 지침·거래증빙의 판본 연결",</a:t>
            </a:r>
          </a:p>
          <a:p xmlns:a="http://schemas.openxmlformats.org/drawingml/2006/main">
            <a:r>
              <a:t>        "output": "집행 내역",</a:t>
            </a:r>
          </a:p>
          <a:p xmlns:a="http://schemas.openxmlformats.org/drawingml/2006/main">
            <a:r>
              <a:t>        "refresh": "오분류·증빙 누락과 검토 결과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"부처 지침과 집행 자료 연결",</a:t>
            </a:r>
          </a:p>
          <a:p xmlns:a="http://schemas.openxmlformats.org/drawingml/2006/main">
            <a:r>
              <a:t>      "서식·증빙을 검토 과정에 결합"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"부처·연차별 집행기준 혼용",</a:t>
            </a:r>
          </a:p>
          <a:p xmlns:a="http://schemas.openxmlformats.org/drawingml/2006/main">
            <a:r>
              <a:t>      "서식 생성과 적정 집행 판정의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"연구비 집행 자료",</a:t>
            </a:r>
          </a:p>
          <a:p xmlns:a="http://schemas.openxmlformats.org/drawingml/2006/main">
            <a:r>
              <a:t>      "규정 검색·서식 구성",</a:t>
            </a:r>
          </a:p>
          <a:p xmlns:a="http://schemas.openxmlformats.org/drawingml/2006/main">
            <a:r>
              <a:t>      "지침·증빙 기록",</a:t>
            </a:r>
          </a:p>
          <a:p xmlns:a="http://schemas.openxmlformats.org/drawingml/2006/main">
            <a:r>
              <a:t>      "연구자·기관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"집행 내역",</a:t>
            </a:r>
          </a:p>
          <a:p xmlns:a="http://schemas.openxmlformats.org/drawingml/2006/main">
            <a:r>
              <a:t>      "적용 규정",</a:t>
            </a:r>
          </a:p>
          <a:p xmlns:a="http://schemas.openxmlformats.org/drawingml/2006/main">
            <a:r>
              <a:t>      "서식·증빙 목록",</a:t>
            </a:r>
          </a:p>
          <a:p xmlns:a="http://schemas.openxmlformats.org/drawingml/2006/main">
            <a:r>
              <a:t>      "보완·검토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"사업·판본별 의무와 예외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국가 R&amp;D 사업비 Risk 지원 · 공공AI 사례집 193–194쪽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"title": "국가 R&amp;D 사업비 Risk 지원",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"규정·증빙 기반 사업관리",</a:t>
            </a:r>
          </a:p>
          <a:p xmlns:a="http://schemas.openxmlformats.org/drawingml/2006/main">
            <a:r>
              <a:t>    "period": "2024 개발 사례",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"S-AX24"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"규정",</a:t>
            </a:r>
          </a:p>
          <a:p xmlns:a="http://schemas.openxmlformats.org/drawingml/2006/main">
            <a:r>
              <a:t>      "증빙 기반 사업관리"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"R&amp;D 법규·부처 지침 상담과 집행 데이터 수집·서식 생성을 결합한 솔루션 개발",</a:t>
            </a:r>
          </a:p>
          <a:p xmlns:a="http://schemas.openxmlformats.org/drawingml/2006/main">
            <a:r>
              <a:t>    "limit": "성과 항목이 기대효과 중심 · 행정 부담 감소 실측 별도",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"부처 지침·집행자료",</a:t>
            </a:r>
          </a:p>
          <a:p xmlns:a="http://schemas.openxmlformats.org/drawingml/2006/main">
            <a:r>
              <a:t>      "규정 질의",</a:t>
            </a:r>
          </a:p>
          <a:p xmlns:a="http://schemas.openxmlformats.org/drawingml/2006/main">
            <a:r>
              <a:t>      "서식·증빙 정리",</a:t>
            </a:r>
          </a:p>
          <a:p xmlns:a="http://schemas.openxmlformats.org/drawingml/2006/main">
            <a:r>
              <a:t>      "연구자·기관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"부처·사업·계약 판본·증빙 요구 매핑",</a:t>
            </a:r>
          </a:p>
          <a:p xmlns:a="http://schemas.openxmlformats.org/drawingml/2006/main">
            <a:r>
              <a:t>    "test": "유효 규정·증빙 누락·목적 외 자료 차단 시험",</a:t>
            </a:r>
          </a:p>
          <a:p xmlns:a="http://schemas.openxmlformats.org/drawingml/2006/main">
            <a:r>
              <a:t>    "metric": "보완 왕복 횟수 / 검토 소요시간",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"ST-09",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"canonicalId": "AX24",</a:t>
            </a:r>
          </a:p>
          <a:p xmlns:a="http://schemas.openxmlformats.org/drawingml/2006/main">
            <a:r>
              <a:t>    "purpose": "R&amp;D 사업비 문의와 증빙 정리 지원",</a:t>
            </a:r>
          </a:p>
          <a:p xmlns:a="http://schemas.openxmlformats.org/drawingml/2006/main">
            <a:r>
              <a:t>    "users": "과제 수행자·연구관리 담당",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"규정 상담",</a:t>
            </a:r>
          </a:p>
          <a:p xmlns:a="http://schemas.openxmlformats.org/drawingml/2006/main">
            <a:r>
              <a:t>      "집행자료",</a:t>
            </a:r>
          </a:p>
          <a:p xmlns:a="http://schemas.openxmlformats.org/drawingml/2006/main">
            <a:r>
              <a:t>      "서식 생성"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"연구비 집행 자료",</a:t>
            </a:r>
          </a:p>
          <a:p xmlns:a="http://schemas.openxmlformats.org/drawingml/2006/main">
            <a:r>
              <a:t>        "detail": "부처·사업·협약기간·집행항목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"규정 상담 / 집행자료 / 서식 생성",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"규정 검색·서식 구성",</a:t>
            </a:r>
          </a:p>
          <a:p xmlns:a="http://schemas.openxmlformats.org/drawingml/2006/main">
            <a:r>
              <a:t>        "detail": "규정 검색과 집행 항목의 조건 비교",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"연구자·기관 검토자",</a:t>
            </a:r>
          </a:p>
          <a:p xmlns:a="http://schemas.openxmlformats.org/drawingml/2006/main">
            <a:r>
              <a:t>        "detail": "근거·누락 항목·서식 초안의 담당자 검토",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"지침·증빙 기록",</a:t>
            </a:r>
          </a:p>
          <a:p xmlns:a="http://schemas.openxmlformats.org/drawingml/2006/main">
            <a:r>
              <a:t>        "detail": "법규·부처 지침·거래증빙의 판본 연결",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"오분류·증빙 누락과 검토 결과 추적",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"부처 지침·집행자료",</a:t>
            </a:r>
          </a:p>
          <a:p xmlns:a="http://schemas.openxmlformats.org/drawingml/2006/main">
            <a:r>
              <a:t>        "input": "부처·사업·협약기간·집행항목 확인",</a:t>
            </a:r>
          </a:p>
          <a:p xmlns:a="http://schemas.openxmlformats.org/drawingml/2006/main">
            <a:r>
              <a:t>        "process": "법규·부처 지침·거래증빙의 판본 연결",</a:t>
            </a:r>
          </a:p>
          <a:p xmlns:a="http://schemas.openxmlformats.org/drawingml/2006/main">
            <a:r>
              <a:t>        "output": "집행 내역"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"규정 질의",</a:t>
            </a:r>
          </a:p>
          <a:p xmlns:a="http://schemas.openxmlformats.org/drawingml/2006/main">
            <a:r>
              <a:t>        "input": "집행 내역",</a:t>
            </a:r>
          </a:p>
          <a:p xmlns:a="http://schemas.openxmlformats.org/drawingml/2006/main">
            <a:r>
              <a:t>        "process": "규정 검색과 집행 항목의 조건 비교",</a:t>
            </a:r>
          </a:p>
          <a:p xmlns:a="http://schemas.openxmlformats.org/drawingml/2006/main">
            <a:r>
              <a:t>        "output": "적용 규정"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"서식·증빙 정리",</a:t>
            </a:r>
          </a:p>
          <a:p xmlns:a="http://schemas.openxmlformats.org/drawingml/2006/main">
            <a:r>
              <a:t>        "input": "적용 규정",</a:t>
            </a:r>
          </a:p>
          <a:p xmlns:a="http://schemas.openxmlformats.org/drawingml/2006/main">
            <a:r>
              <a:t>        "process": "사업·판본별 의무와 예외 대사",</a:t>
            </a:r>
          </a:p>
          <a:p xmlns:a="http://schemas.openxmlformats.org/drawingml/2006/main">
            <a:r>
              <a:t>        "output": "서식·증빙 목록"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"연구자·기관 검토",</a:t>
            </a:r>
          </a:p>
          <a:p xmlns:a="http://schemas.openxmlformats.org/drawingml/2006/main">
            <a:r>
              <a:t>        "input": "서식·증빙 목록",</a:t>
            </a:r>
          </a:p>
          <a:p xmlns:a="http://schemas.openxmlformats.org/drawingml/2006/main">
            <a:r>
              <a:t>        "process": "근거·누락 항목·서식 초안의 담당자 검토",</a:t>
            </a:r>
          </a:p>
          <a:p xmlns:a="http://schemas.openxmlformats.org/drawingml/2006/main">
            <a:r>
              <a:t>        "output": "보완·검토 결과"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"부처·사업·협약기간에 맞는 집행 조건과 증빙 확인",</a:t>
            </a:r>
          </a:p>
          <a:p xmlns:a="http://schemas.openxmlformats.org/drawingml/2006/main">
            <a:r>
              <a:t>      "exception": "다른 부처 지침·기간 외 거래·중복 집행 증빙",</a:t>
            </a:r>
          </a:p>
          <a:p xmlns:a="http://schemas.openxmlformats.org/drawingml/2006/main">
            <a:r>
              <a:t>      "evidence": "요건·거래·증빙·검토자 연결표와 누락 검출 결과",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"과제 수행자·연구관리 담당",</a:t>
            </a:r>
          </a:p>
          <a:p xmlns:a="http://schemas.openxmlformats.org/drawingml/2006/main">
            <a:r>
              <a:t>          "processing": "부처·사업·협약기간·집행항목 확인",</a:t>
            </a:r>
          </a:p>
          <a:p xmlns:a="http://schemas.openxmlformats.org/drawingml/2006/main">
            <a:r>
              <a:t>          "output": "집행 내역"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"지침·증빙 기록",</a:t>
            </a:r>
          </a:p>
          <a:p xmlns:a="http://schemas.openxmlformats.org/drawingml/2006/main">
            <a:r>
              <a:t>          "processing": "법규·부처 지침·거래증빙의 판본 연결",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"집행 내역",</a:t>
            </a:r>
          </a:p>
          <a:p xmlns:a="http://schemas.openxmlformats.org/drawingml/2006/main">
            <a:r>
              <a:t>          "processing": "규정 검색과 집행 항목의 조건 비교",</a:t>
            </a:r>
          </a:p>
          <a:p xmlns:a="http://schemas.openxmlformats.org/drawingml/2006/main">
            <a:r>
              <a:t>          "output": "서식·증빙 목록"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"서식·증빙 목록",</a:t>
            </a:r>
          </a:p>
          <a:p xmlns:a="http://schemas.openxmlformats.org/drawingml/2006/main">
            <a:r>
              <a:t>          "processing": "근거·누락 항목·서식 초안의 담당자 검토",</a:t>
            </a:r>
          </a:p>
          <a:p xmlns:a="http://schemas.openxmlformats.org/drawingml/2006/main">
            <a:r>
              <a:t>          "output": "보완·검토 결과"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"오분류·증빙 누락과 검토 결과 추적",</a:t>
            </a:r>
          </a:p>
          <a:p xmlns:a="http://schemas.openxmlformats.org/drawingml/2006/main">
            <a:r>
              <a:t>          "output":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"오분류·증빙 누락과 검토 결과 추적",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"S-AX24",</a:t>
            </a:r>
          </a:p>
          <a:p xmlns:a="http://schemas.openxmlformats.org/drawingml/2006/main">
            <a:r>
              <a:t>        "title": "국가 R&amp;D 사업비 Risk 지원 · 공공AI 사례집 193–194쪽",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개발 사례",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"부처별 지침·증빙·검토 책임의 연결",</a:t>
            </a:r>
          </a:p>
          <a:p xmlns:a="http://schemas.openxmlformats.org/drawingml/2006/main">
            <a:r>
              <a:t>    "local": "민간 AI PMS와 TS 기관 내부 업무를 역할별 분리",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"연구비 집행 자료와 부처·사업별 지침을 연결해 상담·증빙·서식 작성을 지원하는 사례. 같은 지출 항목도 사업·협약연도에 따라 적용 기준이 다른 업무.",</a:t>
            </a:r>
          </a:p>
          <a:p xmlns:a="http://schemas.openxmlformats.org/drawingml/2006/main">
            <a:r>
              <a:t>      "부처·사업·협약기간·집행항목을 먼저 식별하고 해당 판본의 규정과 거래증빙을 대조하는 재구성. 누락 서류·예외 조건·서식 초안을 담당 검토자에게 전달하는 흐름.",</a:t>
            </a:r>
          </a:p>
          <a:p xmlns:a="http://schemas.openxmlformats.org/drawingml/2006/main">
            <a:r>
              <a:t>      "CCK AI PMS에 적용할 경우 지침 검색·양식 재사용과 적정 집행 판단을 분리. 사업 변경·연차 차이·증빙 누락 시험을 수행하고 요구사항·검수·제출 증빙의 추적에 연결할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"연구비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"과제 수행자·연구관리 담당",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"사업·협약·항목",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"부처·사업·협약기간·집행항목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"규정·증빙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"집행 내역",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"조건 비교·서식",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"규정 검색과 집행 항목의 조건 비교",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"판본·누락 검사",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"사업·판본별 의무와 예외 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"기관 검토자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"부처·사업·협약기간에 맞는 집행 조건과 증빙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"보완·집행 검토",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"근거·누락 항목·서식 초안의 담당자 검토",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"오분류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"오분류·증빙 누락과 검토 결과 추적",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"지침·거래 증빙",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"지침·증빙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"판본·항목 연결",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"법규·부처 지침·거래증빙의 판본 연결",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"집행·근거 기록",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"요건·거래·증빙·검토자 연결표와 누락 검출 결과",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"사업별 집행 기준",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"다른 부처 지침·기간 외 거래·중복 집행 증빙",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"부처·사업·협약기간·집행항목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"집행 내역",</a:t>
            </a:r>
          </a:p>
          <a:p xmlns:a="http://schemas.openxmlformats.org/drawingml/2006/main">
            <a:r>
              <a:t>          "check": "사업·판본별 의무와 예외 대사"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"적용 규정",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"다른 부처 지침·기간 외 거래·중복 집행 증빙"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"서식·증빙 목록",</a:t>
            </a:r>
          </a:p>
          <a:p xmlns:a="http://schemas.openxmlformats.org/drawingml/2006/main">
            <a:r>
              <a:t>          "check": "근거·누락 항목·서식 초안의 담당자 검토"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"보완·검토 결과",</a:t>
            </a:r>
          </a:p>
          <a:p xmlns:a="http://schemas.openxmlformats.org/drawingml/2006/main">
            <a:r>
              <a:t>          "check": "요건·거래·증빙·검토자 연결표와 누락 검출 결과"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"R&amp;D 사업비 문의와 증빙 정리 지원 / 규정 상담·집행자료·서식 생성",</a:t>
            </a:r>
          </a:p>
          <a:p xmlns:a="http://schemas.openxmlformats.org/drawingml/2006/main">
            <a:r>
              <a:t>        "extension": "민간 AI PMS와 TS 기관 내부 업무를 역할별 분리"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"다른 부처 지침·기간 외 거래·중복 집행 증빙",</a:t>
            </a:r>
          </a:p>
          <a:p xmlns:a="http://schemas.openxmlformats.org/drawingml/2006/main">
            <a:r>
              <a:t>        "hold": "사업·판본별 의무와 예외 대사",</a:t>
            </a:r>
          </a:p>
          <a:p xmlns:a="http://schemas.openxmlformats.org/drawingml/2006/main">
            <a:r>
              <a:t>        "recovery": "오분류·증빙 누락과 검토 결과 추적",</a:t>
            </a:r>
          </a:p>
          <a:p xmlns:a="http://schemas.openxmlformats.org/drawingml/2006/main">
            <a:r>
              <a:t>        "evidence": "요건·거래·증빙·검토자 연결표와 누락 검출 결과"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"지침·증빙 기록",</a:t>
            </a:r>
          </a:p>
          <a:p xmlns:a="http://schemas.openxmlformats.org/drawingml/2006/main">
            <a:r>
              <a:t>        "prepare": "법규·부처 지침·거래증빙의 판본 연결",</a:t>
            </a:r>
          </a:p>
          <a:p xmlns:a="http://schemas.openxmlformats.org/drawingml/2006/main">
            <a:r>
              <a:t>        "output": "집행 내역",</a:t>
            </a:r>
          </a:p>
          <a:p xmlns:a="http://schemas.openxmlformats.org/drawingml/2006/main">
            <a:r>
              <a:t>        "refresh": "오분류·증빙 누락과 검토 결과 추적"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"AX24",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"부처 지침과 집행 자료 연결",</a:t>
            </a:r>
          </a:p>
          <a:p xmlns:a="http://schemas.openxmlformats.org/drawingml/2006/main">
            <a:r>
              <a:t>      "서식·증빙을 검토 과정에 결합"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"부처·연차별 집행기준 혼용",</a:t>
            </a:r>
          </a:p>
          <a:p xmlns:a="http://schemas.openxmlformats.org/drawingml/2006/main">
            <a:r>
              <a:t>      "서식 생성과 적정 집행 판정의 혼동"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"연구비 집행 자료",</a:t>
            </a:r>
          </a:p>
          <a:p xmlns:a="http://schemas.openxmlformats.org/drawingml/2006/main">
            <a:r>
              <a:t>      "규정 검색·서식 구성",</a:t>
            </a:r>
          </a:p>
          <a:p xmlns:a="http://schemas.openxmlformats.org/drawingml/2006/main">
            <a:r>
              <a:t>      "지침·증빙 기록",</a:t>
            </a:r>
          </a:p>
          <a:p xmlns:a="http://schemas.openxmlformats.org/drawingml/2006/main">
            <a:r>
              <a:t>      "연구자·기관 검토자"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"집행 내역",</a:t>
            </a:r>
          </a:p>
          <a:p xmlns:a="http://schemas.openxmlformats.org/drawingml/2006/main">
            <a:r>
              <a:t>      "적용 규정",</a:t>
            </a:r>
          </a:p>
          <a:p xmlns:a="http://schemas.openxmlformats.org/drawingml/2006/main">
            <a:r>
              <a:t>      "서식·증빙 목록",</a:t>
            </a:r>
          </a:p>
          <a:p xmlns:a="http://schemas.openxmlformats.org/drawingml/2006/main">
            <a:r>
              <a:t>      "보완·검토 결과"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"사업·판본별 의무와 예외 대사",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국가 R&amp;D 사업비 Risk 지원 · 공공AI 사례집 193–194쪽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"title": "조달청 e-제안요청 도움",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"RFP 초안 작성 지원",</a:t>
            </a:r>
          </a:p>
          <a:p xmlns:a="http://schemas.openxmlformats.org/drawingml/2006/main">
            <a:r>
              <a:t>    "period": "2023 PoC / 2024 고도화",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"RFP 초안 작성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"제안요청서 목차별 초안 생성과 키워드 추출·사용자 검증을 결합한 실증 고도화",</a:t>
            </a:r>
          </a:p>
          <a:p xmlns:a="http://schemas.openxmlformats.org/drawingml/2006/main">
            <a:r>
              <a:t>    "limit": "작성 지원 범위 · 요구사항·예산의 자동 승인과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"기존 RFP",</a:t>
            </a:r>
          </a:p>
          <a:p xmlns:a="http://schemas.openxmlformats.org/drawingml/2006/main">
            <a:r>
              <a:t>      "목차·키워드 추출",</a:t>
            </a:r>
          </a:p>
          <a:p xmlns:a="http://schemas.openxmlformats.org/drawingml/2006/main">
            <a:r>
              <a:t>      "담당자 검증",</a:t>
            </a:r>
          </a:p>
          <a:p xmlns:a="http://schemas.openxmlformats.org/drawingml/2006/main">
            <a:r>
              <a:t>      "초안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"요구ID·원문·산출물·검수의 누락 검사",</a:t>
            </a:r>
          </a:p>
          <a:p xmlns:a="http://schemas.openxmlformats.org/drawingml/2006/main">
            <a:r>
              <a:t>    "test": "누락·중복·상충 요구 및 근거 없는 성능 목표 탐지",</a:t>
            </a:r>
          </a:p>
          <a:p xmlns:a="http://schemas.openxmlformats.org/drawingml/2006/main">
            <a:r>
              <a:t>    "metric": "작성·보완 시간 / 추적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"canonicalId": "AX25",</a:t>
            </a:r>
          </a:p>
          <a:p xmlns:a="http://schemas.openxmlformats.org/drawingml/2006/main">
            <a:r>
              <a:t>    "purpose": "공공 정보화사업 제안요청서 작성 지원",</a:t>
            </a:r>
          </a:p>
          <a:p xmlns:a="http://schemas.openxmlformats.org/drawingml/2006/main">
            <a:r>
              <a:t>    "users": "발주·사업관리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"목차 구성",</a:t>
            </a:r>
          </a:p>
          <a:p xmlns:a="http://schemas.openxmlformats.org/drawingml/2006/main">
            <a:r>
              <a:t>      "요구 초안",</a:t>
            </a:r>
          </a:p>
          <a:p xmlns:a="http://schemas.openxmlformats.org/drawingml/2006/main">
            <a:r>
              <a:t>      "사용자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"기존 RFP·수요",</a:t>
            </a:r>
          </a:p>
          <a:p xmlns:a="http://schemas.openxmlformats.org/drawingml/2006/main">
            <a:r>
              <a:t>        "detail": "사업 목적·범위·기존 시스템 입력",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"목차 구성 / 요구 초안 / 사용자 검증",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"목차·키워드 분석",</a:t>
            </a:r>
          </a:p>
          <a:p xmlns:a="http://schemas.openxmlformats.org/drawingml/2006/main">
            <a:r>
              <a:t>        "detail": "키워드 추출과 목차별 요구사항 초안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"발주 담당자",</a:t>
            </a:r>
          </a:p>
          <a:p xmlns:a="http://schemas.openxmlformats.org/drawingml/2006/main">
            <a:r>
              <a:t>        "detail": "담당자가 범위·중복·검수 가능성을 확인",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"요구·검수 자료",</a:t>
            </a:r>
          </a:p>
          <a:p xmlns:a="http://schemas.openxmlformats.org/drawingml/2006/main">
            <a:r>
              <a:t>        "detail": "관련 지침·양식·기존 요구사항의 출처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"수정 이력과 요구사항·검수 연결 누락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RFP",</a:t>
            </a:r>
          </a:p>
          <a:p xmlns:a="http://schemas.openxmlformats.org/drawingml/2006/main">
            <a:r>
              <a:t>        "input": "사업 목적·범위·기존 시스템 입력",</a:t>
            </a:r>
          </a:p>
          <a:p xmlns:a="http://schemas.openxmlformats.org/drawingml/2006/main">
            <a:r>
              <a:t>        "process": "관련 지침·양식·기존 요구사항의 출처 관리",</a:t>
            </a:r>
          </a:p>
          <a:p xmlns:a="http://schemas.openxmlformats.org/drawingml/2006/main">
            <a:r>
              <a:t>        "output": "기존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"목차·키워드 추출",</a:t>
            </a:r>
          </a:p>
          <a:p xmlns:a="http://schemas.openxmlformats.org/drawingml/2006/main">
            <a:r>
              <a:t>        "input": "기존 문서",</a:t>
            </a:r>
          </a:p>
          <a:p xmlns:a="http://schemas.openxmlformats.org/drawingml/2006/main">
            <a:r>
              <a:t>        "process": "키워드 추출과 목차별 요구사항 초안 생성",</a:t>
            </a:r>
          </a:p>
          <a:p xmlns:a="http://schemas.openxmlformats.org/drawingml/2006/main">
            <a:r>
              <a:t>        "output": "요구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검증",</a:t>
            </a:r>
          </a:p>
          <a:p xmlns:a="http://schemas.openxmlformats.org/drawingml/2006/main">
            <a:r>
              <a:t>        "input": "요구 후보",</a:t>
            </a:r>
          </a:p>
          <a:p xmlns:a="http://schemas.openxmlformats.org/drawingml/2006/main">
            <a:r>
              <a:t>        "process": "사업 범위·기존 의무·검수 연결 확인",</a:t>
            </a:r>
          </a:p>
          <a:p xmlns:a="http://schemas.openxmlformats.org/drawingml/2006/main">
            <a:r>
              <a:t>        "output": "검증된 목차"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 구성",</a:t>
            </a:r>
          </a:p>
          <a:p xmlns:a="http://schemas.openxmlformats.org/drawingml/2006/main">
            <a:r>
              <a:t>        "input": "검증된 목차",</a:t>
            </a:r>
          </a:p>
          <a:p xmlns:a="http://schemas.openxmlformats.org/drawingml/2006/main">
            <a:r>
              <a:t>        "process": "담당자가 범위·중복·검수 가능성을 확인",</a:t>
            </a:r>
          </a:p>
          <a:p xmlns:a="http://schemas.openxmlformats.org/drawingml/2006/main">
            <a:r>
              <a:t>        "output": "RFP 초안"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 범위에 맞는 RFP 요구와 검수 초안 구성",</a:t>
            </a:r>
          </a:p>
          <a:p xmlns:a="http://schemas.openxmlformats.org/drawingml/2006/main">
            <a:r>
              <a:t>      "exception": "기존 계약 중복·수치 근거 부재·검수 불가능 요구",</a:t>
            </a:r>
          </a:p>
          <a:p xmlns:a="http://schemas.openxmlformats.org/drawingml/2006/main">
            <a:r>
              <a:t>      "evidence": "요구사항별 범위·출처·검수 연결 및 담당자 수정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"발주·사업관리 담당자",</a:t>
            </a:r>
          </a:p>
          <a:p xmlns:a="http://schemas.openxmlformats.org/drawingml/2006/main">
            <a:r>
              <a:t>          "processing": "사업 목적·범위·기존 시스템 입력",</a:t>
            </a:r>
          </a:p>
          <a:p xmlns:a="http://schemas.openxmlformats.org/drawingml/2006/main">
            <a:r>
              <a:t>          "output": "기존 문서"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"요구·검수 자료",</a:t>
            </a:r>
          </a:p>
          <a:p xmlns:a="http://schemas.openxmlformats.org/drawingml/2006/main">
            <a:r>
              <a:t>          "processing": "관련 지침·양식·기존 요구사항의 출처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"기존 문서",</a:t>
            </a:r>
          </a:p>
          <a:p xmlns:a="http://schemas.openxmlformats.org/drawingml/2006/main">
            <a:r>
              <a:t>          "processing": "키워드 추출과 목차별 요구사항 초안 생성",</a:t>
            </a:r>
          </a:p>
          <a:p xmlns:a="http://schemas.openxmlformats.org/drawingml/2006/main">
            <a:r>
              <a:t>          "output": "검증된 목차"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"검증된 목차",</a:t>
            </a:r>
          </a:p>
          <a:p xmlns:a="http://schemas.openxmlformats.org/drawingml/2006/main">
            <a:r>
              <a:t>          "processing": "담당자가 범위·중복·검수 가능성을 확인",</a:t>
            </a:r>
          </a:p>
          <a:p xmlns:a="http://schemas.openxmlformats.org/drawingml/2006/main">
            <a:r>
              <a:t>          "output": "RFP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"수정 이력과 요구사항·검수 연결 누락 검사",</a:t>
            </a:r>
          </a:p>
          <a:p xmlns:a="http://schemas.openxmlformats.org/drawingml/2006/main">
            <a:r>
              <a:t>          "output":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"수정 이력과 요구사항·검수 연결 누락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"S-AX25",</a:t>
            </a:r>
          </a:p>
          <a:p xmlns:a="http://schemas.openxmlformats.org/drawingml/2006/main">
            <a:r>
              <a:t>        "title": "조달청 e-제안요청 도움 · 공공AI 사례집 218–219쪽",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PoC / 2024 고도화",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RFP와 사업 수요를 분석해 목차·키워드·요구사항 초안을 만드는 지원 사례. 과거 문서를 재활용하면서 신규 범위와 기존 의무의 중복을 피하는 작업이 핵심.",</a:t>
            </a:r>
          </a:p>
          <a:p xmlns:a="http://schemas.openxmlformats.org/drawingml/2006/main">
            <a:r>
              <a:t>      "사업 목적·현재 시스템·추가 개발 범위를 입력하고 목차별 요구 후보를 구성하는 재구성. 담당자가 출처·누락·중복·검수 가능성을 확인한 뒤 요구 ID와 시험 항목을 연결.",</a:t>
            </a:r>
          </a:p>
          <a:p xmlns:a="http://schemas.openxmlformats.org/drawingml/2006/main">
            <a:r>
              <a:t>      "CCK 제안·사업관리 스킬에서는 문서 생성보다 근거와 요구·검수의 추적을 공통 기능으로 활용. 기존 과업 복사, 빈 검수기준, 법령 판본 혼용을 포함한 검토 시나리오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"RFP 작성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"발주·사업관리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"목적·범위·기존",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"사업 목적·범위·기존 시스템 입력",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"지침·요구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"기존 문서",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"목차·초안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"키워드 추출과 목차별 요구사항 초안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"중복·누락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 범위·기존 의무·검수 연결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"발주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 범위에 맞는 RFP 요구와 검수 초안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"요구·검수 명세",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"담당자가 범위·중복·검수 가능성을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"수정 이력과 요구사항·검수 연결 누락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"기존 RFP·수요",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"요구·검수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"목차·ID 구조화",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"관련 지침·양식·기존 요구사항의 출처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"요구·검수 원장",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"요구사항별 범위·출처·검수 연결 및 담당자 수정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"기존 의무·범위",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"기존 계약 중복·수치 근거 부재·검수 불가능 요구",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"사업 목적·범위·기존 시스템 입력",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"기존 문서",</a:t>
            </a:r>
          </a:p>
          <a:p xmlns:a="http://schemas.openxmlformats.org/drawingml/2006/main">
            <a:r>
              <a:t>          "check": "사업 범위·기존 의무·검수 연결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"요구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"기존 계약 중복·수치 근거 부재·검수 불가능 요구"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"담당자가 범위·중복·검수 가능성을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"RFP 초안",</a:t>
            </a:r>
          </a:p>
          <a:p xmlns:a="http://schemas.openxmlformats.org/drawingml/2006/main">
            <a:r>
              <a:t>          "check":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"공공 정보화사업 제안요청서 작성 지원 / 목차 구성·요구 초안·사용자 검증",</a:t>
            </a:r>
          </a:p>
          <a:p xmlns:a="http://schemas.openxmlformats.org/drawingml/2006/main">
            <a:r>
              <a:t>        "extension": "TS 고도화의 재사용·추가 개발·검수 추적 지원"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"기존 계약 중복·수치 근거 부재·검수 불가능 요구",</a:t>
            </a:r>
          </a:p>
          <a:p xmlns:a="http://schemas.openxmlformats.org/drawingml/2006/main">
            <a:r>
              <a:t>        "hold": "사업 범위·기존 의무·검수 연결 확인",</a:t>
            </a:r>
          </a:p>
          <a:p xmlns:a="http://schemas.openxmlformats.org/drawingml/2006/main">
            <a:r>
              <a:t>        "recovery": "수정 이력과 요구사항·검수 연결 누락 검사",</a:t>
            </a:r>
          </a:p>
          <a:p xmlns:a="http://schemas.openxmlformats.org/drawingml/2006/main">
            <a:r>
              <a:t>        "evidence": "요구사항별 범위·출처·검수 연결 및 담당자 수정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"요구·검수 자료",</a:t>
            </a:r>
          </a:p>
          <a:p xmlns:a="http://schemas.openxmlformats.org/drawingml/2006/main">
            <a:r>
              <a:t>        "prepare": "관련 지침·양식·기존 요구사항의 출처 관리",</a:t>
            </a:r>
          </a:p>
          <a:p xmlns:a="http://schemas.openxmlformats.org/drawingml/2006/main">
            <a:r>
              <a:t>        "output": "기존 문서",</a:t>
            </a:r>
          </a:p>
          <a:p xmlns:a="http://schemas.openxmlformats.org/drawingml/2006/main">
            <a:r>
              <a:t>        "refresh": "수정 이력과 요구사항·검수 연결 누락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"RFP 목차·키워드의 구조화",</a:t>
            </a:r>
          </a:p>
          <a:p xmlns:a="http://schemas.openxmlformats.org/drawingml/2006/main">
            <a:r>
              <a:t>      "사용자 검증을 통한 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"과거 과업의 무비판적 재사용",</a:t>
            </a:r>
          </a:p>
          <a:p xmlns:a="http://schemas.openxmlformats.org/drawingml/2006/main">
            <a:r>
              <a:t>      "필수 요구·검수 항목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"기존 RFP·수요",</a:t>
            </a:r>
          </a:p>
          <a:p xmlns:a="http://schemas.openxmlformats.org/drawingml/2006/main">
            <a:r>
              <a:t>      "목차·키워드 분석",</a:t>
            </a:r>
          </a:p>
          <a:p xmlns:a="http://schemas.openxmlformats.org/drawingml/2006/main">
            <a:r>
              <a:t>      "요구·검수 자료",</a:t>
            </a:r>
          </a:p>
          <a:p xmlns:a="http://schemas.openxmlformats.org/drawingml/2006/main">
            <a:r>
              <a:t>      "발주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"기존 문서",</a:t>
            </a:r>
          </a:p>
          <a:p xmlns:a="http://schemas.openxmlformats.org/drawingml/2006/main">
            <a:r>
              <a:t>      "요구 후보",</a:t>
            </a:r>
          </a:p>
          <a:p xmlns:a="http://schemas.openxmlformats.org/drawingml/2006/main">
            <a:r>
              <a:t>      "검증된 목차",</a:t>
            </a:r>
          </a:p>
          <a:p xmlns:a="http://schemas.openxmlformats.org/drawingml/2006/main">
            <a:r>
              <a:t>      "RFP 초안"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 범위·기존 의무·검수 연결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조달청 e-제안요청 도움 · 공공AI 사례집 218–219쪽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https://heen1987-ops.github.io/TS-business-Plan-001/index.html?view=casebook&amp;case=AX25</a:t>
            </a:r>
          </a:p>
          <a:p xmlns:a="http://schemas.openxmlformats.org/drawingml/2006/main">
            <a:r>
              <a:t>한계: 작성 지원 범위 · 요구사항·예산의 자동 승인과 구분</a:t>
            </a:r>
          </a:p>
          <a:p xmlns:a="http://schemas.openxmlformats.org/drawingml/2006/main">
            <a:r>
              <a:t>실패 위험: 과거 과업의 무비판적 재사용 / 필수 요구·검수 항목 누락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"title": "조달청 e-제안요청 도움",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"RFP 초안 작성 지원",</a:t>
            </a:r>
          </a:p>
          <a:p xmlns:a="http://schemas.openxmlformats.org/drawingml/2006/main">
            <a:r>
              <a:t>    "period": "2023 PoC / 2024 고도화",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"RFP 초안 작성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"제안요청서 목차별 초안 생성과 키워드 추출·사용자 검증을 결합한 실증 고도화",</a:t>
            </a:r>
          </a:p>
          <a:p xmlns:a="http://schemas.openxmlformats.org/drawingml/2006/main">
            <a:r>
              <a:t>    "limit": "작성 지원 범위 · 요구사항·예산의 자동 승인과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"기존 RFP",</a:t>
            </a:r>
          </a:p>
          <a:p xmlns:a="http://schemas.openxmlformats.org/drawingml/2006/main">
            <a:r>
              <a:t>      "목차·키워드 추출",</a:t>
            </a:r>
          </a:p>
          <a:p xmlns:a="http://schemas.openxmlformats.org/drawingml/2006/main">
            <a:r>
              <a:t>      "담당자 검증",</a:t>
            </a:r>
          </a:p>
          <a:p xmlns:a="http://schemas.openxmlformats.org/drawingml/2006/main">
            <a:r>
              <a:t>      "초안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"요구ID·원문·산출물·검수의 누락 검사",</a:t>
            </a:r>
          </a:p>
          <a:p xmlns:a="http://schemas.openxmlformats.org/drawingml/2006/main">
            <a:r>
              <a:t>    "test": "누락·중복·상충 요구 및 근거 없는 성능 목표 탐지",</a:t>
            </a:r>
          </a:p>
          <a:p xmlns:a="http://schemas.openxmlformats.org/drawingml/2006/main">
            <a:r>
              <a:t>    "metric": "작성·보완 시간 / 추적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"canonicalId": "AX25",</a:t>
            </a:r>
          </a:p>
          <a:p xmlns:a="http://schemas.openxmlformats.org/drawingml/2006/main">
            <a:r>
              <a:t>    "purpose": "공공 정보화사업 제안요청서 작성 지원",</a:t>
            </a:r>
          </a:p>
          <a:p xmlns:a="http://schemas.openxmlformats.org/drawingml/2006/main">
            <a:r>
              <a:t>    "users": "발주·사업관리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"목차 구성",</a:t>
            </a:r>
          </a:p>
          <a:p xmlns:a="http://schemas.openxmlformats.org/drawingml/2006/main">
            <a:r>
              <a:t>      "요구 초안",</a:t>
            </a:r>
          </a:p>
          <a:p xmlns:a="http://schemas.openxmlformats.org/drawingml/2006/main">
            <a:r>
              <a:t>      "사용자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"기존 RFP·수요",</a:t>
            </a:r>
          </a:p>
          <a:p xmlns:a="http://schemas.openxmlformats.org/drawingml/2006/main">
            <a:r>
              <a:t>        "detail": "사업 목적·범위·기존 시스템 입력",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"목차 구성 / 요구 초안 / 사용자 검증",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"목차·키워드 분석",</a:t>
            </a:r>
          </a:p>
          <a:p xmlns:a="http://schemas.openxmlformats.org/drawingml/2006/main">
            <a:r>
              <a:t>        "detail": "키워드 추출과 목차별 요구사항 초안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"발주 담당자",</a:t>
            </a:r>
          </a:p>
          <a:p xmlns:a="http://schemas.openxmlformats.org/drawingml/2006/main">
            <a:r>
              <a:t>        "detail": "담당자가 범위·중복·검수 가능성을 확인",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"요구·검수 자료",</a:t>
            </a:r>
          </a:p>
          <a:p xmlns:a="http://schemas.openxmlformats.org/drawingml/2006/main">
            <a:r>
              <a:t>        "detail": "관련 지침·양식·기존 요구사항의 출처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"수정 이력과 요구사항·검수 연결 누락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RFP",</a:t>
            </a:r>
          </a:p>
          <a:p xmlns:a="http://schemas.openxmlformats.org/drawingml/2006/main">
            <a:r>
              <a:t>        "input": "사업 목적·범위·기존 시스템 입력",</a:t>
            </a:r>
          </a:p>
          <a:p xmlns:a="http://schemas.openxmlformats.org/drawingml/2006/main">
            <a:r>
              <a:t>        "process": "관련 지침·양식·기존 요구사항의 출처 관리",</a:t>
            </a:r>
          </a:p>
          <a:p xmlns:a="http://schemas.openxmlformats.org/drawingml/2006/main">
            <a:r>
              <a:t>        "output": "기존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"목차·키워드 추출",</a:t>
            </a:r>
          </a:p>
          <a:p xmlns:a="http://schemas.openxmlformats.org/drawingml/2006/main">
            <a:r>
              <a:t>        "input": "기존 문서",</a:t>
            </a:r>
          </a:p>
          <a:p xmlns:a="http://schemas.openxmlformats.org/drawingml/2006/main">
            <a:r>
              <a:t>        "process": "키워드 추출과 목차별 요구사항 초안 생성",</a:t>
            </a:r>
          </a:p>
          <a:p xmlns:a="http://schemas.openxmlformats.org/drawingml/2006/main">
            <a:r>
              <a:t>        "output": "요구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검증",</a:t>
            </a:r>
          </a:p>
          <a:p xmlns:a="http://schemas.openxmlformats.org/drawingml/2006/main">
            <a:r>
              <a:t>        "input": "요구 후보",</a:t>
            </a:r>
          </a:p>
          <a:p xmlns:a="http://schemas.openxmlformats.org/drawingml/2006/main">
            <a:r>
              <a:t>        "process": "사업 범위·기존 의무·검수 연결 확인",</a:t>
            </a:r>
          </a:p>
          <a:p xmlns:a="http://schemas.openxmlformats.org/drawingml/2006/main">
            <a:r>
              <a:t>        "output": "검증된 목차"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 구성",</a:t>
            </a:r>
          </a:p>
          <a:p xmlns:a="http://schemas.openxmlformats.org/drawingml/2006/main">
            <a:r>
              <a:t>        "input": "검증된 목차",</a:t>
            </a:r>
          </a:p>
          <a:p xmlns:a="http://schemas.openxmlformats.org/drawingml/2006/main">
            <a:r>
              <a:t>        "process": "담당자가 범위·중복·검수 가능성을 확인",</a:t>
            </a:r>
          </a:p>
          <a:p xmlns:a="http://schemas.openxmlformats.org/drawingml/2006/main">
            <a:r>
              <a:t>        "output": "RFP 초안"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 범위에 맞는 RFP 요구와 검수 초안 구성",</a:t>
            </a:r>
          </a:p>
          <a:p xmlns:a="http://schemas.openxmlformats.org/drawingml/2006/main">
            <a:r>
              <a:t>      "exception": "기존 계약 중복·수치 근거 부재·검수 불가능 요구",</a:t>
            </a:r>
          </a:p>
          <a:p xmlns:a="http://schemas.openxmlformats.org/drawingml/2006/main">
            <a:r>
              <a:t>      "evidence": "요구사항별 범위·출처·검수 연결 및 담당자 수정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"발주·사업관리 담당자",</a:t>
            </a:r>
          </a:p>
          <a:p xmlns:a="http://schemas.openxmlformats.org/drawingml/2006/main">
            <a:r>
              <a:t>          "processing": "사업 목적·범위·기존 시스템 입력",</a:t>
            </a:r>
          </a:p>
          <a:p xmlns:a="http://schemas.openxmlformats.org/drawingml/2006/main">
            <a:r>
              <a:t>          "output": "기존 문서"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"요구·검수 자료",</a:t>
            </a:r>
          </a:p>
          <a:p xmlns:a="http://schemas.openxmlformats.org/drawingml/2006/main">
            <a:r>
              <a:t>          "processing": "관련 지침·양식·기존 요구사항의 출처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"기존 문서",</a:t>
            </a:r>
          </a:p>
          <a:p xmlns:a="http://schemas.openxmlformats.org/drawingml/2006/main">
            <a:r>
              <a:t>          "processing": "키워드 추출과 목차별 요구사항 초안 생성",</a:t>
            </a:r>
          </a:p>
          <a:p xmlns:a="http://schemas.openxmlformats.org/drawingml/2006/main">
            <a:r>
              <a:t>          "output": "검증된 목차"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"검증된 목차",</a:t>
            </a:r>
          </a:p>
          <a:p xmlns:a="http://schemas.openxmlformats.org/drawingml/2006/main">
            <a:r>
              <a:t>          "processing": "담당자가 범위·중복·검수 가능성을 확인",</a:t>
            </a:r>
          </a:p>
          <a:p xmlns:a="http://schemas.openxmlformats.org/drawingml/2006/main">
            <a:r>
              <a:t>          "output": "RFP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"수정 이력과 요구사항·검수 연결 누락 검사",</a:t>
            </a:r>
          </a:p>
          <a:p xmlns:a="http://schemas.openxmlformats.org/drawingml/2006/main">
            <a:r>
              <a:t>          "output":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"수정 이력과 요구사항·검수 연결 누락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"S-AX25",</a:t>
            </a:r>
          </a:p>
          <a:p xmlns:a="http://schemas.openxmlformats.org/drawingml/2006/main">
            <a:r>
              <a:t>        "title": "조달청 e-제안요청 도움 · 공공AI 사례집 218–219쪽",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PoC / 2024 고도화",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RFP와 사업 수요를 분석해 목차·키워드·요구사항 초안을 만드는 지원 사례. 과거 문서를 재활용하면서 신규 범위와 기존 의무의 중복을 피하는 작업이 핵심.",</a:t>
            </a:r>
          </a:p>
          <a:p xmlns:a="http://schemas.openxmlformats.org/drawingml/2006/main">
            <a:r>
              <a:t>      "사업 목적·현재 시스템·추가 개발 범위를 입력하고 목차별 요구 후보를 구성하는 재구성. 담당자가 출처·누락·중복·검수 가능성을 확인한 뒤 요구 ID와 시험 항목을 연결.",</a:t>
            </a:r>
          </a:p>
          <a:p xmlns:a="http://schemas.openxmlformats.org/drawingml/2006/main">
            <a:r>
              <a:t>      "CCK 제안·사업관리 스킬에서는 문서 생성보다 근거와 요구·검수의 추적을 공통 기능으로 활용. 기존 과업 복사, 빈 검수기준, 법령 판본 혼용을 포함한 검토 시나리오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"RFP 작성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"발주·사업관리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"목적·범위·기존",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"사업 목적·범위·기존 시스템 입력",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"지침·요구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"기존 문서",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"목차·초안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"키워드 추출과 목차별 요구사항 초안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"중복·누락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 범위·기존 의무·검수 연결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"발주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 범위에 맞는 RFP 요구와 검수 초안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"요구·검수 명세",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"담당자가 범위·중복·검수 가능성을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"수정 이력과 요구사항·검수 연결 누락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"기존 RFP·수요",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"요구·검수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"목차·ID 구조화",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"관련 지침·양식·기존 요구사항의 출처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"요구·검수 원장",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"요구사항별 범위·출처·검수 연결 및 담당자 수정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"기존 의무·범위",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"기존 계약 중복·수치 근거 부재·검수 불가능 요구",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"사업 목적·범위·기존 시스템 입력",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"기존 문서",</a:t>
            </a:r>
          </a:p>
          <a:p xmlns:a="http://schemas.openxmlformats.org/drawingml/2006/main">
            <a:r>
              <a:t>          "check": "사업 범위·기존 의무·검수 연결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"요구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"기존 계약 중복·수치 근거 부재·검수 불가능 요구"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"담당자가 범위·중복·검수 가능성을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"RFP 초안",</a:t>
            </a:r>
          </a:p>
          <a:p xmlns:a="http://schemas.openxmlformats.org/drawingml/2006/main">
            <a:r>
              <a:t>          "check":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"공공 정보화사업 제안요청서 작성 지원 / 목차 구성·요구 초안·사용자 검증",</a:t>
            </a:r>
          </a:p>
          <a:p xmlns:a="http://schemas.openxmlformats.org/drawingml/2006/main">
            <a:r>
              <a:t>        "extension": "TS 고도화의 재사용·추가 개발·검수 추적 지원"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"기존 계약 중복·수치 근거 부재·검수 불가능 요구",</a:t>
            </a:r>
          </a:p>
          <a:p xmlns:a="http://schemas.openxmlformats.org/drawingml/2006/main">
            <a:r>
              <a:t>        "hold": "사업 범위·기존 의무·검수 연결 확인",</a:t>
            </a:r>
          </a:p>
          <a:p xmlns:a="http://schemas.openxmlformats.org/drawingml/2006/main">
            <a:r>
              <a:t>        "recovery": "수정 이력과 요구사항·검수 연결 누락 검사",</a:t>
            </a:r>
          </a:p>
          <a:p xmlns:a="http://schemas.openxmlformats.org/drawingml/2006/main">
            <a:r>
              <a:t>        "evidence": "요구사항별 범위·출처·검수 연결 및 담당자 수정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"요구·검수 자료",</a:t>
            </a:r>
          </a:p>
          <a:p xmlns:a="http://schemas.openxmlformats.org/drawingml/2006/main">
            <a:r>
              <a:t>        "prepare": "관련 지침·양식·기존 요구사항의 출처 관리",</a:t>
            </a:r>
          </a:p>
          <a:p xmlns:a="http://schemas.openxmlformats.org/drawingml/2006/main">
            <a:r>
              <a:t>        "output": "기존 문서",</a:t>
            </a:r>
          </a:p>
          <a:p xmlns:a="http://schemas.openxmlformats.org/drawingml/2006/main">
            <a:r>
              <a:t>        "refresh": "수정 이력과 요구사항·검수 연결 누락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"RFP 목차·키워드의 구조화",</a:t>
            </a:r>
          </a:p>
          <a:p xmlns:a="http://schemas.openxmlformats.org/drawingml/2006/main">
            <a:r>
              <a:t>      "사용자 검증을 통한 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"과거 과업의 무비판적 재사용",</a:t>
            </a:r>
          </a:p>
          <a:p xmlns:a="http://schemas.openxmlformats.org/drawingml/2006/main">
            <a:r>
              <a:t>      "필수 요구·검수 항목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"기존 RFP·수요",</a:t>
            </a:r>
          </a:p>
          <a:p xmlns:a="http://schemas.openxmlformats.org/drawingml/2006/main">
            <a:r>
              <a:t>      "목차·키워드 분석",</a:t>
            </a:r>
          </a:p>
          <a:p xmlns:a="http://schemas.openxmlformats.org/drawingml/2006/main">
            <a:r>
              <a:t>      "요구·검수 자료",</a:t>
            </a:r>
          </a:p>
          <a:p xmlns:a="http://schemas.openxmlformats.org/drawingml/2006/main">
            <a:r>
              <a:t>      "발주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"기존 문서",</a:t>
            </a:r>
          </a:p>
          <a:p xmlns:a="http://schemas.openxmlformats.org/drawingml/2006/main">
            <a:r>
              <a:t>      "요구 후보",</a:t>
            </a:r>
          </a:p>
          <a:p xmlns:a="http://schemas.openxmlformats.org/drawingml/2006/main">
            <a:r>
              <a:t>      "검증된 목차",</a:t>
            </a:r>
          </a:p>
          <a:p xmlns:a="http://schemas.openxmlformats.org/drawingml/2006/main">
            <a:r>
              <a:t>      "RFP 초안"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 범위·기존 의무·검수 연결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조달청 e-제안요청 도움 · 공공AI 사례집 218–219쪽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"title": "조달청 e-제안요청 도움",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"RFP 초안 작성 지원",</a:t>
            </a:r>
          </a:p>
          <a:p xmlns:a="http://schemas.openxmlformats.org/drawingml/2006/main">
            <a:r>
              <a:t>    "period": "2023 PoC / 2024 고도화",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"RFP 초안 작성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"제안요청서 목차별 초안 생성과 키워드 추출·사용자 검증을 결합한 실증 고도화",</a:t>
            </a:r>
          </a:p>
          <a:p xmlns:a="http://schemas.openxmlformats.org/drawingml/2006/main">
            <a:r>
              <a:t>    "limit": "작성 지원 범위 · 요구사항·예산의 자동 승인과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"기존 RFP",</a:t>
            </a:r>
          </a:p>
          <a:p xmlns:a="http://schemas.openxmlformats.org/drawingml/2006/main">
            <a:r>
              <a:t>      "목차·키워드 추출",</a:t>
            </a:r>
          </a:p>
          <a:p xmlns:a="http://schemas.openxmlformats.org/drawingml/2006/main">
            <a:r>
              <a:t>      "담당자 검증",</a:t>
            </a:r>
          </a:p>
          <a:p xmlns:a="http://schemas.openxmlformats.org/drawingml/2006/main">
            <a:r>
              <a:t>      "초안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"요구ID·원문·산출물·검수의 누락 검사",</a:t>
            </a:r>
          </a:p>
          <a:p xmlns:a="http://schemas.openxmlformats.org/drawingml/2006/main">
            <a:r>
              <a:t>    "test": "누락·중복·상충 요구 및 근거 없는 성능 목표 탐지",</a:t>
            </a:r>
          </a:p>
          <a:p xmlns:a="http://schemas.openxmlformats.org/drawingml/2006/main">
            <a:r>
              <a:t>    "metric": "작성·보완 시간 / 추적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"canonicalId": "AX25",</a:t>
            </a:r>
          </a:p>
          <a:p xmlns:a="http://schemas.openxmlformats.org/drawingml/2006/main">
            <a:r>
              <a:t>    "purpose": "공공 정보화사업 제안요청서 작성 지원",</a:t>
            </a:r>
          </a:p>
          <a:p xmlns:a="http://schemas.openxmlformats.org/drawingml/2006/main">
            <a:r>
              <a:t>    "users": "발주·사업관리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"목차 구성",</a:t>
            </a:r>
          </a:p>
          <a:p xmlns:a="http://schemas.openxmlformats.org/drawingml/2006/main">
            <a:r>
              <a:t>      "요구 초안",</a:t>
            </a:r>
          </a:p>
          <a:p xmlns:a="http://schemas.openxmlformats.org/drawingml/2006/main">
            <a:r>
              <a:t>      "사용자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"기존 RFP·수요",</a:t>
            </a:r>
          </a:p>
          <a:p xmlns:a="http://schemas.openxmlformats.org/drawingml/2006/main">
            <a:r>
              <a:t>        "detail": "사업 목적·범위·기존 시스템 입력",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"목차 구성 / 요구 초안 / 사용자 검증",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"목차·키워드 분석",</a:t>
            </a:r>
          </a:p>
          <a:p xmlns:a="http://schemas.openxmlformats.org/drawingml/2006/main">
            <a:r>
              <a:t>        "detail": "키워드 추출과 목차별 요구사항 초안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"발주 담당자",</a:t>
            </a:r>
          </a:p>
          <a:p xmlns:a="http://schemas.openxmlformats.org/drawingml/2006/main">
            <a:r>
              <a:t>        "detail": "담당자가 범위·중복·검수 가능성을 확인",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"요구·검수 자료",</a:t>
            </a:r>
          </a:p>
          <a:p xmlns:a="http://schemas.openxmlformats.org/drawingml/2006/main">
            <a:r>
              <a:t>        "detail": "관련 지침·양식·기존 요구사항의 출처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"수정 이력과 요구사항·검수 연결 누락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RFP",</a:t>
            </a:r>
          </a:p>
          <a:p xmlns:a="http://schemas.openxmlformats.org/drawingml/2006/main">
            <a:r>
              <a:t>        "input": "사업 목적·범위·기존 시스템 입력",</a:t>
            </a:r>
          </a:p>
          <a:p xmlns:a="http://schemas.openxmlformats.org/drawingml/2006/main">
            <a:r>
              <a:t>        "process": "관련 지침·양식·기존 요구사항의 출처 관리",</a:t>
            </a:r>
          </a:p>
          <a:p xmlns:a="http://schemas.openxmlformats.org/drawingml/2006/main">
            <a:r>
              <a:t>        "output": "기존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"목차·키워드 추출",</a:t>
            </a:r>
          </a:p>
          <a:p xmlns:a="http://schemas.openxmlformats.org/drawingml/2006/main">
            <a:r>
              <a:t>        "input": "기존 문서",</a:t>
            </a:r>
          </a:p>
          <a:p xmlns:a="http://schemas.openxmlformats.org/drawingml/2006/main">
            <a:r>
              <a:t>        "process": "키워드 추출과 목차별 요구사항 초안 생성",</a:t>
            </a:r>
          </a:p>
          <a:p xmlns:a="http://schemas.openxmlformats.org/drawingml/2006/main">
            <a:r>
              <a:t>        "output": "요구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검증",</a:t>
            </a:r>
          </a:p>
          <a:p xmlns:a="http://schemas.openxmlformats.org/drawingml/2006/main">
            <a:r>
              <a:t>        "input": "요구 후보",</a:t>
            </a:r>
          </a:p>
          <a:p xmlns:a="http://schemas.openxmlformats.org/drawingml/2006/main">
            <a:r>
              <a:t>        "process": "사업 범위·기존 의무·검수 연결 확인",</a:t>
            </a:r>
          </a:p>
          <a:p xmlns:a="http://schemas.openxmlformats.org/drawingml/2006/main">
            <a:r>
              <a:t>        "output": "검증된 목차"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 구성",</a:t>
            </a:r>
          </a:p>
          <a:p xmlns:a="http://schemas.openxmlformats.org/drawingml/2006/main">
            <a:r>
              <a:t>        "input": "검증된 목차",</a:t>
            </a:r>
          </a:p>
          <a:p xmlns:a="http://schemas.openxmlformats.org/drawingml/2006/main">
            <a:r>
              <a:t>        "process": "담당자가 범위·중복·검수 가능성을 확인",</a:t>
            </a:r>
          </a:p>
          <a:p xmlns:a="http://schemas.openxmlformats.org/drawingml/2006/main">
            <a:r>
              <a:t>        "output": "RFP 초안"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 범위에 맞는 RFP 요구와 검수 초안 구성",</a:t>
            </a:r>
          </a:p>
          <a:p xmlns:a="http://schemas.openxmlformats.org/drawingml/2006/main">
            <a:r>
              <a:t>      "exception": "기존 계약 중복·수치 근거 부재·검수 불가능 요구",</a:t>
            </a:r>
          </a:p>
          <a:p xmlns:a="http://schemas.openxmlformats.org/drawingml/2006/main">
            <a:r>
              <a:t>      "evidence": "요구사항별 범위·출처·검수 연결 및 담당자 수정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"발주·사업관리 담당자",</a:t>
            </a:r>
          </a:p>
          <a:p xmlns:a="http://schemas.openxmlformats.org/drawingml/2006/main">
            <a:r>
              <a:t>          "processing": "사업 목적·범위·기존 시스템 입력",</a:t>
            </a:r>
          </a:p>
          <a:p xmlns:a="http://schemas.openxmlformats.org/drawingml/2006/main">
            <a:r>
              <a:t>          "output": "기존 문서"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"요구·검수 자료",</a:t>
            </a:r>
          </a:p>
          <a:p xmlns:a="http://schemas.openxmlformats.org/drawingml/2006/main">
            <a:r>
              <a:t>          "processing": "관련 지침·양식·기존 요구사항의 출처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"기존 문서",</a:t>
            </a:r>
          </a:p>
          <a:p xmlns:a="http://schemas.openxmlformats.org/drawingml/2006/main">
            <a:r>
              <a:t>          "processing": "키워드 추출과 목차별 요구사항 초안 생성",</a:t>
            </a:r>
          </a:p>
          <a:p xmlns:a="http://schemas.openxmlformats.org/drawingml/2006/main">
            <a:r>
              <a:t>          "output": "검증된 목차"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"검증된 목차",</a:t>
            </a:r>
          </a:p>
          <a:p xmlns:a="http://schemas.openxmlformats.org/drawingml/2006/main">
            <a:r>
              <a:t>          "processing": "담당자가 범위·중복·검수 가능성을 확인",</a:t>
            </a:r>
          </a:p>
          <a:p xmlns:a="http://schemas.openxmlformats.org/drawingml/2006/main">
            <a:r>
              <a:t>          "output": "RFP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"수정 이력과 요구사항·검수 연결 누락 검사",</a:t>
            </a:r>
          </a:p>
          <a:p xmlns:a="http://schemas.openxmlformats.org/drawingml/2006/main">
            <a:r>
              <a:t>          "output":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"수정 이력과 요구사항·검수 연결 누락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"S-AX25",</a:t>
            </a:r>
          </a:p>
          <a:p xmlns:a="http://schemas.openxmlformats.org/drawingml/2006/main">
            <a:r>
              <a:t>        "title": "조달청 e-제안요청 도움 · 공공AI 사례집 218–219쪽",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PoC / 2024 고도화",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RFP와 사업 수요를 분석해 목차·키워드·요구사항 초안을 만드는 지원 사례. 과거 문서를 재활용하면서 신규 범위와 기존 의무의 중복을 피하는 작업이 핵심.",</a:t>
            </a:r>
          </a:p>
          <a:p xmlns:a="http://schemas.openxmlformats.org/drawingml/2006/main">
            <a:r>
              <a:t>      "사업 목적·현재 시스템·추가 개발 범위를 입력하고 목차별 요구 후보를 구성하는 재구성. 담당자가 출처·누락·중복·검수 가능성을 확인한 뒤 요구 ID와 시험 항목을 연결.",</a:t>
            </a:r>
          </a:p>
          <a:p xmlns:a="http://schemas.openxmlformats.org/drawingml/2006/main">
            <a:r>
              <a:t>      "CCK 제안·사업관리 스킬에서는 문서 생성보다 근거와 요구·검수의 추적을 공통 기능으로 활용. 기존 과업 복사, 빈 검수기준, 법령 판본 혼용을 포함한 검토 시나리오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"RFP 작성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"발주·사업관리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"목적·범위·기존",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"사업 목적·범위·기존 시스템 입력",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"지침·요구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"기존 문서",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"목차·초안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"키워드 추출과 목차별 요구사항 초안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"중복·누락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 범위·기존 의무·검수 연결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"발주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 범위에 맞는 RFP 요구와 검수 초안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"요구·검수 명세",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"담당자가 범위·중복·검수 가능성을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"수정 이력과 요구사항·검수 연결 누락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"기존 RFP·수요",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"요구·검수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"목차·ID 구조화",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"관련 지침·양식·기존 요구사항의 출처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"요구·검수 원장",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"요구사항별 범위·출처·검수 연결 및 담당자 수정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"기존 의무·범위",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"기존 계약 중복·수치 근거 부재·검수 불가능 요구",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"사업 목적·범위·기존 시스템 입력",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"기존 문서",</a:t>
            </a:r>
          </a:p>
          <a:p xmlns:a="http://schemas.openxmlformats.org/drawingml/2006/main">
            <a:r>
              <a:t>          "check": "사업 범위·기존 의무·검수 연결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"요구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"기존 계약 중복·수치 근거 부재·검수 불가능 요구"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"담당자가 범위·중복·검수 가능성을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"RFP 초안",</a:t>
            </a:r>
          </a:p>
          <a:p xmlns:a="http://schemas.openxmlformats.org/drawingml/2006/main">
            <a:r>
              <a:t>          "check":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"공공 정보화사업 제안요청서 작성 지원 / 목차 구성·요구 초안·사용자 검증",</a:t>
            </a:r>
          </a:p>
          <a:p xmlns:a="http://schemas.openxmlformats.org/drawingml/2006/main">
            <a:r>
              <a:t>        "extension": "TS 고도화의 재사용·추가 개발·검수 추적 지원"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"기존 계약 중복·수치 근거 부재·검수 불가능 요구",</a:t>
            </a:r>
          </a:p>
          <a:p xmlns:a="http://schemas.openxmlformats.org/drawingml/2006/main">
            <a:r>
              <a:t>        "hold": "사업 범위·기존 의무·검수 연결 확인",</a:t>
            </a:r>
          </a:p>
          <a:p xmlns:a="http://schemas.openxmlformats.org/drawingml/2006/main">
            <a:r>
              <a:t>        "recovery": "수정 이력과 요구사항·검수 연결 누락 검사",</a:t>
            </a:r>
          </a:p>
          <a:p xmlns:a="http://schemas.openxmlformats.org/drawingml/2006/main">
            <a:r>
              <a:t>        "evidence": "요구사항별 범위·출처·검수 연결 및 담당자 수정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"요구·검수 자료",</a:t>
            </a:r>
          </a:p>
          <a:p xmlns:a="http://schemas.openxmlformats.org/drawingml/2006/main">
            <a:r>
              <a:t>        "prepare": "관련 지침·양식·기존 요구사항의 출처 관리",</a:t>
            </a:r>
          </a:p>
          <a:p xmlns:a="http://schemas.openxmlformats.org/drawingml/2006/main">
            <a:r>
              <a:t>        "output": "기존 문서",</a:t>
            </a:r>
          </a:p>
          <a:p xmlns:a="http://schemas.openxmlformats.org/drawingml/2006/main">
            <a:r>
              <a:t>        "refresh": "수정 이력과 요구사항·검수 연결 누락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"RFP 목차·키워드의 구조화",</a:t>
            </a:r>
          </a:p>
          <a:p xmlns:a="http://schemas.openxmlformats.org/drawingml/2006/main">
            <a:r>
              <a:t>      "사용자 검증을 통한 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"과거 과업의 무비판적 재사용",</a:t>
            </a:r>
          </a:p>
          <a:p xmlns:a="http://schemas.openxmlformats.org/drawingml/2006/main">
            <a:r>
              <a:t>      "필수 요구·검수 항목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"기존 RFP·수요",</a:t>
            </a:r>
          </a:p>
          <a:p xmlns:a="http://schemas.openxmlformats.org/drawingml/2006/main">
            <a:r>
              <a:t>      "목차·키워드 분석",</a:t>
            </a:r>
          </a:p>
          <a:p xmlns:a="http://schemas.openxmlformats.org/drawingml/2006/main">
            <a:r>
              <a:t>      "요구·검수 자료",</a:t>
            </a:r>
          </a:p>
          <a:p xmlns:a="http://schemas.openxmlformats.org/drawingml/2006/main">
            <a:r>
              <a:t>      "발주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"기존 문서",</a:t>
            </a:r>
          </a:p>
          <a:p xmlns:a="http://schemas.openxmlformats.org/drawingml/2006/main">
            <a:r>
              <a:t>      "요구 후보",</a:t>
            </a:r>
          </a:p>
          <a:p xmlns:a="http://schemas.openxmlformats.org/drawingml/2006/main">
            <a:r>
              <a:t>      "검증된 목차",</a:t>
            </a:r>
          </a:p>
          <a:p xmlns:a="http://schemas.openxmlformats.org/drawingml/2006/main">
            <a:r>
              <a:t>      "RFP 초안"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 범위·기존 의무·검수 연결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조달청 e-제안요청 도움 · 공공AI 사례집 218–219쪽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"title": "조달청 e-제안요청 도움",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"RFP 초안 작성 지원",</a:t>
            </a:r>
          </a:p>
          <a:p xmlns:a="http://schemas.openxmlformats.org/drawingml/2006/main">
            <a:r>
              <a:t>    "period": "2023 PoC / 2024 고도화",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"S-AX25"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"RFP 초안 작성 지원"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"제안요청서 목차별 초안 생성과 키워드 추출·사용자 검증을 결합한 실증 고도화",</a:t>
            </a:r>
          </a:p>
          <a:p xmlns:a="http://schemas.openxmlformats.org/drawingml/2006/main">
            <a:r>
              <a:t>    "limit": "작성 지원 범위 · 요구사항·예산의 자동 승인과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"기존 RFP",</a:t>
            </a:r>
          </a:p>
          <a:p xmlns:a="http://schemas.openxmlformats.org/drawingml/2006/main">
            <a:r>
              <a:t>      "목차·키워드 추출",</a:t>
            </a:r>
          </a:p>
          <a:p xmlns:a="http://schemas.openxmlformats.org/drawingml/2006/main">
            <a:r>
              <a:t>      "담당자 검증",</a:t>
            </a:r>
          </a:p>
          <a:p xmlns:a="http://schemas.openxmlformats.org/drawingml/2006/main">
            <a:r>
              <a:t>      "초안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"요구ID·원문·산출물·검수의 누락 검사",</a:t>
            </a:r>
          </a:p>
          <a:p xmlns:a="http://schemas.openxmlformats.org/drawingml/2006/main">
            <a:r>
              <a:t>    "test": "누락·중복·상충 요구 및 근거 없는 성능 목표 탐지",</a:t>
            </a:r>
          </a:p>
          <a:p xmlns:a="http://schemas.openxmlformats.org/drawingml/2006/main">
            <a:r>
              <a:t>    "metric": "작성·보완 시간 / 추적 누락률",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"canonicalId": "AX25",</a:t>
            </a:r>
          </a:p>
          <a:p xmlns:a="http://schemas.openxmlformats.org/drawingml/2006/main">
            <a:r>
              <a:t>    "purpose": "공공 정보화사업 제안요청서 작성 지원",</a:t>
            </a:r>
          </a:p>
          <a:p xmlns:a="http://schemas.openxmlformats.org/drawingml/2006/main">
            <a:r>
              <a:t>    "users": "발주·사업관리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"목차 구성",</a:t>
            </a:r>
          </a:p>
          <a:p xmlns:a="http://schemas.openxmlformats.org/drawingml/2006/main">
            <a:r>
              <a:t>      "요구 초안",</a:t>
            </a:r>
          </a:p>
          <a:p xmlns:a="http://schemas.openxmlformats.org/drawingml/2006/main">
            <a:r>
              <a:t>      "사용자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"기존 RFP·수요",</a:t>
            </a:r>
          </a:p>
          <a:p xmlns:a="http://schemas.openxmlformats.org/drawingml/2006/main">
            <a:r>
              <a:t>        "detail": "사업 목적·범위·기존 시스템 입력",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"목차 구성 / 요구 초안 / 사용자 검증",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"목차·키워드 분석",</a:t>
            </a:r>
          </a:p>
          <a:p xmlns:a="http://schemas.openxmlformats.org/drawingml/2006/main">
            <a:r>
              <a:t>        "detail": "키워드 추출과 목차별 요구사항 초안 생성",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"발주 담당자",</a:t>
            </a:r>
          </a:p>
          <a:p xmlns:a="http://schemas.openxmlformats.org/drawingml/2006/main">
            <a:r>
              <a:t>        "detail": "담당자가 범위·중복·검수 가능성을 확인",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"요구·검수 자료",</a:t>
            </a:r>
          </a:p>
          <a:p xmlns:a="http://schemas.openxmlformats.org/drawingml/2006/main">
            <a:r>
              <a:t>        "detail": "관련 지침·양식·기존 요구사항의 출처 관리",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"수정 이력과 요구사항·검수 연결 누락 검사",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"기존 RFP",</a:t>
            </a:r>
          </a:p>
          <a:p xmlns:a="http://schemas.openxmlformats.org/drawingml/2006/main">
            <a:r>
              <a:t>        "input": "사업 목적·범위·기존 시스템 입력",</a:t>
            </a:r>
          </a:p>
          <a:p xmlns:a="http://schemas.openxmlformats.org/drawingml/2006/main">
            <a:r>
              <a:t>        "process": "관련 지침·양식·기존 요구사항의 출처 관리",</a:t>
            </a:r>
          </a:p>
          <a:p xmlns:a="http://schemas.openxmlformats.org/drawingml/2006/main">
            <a:r>
              <a:t>        "output": "기존 문서"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"목차·키워드 추출",</a:t>
            </a:r>
          </a:p>
          <a:p xmlns:a="http://schemas.openxmlformats.org/drawingml/2006/main">
            <a:r>
              <a:t>        "input": "기존 문서",</a:t>
            </a:r>
          </a:p>
          <a:p xmlns:a="http://schemas.openxmlformats.org/drawingml/2006/main">
            <a:r>
              <a:t>        "process": "키워드 추출과 목차별 요구사항 초안 생성",</a:t>
            </a:r>
          </a:p>
          <a:p xmlns:a="http://schemas.openxmlformats.org/drawingml/2006/main">
            <a:r>
              <a:t>        "output": "요구 후보"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"담당자 검증",</a:t>
            </a:r>
          </a:p>
          <a:p xmlns:a="http://schemas.openxmlformats.org/drawingml/2006/main">
            <a:r>
              <a:t>        "input": "요구 후보",</a:t>
            </a:r>
          </a:p>
          <a:p xmlns:a="http://schemas.openxmlformats.org/drawingml/2006/main">
            <a:r>
              <a:t>        "process": "사업 범위·기존 의무·검수 연결 확인",</a:t>
            </a:r>
          </a:p>
          <a:p xmlns:a="http://schemas.openxmlformats.org/drawingml/2006/main">
            <a:r>
              <a:t>        "output": "검증된 목차"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"초안 구성",</a:t>
            </a:r>
          </a:p>
          <a:p xmlns:a="http://schemas.openxmlformats.org/drawingml/2006/main">
            <a:r>
              <a:t>        "input": "검증된 목차",</a:t>
            </a:r>
          </a:p>
          <a:p xmlns:a="http://schemas.openxmlformats.org/drawingml/2006/main">
            <a:r>
              <a:t>        "process": "담당자가 범위·중복·검수 가능성을 확인",</a:t>
            </a:r>
          </a:p>
          <a:p xmlns:a="http://schemas.openxmlformats.org/drawingml/2006/main">
            <a:r>
              <a:t>        "output": "RFP 초안"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"사업 범위에 맞는 RFP 요구와 검수 초안 구성",</a:t>
            </a:r>
          </a:p>
          <a:p xmlns:a="http://schemas.openxmlformats.org/drawingml/2006/main">
            <a:r>
              <a:t>      "exception": "기존 계약 중복·수치 근거 부재·검수 불가능 요구",</a:t>
            </a:r>
          </a:p>
          <a:p xmlns:a="http://schemas.openxmlformats.org/drawingml/2006/main">
            <a:r>
              <a:t>      "evidence": "요구사항별 범위·출처·검수 연결 및 담당자 수정 기록",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"발주·사업관리 담당자",</a:t>
            </a:r>
          </a:p>
          <a:p xmlns:a="http://schemas.openxmlformats.org/drawingml/2006/main">
            <a:r>
              <a:t>          "processing": "사업 목적·범위·기존 시스템 입력",</a:t>
            </a:r>
          </a:p>
          <a:p xmlns:a="http://schemas.openxmlformats.org/drawingml/2006/main">
            <a:r>
              <a:t>          "output": "기존 문서"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"요구·검수 자료",</a:t>
            </a:r>
          </a:p>
          <a:p xmlns:a="http://schemas.openxmlformats.org/drawingml/2006/main">
            <a:r>
              <a:t>          "processing": "관련 지침·양식·기존 요구사항의 출처 관리",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"기존 문서",</a:t>
            </a:r>
          </a:p>
          <a:p xmlns:a="http://schemas.openxmlformats.org/drawingml/2006/main">
            <a:r>
              <a:t>          "processing": "키워드 추출과 목차별 요구사항 초안 생성",</a:t>
            </a:r>
          </a:p>
          <a:p xmlns:a="http://schemas.openxmlformats.org/drawingml/2006/main">
            <a:r>
              <a:t>          "output": "검증된 목차"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"검증된 목차",</a:t>
            </a:r>
          </a:p>
          <a:p xmlns:a="http://schemas.openxmlformats.org/drawingml/2006/main">
            <a:r>
              <a:t>          "processing": "담당자가 범위·중복·검수 가능성을 확인",</a:t>
            </a:r>
          </a:p>
          <a:p xmlns:a="http://schemas.openxmlformats.org/drawingml/2006/main">
            <a:r>
              <a:t>          "output": "RFP 초안"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"수정 이력과 요구사항·검수 연결 누락 검사",</a:t>
            </a:r>
          </a:p>
          <a:p xmlns:a="http://schemas.openxmlformats.org/drawingml/2006/main">
            <a:r>
              <a:t>          "output":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"수정 이력과 요구사항·검수 연결 누락 검사",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"S-AX25",</a:t>
            </a:r>
          </a:p>
          <a:p xmlns:a="http://schemas.openxmlformats.org/drawingml/2006/main">
            <a:r>
              <a:t>        "title": "조달청 e-제안요청 도움 · 공공AI 사례집 218–219쪽",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"2023 PoC / 2024 고도화",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"추출 근거 검증을 초안 작성 앞단에 배치",</a:t>
            </a:r>
          </a:p>
          <a:p xmlns:a="http://schemas.openxmlformats.org/drawingml/2006/main">
            <a:r>
              <a:t>    "local": "TS 고도화의 재사용·추가 개발·검수 추적 지원",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"기존 RFP와 사업 수요를 분석해 목차·키워드·요구사항 초안을 만드는 지원 사례. 과거 문서를 재활용하면서 신규 범위와 기존 의무의 중복을 피하는 작업이 핵심.",</a:t>
            </a:r>
          </a:p>
          <a:p xmlns:a="http://schemas.openxmlformats.org/drawingml/2006/main">
            <a:r>
              <a:t>      "사업 목적·현재 시스템·추가 개발 범위를 입력하고 목차별 요구 후보를 구성하는 재구성. 담당자가 출처·누락·중복·검수 가능성을 확인한 뒤 요구 ID와 시험 항목을 연결.",</a:t>
            </a:r>
          </a:p>
          <a:p xmlns:a="http://schemas.openxmlformats.org/drawingml/2006/main">
            <a:r>
              <a:t>      "CCK 제안·사업관리 스킬에서는 문서 생성보다 근거와 요구·검수의 추적을 공통 기능으로 활용. 기존 과업 복사, 빈 검수기준, 법령 판본 혼용을 포함한 검토 시나리오 필요."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"RFP 작성 요청",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"발주·사업관리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"목적·범위·기존",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"사업 목적·범위·기존 시스템 입력",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"지침·요구 조회",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"기존 문서",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"목차·초안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"키워드 추출과 목차별 요구사항 초안 생성",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"중복·누락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"사업 범위·기존 의무·검수 연결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"발주 담당 검토",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"사업 범위에 맞는 RFP 요구와 검수 초안 구성",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"요구·검수 명세",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"담당자가 범위·중복·검수 가능성을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"변경 추적",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"수정 이력과 요구사항·검수 연결 누락 검사",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"기존 RFP·수요",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"요구·검수 자료",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"목차·ID 구조화",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"관련 지침·양식·기존 요구사항의 출처 관리",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"요구·검수 원장",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"요구사항별 범위·출처·검수 연결 및 담당자 수정 기록",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"기존 의무·범위",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"기존 계약 중복·수치 근거 부재·검수 불가능 요구",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"사업 목적·범위·기존 시스템 입력",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"기존 문서",</a:t>
            </a:r>
          </a:p>
          <a:p xmlns:a="http://schemas.openxmlformats.org/drawingml/2006/main">
            <a:r>
              <a:t>          "check": "사업 범위·기존 의무·검수 연결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"요구 후보",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"기존 계약 중복·수치 근거 부재·검수 불가능 요구"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"검증된 목차",</a:t>
            </a:r>
          </a:p>
          <a:p xmlns:a="http://schemas.openxmlformats.org/drawingml/2006/main">
            <a:r>
              <a:t>          "check": "담당자가 범위·중복·검수 가능성을 확인"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"RFP 초안",</a:t>
            </a:r>
          </a:p>
          <a:p xmlns:a="http://schemas.openxmlformats.org/drawingml/2006/main">
            <a:r>
              <a:t>          "check": "요구사항별 범위·출처·검수 연결 및 담당자 수정 기록"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"공공 정보화사업 제안요청서 작성 지원 / 목차 구성·요구 초안·사용자 검증",</a:t>
            </a:r>
          </a:p>
          <a:p xmlns:a="http://schemas.openxmlformats.org/drawingml/2006/main">
            <a:r>
              <a:t>        "extension": "TS 고도화의 재사용·추가 개발·검수 추적 지원"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"기존 계약 중복·수치 근거 부재·검수 불가능 요구",</a:t>
            </a:r>
          </a:p>
          <a:p xmlns:a="http://schemas.openxmlformats.org/drawingml/2006/main">
            <a:r>
              <a:t>        "hold": "사업 범위·기존 의무·검수 연결 확인",</a:t>
            </a:r>
          </a:p>
          <a:p xmlns:a="http://schemas.openxmlformats.org/drawingml/2006/main">
            <a:r>
              <a:t>        "recovery": "수정 이력과 요구사항·검수 연결 누락 검사",</a:t>
            </a:r>
          </a:p>
          <a:p xmlns:a="http://schemas.openxmlformats.org/drawingml/2006/main">
            <a:r>
              <a:t>        "evidence": "요구사항별 범위·출처·검수 연결 및 담당자 수정 기록"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"요구·검수 자료",</a:t>
            </a:r>
          </a:p>
          <a:p xmlns:a="http://schemas.openxmlformats.org/drawingml/2006/main">
            <a:r>
              <a:t>        "prepare": "관련 지침·양식·기존 요구사항의 출처 관리",</a:t>
            </a:r>
          </a:p>
          <a:p xmlns:a="http://schemas.openxmlformats.org/drawingml/2006/main">
            <a:r>
              <a:t>        "output": "기존 문서",</a:t>
            </a:r>
          </a:p>
          <a:p xmlns:a="http://schemas.openxmlformats.org/drawingml/2006/main">
            <a:r>
              <a:t>        "refresh": "수정 이력과 요구사항·검수 연결 누락 검사"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"AX25",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"RFP 목차·키워드의 구조화",</a:t>
            </a:r>
          </a:p>
          <a:p xmlns:a="http://schemas.openxmlformats.org/drawingml/2006/main">
            <a:r>
              <a:t>      "사용자 검증을 통한 초안 구성"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"과거 과업의 무비판적 재사용",</a:t>
            </a:r>
          </a:p>
          <a:p xmlns:a="http://schemas.openxmlformats.org/drawingml/2006/main">
            <a:r>
              <a:t>      "필수 요구·검수 항목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"기존 RFP·수요",</a:t>
            </a:r>
          </a:p>
          <a:p xmlns:a="http://schemas.openxmlformats.org/drawingml/2006/main">
            <a:r>
              <a:t>      "목차·키워드 분석",</a:t>
            </a:r>
          </a:p>
          <a:p xmlns:a="http://schemas.openxmlformats.org/drawingml/2006/main">
            <a:r>
              <a:t>      "요구·검수 자료",</a:t>
            </a:r>
          </a:p>
          <a:p xmlns:a="http://schemas.openxmlformats.org/drawingml/2006/main">
            <a:r>
              <a:t>      "발주 담당자"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"기존 문서",</a:t>
            </a:r>
          </a:p>
          <a:p xmlns:a="http://schemas.openxmlformats.org/drawingml/2006/main">
            <a:r>
              <a:t>      "요구 후보",</a:t>
            </a:r>
          </a:p>
          <a:p xmlns:a="http://schemas.openxmlformats.org/drawingml/2006/main">
            <a:r>
              <a:t>      "검증된 목차",</a:t>
            </a:r>
          </a:p>
          <a:p xmlns:a="http://schemas.openxmlformats.org/drawingml/2006/main">
            <a:r>
              <a:t>      "RFP 초안"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"사업 범위·기존 의무·검수 연결 확인",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조달청 e-제안요청 도움 · 공공AI 사례집 218–219쪽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"title": "교육행정 응대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"학교급·지침 기반 RAG",</a:t>
            </a:r>
          </a:p>
          <a:p xmlns:a="http://schemas.openxmlformats.org/drawingml/2006/main">
            <a:r>
              <a:t>    "period": "2024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"학교급",</a:t>
            </a:r>
          </a:p>
          <a:p xmlns:a="http://schemas.openxmlformats.org/drawingml/2006/main">
            <a:r>
              <a:t>      "지침 기반 RAG"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"학교생활기록부 지침·질의응답 자료를 활용한 RAG와 원문 페이지 연결 실증",</a:t>
            </a:r>
          </a:p>
          <a:p xmlns:a="http://schemas.openxmlformats.org/drawingml/2006/main">
            <a:r>
              <a:t>    "limit": "선정 문서·업무 범위의 PoC · 전체 교육행정 자동화와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"문서 전처리·RAG",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"교직원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검색 필터·출처 페이지·오류 피드백",</a:t>
            </a:r>
          </a:p>
          <a:p xmlns:a="http://schemas.openxmlformats.org/drawingml/2006/main">
            <a:r>
              <a:t>    "test": "부서·직무 변경 전후 검색 근거 대조",</a:t>
            </a:r>
          </a:p>
          <a:p xmlns:a="http://schemas.openxmlformats.org/drawingml/2006/main">
            <a:r>
              <a:t>    "metric": "근거 일치율 / 보완시간",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"canonicalId": "AX26",</a:t>
            </a:r>
          </a:p>
          <a:p xmlns:a="http://schemas.openxmlformats.org/drawingml/2006/main">
            <a:r>
              <a:t>    "purpose": "학교생활기록부 지침의 근거형 응대",</a:t>
            </a:r>
          </a:p>
          <a:p xmlns:a="http://schemas.openxmlformats.org/drawingml/2006/main">
            <a:r>
              <a:t>    "users": "학교·교육행정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"지침 검색",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"원문 페이지"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"교직원 질의",</a:t>
            </a:r>
          </a:p>
          <a:p xmlns:a="http://schemas.openxmlformats.org/drawingml/2006/main">
            <a:r>
              <a:t>        "detail": "학교급·학년도·업무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"지침 검색 / 질의응답 / 원문 페이지",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"detail": "조건에 맞는 지침·질의응답 검색",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"교직원 검토",</a:t>
            </a:r>
          </a:p>
          <a:p xmlns:a="http://schemas.openxmlformats.org/drawingml/2006/main">
            <a:r>
              <a:t>        "detail": "답변 근거와 원문 페이지를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"detail": "지침 판본·학년도·원문 페이지별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"학년도 혼용·예외 조항 누락의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"input": "학교급·학년도·업무 상황 확인",</a:t>
            </a:r>
          </a:p>
          <a:p xmlns:a="http://schemas.openxmlformats.org/drawingml/2006/main">
            <a:r>
              <a:t>        "process": "지침 판본·학년도·원문 페이지별 색인",</a:t>
            </a:r>
          </a:p>
          <a:p xmlns:a="http://schemas.openxmlformats.org/drawingml/2006/main">
            <a:r>
              <a:t>        "output": "학교급·질문"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"문서 전처리·RAG",</a:t>
            </a:r>
          </a:p>
          <a:p xmlns:a="http://schemas.openxmlformats.org/drawingml/2006/main">
            <a:r>
              <a:t>        "input": "학교급·질문",</a:t>
            </a:r>
          </a:p>
          <a:p xmlns:a="http://schemas.openxmlformats.org/drawingml/2006/main">
            <a:r>
              <a:t>        "process": "조건에 맞는 지침·질의응답 검색",</a:t>
            </a:r>
          </a:p>
          <a:p xmlns:a="http://schemas.openxmlformats.org/drawingml/2006/main">
            <a:r>
              <a:t>        "output": "관련 지침"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페이지 답변",</a:t>
            </a:r>
          </a:p>
          <a:p xmlns:a="http://schemas.openxmlformats.org/drawingml/2006/main">
            <a:r>
              <a:t>        "input": "관련 지침",</a:t>
            </a:r>
          </a:p>
          <a:p xmlns:a="http://schemas.openxmlformats.org/drawingml/2006/main">
            <a:r>
              <a:t>        "process": "학교급·연도·원문 페이지 대조",</a:t>
            </a:r>
          </a:p>
          <a:p xmlns:a="http://schemas.openxmlformats.org/drawingml/2006/main">
            <a:r>
              <a:t>        "output": "근거 페이지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"교직원 검증",</a:t>
            </a:r>
          </a:p>
          <a:p xmlns:a="http://schemas.openxmlformats.org/drawingml/2006/main">
            <a:r>
              <a:t>        "input": "근거 페이지 답변",</a:t>
            </a:r>
          </a:p>
          <a:p xmlns:a="http://schemas.openxmlformats.org/drawingml/2006/main">
            <a:r>
              <a:t>        "process": "답변 근거와 원문 페이지를 담당자에게 제공",</a:t>
            </a:r>
          </a:p>
          <a:p xmlns:a="http://schemas.openxmlformats.org/drawingml/2006/main">
            <a:r>
              <a:t>        "output": "검증·보완"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"학년도·학교급에 맞는 생활기록부 지침 안내",</a:t>
            </a:r>
          </a:p>
          <a:p xmlns:a="http://schemas.openxmlformats.org/drawingml/2006/main">
            <a:r>
              <a:t>      "exception": "이전 학년도 혼입·예외 조건 누락·원문 페이지 변경",</a:t>
            </a:r>
          </a:p>
          <a:p xmlns:a="http://schemas.openxmlformats.org/drawingml/2006/main">
            <a:r>
              <a:t>      "evidence": "학년도별 정답·근거 페이지·예외 적용 대조표",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"학교·교육행정 담당자",</a:t>
            </a:r>
          </a:p>
          <a:p xmlns:a="http://schemas.openxmlformats.org/drawingml/2006/main">
            <a:r>
              <a:t>          "processing": "학교급·학년도·업무 상황 확인",</a:t>
            </a:r>
          </a:p>
          <a:p xmlns:a="http://schemas.openxmlformats.org/drawingml/2006/main">
            <a:r>
              <a:t>          "output": "학교급·질문"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"학교급별 지침",</a:t>
            </a:r>
          </a:p>
          <a:p xmlns:a="http://schemas.openxmlformats.org/drawingml/2006/main">
            <a:r>
              <a:t>          "processing": "지침 판본·학년도·원문 페이지별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"학교급·질문",</a:t>
            </a:r>
          </a:p>
          <a:p xmlns:a="http://schemas.openxmlformats.org/drawingml/2006/main">
            <a:r>
              <a:t>          "processing": "조건에 맞는 지침·질의응답 검색",</a:t>
            </a:r>
          </a:p>
          <a:p xmlns:a="http://schemas.openxmlformats.org/drawingml/2006/main">
            <a:r>
              <a:t>          "output": "근거 페이지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페이지 답변",</a:t>
            </a:r>
          </a:p>
          <a:p xmlns:a="http://schemas.openxmlformats.org/drawingml/2006/main">
            <a:r>
              <a:t>          "processing": "답변 근거와 원문 페이지를 담당자에게 제공",</a:t>
            </a:r>
          </a:p>
          <a:p xmlns:a="http://schemas.openxmlformats.org/drawingml/2006/main">
            <a:r>
              <a:t>          "output": "검증·보완"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"학년도 혼용·예외 조항 누락의 평가",</a:t>
            </a:r>
          </a:p>
          <a:p xmlns:a="http://schemas.openxmlformats.org/drawingml/2006/main">
            <a:r>
              <a:t>          "output":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"학년도 혼용·예외 조항 누락의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"S-AX26",</a:t>
            </a:r>
          </a:p>
          <a:p xmlns:a="http://schemas.openxmlformats.org/drawingml/2006/main">
            <a:r>
              <a:t>        "title": "교육행정 응대 AI PoC · 공공AI 사례집 222–223쪽",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"학교급·학년도별 학교생활기록부 지침을 교직원 질의에 연결하는 사례. 같은 질문이라도 적용 연도·학교급·업무 상황에 따라 근거가 달라지는 규정형 업무.",</a:t>
            </a:r>
          </a:p>
          <a:p xmlns:a="http://schemas.openxmlformats.org/drawingml/2006/main">
            <a:r>
              <a:t>      "질의 문맥을 확보한 뒤 해당 지침 판본과 페이지를 검색해 근거를 제공하는 재구성. 답변의 편집·검토 과정에서도 원문 페이지와 적용 조건을 함께 보존.",</a:t>
            </a:r>
          </a:p>
          <a:p xmlns:a="http://schemas.openxmlformats.org/drawingml/2006/main">
            <a:r>
              <a:t>      "TS 조직 네이티브 AI에서는 소속·직무뿐 아니라 업무 대상과 시행일을 검색 조건으로 추가하는 참고. 연도 혼용·학교급 혼용·예외 조항 누락에 해당하는 TS 도메인 시험셋의 별도 구성."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"교직원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"학교·교육행정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"학교급·학년도",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"학교급·학년도·업무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지침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"학교급·질문",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"조건에 맞는 지침·질의응답 검색",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"페이지·예외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"학교급·연도·원문 페이지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"교직원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"학년도·학교급에 맞는 생활기록부 지침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"행정업무 적용",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"답변 근거와 원문 페이지를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"연도 혼용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"학년도 혼용·예외 조항 누락의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"지침·질의응답",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"학교급별 지침",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"페이지·판본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"지침 판본·학년도·원문 페이지별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"지침·평가셋",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"학년도별 정답·근거 페이지·예외 적용 대조표",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"학교급별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"이전 학년도 혼입·예외 조건 누락·원문 페이지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"학교급·학년도·업무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"학교급·질문",</a:t>
            </a:r>
          </a:p>
          <a:p xmlns:a="http://schemas.openxmlformats.org/drawingml/2006/main">
            <a:r>
              <a:t>          "check": "학교급·연도·원문 페이지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지침",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"이전 학년도 혼입·예외 조건 누락·원문 페이지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"답변 근거와 원문 페이지를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"검증·보완",</a:t>
            </a:r>
          </a:p>
          <a:p xmlns:a="http://schemas.openxmlformats.org/drawingml/2006/main">
            <a:r>
              <a:t>          "check":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"학교생활기록부 지침의 근거형 응대 / 지침 검색·질의응답·원문 페이지",</a:t>
            </a:r>
          </a:p>
          <a:p xmlns:a="http://schemas.openxmlformats.org/drawingml/2006/main">
            <a:r>
              <a:t>        "extension": "TS 부서·직무별 규정 및 동일 요청 교차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"이전 학년도 혼입·예외 조건 누락·원문 페이지 변경",</a:t>
            </a:r>
          </a:p>
          <a:p xmlns:a="http://schemas.openxmlformats.org/drawingml/2006/main">
            <a:r>
              <a:t>        "hold": "학교급·연도·원문 페이지 대조",</a:t>
            </a:r>
          </a:p>
          <a:p xmlns:a="http://schemas.openxmlformats.org/drawingml/2006/main">
            <a:r>
              <a:t>        "recovery": "학년도 혼용·예외 조항 누락의 평가",</a:t>
            </a:r>
          </a:p>
          <a:p xmlns:a="http://schemas.openxmlformats.org/drawingml/2006/main">
            <a:r>
              <a:t>        "evidence": "학년도별 정답·근거 페이지·예외 적용 대조표"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"학교급별 지침",</a:t>
            </a:r>
          </a:p>
          <a:p xmlns:a="http://schemas.openxmlformats.org/drawingml/2006/main">
            <a:r>
              <a:t>        "prepare": "지침 판본·학년도·원문 페이지별 색인",</a:t>
            </a:r>
          </a:p>
          <a:p xmlns:a="http://schemas.openxmlformats.org/drawingml/2006/main">
            <a:r>
              <a:t>        "output": "학교급·질문",</a:t>
            </a:r>
          </a:p>
          <a:p xmlns:a="http://schemas.openxmlformats.org/drawingml/2006/main">
            <a:r>
              <a:t>        "refresh": "학년도 혼용·예외 조항 누락의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"학교급별 지침의 분리",</a:t>
            </a:r>
          </a:p>
          <a:p xmlns:a="http://schemas.openxmlformats.org/drawingml/2006/main">
            <a:r>
              <a:t>      "답변과 원문 페이지의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"학교급·적용 연도 혼용",</a:t>
            </a:r>
          </a:p>
          <a:p xmlns:a="http://schemas.openxmlformats.org/drawingml/2006/main">
            <a:r>
              <a:t>      "유사 질문의 예외 답변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"교직원 질의",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"교직원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"학교급·질문",</a:t>
            </a:r>
          </a:p>
          <a:p xmlns:a="http://schemas.openxmlformats.org/drawingml/2006/main">
            <a:r>
              <a:t>      "관련 지침",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"검증·보완"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"학교급·연도·원문 페이지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교육행정 응대 AI PoC · 공공AI 사례집 222–223쪽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https://heen1987-ops.github.io/TS-business-Plan-001/index.html?view=casebook&amp;case=AX26</a:t>
            </a:r>
          </a:p>
          <a:p xmlns:a="http://schemas.openxmlformats.org/drawingml/2006/main">
            <a:r>
              <a:t>한계: 선정 문서·업무 범위의 PoC · 전체 교육행정 자동화와 구분</a:t>
            </a:r>
          </a:p>
          <a:p xmlns:a="http://schemas.openxmlformats.org/drawingml/2006/main">
            <a:r>
              <a:t>실패 위험: 학교급·적용 연도 혼용 / 유사 질문의 예외 답변 누락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"title": "교육행정 응대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"학교급·지침 기반 RAG",</a:t>
            </a:r>
          </a:p>
          <a:p xmlns:a="http://schemas.openxmlformats.org/drawingml/2006/main">
            <a:r>
              <a:t>    "period": "2024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"학교급",</a:t>
            </a:r>
          </a:p>
          <a:p xmlns:a="http://schemas.openxmlformats.org/drawingml/2006/main">
            <a:r>
              <a:t>      "지침 기반 RAG"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"학교생활기록부 지침·질의응답 자료를 활용한 RAG와 원문 페이지 연결 실증",</a:t>
            </a:r>
          </a:p>
          <a:p xmlns:a="http://schemas.openxmlformats.org/drawingml/2006/main">
            <a:r>
              <a:t>    "limit": "선정 문서·업무 범위의 PoC · 전체 교육행정 자동화와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"문서 전처리·RAG",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"교직원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검색 필터·출처 페이지·오류 피드백",</a:t>
            </a:r>
          </a:p>
          <a:p xmlns:a="http://schemas.openxmlformats.org/drawingml/2006/main">
            <a:r>
              <a:t>    "test": "부서·직무 변경 전후 검색 근거 대조",</a:t>
            </a:r>
          </a:p>
          <a:p xmlns:a="http://schemas.openxmlformats.org/drawingml/2006/main">
            <a:r>
              <a:t>    "metric": "근거 일치율 / 보완시간",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"canonicalId": "AX26",</a:t>
            </a:r>
          </a:p>
          <a:p xmlns:a="http://schemas.openxmlformats.org/drawingml/2006/main">
            <a:r>
              <a:t>    "purpose": "학교생활기록부 지침의 근거형 응대",</a:t>
            </a:r>
          </a:p>
          <a:p xmlns:a="http://schemas.openxmlformats.org/drawingml/2006/main">
            <a:r>
              <a:t>    "users": "학교·교육행정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"지침 검색",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"원문 페이지"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"교직원 질의",</a:t>
            </a:r>
          </a:p>
          <a:p xmlns:a="http://schemas.openxmlformats.org/drawingml/2006/main">
            <a:r>
              <a:t>        "detail": "학교급·학년도·업무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"지침 검색 / 질의응답 / 원문 페이지",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"detail": "조건에 맞는 지침·질의응답 검색",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"교직원 검토",</a:t>
            </a:r>
          </a:p>
          <a:p xmlns:a="http://schemas.openxmlformats.org/drawingml/2006/main">
            <a:r>
              <a:t>        "detail": "답변 근거와 원문 페이지를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"detail": "지침 판본·학년도·원문 페이지별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"학년도 혼용·예외 조항 누락의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"input": "학교급·학년도·업무 상황 확인",</a:t>
            </a:r>
          </a:p>
          <a:p xmlns:a="http://schemas.openxmlformats.org/drawingml/2006/main">
            <a:r>
              <a:t>        "process": "지침 판본·학년도·원문 페이지별 색인",</a:t>
            </a:r>
          </a:p>
          <a:p xmlns:a="http://schemas.openxmlformats.org/drawingml/2006/main">
            <a:r>
              <a:t>        "output": "학교급·질문"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"문서 전처리·RAG",</a:t>
            </a:r>
          </a:p>
          <a:p xmlns:a="http://schemas.openxmlformats.org/drawingml/2006/main">
            <a:r>
              <a:t>        "input": "학교급·질문",</a:t>
            </a:r>
          </a:p>
          <a:p xmlns:a="http://schemas.openxmlformats.org/drawingml/2006/main">
            <a:r>
              <a:t>        "process": "조건에 맞는 지침·질의응답 검색",</a:t>
            </a:r>
          </a:p>
          <a:p xmlns:a="http://schemas.openxmlformats.org/drawingml/2006/main">
            <a:r>
              <a:t>        "output": "관련 지침"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페이지 답변",</a:t>
            </a:r>
          </a:p>
          <a:p xmlns:a="http://schemas.openxmlformats.org/drawingml/2006/main">
            <a:r>
              <a:t>        "input": "관련 지침",</a:t>
            </a:r>
          </a:p>
          <a:p xmlns:a="http://schemas.openxmlformats.org/drawingml/2006/main">
            <a:r>
              <a:t>        "process": "학교급·연도·원문 페이지 대조",</a:t>
            </a:r>
          </a:p>
          <a:p xmlns:a="http://schemas.openxmlformats.org/drawingml/2006/main">
            <a:r>
              <a:t>        "output": "근거 페이지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"교직원 검증",</a:t>
            </a:r>
          </a:p>
          <a:p xmlns:a="http://schemas.openxmlformats.org/drawingml/2006/main">
            <a:r>
              <a:t>        "input": "근거 페이지 답변",</a:t>
            </a:r>
          </a:p>
          <a:p xmlns:a="http://schemas.openxmlformats.org/drawingml/2006/main">
            <a:r>
              <a:t>        "process": "답변 근거와 원문 페이지를 담당자에게 제공",</a:t>
            </a:r>
          </a:p>
          <a:p xmlns:a="http://schemas.openxmlformats.org/drawingml/2006/main">
            <a:r>
              <a:t>        "output": "검증·보완"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"학년도·학교급에 맞는 생활기록부 지침 안내",</a:t>
            </a:r>
          </a:p>
          <a:p xmlns:a="http://schemas.openxmlformats.org/drawingml/2006/main">
            <a:r>
              <a:t>      "exception": "이전 학년도 혼입·예외 조건 누락·원문 페이지 변경",</a:t>
            </a:r>
          </a:p>
          <a:p xmlns:a="http://schemas.openxmlformats.org/drawingml/2006/main">
            <a:r>
              <a:t>      "evidence": "학년도별 정답·근거 페이지·예외 적용 대조표",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"학교·교육행정 담당자",</a:t>
            </a:r>
          </a:p>
          <a:p xmlns:a="http://schemas.openxmlformats.org/drawingml/2006/main">
            <a:r>
              <a:t>          "processing": "학교급·학년도·업무 상황 확인",</a:t>
            </a:r>
          </a:p>
          <a:p xmlns:a="http://schemas.openxmlformats.org/drawingml/2006/main">
            <a:r>
              <a:t>          "output": "학교급·질문"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"학교급별 지침",</a:t>
            </a:r>
          </a:p>
          <a:p xmlns:a="http://schemas.openxmlformats.org/drawingml/2006/main">
            <a:r>
              <a:t>          "processing": "지침 판본·학년도·원문 페이지별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"학교급·질문",</a:t>
            </a:r>
          </a:p>
          <a:p xmlns:a="http://schemas.openxmlformats.org/drawingml/2006/main">
            <a:r>
              <a:t>          "processing": "조건에 맞는 지침·질의응답 검색",</a:t>
            </a:r>
          </a:p>
          <a:p xmlns:a="http://schemas.openxmlformats.org/drawingml/2006/main">
            <a:r>
              <a:t>          "output": "근거 페이지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페이지 답변",</a:t>
            </a:r>
          </a:p>
          <a:p xmlns:a="http://schemas.openxmlformats.org/drawingml/2006/main">
            <a:r>
              <a:t>          "processing": "답변 근거와 원문 페이지를 담당자에게 제공",</a:t>
            </a:r>
          </a:p>
          <a:p xmlns:a="http://schemas.openxmlformats.org/drawingml/2006/main">
            <a:r>
              <a:t>          "output": "검증·보완"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"학년도 혼용·예외 조항 누락의 평가",</a:t>
            </a:r>
          </a:p>
          <a:p xmlns:a="http://schemas.openxmlformats.org/drawingml/2006/main">
            <a:r>
              <a:t>          "output":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"학년도 혼용·예외 조항 누락의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"S-AX26",</a:t>
            </a:r>
          </a:p>
          <a:p xmlns:a="http://schemas.openxmlformats.org/drawingml/2006/main">
            <a:r>
              <a:t>        "title": "교육행정 응대 AI PoC · 공공AI 사례집 222–223쪽",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"학교급·학년도별 학교생활기록부 지침을 교직원 질의에 연결하는 사례. 같은 질문이라도 적용 연도·학교급·업무 상황에 따라 근거가 달라지는 규정형 업무.",</a:t>
            </a:r>
          </a:p>
          <a:p xmlns:a="http://schemas.openxmlformats.org/drawingml/2006/main">
            <a:r>
              <a:t>      "질의 문맥을 확보한 뒤 해당 지침 판본과 페이지를 검색해 근거를 제공하는 재구성. 답변의 편집·검토 과정에서도 원문 페이지와 적용 조건을 함께 보존.",</a:t>
            </a:r>
          </a:p>
          <a:p xmlns:a="http://schemas.openxmlformats.org/drawingml/2006/main">
            <a:r>
              <a:t>      "TS 조직 네이티브 AI에서는 소속·직무뿐 아니라 업무 대상과 시행일을 검색 조건으로 추가하는 참고. 연도 혼용·학교급 혼용·예외 조항 누락에 해당하는 TS 도메인 시험셋의 별도 구성."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"교직원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"학교·교육행정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"학교급·학년도",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"학교급·학년도·업무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지침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"학교급·질문",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"조건에 맞는 지침·질의응답 검색",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"페이지·예외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"학교급·연도·원문 페이지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"교직원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"학년도·학교급에 맞는 생활기록부 지침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"행정업무 적용",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"답변 근거와 원문 페이지를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"연도 혼용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"학년도 혼용·예외 조항 누락의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"지침·질의응답",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"학교급별 지침",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"페이지·판본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"지침 판본·학년도·원문 페이지별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"지침·평가셋",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"학년도별 정답·근거 페이지·예외 적용 대조표",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"학교급별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"이전 학년도 혼입·예외 조건 누락·원문 페이지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"학교급·학년도·업무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"학교급·질문",</a:t>
            </a:r>
          </a:p>
          <a:p xmlns:a="http://schemas.openxmlformats.org/drawingml/2006/main">
            <a:r>
              <a:t>          "check": "학교급·연도·원문 페이지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지침",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"이전 학년도 혼입·예외 조건 누락·원문 페이지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"답변 근거와 원문 페이지를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"검증·보완",</a:t>
            </a:r>
          </a:p>
          <a:p xmlns:a="http://schemas.openxmlformats.org/drawingml/2006/main">
            <a:r>
              <a:t>          "check":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"학교생활기록부 지침의 근거형 응대 / 지침 검색·질의응답·원문 페이지",</a:t>
            </a:r>
          </a:p>
          <a:p xmlns:a="http://schemas.openxmlformats.org/drawingml/2006/main">
            <a:r>
              <a:t>        "extension": "TS 부서·직무별 규정 및 동일 요청 교차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"이전 학년도 혼입·예외 조건 누락·원문 페이지 변경",</a:t>
            </a:r>
          </a:p>
          <a:p xmlns:a="http://schemas.openxmlformats.org/drawingml/2006/main">
            <a:r>
              <a:t>        "hold": "학교급·연도·원문 페이지 대조",</a:t>
            </a:r>
          </a:p>
          <a:p xmlns:a="http://schemas.openxmlformats.org/drawingml/2006/main">
            <a:r>
              <a:t>        "recovery": "학년도 혼용·예외 조항 누락의 평가",</a:t>
            </a:r>
          </a:p>
          <a:p xmlns:a="http://schemas.openxmlformats.org/drawingml/2006/main">
            <a:r>
              <a:t>        "evidence": "학년도별 정답·근거 페이지·예외 적용 대조표"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"학교급별 지침",</a:t>
            </a:r>
          </a:p>
          <a:p xmlns:a="http://schemas.openxmlformats.org/drawingml/2006/main">
            <a:r>
              <a:t>        "prepare": "지침 판본·학년도·원문 페이지별 색인",</a:t>
            </a:r>
          </a:p>
          <a:p xmlns:a="http://schemas.openxmlformats.org/drawingml/2006/main">
            <a:r>
              <a:t>        "output": "학교급·질문",</a:t>
            </a:r>
          </a:p>
          <a:p xmlns:a="http://schemas.openxmlformats.org/drawingml/2006/main">
            <a:r>
              <a:t>        "refresh": "학년도 혼용·예외 조항 누락의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"학교급별 지침의 분리",</a:t>
            </a:r>
          </a:p>
          <a:p xmlns:a="http://schemas.openxmlformats.org/drawingml/2006/main">
            <a:r>
              <a:t>      "답변과 원문 페이지의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"학교급·적용 연도 혼용",</a:t>
            </a:r>
          </a:p>
          <a:p xmlns:a="http://schemas.openxmlformats.org/drawingml/2006/main">
            <a:r>
              <a:t>      "유사 질문의 예외 답변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"교직원 질의",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"교직원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"학교급·질문",</a:t>
            </a:r>
          </a:p>
          <a:p xmlns:a="http://schemas.openxmlformats.org/drawingml/2006/main">
            <a:r>
              <a:t>      "관련 지침",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"검증·보완"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"학교급·연도·원문 페이지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교육행정 응대 AI PoC · 공공AI 사례집 222–223쪽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"title": "교육행정 응대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"학교급·지침 기반 RAG",</a:t>
            </a:r>
          </a:p>
          <a:p xmlns:a="http://schemas.openxmlformats.org/drawingml/2006/main">
            <a:r>
              <a:t>    "period": "2024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"학교급",</a:t>
            </a:r>
          </a:p>
          <a:p xmlns:a="http://schemas.openxmlformats.org/drawingml/2006/main">
            <a:r>
              <a:t>      "지침 기반 RAG"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"학교생활기록부 지침·질의응답 자료를 활용한 RAG와 원문 페이지 연결 실증",</a:t>
            </a:r>
          </a:p>
          <a:p xmlns:a="http://schemas.openxmlformats.org/drawingml/2006/main">
            <a:r>
              <a:t>    "limit": "선정 문서·업무 범위의 PoC · 전체 교육행정 자동화와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"문서 전처리·RAG",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"교직원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검색 필터·출처 페이지·오류 피드백",</a:t>
            </a:r>
          </a:p>
          <a:p xmlns:a="http://schemas.openxmlformats.org/drawingml/2006/main">
            <a:r>
              <a:t>    "test": "부서·직무 변경 전후 검색 근거 대조",</a:t>
            </a:r>
          </a:p>
          <a:p xmlns:a="http://schemas.openxmlformats.org/drawingml/2006/main">
            <a:r>
              <a:t>    "metric": "근거 일치율 / 보완시간",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"canonicalId": "AX26",</a:t>
            </a:r>
          </a:p>
          <a:p xmlns:a="http://schemas.openxmlformats.org/drawingml/2006/main">
            <a:r>
              <a:t>    "purpose": "학교생활기록부 지침의 근거형 응대",</a:t>
            </a:r>
          </a:p>
          <a:p xmlns:a="http://schemas.openxmlformats.org/drawingml/2006/main">
            <a:r>
              <a:t>    "users": "학교·교육행정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"지침 검색",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"원문 페이지"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"교직원 질의",</a:t>
            </a:r>
          </a:p>
          <a:p xmlns:a="http://schemas.openxmlformats.org/drawingml/2006/main">
            <a:r>
              <a:t>        "detail": "학교급·학년도·업무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"지침 검색 / 질의응답 / 원문 페이지",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"detail": "조건에 맞는 지침·질의응답 검색",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"교직원 검토",</a:t>
            </a:r>
          </a:p>
          <a:p xmlns:a="http://schemas.openxmlformats.org/drawingml/2006/main">
            <a:r>
              <a:t>        "detail": "답변 근거와 원문 페이지를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"detail": "지침 판본·학년도·원문 페이지별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"학년도 혼용·예외 조항 누락의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"input": "학교급·학년도·업무 상황 확인",</a:t>
            </a:r>
          </a:p>
          <a:p xmlns:a="http://schemas.openxmlformats.org/drawingml/2006/main">
            <a:r>
              <a:t>        "process": "지침 판본·학년도·원문 페이지별 색인",</a:t>
            </a:r>
          </a:p>
          <a:p xmlns:a="http://schemas.openxmlformats.org/drawingml/2006/main">
            <a:r>
              <a:t>        "output": "학교급·질문"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"문서 전처리·RAG",</a:t>
            </a:r>
          </a:p>
          <a:p xmlns:a="http://schemas.openxmlformats.org/drawingml/2006/main">
            <a:r>
              <a:t>        "input": "학교급·질문",</a:t>
            </a:r>
          </a:p>
          <a:p xmlns:a="http://schemas.openxmlformats.org/drawingml/2006/main">
            <a:r>
              <a:t>        "process": "조건에 맞는 지침·질의응답 검색",</a:t>
            </a:r>
          </a:p>
          <a:p xmlns:a="http://schemas.openxmlformats.org/drawingml/2006/main">
            <a:r>
              <a:t>        "output": "관련 지침"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페이지 답변",</a:t>
            </a:r>
          </a:p>
          <a:p xmlns:a="http://schemas.openxmlformats.org/drawingml/2006/main">
            <a:r>
              <a:t>        "input": "관련 지침",</a:t>
            </a:r>
          </a:p>
          <a:p xmlns:a="http://schemas.openxmlformats.org/drawingml/2006/main">
            <a:r>
              <a:t>        "process": "학교급·연도·원문 페이지 대조",</a:t>
            </a:r>
          </a:p>
          <a:p xmlns:a="http://schemas.openxmlformats.org/drawingml/2006/main">
            <a:r>
              <a:t>        "output": "근거 페이지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"교직원 검증",</a:t>
            </a:r>
          </a:p>
          <a:p xmlns:a="http://schemas.openxmlformats.org/drawingml/2006/main">
            <a:r>
              <a:t>        "input": "근거 페이지 답변",</a:t>
            </a:r>
          </a:p>
          <a:p xmlns:a="http://schemas.openxmlformats.org/drawingml/2006/main">
            <a:r>
              <a:t>        "process": "답변 근거와 원문 페이지를 담당자에게 제공",</a:t>
            </a:r>
          </a:p>
          <a:p xmlns:a="http://schemas.openxmlformats.org/drawingml/2006/main">
            <a:r>
              <a:t>        "output": "검증·보완"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"학년도·학교급에 맞는 생활기록부 지침 안내",</a:t>
            </a:r>
          </a:p>
          <a:p xmlns:a="http://schemas.openxmlformats.org/drawingml/2006/main">
            <a:r>
              <a:t>      "exception": "이전 학년도 혼입·예외 조건 누락·원문 페이지 변경",</a:t>
            </a:r>
          </a:p>
          <a:p xmlns:a="http://schemas.openxmlformats.org/drawingml/2006/main">
            <a:r>
              <a:t>      "evidence": "학년도별 정답·근거 페이지·예외 적용 대조표",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"학교·교육행정 담당자",</a:t>
            </a:r>
          </a:p>
          <a:p xmlns:a="http://schemas.openxmlformats.org/drawingml/2006/main">
            <a:r>
              <a:t>          "processing": "학교급·학년도·업무 상황 확인",</a:t>
            </a:r>
          </a:p>
          <a:p xmlns:a="http://schemas.openxmlformats.org/drawingml/2006/main">
            <a:r>
              <a:t>          "output": "학교급·질문"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"학교급별 지침",</a:t>
            </a:r>
          </a:p>
          <a:p xmlns:a="http://schemas.openxmlformats.org/drawingml/2006/main">
            <a:r>
              <a:t>          "processing": "지침 판본·학년도·원문 페이지별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"학교급·질문",</a:t>
            </a:r>
          </a:p>
          <a:p xmlns:a="http://schemas.openxmlformats.org/drawingml/2006/main">
            <a:r>
              <a:t>          "processing": "조건에 맞는 지침·질의응답 검색",</a:t>
            </a:r>
          </a:p>
          <a:p xmlns:a="http://schemas.openxmlformats.org/drawingml/2006/main">
            <a:r>
              <a:t>          "output": "근거 페이지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페이지 답변",</a:t>
            </a:r>
          </a:p>
          <a:p xmlns:a="http://schemas.openxmlformats.org/drawingml/2006/main">
            <a:r>
              <a:t>          "processing": "답변 근거와 원문 페이지를 담당자에게 제공",</a:t>
            </a:r>
          </a:p>
          <a:p xmlns:a="http://schemas.openxmlformats.org/drawingml/2006/main">
            <a:r>
              <a:t>          "output": "검증·보완"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"학년도 혼용·예외 조항 누락의 평가",</a:t>
            </a:r>
          </a:p>
          <a:p xmlns:a="http://schemas.openxmlformats.org/drawingml/2006/main">
            <a:r>
              <a:t>          "output":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"학년도 혼용·예외 조항 누락의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"S-AX26",</a:t>
            </a:r>
          </a:p>
          <a:p xmlns:a="http://schemas.openxmlformats.org/drawingml/2006/main">
            <a:r>
              <a:t>        "title": "교육행정 응대 AI PoC · 공공AI 사례집 222–223쪽",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"학교급·학년도별 학교생활기록부 지침을 교직원 질의에 연결하는 사례. 같은 질문이라도 적용 연도·학교급·업무 상황에 따라 근거가 달라지는 규정형 업무.",</a:t>
            </a:r>
          </a:p>
          <a:p xmlns:a="http://schemas.openxmlformats.org/drawingml/2006/main">
            <a:r>
              <a:t>      "질의 문맥을 확보한 뒤 해당 지침 판본과 페이지를 검색해 근거를 제공하는 재구성. 답변의 편집·검토 과정에서도 원문 페이지와 적용 조건을 함께 보존.",</a:t>
            </a:r>
          </a:p>
          <a:p xmlns:a="http://schemas.openxmlformats.org/drawingml/2006/main">
            <a:r>
              <a:t>      "TS 조직 네이티브 AI에서는 소속·직무뿐 아니라 업무 대상과 시행일을 검색 조건으로 추가하는 참고. 연도 혼용·학교급 혼용·예외 조항 누락에 해당하는 TS 도메인 시험셋의 별도 구성."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"교직원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"학교·교육행정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"학교급·학년도",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"학교급·학년도·업무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지침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"학교급·질문",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"조건에 맞는 지침·질의응답 검색",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"페이지·예외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"학교급·연도·원문 페이지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"교직원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"학년도·학교급에 맞는 생활기록부 지침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"행정업무 적용",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"답변 근거와 원문 페이지를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"연도 혼용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"학년도 혼용·예외 조항 누락의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"지침·질의응답",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"학교급별 지침",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"페이지·판본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"지침 판본·학년도·원문 페이지별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"지침·평가셋",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"학년도별 정답·근거 페이지·예외 적용 대조표",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"학교급별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"이전 학년도 혼입·예외 조건 누락·원문 페이지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"학교급·학년도·업무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"학교급·질문",</a:t>
            </a:r>
          </a:p>
          <a:p xmlns:a="http://schemas.openxmlformats.org/drawingml/2006/main">
            <a:r>
              <a:t>          "check": "학교급·연도·원문 페이지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지침",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"이전 학년도 혼입·예외 조건 누락·원문 페이지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"답변 근거와 원문 페이지를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"검증·보완",</a:t>
            </a:r>
          </a:p>
          <a:p xmlns:a="http://schemas.openxmlformats.org/drawingml/2006/main">
            <a:r>
              <a:t>          "check":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"학교생활기록부 지침의 근거형 응대 / 지침 검색·질의응답·원문 페이지",</a:t>
            </a:r>
          </a:p>
          <a:p xmlns:a="http://schemas.openxmlformats.org/drawingml/2006/main">
            <a:r>
              <a:t>        "extension": "TS 부서·직무별 규정 및 동일 요청 교차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"이전 학년도 혼입·예외 조건 누락·원문 페이지 변경",</a:t>
            </a:r>
          </a:p>
          <a:p xmlns:a="http://schemas.openxmlformats.org/drawingml/2006/main">
            <a:r>
              <a:t>        "hold": "학교급·연도·원문 페이지 대조",</a:t>
            </a:r>
          </a:p>
          <a:p xmlns:a="http://schemas.openxmlformats.org/drawingml/2006/main">
            <a:r>
              <a:t>        "recovery": "학년도 혼용·예외 조항 누락의 평가",</a:t>
            </a:r>
          </a:p>
          <a:p xmlns:a="http://schemas.openxmlformats.org/drawingml/2006/main">
            <a:r>
              <a:t>        "evidence": "학년도별 정답·근거 페이지·예외 적용 대조표"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"학교급별 지침",</a:t>
            </a:r>
          </a:p>
          <a:p xmlns:a="http://schemas.openxmlformats.org/drawingml/2006/main">
            <a:r>
              <a:t>        "prepare": "지침 판본·학년도·원문 페이지별 색인",</a:t>
            </a:r>
          </a:p>
          <a:p xmlns:a="http://schemas.openxmlformats.org/drawingml/2006/main">
            <a:r>
              <a:t>        "output": "학교급·질문",</a:t>
            </a:r>
          </a:p>
          <a:p xmlns:a="http://schemas.openxmlformats.org/drawingml/2006/main">
            <a:r>
              <a:t>        "refresh": "학년도 혼용·예외 조항 누락의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"학교급별 지침의 분리",</a:t>
            </a:r>
          </a:p>
          <a:p xmlns:a="http://schemas.openxmlformats.org/drawingml/2006/main">
            <a:r>
              <a:t>      "답변과 원문 페이지의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"학교급·적용 연도 혼용",</a:t>
            </a:r>
          </a:p>
          <a:p xmlns:a="http://schemas.openxmlformats.org/drawingml/2006/main">
            <a:r>
              <a:t>      "유사 질문의 예외 답변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"교직원 질의",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"교직원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"학교급·질문",</a:t>
            </a:r>
          </a:p>
          <a:p xmlns:a="http://schemas.openxmlformats.org/drawingml/2006/main">
            <a:r>
              <a:t>      "관련 지침",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"검증·보완"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"학교급·연도·원문 페이지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교육행정 응대 AI PoC · 공공AI 사례집 222–223쪽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"case":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"title": "교육행정 응대 AI PoC",</a:t>
            </a:r>
          </a:p>
          <a:p xmlns:a="http://schemas.openxmlformats.org/drawingml/2006/main">
            <a:r>
              <a:t>    "region": "국내",</a:t>
            </a:r>
          </a:p>
          <a:p xmlns:a="http://schemas.openxmlformats.org/drawingml/2006/main">
            <a:r>
              <a:t>    "country": "대한민국",</a:t>
            </a:r>
          </a:p>
          <a:p xmlns:a="http://schemas.openxmlformats.org/drawingml/2006/main">
            <a:r>
              <a:t>    "result": "시범",</a:t>
            </a:r>
          </a:p>
          <a:p xmlns:a="http://schemas.openxmlformats.org/drawingml/2006/main">
            <a:r>
              <a:t>    "kind": "학교급·지침 기반 RAG",</a:t>
            </a:r>
          </a:p>
          <a:p xmlns:a="http://schemas.openxmlformats.org/drawingml/2006/main">
            <a:r>
              <a:t>    "period": "2024 실증",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"S-AX26"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"keywords": [</a:t>
            </a:r>
          </a:p>
          <a:p xmlns:a="http://schemas.openxmlformats.org/drawingml/2006/main">
            <a:r>
              <a:t>      "학교급",</a:t>
            </a:r>
          </a:p>
          <a:p xmlns:a="http://schemas.openxmlformats.org/drawingml/2006/main">
            <a:r>
              <a:t>      "지침 기반 RAG"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"fact": "학교생활기록부 지침·질의응답 자료를 활용한 RAG와 원문 페이지 연결 실증",</a:t>
            </a:r>
          </a:p>
          <a:p xmlns:a="http://schemas.openxmlformats.org/drawingml/2006/main">
            <a:r>
              <a:t>    "limit": "선정 문서·업무 범위의 PoC · 전체 교육행정 자동화와 구분",</a:t>
            </a:r>
          </a:p>
          <a:p xmlns:a="http://schemas.openxmlformats.org/drawingml/2006/main">
            <a:r>
              <a:t>    "flow": [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"문서 전처리·RAG",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"교직원 검증"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"flowBasis": "공개 업무 흐름의 요약·재구성 / 내부 배치 구조 추정 제외",</a:t>
            </a:r>
          </a:p>
          <a:p xmlns:a="http://schemas.openxmlformats.org/drawingml/2006/main">
            <a:r>
              <a:t>    "lesson":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"assets": [</a:t>
            </a:r>
          </a:p>
          <a:p xmlns:a="http://schemas.openxmlformats.org/drawingml/2006/main">
            <a:r>
              <a:t>      "CCK-01",</a:t>
            </a:r>
          </a:p>
          <a:p xmlns:a="http://schemas.openxmlformats.org/drawingml/2006/main">
            <a:r>
              <a:t>      "CCK-02"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"delta": "직무별 검색 필터·출처 페이지·오류 피드백",</a:t>
            </a:r>
          </a:p>
          <a:p xmlns:a="http://schemas.openxmlformats.org/drawingml/2006/main">
            <a:r>
              <a:t>    "test": "부서·직무 변경 전후 검색 근거 대조",</a:t>
            </a:r>
          </a:p>
          <a:p xmlns:a="http://schemas.openxmlformats.org/drawingml/2006/main">
            <a:r>
              <a:t>    "metric": "근거 일치율 / 보완시간",</a:t>
            </a:r>
          </a:p>
          <a:p xmlns:a="http://schemas.openxmlformats.org/drawingml/2006/main">
            <a:r>
              <a:t>    "strategies": [</a:t>
            </a:r>
          </a:p>
          <a:p xmlns:a="http://schemas.openxmlformats.org/drawingml/2006/main">
            <a:r>
              <a:t>      "ST-04",</a:t>
            </a:r>
          </a:p>
          <a:p xmlns:a="http://schemas.openxmlformats.org/drawingml/2006/main">
            <a:r>
              <a:t>      "ST-10",</a:t>
            </a:r>
          </a:p>
          <a:p xmlns:a="http://schemas.openxmlformats.org/drawingml/2006/main">
            <a:r>
              <a:t>      "ST-12"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"design":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"canonicalId": "AX26",</a:t>
            </a:r>
          </a:p>
          <a:p xmlns:a="http://schemas.openxmlformats.org/drawingml/2006/main">
            <a:r>
              <a:t>    "purpose": "학교생활기록부 지침의 근거형 응대",</a:t>
            </a:r>
          </a:p>
          <a:p xmlns:a="http://schemas.openxmlformats.org/drawingml/2006/main">
            <a:r>
              <a:t>    "users": "학교·교육행정 담당자",</a:t>
            </a:r>
          </a:p>
          <a:p xmlns:a="http://schemas.openxmlformats.org/drawingml/2006/main">
            <a:r>
              <a:t>    "scope": [</a:t>
            </a:r>
          </a:p>
          <a:p xmlns:a="http://schemas.openxmlformats.org/drawingml/2006/main">
            <a:r>
              <a:t>      "지침 검색",</a:t>
            </a:r>
          </a:p>
          <a:p xmlns:a="http://schemas.openxmlformats.org/drawingml/2006/main">
            <a:r>
              <a:t>      "질의응답",</a:t>
            </a:r>
          </a:p>
          <a:p xmlns:a="http://schemas.openxmlformats.org/drawingml/2006/main">
            <a:r>
              <a:t>      "원문 페이지"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"nodes":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"entry",</a:t>
            </a:r>
          </a:p>
          <a:p xmlns:a="http://schemas.openxmlformats.org/drawingml/2006/main">
            <a:r>
              <a:t>        "title": "교직원 질의",</a:t>
            </a:r>
          </a:p>
          <a:p xmlns:a="http://schemas.openxmlformats.org/drawingml/2006/main">
            <a:r>
              <a:t>        "detail": "학교급·학년도·업무 상황 확인",</a:t>
            </a:r>
          </a:p>
          <a:p xmlns:a="http://schemas.openxmlformats.org/drawingml/2006/main">
            <a:r>
              <a:t>        "layer": "이용 접점"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"route",</a:t>
            </a:r>
          </a:p>
          <a:p xmlns:a="http://schemas.openxmlformats.org/drawingml/2006/main">
            <a:r>
              <a:t>        "title": "문맥·처리 경로",</a:t>
            </a:r>
          </a:p>
          <a:p xmlns:a="http://schemas.openxmlformats.org/drawingml/2006/main">
            <a:r>
              <a:t>        "detail": "지침 검색 / 질의응답 / 원문 페이지",</a:t>
            </a:r>
          </a:p>
          <a:p xmlns:a="http://schemas.openxmlformats.org/drawingml/2006/main">
            <a:r>
              <a:t>        "layer": "서비스 조정"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"engine",</a:t>
            </a:r>
          </a:p>
          <a:p xmlns:a="http://schemas.openxmlformats.org/drawingml/2006/main">
            <a:r>
              <a:t>        "title": "전처리·RAG",</a:t>
            </a:r>
          </a:p>
          <a:p xmlns:a="http://schemas.openxmlformats.org/drawingml/2006/main">
            <a:r>
              <a:t>        "detail": "조건에 맞는 지침·질의응답 검색",</a:t>
            </a:r>
          </a:p>
          <a:p xmlns:a="http://schemas.openxmlformats.org/drawingml/2006/main">
            <a:r>
              <a:t>        "layer": "분석·AI 처리"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"result",</a:t>
            </a:r>
          </a:p>
          <a:p xmlns:a="http://schemas.openxmlformats.org/drawingml/2006/main">
            <a:r>
              <a:t>        "title": "교직원 검토",</a:t>
            </a:r>
          </a:p>
          <a:p xmlns:a="http://schemas.openxmlformats.org/drawingml/2006/main">
            <a:r>
              <a:t>        "detail": "답변 근거와 원문 페이지를 담당자에게 제공",</a:t>
            </a:r>
          </a:p>
          <a:p xmlns:a="http://schemas.openxmlformats.org/drawingml/2006/main">
            <a:r>
              <a:t>        "layer": "검토·업무 연결"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"data",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"detail": "지침 판본·학년도·원문 페이지별 색인",</a:t>
            </a:r>
          </a:p>
          <a:p xmlns:a="http://schemas.openxmlformats.org/drawingml/2006/main">
            <a:r>
              <a:t>        "layer": "데이터 기반"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"ops",</a:t>
            </a:r>
          </a:p>
          <a:p xmlns:a="http://schemas.openxmlformats.org/drawingml/2006/main">
            <a:r>
              <a:t>        "title": "품질·운영 관리",</a:t>
            </a:r>
          </a:p>
          <a:p xmlns:a="http://schemas.openxmlformats.org/drawingml/2006/main">
            <a:r>
              <a:t>        "detail": "학년도 혼용·예외 조항 누락의 평가",</a:t>
            </a:r>
          </a:p>
          <a:p xmlns:a="http://schemas.openxmlformats.org/drawingml/2006/main">
            <a:r>
              <a:t>        "layer": "운영 환류"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"edges": [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"entry",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"route",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"engine",</a:t>
            </a:r>
          </a:p>
          <a:p xmlns:a="http://schemas.openxmlformats.org/drawingml/2006/main">
            <a:r>
              <a:t>        "result"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"data",</a:t>
            </a:r>
          </a:p>
          <a:p xmlns:a="http://schemas.openxmlformats.org/drawingml/2006/main">
            <a:r>
              <a:t>        "engine"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"result",</a:t>
            </a:r>
          </a:p>
          <a:p xmlns:a="http://schemas.openxmlformats.org/drawingml/2006/main">
            <a:r>
              <a:t>        "ops"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[</a:t>
            </a:r>
          </a:p>
          <a:p xmlns:a="http://schemas.openxmlformats.org/drawingml/2006/main">
            <a:r>
              <a:t>        "ops",</a:t>
            </a:r>
          </a:p>
          <a:p xmlns:a="http://schemas.openxmlformats.org/drawingml/2006/main">
            <a:r>
              <a:t>        "route"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"sequence":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"학교급별 지침",</a:t>
            </a:r>
          </a:p>
          <a:p xmlns:a="http://schemas.openxmlformats.org/drawingml/2006/main">
            <a:r>
              <a:t>        "input": "학교급·학년도·업무 상황 확인",</a:t>
            </a:r>
          </a:p>
          <a:p xmlns:a="http://schemas.openxmlformats.org/drawingml/2006/main">
            <a:r>
              <a:t>        "process": "지침 판본·학년도·원문 페이지별 색인",</a:t>
            </a:r>
          </a:p>
          <a:p xmlns:a="http://schemas.openxmlformats.org/drawingml/2006/main">
            <a:r>
              <a:t>        "output": "학교급·질문"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"문서 전처리·RAG",</a:t>
            </a:r>
          </a:p>
          <a:p xmlns:a="http://schemas.openxmlformats.org/drawingml/2006/main">
            <a:r>
              <a:t>        "input": "학교급·질문",</a:t>
            </a:r>
          </a:p>
          <a:p xmlns:a="http://schemas.openxmlformats.org/drawingml/2006/main">
            <a:r>
              <a:t>        "process": "조건에 맞는 지침·질의응답 검색",</a:t>
            </a:r>
          </a:p>
          <a:p xmlns:a="http://schemas.openxmlformats.org/drawingml/2006/main">
            <a:r>
              <a:t>        "output": "관련 지침"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"근거 페이지 답변",</a:t>
            </a:r>
          </a:p>
          <a:p xmlns:a="http://schemas.openxmlformats.org/drawingml/2006/main">
            <a:r>
              <a:t>        "input": "관련 지침",</a:t>
            </a:r>
          </a:p>
          <a:p xmlns:a="http://schemas.openxmlformats.org/drawingml/2006/main">
            <a:r>
              <a:t>        "process": "학교급·연도·원문 페이지 대조",</a:t>
            </a:r>
          </a:p>
          <a:p xmlns:a="http://schemas.openxmlformats.org/drawingml/2006/main">
            <a:r>
              <a:t>        "output": "근거 페이지 답변"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"title": "교직원 검증",</a:t>
            </a:r>
          </a:p>
          <a:p xmlns:a="http://schemas.openxmlformats.org/drawingml/2006/main">
            <a:r>
              <a:t>        "input": "근거 페이지 답변",</a:t>
            </a:r>
          </a:p>
          <a:p xmlns:a="http://schemas.openxmlformats.org/drawingml/2006/main">
            <a:r>
              <a:t>        "process": "답변 근거와 원문 페이지를 담당자에게 제공",</a:t>
            </a:r>
          </a:p>
          <a:p xmlns:a="http://schemas.openxmlformats.org/drawingml/2006/main">
            <a:r>
              <a:t>        "output": "검증·보완"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"benchmark": {</a:t>
            </a:r>
          </a:p>
          <a:p xmlns:a="http://schemas.openxmlformats.org/drawingml/2006/main">
            <a:r>
              <a:t>      "normal": "학년도·학교급에 맞는 생활기록부 지침 안내",</a:t>
            </a:r>
          </a:p>
          <a:p xmlns:a="http://schemas.openxmlformats.org/drawingml/2006/main">
            <a:r>
              <a:t>      "exception": "이전 학년도 혼입·예외 조건 누락·원문 페이지 변경",</a:t>
            </a:r>
          </a:p>
          <a:p xmlns:a="http://schemas.openxmlformats.org/drawingml/2006/main">
            <a:r>
              <a:t>      "evidence": "학년도별 정답·근거 페이지·예외 적용 대조표",</a:t>
            </a:r>
          </a:p>
          <a:p xmlns:a="http://schemas.openxmlformats.org/drawingml/2006/main">
            <a:r>
              <a:t>      "label": "CCK 비교·재현 시험 설계",</a:t>
            </a:r>
          </a:p>
          <a:p xmlns:a="http://schemas.openxmlformats.org/drawingml/2006/main">
            <a:r>
              <a:t>      "functions":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"요청·업무 문맥",</a:t>
            </a:r>
          </a:p>
          <a:p xmlns:a="http://schemas.openxmlformats.org/drawingml/2006/main">
            <a:r>
              <a:t>          "input": "학교·교육행정 담당자",</a:t>
            </a:r>
          </a:p>
          <a:p xmlns:a="http://schemas.openxmlformats.org/drawingml/2006/main">
            <a:r>
              <a:t>          "processing": "학교급·학년도·업무 상황 확인",</a:t>
            </a:r>
          </a:p>
          <a:p xmlns:a="http://schemas.openxmlformats.org/drawingml/2006/main">
            <a:r>
              <a:t>          "output": "학교급·질문"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"데이터 준비·연결",</a:t>
            </a:r>
          </a:p>
          <a:p xmlns:a="http://schemas.openxmlformats.org/drawingml/2006/main">
            <a:r>
              <a:t>          "input": "학교급별 지침",</a:t>
            </a:r>
          </a:p>
          <a:p xmlns:a="http://schemas.openxmlformats.org/drawingml/2006/main">
            <a:r>
              <a:t>          "processing": "지침 판본·학년도·원문 페이지별 색인",</a:t>
            </a:r>
          </a:p>
          <a:p xmlns:a="http://schemas.openxmlformats.org/drawingml/2006/main">
            <a:r>
              <a:t>          "output": "처리에 사용할 자료·출처·문맥"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"분석·결과 생성",</a:t>
            </a:r>
          </a:p>
          <a:p xmlns:a="http://schemas.openxmlformats.org/drawingml/2006/main">
            <a:r>
              <a:t>          "input": "학교급·질문",</a:t>
            </a:r>
          </a:p>
          <a:p xmlns:a="http://schemas.openxmlformats.org/drawingml/2006/main">
            <a:r>
              <a:t>          "processing": "조건에 맞는 지침·질의응답 검색",</a:t>
            </a:r>
          </a:p>
          <a:p xmlns:a="http://schemas.openxmlformats.org/drawingml/2006/main">
            <a:r>
              <a:t>          "output": "근거 페이지 답변"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"검토·업무 인계",</a:t>
            </a:r>
          </a:p>
          <a:p xmlns:a="http://schemas.openxmlformats.org/drawingml/2006/main">
            <a:r>
              <a:t>          "input": "근거 페이지 답변",</a:t>
            </a:r>
          </a:p>
          <a:p xmlns:a="http://schemas.openxmlformats.org/drawingml/2006/main">
            <a:r>
              <a:t>          "processing": "답변 근거와 원문 페이지를 담당자에게 제공",</a:t>
            </a:r>
          </a:p>
          <a:p xmlns:a="http://schemas.openxmlformats.org/drawingml/2006/main">
            <a:r>
              <a:t>          "output": "검증·보완"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"name": "오류·운영 환류",</a:t>
            </a:r>
          </a:p>
          <a:p xmlns:a="http://schemas.openxmlformats.org/drawingml/2006/main">
            <a:r>
              <a:t>          "input": "오류·수정·업무 처리 기록",</a:t>
            </a:r>
          </a:p>
          <a:p xmlns:a="http://schemas.openxmlformats.org/drawingml/2006/main">
            <a:r>
              <a:t>          "processing": "학년도 혼용·예외 조항 누락의 평가",</a:t>
            </a:r>
          </a:p>
          <a:p xmlns:a="http://schemas.openxmlformats.org/drawingml/2006/main">
            <a:r>
              <a:t>          "output":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"operations": "학년도 혼용·예외 조항 누락의 평가",</a:t>
            </a:r>
          </a:p>
          <a:p xmlns:a="http://schemas.openxmlformats.org/drawingml/2006/main">
            <a:r>
              <a:t>    "status": "공개자료 기반 추론 설계",</a:t>
            </a:r>
          </a:p>
          <a:p xmlns:a="http://schemas.openxmlformats.org/drawingml/2006/main">
            <a:r>
              <a:t>    "basis": "운영기관·공급사·감사 자료의 업무 설명",</a:t>
            </a:r>
          </a:p>
          <a:p xmlns:a="http://schemas.openxmlformats.org/drawingml/2006/main">
            <a:r>
              <a:t>    "rfp": false,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{</a:t>
            </a:r>
          </a:p>
          <a:p xmlns:a="http://schemas.openxmlformats.org/drawingml/2006/main">
            <a:r>
              <a:t>        "id": "S-AX26",</a:t>
            </a:r>
          </a:p>
          <a:p xmlns:a="http://schemas.openxmlformats.org/drawingml/2006/main">
            <a:r>
              <a:t>        "title": "교육행정 응대 AI PoC · 공공AI 사례집 222–223쪽",</a:t>
            </a:r>
          </a:p>
          <a:p xmlns:a="http://schemas.openxmlformats.org/drawingml/2006/main">
            <a:r>
              <a:t>        "url": "https://bigdata.dongjak.go.kr/board/viewArticle?articleNo=954&amp;boardId=4",</a:t>
            </a:r>
          </a:p>
          <a:p xmlns:a="http://schemas.openxmlformats.org/drawingml/2006/main">
            <a:r>
              <a:t>        "published": "2024 실증",</a:t>
            </a:r>
          </a:p>
          <a:p xmlns:a="http://schemas.openxmlformats.org/drawingml/2006/main">
            <a:r>
              <a:t>        "level": "공공 사례집 수록",</a:t>
            </a:r>
          </a:p>
          <a:p xmlns:a="http://schemas.openxmlformats.org/drawingml/2006/main">
            <a:r>
              <a:t>        "checked": "2026-10-16"</a:t>
            </a:r>
          </a:p>
          <a:p xmlns:a="http://schemas.openxmlformats.org/drawingml/2006/main">
            <a:r>
              <a:t>      }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"implication": "동일 질문도 소속·업무 맥락별 지침 구분",</a:t>
            </a:r>
          </a:p>
          <a:p xmlns:a="http://schemas.openxmlformats.org/drawingml/2006/main">
            <a:r>
              <a:t>    "local": "TS 부서·직무별 규정 및 동일 요청 교차 평가",</a:t>
            </a:r>
          </a:p>
          <a:p xmlns:a="http://schemas.openxmlformats.org/drawingml/2006/main">
            <a:r>
              <a:t>    "sourceDetail": null,</a:t>
            </a:r>
          </a:p>
          <a:p xmlns:a="http://schemas.openxmlformats.org/drawingml/2006/main">
            <a:r>
              <a:t>    "narrative": [</a:t>
            </a:r>
          </a:p>
          <a:p xmlns:a="http://schemas.openxmlformats.org/drawingml/2006/main">
            <a:r>
              <a:t>      "학교급·학년도별 학교생활기록부 지침을 교직원 질의에 연결하는 사례. 같은 질문이라도 적용 연도·학교급·업무 상황에 따라 근거가 달라지는 규정형 업무.",</a:t>
            </a:r>
          </a:p>
          <a:p xmlns:a="http://schemas.openxmlformats.org/drawingml/2006/main">
            <a:r>
              <a:t>      "질의 문맥을 확보한 뒤 해당 지침 판본과 페이지를 검색해 근거를 제공하는 재구성. 답변의 편집·검토 과정에서도 원문 페이지와 적용 조건을 함께 보존.",</a:t>
            </a:r>
          </a:p>
          <a:p xmlns:a="http://schemas.openxmlformats.org/drawingml/2006/main">
            <a:r>
              <a:t>      "TS 조직 네이티브 AI에서는 소속·직무뿐 아니라 업무 대상과 시행일을 검색 조건으로 추가하는 참고. 연도 혼용·학교급 혼용·예외 조항 누락에 해당하는 TS 도메인 시험셋의 별도 구성."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"requirements": [],</a:t>
            </a:r>
          </a:p>
          <a:p xmlns:a="http://schemas.openxmlformats.org/drawingml/2006/main">
            <a:r>
              <a:t>    "service": {</a:t>
            </a:r>
          </a:p>
          <a:p xmlns:a="http://schemas.openxmlformats.org/drawingml/2006/main">
            <a:r>
              <a:t>      "status": "CCK 세부 재구성 · 논리 서비스 설계",</a:t>
            </a:r>
          </a:p>
          <a:p xmlns:a="http://schemas.openxmlformats.org/drawingml/2006/main">
            <a:r>
              <a:t>      "components":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"C01",</a:t>
            </a:r>
          </a:p>
          <a:p xmlns:a="http://schemas.openxmlformats.org/drawingml/2006/main">
            <a:r>
              <a:t>          "title": "교직원 질의",</a:t>
            </a:r>
          </a:p>
          <a:p xmlns:a="http://schemas.openxmlformats.org/drawingml/2006/main">
            <a:r>
              <a:t>          "layer": "이용 접점",</a:t>
            </a:r>
          </a:p>
          <a:p xmlns:a="http://schemas.openxmlformats.org/drawingml/2006/main">
            <a:r>
              <a:t>          "detail": "학교·교육행정 담당자",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"C02",</a:t>
            </a:r>
          </a:p>
          <a:p xmlns:a="http://schemas.openxmlformats.org/drawingml/2006/main">
            <a:r>
              <a:t>          "title": "학교급·학년도",</a:t>
            </a:r>
          </a:p>
          <a:p xmlns:a="http://schemas.openxmlformats.org/drawingml/2006/main">
            <a:r>
              <a:t>          "layer": "업무 문맥",</a:t>
            </a:r>
          </a:p>
          <a:p xmlns:a="http://schemas.openxmlformats.org/drawingml/2006/main">
            <a:r>
              <a:t>          "detail": "학교급·학년도·업무 상황 확인",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"C03",</a:t>
            </a:r>
          </a:p>
          <a:p xmlns:a="http://schemas.openxmlformats.org/drawingml/2006/main">
            <a:r>
              <a:t>          "title": "유효 지침 검색",</a:t>
            </a:r>
          </a:p>
          <a:p xmlns:a="http://schemas.openxmlformats.org/drawingml/2006/main">
            <a:r>
              <a:t>          "layer": "자료 조회",</a:t>
            </a:r>
          </a:p>
          <a:p xmlns:a="http://schemas.openxmlformats.org/drawingml/2006/main">
            <a:r>
              <a:t>          "detail": "학교급·질문",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"C04",</a:t>
            </a:r>
          </a:p>
          <a:p xmlns:a="http://schemas.openxmlformats.org/drawingml/2006/main">
            <a:r>
              <a:t>          "title": "근거 답변 생성",</a:t>
            </a:r>
          </a:p>
          <a:p xmlns:a="http://schemas.openxmlformats.org/drawingml/2006/main">
            <a:r>
              <a:t>          "layer": "핵심 처리",</a:t>
            </a:r>
          </a:p>
          <a:p xmlns:a="http://schemas.openxmlformats.org/drawingml/2006/main">
            <a:r>
              <a:t>          "detail": "조건에 맞는 지침·질의응답 검색",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"C05",</a:t>
            </a:r>
          </a:p>
          <a:p xmlns:a="http://schemas.openxmlformats.org/drawingml/2006/main">
            <a:r>
              <a:t>          "title": "페이지·예외 대조",</a:t>
            </a:r>
          </a:p>
          <a:p xmlns:a="http://schemas.openxmlformats.org/drawingml/2006/main">
            <a:r>
              <a:t>          "layer": "결과 검증",</a:t>
            </a:r>
          </a:p>
          <a:p xmlns:a="http://schemas.openxmlformats.org/drawingml/2006/main">
            <a:r>
              <a:t>          "detail": "학교급·연도·원문 페이지 대조",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"C06",</a:t>
            </a:r>
          </a:p>
          <a:p xmlns:a="http://schemas.openxmlformats.org/drawingml/2006/main">
            <a:r>
              <a:t>          "title": "교직원 원문 확인",</a:t>
            </a:r>
          </a:p>
          <a:p xmlns:a="http://schemas.openxmlformats.org/drawingml/2006/main">
            <a:r>
              <a:t>          "layer": "사람 확인",</a:t>
            </a:r>
          </a:p>
          <a:p xmlns:a="http://schemas.openxmlformats.org/drawingml/2006/main">
            <a:r>
              <a:t>          "detail": "학년도·학교급에 맞는 생활기록부 지침 안내",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"C07",</a:t>
            </a:r>
          </a:p>
          <a:p xmlns:a="http://schemas.openxmlformats.org/drawingml/2006/main">
            <a:r>
              <a:t>          "title": "행정업무 적용",</a:t>
            </a:r>
          </a:p>
          <a:p xmlns:a="http://schemas.openxmlformats.org/drawingml/2006/main">
            <a:r>
              <a:t>          "layer": "업무 연결",</a:t>
            </a:r>
          </a:p>
          <a:p xmlns:a="http://schemas.openxmlformats.org/drawingml/2006/main">
            <a:r>
              <a:t>          "detail": "답변 근거와 원문 페이지를 담당자에게 제공",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"C08",</a:t>
            </a:r>
          </a:p>
          <a:p xmlns:a="http://schemas.openxmlformats.org/drawingml/2006/main">
            <a:r>
              <a:t>          "title": "연도 혼용 검사",</a:t>
            </a:r>
          </a:p>
          <a:p xmlns:a="http://schemas.openxmlformats.org/drawingml/2006/main">
            <a:r>
              <a:t>          "layer": "운영 관측",</a:t>
            </a:r>
          </a:p>
          <a:p xmlns:a="http://schemas.openxmlformats.org/drawingml/2006/main">
            <a:r>
              <a:t>          "detail": "학년도 혼용·예외 조항 누락의 평가",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"C09",</a:t>
            </a:r>
          </a:p>
          <a:p xmlns:a="http://schemas.openxmlformats.org/drawingml/2006/main">
            <a:r>
              <a:t>          "title": "지침·질의응답",</a:t>
            </a:r>
          </a:p>
          <a:p xmlns:a="http://schemas.openxmlformats.org/drawingml/2006/main">
            <a:r>
              <a:t>          "layer": "데이터 원천",</a:t>
            </a:r>
          </a:p>
          <a:p xmlns:a="http://schemas.openxmlformats.org/drawingml/2006/main">
            <a:r>
              <a:t>          "detail": "학교급별 지침",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"C10",</a:t>
            </a:r>
          </a:p>
          <a:p xmlns:a="http://schemas.openxmlformats.org/drawingml/2006/main">
            <a:r>
              <a:t>          "title": "페이지·판본 색인",</a:t>
            </a:r>
          </a:p>
          <a:p xmlns:a="http://schemas.openxmlformats.org/drawingml/2006/main">
            <a:r>
              <a:t>          "layer": "준비·갱신",</a:t>
            </a:r>
          </a:p>
          <a:p xmlns:a="http://schemas.openxmlformats.org/drawingml/2006/main">
            <a:r>
              <a:t>          "detail": "지침 판본·학년도·원문 페이지별 색인",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"C11",</a:t>
            </a:r>
          </a:p>
          <a:p xmlns:a="http://schemas.openxmlformats.org/drawingml/2006/main">
            <a:r>
              <a:t>          "title": "지침·평가셋",</a:t>
            </a:r>
          </a:p>
          <a:p xmlns:a="http://schemas.openxmlformats.org/drawingml/2006/main">
            <a:r>
              <a:t>          "layer": "상태·지식 저장",</a:t>
            </a:r>
          </a:p>
          <a:p xmlns:a="http://schemas.openxmlformats.org/drawingml/2006/main">
            <a:r>
              <a:t>          "detail": "학년도별 정답·근거 페이지·예외 적용 대조표",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"C12",</a:t>
            </a:r>
          </a:p>
          <a:p xmlns:a="http://schemas.openxmlformats.org/drawingml/2006/main">
            <a:r>
              <a:t>          "title": "학교급별 경계",</a:t>
            </a:r>
          </a:p>
          <a:p xmlns:a="http://schemas.openxmlformats.org/drawingml/2006/main">
            <a:r>
              <a:t>          "layer": "권한·정책",</a:t>
            </a:r>
          </a:p>
          <a:p xmlns:a="http://schemas.openxmlformats.org/drawingml/2006/main">
            <a:r>
              <a:t>          "detail": "이전 학년도 혼입·예외 조건 누락·원문 페이지 변경",</a:t>
            </a:r>
          </a:p>
          <a:p xmlns:a="http://schemas.openxmlformats.org/drawingml/2006/main">
            <a:r>
              <a:t>          "requirements": []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"interfaces":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"IF-01",</a:t>
            </a:r>
          </a:p>
          <a:p xmlns:a="http://schemas.openxmlformats.org/drawingml/2006/main">
            <a:r>
              <a:t>          "from": "C01",</a:t>
            </a:r>
          </a:p>
          <a:p xmlns:a="http://schemas.openxmlformats.org/drawingml/2006/main">
            <a:r>
              <a:t>          "to": "C02",</a:t>
            </a:r>
          </a:p>
          <a:p xmlns:a="http://schemas.openxmlformats.org/drawingml/2006/main">
            <a:r>
              <a:t>          "mode": "요청",</a:t>
            </a:r>
          </a:p>
          <a:p xmlns:a="http://schemas.openxmlformats.org/drawingml/2006/main">
            <a:r>
              <a:t>          "payload": "학교급·학년도·업무 상황 확인",</a:t>
            </a:r>
          </a:p>
          <a:p xmlns:a="http://schemas.openxmlformats.org/drawingml/2006/main">
            <a:r>
              <a:t>          "check": "대상·기간·업무 목적 식별"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"IF-02",</a:t>
            </a:r>
          </a:p>
          <a:p xmlns:a="http://schemas.openxmlformats.org/drawingml/2006/main">
            <a:r>
              <a:t>          "from": "C02",</a:t>
            </a:r>
          </a:p>
          <a:p xmlns:a="http://schemas.openxmlformats.org/drawingml/2006/main">
            <a:r>
              <a:t>          "to": "C03",</a:t>
            </a:r>
          </a:p>
          <a:p xmlns:a="http://schemas.openxmlformats.org/drawingml/2006/main">
            <a:r>
              <a:t>          "mode": "조회",</a:t>
            </a:r>
          </a:p>
          <a:p xmlns:a="http://schemas.openxmlformats.org/drawingml/2006/main">
            <a:r>
              <a:t>          "payload": "학교급·질문",</a:t>
            </a:r>
          </a:p>
          <a:p xmlns:a="http://schemas.openxmlformats.org/drawingml/2006/main">
            <a:r>
              <a:t>          "check": "학교급·연도·원문 페이지 대조"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"IF-03",</a:t>
            </a:r>
          </a:p>
          <a:p xmlns:a="http://schemas.openxmlformats.org/drawingml/2006/main">
            <a:r>
              <a:t>          "from": "C03",</a:t>
            </a:r>
          </a:p>
          <a:p xmlns:a="http://schemas.openxmlformats.org/drawingml/2006/main">
            <a:r>
              <a:t>          "to": "C04",</a:t>
            </a:r>
          </a:p>
          <a:p xmlns:a="http://schemas.openxmlformats.org/drawingml/2006/main">
            <a:r>
              <a:t>          "mode": "처리",</a:t>
            </a:r>
          </a:p>
          <a:p xmlns:a="http://schemas.openxmlformats.org/drawingml/2006/main">
            <a:r>
              <a:t>          "payload": "관련 지침",</a:t>
            </a:r>
          </a:p>
          <a:p xmlns:a="http://schemas.openxmlformats.org/drawingml/2006/main">
            <a:r>
              <a:t>          "check": "출처·시점·조회 범위 보존"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"IF-04",</a:t>
            </a:r>
          </a:p>
          <a:p xmlns:a="http://schemas.openxmlformats.org/drawingml/2006/main">
            <a:r>
              <a:t>          "from": "C04",</a:t>
            </a:r>
          </a:p>
          <a:p xmlns:a="http://schemas.openxmlformats.org/drawingml/2006/main">
            <a:r>
              <a:t>          "to": "C05",</a:t>
            </a:r>
          </a:p>
          <a:p xmlns:a="http://schemas.openxmlformats.org/drawingml/2006/main">
            <a:r>
              <a:t>          "mode": "검증",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"이전 학년도 혼입·예외 조건 누락·원문 페이지 변경"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"IF-05",</a:t>
            </a:r>
          </a:p>
          <a:p xmlns:a="http://schemas.openxmlformats.org/drawingml/2006/main">
            <a:r>
              <a:t>          "from": "C06",</a:t>
            </a:r>
          </a:p>
          <a:p xmlns:a="http://schemas.openxmlformats.org/drawingml/2006/main">
            <a:r>
              <a:t>          "to": "C07",</a:t>
            </a:r>
          </a:p>
          <a:p xmlns:a="http://schemas.openxmlformats.org/drawingml/2006/main">
            <a:r>
              <a:t>          "mode": "검토·인계",</a:t>
            </a:r>
          </a:p>
          <a:p xmlns:a="http://schemas.openxmlformats.org/drawingml/2006/main">
            <a:r>
              <a:t>          "payload": "근거 페이지 답변",</a:t>
            </a:r>
          </a:p>
          <a:p xmlns:a="http://schemas.openxmlformats.org/drawingml/2006/main">
            <a:r>
              <a:t>          "check": "답변 근거와 원문 페이지를 담당자에게 제공"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"IF-06",</a:t>
            </a:r>
          </a:p>
          <a:p xmlns:a="http://schemas.openxmlformats.org/drawingml/2006/main">
            <a:r>
              <a:t>          "from": "C07",</a:t>
            </a:r>
          </a:p>
          <a:p xmlns:a="http://schemas.openxmlformats.org/drawingml/2006/main">
            <a:r>
              <a:t>          "to": "C08",</a:t>
            </a:r>
          </a:p>
          <a:p xmlns:a="http://schemas.openxmlformats.org/drawingml/2006/main">
            <a:r>
              <a:t>          "mode": "결과·환류",</a:t>
            </a:r>
          </a:p>
          <a:p xmlns:a="http://schemas.openxmlformats.org/drawingml/2006/main">
            <a:r>
              <a:t>          "payload": "검증·보완",</a:t>
            </a:r>
          </a:p>
          <a:p xmlns:a="http://schemas.openxmlformats.org/drawingml/2006/main">
            <a:r>
              <a:t>          "check": "학년도별 정답·근거 페이지·예외 적용 대조표"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"edges": [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0,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2,</a:t>
            </a:r>
          </a:p>
          <a:p xmlns:a="http://schemas.openxmlformats.org/drawingml/2006/main">
            <a:r>
              <a:t>          3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3,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4,</a:t>
            </a:r>
          </a:p>
          <a:p xmlns:a="http://schemas.openxmlformats.org/drawingml/2006/main">
            <a:r>
              <a:t>          5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5,</a:t>
            </a:r>
          </a:p>
          <a:p xmlns:a="http://schemas.openxmlformats.org/drawingml/2006/main">
            <a:r>
              <a:t>          6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6,</a:t>
            </a:r>
          </a:p>
          <a:p xmlns:a="http://schemas.openxmlformats.org/drawingml/2006/main">
            <a:r>
              <a:t>          7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8,</a:t>
            </a:r>
          </a:p>
          <a:p xmlns:a="http://schemas.openxmlformats.org/drawingml/2006/main">
            <a:r>
              <a:t>          9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9,</a:t>
            </a:r>
          </a:p>
          <a:p xmlns:a="http://schemas.openxmlformats.org/drawingml/2006/main">
            <a:r>
              <a:t>          10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10,</a:t>
            </a:r>
          </a:p>
          <a:p xmlns:a="http://schemas.openxmlformats.org/drawingml/2006/main">
            <a:r>
              <a:t>          2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1</a:t>
            </a:r>
          </a:p>
          <a:p xmlns:a="http://schemas.openxmlformats.org/drawingml/2006/main">
            <a:r>
              <a:t>        ],</a:t>
            </a:r>
          </a:p>
          <a:p xmlns:a="http://schemas.openxmlformats.org/drawingml/2006/main">
            <a:r>
              <a:t>        [</a:t>
            </a:r>
          </a:p>
          <a:p xmlns:a="http://schemas.openxmlformats.org/drawingml/2006/main">
            <a:r>
              <a:t>          11,</a:t>
            </a:r>
          </a:p>
          <a:p xmlns:a="http://schemas.openxmlformats.org/drawingml/2006/main">
            <a:r>
              <a:t>          4</a:t>
            </a:r>
          </a:p>
          <a:p xmlns:a="http://schemas.openxmlformats.org/drawingml/2006/main">
            <a:r>
              <a:t>        ]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"facts": {</a:t>
            </a:r>
          </a:p>
          <a:p xmlns:a="http://schemas.openxmlformats.org/drawingml/2006/main">
            <a:r>
              <a:t>        "locator": "운영기관·공급사·감사 자료의 업무 설명",</a:t>
            </a:r>
          </a:p>
          <a:p xmlns:a="http://schemas.openxmlformats.org/drawingml/2006/main">
            <a:r>
              <a:t>        "extracted": "학교생활기록부 지침의 근거형 응대 / 지침 검색·질의응답·원문 페이지",</a:t>
            </a:r>
          </a:p>
          <a:p xmlns:a="http://schemas.openxmlformats.org/drawingml/2006/main">
            <a:r>
              <a:t>        "extension": "TS 부서·직무별 규정 및 동일 요청 교차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"figures": [],</a:t>
            </a:r>
          </a:p>
          <a:p xmlns:a="http://schemas.openxmlformats.org/drawingml/2006/main">
            <a:r>
              <a:t>      "source": null,</a:t>
            </a:r>
          </a:p>
          <a:p xmlns:a="http://schemas.openxmlformats.org/drawingml/2006/main">
            <a:r>
              <a:t>      "exception": {</a:t>
            </a:r>
          </a:p>
          <a:p xmlns:a="http://schemas.openxmlformats.org/drawingml/2006/main">
            <a:r>
              <a:t>        "input": "이전 학년도 혼입·예외 조건 누락·원문 페이지 변경",</a:t>
            </a:r>
          </a:p>
          <a:p xmlns:a="http://schemas.openxmlformats.org/drawingml/2006/main">
            <a:r>
              <a:t>        "hold": "학교급·연도·원문 페이지 대조",</a:t>
            </a:r>
          </a:p>
          <a:p xmlns:a="http://schemas.openxmlformats.org/drawingml/2006/main">
            <a:r>
              <a:t>        "recovery": "학년도 혼용·예외 조항 누락의 평가",</a:t>
            </a:r>
          </a:p>
          <a:p xmlns:a="http://schemas.openxmlformats.org/drawingml/2006/main">
            <a:r>
              <a:t>        "evidence": "학년도별 정답·근거 페이지·예외 적용 대조표"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"data": {</a:t>
            </a:r>
          </a:p>
          <a:p xmlns:a="http://schemas.openxmlformats.org/drawingml/2006/main">
            <a:r>
              <a:t>        "source": "학교급별 지침",</a:t>
            </a:r>
          </a:p>
          <a:p xmlns:a="http://schemas.openxmlformats.org/drawingml/2006/main">
            <a:r>
              <a:t>        "prepare": "지침 판본·학년도·원문 페이지별 색인",</a:t>
            </a:r>
          </a:p>
          <a:p xmlns:a="http://schemas.openxmlformats.org/drawingml/2006/main">
            <a:r>
              <a:t>        "output": "학교급·질문",</a:t>
            </a:r>
          </a:p>
          <a:p xmlns:a="http://schemas.openxmlformats.org/drawingml/2006/main">
            <a:r>
              <a:t>        "refresh": "학년도 혼용·예외 조항 누락의 평가"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"boundary": "구성요소·연계·실패 복구는 CCK 분석 설계. 원문 도면의 예시·기존 현황·목표 구분은 각 캡션 기준."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"factors": {</a:t>
            </a:r>
          </a:p>
          <a:p xmlns:a="http://schemas.openxmlformats.org/drawingml/2006/main">
            <a:r>
              <a:t>    "id": "AX26",</a:t>
            </a:r>
          </a:p>
          <a:p xmlns:a="http://schemas.openxmlformats.org/drawingml/2006/main">
            <a:r>
              <a:t>    "success": [</a:t>
            </a:r>
          </a:p>
          <a:p xmlns:a="http://schemas.openxmlformats.org/drawingml/2006/main">
            <a:r>
              <a:t>      "학교급별 지침의 분리",</a:t>
            </a:r>
          </a:p>
          <a:p xmlns:a="http://schemas.openxmlformats.org/drawingml/2006/main">
            <a:r>
              <a:t>      "답변과 원문 페이지의 연결"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"risks": [</a:t>
            </a:r>
          </a:p>
          <a:p xmlns:a="http://schemas.openxmlformats.org/drawingml/2006/main">
            <a:r>
              <a:t>      "학교급·적용 연도 혼용",</a:t>
            </a:r>
          </a:p>
          <a:p xmlns:a="http://schemas.openxmlformats.org/drawingml/2006/main">
            <a:r>
              <a:t>      "유사 질문의 예외 답변 누락"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"architecture": [</a:t>
            </a:r>
          </a:p>
          <a:p xmlns:a="http://schemas.openxmlformats.org/drawingml/2006/main">
            <a:r>
              <a:t>      "교직원 질의",</a:t>
            </a:r>
          </a:p>
          <a:p xmlns:a="http://schemas.openxmlformats.org/drawingml/2006/main">
            <a:r>
              <a:t>      "전처리·RAG",</a:t>
            </a:r>
          </a:p>
          <a:p xmlns:a="http://schemas.openxmlformats.org/drawingml/2006/main">
            <a:r>
              <a:t>      "학교급별 지침",</a:t>
            </a:r>
          </a:p>
          <a:p xmlns:a="http://schemas.openxmlformats.org/drawingml/2006/main">
            <a:r>
              <a:t>      "교직원 검토"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"transfers": [</a:t>
            </a:r>
          </a:p>
          <a:p xmlns:a="http://schemas.openxmlformats.org/drawingml/2006/main">
            <a:r>
              <a:t>      "학교급·질문",</a:t>
            </a:r>
          </a:p>
          <a:p xmlns:a="http://schemas.openxmlformats.org/drawingml/2006/main">
            <a:r>
              <a:t>      "관련 지침",</a:t>
            </a:r>
          </a:p>
          <a:p xmlns:a="http://schemas.openxmlformats.org/drawingml/2006/main">
            <a:r>
              <a:t>      "근거 페이지 답변",</a:t>
            </a:r>
          </a:p>
          <a:p xmlns:a="http://schemas.openxmlformats.org/drawingml/2006/main">
            <a:r>
              <a:t>      "검증·보완"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"control": "학교급·연도·원문 페이지 대조",</a:t>
            </a:r>
          </a:p>
          <a:p xmlns:a="http://schemas.openxmlformats.org/drawingml/2006/main">
            <a:r>
              <a:t>    "analysis": "공개 내용에 근거한 CCK 분석",</a:t>
            </a:r>
          </a:p>
          <a:p xmlns:a="http://schemas.openxmlformats.org/drawingml/2006/main">
            <a:r>
              <a:t>    "diagramBasis": "공개 업무 설명 기반 논리구조 재구성"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교육행정 응대 AI PoC · 공공AI 사례집 222–223쪽 https://bigdata.dongjak.go.kr/board/viewArticle?articleNo=954&amp;boardId=4</a:t>
            </a:r>
          </a:p>
          <a:p xmlns:a="http://schemas.openxmlformats.org/drawingml/2006/main">
            <a:r>
              <a:t>홈페이지 https://heen1987-ops.github.io/TS-business-Plan-001/index.html?view=casebook&amp;case=AX26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"ST-01",</a:t>
            </a:r>
          </a:p>
          <a:p xmlns:a="http://schemas.openxmlformats.org/drawingml/2006/main">
            <a:r>
              <a:t>  "number": 1,</a:t>
            </a:r>
          </a:p>
          <a:p xmlns:a="http://schemas.openxmlformats.org/drawingml/2006/main">
            <a:r>
              <a:t>  "direction": "무결점 교통안전체계 조성",</a:t>
            </a:r>
          </a:p>
          <a:p xmlns:a="http://schemas.openxmlformats.org/drawingml/2006/main">
            <a:r>
              <a:t>  "strategy": "사고취약 수단·계층 정밀 안전망 구축",</a:t>
            </a:r>
          </a:p>
          <a:p xmlns:a="http://schemas.openxmlformats.org/drawingml/2006/main">
            <a:r>
              <a:t>  "solution": "취약 교통안전 업무지원",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"L01",</a:t>
            </a:r>
          </a:p>
          <a:p xmlns:a="http://schemas.openxmlformats.org/drawingml/2006/main">
            <a:r>
              <a:t>    "L02",</a:t>
            </a:r>
          </a:p>
          <a:p xmlns:a="http://schemas.openxmlformats.org/drawingml/2006/main">
            <a:r>
              <a:t>    "L03",</a:t>
            </a:r>
          </a:p>
          <a:p xmlns:a="http://schemas.openxmlformats.org/drawingml/2006/main">
            <a:r>
              <a:t>    "L04",</a:t>
            </a:r>
          </a:p>
          <a:p xmlns:a="http://schemas.openxmlformats.org/drawingml/2006/main">
            <a:r>
              <a:t>    "L17"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"1022030",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"1019030",</a:t>
            </a:r>
          </a:p>
          <a:p xmlns:a="http://schemas.openxmlformats.org/drawingml/2006/main">
            <a:r>
              <a:t>    "1019020"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"지역별 위험 근거·현장점검·개선조치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"관할·대상·점검 기준별 근거 묶음 구성",</a:t>
            </a:r>
          </a:p>
          <a:p xmlns:a="http://schemas.openxmlformats.org/drawingml/2006/main">
            <a:r>
              <a:t>    "개선과제·담당자·기한·현장 증빙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"위험 근거 묶음·미조치 목록",</a:t>
            </a:r>
          </a:p>
          <a:p xmlns:a="http://schemas.openxmlformats.org/drawingml/2006/main">
            <a:r>
              <a:t>  "acceptance": "관할·취약대상·점검판본별 근거와 조치 담당의 일치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안전관리",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교통안전수단점검에 관한 업무 총괄",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"교통시설·사각지대 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"9. 교통안전 사각지대 교통안전점검에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"운행기록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"5. 교통안전정보관리체계 운영에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"교통약자 실태조사",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"AX02",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"AX16",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"지역·취약계층 안전조치 근거 지원",</a:t>
            </a:r>
          </a:p>
          <a:p xmlns:a="http://schemas.openxmlformats.org/drawingml/2006/main">
            <a:r>
              <a:t>  "delta": "관할·대상·현장 증거 연결",</a:t>
            </a:r>
          </a:p>
          <a:p xmlns:a="http://schemas.openxmlformats.org/drawingml/2006/main">
            <a:r>
              <a:t>  "kpi": "위험 검토시간 / 조치 이행률",</a:t>
            </a:r>
          </a:p>
          <a:p xmlns:a="http://schemas.openxmlformats.org/drawingml/2006/main">
            <a:r>
              <a:t>  "validation": "지역·기간별 원천 대조, 미조치 건 추적",</a:t>
            </a:r>
          </a:p>
          <a:p xmlns:a="http://schemas.openxmlformats.org/drawingml/2006/main">
            <a:r>
              <a:t>  "requirement": "BM-ST-01-R01",</a:t>
            </a:r>
          </a:p>
          <a:p xmlns:a="http://schemas.openxmlformats.org/drawingml/2006/main">
            <a:r>
              <a:t>  "test": "BM-ST-01-T01",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"위험 검토시간·조치 누락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"지역·대상별 사고 집계, 현장점검표, 개선조치 이력",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"관할·취약대상 분류",</a:t>
            </a:r>
          </a:p>
          <a:p xmlns:a="http://schemas.openxmlformats.org/drawingml/2006/main">
            <a:r>
              <a:t>    "현장 증거와 위험요인 대조",</a:t>
            </a:r>
          </a:p>
          <a:p xmlns:a="http://schemas.openxmlformats.org/drawingml/2006/main">
            <a:r>
              <a:t>    "조치 담당·기한 지정",</a:t>
            </a:r>
          </a:p>
          <a:p xmlns:a="http://schemas.openxmlformats.org/drawingml/2006/main">
            <a:r>
              <a:t>    "이행·재점검 확인"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안전관리",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교통안전수단점검에 관한 업무 총괄",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"RULEWORK-1022030-5",</a:t>
            </a:r>
          </a:p>
          <a:p xmlns:a="http://schemas.openxmlformats.org/drawingml/2006/main">
            <a:r>
              <a:t>          "text": "5. 교통안전수단점검에 관한 업무 총괄",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"RULEWORK-1022030-5-T01",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"RULEWORK-1022030-5-T02",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"RULEWORK-1022030-7",</a:t>
            </a:r>
          </a:p>
          <a:p xmlns:a="http://schemas.openxmlformats.org/drawingml/2006/main">
            <a:r>
              <a:t>          "text": "7. 운수회사 안전관리 및 교통사고 예방사업",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"RULEWORK-1022030-7-T01",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"RULEWORK-1022030-7-T02",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"교통시설·사각지대 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"9. 교통안전 사각지대 교통안전점검에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"RULEWORK-1021030-7",</a:t>
            </a:r>
          </a:p>
          <a:p xmlns:a="http://schemas.openxmlformats.org/drawingml/2006/main">
            <a:r>
              <a:t>          "text": "7. 교통시설 안전진단ㆍ점검ㆍ평가에 관한 업무",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"RULEWORK-1021030-7-T01",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"RULEWORK-1021030-7-T02",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"RULEWORK-1021030-9",</a:t>
            </a:r>
          </a:p>
          <a:p xmlns:a="http://schemas.openxmlformats.org/drawingml/2006/main">
            <a:r>
              <a:t>          "text": "9. 교통안전 사각지대 교통안전점검에 관한 업무",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"RULEWORK-1021030-9-R01",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"RULEWORK-1021030-9-T01",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"RULEWORK-1021030-9-R02",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"RULEWORK-1021030-9-T02",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"RULEWORK-1021030-9-R03",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"RULEWORK-1021030-9-T03",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"운행기록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"5. 교통안전정보관리체계 운영에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"RULEWORK-1019030-3",</a:t>
            </a:r>
          </a:p>
          <a:p xmlns:a="http://schemas.openxmlformats.org/drawingml/2006/main">
            <a:r>
              <a:t>          "text": "3. 운행기록데이터 관리·분석·활용 및 정책지원",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"RULEWORK-1019030-5",</a:t>
            </a:r>
          </a:p>
          <a:p xmlns:a="http://schemas.openxmlformats.org/drawingml/2006/main">
            <a:r>
              <a:t>          "text": "5. 교통안전정보관리체계 운영에 관한 업무",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"RULEWORK-1019030-5-T01",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"RULEWORK-1019030-5-T02",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"교통약자 실태조사",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"RULEWORK-1019020-23",</a:t>
            </a:r>
          </a:p>
          <a:p xmlns:a="http://schemas.openxmlformats.org/drawingml/2006/main">
            <a:r>
              <a:t>          "text": "23. 교통약자 이동편의실태조사 및 자료관리",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"RULEWORK-1019020-23-T01",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"RULEWORK-1019020-23-T02",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"RULEWORK-1019020-23-T03",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점검 기준 검색·요약"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증빙 검토·항목 구조화"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"관할·대상 코드 사전",</a:t>
            </a:r>
          </a:p>
          <a:p xmlns:a="http://schemas.openxmlformats.org/drawingml/2006/main">
            <a:r>
              <a:t>    "점검항목–증거–조치 연결표"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"기간·지역 불일치, 증빙 없는 완료 건 주입",</a:t>
            </a:r>
          </a:p>
          <a:p xmlns:a="http://schemas.openxmlformats.org/drawingml/2006/main">
            <a:r>
              <a:t>    "criterion": "원천 위치 표시·불일치 보류·미조치 유지",</a:t>
            </a:r>
          </a:p>
          <a:p xmlns:a="http://schemas.openxmlformats.org/drawingml/2006/main">
            <a:r>
              <a:t>    "evidence": "원천 대사표·누락 탐지 결과·검토 이력",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"검토 완료시간 중앙값 / 미조치 탐지 건수 ÷ 실제 미조치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"ST-01",</a:t>
            </a:r>
          </a:p>
          <a:p xmlns:a="http://schemas.openxmlformats.org/drawingml/2006/main">
            <a:r>
              <a:t>  "number": 1,</a:t>
            </a:r>
          </a:p>
          <a:p xmlns:a="http://schemas.openxmlformats.org/drawingml/2006/main">
            <a:r>
              <a:t>  "direction": "무결점 교통안전체계 조성",</a:t>
            </a:r>
          </a:p>
          <a:p xmlns:a="http://schemas.openxmlformats.org/drawingml/2006/main">
            <a:r>
              <a:t>  "strategy": "사고취약 수단·계층 정밀 안전망 구축",</a:t>
            </a:r>
          </a:p>
          <a:p xmlns:a="http://schemas.openxmlformats.org/drawingml/2006/main">
            <a:r>
              <a:t>  "solution": "취약 교통안전 업무지원",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"L01",</a:t>
            </a:r>
          </a:p>
          <a:p xmlns:a="http://schemas.openxmlformats.org/drawingml/2006/main">
            <a:r>
              <a:t>    "L02",</a:t>
            </a:r>
          </a:p>
          <a:p xmlns:a="http://schemas.openxmlformats.org/drawingml/2006/main">
            <a:r>
              <a:t>    "L03",</a:t>
            </a:r>
          </a:p>
          <a:p xmlns:a="http://schemas.openxmlformats.org/drawingml/2006/main">
            <a:r>
              <a:t>    "L04",</a:t>
            </a:r>
          </a:p>
          <a:p xmlns:a="http://schemas.openxmlformats.org/drawingml/2006/main">
            <a:r>
              <a:t>    "L17"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"1022030",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"1019030",</a:t>
            </a:r>
          </a:p>
          <a:p xmlns:a="http://schemas.openxmlformats.org/drawingml/2006/main">
            <a:r>
              <a:t>    "1019020"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"지역별 위험 근거·현장점검·개선조치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"관할·대상·점검 기준별 근거 묶음 구성",</a:t>
            </a:r>
          </a:p>
          <a:p xmlns:a="http://schemas.openxmlformats.org/drawingml/2006/main">
            <a:r>
              <a:t>    "개선과제·담당자·기한·현장 증빙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"위험 근거 묶음·미조치 목록",</a:t>
            </a:r>
          </a:p>
          <a:p xmlns:a="http://schemas.openxmlformats.org/drawingml/2006/main">
            <a:r>
              <a:t>  "acceptance": "관할·취약대상·점검판본별 근거와 조치 담당의 일치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안전관리",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교통안전수단점검에 관한 업무 총괄",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"교통시설·사각지대 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"9. 교통안전 사각지대 교통안전점검에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"운행기록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"5. 교통안전정보관리체계 운영에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"교통약자 실태조사",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"AX02",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"AX16",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"지역·취약계층 안전조치 근거 지원",</a:t>
            </a:r>
          </a:p>
          <a:p xmlns:a="http://schemas.openxmlformats.org/drawingml/2006/main">
            <a:r>
              <a:t>  "delta": "관할·대상·현장 증거 연결",</a:t>
            </a:r>
          </a:p>
          <a:p xmlns:a="http://schemas.openxmlformats.org/drawingml/2006/main">
            <a:r>
              <a:t>  "kpi": "위험 검토시간 / 조치 이행률",</a:t>
            </a:r>
          </a:p>
          <a:p xmlns:a="http://schemas.openxmlformats.org/drawingml/2006/main">
            <a:r>
              <a:t>  "validation": "지역·기간별 원천 대조, 미조치 건 추적",</a:t>
            </a:r>
          </a:p>
          <a:p xmlns:a="http://schemas.openxmlformats.org/drawingml/2006/main">
            <a:r>
              <a:t>  "requirement": "BM-ST-01-R01",</a:t>
            </a:r>
          </a:p>
          <a:p xmlns:a="http://schemas.openxmlformats.org/drawingml/2006/main">
            <a:r>
              <a:t>  "test": "BM-ST-01-T01",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"위험 검토시간·조치 누락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"지역·대상별 사고 집계, 현장점검표, 개선조치 이력",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"관할·취약대상 분류",</a:t>
            </a:r>
          </a:p>
          <a:p xmlns:a="http://schemas.openxmlformats.org/drawingml/2006/main">
            <a:r>
              <a:t>    "현장 증거와 위험요인 대조",</a:t>
            </a:r>
          </a:p>
          <a:p xmlns:a="http://schemas.openxmlformats.org/drawingml/2006/main">
            <a:r>
              <a:t>    "조치 담당·기한 지정",</a:t>
            </a:r>
          </a:p>
          <a:p xmlns:a="http://schemas.openxmlformats.org/drawingml/2006/main">
            <a:r>
              <a:t>    "이행·재점검 확인"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안전관리",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교통안전수단점검에 관한 업무 총괄",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"RULEWORK-1022030-5",</a:t>
            </a:r>
          </a:p>
          <a:p xmlns:a="http://schemas.openxmlformats.org/drawingml/2006/main">
            <a:r>
              <a:t>          "text": "5. 교통안전수단점검에 관한 업무 총괄",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"RULEWORK-1022030-5-T01",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"RULEWORK-1022030-5-T02",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"RULEWORK-1022030-7",</a:t>
            </a:r>
          </a:p>
          <a:p xmlns:a="http://schemas.openxmlformats.org/drawingml/2006/main">
            <a:r>
              <a:t>          "text": "7. 운수회사 안전관리 및 교통사고 예방사업",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"RULEWORK-1022030-7-T01",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"RULEWORK-1022030-7-T02",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"교통시설·사각지대 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"9. 교통안전 사각지대 교통안전점검에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"RULEWORK-1021030-7",</a:t>
            </a:r>
          </a:p>
          <a:p xmlns:a="http://schemas.openxmlformats.org/drawingml/2006/main">
            <a:r>
              <a:t>          "text": "7. 교통시설 안전진단ㆍ점검ㆍ평가에 관한 업무",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"RULEWORK-1021030-7-T01",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"RULEWORK-1021030-7-T02",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"RULEWORK-1021030-9",</a:t>
            </a:r>
          </a:p>
          <a:p xmlns:a="http://schemas.openxmlformats.org/drawingml/2006/main">
            <a:r>
              <a:t>          "text": "9. 교통안전 사각지대 교통안전점검에 관한 업무",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"RULEWORK-1021030-9-R01",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"RULEWORK-1021030-9-T01",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"RULEWORK-1021030-9-R02",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"RULEWORK-1021030-9-T02",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"RULEWORK-1021030-9-R03",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"RULEWORK-1021030-9-T03",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"운행기록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"5. 교통안전정보관리체계 운영에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"RULEWORK-1019030-3",</a:t>
            </a:r>
          </a:p>
          <a:p xmlns:a="http://schemas.openxmlformats.org/drawingml/2006/main">
            <a:r>
              <a:t>          "text": "3. 운행기록데이터 관리·분석·활용 및 정책지원",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"RULEWORK-1019030-5",</a:t>
            </a:r>
          </a:p>
          <a:p xmlns:a="http://schemas.openxmlformats.org/drawingml/2006/main">
            <a:r>
              <a:t>          "text": "5. 교통안전정보관리체계 운영에 관한 업무",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"RULEWORK-1019030-5-T01",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"RULEWORK-1019030-5-T02",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"교통약자 실태조사",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"RULEWORK-1019020-23",</a:t>
            </a:r>
          </a:p>
          <a:p xmlns:a="http://schemas.openxmlformats.org/drawingml/2006/main">
            <a:r>
              <a:t>          "text": "23. 교통약자 이동편의실태조사 및 자료관리",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"RULEWORK-1019020-23-T01",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"RULEWORK-1019020-23-T02",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"RULEWORK-1019020-23-T03",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점검 기준 검색·요약"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증빙 검토·항목 구조화"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"관할·대상 코드 사전",</a:t>
            </a:r>
          </a:p>
          <a:p xmlns:a="http://schemas.openxmlformats.org/drawingml/2006/main">
            <a:r>
              <a:t>    "점검항목–증거–조치 연결표"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"기간·지역 불일치, 증빙 없는 완료 건 주입",</a:t>
            </a:r>
          </a:p>
          <a:p xmlns:a="http://schemas.openxmlformats.org/drawingml/2006/main">
            <a:r>
              <a:t>    "criterion": "원천 위치 표시·불일치 보류·미조치 유지",</a:t>
            </a:r>
          </a:p>
          <a:p xmlns:a="http://schemas.openxmlformats.org/drawingml/2006/main">
            <a:r>
              <a:t>    "evidence": "원천 대사표·누락 탐지 결과·검토 이력",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"검토 완료시간 중앙값 / 미조치 탐지 건수 ÷ 실제 미조치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"ST-02",</a:t>
            </a:r>
          </a:p>
          <a:p xmlns:a="http://schemas.openxmlformats.org/drawingml/2006/main">
            <a:r>
              <a:t>  "number": 2,</a:t>
            </a:r>
          </a:p>
          <a:p xmlns:a="http://schemas.openxmlformats.org/drawingml/2006/main">
            <a:r>
              <a:t>  "direction": "무결점 교통안전체계 조성",</a:t>
            </a:r>
          </a:p>
          <a:p xmlns:a="http://schemas.openxmlformats.org/drawingml/2006/main">
            <a:r>
              <a:t>  "strategy": "자동차 안전관리 및 소비자 권익 강화",</a:t>
            </a:r>
          </a:p>
          <a:p xmlns:a="http://schemas.openxmlformats.org/drawingml/2006/main">
            <a:r>
              <a:t>  "solution": "자동차 안전·소비자 업무지원",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"L06",</a:t>
            </a:r>
          </a:p>
          <a:p xmlns:a="http://schemas.openxmlformats.org/drawingml/2006/main">
            <a:r>
              <a:t>    "L07",</a:t>
            </a:r>
          </a:p>
          <a:p xmlns:a="http://schemas.openxmlformats.org/drawingml/2006/main">
            <a:r>
              <a:t>    "L09",</a:t>
            </a:r>
          </a:p>
          <a:p xmlns:a="http://schemas.openxmlformats.org/drawingml/2006/main">
            <a:r>
              <a:t>    "L10"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"1028070",</a:t>
            </a:r>
          </a:p>
          <a:p xmlns:a="http://schemas.openxmlformats.org/drawingml/2006/main">
            <a:r>
              <a:t>    "1028075",</a:t>
            </a:r>
          </a:p>
          <a:p xmlns:a="http://schemas.openxmlformats.org/drawingml/2006/main">
            <a:r>
              <a:t>    "7000000",</a:t>
            </a:r>
          </a:p>
          <a:p xmlns:a="http://schemas.openxmlformats.org/drawingml/2006/main">
            <a:r>
              <a:t>    "1019400"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"검사·튜닝·결함조사·이력 정보의 업무별 검토",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"차량·사건·신청 유형별 검토자료 정리",</a:t>
            </a:r>
          </a:p>
          <a:p xmlns:a="http://schemas.openxmlformats.org/drawingml/2006/main">
            <a:r>
              <a:t>    "검사·연구·민원 부서 간 증빙 인계"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"차량별 검토표·보완 요청 초안",</a:t>
            </a:r>
          </a:p>
          <a:p xmlns:a="http://schemas.openxmlformats.org/drawingml/2006/main">
            <a:r>
              <a:t>  "acceptance": "동일 차량의 검사·결함·민원 맥락 분리 및 승인된 안내 근거 추적",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"1028070",</a:t>
            </a:r>
          </a:p>
          <a:p xmlns:a="http://schemas.openxmlformats.org/drawingml/2006/main">
            <a:r>
              <a:t>      "name": "검사기획처",</a:t>
            </a:r>
          </a:p>
          <a:p xmlns:a="http://schemas.openxmlformats.org/drawingml/2006/main">
            <a:r>
              <a:t>      "job": "검사제도·품질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20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"10. 자동차검사 품질강화 및 공공성 강화 관련 업무",</a:t>
            </a:r>
          </a:p>
          <a:p xmlns:a="http://schemas.openxmlformats.org/drawingml/2006/main">
            <a:r>
              <a:t>        "21. 검사표준서비스, 검사프로세스 개선‧관리"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T42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"1028075",</a:t>
            </a:r>
          </a:p>
          <a:p xmlns:a="http://schemas.openxmlformats.org/drawingml/2006/main">
            <a:r>
              <a:t>      "name": "기술승인처",</a:t>
            </a:r>
          </a:p>
          <a:p xmlns:a="http://schemas.openxmlformats.org/drawingml/2006/main">
            <a:r>
              <a:t>      "job": "튜닝 승인·검사",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튜닝승인 및 튜닝검사, 안전검사 등에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"제작결함 조사·안전도평가",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이력·정보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"AX16",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"검사·소비자 권익 검토 지원",</a:t>
            </a:r>
          </a:p>
          <a:p xmlns:a="http://schemas.openxmlformats.org/drawingml/2006/main">
            <a:r>
              <a:t>  "delta": "검사 기준 판본·차량·증빙 대조",</a:t>
            </a:r>
          </a:p>
          <a:p xmlns:a="http://schemas.openxmlformats.org/drawingml/2006/main">
            <a:r>
              <a:t>  "kpi": "검토 누락률 / 보완 소요시간",</a:t>
            </a:r>
          </a:p>
          <a:p xmlns:a="http://schemas.openxmlformats.org/drawingml/2006/main">
            <a:r>
              <a:t>  "validation": "불완전 증빙의 자동 확정 차단",</a:t>
            </a:r>
          </a:p>
          <a:p xmlns:a="http://schemas.openxmlformats.org/drawingml/2006/main">
            <a:r>
              <a:t>  "requirement": "BM-ST-02-R01",</a:t>
            </a:r>
          </a:p>
          <a:p xmlns:a="http://schemas.openxmlformats.org/drawingml/2006/main">
            <a:r>
              <a:t>  "test": "BM-ST-02-T01",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"보완 반복·검토 누락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"차량·신청 ID, 검사·튜닝 기준 판본, 보완서류",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"업무 유형·차량 식별",</a:t>
            </a:r>
          </a:p>
          <a:p xmlns:a="http://schemas.openxmlformats.org/drawingml/2006/main">
            <a:r>
              <a:t>    "적용 기준 판본 선택",</a:t>
            </a:r>
          </a:p>
          <a:p xmlns:a="http://schemas.openxmlformats.org/drawingml/2006/main">
            <a:r>
              <a:t>    "필수 증빙 대조",</a:t>
            </a:r>
          </a:p>
          <a:p xmlns:a="http://schemas.openxmlformats.org/drawingml/2006/main">
            <a:r>
              <a:t>    "검사·민원 담당 인계"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"1028070",</a:t>
            </a:r>
          </a:p>
          <a:p xmlns:a="http://schemas.openxmlformats.org/drawingml/2006/main">
            <a:r>
              <a:t>      "name": "검사기획처",</a:t>
            </a:r>
          </a:p>
          <a:p xmlns:a="http://schemas.openxmlformats.org/drawingml/2006/main">
            <a:r>
              <a:t>      "job": "검사제도·품질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20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"10. 자동차검사 품질강화 및 공공성 강화 관련 업무",</a:t>
            </a:r>
          </a:p>
          <a:p xmlns:a="http://schemas.openxmlformats.org/drawingml/2006/main">
            <a:r>
              <a:t>        "21. 검사표준서비스, 검사프로세스 개선‧관리"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T42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"RULEWORK-1028070-10",</a:t>
            </a:r>
          </a:p>
          <a:p xmlns:a="http://schemas.openxmlformats.org/drawingml/2006/main">
            <a:r>
              <a:t>          "text": "10. 자동차검사 품질강화 및 공공성 강화 관련 업무",</a:t>
            </a:r>
          </a:p>
          <a:p xmlns:a="http://schemas.openxmlformats.org/drawingml/2006/main">
            <a:r>
              <a:t>          "locator": "별표4 · T42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"RULEWORK-1028070-10-T01",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"RULEWORK-1028070-10-T02",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"RULEWORK-1028070-10-T03",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"RULEWORK-1028070-21",</a:t>
            </a:r>
          </a:p>
          <a:p xmlns:a="http://schemas.openxmlformats.org/drawingml/2006/main">
            <a:r>
              <a:t>          "text": "21. 검사표준서비스, 검사프로세스 개선‧관리",</a:t>
            </a:r>
          </a:p>
          <a:p xmlns:a="http://schemas.openxmlformats.org/drawingml/2006/main">
            <a:r>
              <a:t>          "locator": "별표4 · T42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"RULEWORK-1028070-21-R01",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"RULEWORK-1028070-21-T01",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"RULEWORK-1028070-21-R02",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"RULEWORK-1028070-21-T02",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"RULEWORK-1028070-21-R03",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"RULEWORK-1028070-21-T03",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"1028075",</a:t>
            </a:r>
          </a:p>
          <a:p xmlns:a="http://schemas.openxmlformats.org/drawingml/2006/main">
            <a:r>
              <a:t>      "name": "기술승인처",</a:t>
            </a:r>
          </a:p>
          <a:p xmlns:a="http://schemas.openxmlformats.org/drawingml/2006/main">
            <a:r>
              <a:t>      "job": "튜닝 승인·검사",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튜닝승인 및 튜닝검사, 안전검사 등에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"RULEWORK-1028075-2",</a:t>
            </a:r>
          </a:p>
          <a:p xmlns:a="http://schemas.openxmlformats.org/drawingml/2006/main">
            <a:r>
              <a:t>          "text": "2. 튜닝승인 및 튜닝검사, 안전검사 등에 관한 업무",</a:t>
            </a:r>
          </a:p>
          <a:p xmlns:a="http://schemas.openxmlformats.org/drawingml/2006/main">
            <a:r>
              <a:t>          "locator": "별표4 · T44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"RULEWORK-1028075-2-R01",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"RULEWORK-1028075-2-T01",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"RULEWORK-1028075-2-R02",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"RULEWORK-1028075-2-T02",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"RULEWORK-1028075-2-R03",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"RULEWORK-1028075-2-T03",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"제작결함 조사·안전도평가",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확인",</a:t>
            </a:r>
          </a:p>
          <a:p xmlns:a="http://schemas.openxmlformats.org/drawingml/2006/main">
            <a:r>
              <a:t>      "workItems": []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이력·정보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"RULEWORK-1019400-3",</a:t>
            </a:r>
          </a:p>
          <a:p xmlns:a="http://schemas.openxmlformats.org/drawingml/2006/main">
            <a:r>
              <a:t>          "text": "3. 자동차토털이력관리시스템 운영",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"RULEWORK-1019400-8",</a:t>
            </a:r>
          </a:p>
          <a:p xmlns:a="http://schemas.openxmlformats.org/drawingml/2006/main">
            <a:r>
              <a:t>          "text": "8. 자동차정보 통합서비스 제공 업무",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기준 검색·서식 초안"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"Audin·Foundry의 근거 검토·절차 구성"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"차량–검사–민원 사건 연결 명세",</a:t>
            </a:r>
          </a:p>
          <a:p xmlns:a="http://schemas.openxmlformats.org/drawingml/2006/main">
            <a:r>
              <a:t>    "기준 개정·신청일 판정 규칙"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"개정 전후 신청, 다른 차량 증빙, 누락서류 주입",</a:t>
            </a:r>
          </a:p>
          <a:p xmlns:a="http://schemas.openxmlformats.org/drawingml/2006/main">
            <a:r>
              <a:t>    "criterion": "해당 판본·차량 일치·불완전 건 승인 보류",</a:t>
            </a:r>
          </a:p>
          <a:p xmlns:a="http://schemas.openxmlformats.org/drawingml/2006/main">
            <a:r>
              <a:t>    "evidence": "판본 대조표·보완 목록·승인 차단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"업무건당 보완 횟수 / 필수 증빙 누락 건수 ÷ 평가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"PF-R01"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"ST-02",</a:t>
            </a:r>
          </a:p>
          <a:p xmlns:a="http://schemas.openxmlformats.org/drawingml/2006/main">
            <a:r>
              <a:t>  "number": 2,</a:t>
            </a:r>
          </a:p>
          <a:p xmlns:a="http://schemas.openxmlformats.org/drawingml/2006/main">
            <a:r>
              <a:t>  "direction": "무결점 교통안전체계 조성",</a:t>
            </a:r>
          </a:p>
          <a:p xmlns:a="http://schemas.openxmlformats.org/drawingml/2006/main">
            <a:r>
              <a:t>  "strategy": "자동차 안전관리 및 소비자 권익 강화",</a:t>
            </a:r>
          </a:p>
          <a:p xmlns:a="http://schemas.openxmlformats.org/drawingml/2006/main">
            <a:r>
              <a:t>  "solution": "자동차 안전·소비자 업무지원",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"L06",</a:t>
            </a:r>
          </a:p>
          <a:p xmlns:a="http://schemas.openxmlformats.org/drawingml/2006/main">
            <a:r>
              <a:t>    "L07",</a:t>
            </a:r>
          </a:p>
          <a:p xmlns:a="http://schemas.openxmlformats.org/drawingml/2006/main">
            <a:r>
              <a:t>    "L09",</a:t>
            </a:r>
          </a:p>
          <a:p xmlns:a="http://schemas.openxmlformats.org/drawingml/2006/main">
            <a:r>
              <a:t>    "L10"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"1028070",</a:t>
            </a:r>
          </a:p>
          <a:p xmlns:a="http://schemas.openxmlformats.org/drawingml/2006/main">
            <a:r>
              <a:t>    "1028075",</a:t>
            </a:r>
          </a:p>
          <a:p xmlns:a="http://schemas.openxmlformats.org/drawingml/2006/main">
            <a:r>
              <a:t>    "7000000",</a:t>
            </a:r>
          </a:p>
          <a:p xmlns:a="http://schemas.openxmlformats.org/drawingml/2006/main">
            <a:r>
              <a:t>    "1019400"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"검사·튜닝·결함조사·이력 정보의 업무별 검토",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"차량·사건·신청 유형별 검토자료 정리",</a:t>
            </a:r>
          </a:p>
          <a:p xmlns:a="http://schemas.openxmlformats.org/drawingml/2006/main">
            <a:r>
              <a:t>    "검사·연구·민원 부서 간 증빙 인계"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"차량별 검토표·보완 요청 초안",</a:t>
            </a:r>
          </a:p>
          <a:p xmlns:a="http://schemas.openxmlformats.org/drawingml/2006/main">
            <a:r>
              <a:t>  "acceptance": "동일 차량의 검사·결함·민원 맥락 분리 및 승인된 안내 근거 추적",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"1028070",</a:t>
            </a:r>
          </a:p>
          <a:p xmlns:a="http://schemas.openxmlformats.org/drawingml/2006/main">
            <a:r>
              <a:t>      "name": "검사기획처",</a:t>
            </a:r>
          </a:p>
          <a:p xmlns:a="http://schemas.openxmlformats.org/drawingml/2006/main">
            <a:r>
              <a:t>      "job": "검사제도·품질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20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"10. 자동차검사 품질강화 및 공공성 강화 관련 업무",</a:t>
            </a:r>
          </a:p>
          <a:p xmlns:a="http://schemas.openxmlformats.org/drawingml/2006/main">
            <a:r>
              <a:t>        "21. 검사표준서비스, 검사프로세스 개선‧관리"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T42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"1028075",</a:t>
            </a:r>
          </a:p>
          <a:p xmlns:a="http://schemas.openxmlformats.org/drawingml/2006/main">
            <a:r>
              <a:t>      "name": "기술승인처",</a:t>
            </a:r>
          </a:p>
          <a:p xmlns:a="http://schemas.openxmlformats.org/drawingml/2006/main">
            <a:r>
              <a:t>      "job": "튜닝 승인·검사",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튜닝승인 및 튜닝검사, 안전검사 등에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"제작결함 조사·안전도평가",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이력·정보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"AX16",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"검사·소비자 권익 검토 지원",</a:t>
            </a:r>
          </a:p>
          <a:p xmlns:a="http://schemas.openxmlformats.org/drawingml/2006/main">
            <a:r>
              <a:t>  "delta": "검사 기준 판본·차량·증빙 대조",</a:t>
            </a:r>
          </a:p>
          <a:p xmlns:a="http://schemas.openxmlformats.org/drawingml/2006/main">
            <a:r>
              <a:t>  "kpi": "검토 누락률 / 보완 소요시간",</a:t>
            </a:r>
          </a:p>
          <a:p xmlns:a="http://schemas.openxmlformats.org/drawingml/2006/main">
            <a:r>
              <a:t>  "validation": "불완전 증빙의 자동 확정 차단",</a:t>
            </a:r>
          </a:p>
          <a:p xmlns:a="http://schemas.openxmlformats.org/drawingml/2006/main">
            <a:r>
              <a:t>  "requirement": "BM-ST-02-R01",</a:t>
            </a:r>
          </a:p>
          <a:p xmlns:a="http://schemas.openxmlformats.org/drawingml/2006/main">
            <a:r>
              <a:t>  "test": "BM-ST-02-T01",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"보완 반복·검토 누락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"차량·신청 ID, 검사·튜닝 기준 판본, 보완서류",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"업무 유형·차량 식별",</a:t>
            </a:r>
          </a:p>
          <a:p xmlns:a="http://schemas.openxmlformats.org/drawingml/2006/main">
            <a:r>
              <a:t>    "적용 기준 판본 선택",</a:t>
            </a:r>
          </a:p>
          <a:p xmlns:a="http://schemas.openxmlformats.org/drawingml/2006/main">
            <a:r>
              <a:t>    "필수 증빙 대조",</a:t>
            </a:r>
          </a:p>
          <a:p xmlns:a="http://schemas.openxmlformats.org/drawingml/2006/main">
            <a:r>
              <a:t>    "검사·민원 담당 인계"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"1028070",</a:t>
            </a:r>
          </a:p>
          <a:p xmlns:a="http://schemas.openxmlformats.org/drawingml/2006/main">
            <a:r>
              <a:t>      "name": "검사기획처",</a:t>
            </a:r>
          </a:p>
          <a:p xmlns:a="http://schemas.openxmlformats.org/drawingml/2006/main">
            <a:r>
              <a:t>      "job": "검사제도·품질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20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"10. 자동차검사 품질강화 및 공공성 강화 관련 업무",</a:t>
            </a:r>
          </a:p>
          <a:p xmlns:a="http://schemas.openxmlformats.org/drawingml/2006/main">
            <a:r>
              <a:t>        "21. 검사표준서비스, 검사프로세스 개선‧관리"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T42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"RULEWORK-1028070-10",</a:t>
            </a:r>
          </a:p>
          <a:p xmlns:a="http://schemas.openxmlformats.org/drawingml/2006/main">
            <a:r>
              <a:t>          "text": "10. 자동차검사 품질강화 및 공공성 강화 관련 업무",</a:t>
            </a:r>
          </a:p>
          <a:p xmlns:a="http://schemas.openxmlformats.org/drawingml/2006/main">
            <a:r>
              <a:t>          "locator": "별표4 · T42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"RULEWORK-1028070-10-T01",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"RULEWORK-1028070-10-T02",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"RULEWORK-1028070-10-T03",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"RULEWORK-1028070-21",</a:t>
            </a:r>
          </a:p>
          <a:p xmlns:a="http://schemas.openxmlformats.org/drawingml/2006/main">
            <a:r>
              <a:t>          "text": "21. 검사표준서비스, 검사프로세스 개선‧관리",</a:t>
            </a:r>
          </a:p>
          <a:p xmlns:a="http://schemas.openxmlformats.org/drawingml/2006/main">
            <a:r>
              <a:t>          "locator": "별표4 · T42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"RULEWORK-1028070-21-R01",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"RULEWORK-1028070-21-T01",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"RULEWORK-1028070-21-R02",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"RULEWORK-1028070-21-T02",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"RULEWORK-1028070-21-R03",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"RULEWORK-1028070-21-T03",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"1028075",</a:t>
            </a:r>
          </a:p>
          <a:p xmlns:a="http://schemas.openxmlformats.org/drawingml/2006/main">
            <a:r>
              <a:t>      "name": "기술승인처",</a:t>
            </a:r>
          </a:p>
          <a:p xmlns:a="http://schemas.openxmlformats.org/drawingml/2006/main">
            <a:r>
              <a:t>      "job": "튜닝 승인·검사",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튜닝승인 및 튜닝검사, 안전검사 등에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"RULEWORK-1028075-2",</a:t>
            </a:r>
          </a:p>
          <a:p xmlns:a="http://schemas.openxmlformats.org/drawingml/2006/main">
            <a:r>
              <a:t>          "text": "2. 튜닝승인 및 튜닝검사, 안전검사 등에 관한 업무",</a:t>
            </a:r>
          </a:p>
          <a:p xmlns:a="http://schemas.openxmlformats.org/drawingml/2006/main">
            <a:r>
              <a:t>          "locator": "별표4 · T44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"RULEWORK-1028075-2-R01",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"RULEWORK-1028075-2-T01",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"RULEWORK-1028075-2-R02",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"RULEWORK-1028075-2-T02",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"RULEWORK-1028075-2-R03",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"RULEWORK-1028075-2-T03",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"제작결함 조사·안전도평가",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확인",</a:t>
            </a:r>
          </a:p>
          <a:p xmlns:a="http://schemas.openxmlformats.org/drawingml/2006/main">
            <a:r>
              <a:t>      "workItems": []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이력·정보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"RULEWORK-1019400-3",</a:t>
            </a:r>
          </a:p>
          <a:p xmlns:a="http://schemas.openxmlformats.org/drawingml/2006/main">
            <a:r>
              <a:t>          "text": "3. 자동차토털이력관리시스템 운영",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"RULEWORK-1019400-8",</a:t>
            </a:r>
          </a:p>
          <a:p xmlns:a="http://schemas.openxmlformats.org/drawingml/2006/main">
            <a:r>
              <a:t>          "text": "8. 자동차정보 통합서비스 제공 업무",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기준 검색·서식 초안"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"Audin·Foundry의 근거 검토·절차 구성"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"차량–검사–민원 사건 연결 명세",</a:t>
            </a:r>
          </a:p>
          <a:p xmlns:a="http://schemas.openxmlformats.org/drawingml/2006/main">
            <a:r>
              <a:t>    "기준 개정·신청일 판정 규칙"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"개정 전후 신청, 다른 차량 증빙, 누락서류 주입",</a:t>
            </a:r>
          </a:p>
          <a:p xmlns:a="http://schemas.openxmlformats.org/drawingml/2006/main">
            <a:r>
              <a:t>    "criterion": "해당 판본·차량 일치·불완전 건 승인 보류",</a:t>
            </a:r>
          </a:p>
          <a:p xmlns:a="http://schemas.openxmlformats.org/drawingml/2006/main">
            <a:r>
              <a:t>    "evidence": "판본 대조표·보완 목록·승인 차단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"업무건당 보완 횟수 / 필수 증빙 누락 건수 ÷ 평가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"PF-R01"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"ST-03",</a:t>
            </a:r>
          </a:p>
          <a:p xmlns:a="http://schemas.openxmlformats.org/drawingml/2006/main">
            <a:r>
              <a:t>  "number": 3,</a:t>
            </a:r>
          </a:p>
          <a:p xmlns:a="http://schemas.openxmlformats.org/drawingml/2006/main">
            <a:r>
              <a:t>  "direction": "무결점 교통안전체계 조성",</a:t>
            </a:r>
          </a:p>
          <a:p xmlns:a="http://schemas.openxmlformats.org/drawingml/2006/main">
            <a:r>
              <a:t>  "strategy": "중대사고 예방 능동적 안전관리체계 구축",</a:t>
            </a:r>
          </a:p>
          <a:p xmlns:a="http://schemas.openxmlformats.org/drawingml/2006/main">
            <a:r>
              <a:t>  "solution": "중대위험 조치·재발방지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"L01",</a:t>
            </a:r>
          </a:p>
          <a:p xmlns:a="http://schemas.openxmlformats.org/drawingml/2006/main">
            <a:r>
              <a:t>    "L02",</a:t>
            </a:r>
          </a:p>
          <a:p xmlns:a="http://schemas.openxmlformats.org/drawingml/2006/main">
            <a:r>
              <a:t>    "L25"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"1016043",</a:t>
            </a:r>
          </a:p>
          <a:p xmlns:a="http://schemas.openxmlformats.org/drawingml/2006/main">
            <a:r>
              <a:t>    "1022030",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"1211251",</a:t>
            </a:r>
          </a:p>
          <a:p xmlns:a="http://schemas.openxmlformats.org/drawingml/2006/main">
            <a:r>
              <a:t>    "1211250",</a:t>
            </a:r>
          </a:p>
          <a:p xmlns:a="http://schemas.openxmlformats.org/drawingml/2006/main">
            <a:r>
              <a:t>    "1211253",</a:t>
            </a:r>
          </a:p>
          <a:p xmlns:a="http://schemas.openxmlformats.org/drawingml/2006/main">
            <a:r>
              <a:t>    "1211280"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"분야별 안전점검·시정조치·재점검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"위험 근거·유사사례·시정조치 이력 연결",</a:t>
            </a:r>
          </a:p>
          <a:p xmlns:a="http://schemas.openxmlformats.org/drawingml/2006/main">
            <a:r>
              <a:t>    "현장 조치·전문 검토·종결 승인 분리"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"사건 타임라인·위험 조치대장",</a:t>
            </a:r>
          </a:p>
          <a:p xmlns:a="http://schemas.openxmlformats.org/drawingml/2006/main">
            <a:r>
              <a:t>  "acceptance": "미완료 조치의 종결 차단·검토/승인 역할 구분·후속 확인 추적",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"사업장 안전·재발방지",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산업재해 신고, 사고대응 및 재발방지 조치",</a:t>
            </a:r>
          </a:p>
          <a:p xmlns:a="http://schemas.openxmlformats.org/drawingml/2006/main">
            <a:r>
              <a:t>        "6. 중대재해처벌법 안전보건의무 이행점검에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예방대책",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교통사고예방대책 수립 및 교통안전사업 개발",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 안전점검",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"10. 교통시설설치ㆍ관리자의 교통안전관리규정 적정성 및 이행여부 확인평가"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"1211251",</a:t>
            </a:r>
          </a:p>
          <a:p xmlns:a="http://schemas.openxmlformats.org/drawingml/2006/main">
            <a:r>
              <a:t>      "name": "철도안전처",</a:t>
            </a:r>
          </a:p>
          <a:p xmlns:a="http://schemas.openxmlformats.org/drawingml/2006/main">
            <a:r>
              <a:t>      "job": "철도사고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철도사고(철도준사고 포함) 자료 원인분석 및 정책자료 제공"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"1211250",</a:t>
            </a:r>
          </a:p>
          <a:p xmlns:a="http://schemas.openxmlformats.org/drawingml/2006/main">
            <a:r>
              <a:t>      "name": "철도승인처",</a:t>
            </a:r>
          </a:p>
          <a:p xmlns:a="http://schemas.openxmlformats.org/drawingml/2006/main">
            <a:r>
              <a:t>      "job": "철도 안전관리체계 승인",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승인업무(최초·변경) 시행",</a:t>
            </a:r>
          </a:p>
          <a:p xmlns:a="http://schemas.openxmlformats.org/drawingml/2006/main">
            <a:r>
              <a:t>        "3. 철도안전관리체계 기술기준 제·개정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"1211253",</a:t>
            </a:r>
          </a:p>
          <a:p xmlns:a="http://schemas.openxmlformats.org/drawingml/2006/main">
            <a:r>
              <a:t>      "name": "철도검사처",</a:t>
            </a:r>
          </a:p>
          <a:p xmlns:a="http://schemas.openxmlformats.org/drawingml/2006/main">
            <a:r>
              <a:t>      "job": "철도 안전관리체계 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수시검사 시행",</a:t>
            </a:r>
          </a:p>
          <a:p xmlns:a="http://schemas.openxmlformats.org/drawingml/2006/main">
            <a:r>
              <a:t>        "2. 철도사고 및 운행장애 초기대응 점검 시행"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"1211280",</a:t>
            </a:r>
          </a:p>
          <a:p xmlns:a="http://schemas.openxmlformats.org/drawingml/2006/main">
            <a:r>
              <a:t>      "name": "항공안전처",</a:t>
            </a:r>
          </a:p>
          <a:p xmlns:a="http://schemas.openxmlformats.org/drawingml/2006/main">
            <a:r>
              <a:t>      "job": "항공안전·사고조사",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항공안전‧항공보안 자율보고의 접수·분석 및 전파업무",</a:t>
            </a:r>
          </a:p>
          <a:p xmlns:a="http://schemas.openxmlformats.org/drawingml/2006/main">
            <a:r>
              <a:t>        "13. 초경량비행장치 사고조사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"도로·철도 점검: 연결 법령 원장 / 사업장 안전·항공안전: 별표4 안전보건실·항공안전처 업무 / 분야별 법령·위탁범위 추가 대조",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"중대사고 예방·보고 완전성",</a:t>
            </a:r>
          </a:p>
          <a:p xmlns:a="http://schemas.openxmlformats.org/drawingml/2006/main">
            <a:r>
              <a:t>  "delta": "사건 타임라인·필수 보고항목 검사",</a:t>
            </a:r>
          </a:p>
          <a:p xmlns:a="http://schemas.openxmlformats.org/drawingml/2006/main">
            <a:r>
              <a:t>  "kpi": "필수 사건 재현율 / 보고 누락률",</a:t>
            </a:r>
          </a:p>
          <a:p xmlns:a="http://schemas.openxmlformats.org/drawingml/2006/main">
            <a:r>
              <a:t>  "validation": "사고 증거 누락·시점 충돌 주입 시험",</a:t>
            </a:r>
          </a:p>
          <a:p xmlns:a="http://schemas.openxmlformats.org/drawingml/2006/main">
            <a:r>
              <a:t>  "requirement": "BM-ST-03-R01",</a:t>
            </a:r>
          </a:p>
          <a:p xmlns:a="http://schemas.openxmlformats.org/drawingml/2006/main">
            <a:r>
              <a:t>  "test": "BM-ST-03-T01",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"보고 누락·재점검 지연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"도로·철도·항공·사업장 점검자료, 사건별 영상·로그, 시정조치",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"분야·사건 ID 분류",</a:t>
            </a:r>
          </a:p>
          <a:p xmlns:a="http://schemas.openxmlformats.org/drawingml/2006/main">
            <a:r>
              <a:t>    "전·중·후 타임라인 대사",</a:t>
            </a:r>
          </a:p>
          <a:p xmlns:a="http://schemas.openxmlformats.org/drawingml/2006/main">
            <a:r>
              <a:t>    "필수 보고·조치 항목 점검",</a:t>
            </a:r>
          </a:p>
          <a:p xmlns:a="http://schemas.openxmlformats.org/drawingml/2006/main">
            <a:r>
              <a:t>    "재점검·종결 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"사업장 안전·재발방지",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산업재해 신고, 사고대응 및 재발방지 조치",</a:t>
            </a:r>
          </a:p>
          <a:p xmlns:a="http://schemas.openxmlformats.org/drawingml/2006/main">
            <a:r>
              <a:t>        "6. 중대재해처벌법 안전보건의무 이행점검에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"RULEWORK-1016043-4",</a:t>
            </a:r>
          </a:p>
          <a:p xmlns:a="http://schemas.openxmlformats.org/drawingml/2006/main">
            <a:r>
              <a:t>          "text": "4. 산업재해 신고, 사고대응 및 재발방지 조치",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"작업·위험 유형별 기준·증빙 분류",</a:t>
            </a:r>
          </a:p>
          <a:p xmlns:a="http://schemas.openxmlformats.org/drawingml/2006/main">
            <a:r>
              <a:t>              "output": "위험·예방조치·이행·재점검표",</a:t>
            </a:r>
          </a:p>
          <a:p xmlns:a="http://schemas.openxmlformats.org/drawingml/2006/main">
            <a:r>
              <a:t>              "testId": "RULEWORK-1016043-4-T01",</a:t>
            </a:r>
          </a:p>
          <a:p xmlns:a="http://schemas.openxmlformats.org/drawingml/2006/main">
            <a:r>
              <a:t>              "criterion": "중대 위험·미이행·반복 지적의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"개선 책임·기한·이행·재확인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"RULEWORK-1016043-4-T02",</a:t>
            </a:r>
          </a:p>
          <a:p xmlns:a="http://schemas.openxmlformats.org/drawingml/2006/main">
            <a:r>
              <a:t>              "criterion": "필수 조치 미완료 건의 안전 확인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"RULEWORK-1016043-7",</a:t>
            </a:r>
          </a:p>
          <a:p xmlns:a="http://schemas.openxmlformats.org/drawingml/2006/main">
            <a:r>
              <a:t>          "text": "6. 중대재해처벌법 안전보건의무 이행점검에 관한 업무",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"RULEWORK-1016043-7-T01",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"RULEWORK-1016043-7-T02",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예방대책",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교통사고예방대책 수립 및 교통안전사업 개발",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"RULEWORK-1022030-4",</a:t>
            </a:r>
          </a:p>
          <a:p xmlns:a="http://schemas.openxmlformats.org/drawingml/2006/main">
            <a:r>
              <a:t>          "text": "4. 교통사고예방대책 수립 및 교통안전사업 개발",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"RULEWORK-1022030-4-T01",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"RULEWORK-1022030-4-T02",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"RULEWORK-1022030-7",</a:t>
            </a:r>
          </a:p>
          <a:p xmlns:a="http://schemas.openxmlformats.org/drawingml/2006/main">
            <a:r>
              <a:t>          "text": "7. 운수회사 안전관리 및 교통사고 예방사업",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"RULEWORK-1022030-7-T01",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"RULEWORK-1022030-7-T02",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 안전점검",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"10. 교통시설설치ㆍ관리자의 교통안전관리규정 적정성 및 이행여부 확인평가"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"RULEWORK-1021030-7",</a:t>
            </a:r>
          </a:p>
          <a:p xmlns:a="http://schemas.openxmlformats.org/drawingml/2006/main">
            <a:r>
              <a:t>          "text": "7. 교통시설 안전진단ㆍ점검ㆍ평가에 관한 업무",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"RULEWORK-1021030-7-T01",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"RULEWORK-1021030-7-T02",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"RULEWORK-1021030-10",</a:t>
            </a:r>
          </a:p>
          <a:p xmlns:a="http://schemas.openxmlformats.org/drawingml/2006/main">
            <a:r>
              <a:t>          "text": "10. 교통시설설치ㆍ관리자의 교통안전관리규정 적정성 및 이행여부 확인평가",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"RULEWORK-1021030-10-T01",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"RULEWORK-1021030-10-T02",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"1211251",</a:t>
            </a:r>
          </a:p>
          <a:p xmlns:a="http://schemas.openxmlformats.org/drawingml/2006/main">
            <a:r>
              <a:t>      "name": "철도안전처",</a:t>
            </a:r>
          </a:p>
          <a:p xmlns:a="http://schemas.openxmlformats.org/drawingml/2006/main">
            <a:r>
              <a:t>      "job": "철도사고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철도사고(철도준사고 포함) 자료 원인분석 및 정책자료 제공"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"RULEWORK-1211251-6",</a:t>
            </a:r>
          </a:p>
          <a:p xmlns:a="http://schemas.openxmlformats.org/drawingml/2006/main">
            <a:r>
              <a:t>          "text": "6. 철도사고(철도준사고 포함) 자료 원인분석 및 정책자료 제공",</a:t>
            </a:r>
          </a:p>
          <a:p xmlns:a="http://schemas.openxmlformats.org/drawingml/2006/main">
            <a:r>
              <a:t>          "locator": "별표4 · T46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"RULEWORK-1211251-6-T01",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"RULEWORK-1211251-6-T02",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"RULEWORK-1211251-6-T03",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"1211250",</a:t>
            </a:r>
          </a:p>
          <a:p xmlns:a="http://schemas.openxmlformats.org/drawingml/2006/main">
            <a:r>
              <a:t>      "name": "철도승인처",</a:t>
            </a:r>
          </a:p>
          <a:p xmlns:a="http://schemas.openxmlformats.org/drawingml/2006/main">
            <a:r>
              <a:t>      "job": "철도 안전관리체계 승인",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승인업무(최초·변경) 시행",</a:t>
            </a:r>
          </a:p>
          <a:p xmlns:a="http://schemas.openxmlformats.org/drawingml/2006/main">
            <a:r>
              <a:t>        "3. 철도안전관리체계 기술기준 제·개정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"RULEWORK-1211250-1",</a:t>
            </a:r>
          </a:p>
          <a:p xmlns:a="http://schemas.openxmlformats.org/drawingml/2006/main">
            <a:r>
              <a:t>          "text": "1. 철도안전관리체계 승인업무(최초·변경) 시행",</a:t>
            </a:r>
          </a:p>
          <a:p xmlns:a="http://schemas.openxmlformats.org/drawingml/2006/main">
            <a:r>
              <a:t>          "locator": "별표4 · T46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"RULEWORK-1211250-1-T01",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"RULEWORK-1211250-1-T02",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"RULEWORK-1211250-3",</a:t>
            </a:r>
          </a:p>
          <a:p xmlns:a="http://schemas.openxmlformats.org/drawingml/2006/main">
            <a:r>
              <a:t>          "text": "3. 철도안전관리체계 기술기준 제·개정 및 관리",</a:t>
            </a:r>
          </a:p>
          <a:p xmlns:a="http://schemas.openxmlformats.org/drawingml/2006/main">
            <a:r>
              <a:t>          "locator": "별표4 · T46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"RULEWORK-1211250-3-T01",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"RULEWORK-1211250-3-T02",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"1211253",</a:t>
            </a:r>
          </a:p>
          <a:p xmlns:a="http://schemas.openxmlformats.org/drawingml/2006/main">
            <a:r>
              <a:t>      "name": "철도검사처",</a:t>
            </a:r>
          </a:p>
          <a:p xmlns:a="http://schemas.openxmlformats.org/drawingml/2006/main">
            <a:r>
              <a:t>      "job": "철도 안전관리체계 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수시검사 시행",</a:t>
            </a:r>
          </a:p>
          <a:p xmlns:a="http://schemas.openxmlformats.org/drawingml/2006/main">
            <a:r>
              <a:t>        "2. 철도사고 및 운행장애 초기대응 점검 시행"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"RULEWORK-1211253-1",</a:t>
            </a:r>
          </a:p>
          <a:p xmlns:a="http://schemas.openxmlformats.org/drawingml/2006/main">
            <a:r>
              <a:t>          "text": "1. 철도안전관리체계 수시검사 시행",</a:t>
            </a:r>
          </a:p>
          <a:p xmlns:a="http://schemas.openxmlformats.org/drawingml/2006/main">
            <a:r>
              <a:t>          "locator": "별표4 · T46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"RULEWORK-1211253-1-T01",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"RULEWORK-1211253-1-T02",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"RULEWORK-1211253-1-T03",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"RULEWORK-1211253-2",</a:t>
            </a:r>
          </a:p>
          <a:p xmlns:a="http://schemas.openxmlformats.org/drawingml/2006/main">
            <a:r>
              <a:t>          "text": "2. 철도사고 및 운행장애 초기대응 점검 시행",</a:t>
            </a:r>
          </a:p>
          <a:p xmlns:a="http://schemas.openxmlformats.org/drawingml/2006/main">
            <a:r>
              <a:t>          "locator": "별표4 · T46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"RULEWORK-1211253-2-T01",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"RULEWORK-1211253-2-T02",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"RULEWORK-1211253-2-T03",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"1211280",</a:t>
            </a:r>
          </a:p>
          <a:p xmlns:a="http://schemas.openxmlformats.org/drawingml/2006/main">
            <a:r>
              <a:t>      "name": "항공안전처",</a:t>
            </a:r>
          </a:p>
          <a:p xmlns:a="http://schemas.openxmlformats.org/drawingml/2006/main">
            <a:r>
              <a:t>      "job": "항공안전·사고조사",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항공안전‧항공보안 자율보고의 접수·분석 및 전파업무",</a:t>
            </a:r>
          </a:p>
          <a:p xmlns:a="http://schemas.openxmlformats.org/drawingml/2006/main">
            <a:r>
              <a:t>        "13. 초경량비행장치 사고조사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"RULEWORK-1211280-8",</a:t>
            </a:r>
          </a:p>
          <a:p xmlns:a="http://schemas.openxmlformats.org/drawingml/2006/main">
            <a:r>
              <a:t>          "text": "8. 항공안전‧항공보안 자율보고의 접수·분석 및 전파업무",</a:t>
            </a:r>
          </a:p>
          <a:p xmlns:a="http://schemas.openxmlformats.org/drawingml/2006/main">
            <a:r>
              <a:t>          "locator": "별표4 · T45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"RULEWORK-1211280-8-T01",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"RULEWORK-1211280-8-T02",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"RULEWORK-1211280-8-T03",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"RULEWORK-1211280-13",</a:t>
            </a:r>
          </a:p>
          <a:p xmlns:a="http://schemas.openxmlformats.org/drawingml/2006/main">
            <a:r>
              <a:t>          "text": "13. 초경량비행장치 사고조사 업무",</a:t>
            </a:r>
          </a:p>
          <a:p xmlns:a="http://schemas.openxmlformats.org/drawingml/2006/main">
            <a:r>
              <a:t>          "locator": "별표4 · T45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"RULEWORK-1211280-13-T01",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"RULEWORK-1211280-13-T02",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"RULEWORK-1211280-13-T03",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증거·항목 검토"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"분야별 보고 항목 사전",</a:t>
            </a:r>
          </a:p>
          <a:p xmlns:a="http://schemas.openxmlformats.org/drawingml/2006/main">
            <a:r>
              <a:t>    "원시 증거–사건–보고서 추적표"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"사고 후 사건 삭제, 시각 충돌, 미이행 조치 주입",</a:t>
            </a:r>
          </a:p>
          <a:p xmlns:a="http://schemas.openxmlformats.org/drawingml/2006/main">
            <a:r>
              <a:t>    "criterion": "누락 경고·원시 근거 추적·종결 차단",</a:t>
            </a:r>
          </a:p>
          <a:p xmlns:a="http://schemas.openxmlformats.org/drawingml/2006/main">
            <a:r>
              <a:t>    "evidence": "사건별 정답표·탐지 결과·종결 시도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"필수 사건 재현 건수 ÷ 정답 사건 수 / 재점검 기한 초과율",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"PF-R04",</a:t>
            </a:r>
          </a:p>
          <a:p xmlns:a="http://schemas.openxmlformats.org/drawingml/2006/main">
            <a:r>
              <a:t>    "PF-R09",</a:t>
            </a:r>
          </a:p>
          <a:p xmlns:a="http://schemas.openxmlformats.org/drawingml/2006/main">
            <a:r>
              <a:t>    "PF02"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"ST-03",</a:t>
            </a:r>
          </a:p>
          <a:p xmlns:a="http://schemas.openxmlformats.org/drawingml/2006/main">
            <a:r>
              <a:t>  "number": 3,</a:t>
            </a:r>
          </a:p>
          <a:p xmlns:a="http://schemas.openxmlformats.org/drawingml/2006/main">
            <a:r>
              <a:t>  "direction": "무결점 교통안전체계 조성",</a:t>
            </a:r>
          </a:p>
          <a:p xmlns:a="http://schemas.openxmlformats.org/drawingml/2006/main">
            <a:r>
              <a:t>  "strategy": "중대사고 예방 능동적 안전관리체계 구축",</a:t>
            </a:r>
          </a:p>
          <a:p xmlns:a="http://schemas.openxmlformats.org/drawingml/2006/main">
            <a:r>
              <a:t>  "solution": "중대위험 조치·재발방지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"L01",</a:t>
            </a:r>
          </a:p>
          <a:p xmlns:a="http://schemas.openxmlformats.org/drawingml/2006/main">
            <a:r>
              <a:t>    "L02",</a:t>
            </a:r>
          </a:p>
          <a:p xmlns:a="http://schemas.openxmlformats.org/drawingml/2006/main">
            <a:r>
              <a:t>    "L25"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"1016043",</a:t>
            </a:r>
          </a:p>
          <a:p xmlns:a="http://schemas.openxmlformats.org/drawingml/2006/main">
            <a:r>
              <a:t>    "1022030",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"1211251",</a:t>
            </a:r>
          </a:p>
          <a:p xmlns:a="http://schemas.openxmlformats.org/drawingml/2006/main">
            <a:r>
              <a:t>    "1211250",</a:t>
            </a:r>
          </a:p>
          <a:p xmlns:a="http://schemas.openxmlformats.org/drawingml/2006/main">
            <a:r>
              <a:t>    "1211253",</a:t>
            </a:r>
          </a:p>
          <a:p xmlns:a="http://schemas.openxmlformats.org/drawingml/2006/main">
            <a:r>
              <a:t>    "1211280"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"분야별 안전점검·시정조치·재점검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"위험 근거·유사사례·시정조치 이력 연결",</a:t>
            </a:r>
          </a:p>
          <a:p xmlns:a="http://schemas.openxmlformats.org/drawingml/2006/main">
            <a:r>
              <a:t>    "현장 조치·전문 검토·종결 승인 분리"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"사건 타임라인·위험 조치대장",</a:t>
            </a:r>
          </a:p>
          <a:p xmlns:a="http://schemas.openxmlformats.org/drawingml/2006/main">
            <a:r>
              <a:t>  "acceptance": "미완료 조치의 종결 차단·검토/승인 역할 구분·후속 확인 추적",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"사업장 안전·재발방지",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산업재해 신고, 사고대응 및 재발방지 조치",</a:t>
            </a:r>
          </a:p>
          <a:p xmlns:a="http://schemas.openxmlformats.org/drawingml/2006/main">
            <a:r>
              <a:t>        "6. 중대재해처벌법 안전보건의무 이행점검에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예방대책",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교통사고예방대책 수립 및 교통안전사업 개발",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 안전점검",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"10. 교통시설설치ㆍ관리자의 교통안전관리규정 적정성 및 이행여부 확인평가"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"1211251",</a:t>
            </a:r>
          </a:p>
          <a:p xmlns:a="http://schemas.openxmlformats.org/drawingml/2006/main">
            <a:r>
              <a:t>      "name": "철도안전처",</a:t>
            </a:r>
          </a:p>
          <a:p xmlns:a="http://schemas.openxmlformats.org/drawingml/2006/main">
            <a:r>
              <a:t>      "job": "철도사고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철도사고(철도준사고 포함) 자료 원인분석 및 정책자료 제공"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"1211250",</a:t>
            </a:r>
          </a:p>
          <a:p xmlns:a="http://schemas.openxmlformats.org/drawingml/2006/main">
            <a:r>
              <a:t>      "name": "철도승인처",</a:t>
            </a:r>
          </a:p>
          <a:p xmlns:a="http://schemas.openxmlformats.org/drawingml/2006/main">
            <a:r>
              <a:t>      "job": "철도 안전관리체계 승인",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승인업무(최초·변경) 시행",</a:t>
            </a:r>
          </a:p>
          <a:p xmlns:a="http://schemas.openxmlformats.org/drawingml/2006/main">
            <a:r>
              <a:t>        "3. 철도안전관리체계 기술기준 제·개정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"1211253",</a:t>
            </a:r>
          </a:p>
          <a:p xmlns:a="http://schemas.openxmlformats.org/drawingml/2006/main">
            <a:r>
              <a:t>      "name": "철도검사처",</a:t>
            </a:r>
          </a:p>
          <a:p xmlns:a="http://schemas.openxmlformats.org/drawingml/2006/main">
            <a:r>
              <a:t>      "job": "철도 안전관리체계 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수시검사 시행",</a:t>
            </a:r>
          </a:p>
          <a:p xmlns:a="http://schemas.openxmlformats.org/drawingml/2006/main">
            <a:r>
              <a:t>        "2. 철도사고 및 운행장애 초기대응 점검 시행"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"1211280",</a:t>
            </a:r>
          </a:p>
          <a:p xmlns:a="http://schemas.openxmlformats.org/drawingml/2006/main">
            <a:r>
              <a:t>      "name": "항공안전처",</a:t>
            </a:r>
          </a:p>
          <a:p xmlns:a="http://schemas.openxmlformats.org/drawingml/2006/main">
            <a:r>
              <a:t>      "job": "항공안전·사고조사",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항공안전‧항공보안 자율보고의 접수·분석 및 전파업무",</a:t>
            </a:r>
          </a:p>
          <a:p xmlns:a="http://schemas.openxmlformats.org/drawingml/2006/main">
            <a:r>
              <a:t>        "13. 초경량비행장치 사고조사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"도로·철도 점검: 연결 법령 원장 / 사업장 안전·항공안전: 별표4 안전보건실·항공안전처 업무 / 분야별 법령·위탁범위 추가 대조",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"중대사고 예방·보고 완전성",</a:t>
            </a:r>
          </a:p>
          <a:p xmlns:a="http://schemas.openxmlformats.org/drawingml/2006/main">
            <a:r>
              <a:t>  "delta": "사건 타임라인·필수 보고항목 검사",</a:t>
            </a:r>
          </a:p>
          <a:p xmlns:a="http://schemas.openxmlformats.org/drawingml/2006/main">
            <a:r>
              <a:t>  "kpi": "필수 사건 재현율 / 보고 누락률",</a:t>
            </a:r>
          </a:p>
          <a:p xmlns:a="http://schemas.openxmlformats.org/drawingml/2006/main">
            <a:r>
              <a:t>  "validation": "사고 증거 누락·시점 충돌 주입 시험",</a:t>
            </a:r>
          </a:p>
          <a:p xmlns:a="http://schemas.openxmlformats.org/drawingml/2006/main">
            <a:r>
              <a:t>  "requirement": "BM-ST-03-R01",</a:t>
            </a:r>
          </a:p>
          <a:p xmlns:a="http://schemas.openxmlformats.org/drawingml/2006/main">
            <a:r>
              <a:t>  "test": "BM-ST-03-T01",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"보고 누락·재점검 지연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"도로·철도·항공·사업장 점검자료, 사건별 영상·로그, 시정조치",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"분야·사건 ID 분류",</a:t>
            </a:r>
          </a:p>
          <a:p xmlns:a="http://schemas.openxmlformats.org/drawingml/2006/main">
            <a:r>
              <a:t>    "전·중·후 타임라인 대사",</a:t>
            </a:r>
          </a:p>
          <a:p xmlns:a="http://schemas.openxmlformats.org/drawingml/2006/main">
            <a:r>
              <a:t>    "필수 보고·조치 항목 점검",</a:t>
            </a:r>
          </a:p>
          <a:p xmlns:a="http://schemas.openxmlformats.org/drawingml/2006/main">
            <a:r>
              <a:t>    "재점검·종결 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"사업장 안전·재발방지",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산업재해 신고, 사고대응 및 재발방지 조치",</a:t>
            </a:r>
          </a:p>
          <a:p xmlns:a="http://schemas.openxmlformats.org/drawingml/2006/main">
            <a:r>
              <a:t>        "6. 중대재해처벌법 안전보건의무 이행점검에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"RULEWORK-1016043-4",</a:t>
            </a:r>
          </a:p>
          <a:p xmlns:a="http://schemas.openxmlformats.org/drawingml/2006/main">
            <a:r>
              <a:t>          "text": "4. 산업재해 신고, 사고대응 및 재발방지 조치",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"작업·위험 유형별 기준·증빙 분류",</a:t>
            </a:r>
          </a:p>
          <a:p xmlns:a="http://schemas.openxmlformats.org/drawingml/2006/main">
            <a:r>
              <a:t>              "output": "위험·예방조치·이행·재점검표",</a:t>
            </a:r>
          </a:p>
          <a:p xmlns:a="http://schemas.openxmlformats.org/drawingml/2006/main">
            <a:r>
              <a:t>              "testId": "RULEWORK-1016043-4-T01",</a:t>
            </a:r>
          </a:p>
          <a:p xmlns:a="http://schemas.openxmlformats.org/drawingml/2006/main">
            <a:r>
              <a:t>              "criterion": "중대 위험·미이행·반복 지적의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"개선 책임·기한·이행·재확인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"RULEWORK-1016043-4-T02",</a:t>
            </a:r>
          </a:p>
          <a:p xmlns:a="http://schemas.openxmlformats.org/drawingml/2006/main">
            <a:r>
              <a:t>              "criterion": "필수 조치 미완료 건의 안전 확인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"RULEWORK-1016043-7",</a:t>
            </a:r>
          </a:p>
          <a:p xmlns:a="http://schemas.openxmlformats.org/drawingml/2006/main">
            <a:r>
              <a:t>          "text": "6. 중대재해처벌법 안전보건의무 이행점검에 관한 업무",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"RULEWORK-1016043-7-T01",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"RULEWORK-1016043-7-T02",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예방대책",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교통사고예방대책 수립 및 교통안전사업 개발",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"RULEWORK-1022030-4",</a:t>
            </a:r>
          </a:p>
          <a:p xmlns:a="http://schemas.openxmlformats.org/drawingml/2006/main">
            <a:r>
              <a:t>          "text": "4. 교통사고예방대책 수립 및 교통안전사업 개발",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"RULEWORK-1022030-4-T01",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"RULEWORK-1022030-4-T02",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"RULEWORK-1022030-7",</a:t>
            </a:r>
          </a:p>
          <a:p xmlns:a="http://schemas.openxmlformats.org/drawingml/2006/main">
            <a:r>
              <a:t>          "text": "7. 운수회사 안전관리 및 교통사고 예방사업",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"RULEWORK-1022030-7-T01",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"RULEWORK-1022030-7-T02",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 안전점검",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"10. 교통시설설치ㆍ관리자의 교통안전관리규정 적정성 및 이행여부 확인평가"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"RULEWORK-1021030-7",</a:t>
            </a:r>
          </a:p>
          <a:p xmlns:a="http://schemas.openxmlformats.org/drawingml/2006/main">
            <a:r>
              <a:t>          "text": "7. 교통시설 안전진단ㆍ점검ㆍ평가에 관한 업무",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"RULEWORK-1021030-7-T01",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"RULEWORK-1021030-7-T02",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"RULEWORK-1021030-10",</a:t>
            </a:r>
          </a:p>
          <a:p xmlns:a="http://schemas.openxmlformats.org/drawingml/2006/main">
            <a:r>
              <a:t>          "text": "10. 교통시설설치ㆍ관리자의 교통안전관리규정 적정성 및 이행여부 확인평가",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"RULEWORK-1021030-10-T01",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"RULEWORK-1021030-10-T02",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"1211251",</a:t>
            </a:r>
          </a:p>
          <a:p xmlns:a="http://schemas.openxmlformats.org/drawingml/2006/main">
            <a:r>
              <a:t>      "name": "철도안전처",</a:t>
            </a:r>
          </a:p>
          <a:p xmlns:a="http://schemas.openxmlformats.org/drawingml/2006/main">
            <a:r>
              <a:t>      "job": "철도사고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철도사고(철도준사고 포함) 자료 원인분석 및 정책자료 제공"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"RULEWORK-1211251-6",</a:t>
            </a:r>
          </a:p>
          <a:p xmlns:a="http://schemas.openxmlformats.org/drawingml/2006/main">
            <a:r>
              <a:t>          "text": "6. 철도사고(철도준사고 포함) 자료 원인분석 및 정책자료 제공",</a:t>
            </a:r>
          </a:p>
          <a:p xmlns:a="http://schemas.openxmlformats.org/drawingml/2006/main">
            <a:r>
              <a:t>          "locator": "별표4 · T46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"RULEWORK-1211251-6-T01",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"RULEWORK-1211251-6-T02",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"RULEWORK-1211251-6-T03",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"1211250",</a:t>
            </a:r>
          </a:p>
          <a:p xmlns:a="http://schemas.openxmlformats.org/drawingml/2006/main">
            <a:r>
              <a:t>      "name": "철도승인처",</a:t>
            </a:r>
          </a:p>
          <a:p xmlns:a="http://schemas.openxmlformats.org/drawingml/2006/main">
            <a:r>
              <a:t>      "job": "철도 안전관리체계 승인",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승인업무(최초·변경) 시행",</a:t>
            </a:r>
          </a:p>
          <a:p xmlns:a="http://schemas.openxmlformats.org/drawingml/2006/main">
            <a:r>
              <a:t>        "3. 철도안전관리체계 기술기준 제·개정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"RULEWORK-1211250-1",</a:t>
            </a:r>
          </a:p>
          <a:p xmlns:a="http://schemas.openxmlformats.org/drawingml/2006/main">
            <a:r>
              <a:t>          "text": "1. 철도안전관리체계 승인업무(최초·변경) 시행",</a:t>
            </a:r>
          </a:p>
          <a:p xmlns:a="http://schemas.openxmlformats.org/drawingml/2006/main">
            <a:r>
              <a:t>          "locator": "별표4 · T46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"RULEWORK-1211250-1-T01",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"RULEWORK-1211250-1-T02",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"RULEWORK-1211250-3",</a:t>
            </a:r>
          </a:p>
          <a:p xmlns:a="http://schemas.openxmlformats.org/drawingml/2006/main">
            <a:r>
              <a:t>          "text": "3. 철도안전관리체계 기술기준 제·개정 및 관리",</a:t>
            </a:r>
          </a:p>
          <a:p xmlns:a="http://schemas.openxmlformats.org/drawingml/2006/main">
            <a:r>
              <a:t>          "locator": "별표4 · T46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"RULEWORK-1211250-3-T01",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"RULEWORK-1211250-3-T02",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"1211253",</a:t>
            </a:r>
          </a:p>
          <a:p xmlns:a="http://schemas.openxmlformats.org/drawingml/2006/main">
            <a:r>
              <a:t>      "name": "철도검사처",</a:t>
            </a:r>
          </a:p>
          <a:p xmlns:a="http://schemas.openxmlformats.org/drawingml/2006/main">
            <a:r>
              <a:t>      "job": "철도 안전관리체계 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수시검사 시행",</a:t>
            </a:r>
          </a:p>
          <a:p xmlns:a="http://schemas.openxmlformats.org/drawingml/2006/main">
            <a:r>
              <a:t>        "2. 철도사고 및 운행장애 초기대응 점검 시행"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"RULEWORK-1211253-1",</a:t>
            </a:r>
          </a:p>
          <a:p xmlns:a="http://schemas.openxmlformats.org/drawingml/2006/main">
            <a:r>
              <a:t>          "text": "1. 철도안전관리체계 수시검사 시행",</a:t>
            </a:r>
          </a:p>
          <a:p xmlns:a="http://schemas.openxmlformats.org/drawingml/2006/main">
            <a:r>
              <a:t>          "locator": "별표4 · T46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"RULEWORK-1211253-1-T01",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"RULEWORK-1211253-1-T02",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"RULEWORK-1211253-1-T03",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"RULEWORK-1211253-2",</a:t>
            </a:r>
          </a:p>
          <a:p xmlns:a="http://schemas.openxmlformats.org/drawingml/2006/main">
            <a:r>
              <a:t>          "text": "2. 철도사고 및 운행장애 초기대응 점검 시행",</a:t>
            </a:r>
          </a:p>
          <a:p xmlns:a="http://schemas.openxmlformats.org/drawingml/2006/main">
            <a:r>
              <a:t>          "locator": "별표4 · T46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"RULEWORK-1211253-2-T01",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"RULEWORK-1211253-2-T02",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"RULEWORK-1211253-2-T03",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"1211280",</a:t>
            </a:r>
          </a:p>
          <a:p xmlns:a="http://schemas.openxmlformats.org/drawingml/2006/main">
            <a:r>
              <a:t>      "name": "항공안전처",</a:t>
            </a:r>
          </a:p>
          <a:p xmlns:a="http://schemas.openxmlformats.org/drawingml/2006/main">
            <a:r>
              <a:t>      "job": "항공안전·사고조사",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항공안전‧항공보안 자율보고의 접수·분석 및 전파업무",</a:t>
            </a:r>
          </a:p>
          <a:p xmlns:a="http://schemas.openxmlformats.org/drawingml/2006/main">
            <a:r>
              <a:t>        "13. 초경량비행장치 사고조사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"RULEWORK-1211280-8",</a:t>
            </a:r>
          </a:p>
          <a:p xmlns:a="http://schemas.openxmlformats.org/drawingml/2006/main">
            <a:r>
              <a:t>          "text": "8. 항공안전‧항공보안 자율보고의 접수·분석 및 전파업무",</a:t>
            </a:r>
          </a:p>
          <a:p xmlns:a="http://schemas.openxmlformats.org/drawingml/2006/main">
            <a:r>
              <a:t>          "locator": "별표4 · T45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"RULEWORK-1211280-8-T01",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"RULEWORK-1211280-8-T02",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"RULEWORK-1211280-8-T03",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"RULEWORK-1211280-13",</a:t>
            </a:r>
          </a:p>
          <a:p xmlns:a="http://schemas.openxmlformats.org/drawingml/2006/main">
            <a:r>
              <a:t>          "text": "13. 초경량비행장치 사고조사 업무",</a:t>
            </a:r>
          </a:p>
          <a:p xmlns:a="http://schemas.openxmlformats.org/drawingml/2006/main">
            <a:r>
              <a:t>          "locator": "별표4 · T45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"RULEWORK-1211280-13-T01",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"RULEWORK-1211280-13-T02",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"RULEWORK-1211280-13-T03",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증거·항목 검토"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"분야별 보고 항목 사전",</a:t>
            </a:r>
          </a:p>
          <a:p xmlns:a="http://schemas.openxmlformats.org/drawingml/2006/main">
            <a:r>
              <a:t>    "원시 증거–사건–보고서 추적표"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"사고 후 사건 삭제, 시각 충돌, 미이행 조치 주입",</a:t>
            </a:r>
          </a:p>
          <a:p xmlns:a="http://schemas.openxmlformats.org/drawingml/2006/main">
            <a:r>
              <a:t>    "criterion": "누락 경고·원시 근거 추적·종결 차단",</a:t>
            </a:r>
          </a:p>
          <a:p xmlns:a="http://schemas.openxmlformats.org/drawingml/2006/main">
            <a:r>
              <a:t>    "evidence": "사건별 정답표·탐지 결과·종결 시도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"필수 사건 재현 건수 ÷ 정답 사건 수 / 재점검 기한 초과율",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"PF-R04",</a:t>
            </a:r>
          </a:p>
          <a:p xmlns:a="http://schemas.openxmlformats.org/drawingml/2006/main">
            <a:r>
              <a:t>    "PF-R09",</a:t>
            </a:r>
          </a:p>
          <a:p xmlns:a="http://schemas.openxmlformats.org/drawingml/2006/main">
            <a:r>
              <a:t>    "PF02"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"ST-03",</a:t>
            </a:r>
          </a:p>
          <a:p xmlns:a="http://schemas.openxmlformats.org/drawingml/2006/main">
            <a:r>
              <a:t>  "number": 3,</a:t>
            </a:r>
          </a:p>
          <a:p xmlns:a="http://schemas.openxmlformats.org/drawingml/2006/main">
            <a:r>
              <a:t>  "direction": "무결점 교통안전체계 조성",</a:t>
            </a:r>
          </a:p>
          <a:p xmlns:a="http://schemas.openxmlformats.org/drawingml/2006/main">
            <a:r>
              <a:t>  "strategy": "중대사고 예방 능동적 안전관리체계 구축",</a:t>
            </a:r>
          </a:p>
          <a:p xmlns:a="http://schemas.openxmlformats.org/drawingml/2006/main">
            <a:r>
              <a:t>  "solution": "중대위험 조치·재발방지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"L01",</a:t>
            </a:r>
          </a:p>
          <a:p xmlns:a="http://schemas.openxmlformats.org/drawingml/2006/main">
            <a:r>
              <a:t>    "L02",</a:t>
            </a:r>
          </a:p>
          <a:p xmlns:a="http://schemas.openxmlformats.org/drawingml/2006/main">
            <a:r>
              <a:t>    "L25"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"1016043",</a:t>
            </a:r>
          </a:p>
          <a:p xmlns:a="http://schemas.openxmlformats.org/drawingml/2006/main">
            <a:r>
              <a:t>    "1022030",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"1211251",</a:t>
            </a:r>
          </a:p>
          <a:p xmlns:a="http://schemas.openxmlformats.org/drawingml/2006/main">
            <a:r>
              <a:t>    "1211250",</a:t>
            </a:r>
          </a:p>
          <a:p xmlns:a="http://schemas.openxmlformats.org/drawingml/2006/main">
            <a:r>
              <a:t>    "1211253",</a:t>
            </a:r>
          </a:p>
          <a:p xmlns:a="http://schemas.openxmlformats.org/drawingml/2006/main">
            <a:r>
              <a:t>    "1211280"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"분야별 안전점검·시정조치·재점검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"위험 근거·유사사례·시정조치 이력 연결",</a:t>
            </a:r>
          </a:p>
          <a:p xmlns:a="http://schemas.openxmlformats.org/drawingml/2006/main">
            <a:r>
              <a:t>    "현장 조치·전문 검토·종결 승인 분리"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"사건 타임라인·위험 조치대장",</a:t>
            </a:r>
          </a:p>
          <a:p xmlns:a="http://schemas.openxmlformats.org/drawingml/2006/main">
            <a:r>
              <a:t>  "acceptance": "미완료 조치의 종결 차단·검토/승인 역할 구분·후속 확인 추적",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"사업장 안전·재발방지",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산업재해 신고, 사고대응 및 재발방지 조치",</a:t>
            </a:r>
          </a:p>
          <a:p xmlns:a="http://schemas.openxmlformats.org/drawingml/2006/main">
            <a:r>
              <a:t>        "6. 중대재해처벌법 안전보건의무 이행점검에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예방대책",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교통사고예방대책 수립 및 교통안전사업 개발",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 안전점검",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"10. 교통시설설치ㆍ관리자의 교통안전관리규정 적정성 및 이행여부 확인평가"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"1211251",</a:t>
            </a:r>
          </a:p>
          <a:p xmlns:a="http://schemas.openxmlformats.org/drawingml/2006/main">
            <a:r>
              <a:t>      "name": "철도안전처",</a:t>
            </a:r>
          </a:p>
          <a:p xmlns:a="http://schemas.openxmlformats.org/drawingml/2006/main">
            <a:r>
              <a:t>      "job": "철도사고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철도사고(철도준사고 포함) 자료 원인분석 및 정책자료 제공"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"1211250",</a:t>
            </a:r>
          </a:p>
          <a:p xmlns:a="http://schemas.openxmlformats.org/drawingml/2006/main">
            <a:r>
              <a:t>      "name": "철도승인처",</a:t>
            </a:r>
          </a:p>
          <a:p xmlns:a="http://schemas.openxmlformats.org/drawingml/2006/main">
            <a:r>
              <a:t>      "job": "철도 안전관리체계 승인",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승인업무(최초·변경) 시행",</a:t>
            </a:r>
          </a:p>
          <a:p xmlns:a="http://schemas.openxmlformats.org/drawingml/2006/main">
            <a:r>
              <a:t>        "3. 철도안전관리체계 기술기준 제·개정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"1211253",</a:t>
            </a:r>
          </a:p>
          <a:p xmlns:a="http://schemas.openxmlformats.org/drawingml/2006/main">
            <a:r>
              <a:t>      "name": "철도검사처",</a:t>
            </a:r>
          </a:p>
          <a:p xmlns:a="http://schemas.openxmlformats.org/drawingml/2006/main">
            <a:r>
              <a:t>      "job": "철도 안전관리체계 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수시검사 시행",</a:t>
            </a:r>
          </a:p>
          <a:p xmlns:a="http://schemas.openxmlformats.org/drawingml/2006/main">
            <a:r>
              <a:t>        "2. 철도사고 및 운행장애 초기대응 점검 시행"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"1211280",</a:t>
            </a:r>
          </a:p>
          <a:p xmlns:a="http://schemas.openxmlformats.org/drawingml/2006/main">
            <a:r>
              <a:t>      "name": "항공안전처",</a:t>
            </a:r>
          </a:p>
          <a:p xmlns:a="http://schemas.openxmlformats.org/drawingml/2006/main">
            <a:r>
              <a:t>      "job": "항공안전·사고조사",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항공안전‧항공보안 자율보고의 접수·분석 및 전파업무",</a:t>
            </a:r>
          </a:p>
          <a:p xmlns:a="http://schemas.openxmlformats.org/drawingml/2006/main">
            <a:r>
              <a:t>        "13. 초경량비행장치 사고조사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"도로·철도 점검: 연결 법령 원장 / 사업장 안전·항공안전: 별표4 안전보건실·항공안전처 업무 / 분야별 법령·위탁범위 추가 대조",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"중대사고 예방·보고 완전성",</a:t>
            </a:r>
          </a:p>
          <a:p xmlns:a="http://schemas.openxmlformats.org/drawingml/2006/main">
            <a:r>
              <a:t>  "delta": "사건 타임라인·필수 보고항목 검사",</a:t>
            </a:r>
          </a:p>
          <a:p xmlns:a="http://schemas.openxmlformats.org/drawingml/2006/main">
            <a:r>
              <a:t>  "kpi": "필수 사건 재현율 / 보고 누락률",</a:t>
            </a:r>
          </a:p>
          <a:p xmlns:a="http://schemas.openxmlformats.org/drawingml/2006/main">
            <a:r>
              <a:t>  "validation": "사고 증거 누락·시점 충돌 주입 시험",</a:t>
            </a:r>
          </a:p>
          <a:p xmlns:a="http://schemas.openxmlformats.org/drawingml/2006/main">
            <a:r>
              <a:t>  "requirement": "BM-ST-03-R01",</a:t>
            </a:r>
          </a:p>
          <a:p xmlns:a="http://schemas.openxmlformats.org/drawingml/2006/main">
            <a:r>
              <a:t>  "test": "BM-ST-03-T01",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"보고 누락·재점검 지연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"도로·철도·항공·사업장 점검자료, 사건별 영상·로그, 시정조치",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"분야·사건 ID 분류",</a:t>
            </a:r>
          </a:p>
          <a:p xmlns:a="http://schemas.openxmlformats.org/drawingml/2006/main">
            <a:r>
              <a:t>    "전·중·후 타임라인 대사",</a:t>
            </a:r>
          </a:p>
          <a:p xmlns:a="http://schemas.openxmlformats.org/drawingml/2006/main">
            <a:r>
              <a:t>    "필수 보고·조치 항목 점검",</a:t>
            </a:r>
          </a:p>
          <a:p xmlns:a="http://schemas.openxmlformats.org/drawingml/2006/main">
            <a:r>
              <a:t>    "재점검·종결 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"사업장 안전·재발방지",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산업재해 신고, 사고대응 및 재발방지 조치",</a:t>
            </a:r>
          </a:p>
          <a:p xmlns:a="http://schemas.openxmlformats.org/drawingml/2006/main">
            <a:r>
              <a:t>        "6. 중대재해처벌법 안전보건의무 이행점검에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"RULEWORK-1016043-4",</a:t>
            </a:r>
          </a:p>
          <a:p xmlns:a="http://schemas.openxmlformats.org/drawingml/2006/main">
            <a:r>
              <a:t>          "text": "4. 산업재해 신고, 사고대응 및 재발방지 조치",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"작업·위험 유형별 기준·증빙 분류",</a:t>
            </a:r>
          </a:p>
          <a:p xmlns:a="http://schemas.openxmlformats.org/drawingml/2006/main">
            <a:r>
              <a:t>              "output": "위험·예방조치·이행·재점검표",</a:t>
            </a:r>
          </a:p>
          <a:p xmlns:a="http://schemas.openxmlformats.org/drawingml/2006/main">
            <a:r>
              <a:t>              "testId": "RULEWORK-1016043-4-T01",</a:t>
            </a:r>
          </a:p>
          <a:p xmlns:a="http://schemas.openxmlformats.org/drawingml/2006/main">
            <a:r>
              <a:t>              "criterion": "중대 위험·미이행·반복 지적의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"개선 책임·기한·이행·재확인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"RULEWORK-1016043-4-T02",</a:t>
            </a:r>
          </a:p>
          <a:p xmlns:a="http://schemas.openxmlformats.org/drawingml/2006/main">
            <a:r>
              <a:t>              "criterion": "필수 조치 미완료 건의 안전 확인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"RULEWORK-1016043-7",</a:t>
            </a:r>
          </a:p>
          <a:p xmlns:a="http://schemas.openxmlformats.org/drawingml/2006/main">
            <a:r>
              <a:t>          "text": "6. 중대재해처벌법 안전보건의무 이행점검에 관한 업무",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"RULEWORK-1016043-7-T01",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"RULEWORK-1016043-7-T02",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"운수회사 예방대책",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교통사고예방대책 수립 및 교통안전사업 개발",</a:t>
            </a:r>
          </a:p>
          <a:p xmlns:a="http://schemas.openxmlformats.org/drawingml/2006/main">
            <a:r>
              <a:t>        "7. 운수회사 안전관리 및 교통사고 예방사업"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"RULEWORK-1022030-4",</a:t>
            </a:r>
          </a:p>
          <a:p xmlns:a="http://schemas.openxmlformats.org/drawingml/2006/main">
            <a:r>
              <a:t>          "text": "4. 교통사고예방대책 수립 및 교통안전사업 개발",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"RULEWORK-1022030-4-T01",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"RULEWORK-1022030-4-T02",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"RULEWORK-1022030-7",</a:t>
            </a:r>
          </a:p>
          <a:p xmlns:a="http://schemas.openxmlformats.org/drawingml/2006/main">
            <a:r>
              <a:t>          "text": "7. 운수회사 안전관리 및 교통사고 예방사업",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"RULEWORK-1022030-7-T01",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"RULEWORK-1022030-7-T02",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"교통시설 안전점검",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교통시설 안전진단ㆍ점검ㆍ평가에 관한 업무",</a:t>
            </a:r>
          </a:p>
          <a:p xmlns:a="http://schemas.openxmlformats.org/drawingml/2006/main">
            <a:r>
              <a:t>        "10. 교통시설설치ㆍ관리자의 교통안전관리규정 적정성 및 이행여부 확인평가"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"RULEWORK-1021030-7",</a:t>
            </a:r>
          </a:p>
          <a:p xmlns:a="http://schemas.openxmlformats.org/drawingml/2006/main">
            <a:r>
              <a:t>          "text": "7. 교통시설 안전진단ㆍ점검ㆍ평가에 관한 업무",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"RULEWORK-1021030-7-T01",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"RULEWORK-1021030-7-T02",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"RULEWORK-1021030-10",</a:t>
            </a:r>
          </a:p>
          <a:p xmlns:a="http://schemas.openxmlformats.org/drawingml/2006/main">
            <a:r>
              <a:t>          "text": "10. 교통시설설치ㆍ관리자의 교통안전관리규정 적정성 및 이행여부 확인평가",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"RULEWORK-1021030-10-T01",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"RULEWORK-1021030-10-T02",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"1211251",</a:t>
            </a:r>
          </a:p>
          <a:p xmlns:a="http://schemas.openxmlformats.org/drawingml/2006/main">
            <a:r>
              <a:t>      "name": "철도안전처",</a:t>
            </a:r>
          </a:p>
          <a:p xmlns:a="http://schemas.openxmlformats.org/drawingml/2006/main">
            <a:r>
              <a:t>      "job": "철도사고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철도사고(철도준사고 포함) 자료 원인분석 및 정책자료 제공"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"RULEWORK-1211251-6",</a:t>
            </a:r>
          </a:p>
          <a:p xmlns:a="http://schemas.openxmlformats.org/drawingml/2006/main">
            <a:r>
              <a:t>          "text": "6. 철도사고(철도준사고 포함) 자료 원인분석 및 정책자료 제공",</a:t>
            </a:r>
          </a:p>
          <a:p xmlns:a="http://schemas.openxmlformats.org/drawingml/2006/main">
            <a:r>
              <a:t>          "locator": "별표4 · T46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"RULEWORK-1211251-6-T01",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"RULEWORK-1211251-6-T02",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"RULEWORK-1211251-6-R03",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"RULEWORK-1211251-6-T03",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"1211250",</a:t>
            </a:r>
          </a:p>
          <a:p xmlns:a="http://schemas.openxmlformats.org/drawingml/2006/main">
            <a:r>
              <a:t>      "name": "철도승인처",</a:t>
            </a:r>
          </a:p>
          <a:p xmlns:a="http://schemas.openxmlformats.org/drawingml/2006/main">
            <a:r>
              <a:t>      "job": "철도 안전관리체계 승인",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승인업무(최초·변경) 시행",</a:t>
            </a:r>
          </a:p>
          <a:p xmlns:a="http://schemas.openxmlformats.org/drawingml/2006/main">
            <a:r>
              <a:t>        "3. 철도안전관리체계 기술기준 제·개정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"RULEWORK-1211250-1",</a:t>
            </a:r>
          </a:p>
          <a:p xmlns:a="http://schemas.openxmlformats.org/drawingml/2006/main">
            <a:r>
              <a:t>          "text": "1. 철도안전관리체계 승인업무(최초·변경) 시행",</a:t>
            </a:r>
          </a:p>
          <a:p xmlns:a="http://schemas.openxmlformats.org/drawingml/2006/main">
            <a:r>
              <a:t>          "locator": "별표4 · T46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"RULEWORK-1211250-1-T01",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"RULEWORK-1211250-1-T02",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"RULEWORK-1211250-3",</a:t>
            </a:r>
          </a:p>
          <a:p xmlns:a="http://schemas.openxmlformats.org/drawingml/2006/main">
            <a:r>
              <a:t>          "text": "3. 철도안전관리체계 기술기준 제·개정 및 관리",</a:t>
            </a:r>
          </a:p>
          <a:p xmlns:a="http://schemas.openxmlformats.org/drawingml/2006/main">
            <a:r>
              <a:t>          "locator": "별표4 · T46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"RULEWORK-1211250-3-T01",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"RULEWORK-1211250-3-T02",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"1211253",</a:t>
            </a:r>
          </a:p>
          <a:p xmlns:a="http://schemas.openxmlformats.org/drawingml/2006/main">
            <a:r>
              <a:t>      "name": "철도검사처",</a:t>
            </a:r>
          </a:p>
          <a:p xmlns:a="http://schemas.openxmlformats.org/drawingml/2006/main">
            <a:r>
              <a:t>      "job": "철도 안전관리체계 검사",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철도안전관리체계 수시검사 시행",</a:t>
            </a:r>
          </a:p>
          <a:p xmlns:a="http://schemas.openxmlformats.org/drawingml/2006/main">
            <a:r>
              <a:t>        "2. 철도사고 및 운행장애 초기대응 점검 시행"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"RULEWORK-1211253-1",</a:t>
            </a:r>
          </a:p>
          <a:p xmlns:a="http://schemas.openxmlformats.org/drawingml/2006/main">
            <a:r>
              <a:t>          "text": "1. 철도안전관리체계 수시검사 시행",</a:t>
            </a:r>
          </a:p>
          <a:p xmlns:a="http://schemas.openxmlformats.org/drawingml/2006/main">
            <a:r>
              <a:t>          "locator": "별표4 · T46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"RULEWORK-1211253-1-T01",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"RULEWORK-1211253-1-T02",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"RULEWORK-1211253-1-T03",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"RULEWORK-1211253-2",</a:t>
            </a:r>
          </a:p>
          <a:p xmlns:a="http://schemas.openxmlformats.org/drawingml/2006/main">
            <a:r>
              <a:t>          "text": "2. 철도사고 및 운행장애 초기대응 점검 시행",</a:t>
            </a:r>
          </a:p>
          <a:p xmlns:a="http://schemas.openxmlformats.org/drawingml/2006/main">
            <a:r>
              <a:t>          "locator": "별표4 · T46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"운영자·차량·시설 유형별 검토 기준 선택",</a:t>
            </a:r>
          </a:p>
          <a:p xmlns:a="http://schemas.openxmlformats.org/drawingml/2006/main">
            <a:r>
              <a:t>              "output": "심사·지적·보완·종결 검토표",</a:t>
            </a:r>
          </a:p>
          <a:p xmlns:a="http://schemas.openxmlformats.org/drawingml/2006/main">
            <a:r>
              <a:t>              "testId": "RULEWORK-1211253-2-T01",</a:t>
            </a:r>
          </a:p>
          <a:p xmlns:a="http://schemas.openxmlformats.org/drawingml/2006/main">
            <a:r>
              <a:t>              "criterion": "적용 항목·증빙·지적 분류의 전문가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"지적–보완–재확인과 권한자 결정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"RULEWORK-1211253-2-T02",</a:t>
            </a:r>
          </a:p>
          <a:p xmlns:a="http://schemas.openxmlformats.org/drawingml/2006/main">
            <a:r>
              <a:t>              "criterion": "검사 미실시·필수 증거 누락의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"RULEWORK-1211253-2-R03",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"RULEWORK-1211253-2-T03",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"1211280",</a:t>
            </a:r>
          </a:p>
          <a:p xmlns:a="http://schemas.openxmlformats.org/drawingml/2006/main">
            <a:r>
              <a:t>      "name": "항공안전처",</a:t>
            </a:r>
          </a:p>
          <a:p xmlns:a="http://schemas.openxmlformats.org/drawingml/2006/main">
            <a:r>
              <a:t>      "job": "항공안전·사고조사",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항공안전‧항공보안 자율보고의 접수·분석 및 전파업무",</a:t>
            </a:r>
          </a:p>
          <a:p xmlns:a="http://schemas.openxmlformats.org/drawingml/2006/main">
            <a:r>
              <a:t>        "13. 초경량비행장치 사고조사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"RULEWORK-1211280-8",</a:t>
            </a:r>
          </a:p>
          <a:p xmlns:a="http://schemas.openxmlformats.org/drawingml/2006/main">
            <a:r>
              <a:t>          "text": "8. 항공안전‧항공보안 자율보고의 접수·분석 및 전파업무",</a:t>
            </a:r>
          </a:p>
          <a:p xmlns:a="http://schemas.openxmlformats.org/drawingml/2006/main">
            <a:r>
              <a:t>          "locator": "별표4 · T45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"RULEWORK-1211280-8-T01",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"RULEWORK-1211280-8-T02",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"RULEWORK-1211280-8-T03",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"RULEWORK-1211280-13",</a:t>
            </a:r>
          </a:p>
          <a:p xmlns:a="http://schemas.openxmlformats.org/drawingml/2006/main">
            <a:r>
              <a:t>          "text": "13. 초경량비행장치 사고조사 업무",</a:t>
            </a:r>
          </a:p>
          <a:p xmlns:a="http://schemas.openxmlformats.org/drawingml/2006/main">
            <a:r>
              <a:t>          "locator": "별표4 · T45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"RULEWORK-1211280-13-T01",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"RULEWORK-1211280-13-T02",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"RULEWORK-1211280-13-R03",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"RULEWORK-1211280-13-T03",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증거·항목 검토"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"분야별 보고 항목 사전",</a:t>
            </a:r>
          </a:p>
          <a:p xmlns:a="http://schemas.openxmlformats.org/drawingml/2006/main">
            <a:r>
              <a:t>    "원시 증거–사건–보고서 추적표"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"사고 후 사건 삭제, 시각 충돌, 미이행 조치 주입",</a:t>
            </a:r>
          </a:p>
          <a:p xmlns:a="http://schemas.openxmlformats.org/drawingml/2006/main">
            <a:r>
              <a:t>    "criterion": "누락 경고·원시 근거 추적·종결 차단",</a:t>
            </a:r>
          </a:p>
          <a:p xmlns:a="http://schemas.openxmlformats.org/drawingml/2006/main">
            <a:r>
              <a:t>    "evidence": "사건별 정답표·탐지 결과·종결 시도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"필수 사건 재현 건수 ÷ 정답 사건 수 / 재점검 기한 초과율",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"PF-R04",</a:t>
            </a:r>
          </a:p>
          <a:p xmlns:a="http://schemas.openxmlformats.org/drawingml/2006/main">
            <a:r>
              <a:t>    "PF-R09",</a:t>
            </a:r>
          </a:p>
          <a:p xmlns:a="http://schemas.openxmlformats.org/drawingml/2006/main">
            <a:r>
              <a:t>    "PF02"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"ST-04",</a:t>
            </a:r>
          </a:p>
          <a:p xmlns:a="http://schemas.openxmlformats.org/drawingml/2006/main">
            <a:r>
              <a:t>  "number": 4,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"교통안전체계 인공지능 대전환",</a:t>
            </a:r>
          </a:p>
          <a:p xmlns:a="http://schemas.openxmlformats.org/drawingml/2006/main">
            <a:r>
              <a:t>  "solution": "TS 조직 네이티브 AI 공통플랫폼",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"1010100",</a:t>
            </a:r>
          </a:p>
          <a:p xmlns:a="http://schemas.openxmlformats.org/drawingml/2006/main">
            <a:r>
              <a:t>    "1019600",</a:t>
            </a:r>
          </a:p>
          <a:p xmlns:a="http://schemas.openxmlformats.org/drawingml/2006/main">
            <a:r>
              <a:t>    "1019700",</a:t>
            </a:r>
          </a:p>
          <a:p xmlns:a="http://schemas.openxmlformats.org/drawingml/2006/main">
            <a:r>
              <a:t>    "1016050",</a:t>
            </a:r>
          </a:p>
          <a:p xmlns:a="http://schemas.openxmlformats.org/drawingml/2006/main">
            <a:r>
              <a:t>    "1018037",</a:t>
            </a:r>
          </a:p>
          <a:p xmlns:a="http://schemas.openxmlformats.org/drawingml/2006/main">
            <a:r>
              <a:t>    "1019300",</a:t>
            </a:r>
          </a:p>
          <a:p xmlns:a="http://schemas.openxmlformats.org/drawingml/2006/main">
            <a:r>
              <a:t>    "1019500"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"공식 조직·직무·역할 기반의 사용자 인식 및 업무 맥락 분류",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"로그인 ID·조직·담당업무·효력일 매핑",</a:t>
            </a:r>
          </a:p>
          <a:p xmlns:a="http://schemas.openxmlformats.org/drawingml/2006/main">
            <a:r>
              <a:t>    "업무별 지식·절차·서식 선택과 접근정책 집행"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"조직·업무 사전·정책표·기관 인수본",</a:t>
            </a:r>
          </a:p>
          <a:p xmlns:a="http://schemas.openxmlformats.org/drawingml/2006/main">
            <a:r>
              <a:t>  "acceptance": "GAI-R01~R12와 GAI-T01~T12의 독립 인수 기준 적용",</a:t>
            </a:r>
          </a:p>
          <a:p xmlns:a="http://schemas.openxmlformats.org/drawingml/2006/main">
            <a:r>
              <a:t>  "phase": "1차 공통 기반",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"ON-W02",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"GAI-T01",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"GAI-T03",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"GAI-T10",</a:t>
            </a:r>
          </a:p>
          <a:p xmlns:a="http://schemas.openxmlformats.org/drawingml/2006/main">
            <a:r>
              <a:t>    "GAI-T11",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"1010100",</a:t>
            </a:r>
          </a:p>
          <a:p xmlns:a="http://schemas.openxmlformats.org/drawingml/2006/main">
            <a:r>
              <a:t>      "name": "AI미래전략실",</a:t>
            </a:r>
          </a:p>
          <a:p xmlns:a="http://schemas.openxmlformats.org/drawingml/2006/main">
            <a:r>
              <a:t>      "job": "AI 전략·윤리",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인공지능(AI) 전환 전략 수립․조정",</a:t>
            </a:r>
          </a:p>
          <a:p xmlns:a="http://schemas.openxmlformats.org/drawingml/2006/main">
            <a:r>
              <a:t>        "6. 인공지능(AI) 제도 및 지침, 윤리기준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사업 조정·데이터 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활용 서비스 구축 지원 및 성과관리",</a:t>
            </a:r>
          </a:p>
          <a:p xmlns:a="http://schemas.openxmlformats.org/drawingml/2006/main">
            <a:r>
              <a:t>        "3. 인공지능(AI) 데이터 표준화 및 데이터 스페이스 구축"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"1019700",</a:t>
            </a:r>
          </a:p>
          <a:p xmlns:a="http://schemas.openxmlformats.org/drawingml/2006/main">
            <a:r>
              <a:t>      "name": "AI서비스개발팀",</a:t>
            </a:r>
          </a:p>
          <a:p xmlns:a="http://schemas.openxmlformats.org/drawingml/2006/main">
            <a:r>
              <a:t>      "job": "공통플랫폼·모델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공통플랫폼 구축․운영 인공지능(AI) 모델 고도화․품질관리",</a:t>
            </a:r>
          </a:p>
          <a:p xmlns:a="http://schemas.openxmlformats.org/drawingml/2006/main">
            <a:r>
              <a:t>        "2. 인공지능(AI) 시범 서비스(PoC) 추진"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4행 · 업무분장 열",</a:t>
            </a:r>
          </a:p>
          <a:p xmlns:a="http://schemas.openxmlformats.org/drawingml/2006/main">
            <a:r>
              <a:t>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"조직·분장·전결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11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조직 및 정원관리 총괄",</a:t>
            </a:r>
          </a:p>
          <a:p xmlns:a="http://schemas.openxmlformats.org/drawingml/2006/main">
            <a:r>
              <a:t>        "9. 위임전결에 관한 사항",</a:t>
            </a:r>
          </a:p>
          <a:p xmlns:a="http://schemas.openxmlformats.org/drawingml/2006/main">
            <a:r>
              <a:t>        "10. 업무분장 조정‧관리"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"발령·인사정보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"6. 인사통계자료․인사정보 관리 및 인사 관련 제증명 발급"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"정보화·데이터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12,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"13. 정보화사업 사전검토(과업지시서 등) 및 시스템 구축 지원(기술분야)",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"보안·개인정보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정보보안 업무총괄 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"조직 네이티브 공통 기반",</a:t>
            </a:r>
          </a:p>
          <a:p xmlns:a="http://schemas.openxmlformats.org/drawingml/2006/main">
            <a:r>
              <a:t>  "delta": "공식 ID·효력일·역할·업무 분류·권한 집행",</a:t>
            </a:r>
          </a:p>
          <a:p xmlns:a="http://schemas.openxmlformats.org/drawingml/2006/main">
            <a:r>
              <a:t>  "kpi": "직무 분류 정확도 / 비인가 노출 건수",</a:t>
            </a:r>
          </a:p>
          <a:p xmlns:a="http://schemas.openxmlformats.org/drawingml/2006/main">
            <a:r>
              <a:t>  "validation": "인사이동·동명이인·권한 회수·동일 요청 교차 시험",</a:t>
            </a:r>
          </a:p>
          <a:p xmlns:a="http://schemas.openxmlformats.org/drawingml/2006/main">
            <a:r>
              <a:t>  "requirement": "BM-ST-04-R01",</a:t>
            </a:r>
          </a:p>
          <a:p xmlns:a="http://schemas.openxmlformats.org/drawingml/2006/main">
            <a:r>
              <a:t>  "test": "BM-ST-04-T01",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"반복 맥락 입력·부서 간 오인계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"공식 직원 ID, 조직도·업무분장, 효력일, 원천 접근정책",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"로그인 ID–조직 연결",</a:t>
            </a:r>
          </a:p>
          <a:p xmlns:a="http://schemas.openxmlformats.org/drawingml/2006/main">
            <a:r>
              <a:t>    "인물·부서·직무 관계 식별",</a:t>
            </a:r>
          </a:p>
          <a:p xmlns:a="http://schemas.openxmlformats.org/drawingml/2006/main">
            <a:r>
              <a:t>    "업무 맥락·지식·서식 선택",</a:t>
            </a:r>
          </a:p>
          <a:p xmlns:a="http://schemas.openxmlformats.org/drawingml/2006/main">
            <a:r>
              <a:t>    "권한 재검증·결과 근거 기록"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"1010100",</a:t>
            </a:r>
          </a:p>
          <a:p xmlns:a="http://schemas.openxmlformats.org/drawingml/2006/main">
            <a:r>
              <a:t>      "name": "AI미래전략실",</a:t>
            </a:r>
          </a:p>
          <a:p xmlns:a="http://schemas.openxmlformats.org/drawingml/2006/main">
            <a:r>
              <a:t>      "job": "AI 전략·윤리",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인공지능(AI) 전환 전략 수립․조정",</a:t>
            </a:r>
          </a:p>
          <a:p xmlns:a="http://schemas.openxmlformats.org/drawingml/2006/main">
            <a:r>
              <a:t>        "6. 인공지능(AI) 제도 및 지침, 윤리기준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"RULEWORK-1010100-4",</a:t>
            </a:r>
          </a:p>
          <a:p xmlns:a="http://schemas.openxmlformats.org/drawingml/2006/main">
            <a:r>
              <a:t>          "text": "4. 인공지능(AI) 전환 전략 수립․조정",</a:t>
            </a:r>
          </a:p>
          <a:p xmlns:a="http://schemas.openxmlformats.org/drawingml/2006/main">
            <a:r>
              <a:t>          "locator": "별표4 · T34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"RULEWORK-1010100-4-T01",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"RULEWORK-1010100-4-T02",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"RULEWORK-1010100-4-T03",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"RULEWORK-1010100-6",</a:t>
            </a:r>
          </a:p>
          <a:p xmlns:a="http://schemas.openxmlformats.org/drawingml/2006/main">
            <a:r>
              <a:t>          "text": "6. 인공지능(AI) 제도 및 지침, 윤리기준 관리",</a:t>
            </a:r>
          </a:p>
          <a:p xmlns:a="http://schemas.openxmlformats.org/drawingml/2006/main">
            <a:r>
              <a:t>          "locator": "별표4 · T34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"RULEWORK-1010100-6-T01",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"RULEWORK-1010100-6-T02",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"RULEWORK-1010100-6-T03",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사업 조정·데이터 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활용 서비스 구축 지원 및 성과관리",</a:t>
            </a:r>
          </a:p>
          <a:p xmlns:a="http://schemas.openxmlformats.org/drawingml/2006/main">
            <a:r>
              <a:t>        "3. 인공지능(AI) 데이터 표준화 및 데이터 스페이스 구축"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"RULEWORK-1019600-1",</a:t>
            </a:r>
          </a:p>
          <a:p xmlns:a="http://schemas.openxmlformats.org/drawingml/2006/main">
            <a:r>
              <a:t>          "text": "1. 인공지능(AI) 활용 서비스 구축 지원 및 성과관리",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"RULEWORK-1019600-1-T01",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"RULEWORK-1019600-1-T02",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"RULEWORK-1019600-3",</a:t>
            </a:r>
          </a:p>
          <a:p xmlns:a="http://schemas.openxmlformats.org/drawingml/2006/main">
            <a:r>
              <a:t>          "text": "3. 인공지능(AI) 데이터 표준화 및 데이터 스페이스 구축",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"RULEWORK-1019600-3-T01",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"1019700",</a:t>
            </a:r>
          </a:p>
          <a:p xmlns:a="http://schemas.openxmlformats.org/drawingml/2006/main">
            <a:r>
              <a:t>      "name": "AI서비스개발팀",</a:t>
            </a:r>
          </a:p>
          <a:p xmlns:a="http://schemas.openxmlformats.org/drawingml/2006/main">
            <a:r>
              <a:t>      "job": "공통플랫폼·모델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공통플랫폼 구축․운영 인공지능(AI) 모델 고도화․품질관리",</a:t>
            </a:r>
          </a:p>
          <a:p xmlns:a="http://schemas.openxmlformats.org/drawingml/2006/main">
            <a:r>
              <a:t>        "2. 인공지능(AI) 시범 서비스(PoC) 추진"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4행 · 업무분장 열",</a:t>
            </a:r>
          </a:p>
          <a:p xmlns:a="http://schemas.openxmlformats.org/drawingml/2006/main">
            <a:r>
              <a:t>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"RULEWORK-1019700-1",</a:t>
            </a:r>
          </a:p>
          <a:p xmlns:a="http://schemas.openxmlformats.org/drawingml/2006/main">
            <a:r>
              <a:t>          "text": "1. 인공지능(AI) 공통플랫폼 구축․운영 인공지능(AI) 모델 고도화․품질관리",</a:t>
            </a:r>
          </a:p>
          <a:p xmlns:a="http://schemas.openxmlformats.org/drawingml/2006/main">
            <a:r>
              <a:t>          "locator": "별표4 · T37 · 4행 · 업무분장 열",</a:t>
            </a:r>
          </a:p>
          <a:p xmlns:a="http://schemas.openxmlformats.org/drawingml/2006/main">
            <a:r>
              <a:t>    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"RULEWORK-1019700-1-T01",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"RULEWORK-1019700-1-T02",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"RULEWORK-1019700-1-T03",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"RULEWORK-1019700-2",</a:t>
            </a:r>
          </a:p>
          <a:p xmlns:a="http://schemas.openxmlformats.org/drawingml/2006/main">
            <a:r>
              <a:t>          "text": "2. 인공지능(AI) 시범 서비스(PoC) 추진",</a:t>
            </a:r>
          </a:p>
          <a:p xmlns:a="http://schemas.openxmlformats.org/drawingml/2006/main">
            <a:r>
              <a:t>          "locator": "별표4 · T37 · 4행 · 업무분장 열",</a:t>
            </a:r>
          </a:p>
          <a:p xmlns:a="http://schemas.openxmlformats.org/drawingml/2006/main">
            <a:r>
              <a:t>    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"RULEWORK-1019700-2-T01",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"RULEWORK-1019700-2-T02",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"RULEWORK-1019700-2-T03",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"조직·분장·전결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11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조직 및 정원관리 총괄",</a:t>
            </a:r>
          </a:p>
          <a:p xmlns:a="http://schemas.openxmlformats.org/drawingml/2006/main">
            <a:r>
              <a:t>        "9. 위임전결에 관한 사항",</a:t>
            </a:r>
          </a:p>
          <a:p xmlns:a="http://schemas.openxmlformats.org/drawingml/2006/main">
            <a:r>
              <a:t>        "10. 업무분장 조정‧관리"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"RULEWORK-1016050-8",</a:t>
            </a:r>
          </a:p>
          <a:p xmlns:a="http://schemas.openxmlformats.org/drawingml/2006/main">
            <a:r>
              <a:t>          "text": "8. 조직 및 정원관리 총괄",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"RULEWORK-1016050-8-T01",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"RULEWORK-1016050-8-T02",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"RULEWORK-1016050-11",</a:t>
            </a:r>
          </a:p>
          <a:p xmlns:a="http://schemas.openxmlformats.org/drawingml/2006/main">
            <a:r>
              <a:t>          "text": "9. 위임전결에 관한 사항",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"RULEWORK-1016050-11-T01",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"RULEWORK-1016050-11-T02",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"RULEWORK-1016050-11-T03",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"RULEWORK-1016050-12",</a:t>
            </a:r>
          </a:p>
          <a:p xmlns:a="http://schemas.openxmlformats.org/drawingml/2006/main">
            <a:r>
              <a:t>          "text": "10. 업무분장 조정‧관리",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"RULEWORK-1016050-12-T01",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"RULEWORK-1016050-12-T02",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"RULEWORK-1016050-12-T03",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"발령·인사정보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"6. 인사통계자료․인사정보 관리 및 인사 관련 제증명 발급"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"RULEWORK-1018037-3",</a:t>
            </a:r>
          </a:p>
          <a:p xmlns:a="http://schemas.openxmlformats.org/drawingml/2006/main">
            <a:r>
              <a:t>          "text": "3. 직원의 채용, 승진, 전보 등 임용 및 보직에 관한 업무",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"RULEWORK-1018037-6",</a:t>
            </a:r>
          </a:p>
          <a:p xmlns:a="http://schemas.openxmlformats.org/drawingml/2006/main">
            <a:r>
              <a:t>          "text": "6. 인사통계자료․인사정보 관리 및 인사 관련 제증명 발급",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"RULEWORK-1018037-6-T01",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"RULEWORK-1018037-6-T02",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"정보화·데이터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12,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"13. 정보화사업 사전검토(과업지시서 등) 및 시스템 구축 지원(기술분야)",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"RULEWORK-1019300-13",</a:t>
            </a:r>
          </a:p>
          <a:p xmlns:a="http://schemas.openxmlformats.org/drawingml/2006/main">
            <a:r>
              <a:t>          "text": "13. 정보화사업 사전검토(과업지시서 등) 및 시스템 구축 지원(기술분야)",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"RULEWORK-1019300-13-T01",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"RULEWORK-1019300-13-T02",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"RULEWORK-1019300-20",</a:t>
            </a:r>
          </a:p>
          <a:p xmlns:a="http://schemas.openxmlformats.org/drawingml/2006/main">
            <a:r>
              <a:t>          "text": "20. 데이터 품질관리",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"RULEWORK-1019300-20-T01",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"RULEWORK-1019300-20-T02",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"RULEWORK-1019300-20-T03",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"보안·개인정보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정보보안 업무총괄 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"RULEWORK-1019500-1",</a:t>
            </a:r>
          </a:p>
          <a:p xmlns:a="http://schemas.openxmlformats.org/drawingml/2006/main">
            <a:r>
              <a:t>          "text": "1. 정보보안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"RULEWORK-1019500-10",</a:t>
            </a:r>
          </a:p>
          <a:p xmlns:a="http://schemas.openxmlformats.org/drawingml/2006/main">
            <a:r>
              <a:t>          "text": "10. 개인정보보호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"RULEWORK-1019500-10-T01",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"RULEWORK-1019500-10-T02",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대화·검색·서식·스킬"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"사람–조직–직무–업무 관계·효력일 모델",</a:t>
            </a:r>
          </a:p>
          <a:p xmlns:a="http://schemas.openxmlformats.org/drawingml/2006/main">
            <a:r>
              <a:t>    "업무 분류기·검색 전 정책 집행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"동명이인·겸직·전보·회수 전후 동일 요청",</a:t>
            </a:r>
          </a:p>
          <a:p xmlns:a="http://schemas.openxmlformats.org/drawingml/2006/main">
            <a:r>
              <a:t>    "criterion": "정답 조직·업무·서식 일치, 모호한 식별 보류, 비인가 노출·실행 0건 기준안",</a:t>
            </a:r>
          </a:p>
          <a:p xmlns:a="http://schemas.openxmlformats.org/drawingml/2006/main">
            <a:r>
              <a:t>    "evidence": "신원 매핑 정답셋·교차권한 결과·변경 전파·복구 기록",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"직무·업무 분류 정답 건수 ÷ 평가 건수 / 변경 전파 지연 / 비인가 노출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"PF-R03",</a:t>
            </a:r>
          </a:p>
          <a:p xmlns:a="http://schemas.openxmlformats.org/drawingml/2006/main">
            <a:r>
              <a:t>    "PF-R04",</a:t>
            </a:r>
          </a:p>
          <a:p xmlns:a="http://schemas.openxmlformats.org/drawingml/2006/main">
            <a:r>
              <a:t>    "PF-R09",</a:t>
            </a:r>
          </a:p>
          <a:p xmlns:a="http://schemas.openxmlformats.org/drawingml/2006/main">
            <a:r>
              <a:t>    "PF01",</a:t>
            </a:r>
          </a:p>
          <a:p xmlns:a="http://schemas.openxmlformats.org/drawingml/2006/main">
            <a:r>
              <a:t>    "PF-A03",</a:t>
            </a:r>
          </a:p>
          <a:p xmlns:a="http://schemas.openxmlformats.org/drawingml/2006/main">
            <a:r>
              <a:t>    "PF04",</a:t>
            </a:r>
          </a:p>
          <a:p xmlns:a="http://schemas.openxmlformats.org/drawingml/2006/main">
            <a:r>
              <a:t>    "PF-A06",</a:t>
            </a:r>
          </a:p>
          <a:p xmlns:a="http://schemas.openxmlformats.org/drawingml/2006/main">
            <a:r>
              <a:t>    "PF05",</a:t>
            </a:r>
          </a:p>
          <a:p xmlns:a="http://schemas.openxmlformats.org/drawingml/2006/main">
            <a:r>
              <a:t>    "PF-A08",</a:t>
            </a:r>
          </a:p>
          <a:p xmlns:a="http://schemas.openxmlformats.org/drawingml/2006/main">
            <a:r>
              <a:t>    "PF06",</a:t>
            </a:r>
          </a:p>
          <a:p xmlns:a="http://schemas.openxmlformats.org/drawingml/2006/main">
            <a:r>
              <a:t>    "PF-A16",</a:t>
            </a:r>
          </a:p>
          <a:p xmlns:a="http://schemas.openxmlformats.org/drawingml/2006/main">
            <a:r>
              <a:t>    "PF-A18",</a:t>
            </a:r>
          </a:p>
          <a:p xmlns:a="http://schemas.openxmlformats.org/drawingml/2006/main">
            <a:r>
              <a:t>    "PF-C01",</a:t>
            </a:r>
          </a:p>
          <a:p xmlns:a="http://schemas.openxmlformats.org/drawingml/2006/main">
            <a:r>
              <a:t>    "PF-C02",</a:t>
            </a:r>
          </a:p>
          <a:p xmlns:a="http://schemas.openxmlformats.org/drawingml/2006/main">
            <a:r>
              <a:t>    "PF31"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"ST-04",</a:t>
            </a:r>
          </a:p>
          <a:p xmlns:a="http://schemas.openxmlformats.org/drawingml/2006/main">
            <a:r>
              <a:t>  "number": 4,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"교통안전체계 인공지능 대전환",</a:t>
            </a:r>
          </a:p>
          <a:p xmlns:a="http://schemas.openxmlformats.org/drawingml/2006/main">
            <a:r>
              <a:t>  "solution": "TS 조직 네이티브 AI 공통플랫폼",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"1010100",</a:t>
            </a:r>
          </a:p>
          <a:p xmlns:a="http://schemas.openxmlformats.org/drawingml/2006/main">
            <a:r>
              <a:t>    "1019600",</a:t>
            </a:r>
          </a:p>
          <a:p xmlns:a="http://schemas.openxmlformats.org/drawingml/2006/main">
            <a:r>
              <a:t>    "1019700",</a:t>
            </a:r>
          </a:p>
          <a:p xmlns:a="http://schemas.openxmlformats.org/drawingml/2006/main">
            <a:r>
              <a:t>    "1016050",</a:t>
            </a:r>
          </a:p>
          <a:p xmlns:a="http://schemas.openxmlformats.org/drawingml/2006/main">
            <a:r>
              <a:t>    "1018037",</a:t>
            </a:r>
          </a:p>
          <a:p xmlns:a="http://schemas.openxmlformats.org/drawingml/2006/main">
            <a:r>
              <a:t>    "1019300",</a:t>
            </a:r>
          </a:p>
          <a:p xmlns:a="http://schemas.openxmlformats.org/drawingml/2006/main">
            <a:r>
              <a:t>    "1019500"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"공식 조직·직무·역할 기반의 사용자 인식 및 업무 맥락 분류",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"로그인 ID·조직·담당업무·효력일 매핑",</a:t>
            </a:r>
          </a:p>
          <a:p xmlns:a="http://schemas.openxmlformats.org/drawingml/2006/main">
            <a:r>
              <a:t>    "업무별 지식·절차·서식 선택과 접근정책 집행"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"조직·업무 사전·정책표·기관 인수본",</a:t>
            </a:r>
          </a:p>
          <a:p xmlns:a="http://schemas.openxmlformats.org/drawingml/2006/main">
            <a:r>
              <a:t>  "acceptance": "GAI-R01~R12와 GAI-T01~T12의 독립 인수 기준 적용",</a:t>
            </a:r>
          </a:p>
          <a:p xmlns:a="http://schemas.openxmlformats.org/drawingml/2006/main">
            <a:r>
              <a:t>  "phase": "1차 공통 기반",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"ON-W02",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"GAI-T01",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"GAI-T03",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"GAI-T10",</a:t>
            </a:r>
          </a:p>
          <a:p xmlns:a="http://schemas.openxmlformats.org/drawingml/2006/main">
            <a:r>
              <a:t>    "GAI-T11",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"1010100",</a:t>
            </a:r>
          </a:p>
          <a:p xmlns:a="http://schemas.openxmlformats.org/drawingml/2006/main">
            <a:r>
              <a:t>      "name": "AI미래전략실",</a:t>
            </a:r>
          </a:p>
          <a:p xmlns:a="http://schemas.openxmlformats.org/drawingml/2006/main">
            <a:r>
              <a:t>      "job": "AI 전략·윤리",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인공지능(AI) 전환 전략 수립․조정",</a:t>
            </a:r>
          </a:p>
          <a:p xmlns:a="http://schemas.openxmlformats.org/drawingml/2006/main">
            <a:r>
              <a:t>        "6. 인공지능(AI) 제도 및 지침, 윤리기준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사업 조정·데이터 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활용 서비스 구축 지원 및 성과관리",</a:t>
            </a:r>
          </a:p>
          <a:p xmlns:a="http://schemas.openxmlformats.org/drawingml/2006/main">
            <a:r>
              <a:t>        "3. 인공지능(AI) 데이터 표준화 및 데이터 스페이스 구축"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"1019700",</a:t>
            </a:r>
          </a:p>
          <a:p xmlns:a="http://schemas.openxmlformats.org/drawingml/2006/main">
            <a:r>
              <a:t>      "name": "AI서비스개발팀",</a:t>
            </a:r>
          </a:p>
          <a:p xmlns:a="http://schemas.openxmlformats.org/drawingml/2006/main">
            <a:r>
              <a:t>      "job": "공통플랫폼·모델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공통플랫폼 구축․운영 인공지능(AI) 모델 고도화․품질관리",</a:t>
            </a:r>
          </a:p>
          <a:p xmlns:a="http://schemas.openxmlformats.org/drawingml/2006/main">
            <a:r>
              <a:t>        "2. 인공지능(AI) 시범 서비스(PoC) 추진"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4행 · 업무분장 열",</a:t>
            </a:r>
          </a:p>
          <a:p xmlns:a="http://schemas.openxmlformats.org/drawingml/2006/main">
            <a:r>
              <a:t>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"조직·분장·전결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11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조직 및 정원관리 총괄",</a:t>
            </a:r>
          </a:p>
          <a:p xmlns:a="http://schemas.openxmlformats.org/drawingml/2006/main">
            <a:r>
              <a:t>        "9. 위임전결에 관한 사항",</a:t>
            </a:r>
          </a:p>
          <a:p xmlns:a="http://schemas.openxmlformats.org/drawingml/2006/main">
            <a:r>
              <a:t>        "10. 업무분장 조정‧관리"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"발령·인사정보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"6. 인사통계자료․인사정보 관리 및 인사 관련 제증명 발급"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"정보화·데이터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12,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"13. 정보화사업 사전검토(과업지시서 등) 및 시스템 구축 지원(기술분야)",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"보안·개인정보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정보보안 업무총괄 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"조직 네이티브 공통 기반",</a:t>
            </a:r>
          </a:p>
          <a:p xmlns:a="http://schemas.openxmlformats.org/drawingml/2006/main">
            <a:r>
              <a:t>  "delta": "공식 ID·효력일·역할·업무 분류·권한 집행",</a:t>
            </a:r>
          </a:p>
          <a:p xmlns:a="http://schemas.openxmlformats.org/drawingml/2006/main">
            <a:r>
              <a:t>  "kpi": "직무 분류 정확도 / 비인가 노출 건수",</a:t>
            </a:r>
          </a:p>
          <a:p xmlns:a="http://schemas.openxmlformats.org/drawingml/2006/main">
            <a:r>
              <a:t>  "validation": "인사이동·동명이인·권한 회수·동일 요청 교차 시험",</a:t>
            </a:r>
          </a:p>
          <a:p xmlns:a="http://schemas.openxmlformats.org/drawingml/2006/main">
            <a:r>
              <a:t>  "requirement": "BM-ST-04-R01",</a:t>
            </a:r>
          </a:p>
          <a:p xmlns:a="http://schemas.openxmlformats.org/drawingml/2006/main">
            <a:r>
              <a:t>  "test": "BM-ST-04-T01",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"반복 맥락 입력·부서 간 오인계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"공식 직원 ID, 조직도·업무분장, 효력일, 원천 접근정책",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"로그인 ID–조직 연결",</a:t>
            </a:r>
          </a:p>
          <a:p xmlns:a="http://schemas.openxmlformats.org/drawingml/2006/main">
            <a:r>
              <a:t>    "인물·부서·직무 관계 식별",</a:t>
            </a:r>
          </a:p>
          <a:p xmlns:a="http://schemas.openxmlformats.org/drawingml/2006/main">
            <a:r>
              <a:t>    "업무 맥락·지식·서식 선택",</a:t>
            </a:r>
          </a:p>
          <a:p xmlns:a="http://schemas.openxmlformats.org/drawingml/2006/main">
            <a:r>
              <a:t>    "권한 재검증·결과 근거 기록"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"1010100",</a:t>
            </a:r>
          </a:p>
          <a:p xmlns:a="http://schemas.openxmlformats.org/drawingml/2006/main">
            <a:r>
              <a:t>      "name": "AI미래전략실",</a:t>
            </a:r>
          </a:p>
          <a:p xmlns:a="http://schemas.openxmlformats.org/drawingml/2006/main">
            <a:r>
              <a:t>      "job": "AI 전략·윤리",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인공지능(AI) 전환 전략 수립․조정",</a:t>
            </a:r>
          </a:p>
          <a:p xmlns:a="http://schemas.openxmlformats.org/drawingml/2006/main">
            <a:r>
              <a:t>        "6. 인공지능(AI) 제도 및 지침, 윤리기준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"RULEWORK-1010100-4",</a:t>
            </a:r>
          </a:p>
          <a:p xmlns:a="http://schemas.openxmlformats.org/drawingml/2006/main">
            <a:r>
              <a:t>          "text": "4. 인공지능(AI) 전환 전략 수립․조정",</a:t>
            </a:r>
          </a:p>
          <a:p xmlns:a="http://schemas.openxmlformats.org/drawingml/2006/main">
            <a:r>
              <a:t>          "locator": "별표4 · T34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"RULEWORK-1010100-4-T01",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"RULEWORK-1010100-4-T02",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"RULEWORK-1010100-4-T03",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"RULEWORK-1010100-6",</a:t>
            </a:r>
          </a:p>
          <a:p xmlns:a="http://schemas.openxmlformats.org/drawingml/2006/main">
            <a:r>
              <a:t>          "text": "6. 인공지능(AI) 제도 및 지침, 윤리기준 관리",</a:t>
            </a:r>
          </a:p>
          <a:p xmlns:a="http://schemas.openxmlformats.org/drawingml/2006/main">
            <a:r>
              <a:t>          "locator": "별표4 · T34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"RULEWORK-1010100-6-T01",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"RULEWORK-1010100-6-T02",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"RULEWORK-1010100-6-T03",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사업 조정·데이터 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활용 서비스 구축 지원 및 성과관리",</a:t>
            </a:r>
          </a:p>
          <a:p xmlns:a="http://schemas.openxmlformats.org/drawingml/2006/main">
            <a:r>
              <a:t>        "3. 인공지능(AI) 데이터 표준화 및 데이터 스페이스 구축"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"RULEWORK-1019600-1",</a:t>
            </a:r>
          </a:p>
          <a:p xmlns:a="http://schemas.openxmlformats.org/drawingml/2006/main">
            <a:r>
              <a:t>          "text": "1. 인공지능(AI) 활용 서비스 구축 지원 및 성과관리",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"RULEWORK-1019600-1-T01",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"RULEWORK-1019600-1-T02",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"RULEWORK-1019600-3",</a:t>
            </a:r>
          </a:p>
          <a:p xmlns:a="http://schemas.openxmlformats.org/drawingml/2006/main">
            <a:r>
              <a:t>          "text": "3. 인공지능(AI) 데이터 표준화 및 데이터 스페이스 구축",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"RULEWORK-1019600-3-T01",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"1019700",</a:t>
            </a:r>
          </a:p>
          <a:p xmlns:a="http://schemas.openxmlformats.org/drawingml/2006/main">
            <a:r>
              <a:t>      "name": "AI서비스개발팀",</a:t>
            </a:r>
          </a:p>
          <a:p xmlns:a="http://schemas.openxmlformats.org/drawingml/2006/main">
            <a:r>
              <a:t>      "job": "공통플랫폼·모델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공통플랫폼 구축․운영 인공지능(AI) 모델 고도화․품질관리",</a:t>
            </a:r>
          </a:p>
          <a:p xmlns:a="http://schemas.openxmlformats.org/drawingml/2006/main">
            <a:r>
              <a:t>        "2. 인공지능(AI) 시범 서비스(PoC) 추진"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4행 · 업무분장 열",</a:t>
            </a:r>
          </a:p>
          <a:p xmlns:a="http://schemas.openxmlformats.org/drawingml/2006/main">
            <a:r>
              <a:t>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"RULEWORK-1019700-1",</a:t>
            </a:r>
          </a:p>
          <a:p xmlns:a="http://schemas.openxmlformats.org/drawingml/2006/main">
            <a:r>
              <a:t>          "text": "1. 인공지능(AI) 공통플랫폼 구축․운영 인공지능(AI) 모델 고도화․품질관리",</a:t>
            </a:r>
          </a:p>
          <a:p xmlns:a="http://schemas.openxmlformats.org/drawingml/2006/main">
            <a:r>
              <a:t>          "locator": "별표4 · T37 · 4행 · 업무분장 열",</a:t>
            </a:r>
          </a:p>
          <a:p xmlns:a="http://schemas.openxmlformats.org/drawingml/2006/main">
            <a:r>
              <a:t>    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"RULEWORK-1019700-1-T01",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"RULEWORK-1019700-1-T02",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"RULEWORK-1019700-1-T03",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"RULEWORK-1019700-2",</a:t>
            </a:r>
          </a:p>
          <a:p xmlns:a="http://schemas.openxmlformats.org/drawingml/2006/main">
            <a:r>
              <a:t>          "text": "2. 인공지능(AI) 시범 서비스(PoC) 추진",</a:t>
            </a:r>
          </a:p>
          <a:p xmlns:a="http://schemas.openxmlformats.org/drawingml/2006/main">
            <a:r>
              <a:t>          "locator": "별표4 · T37 · 4행 · 업무분장 열",</a:t>
            </a:r>
          </a:p>
          <a:p xmlns:a="http://schemas.openxmlformats.org/drawingml/2006/main">
            <a:r>
              <a:t>    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"RULEWORK-1019700-2-T01",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"RULEWORK-1019700-2-T02",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"RULEWORK-1019700-2-T03",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"조직·분장·전결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11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조직 및 정원관리 총괄",</a:t>
            </a:r>
          </a:p>
          <a:p xmlns:a="http://schemas.openxmlformats.org/drawingml/2006/main">
            <a:r>
              <a:t>        "9. 위임전결에 관한 사항",</a:t>
            </a:r>
          </a:p>
          <a:p xmlns:a="http://schemas.openxmlformats.org/drawingml/2006/main">
            <a:r>
              <a:t>        "10. 업무분장 조정‧관리"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"RULEWORK-1016050-8",</a:t>
            </a:r>
          </a:p>
          <a:p xmlns:a="http://schemas.openxmlformats.org/drawingml/2006/main">
            <a:r>
              <a:t>          "text": "8. 조직 및 정원관리 총괄",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"RULEWORK-1016050-8-T01",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"RULEWORK-1016050-8-T02",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"RULEWORK-1016050-11",</a:t>
            </a:r>
          </a:p>
          <a:p xmlns:a="http://schemas.openxmlformats.org/drawingml/2006/main">
            <a:r>
              <a:t>          "text": "9. 위임전결에 관한 사항",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"RULEWORK-1016050-11-T01",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"RULEWORK-1016050-11-T02",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"RULEWORK-1016050-11-T03",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"RULEWORK-1016050-12",</a:t>
            </a:r>
          </a:p>
          <a:p xmlns:a="http://schemas.openxmlformats.org/drawingml/2006/main">
            <a:r>
              <a:t>          "text": "10. 업무분장 조정‧관리",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"RULEWORK-1016050-12-T01",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"RULEWORK-1016050-12-T02",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"RULEWORK-1016050-12-T03",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"발령·인사정보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"6. 인사통계자료․인사정보 관리 및 인사 관련 제증명 발급"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"RULEWORK-1018037-3",</a:t>
            </a:r>
          </a:p>
          <a:p xmlns:a="http://schemas.openxmlformats.org/drawingml/2006/main">
            <a:r>
              <a:t>          "text": "3. 직원의 채용, 승진, 전보 등 임용 및 보직에 관한 업무",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"RULEWORK-1018037-6",</a:t>
            </a:r>
          </a:p>
          <a:p xmlns:a="http://schemas.openxmlformats.org/drawingml/2006/main">
            <a:r>
              <a:t>          "text": "6. 인사통계자료․인사정보 관리 및 인사 관련 제증명 발급",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"RULEWORK-1018037-6-T01",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"RULEWORK-1018037-6-T02",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"정보화·데이터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12,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"13. 정보화사업 사전검토(과업지시서 등) 및 시스템 구축 지원(기술분야)",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"RULEWORK-1019300-13",</a:t>
            </a:r>
          </a:p>
          <a:p xmlns:a="http://schemas.openxmlformats.org/drawingml/2006/main">
            <a:r>
              <a:t>          "text": "13. 정보화사업 사전검토(과업지시서 등) 및 시스템 구축 지원(기술분야)",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"RULEWORK-1019300-13-T01",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"RULEWORK-1019300-13-T02",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"RULEWORK-1019300-20",</a:t>
            </a:r>
          </a:p>
          <a:p xmlns:a="http://schemas.openxmlformats.org/drawingml/2006/main">
            <a:r>
              <a:t>          "text": "20. 데이터 품질관리",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"RULEWORK-1019300-20-T01",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"RULEWORK-1019300-20-T02",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"RULEWORK-1019300-20-T03",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"보안·개인정보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정보보안 업무총괄 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"RULEWORK-1019500-1",</a:t>
            </a:r>
          </a:p>
          <a:p xmlns:a="http://schemas.openxmlformats.org/drawingml/2006/main">
            <a:r>
              <a:t>          "text": "1. 정보보안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"RULEWORK-1019500-10",</a:t>
            </a:r>
          </a:p>
          <a:p xmlns:a="http://schemas.openxmlformats.org/drawingml/2006/main">
            <a:r>
              <a:t>          "text": "10. 개인정보보호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"RULEWORK-1019500-10-T01",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"RULEWORK-1019500-10-T02",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대화·검색·서식·스킬"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"사람–조직–직무–업무 관계·효력일 모델",</a:t>
            </a:r>
          </a:p>
          <a:p xmlns:a="http://schemas.openxmlformats.org/drawingml/2006/main">
            <a:r>
              <a:t>    "업무 분류기·검색 전 정책 집행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"동명이인·겸직·전보·회수 전후 동일 요청",</a:t>
            </a:r>
          </a:p>
          <a:p xmlns:a="http://schemas.openxmlformats.org/drawingml/2006/main">
            <a:r>
              <a:t>    "criterion": "정답 조직·업무·서식 일치, 모호한 식별 보류, 비인가 노출·실행 0건 기준안",</a:t>
            </a:r>
          </a:p>
          <a:p xmlns:a="http://schemas.openxmlformats.org/drawingml/2006/main">
            <a:r>
              <a:t>    "evidence": "신원 매핑 정답셋·교차권한 결과·변경 전파·복구 기록",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"직무·업무 분류 정답 건수 ÷ 평가 건수 / 변경 전파 지연 / 비인가 노출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"PF-R03",</a:t>
            </a:r>
          </a:p>
          <a:p xmlns:a="http://schemas.openxmlformats.org/drawingml/2006/main">
            <a:r>
              <a:t>    "PF-R04",</a:t>
            </a:r>
          </a:p>
          <a:p xmlns:a="http://schemas.openxmlformats.org/drawingml/2006/main">
            <a:r>
              <a:t>    "PF-R09",</a:t>
            </a:r>
          </a:p>
          <a:p xmlns:a="http://schemas.openxmlformats.org/drawingml/2006/main">
            <a:r>
              <a:t>    "PF01",</a:t>
            </a:r>
          </a:p>
          <a:p xmlns:a="http://schemas.openxmlformats.org/drawingml/2006/main">
            <a:r>
              <a:t>    "PF-A03",</a:t>
            </a:r>
          </a:p>
          <a:p xmlns:a="http://schemas.openxmlformats.org/drawingml/2006/main">
            <a:r>
              <a:t>    "PF04",</a:t>
            </a:r>
          </a:p>
          <a:p xmlns:a="http://schemas.openxmlformats.org/drawingml/2006/main">
            <a:r>
              <a:t>    "PF-A06",</a:t>
            </a:r>
          </a:p>
          <a:p xmlns:a="http://schemas.openxmlformats.org/drawingml/2006/main">
            <a:r>
              <a:t>    "PF05",</a:t>
            </a:r>
          </a:p>
          <a:p xmlns:a="http://schemas.openxmlformats.org/drawingml/2006/main">
            <a:r>
              <a:t>    "PF-A08",</a:t>
            </a:r>
          </a:p>
          <a:p xmlns:a="http://schemas.openxmlformats.org/drawingml/2006/main">
            <a:r>
              <a:t>    "PF06",</a:t>
            </a:r>
          </a:p>
          <a:p xmlns:a="http://schemas.openxmlformats.org/drawingml/2006/main">
            <a:r>
              <a:t>    "PF-A16",</a:t>
            </a:r>
          </a:p>
          <a:p xmlns:a="http://schemas.openxmlformats.org/drawingml/2006/main">
            <a:r>
              <a:t>    "PF-A18",</a:t>
            </a:r>
          </a:p>
          <a:p xmlns:a="http://schemas.openxmlformats.org/drawingml/2006/main">
            <a:r>
              <a:t>    "PF-C01",</a:t>
            </a:r>
          </a:p>
          <a:p xmlns:a="http://schemas.openxmlformats.org/drawingml/2006/main">
            <a:r>
              <a:t>    "PF-C02",</a:t>
            </a:r>
          </a:p>
          <a:p xmlns:a="http://schemas.openxmlformats.org/drawingml/2006/main">
            <a:r>
              <a:t>    "PF31"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"ST-04",</a:t>
            </a:r>
          </a:p>
          <a:p xmlns:a="http://schemas.openxmlformats.org/drawingml/2006/main">
            <a:r>
              <a:t>  "number": 4,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"교통안전체계 인공지능 대전환",</a:t>
            </a:r>
          </a:p>
          <a:p xmlns:a="http://schemas.openxmlformats.org/drawingml/2006/main">
            <a:r>
              <a:t>  "solution": "TS 조직 네이티브 AI 공통플랫폼",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"1010100",</a:t>
            </a:r>
          </a:p>
          <a:p xmlns:a="http://schemas.openxmlformats.org/drawingml/2006/main">
            <a:r>
              <a:t>    "1019600",</a:t>
            </a:r>
          </a:p>
          <a:p xmlns:a="http://schemas.openxmlformats.org/drawingml/2006/main">
            <a:r>
              <a:t>    "1019700",</a:t>
            </a:r>
          </a:p>
          <a:p xmlns:a="http://schemas.openxmlformats.org/drawingml/2006/main">
            <a:r>
              <a:t>    "1016050",</a:t>
            </a:r>
          </a:p>
          <a:p xmlns:a="http://schemas.openxmlformats.org/drawingml/2006/main">
            <a:r>
              <a:t>    "1018037",</a:t>
            </a:r>
          </a:p>
          <a:p xmlns:a="http://schemas.openxmlformats.org/drawingml/2006/main">
            <a:r>
              <a:t>    "1019300",</a:t>
            </a:r>
          </a:p>
          <a:p xmlns:a="http://schemas.openxmlformats.org/drawingml/2006/main">
            <a:r>
              <a:t>    "1019500"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"공식 조직·직무·역할 기반의 사용자 인식 및 업무 맥락 분류",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"로그인 ID·조직·담당업무·효력일 매핑",</a:t>
            </a:r>
          </a:p>
          <a:p xmlns:a="http://schemas.openxmlformats.org/drawingml/2006/main">
            <a:r>
              <a:t>    "업무별 지식·절차·서식 선택과 접근정책 집행"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"조직·업무 사전·정책표·기관 인수본",</a:t>
            </a:r>
          </a:p>
          <a:p xmlns:a="http://schemas.openxmlformats.org/drawingml/2006/main">
            <a:r>
              <a:t>  "acceptance": "GAI-R01~R12와 GAI-T01~T12의 독립 인수 기준 적용",</a:t>
            </a:r>
          </a:p>
          <a:p xmlns:a="http://schemas.openxmlformats.org/drawingml/2006/main">
            <a:r>
              <a:t>  "phase": "1차 공통 기반",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"ON-W02",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"GAI-T01",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"GAI-T03",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"GAI-T10",</a:t>
            </a:r>
          </a:p>
          <a:p xmlns:a="http://schemas.openxmlformats.org/drawingml/2006/main">
            <a:r>
              <a:t>    "GAI-T11",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"1010100",</a:t>
            </a:r>
          </a:p>
          <a:p xmlns:a="http://schemas.openxmlformats.org/drawingml/2006/main">
            <a:r>
              <a:t>      "name": "AI미래전략실",</a:t>
            </a:r>
          </a:p>
          <a:p xmlns:a="http://schemas.openxmlformats.org/drawingml/2006/main">
            <a:r>
              <a:t>      "job": "AI 전략·윤리",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인공지능(AI) 전환 전략 수립․조정",</a:t>
            </a:r>
          </a:p>
          <a:p xmlns:a="http://schemas.openxmlformats.org/drawingml/2006/main">
            <a:r>
              <a:t>        "6. 인공지능(AI) 제도 및 지침, 윤리기준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사업 조정·데이터 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활용 서비스 구축 지원 및 성과관리",</a:t>
            </a:r>
          </a:p>
          <a:p xmlns:a="http://schemas.openxmlformats.org/drawingml/2006/main">
            <a:r>
              <a:t>        "3. 인공지능(AI) 데이터 표준화 및 데이터 스페이스 구축"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"1019700",</a:t>
            </a:r>
          </a:p>
          <a:p xmlns:a="http://schemas.openxmlformats.org/drawingml/2006/main">
            <a:r>
              <a:t>      "name": "AI서비스개발팀",</a:t>
            </a:r>
          </a:p>
          <a:p xmlns:a="http://schemas.openxmlformats.org/drawingml/2006/main">
            <a:r>
              <a:t>      "job": "공통플랫폼·모델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공통플랫폼 구축․운영 인공지능(AI) 모델 고도화․품질관리",</a:t>
            </a:r>
          </a:p>
          <a:p xmlns:a="http://schemas.openxmlformats.org/drawingml/2006/main">
            <a:r>
              <a:t>        "2. 인공지능(AI) 시범 서비스(PoC) 추진"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4행 · 업무분장 열",</a:t>
            </a:r>
          </a:p>
          <a:p xmlns:a="http://schemas.openxmlformats.org/drawingml/2006/main">
            <a:r>
              <a:t>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"조직·분장·전결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11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조직 및 정원관리 총괄",</a:t>
            </a:r>
          </a:p>
          <a:p xmlns:a="http://schemas.openxmlformats.org/drawingml/2006/main">
            <a:r>
              <a:t>        "9. 위임전결에 관한 사항",</a:t>
            </a:r>
          </a:p>
          <a:p xmlns:a="http://schemas.openxmlformats.org/drawingml/2006/main">
            <a:r>
              <a:t>        "10. 업무분장 조정‧관리"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"발령·인사정보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"6. 인사통계자료․인사정보 관리 및 인사 관련 제증명 발급"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"정보화·데이터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12,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"13. 정보화사업 사전검토(과업지시서 등) 및 시스템 구축 지원(기술분야)",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"보안·개인정보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정보보안 업무총괄 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"조직 네이티브 공통 기반",</a:t>
            </a:r>
          </a:p>
          <a:p xmlns:a="http://schemas.openxmlformats.org/drawingml/2006/main">
            <a:r>
              <a:t>  "delta": "공식 ID·효력일·역할·업무 분류·권한 집행",</a:t>
            </a:r>
          </a:p>
          <a:p xmlns:a="http://schemas.openxmlformats.org/drawingml/2006/main">
            <a:r>
              <a:t>  "kpi": "직무 분류 정확도 / 비인가 노출 건수",</a:t>
            </a:r>
          </a:p>
          <a:p xmlns:a="http://schemas.openxmlformats.org/drawingml/2006/main">
            <a:r>
              <a:t>  "validation": "인사이동·동명이인·권한 회수·동일 요청 교차 시험",</a:t>
            </a:r>
          </a:p>
          <a:p xmlns:a="http://schemas.openxmlformats.org/drawingml/2006/main">
            <a:r>
              <a:t>  "requirement": "BM-ST-04-R01",</a:t>
            </a:r>
          </a:p>
          <a:p xmlns:a="http://schemas.openxmlformats.org/drawingml/2006/main">
            <a:r>
              <a:t>  "test": "BM-ST-04-T01",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"반복 맥락 입력·부서 간 오인계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"공식 직원 ID, 조직도·업무분장, 효력일, 원천 접근정책",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"로그인 ID–조직 연결",</a:t>
            </a:r>
          </a:p>
          <a:p xmlns:a="http://schemas.openxmlformats.org/drawingml/2006/main">
            <a:r>
              <a:t>    "인물·부서·직무 관계 식별",</a:t>
            </a:r>
          </a:p>
          <a:p xmlns:a="http://schemas.openxmlformats.org/drawingml/2006/main">
            <a:r>
              <a:t>    "업무 맥락·지식·서식 선택",</a:t>
            </a:r>
          </a:p>
          <a:p xmlns:a="http://schemas.openxmlformats.org/drawingml/2006/main">
            <a:r>
              <a:t>    "권한 재검증·결과 근거 기록"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"1010100",</a:t>
            </a:r>
          </a:p>
          <a:p xmlns:a="http://schemas.openxmlformats.org/drawingml/2006/main">
            <a:r>
              <a:t>      "name": "AI미래전략실",</a:t>
            </a:r>
          </a:p>
          <a:p xmlns:a="http://schemas.openxmlformats.org/drawingml/2006/main">
            <a:r>
              <a:t>      "job": "AI 전략·윤리",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인공지능(AI) 전환 전략 수립․조정",</a:t>
            </a:r>
          </a:p>
          <a:p xmlns:a="http://schemas.openxmlformats.org/drawingml/2006/main">
            <a:r>
              <a:t>        "6. 인공지능(AI) 제도 및 지침, 윤리기준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"RULEWORK-1010100-4",</a:t>
            </a:r>
          </a:p>
          <a:p xmlns:a="http://schemas.openxmlformats.org/drawingml/2006/main">
            <a:r>
              <a:t>          "text": "4. 인공지능(AI) 전환 전략 수립․조정",</a:t>
            </a:r>
          </a:p>
          <a:p xmlns:a="http://schemas.openxmlformats.org/drawingml/2006/main">
            <a:r>
              <a:t>          "locator": "별표4 · T34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"RULEWORK-1010100-4-T01",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"RULEWORK-1010100-4-T02",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"RULEWORK-1010100-4-T03",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"RULEWORK-1010100-6",</a:t>
            </a:r>
          </a:p>
          <a:p xmlns:a="http://schemas.openxmlformats.org/drawingml/2006/main">
            <a:r>
              <a:t>          "text": "6. 인공지능(AI) 제도 및 지침, 윤리기준 관리",</a:t>
            </a:r>
          </a:p>
          <a:p xmlns:a="http://schemas.openxmlformats.org/drawingml/2006/main">
            <a:r>
              <a:t>          "locator": "별표4 · T34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"RULEWORK-1010100-6-T01",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"RULEWORK-1010100-6-T02",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"RULEWORK-1010100-6-R03",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"RULEWORK-1010100-6-T03",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사업 조정·데이터 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활용 서비스 구축 지원 및 성과관리",</a:t>
            </a:r>
          </a:p>
          <a:p xmlns:a="http://schemas.openxmlformats.org/drawingml/2006/main">
            <a:r>
              <a:t>        "3. 인공지능(AI) 데이터 표준화 및 데이터 스페이스 구축"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"RULEWORK-1019600-1",</a:t>
            </a:r>
          </a:p>
          <a:p xmlns:a="http://schemas.openxmlformats.org/drawingml/2006/main">
            <a:r>
              <a:t>          "text": "1. 인공지능(AI) 활용 서비스 구축 지원 및 성과관리",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"RULEWORK-1019600-1-T01",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"RULEWORK-1019600-1-T02",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"RULEWORK-1019600-3",</a:t>
            </a:r>
          </a:p>
          <a:p xmlns:a="http://schemas.openxmlformats.org/drawingml/2006/main">
            <a:r>
              <a:t>          "text": "3. 인공지능(AI) 데이터 표준화 및 데이터 스페이스 구축",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"RULEWORK-1019600-3-T01",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"1019700",</a:t>
            </a:r>
          </a:p>
          <a:p xmlns:a="http://schemas.openxmlformats.org/drawingml/2006/main">
            <a:r>
              <a:t>      "name": "AI서비스개발팀",</a:t>
            </a:r>
          </a:p>
          <a:p xmlns:a="http://schemas.openxmlformats.org/drawingml/2006/main">
            <a:r>
              <a:t>      "job": "공통플랫폼·모델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인공지능(AI) 공통플랫폼 구축․운영 인공지능(AI) 모델 고도화․품질관리",</a:t>
            </a:r>
          </a:p>
          <a:p xmlns:a="http://schemas.openxmlformats.org/drawingml/2006/main">
            <a:r>
              <a:t>        "2. 인공지능(AI) 시범 서비스(PoC) 추진"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4행 · 업무분장 열",</a:t>
            </a:r>
          </a:p>
          <a:p xmlns:a="http://schemas.openxmlformats.org/drawingml/2006/main">
            <a:r>
              <a:t>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"RULEWORK-1019700-1",</a:t>
            </a:r>
          </a:p>
          <a:p xmlns:a="http://schemas.openxmlformats.org/drawingml/2006/main">
            <a:r>
              <a:t>          "text": "1. 인공지능(AI) 공통플랫폼 구축․운영 인공지능(AI) 모델 고도화․품질관리",</a:t>
            </a:r>
          </a:p>
          <a:p xmlns:a="http://schemas.openxmlformats.org/drawingml/2006/main">
            <a:r>
              <a:t>          "locator": "별표4 · T37 · 4행 · 업무분장 열",</a:t>
            </a:r>
          </a:p>
          <a:p xmlns:a="http://schemas.openxmlformats.org/drawingml/2006/main">
            <a:r>
              <a:t>    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"RULEWORK-1019700-1-T01",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"RULEWORK-1019700-1-T02",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"RULEWORK-1019700-1-T03",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"RULEWORK-1019700-2",</a:t>
            </a:r>
          </a:p>
          <a:p xmlns:a="http://schemas.openxmlformats.org/drawingml/2006/main">
            <a:r>
              <a:t>          "text": "2. 인공지능(AI) 시범 서비스(PoC) 추진",</a:t>
            </a:r>
          </a:p>
          <a:p xmlns:a="http://schemas.openxmlformats.org/drawingml/2006/main">
            <a:r>
              <a:t>          "locator": "별표4 · T37 · 4행 · 업무분장 열",</a:t>
            </a:r>
          </a:p>
          <a:p xmlns:a="http://schemas.openxmlformats.org/drawingml/2006/main">
            <a:r>
              <a:t>          "restriction": "부칙 제1·2조: 팀장 최초 인사발령일부터 시행 · 발령일 미확인 · 시행 전 AI혁신처 관련 업무·정원 담당",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"직무·업무건 기반 검색·응답 구성",</a:t>
            </a:r>
          </a:p>
          <a:p xmlns:a="http://schemas.openxmlformats.org/drawingml/2006/main">
            <a:r>
              <a:t>              "output": "부서별 구성·평가·배포 명세",</a:t>
            </a:r>
          </a:p>
          <a:p xmlns:a="http://schemas.openxmlformats.org/drawingml/2006/main">
            <a:r>
              <a:t>              "testId": "RULEWORK-1019700-2-T01",</a:t>
            </a:r>
          </a:p>
          <a:p xmlns:a="http://schemas.openxmlformats.org/drawingml/2006/main">
            <a:r>
              <a:t>              "criterion": "동일 요청의 부서·역할별 결과·근거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"모델·정책·지식 판본별 운영·복구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"RULEWORK-1019700-2-T02",</a:t>
            </a:r>
          </a:p>
          <a:p xmlns:a="http://schemas.openxmlformats.org/drawingml/2006/main">
            <a:r>
              <a:t>              "criterion": "배포 판본 변경·롤백·필수 거부 시험"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"RULEWORK-1019700-2-R03",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"RULEWORK-1019700-2-T03",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"조직·분장·전결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10,</a:t>
            </a:r>
          </a:p>
          <a:p xmlns:a="http://schemas.openxmlformats.org/drawingml/2006/main">
            <a:r>
              <a:t>        11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조직 및 정원관리 총괄",</a:t>
            </a:r>
          </a:p>
          <a:p xmlns:a="http://schemas.openxmlformats.org/drawingml/2006/main">
            <a:r>
              <a:t>        "9. 위임전결에 관한 사항",</a:t>
            </a:r>
          </a:p>
          <a:p xmlns:a="http://schemas.openxmlformats.org/drawingml/2006/main">
            <a:r>
              <a:t>        "10. 업무분장 조정‧관리"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"RULEWORK-1016050-8",</a:t>
            </a:r>
          </a:p>
          <a:p xmlns:a="http://schemas.openxmlformats.org/drawingml/2006/main">
            <a:r>
              <a:t>          "text": "8. 조직 및 정원관리 총괄",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"RULEWORK-1016050-8-T01",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"RULEWORK-1016050-8-T02",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"RULEWORK-1016050-11",</a:t>
            </a:r>
          </a:p>
          <a:p xmlns:a="http://schemas.openxmlformats.org/drawingml/2006/main">
            <a:r>
              <a:t>          "text": "9. 위임전결에 관한 사항",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"RULEWORK-1016050-11-T01",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"RULEWORK-1016050-11-T02",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"RULEWORK-1016050-11-T03",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"RULEWORK-1016050-12",</a:t>
            </a:r>
          </a:p>
          <a:p xmlns:a="http://schemas.openxmlformats.org/drawingml/2006/main">
            <a:r>
              <a:t>          "text": "10. 업무분장 조정‧관리",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"RULEWORK-1016050-12-T01",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"RULEWORK-1016050-12-T02",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"RULEWORK-1016050-12-R03",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"RULEWORK-1016050-12-T03",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"발령·인사정보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"6. 인사통계자료․인사정보 관리 및 인사 관련 제증명 발급"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"RULEWORK-1018037-3",</a:t>
            </a:r>
          </a:p>
          <a:p xmlns:a="http://schemas.openxmlformats.org/drawingml/2006/main">
            <a:r>
              <a:t>          "text": "3. 직원의 채용, 승진, 전보 등 임용 및 보직에 관한 업무",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"RULEWORK-1018037-6",</a:t>
            </a:r>
          </a:p>
          <a:p xmlns:a="http://schemas.openxmlformats.org/drawingml/2006/main">
            <a:r>
              <a:t>          "text": "6. 인사통계자료․인사정보 관리 및 인사 관련 제증명 발급",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"RULEWORK-1018037-6-T01",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"RULEWORK-1018037-6-T02",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"정보화·데이터 품질",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12,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"13. 정보화사업 사전검토(과업지시서 등) 및 시스템 구축 지원(기술분야)",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"RULEWORK-1019300-13",</a:t>
            </a:r>
          </a:p>
          <a:p xmlns:a="http://schemas.openxmlformats.org/drawingml/2006/main">
            <a:r>
              <a:t>          "text": "13. 정보화사업 사전검토(과업지시서 등) 및 시스템 구축 지원(기술분야)",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"RULEWORK-1019300-13-T01",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"RULEWORK-1019300-13-T02",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"RULEWORK-1019300-20",</a:t>
            </a:r>
          </a:p>
          <a:p xmlns:a="http://schemas.openxmlformats.org/drawingml/2006/main">
            <a:r>
              <a:t>          "text": "20. 데이터 품질관리",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"RULEWORK-1019300-20-T01",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"RULEWORK-1019300-20-T02",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"RULEWORK-1019300-20-T03",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"보안·개인정보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정보보안 업무총괄 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"RULEWORK-1019500-1",</a:t>
            </a:r>
          </a:p>
          <a:p xmlns:a="http://schemas.openxmlformats.org/drawingml/2006/main">
            <a:r>
              <a:t>          "text": "1. 정보보안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"RULEWORK-1019500-10",</a:t>
            </a:r>
          </a:p>
          <a:p xmlns:a="http://schemas.openxmlformats.org/drawingml/2006/main">
            <a:r>
              <a:t>          "text": "10. 개인정보보호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"RULEWORK-1019500-10-T01",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"RULEWORK-1019500-10-T02",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대화·검색·서식·스킬"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"사람–조직–직무–업무 관계·효력일 모델",</a:t>
            </a:r>
          </a:p>
          <a:p xmlns:a="http://schemas.openxmlformats.org/drawingml/2006/main">
            <a:r>
              <a:t>    "업무 분류기·검색 전 정책 집행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"동명이인·겸직·전보·회수 전후 동일 요청",</a:t>
            </a:r>
          </a:p>
          <a:p xmlns:a="http://schemas.openxmlformats.org/drawingml/2006/main">
            <a:r>
              <a:t>    "criterion": "정답 조직·업무·서식 일치, 모호한 식별 보류, 비인가 노출·실행 0건 기준안",</a:t>
            </a:r>
          </a:p>
          <a:p xmlns:a="http://schemas.openxmlformats.org/drawingml/2006/main">
            <a:r>
              <a:t>    "evidence": "신원 매핑 정답셋·교차권한 결과·변경 전파·복구 기록",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"직무·업무 분류 정답 건수 ÷ 평가 건수 / 변경 전파 지연 / 비인가 노출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"PF-R03",</a:t>
            </a:r>
          </a:p>
          <a:p xmlns:a="http://schemas.openxmlformats.org/drawingml/2006/main">
            <a:r>
              <a:t>    "PF-R04",</a:t>
            </a:r>
          </a:p>
          <a:p xmlns:a="http://schemas.openxmlformats.org/drawingml/2006/main">
            <a:r>
              <a:t>    "PF-R09",</a:t>
            </a:r>
          </a:p>
          <a:p xmlns:a="http://schemas.openxmlformats.org/drawingml/2006/main">
            <a:r>
              <a:t>    "PF01",</a:t>
            </a:r>
          </a:p>
          <a:p xmlns:a="http://schemas.openxmlformats.org/drawingml/2006/main">
            <a:r>
              <a:t>    "PF-A03",</a:t>
            </a:r>
          </a:p>
          <a:p xmlns:a="http://schemas.openxmlformats.org/drawingml/2006/main">
            <a:r>
              <a:t>    "PF04",</a:t>
            </a:r>
          </a:p>
          <a:p xmlns:a="http://schemas.openxmlformats.org/drawingml/2006/main">
            <a:r>
              <a:t>    "PF-A06",</a:t>
            </a:r>
          </a:p>
          <a:p xmlns:a="http://schemas.openxmlformats.org/drawingml/2006/main">
            <a:r>
              <a:t>    "PF05",</a:t>
            </a:r>
          </a:p>
          <a:p xmlns:a="http://schemas.openxmlformats.org/drawingml/2006/main">
            <a:r>
              <a:t>    "PF-A08",</a:t>
            </a:r>
          </a:p>
          <a:p xmlns:a="http://schemas.openxmlformats.org/drawingml/2006/main">
            <a:r>
              <a:t>    "PF06",</a:t>
            </a:r>
          </a:p>
          <a:p xmlns:a="http://schemas.openxmlformats.org/drawingml/2006/main">
            <a:r>
              <a:t>    "PF-A16",</a:t>
            </a:r>
          </a:p>
          <a:p xmlns:a="http://schemas.openxmlformats.org/drawingml/2006/main">
            <a:r>
              <a:t>    "PF-A18",</a:t>
            </a:r>
          </a:p>
          <a:p xmlns:a="http://schemas.openxmlformats.org/drawingml/2006/main">
            <a:r>
              <a:t>    "PF-C01",</a:t>
            </a:r>
          </a:p>
          <a:p xmlns:a="http://schemas.openxmlformats.org/drawingml/2006/main">
            <a:r>
              <a:t>    "PF-C02",</a:t>
            </a:r>
          </a:p>
          <a:p xmlns:a="http://schemas.openxmlformats.org/drawingml/2006/main">
            <a:r>
              <a:t>    "PF31"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"ST-05",</a:t>
            </a:r>
          </a:p>
          <a:p xmlns:a="http://schemas.openxmlformats.org/drawingml/2006/main">
            <a:r>
              <a:t>  "number": 5,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"K-AI 기반 안전한 미래 모빌리티 실현",</a:t>
            </a:r>
          </a:p>
          <a:p xmlns:a="http://schemas.openxmlformats.org/drawingml/2006/main">
            <a:r>
              <a:t>  "solution": "미래 모빌리티 검증·실증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"L09",</a:t>
            </a:r>
          </a:p>
          <a:p xmlns:a="http://schemas.openxmlformats.org/drawingml/2006/main">
            <a:r>
              <a:t>    "L18",</a:t>
            </a:r>
          </a:p>
          <a:p xmlns:a="http://schemas.openxmlformats.org/drawingml/2006/main">
            <a:r>
              <a:t>    "L19",</a:t>
            </a:r>
          </a:p>
          <a:p xmlns:a="http://schemas.openxmlformats.org/drawingml/2006/main">
            <a:r>
              <a:t>    "L27"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"7000000",</a:t>
            </a:r>
          </a:p>
          <a:p xmlns:a="http://schemas.openxmlformats.org/drawingml/2006/main">
            <a:r>
              <a:t>    "1029020",</a:t>
            </a:r>
          </a:p>
          <a:p xmlns:a="http://schemas.openxmlformats.org/drawingml/2006/main">
            <a:r>
              <a:t>    "1021020",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"1211290"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"미래차·드론·모빌리티 실증의 기준·시험·검토 업무",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"기술유형별 요구조건·시험계획·증빙 구조화",</a:t>
            </a:r>
          </a:p>
          <a:p xmlns:a="http://schemas.openxmlformats.org/drawingml/2006/main">
            <a:r>
              <a:t>    "조건 변경에 따른 검증 항목 재구성"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"시험·실증 근거 패키지",</a:t>
            </a:r>
          </a:p>
          <a:p xmlns:a="http://schemas.openxmlformats.org/drawingml/2006/main">
            <a:r>
              <a:t>  "acceptance": "요구조건–시험–증거 추적과 변경 후 재검토 여부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"미래차 안전 연구·평가",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"1029020",</a:t>
            </a:r>
          </a:p>
          <a:p xmlns:a="http://schemas.openxmlformats.org/drawingml/2006/main">
            <a:r>
              <a:t>      "name": "첨단연구개발처",</a:t>
            </a:r>
          </a:p>
          <a:p xmlns:a="http://schemas.openxmlformats.org/drawingml/2006/main">
            <a:r>
              <a:t>      "job": "미래차 검사기술 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검사기준 및 검사방법 개발에 관한 업무",</a:t>
            </a:r>
          </a:p>
          <a:p xmlns:a="http://schemas.openxmlformats.org/drawingml/2006/main">
            <a:r>
              <a:t>        "8. 자율주행자동차 등 검사기술 개발"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T43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"실증특례 접수·승인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"8. 실증특례 통합검토위원회 구성,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"특화도시·시범사업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"6. 첨단모빌리티 시범사업과 대상지역 지정요청 접수"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"1211290",</a:t>
            </a:r>
          </a:p>
          <a:p xmlns:a="http://schemas.openxmlformats.org/drawingml/2006/main">
            <a:r>
              <a:t>      "name": "드론관리처",</a:t>
            </a:r>
          </a:p>
          <a:p xmlns:a="http://schemas.openxmlformats.org/drawingml/2006/main">
            <a:r>
              <a:t>      "job": "드론 안전관리·연구",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초경량비행장치 사용사업체 안전관리 및 지도점검",</a:t>
            </a:r>
          </a:p>
          <a:p xmlns:a="http://schemas.openxmlformats.org/drawingml/2006/main">
            <a:r>
              <a:t>        "5. 무인비행장치(드론) 관련 신규사업 개발 및 안전연구(UTM, 안티드론, 드론택시․택배 등)"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 원장의 결함조사·실증·드론 신고 업무 활용 / 시험·인증 권한과 연구원 세부 직제의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"AX16",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"모빌리티 실증 증거·안전 검증",</a:t>
            </a:r>
          </a:p>
          <a:p xmlns:a="http://schemas.openxmlformats.org/drawingml/2006/main">
            <a:r>
              <a:t>  "delta": "실증 데이터·시험조건·사건 보고의 근거 연결",</a:t>
            </a:r>
          </a:p>
          <a:p xmlns:a="http://schemas.openxmlformats.org/drawingml/2006/main">
            <a:r>
              <a:t>  "kpi": "시험 증거 누락률 / 재현 성공률",</a:t>
            </a:r>
          </a:p>
          <a:p xmlns:a="http://schemas.openxmlformats.org/drawingml/2006/main">
            <a:r>
              <a:t>  "validation": "실증 조건·원시 로그·보고서 불일치 탐지",</a:t>
            </a:r>
          </a:p>
          <a:p xmlns:a="http://schemas.openxmlformats.org/drawingml/2006/main">
            <a:r>
              <a:t>  "requirement": "BM-ST-05-R01",</a:t>
            </a:r>
          </a:p>
          <a:p xmlns:a="http://schemas.openxmlformats.org/drawingml/2006/main">
            <a:r>
              <a:t>  "test": "BM-ST-05-T01",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"실증 검토 재작업·시험 증거 누락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"실증계획, 기술유형·운행조건, 시험결과, 사고 원시자료",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"기술·실증조건 분류",</a:t>
            </a:r>
          </a:p>
          <a:p xmlns:a="http://schemas.openxmlformats.org/drawingml/2006/main">
            <a:r>
              <a:t>    "요구조건–시험 연결",</a:t>
            </a:r>
          </a:p>
          <a:p xmlns:a="http://schemas.openxmlformats.org/drawingml/2006/main">
            <a:r>
              <a:t>    "결과·증거 완전성 점검",</a:t>
            </a:r>
          </a:p>
          <a:p xmlns:a="http://schemas.openxmlformats.org/drawingml/2006/main">
            <a:r>
              <a:t>    "조건 변경 후 재검토"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"미래차 안전 연구·평가",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확인",</a:t>
            </a:r>
          </a:p>
          <a:p xmlns:a="http://schemas.openxmlformats.org/drawingml/2006/main">
            <a:r>
              <a:t>      "workItems": []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"1029020",</a:t>
            </a:r>
          </a:p>
          <a:p xmlns:a="http://schemas.openxmlformats.org/drawingml/2006/main">
            <a:r>
              <a:t>      "name": "첨단연구개발처",</a:t>
            </a:r>
          </a:p>
          <a:p xmlns:a="http://schemas.openxmlformats.org/drawingml/2006/main">
            <a:r>
              <a:t>      "job": "미래차 검사기술 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검사기준 및 검사방법 개발에 관한 업무",</a:t>
            </a:r>
          </a:p>
          <a:p xmlns:a="http://schemas.openxmlformats.org/drawingml/2006/main">
            <a:r>
              <a:t>        "8. 자율주행자동차 등 검사기술 개발"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T43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"RULEWORK-1029020-5",</a:t>
            </a:r>
          </a:p>
          <a:p xmlns:a="http://schemas.openxmlformats.org/drawingml/2006/main">
            <a:r>
              <a:t>          "text": "5. 검사기준 및 검사방법 개발에 관한 업무",</a:t>
            </a:r>
          </a:p>
          <a:p xmlns:a="http://schemas.openxmlformats.org/drawingml/2006/main">
            <a:r>
              <a:t>          "locator": "별표4 · T43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"연구대상·가설·기준별 근거·시험항목 구성",</a:t>
            </a:r>
          </a:p>
          <a:p xmlns:a="http://schemas.openxmlformats.org/drawingml/2006/main">
            <a:r>
              <a:t>              "output": "기술 검토·시험 근거·연구 추적표",</a:t>
            </a:r>
          </a:p>
          <a:p xmlns:a="http://schemas.openxmlformats.org/drawingml/2006/main">
            <a:r>
              <a:t>              "testId": "RULEWORK-1029020-5-T01",</a:t>
            </a:r>
          </a:p>
          <a:p xmlns:a="http://schemas.openxmlformats.org/drawingml/2006/main">
            <a:r>
              <a:t>              "criterion": "인용 원문·시험 조건·계산·단위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"과제·실증 조건·시험자료·판본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"RULEWORK-1029020-5-T02",</a:t>
            </a:r>
          </a:p>
          <a:p xmlns:a="http://schemas.openxmlformats.org/drawingml/2006/main">
            <a:r>
              <a:t>              "criterion": "실험 미수행 결과·근거 없는 성능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"RULEWORK-1029020-5-T03",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"RULEWORK-1029020-8",</a:t>
            </a:r>
          </a:p>
          <a:p xmlns:a="http://schemas.openxmlformats.org/drawingml/2006/main">
            <a:r>
              <a:t>          "text": "8. 자율주행자동차 등 검사기술 개발",</a:t>
            </a:r>
          </a:p>
          <a:p xmlns:a="http://schemas.openxmlformats.org/drawingml/2006/main">
            <a:r>
              <a:t>          "locator": "별표4 · T43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"RULEWORK-1029020-8-T01",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"RULEWORK-1029020-8-T02",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"RULEWORK-1029020-8-T03",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"실증특례 접수·승인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"8. 실증특례 통합검토위원회 구성,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"RULEWORK-1021020-2",</a:t>
            </a:r>
          </a:p>
          <a:p xmlns:a="http://schemas.openxmlformats.org/drawingml/2006/main">
            <a:r>
              <a:t>          "text": "2. 모빌리티 실증특례 접수 및 승인 지원",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"RULEWORK-1021020-2-T01",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"RULEWORK-1021020-2-T02",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"RULEWORK-1021020-8",</a:t>
            </a:r>
          </a:p>
          <a:p xmlns:a="http://schemas.openxmlformats.org/drawingml/2006/main">
            <a:r>
              <a:t>          "text": "8. 실증특례 통합검토위원회 구성, 운영",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"RULEWORK-1021020-8-T01",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"RULEWORK-1021020-8-T02",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"특화도시·시범사업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"6. 첨단모빌리티 시범사업과 대상지역 지정요청 접수"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"RULEWORK-1021030-1",</a:t>
            </a:r>
          </a:p>
          <a:p xmlns:a="http://schemas.openxmlformats.org/drawingml/2006/main">
            <a:r>
              <a:t>          "text": "1. 모빌리티 특화도시 사업지원",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"RULEWORK-1021030-1-T01",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"RULEWORK-1021030-6",</a:t>
            </a:r>
          </a:p>
          <a:p xmlns:a="http://schemas.openxmlformats.org/drawingml/2006/main">
            <a:r>
              <a:t>          "text": "6. 첨단모빌리티 시범사업과 대상지역 지정요청 접수",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"RULEWORK-1021030-6-T01",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"RULEWORK-1021030-6-T02",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"1211290",</a:t>
            </a:r>
          </a:p>
          <a:p xmlns:a="http://schemas.openxmlformats.org/drawingml/2006/main">
            <a:r>
              <a:t>      "name": "드론관리처",</a:t>
            </a:r>
          </a:p>
          <a:p xmlns:a="http://schemas.openxmlformats.org/drawingml/2006/main">
            <a:r>
              <a:t>      "job": "드론 안전관리·연구",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초경량비행장치 사용사업체 안전관리 및 지도점검",</a:t>
            </a:r>
          </a:p>
          <a:p xmlns:a="http://schemas.openxmlformats.org/drawingml/2006/main">
            <a:r>
              <a:t>        "5. 무인비행장치(드론) 관련 신규사업 개발 및 안전연구(UTM, 안티드론, 드론택시․택배 등)"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"RULEWORK-1211290-2",</a:t>
            </a:r>
          </a:p>
          <a:p xmlns:a="http://schemas.openxmlformats.org/drawingml/2006/main">
            <a:r>
              <a:t>          "text": "2. 초경량비행장치 사용사업체 안전관리 및 지도점검",</a:t>
            </a:r>
          </a:p>
          <a:p xmlns:a="http://schemas.openxmlformats.org/drawingml/2006/main">
            <a:r>
              <a:t>          "locator": "별표4 · T45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"RULEWORK-1211290-2-T01",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"RULEWORK-1211290-2-T02",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"RULEWORK-1211290-2-T03",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"RULEWORK-1211290-5",</a:t>
            </a:r>
          </a:p>
          <a:p xmlns:a="http://schemas.openxmlformats.org/drawingml/2006/main">
            <a:r>
              <a:t>          "text": "5. 무인비행장치(드론) 관련 신규사업 개발 및 안전연구(UTM, 안티드론, 드론택시․택배 등)",</a:t>
            </a:r>
          </a:p>
          <a:p xmlns:a="http://schemas.openxmlformats.org/drawingml/2006/main">
            <a:r>
              <a:t>          "locator": "별표4 · T45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"RULEWORK-1211290-5-T01",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"RULEWORK-1211290-5-T02",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"RULEWORK-1211290-5-T03",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기술 기준 검색"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"JET·Audin의 구조화 검토·증거 대사"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"실증조건–요구조건–시험 ID 연결",</a:t>
            </a:r>
          </a:p>
          <a:p xmlns:a="http://schemas.openxmlformats.org/drawingml/2006/main">
            <a:r>
              <a:t>    "조건 변경 영향·재검증 목록"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"운행조건 변경, 로그 누락, 시험판본 불일치",</a:t>
            </a:r>
          </a:p>
          <a:p xmlns:a="http://schemas.openxmlformats.org/drawingml/2006/main">
            <a:r>
              <a:t>    "criterion": "변경 영향 시험 재선정·증거 미비 보류",</a:t>
            </a:r>
          </a:p>
          <a:p xmlns:a="http://schemas.openxmlformats.org/drawingml/2006/main">
            <a:r>
              <a:t>    "evidence": "요구–시험–증거 추적표·재검증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"증거 연결 완료 시험 수 ÷ 대상 시험 수 / 변경 후 재검토 소요시간",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"ST-05",</a:t>
            </a:r>
          </a:p>
          <a:p xmlns:a="http://schemas.openxmlformats.org/drawingml/2006/main">
            <a:r>
              <a:t>  "number": 5,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"K-AI 기반 안전한 미래 모빌리티 실현",</a:t>
            </a:r>
          </a:p>
          <a:p xmlns:a="http://schemas.openxmlformats.org/drawingml/2006/main">
            <a:r>
              <a:t>  "solution": "미래 모빌리티 검증·실증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"L09",</a:t>
            </a:r>
          </a:p>
          <a:p xmlns:a="http://schemas.openxmlformats.org/drawingml/2006/main">
            <a:r>
              <a:t>    "L18",</a:t>
            </a:r>
          </a:p>
          <a:p xmlns:a="http://schemas.openxmlformats.org/drawingml/2006/main">
            <a:r>
              <a:t>    "L19",</a:t>
            </a:r>
          </a:p>
          <a:p xmlns:a="http://schemas.openxmlformats.org/drawingml/2006/main">
            <a:r>
              <a:t>    "L27"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"7000000",</a:t>
            </a:r>
          </a:p>
          <a:p xmlns:a="http://schemas.openxmlformats.org/drawingml/2006/main">
            <a:r>
              <a:t>    "1029020",</a:t>
            </a:r>
          </a:p>
          <a:p xmlns:a="http://schemas.openxmlformats.org/drawingml/2006/main">
            <a:r>
              <a:t>    "1021020",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"1211290"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"미래차·드론·모빌리티 실증의 기준·시험·검토 업무",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"기술유형별 요구조건·시험계획·증빙 구조화",</a:t>
            </a:r>
          </a:p>
          <a:p xmlns:a="http://schemas.openxmlformats.org/drawingml/2006/main">
            <a:r>
              <a:t>    "조건 변경에 따른 검증 항목 재구성"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"시험·실증 근거 패키지",</a:t>
            </a:r>
          </a:p>
          <a:p xmlns:a="http://schemas.openxmlformats.org/drawingml/2006/main">
            <a:r>
              <a:t>  "acceptance": "요구조건–시험–증거 추적과 변경 후 재검토 여부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"미래차 안전 연구·평가",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"1029020",</a:t>
            </a:r>
          </a:p>
          <a:p xmlns:a="http://schemas.openxmlformats.org/drawingml/2006/main">
            <a:r>
              <a:t>      "name": "첨단연구개발처",</a:t>
            </a:r>
          </a:p>
          <a:p xmlns:a="http://schemas.openxmlformats.org/drawingml/2006/main">
            <a:r>
              <a:t>      "job": "미래차 검사기술 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검사기준 및 검사방법 개발에 관한 업무",</a:t>
            </a:r>
          </a:p>
          <a:p xmlns:a="http://schemas.openxmlformats.org/drawingml/2006/main">
            <a:r>
              <a:t>        "8. 자율주행자동차 등 검사기술 개발"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T43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"실증특례 접수·승인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"8. 실증특례 통합검토위원회 구성,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"특화도시·시범사업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"6. 첨단모빌리티 시범사업과 대상지역 지정요청 접수"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"1211290",</a:t>
            </a:r>
          </a:p>
          <a:p xmlns:a="http://schemas.openxmlformats.org/drawingml/2006/main">
            <a:r>
              <a:t>      "name": "드론관리처",</a:t>
            </a:r>
          </a:p>
          <a:p xmlns:a="http://schemas.openxmlformats.org/drawingml/2006/main">
            <a:r>
              <a:t>      "job": "드론 안전관리·연구",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초경량비행장치 사용사업체 안전관리 및 지도점검",</a:t>
            </a:r>
          </a:p>
          <a:p xmlns:a="http://schemas.openxmlformats.org/drawingml/2006/main">
            <a:r>
              <a:t>        "5. 무인비행장치(드론) 관련 신규사업 개발 및 안전연구(UTM, 안티드론, 드론택시․택배 등)"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 원장의 결함조사·실증·드론 신고 업무 활용 / 시험·인증 권한과 연구원 세부 직제의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"AX16",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"모빌리티 실증 증거·안전 검증",</a:t>
            </a:r>
          </a:p>
          <a:p xmlns:a="http://schemas.openxmlformats.org/drawingml/2006/main">
            <a:r>
              <a:t>  "delta": "실증 데이터·시험조건·사건 보고의 근거 연결",</a:t>
            </a:r>
          </a:p>
          <a:p xmlns:a="http://schemas.openxmlformats.org/drawingml/2006/main">
            <a:r>
              <a:t>  "kpi": "시험 증거 누락률 / 재현 성공률",</a:t>
            </a:r>
          </a:p>
          <a:p xmlns:a="http://schemas.openxmlformats.org/drawingml/2006/main">
            <a:r>
              <a:t>  "validation": "실증 조건·원시 로그·보고서 불일치 탐지",</a:t>
            </a:r>
          </a:p>
          <a:p xmlns:a="http://schemas.openxmlformats.org/drawingml/2006/main">
            <a:r>
              <a:t>  "requirement": "BM-ST-05-R01",</a:t>
            </a:r>
          </a:p>
          <a:p xmlns:a="http://schemas.openxmlformats.org/drawingml/2006/main">
            <a:r>
              <a:t>  "test": "BM-ST-05-T01",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"실증 검토 재작업·시험 증거 누락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"실증계획, 기술유형·운행조건, 시험결과, 사고 원시자료",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"기술·실증조건 분류",</a:t>
            </a:r>
          </a:p>
          <a:p xmlns:a="http://schemas.openxmlformats.org/drawingml/2006/main">
            <a:r>
              <a:t>    "요구조건–시험 연결",</a:t>
            </a:r>
          </a:p>
          <a:p xmlns:a="http://schemas.openxmlformats.org/drawingml/2006/main">
            <a:r>
              <a:t>    "결과·증거 완전성 점검",</a:t>
            </a:r>
          </a:p>
          <a:p xmlns:a="http://schemas.openxmlformats.org/drawingml/2006/main">
            <a:r>
              <a:t>    "조건 변경 후 재검토"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"미래차 안전 연구·평가",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확인",</a:t>
            </a:r>
          </a:p>
          <a:p xmlns:a="http://schemas.openxmlformats.org/drawingml/2006/main">
            <a:r>
              <a:t>      "workItems": []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"1029020",</a:t>
            </a:r>
          </a:p>
          <a:p xmlns:a="http://schemas.openxmlformats.org/drawingml/2006/main">
            <a:r>
              <a:t>      "name": "첨단연구개발처",</a:t>
            </a:r>
          </a:p>
          <a:p xmlns:a="http://schemas.openxmlformats.org/drawingml/2006/main">
            <a:r>
              <a:t>      "job": "미래차 검사기술 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검사기준 및 검사방법 개발에 관한 업무",</a:t>
            </a:r>
          </a:p>
          <a:p xmlns:a="http://schemas.openxmlformats.org/drawingml/2006/main">
            <a:r>
              <a:t>        "8. 자율주행자동차 등 검사기술 개발"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T43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"RULEWORK-1029020-5",</a:t>
            </a:r>
          </a:p>
          <a:p xmlns:a="http://schemas.openxmlformats.org/drawingml/2006/main">
            <a:r>
              <a:t>          "text": "5. 검사기준 및 검사방법 개발에 관한 업무",</a:t>
            </a:r>
          </a:p>
          <a:p xmlns:a="http://schemas.openxmlformats.org/drawingml/2006/main">
            <a:r>
              <a:t>          "locator": "별표4 · T43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"연구대상·가설·기준별 근거·시험항목 구성",</a:t>
            </a:r>
          </a:p>
          <a:p xmlns:a="http://schemas.openxmlformats.org/drawingml/2006/main">
            <a:r>
              <a:t>              "output": "기술 검토·시험 근거·연구 추적표",</a:t>
            </a:r>
          </a:p>
          <a:p xmlns:a="http://schemas.openxmlformats.org/drawingml/2006/main">
            <a:r>
              <a:t>              "testId": "RULEWORK-1029020-5-T01",</a:t>
            </a:r>
          </a:p>
          <a:p xmlns:a="http://schemas.openxmlformats.org/drawingml/2006/main">
            <a:r>
              <a:t>              "criterion": "인용 원문·시험 조건·계산·단위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"과제·실증 조건·시험자료·판본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"RULEWORK-1029020-5-T02",</a:t>
            </a:r>
          </a:p>
          <a:p xmlns:a="http://schemas.openxmlformats.org/drawingml/2006/main">
            <a:r>
              <a:t>              "criterion": "실험 미수행 결과·근거 없는 성능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"RULEWORK-1029020-5-T03",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"RULEWORK-1029020-8",</a:t>
            </a:r>
          </a:p>
          <a:p xmlns:a="http://schemas.openxmlformats.org/drawingml/2006/main">
            <a:r>
              <a:t>          "text": "8. 자율주행자동차 등 검사기술 개발",</a:t>
            </a:r>
          </a:p>
          <a:p xmlns:a="http://schemas.openxmlformats.org/drawingml/2006/main">
            <a:r>
              <a:t>          "locator": "별표4 · T43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"RULEWORK-1029020-8-T01",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"RULEWORK-1029020-8-T02",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"RULEWORK-1029020-8-T03",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"실증특례 접수·승인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"8. 실증특례 통합검토위원회 구성,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"RULEWORK-1021020-2",</a:t>
            </a:r>
          </a:p>
          <a:p xmlns:a="http://schemas.openxmlformats.org/drawingml/2006/main">
            <a:r>
              <a:t>          "text": "2. 모빌리티 실증특례 접수 및 승인 지원",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"RULEWORK-1021020-2-T01",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"RULEWORK-1021020-2-T02",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"RULEWORK-1021020-8",</a:t>
            </a:r>
          </a:p>
          <a:p xmlns:a="http://schemas.openxmlformats.org/drawingml/2006/main">
            <a:r>
              <a:t>          "text": "8. 실증특례 통합검토위원회 구성, 운영",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"RULEWORK-1021020-8-T01",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"RULEWORK-1021020-8-T02",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"특화도시·시범사업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"6. 첨단모빌리티 시범사업과 대상지역 지정요청 접수"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"RULEWORK-1021030-1",</a:t>
            </a:r>
          </a:p>
          <a:p xmlns:a="http://schemas.openxmlformats.org/drawingml/2006/main">
            <a:r>
              <a:t>          "text": "1. 모빌리티 특화도시 사업지원",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"RULEWORK-1021030-1-T01",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"RULEWORK-1021030-6",</a:t>
            </a:r>
          </a:p>
          <a:p xmlns:a="http://schemas.openxmlformats.org/drawingml/2006/main">
            <a:r>
              <a:t>          "text": "6. 첨단모빌리티 시범사업과 대상지역 지정요청 접수",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"RULEWORK-1021030-6-T01",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"RULEWORK-1021030-6-T02",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"1211290",</a:t>
            </a:r>
          </a:p>
          <a:p xmlns:a="http://schemas.openxmlformats.org/drawingml/2006/main">
            <a:r>
              <a:t>      "name": "드론관리처",</a:t>
            </a:r>
          </a:p>
          <a:p xmlns:a="http://schemas.openxmlformats.org/drawingml/2006/main">
            <a:r>
              <a:t>      "job": "드론 안전관리·연구",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초경량비행장치 사용사업체 안전관리 및 지도점검",</a:t>
            </a:r>
          </a:p>
          <a:p xmlns:a="http://schemas.openxmlformats.org/drawingml/2006/main">
            <a:r>
              <a:t>        "5. 무인비행장치(드론) 관련 신규사업 개발 및 안전연구(UTM, 안티드론, 드론택시․택배 등)"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"RULEWORK-1211290-2",</a:t>
            </a:r>
          </a:p>
          <a:p xmlns:a="http://schemas.openxmlformats.org/drawingml/2006/main">
            <a:r>
              <a:t>          "text": "2. 초경량비행장치 사용사업체 안전관리 및 지도점검",</a:t>
            </a:r>
          </a:p>
          <a:p xmlns:a="http://schemas.openxmlformats.org/drawingml/2006/main">
            <a:r>
              <a:t>          "locator": "별표4 · T45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"RULEWORK-1211290-2-T01",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"RULEWORK-1211290-2-T02",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"RULEWORK-1211290-2-T03",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"RULEWORK-1211290-5",</a:t>
            </a:r>
          </a:p>
          <a:p xmlns:a="http://schemas.openxmlformats.org/drawingml/2006/main">
            <a:r>
              <a:t>          "text": "5. 무인비행장치(드론) 관련 신규사업 개발 및 안전연구(UTM, 안티드론, 드론택시․택배 등)",</a:t>
            </a:r>
          </a:p>
          <a:p xmlns:a="http://schemas.openxmlformats.org/drawingml/2006/main">
            <a:r>
              <a:t>          "locator": "별표4 · T45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"RULEWORK-1211290-5-T01",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"RULEWORK-1211290-5-T02",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"RULEWORK-1211290-5-T03",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기술 기준 검색"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"JET·Audin의 구조화 검토·증거 대사"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"실증조건–요구조건–시험 ID 연결",</a:t>
            </a:r>
          </a:p>
          <a:p xmlns:a="http://schemas.openxmlformats.org/drawingml/2006/main">
            <a:r>
              <a:t>    "조건 변경 영향·재검증 목록"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"운행조건 변경, 로그 누락, 시험판본 불일치",</a:t>
            </a:r>
          </a:p>
          <a:p xmlns:a="http://schemas.openxmlformats.org/drawingml/2006/main">
            <a:r>
              <a:t>    "criterion": "변경 영향 시험 재선정·증거 미비 보류",</a:t>
            </a:r>
          </a:p>
          <a:p xmlns:a="http://schemas.openxmlformats.org/drawingml/2006/main">
            <a:r>
              <a:t>    "evidence": "요구–시험–증거 추적표·재검증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"증거 연결 완료 시험 수 ÷ 대상 시험 수 / 변경 후 재검토 소요시간",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"ST-05",</a:t>
            </a:r>
          </a:p>
          <a:p xmlns:a="http://schemas.openxmlformats.org/drawingml/2006/main">
            <a:r>
              <a:t>  "number": 5,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"K-AI 기반 안전한 미래 모빌리티 실현",</a:t>
            </a:r>
          </a:p>
          <a:p xmlns:a="http://schemas.openxmlformats.org/drawingml/2006/main">
            <a:r>
              <a:t>  "solution": "미래 모빌리티 검증·실증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"L09",</a:t>
            </a:r>
          </a:p>
          <a:p xmlns:a="http://schemas.openxmlformats.org/drawingml/2006/main">
            <a:r>
              <a:t>    "L18",</a:t>
            </a:r>
          </a:p>
          <a:p xmlns:a="http://schemas.openxmlformats.org/drawingml/2006/main">
            <a:r>
              <a:t>    "L19",</a:t>
            </a:r>
          </a:p>
          <a:p xmlns:a="http://schemas.openxmlformats.org/drawingml/2006/main">
            <a:r>
              <a:t>    "L27"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"7000000",</a:t>
            </a:r>
          </a:p>
          <a:p xmlns:a="http://schemas.openxmlformats.org/drawingml/2006/main">
            <a:r>
              <a:t>    "1029020",</a:t>
            </a:r>
          </a:p>
          <a:p xmlns:a="http://schemas.openxmlformats.org/drawingml/2006/main">
            <a:r>
              <a:t>    "1021020",</a:t>
            </a:r>
          </a:p>
          <a:p xmlns:a="http://schemas.openxmlformats.org/drawingml/2006/main">
            <a:r>
              <a:t>    "1021030",</a:t>
            </a:r>
          </a:p>
          <a:p xmlns:a="http://schemas.openxmlformats.org/drawingml/2006/main">
            <a:r>
              <a:t>    "1211290"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"미래차·드론·모빌리티 실증의 기준·시험·검토 업무",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"기술유형별 요구조건·시험계획·증빙 구조화",</a:t>
            </a:r>
          </a:p>
          <a:p xmlns:a="http://schemas.openxmlformats.org/drawingml/2006/main">
            <a:r>
              <a:t>    "조건 변경에 따른 검증 항목 재구성"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"시험·실증 근거 패키지",</a:t>
            </a:r>
          </a:p>
          <a:p xmlns:a="http://schemas.openxmlformats.org/drawingml/2006/main">
            <a:r>
              <a:t>  "acceptance": "요구조건–시험–증거 추적과 변경 후 재검토 여부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"GAI-T12"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"미래차 안전 연구·평가",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"1029020",</a:t>
            </a:r>
          </a:p>
          <a:p xmlns:a="http://schemas.openxmlformats.org/drawingml/2006/main">
            <a:r>
              <a:t>      "name": "첨단연구개발처",</a:t>
            </a:r>
          </a:p>
          <a:p xmlns:a="http://schemas.openxmlformats.org/drawingml/2006/main">
            <a:r>
              <a:t>      "job": "미래차 검사기술 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검사기준 및 검사방법 개발에 관한 업무",</a:t>
            </a:r>
          </a:p>
          <a:p xmlns:a="http://schemas.openxmlformats.org/drawingml/2006/main">
            <a:r>
              <a:t>        "8. 자율주행자동차 등 검사기술 개발"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T43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"실증특례 접수·승인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"8. 실증특례 통합검토위원회 구성,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"특화도시·시범사업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"6. 첨단모빌리티 시범사업과 대상지역 지정요청 접수"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"1211290",</a:t>
            </a:r>
          </a:p>
          <a:p xmlns:a="http://schemas.openxmlformats.org/drawingml/2006/main">
            <a:r>
              <a:t>      "name": "드론관리처",</a:t>
            </a:r>
          </a:p>
          <a:p xmlns:a="http://schemas.openxmlformats.org/drawingml/2006/main">
            <a:r>
              <a:t>      "job": "드론 안전관리·연구",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초경량비행장치 사용사업체 안전관리 및 지도점검",</a:t>
            </a:r>
          </a:p>
          <a:p xmlns:a="http://schemas.openxmlformats.org/drawingml/2006/main">
            <a:r>
              <a:t>        "5. 무인비행장치(드론) 관련 신규사업 개발 및 안전연구(UTM, 안티드론, 드론택시․택배 등)"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 원장의 결함조사·실증·드론 신고 업무 활용 / 시험·인증 권한과 연구원 세부 직제의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"AX16",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"AX17",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"AX18",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"모빌리티 실증 증거·안전 검증",</a:t>
            </a:r>
          </a:p>
          <a:p xmlns:a="http://schemas.openxmlformats.org/drawingml/2006/main">
            <a:r>
              <a:t>  "delta": "실증 데이터·시험조건·사건 보고의 근거 연결",</a:t>
            </a:r>
          </a:p>
          <a:p xmlns:a="http://schemas.openxmlformats.org/drawingml/2006/main">
            <a:r>
              <a:t>  "kpi": "시험 증거 누락률 / 재현 성공률",</a:t>
            </a:r>
          </a:p>
          <a:p xmlns:a="http://schemas.openxmlformats.org/drawingml/2006/main">
            <a:r>
              <a:t>  "validation": "실증 조건·원시 로그·보고서 불일치 탐지",</a:t>
            </a:r>
          </a:p>
          <a:p xmlns:a="http://schemas.openxmlformats.org/drawingml/2006/main">
            <a:r>
              <a:t>  "requirement": "BM-ST-05-R01",</a:t>
            </a:r>
          </a:p>
          <a:p xmlns:a="http://schemas.openxmlformats.org/drawingml/2006/main">
            <a:r>
              <a:t>  "test": "BM-ST-05-T01",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"실증 검토 재작업·시험 증거 누락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"실증계획, 기술유형·운행조건, 시험결과, 사고 원시자료",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"기술·실증조건 분류",</a:t>
            </a:r>
          </a:p>
          <a:p xmlns:a="http://schemas.openxmlformats.org/drawingml/2006/main">
            <a:r>
              <a:t>    "요구조건–시험 연결",</a:t>
            </a:r>
          </a:p>
          <a:p xmlns:a="http://schemas.openxmlformats.org/drawingml/2006/main">
            <a:r>
              <a:t>    "결과·증거 완전성 점검",</a:t>
            </a:r>
          </a:p>
          <a:p xmlns:a="http://schemas.openxmlformats.org/drawingml/2006/main">
            <a:r>
              <a:t>    "조건 변경 후 재검토"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"7000000",</a:t>
            </a:r>
          </a:p>
          <a:p xmlns:a="http://schemas.openxmlformats.org/drawingml/2006/main">
            <a:r>
              <a:t>      "name": "자동차안전연구원",</a:t>
            </a:r>
          </a:p>
          <a:p xmlns:a="http://schemas.openxmlformats.org/drawingml/2006/main">
            <a:r>
              <a:t>      "job": "미래차 안전 연구·평가",</a:t>
            </a:r>
          </a:p>
          <a:p xmlns:a="http://schemas.openxmlformats.org/drawingml/2006/main">
            <a:r>
              <a:t>      "indices": [],</a:t>
            </a:r>
          </a:p>
          <a:p xmlns:a="http://schemas.openxmlformats.org/drawingml/2006/main">
            <a:r>
              <a:t>      "duties": [],</a:t>
            </a:r>
          </a:p>
          <a:p xmlns:a="http://schemas.openxmlformats.org/drawingml/2006/main">
            <a:r>
              <a:t>      "locator": "자동차안전연구원 별도 직제시행세칙 대조 대상",</a:t>
            </a:r>
          </a:p>
          <a:p xmlns:a="http://schemas.openxmlformats.org/drawingml/2006/main">
            <a:r>
              <a:t>      "restriction": "별표4 부설기관: 자동차안전연구원 직제시행세칙에 따름 · 하부조직·직무·업무분장 별도 확인 필요",</a:t>
            </a:r>
          </a:p>
          <a:p xmlns:a="http://schemas.openxmlformats.org/drawingml/2006/main">
            <a:r>
              <a:t>      "status": "법령·업무 원장 기반 요약 / 세부 직제 확인",</a:t>
            </a:r>
          </a:p>
          <a:p xmlns:a="http://schemas.openxmlformats.org/drawingml/2006/main">
            <a:r>
              <a:t>      "workItems": []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"1029020",</a:t>
            </a:r>
          </a:p>
          <a:p xmlns:a="http://schemas.openxmlformats.org/drawingml/2006/main">
            <a:r>
              <a:t>      "name": "첨단연구개발처",</a:t>
            </a:r>
          </a:p>
          <a:p xmlns:a="http://schemas.openxmlformats.org/drawingml/2006/main">
            <a:r>
              <a:t>      "job": "미래차 검사기술 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4,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"5. 검사기준 및 검사방법 개발에 관한 업무",</a:t>
            </a:r>
          </a:p>
          <a:p xmlns:a="http://schemas.openxmlformats.org/drawingml/2006/main">
            <a:r>
              <a:t>        "8. 자율주행자동차 등 검사기술 개발"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T43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"RULEWORK-1029020-5",</a:t>
            </a:r>
          </a:p>
          <a:p xmlns:a="http://schemas.openxmlformats.org/drawingml/2006/main">
            <a:r>
              <a:t>          "text": "5. 검사기준 및 검사방법 개발에 관한 업무",</a:t>
            </a:r>
          </a:p>
          <a:p xmlns:a="http://schemas.openxmlformats.org/drawingml/2006/main">
            <a:r>
              <a:t>          "locator": "별표4 · T43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"연구대상·가설·기준별 근거·시험항목 구성",</a:t>
            </a:r>
          </a:p>
          <a:p xmlns:a="http://schemas.openxmlformats.org/drawingml/2006/main">
            <a:r>
              <a:t>              "output": "기술 검토·시험 근거·연구 추적표",</a:t>
            </a:r>
          </a:p>
          <a:p xmlns:a="http://schemas.openxmlformats.org/drawingml/2006/main">
            <a:r>
              <a:t>              "testId": "RULEWORK-1029020-5-T01",</a:t>
            </a:r>
          </a:p>
          <a:p xmlns:a="http://schemas.openxmlformats.org/drawingml/2006/main">
            <a:r>
              <a:t>              "criterion": "인용 원문·시험 조건·계산·단위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"과제·실증 조건·시험자료·판본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"RULEWORK-1029020-5-T02",</a:t>
            </a:r>
          </a:p>
          <a:p xmlns:a="http://schemas.openxmlformats.org/drawingml/2006/main">
            <a:r>
              <a:t>              "criterion": "실험 미수행 결과·근거 없는 성능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"RULEWORK-1029020-5-T03",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"RULEWORK-1029020-8",</a:t>
            </a:r>
          </a:p>
          <a:p xmlns:a="http://schemas.openxmlformats.org/drawingml/2006/main">
            <a:r>
              <a:t>          "text": "8. 자율주행자동차 등 검사기술 개발",</a:t>
            </a:r>
          </a:p>
          <a:p xmlns:a="http://schemas.openxmlformats.org/drawingml/2006/main">
            <a:r>
              <a:t>          "locator": "별표4 · T43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"차량·변경 유형별 기준·제출자료 선택",</a:t>
            </a:r>
          </a:p>
          <a:p xmlns:a="http://schemas.openxmlformats.org/drawingml/2006/main">
            <a:r>
              <a:t>              "output": "요건 대조표·보완·검사 인계 기록",</a:t>
            </a:r>
          </a:p>
          <a:p xmlns:a="http://schemas.openxmlformats.org/drawingml/2006/main">
            <a:r>
              <a:t>              "testId": "RULEWORK-1029020-8-T01",</a:t>
            </a:r>
          </a:p>
          <a:p xmlns:a="http://schemas.openxmlformats.org/drawingml/2006/main">
            <a:r>
              <a:t>              "criterion": "누락·상충·판본별 요건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"신청–보완–검사–결과의 업무건·판본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"RULEWORK-1029020-8-T02",</a:t>
            </a:r>
          </a:p>
          <a:p xmlns:a="http://schemas.openxmlformats.org/drawingml/2006/main">
            <a:r>
              <a:t>              "criterion": "문서 검토와 현장 검사·공식 판정의 구분"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"RULEWORK-1029020-8-R03",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"RULEWORK-1029020-8-T03",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"실증특례 접수·승인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"8. 실증특례 통합검토위원회 구성,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"RULEWORK-1021020-2",</a:t>
            </a:r>
          </a:p>
          <a:p xmlns:a="http://schemas.openxmlformats.org/drawingml/2006/main">
            <a:r>
              <a:t>          "text": "2. 모빌리티 실증특례 접수 및 승인 지원",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"RULEWORK-1021020-2-T01",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"RULEWORK-1021020-2-T02",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"RULEWORK-1021020-8",</a:t>
            </a:r>
          </a:p>
          <a:p xmlns:a="http://schemas.openxmlformats.org/drawingml/2006/main">
            <a:r>
              <a:t>          "text": "8. 실증특례 통합검토위원회 구성, 운영",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"RULEWORK-1021020-8-T01",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"RULEWORK-1021020-8-T02",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"특화도시·시범사업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"6. 첨단모빌리티 시범사업과 대상지역 지정요청 접수"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"RULEWORK-1021030-1",</a:t>
            </a:r>
          </a:p>
          <a:p xmlns:a="http://schemas.openxmlformats.org/drawingml/2006/main">
            <a:r>
              <a:t>          "text": "1. 모빌리티 특화도시 사업지원",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"RULEWORK-1021030-1-T01",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"RULEWORK-1021030-6",</a:t>
            </a:r>
          </a:p>
          <a:p xmlns:a="http://schemas.openxmlformats.org/drawingml/2006/main">
            <a:r>
              <a:t>          "text": "6. 첨단모빌리티 시범사업과 대상지역 지정요청 접수",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"RULEWORK-1021030-6-T01",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"RULEWORK-1021030-6-T02",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"1211290",</a:t>
            </a:r>
          </a:p>
          <a:p xmlns:a="http://schemas.openxmlformats.org/drawingml/2006/main">
            <a:r>
              <a:t>      "name": "드론관리처",</a:t>
            </a:r>
          </a:p>
          <a:p xmlns:a="http://schemas.openxmlformats.org/drawingml/2006/main">
            <a:r>
              <a:t>      "job": "드론 안전관리·연구",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초경량비행장치 사용사업체 안전관리 및 지도점검",</a:t>
            </a:r>
          </a:p>
          <a:p xmlns:a="http://schemas.openxmlformats.org/drawingml/2006/main">
            <a:r>
              <a:t>        "5. 무인비행장치(드론) 관련 신규사업 개발 및 안전연구(UTM, 안티드론, 드론택시․택배 등)"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T45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"RULEWORK-1211290-2",</a:t>
            </a:r>
          </a:p>
          <a:p xmlns:a="http://schemas.openxmlformats.org/drawingml/2006/main">
            <a:r>
              <a:t>          "text": "2. 초경량비행장치 사용사업체 안전관리 및 지도점검",</a:t>
            </a:r>
          </a:p>
          <a:p xmlns:a="http://schemas.openxmlformats.org/drawingml/2006/main">
            <a:r>
              <a:t>          "locator": "별표4 · T45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"RULEWORK-1211290-2-T01",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"RULEWORK-1211290-2-T02",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"RULEWORK-1211290-2-T03",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"RULEWORK-1211290-5",</a:t>
            </a:r>
          </a:p>
          <a:p xmlns:a="http://schemas.openxmlformats.org/drawingml/2006/main">
            <a:r>
              <a:t>          "text": "5. 무인비행장치(드론) 관련 신규사업 개발 및 안전연구(UTM, 안티드론, 드론택시․택배 등)",</a:t>
            </a:r>
          </a:p>
          <a:p xmlns:a="http://schemas.openxmlformats.org/drawingml/2006/main">
            <a:r>
              <a:t>          "locator": "별표4 · T45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"기체·임무·운영 범위별 요건 분류",</a:t>
            </a:r>
          </a:p>
          <a:p xmlns:a="http://schemas.openxmlformats.org/drawingml/2006/main">
            <a:r>
              <a:t>              "output": "요건·위험·보완·인계 검토자료",</a:t>
            </a:r>
          </a:p>
          <a:p xmlns:a="http://schemas.openxmlformats.org/drawingml/2006/main">
            <a:r>
              <a:t>              "testId": "RULEWORK-1211290-5-T01",</a:t>
            </a:r>
          </a:p>
          <a:p xmlns:a="http://schemas.openxmlformats.org/drawingml/2006/main">
            <a:r>
              <a:t>              "criterion": "운영 조건·서류 요건·근거 조항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"신고·검토·보완·공식 결과의 판본 추적",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"RULEWORK-1211290-5-T02",</a:t>
            </a:r>
          </a:p>
          <a:p xmlns:a="http://schemas.openxmlformats.org/drawingml/2006/main">
            <a:r>
              <a:t>              "criterion": "공식 비행 허가·안전 판정의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"RULEWORK-1211290-5-R03",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"RULEWORK-1211290-5-T03",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기술 기준 검색"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"JET·Audin의 구조화 검토·증거 대사"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"실증조건–요구조건–시험 ID 연결",</a:t>
            </a:r>
          </a:p>
          <a:p xmlns:a="http://schemas.openxmlformats.org/drawingml/2006/main">
            <a:r>
              <a:t>    "조건 변경 영향·재검증 목록"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"운행조건 변경, 로그 누락, 시험판본 불일치",</a:t>
            </a:r>
          </a:p>
          <a:p xmlns:a="http://schemas.openxmlformats.org/drawingml/2006/main">
            <a:r>
              <a:t>    "criterion": "변경 영향 시험 재선정·증거 미비 보류",</a:t>
            </a:r>
          </a:p>
          <a:p xmlns:a="http://schemas.openxmlformats.org/drawingml/2006/main">
            <a:r>
              <a:t>    "evidence": "요구–시험–증거 추적표·재검증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"증거 연결 완료 시험 수 ÷ 대상 시험 수 / 변경 후 재검토 소요시간",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"ST-06",</a:t>
            </a:r>
          </a:p>
          <a:p xmlns:a="http://schemas.openxmlformats.org/drawingml/2006/main">
            <a:r>
              <a:t>  "number": 6,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"기후위기 대응 친환경 전환 가속화",</a:t>
            </a:r>
          </a:p>
          <a:p xmlns:a="http://schemas.openxmlformats.org/drawingml/2006/main">
            <a:r>
              <a:t>  "solution": "친환경 교통·탄소 업무지원",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"L13"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"1019040",</a:t>
            </a:r>
          </a:p>
          <a:p xmlns:a="http://schemas.openxmlformats.org/drawingml/2006/main">
            <a:r>
              <a:t>    "1019041",</a:t>
            </a:r>
          </a:p>
          <a:p xmlns:a="http://schemas.openxmlformats.org/drawingml/2006/main">
            <a:r>
              <a:t>    "1019030"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"교통물류·탄소중립 정책 및 친환경 전환 자료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"활동자료·계수·산정기간·원천 판본 연결",</a:t>
            </a:r>
          </a:p>
          <a:p xmlns:a="http://schemas.openxmlformats.org/drawingml/2006/main">
            <a:r>
              <a:t>    "부서·사업별 실적 증빙과 보고서 작성 지원"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"탄소 산정 대사표·개선 권고 초안",</a:t>
            </a:r>
          </a:p>
          <a:p xmlns:a="http://schemas.openxmlformats.org/drawingml/2006/main">
            <a:r>
              <a:t>  "acceptance": "산정 입력·계수·기간의 재현성 및 누락 자료의 보류 처리",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정책·실적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화물운송실적관리시스템 운영에 관한 업무",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"1019041",</a:t>
            </a:r>
          </a:p>
          <a:p xmlns:a="http://schemas.openxmlformats.org/drawingml/2006/main">
            <a:r>
              <a:t>      "name": "탄소중립정책팀",</a:t>
            </a:r>
          </a:p>
          <a:p xmlns:a="http://schemas.openxmlformats.org/drawingml/2006/main">
            <a:r>
              <a:t>      "job": "온실가스 조사·감축지원",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교통부문 온실가스 배출량 조사사업(배출량 조사, 계수개발, 목표관리제, KOTEMS 등) 운영 및 관리 업무",</a:t>
            </a:r>
          </a:p>
          <a:p xmlns:a="http://schemas.openxmlformats.org/drawingml/2006/main">
            <a:r>
              <a:t>        "3. 교통부문 온실가스 감축 추진 등을 위한 배출권거래제 외부사업, 국제항공탄소 상쇄제도 및 국제감축 등 감축지원 사업 발굴, 운영·관리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"친환경차 안전 정책",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"18. 사업부서 추진 중 친환경차 안전확보 업무에 대한 총괄 정책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"L13: 화물운송실적 업무에 한정 / 온실가스 조사·계수·감축지원: 별표4 T40 탄소중립정책팀 업무 / 탄소 산정 관련 개별 법령·기준 추가 대조",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"친환경 운행·탄소 검증 지원",</a:t>
            </a:r>
          </a:p>
          <a:p xmlns:a="http://schemas.openxmlformats.org/drawingml/2006/main">
            <a:r>
              <a:t>  "delta": "활동량·계수·산식 검증과 개선 권고",</a:t>
            </a:r>
          </a:p>
          <a:p xmlns:a="http://schemas.openxmlformats.org/drawingml/2006/main">
            <a:r>
              <a:t>  "kpi": "활동량당 에너지 / 산식 오류율",</a:t>
            </a:r>
          </a:p>
          <a:p xmlns:a="http://schemas.openxmlformats.org/drawingml/2006/main">
            <a:r>
              <a:t>  "validation": "같은 계절·운행 조건 비교 및 계수 판본 재계산",</a:t>
            </a:r>
          </a:p>
          <a:p xmlns:a="http://schemas.openxmlformats.org/drawingml/2006/main">
            <a:r>
              <a:t>  "requirement": "BM-ST-06-R01",</a:t>
            </a:r>
          </a:p>
          <a:p xmlns:a="http://schemas.openxmlformats.org/drawingml/2006/main">
            <a:r>
              <a:t>  "test": "BM-ST-06-T01",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"보고 재계산·산식 오류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"운행·연료 등 활동량, 배출계수 판본, 산정기간·경계",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"단위·기간 정규화",</a:t>
            </a:r>
          </a:p>
          <a:p xmlns:a="http://schemas.openxmlformats.org/drawingml/2006/main">
            <a:r>
              <a:t>    "계수·산식 대조",</a:t>
            </a:r>
          </a:p>
          <a:p xmlns:a="http://schemas.openxmlformats.org/drawingml/2006/main">
            <a:r>
              <a:t>    "검증 계산·이상값 보류",</a:t>
            </a:r>
          </a:p>
          <a:p xmlns:a="http://schemas.openxmlformats.org/drawingml/2006/main">
            <a:r>
              <a:t>    "부서별 개선 권고 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정책·실적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화물운송실적관리시스템 운영에 관한 업무",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"RULEWORK-1019040-2",</a:t>
            </a:r>
          </a:p>
          <a:p xmlns:a="http://schemas.openxmlformats.org/drawingml/2006/main">
            <a:r>
              <a:t>          "text": "2. 화물운송실적관리시스템 운영에 관한 업무",</a:t>
            </a:r>
          </a:p>
          <a:p xmlns:a="http://schemas.openxmlformats.org/drawingml/2006/main">
            <a:r>
              <a:t>          "locator": "별표4 · T40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"RULEWORK-1019040-2-T01",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"RULEWORK-1019040-2-T02",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"RULEWORK-1019040-6",</a:t>
            </a:r>
          </a:p>
          <a:p xmlns:a="http://schemas.openxmlformats.org/drawingml/2006/main">
            <a:r>
              <a:t>          "text": "6. 교통물류 정책관련 연구‧사업 업무",</a:t>
            </a:r>
          </a:p>
          <a:p xmlns:a="http://schemas.openxmlformats.org/drawingml/2006/main">
            <a:r>
              <a:t>          "locator": "별표4 · T40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"RULEWORK-1019040-6-T01",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"RULEWORK-1019040-6-T02",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"1019041",</a:t>
            </a:r>
          </a:p>
          <a:p xmlns:a="http://schemas.openxmlformats.org/drawingml/2006/main">
            <a:r>
              <a:t>      "name": "탄소중립정책팀",</a:t>
            </a:r>
          </a:p>
          <a:p xmlns:a="http://schemas.openxmlformats.org/drawingml/2006/main">
            <a:r>
              <a:t>      "job": "온실가스 조사·감축지원",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교통부문 온실가스 배출량 조사사업(배출량 조사, 계수개발, 목표관리제, KOTEMS 등) 운영 및 관리 업무",</a:t>
            </a:r>
          </a:p>
          <a:p xmlns:a="http://schemas.openxmlformats.org/drawingml/2006/main">
            <a:r>
              <a:t>        "3. 교통부문 온실가스 감축 추진 등을 위한 배출권거래제 외부사업, 국제항공탄소 상쇄제도 및 국제감축 등 감축지원 사업 발굴, 운영·관리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"RULEWORK-1019041-1",</a:t>
            </a:r>
          </a:p>
          <a:p xmlns:a="http://schemas.openxmlformats.org/drawingml/2006/main">
            <a:r>
              <a:t>          "text": "1. 교통부문 온실가스 배출량 조사사업(배출량 조사, 계수개발, 목표관리제, KOTEMS 등) 운영 및 관리 업무",</a:t>
            </a:r>
          </a:p>
          <a:p xmlns:a="http://schemas.openxmlformats.org/drawingml/2006/main">
            <a:r>
              <a:t>          "locator": "별표4 · T40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"RULEWORK-1019041-1-T01",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"RULEWORK-1019041-1-T02",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"RULEWORK-1019041-1-T03",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"RULEWORK-1019041-3",</a:t>
            </a:r>
          </a:p>
          <a:p xmlns:a="http://schemas.openxmlformats.org/drawingml/2006/main">
            <a:r>
              <a:t>          "text": "3. 교통부문 온실가스 감축 추진 등을 위한 배출권거래제 외부사업, 국제항공탄소 상쇄제도 및 국제감축 등 감축지원 사업 발굴, 운영·관리 업무",</a:t>
            </a:r>
          </a:p>
          <a:p xmlns:a="http://schemas.openxmlformats.org/drawingml/2006/main">
            <a:r>
              <a:t>          "locator": "별표4 · T40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"RULEWORK-1019041-3-T01",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"RULEWORK-1019041-3-T02",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"RULEWORK-1019041-3-T03",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"친환경차 안전 정책",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"18. 사업부서 추진 중 친환경차 안전확보 업무에 대한 총괄 정책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"RULEWORK-1019030-18",</a:t>
            </a:r>
          </a:p>
          <a:p xmlns:a="http://schemas.openxmlformats.org/drawingml/2006/main">
            <a:r>
              <a:t>          "text": "18. 사업부서 추진 중 친환경차 안전확보 업무에 대한 총괄 정책 업무",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"RULEWORK-1019030-18-R01",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"RULEWORK-1019030-18-T01",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"RULEWORK-1019030-18-R02",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"RULEWORK-1019030-18-T02",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"RULEWORK-1019030-18-R03",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"RULEWORK-1019030-18-T03",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근거 검색·보고 초안"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수치 근거 구조화"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"활동량–계수–산식 버전 연결",</a:t>
            </a:r>
          </a:p>
          <a:p xmlns:a="http://schemas.openxmlformats.org/drawingml/2006/main">
            <a:r>
              <a:t>    "독립 재계산·결측 판정 모듈"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"단위 변환 오류, 기간 중복, 계수 개정, 결측값",</a:t>
            </a:r>
          </a:p>
          <a:p xmlns:a="http://schemas.openxmlformats.org/drawingml/2006/main">
            <a:r>
              <a:t>    "criterion": "독립 계산 일치·누락/이상값 보류",</a:t>
            </a:r>
          </a:p>
          <a:p xmlns:a="http://schemas.openxmlformats.org/drawingml/2006/main">
            <a:r>
              <a:t>    "evidence": "입력·계수 판본표·계산 대사·검토 기록",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"산식 오류 건수 ÷ 산정 건수 / 산정 검토시간; 에너지·탄소 효과는 별도 실측",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"ST-06",</a:t>
            </a:r>
          </a:p>
          <a:p xmlns:a="http://schemas.openxmlformats.org/drawingml/2006/main">
            <a:r>
              <a:t>  "number": 6,</a:t>
            </a:r>
          </a:p>
          <a:p xmlns:a="http://schemas.openxmlformats.org/drawingml/2006/main">
            <a:r>
              <a:t>  "direction": "지능형 미래 모빌리티 혁신",</a:t>
            </a:r>
          </a:p>
          <a:p xmlns:a="http://schemas.openxmlformats.org/drawingml/2006/main">
            <a:r>
              <a:t>  "strategy": "기후위기 대응 친환경 전환 가속화",</a:t>
            </a:r>
          </a:p>
          <a:p xmlns:a="http://schemas.openxmlformats.org/drawingml/2006/main">
            <a:r>
              <a:t>  "solution": "친환경 교통·탄소 업무지원",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"L13"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"1019040",</a:t>
            </a:r>
          </a:p>
          <a:p xmlns:a="http://schemas.openxmlformats.org/drawingml/2006/main">
            <a:r>
              <a:t>    "1019041",</a:t>
            </a:r>
          </a:p>
          <a:p xmlns:a="http://schemas.openxmlformats.org/drawingml/2006/main">
            <a:r>
              <a:t>    "1019030"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"교통물류·탄소중립 정책 및 친환경 전환 자료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"활동자료·계수·산정기간·원천 판본 연결",</a:t>
            </a:r>
          </a:p>
          <a:p xmlns:a="http://schemas.openxmlformats.org/drawingml/2006/main">
            <a:r>
              <a:t>    "부서·사업별 실적 증빙과 보고서 작성 지원"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"탄소 산정 대사표·개선 권고 초안",</a:t>
            </a:r>
          </a:p>
          <a:p xmlns:a="http://schemas.openxmlformats.org/drawingml/2006/main">
            <a:r>
              <a:t>  "acceptance": "산정 입력·계수·기간의 재현성 및 누락 자료의 보류 처리",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정책·실적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화물운송실적관리시스템 운영에 관한 업무",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"1019041",</a:t>
            </a:r>
          </a:p>
          <a:p xmlns:a="http://schemas.openxmlformats.org/drawingml/2006/main">
            <a:r>
              <a:t>      "name": "탄소중립정책팀",</a:t>
            </a:r>
          </a:p>
          <a:p xmlns:a="http://schemas.openxmlformats.org/drawingml/2006/main">
            <a:r>
              <a:t>      "job": "온실가스 조사·감축지원",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교통부문 온실가스 배출량 조사사업(배출량 조사, 계수개발, 목표관리제, KOTEMS 등) 운영 및 관리 업무",</a:t>
            </a:r>
          </a:p>
          <a:p xmlns:a="http://schemas.openxmlformats.org/drawingml/2006/main">
            <a:r>
              <a:t>        "3. 교통부문 온실가스 감축 추진 등을 위한 배출권거래제 외부사업, 국제항공탄소 상쇄제도 및 국제감축 등 감축지원 사업 발굴, 운영·관리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"친환경차 안전 정책",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"18. 사업부서 추진 중 친환경차 안전확보 업무에 대한 총괄 정책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"L13: 화물운송실적 업무에 한정 / 온실가스 조사·계수·감축지원: 별표4 T40 탄소중립정책팀 업무 / 탄소 산정 관련 개별 법령·기준 추가 대조",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"친환경 운행·탄소 검증 지원",</a:t>
            </a:r>
          </a:p>
          <a:p xmlns:a="http://schemas.openxmlformats.org/drawingml/2006/main">
            <a:r>
              <a:t>  "delta": "활동량·계수·산식 검증과 개선 권고",</a:t>
            </a:r>
          </a:p>
          <a:p xmlns:a="http://schemas.openxmlformats.org/drawingml/2006/main">
            <a:r>
              <a:t>  "kpi": "활동량당 에너지 / 산식 오류율",</a:t>
            </a:r>
          </a:p>
          <a:p xmlns:a="http://schemas.openxmlformats.org/drawingml/2006/main">
            <a:r>
              <a:t>  "validation": "같은 계절·운행 조건 비교 및 계수 판본 재계산",</a:t>
            </a:r>
          </a:p>
          <a:p xmlns:a="http://schemas.openxmlformats.org/drawingml/2006/main">
            <a:r>
              <a:t>  "requirement": "BM-ST-06-R01",</a:t>
            </a:r>
          </a:p>
          <a:p xmlns:a="http://schemas.openxmlformats.org/drawingml/2006/main">
            <a:r>
              <a:t>  "test": "BM-ST-06-T01",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"보고 재계산·산식 오류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"운행·연료 등 활동량, 배출계수 판본, 산정기간·경계",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"단위·기간 정규화",</a:t>
            </a:r>
          </a:p>
          <a:p xmlns:a="http://schemas.openxmlformats.org/drawingml/2006/main">
            <a:r>
              <a:t>    "계수·산식 대조",</a:t>
            </a:r>
          </a:p>
          <a:p xmlns:a="http://schemas.openxmlformats.org/drawingml/2006/main">
            <a:r>
              <a:t>    "검증 계산·이상값 보류",</a:t>
            </a:r>
          </a:p>
          <a:p xmlns:a="http://schemas.openxmlformats.org/drawingml/2006/main">
            <a:r>
              <a:t>    "부서별 개선 권고 검토"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정책·실적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화물운송실적관리시스템 운영에 관한 업무",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"RULEWORK-1019040-2",</a:t>
            </a:r>
          </a:p>
          <a:p xmlns:a="http://schemas.openxmlformats.org/drawingml/2006/main">
            <a:r>
              <a:t>          "text": "2. 화물운송실적관리시스템 운영에 관한 업무",</a:t>
            </a:r>
          </a:p>
          <a:p xmlns:a="http://schemas.openxmlformats.org/drawingml/2006/main">
            <a:r>
              <a:t>          "locator": "별표4 · T40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"RULEWORK-1019040-2-T01",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"RULEWORK-1019040-2-T02",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"RULEWORK-1019040-6",</a:t>
            </a:r>
          </a:p>
          <a:p xmlns:a="http://schemas.openxmlformats.org/drawingml/2006/main">
            <a:r>
              <a:t>          "text": "6. 교통물류 정책관련 연구‧사업 업무",</a:t>
            </a:r>
          </a:p>
          <a:p xmlns:a="http://schemas.openxmlformats.org/drawingml/2006/main">
            <a:r>
              <a:t>          "locator": "별표4 · T40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"RULEWORK-1019040-6-T01",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"RULEWORK-1019040-6-T02",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"1019041",</a:t>
            </a:r>
          </a:p>
          <a:p xmlns:a="http://schemas.openxmlformats.org/drawingml/2006/main">
            <a:r>
              <a:t>      "name": "탄소중립정책팀",</a:t>
            </a:r>
          </a:p>
          <a:p xmlns:a="http://schemas.openxmlformats.org/drawingml/2006/main">
            <a:r>
              <a:t>      "job": "온실가스 조사·감축지원",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교통부문 온실가스 배출량 조사사업(배출량 조사, 계수개발, 목표관리제, KOTEMS 등) 운영 및 관리 업무",</a:t>
            </a:r>
          </a:p>
          <a:p xmlns:a="http://schemas.openxmlformats.org/drawingml/2006/main">
            <a:r>
              <a:t>        "3. 교통부문 온실가스 감축 추진 등을 위한 배출권거래제 외부사업, 국제항공탄소 상쇄제도 및 국제감축 등 감축지원 사업 발굴, 운영·관리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"RULEWORK-1019041-1",</a:t>
            </a:r>
          </a:p>
          <a:p xmlns:a="http://schemas.openxmlformats.org/drawingml/2006/main">
            <a:r>
              <a:t>          "text": "1. 교통부문 온실가스 배출량 조사사업(배출량 조사, 계수개발, 목표관리제, KOTEMS 등) 운영 및 관리 업무",</a:t>
            </a:r>
          </a:p>
          <a:p xmlns:a="http://schemas.openxmlformats.org/drawingml/2006/main">
            <a:r>
              <a:t>          "locator": "별표4 · T40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"RULEWORK-1019041-1-T01",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"RULEWORK-1019041-1-T02",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"RULEWORK-1019041-1-T03",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"RULEWORK-1019041-3",</a:t>
            </a:r>
          </a:p>
          <a:p xmlns:a="http://schemas.openxmlformats.org/drawingml/2006/main">
            <a:r>
              <a:t>          "text": "3. 교통부문 온실가스 감축 추진 등을 위한 배출권거래제 외부사업, 국제항공탄소 상쇄제도 및 국제감축 등 감축지원 사업 발굴, 운영·관리 업무",</a:t>
            </a:r>
          </a:p>
          <a:p xmlns:a="http://schemas.openxmlformats.org/drawingml/2006/main">
            <a:r>
              <a:t>          "locator": "별표4 · T40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"RULEWORK-1019041-3-T01",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"RULEWORK-1019041-3-T02",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"RULEWORK-1019041-3-R03",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"RULEWORK-1019041-3-T03",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"친환경차 안전 정책",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"18. 사업부서 추진 중 친환경차 안전확보 업무에 대한 총괄 정책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"RULEWORK-1019030-18",</a:t>
            </a:r>
          </a:p>
          <a:p xmlns:a="http://schemas.openxmlformats.org/drawingml/2006/main">
            <a:r>
              <a:t>          "text": "18. 사업부서 추진 중 친환경차 안전확보 업무에 대한 총괄 정책 업무",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"RULEWORK-1019030-18-R01",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"RULEWORK-1019030-18-T01",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"RULEWORK-1019030-18-R02",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"RULEWORK-1019030-18-T02",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"RULEWORK-1019030-18-R03",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"RULEWORK-1019030-18-T03",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근거 검색·보고 초안"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수치 근거 구조화"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"활동량–계수–산식 버전 연결",</a:t>
            </a:r>
          </a:p>
          <a:p xmlns:a="http://schemas.openxmlformats.org/drawingml/2006/main">
            <a:r>
              <a:t>    "독립 재계산·결측 판정 모듈"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"단위 변환 오류, 기간 중복, 계수 개정, 결측값",</a:t>
            </a:r>
          </a:p>
          <a:p xmlns:a="http://schemas.openxmlformats.org/drawingml/2006/main">
            <a:r>
              <a:t>    "criterion": "독립 계산 일치·누락/이상값 보류",</a:t>
            </a:r>
          </a:p>
          <a:p xmlns:a="http://schemas.openxmlformats.org/drawingml/2006/main">
            <a:r>
              <a:t>    "evidence": "입력·계수 판본표·계산 대사·검토 기록",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"산식 오류 건수 ÷ 산정 건수 / 산정 검토시간; 에너지·탄소 효과는 별도 실측",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"ST-07",</a:t>
            </a:r>
          </a:p>
          <a:p xmlns:a="http://schemas.openxmlformats.org/drawingml/2006/main">
            <a:r>
              <a:t>  "number": 7,</a:t>
            </a:r>
          </a:p>
          <a:p xmlns:a="http://schemas.openxmlformats.org/drawingml/2006/main">
            <a:r>
              <a:t>  "direction": "균형있는 국민체감 서비스 실현",</a:t>
            </a:r>
          </a:p>
          <a:p xmlns:a="http://schemas.openxmlformats.org/drawingml/2006/main">
            <a:r>
              <a:t>  "strategy": "교통데이터 개방·연계 기반 서비스 편익 증대",</a:t>
            </a:r>
          </a:p>
          <a:p xmlns:a="http://schemas.openxmlformats.org/drawingml/2006/main">
            <a:r>
              <a:t>  "solution": "교통데이터 카탈로그·연계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"L04",</a:t>
            </a:r>
          </a:p>
          <a:p xmlns:a="http://schemas.openxmlformats.org/drawingml/2006/main">
            <a:r>
              <a:t>    "L10",</a:t>
            </a:r>
          </a:p>
          <a:p xmlns:a="http://schemas.openxmlformats.org/drawingml/2006/main">
            <a:r>
              <a:t>    "L15",</a:t>
            </a:r>
          </a:p>
          <a:p xmlns:a="http://schemas.openxmlformats.org/drawingml/2006/main">
            <a:r>
              <a:t>    "L16"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"1019600",</a:t>
            </a:r>
          </a:p>
          <a:p xmlns:a="http://schemas.openxmlformats.org/drawingml/2006/main">
            <a:r>
              <a:t>    "1019030",</a:t>
            </a:r>
          </a:p>
          <a:p xmlns:a="http://schemas.openxmlformats.org/drawingml/2006/main">
            <a:r>
              <a:t>    "1019400",</a:t>
            </a:r>
          </a:p>
          <a:p xmlns:a="http://schemas.openxmlformats.org/drawingml/2006/main">
            <a:r>
              <a:t>    "1019020",</a:t>
            </a:r>
          </a:p>
          <a:p xmlns:a="http://schemas.openxmlformats.org/drawingml/2006/main">
            <a:r>
              <a:t>    "1019010",</a:t>
            </a:r>
          </a:p>
          <a:p xmlns:a="http://schemas.openxmlformats.org/drawingml/2006/main">
            <a:r>
              <a:t>    "1019300",</a:t>
            </a:r>
          </a:p>
          <a:p xmlns:a="http://schemas.openxmlformats.org/drawingml/2006/main">
            <a:r>
              <a:t>    "1019500"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"교통·차량 데이터의 소재·권리·품질·활용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"데이터 정의·소유부서·용도·권한 카탈로그 구성",</a:t>
            </a:r>
          </a:p>
          <a:p xmlns:a="http://schemas.openxmlformats.org/drawingml/2006/main">
            <a:r>
              <a:t>    "기관 간 요청·승인·제공·결과 대사"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"데이터 카탈로그·제공 대사표",</a:t>
            </a:r>
          </a:p>
          <a:p xmlns:a="http://schemas.openxmlformats.org/drawingml/2006/main">
            <a:r>
              <a:t>  "acceptance": "권한별 검색 결과 분리·계약 필드 대사·회수 후 재접근 차단",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"GAI-T11"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"공공데이터 개방·표준",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인공지능(AI) 데이터 표준화 및 데이터 스페이스 구축",</a:t>
            </a:r>
          </a:p>
          <a:p xmlns:a="http://schemas.openxmlformats.org/drawingml/2006/main">
            <a:r>
              <a:t>        "5. 공공데이터 개방 및 관련 시스템 구축․관리, 공공데이터 활용성과 평가 대응"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"교통데이터 분석·결합",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"8. 빅데이터 결합 ․분석․활용 및 교통 빅데이터 플랫폼 구축사업"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통합정보 제공",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"택시·대중교통 정보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택시 운행정보 관리시스템 구축 및 운영",</a:t>
            </a:r>
          </a:p>
          <a:p xmlns:a="http://schemas.openxmlformats.org/drawingml/2006/main">
            <a:r>
              <a:t>        "10. 대중교통정보시스템(TAGO) 운영 등 ITS 관련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"현황조사·데이터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업무",</a:t>
            </a:r>
          </a:p>
          <a:p xmlns:a="http://schemas.openxmlformats.org/drawingml/2006/main">
            <a:r>
              <a:t>        "9. 첨단모빌리티 데이터 수집관리 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"데이터 품질관리",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"개인정보·접근 보안",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정보보안 및 개인정보보호 관련 제도 및 지침관리",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"교통데이터 제공·연계 지원",</a:t>
            </a:r>
          </a:p>
          <a:p xmlns:a="http://schemas.openxmlformats.org/drawingml/2006/main">
            <a:r>
              <a:t>  "delta": "공개 가능 필드·데이터 사전·API 요청 연결",</a:t>
            </a:r>
          </a:p>
          <a:p xmlns:a="http://schemas.openxmlformats.org/drawingml/2006/main">
            <a:r>
              <a:t>  "kpi": "연계 성공률 / 목적 외 노출 건수",</a:t>
            </a:r>
          </a:p>
          <a:p xmlns:a="http://schemas.openxmlformats.org/drawingml/2006/main">
            <a:r>
              <a:t>  "validation": "공개·내부 필드 혼합과 재식별 위험 입력 검증",</a:t>
            </a:r>
          </a:p>
          <a:p xmlns:a="http://schemas.openxmlformats.org/drawingml/2006/main">
            <a:r>
              <a:t>  "requirement": "BM-ST-07-R01",</a:t>
            </a:r>
          </a:p>
          <a:p xmlns:a="http://schemas.openxmlformats.org/drawingml/2006/main">
            <a:r>
              <a:t>  "test": "BM-ST-07-T01",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"데이터 탐색·연계 보완시간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"데이터 정의·필드, 소유부서, 제공목적·권한, 연계 명세",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"요청 목적·소관 분류",</a:t>
            </a:r>
          </a:p>
          <a:p xmlns:a="http://schemas.openxmlformats.org/drawingml/2006/main">
            <a:r>
              <a:t>    "필드·품질·제공조건 대조",</a:t>
            </a:r>
          </a:p>
          <a:p xmlns:a="http://schemas.openxmlformats.org/drawingml/2006/main">
            <a:r>
              <a:t>    "승인된 제공경로 연결",</a:t>
            </a:r>
          </a:p>
          <a:p xmlns:a="http://schemas.openxmlformats.org/drawingml/2006/main">
            <a:r>
              <a:t>    "수신 대사·회수 반영"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"공공데이터 개방·표준",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인공지능(AI) 데이터 표준화 및 데이터 스페이스 구축",</a:t>
            </a:r>
          </a:p>
          <a:p xmlns:a="http://schemas.openxmlformats.org/drawingml/2006/main">
            <a:r>
              <a:t>        "5. 공공데이터 개방 및 관련 시스템 구축․관리, 공공데이터 활용성과 평가 대응"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"RULEWORK-1019600-3",</a:t>
            </a:r>
          </a:p>
          <a:p xmlns:a="http://schemas.openxmlformats.org/drawingml/2006/main">
            <a:r>
              <a:t>          "text": "3. 인공지능(AI) 데이터 표준화 및 데이터 스페이스 구축",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"RULEWORK-1019600-3-T01",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"RULEWORK-1019600-5",</a:t>
            </a:r>
          </a:p>
          <a:p xmlns:a="http://schemas.openxmlformats.org/drawingml/2006/main">
            <a:r>
              <a:t>          "text": "5. 공공데이터 개방 및 관련 시스템 구축․관리, 공공데이터 활용성과 평가 대응",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"RULEWORK-1019600-5-T01",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"RULEWORK-1019600-5-T02",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"교통데이터 분석·결합",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"8. 빅데이터 결합 ․분석․활용 및 교통 빅데이터 플랫폼 구축사업"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"RULEWORK-1019030-3",</a:t>
            </a:r>
          </a:p>
          <a:p xmlns:a="http://schemas.openxmlformats.org/drawingml/2006/main">
            <a:r>
              <a:t>          "text": "3. 운행기록데이터 관리·분석·활용 및 정책지원",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"RULEWORK-1019030-8",</a:t>
            </a:r>
          </a:p>
          <a:p xmlns:a="http://schemas.openxmlformats.org/drawingml/2006/main">
            <a:r>
              <a:t>          "text": "8. 빅데이터 결합 ․분석․활용 및 교통 빅데이터 플랫폼 구축사업",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통합정보 제공",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"RULEWORK-1019400-3",</a:t>
            </a:r>
          </a:p>
          <a:p xmlns:a="http://schemas.openxmlformats.org/drawingml/2006/main">
            <a:r>
              <a:t>          "text": "3. 자동차토털이력관리시스템 운영",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"RULEWORK-1019400-8",</a:t>
            </a:r>
          </a:p>
          <a:p xmlns:a="http://schemas.openxmlformats.org/drawingml/2006/main">
            <a:r>
              <a:t>          "text": "8. 자동차정보 통합서비스 제공 업무",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"택시·대중교통 정보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택시 운행정보 관리시스템 구축 및 운영",</a:t>
            </a:r>
          </a:p>
          <a:p xmlns:a="http://schemas.openxmlformats.org/drawingml/2006/main">
            <a:r>
              <a:t>        "10. 대중교통정보시스템(TAGO) 운영 등 ITS 관련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"RULEWORK-1019020-2",</a:t>
            </a:r>
          </a:p>
          <a:p xmlns:a="http://schemas.openxmlformats.org/drawingml/2006/main">
            <a:r>
              <a:t>          "text": "2. 택시 운행정보 관리시스템 구축 및 운영",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"RULEWORK-1019020-2-T01",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"RULEWORK-1019020-2-T02",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"RULEWORK-1019020-10",</a:t>
            </a:r>
          </a:p>
          <a:p xmlns:a="http://schemas.openxmlformats.org/drawingml/2006/main">
            <a:r>
              <a:t>          "text": "10. 대중교통정보시스템(TAGO) 운영 등 ITS 관련 업무",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"지역·시간·배차 제약과 요청 맥락 분류",</a:t>
            </a:r>
          </a:p>
          <a:p xmlns:a="http://schemas.openxmlformats.org/drawingml/2006/main">
            <a:r>
              <a:t>              "output": "조건·예외·변경 요청·결과 대사표",</a:t>
            </a:r>
          </a:p>
          <a:p xmlns:a="http://schemas.openxmlformats.org/drawingml/2006/main">
            <a:r>
              <a:t>              "testId": "RULEWORK-1019020-10-T01",</a:t>
            </a:r>
          </a:p>
          <a:p xmlns:a="http://schemas.openxmlformats.org/drawingml/2006/main">
            <a:r>
              <a:t>              "criterion": "운영 상태·조건별 가능한 후보와 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"기존 운영시스템 조회·승인 후 변경 결과 대사",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"RULEWORK-1019020-10-T02",</a:t>
            </a:r>
          </a:p>
          <a:p xmlns:a="http://schemas.openxmlformats.org/drawingml/2006/main">
            <a:r>
              <a:t>              "criterion": "운영자 확인 전 변경 및 중복 배차 요청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"현황조사·데이터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업무",</a:t>
            </a:r>
          </a:p>
          <a:p xmlns:a="http://schemas.openxmlformats.org/drawingml/2006/main">
            <a:r>
              <a:t>        "9. 첨단모빌리티 데이터 수집관리 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"RULEWORK-1019010-7",</a:t>
            </a:r>
          </a:p>
          <a:p xmlns:a="http://schemas.openxmlformats.org/drawingml/2006/main">
            <a:r>
              <a:t>          "text": "7. 대중교통 현황조사에 관한 업무",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"RULEWORK-1019010-7-T01",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"RULEWORK-1019010-7-T02",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"RULEWORK-1019010-8",</a:t>
            </a:r>
          </a:p>
          <a:p xmlns:a="http://schemas.openxmlformats.org/drawingml/2006/main">
            <a:r>
              <a:t>          "text": "9. 첨단모빌리티 데이터 수집관리 지원",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"RULEWORK-1019010-8-T01",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"RULEWORK-1019010-8-T02",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"데이터 품질관리",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"RULEWORK-1019300-20",</a:t>
            </a:r>
          </a:p>
          <a:p xmlns:a="http://schemas.openxmlformats.org/drawingml/2006/main">
            <a:r>
              <a:t>          "text": "20. 데이터 품질관리",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"RULEWORK-1019300-20-T01",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"RULEWORK-1019300-20-T02",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"RULEWORK-1019300-20-T03",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"개인정보·접근 보안",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정보보안 및 개인정보보호 관련 제도 및 지침관리",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"RULEWORK-1019500-2",</a:t>
            </a:r>
          </a:p>
          <a:p xmlns:a="http://schemas.openxmlformats.org/drawingml/2006/main">
            <a:r>
              <a:t>          "text": "2. 정보보안 및 개인정보보호 관련 제도 및 지침관리",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"RULEWORK-1019500-2-T01",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"RULEWORK-1019500-2-T02",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"RULEWORK-1019500-10",</a:t>
            </a:r>
          </a:p>
          <a:p xmlns:a="http://schemas.openxmlformats.org/drawingml/2006/main">
            <a:r>
              <a:t>          "text": "10. 개인정보보호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"RULEWORK-1019500-10-T01",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"RULEWORK-1019500-10-T02",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자료 검색·질의 지원"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"목적·필드별 정책 카탈로그",</a:t>
            </a:r>
          </a:p>
          <a:p xmlns:a="http://schemas.openxmlformats.org/drawingml/2006/main">
            <a:r>
              <a:t>    "요청–승인–제공–회수 연결 어댑터"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"공개/내부 필드 혼합, 스키마 변경, 권한 회수",</a:t>
            </a:r>
          </a:p>
          <a:p xmlns:a="http://schemas.openxmlformats.org/drawingml/2006/main">
            <a:r>
              <a:t>    "criterion": "허용 필드만 제공·불일치 보류·회수 후 캐시 차단",</a:t>
            </a:r>
          </a:p>
          <a:p xmlns:a="http://schemas.openxmlformats.org/drawingml/2006/main">
            <a:r>
              <a:t>    "evidence": "필드 대사표·거부셋 결과·회수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"승인 조건 충족 연계 수 ÷ 연계 시도 수 / 목적 외 노출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"PF-R07",</a:t>
            </a:r>
          </a:p>
          <a:p xmlns:a="http://schemas.openxmlformats.org/drawingml/2006/main">
            <a:r>
              <a:t>    "PF-R08",</a:t>
            </a:r>
          </a:p>
          <a:p xmlns:a="http://schemas.openxmlformats.org/drawingml/2006/main">
            <a:r>
              <a:t>    "PF03",</a:t>
            </a:r>
          </a:p>
          <a:p xmlns:a="http://schemas.openxmlformats.org/drawingml/2006/main">
            <a:r>
              <a:t>    "PF06"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"ST-07",</a:t>
            </a:r>
          </a:p>
          <a:p xmlns:a="http://schemas.openxmlformats.org/drawingml/2006/main">
            <a:r>
              <a:t>  "number": 7,</a:t>
            </a:r>
          </a:p>
          <a:p xmlns:a="http://schemas.openxmlformats.org/drawingml/2006/main">
            <a:r>
              <a:t>  "direction": "균형있는 국민체감 서비스 실현",</a:t>
            </a:r>
          </a:p>
          <a:p xmlns:a="http://schemas.openxmlformats.org/drawingml/2006/main">
            <a:r>
              <a:t>  "strategy": "교통데이터 개방·연계 기반 서비스 편익 증대",</a:t>
            </a:r>
          </a:p>
          <a:p xmlns:a="http://schemas.openxmlformats.org/drawingml/2006/main">
            <a:r>
              <a:t>  "solution": "교통데이터 카탈로그·연계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"L04",</a:t>
            </a:r>
          </a:p>
          <a:p xmlns:a="http://schemas.openxmlformats.org/drawingml/2006/main">
            <a:r>
              <a:t>    "L10",</a:t>
            </a:r>
          </a:p>
          <a:p xmlns:a="http://schemas.openxmlformats.org/drawingml/2006/main">
            <a:r>
              <a:t>    "L15",</a:t>
            </a:r>
          </a:p>
          <a:p xmlns:a="http://schemas.openxmlformats.org/drawingml/2006/main">
            <a:r>
              <a:t>    "L16"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"1019600",</a:t>
            </a:r>
          </a:p>
          <a:p xmlns:a="http://schemas.openxmlformats.org/drawingml/2006/main">
            <a:r>
              <a:t>    "1019030",</a:t>
            </a:r>
          </a:p>
          <a:p xmlns:a="http://schemas.openxmlformats.org/drawingml/2006/main">
            <a:r>
              <a:t>    "1019400",</a:t>
            </a:r>
          </a:p>
          <a:p xmlns:a="http://schemas.openxmlformats.org/drawingml/2006/main">
            <a:r>
              <a:t>    "1019020",</a:t>
            </a:r>
          </a:p>
          <a:p xmlns:a="http://schemas.openxmlformats.org/drawingml/2006/main">
            <a:r>
              <a:t>    "1019010",</a:t>
            </a:r>
          </a:p>
          <a:p xmlns:a="http://schemas.openxmlformats.org/drawingml/2006/main">
            <a:r>
              <a:t>    "1019300",</a:t>
            </a:r>
          </a:p>
          <a:p xmlns:a="http://schemas.openxmlformats.org/drawingml/2006/main">
            <a:r>
              <a:t>    "1019500"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"교통·차량 데이터의 소재·권리·품질·활용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"데이터 정의·소유부서·용도·권한 카탈로그 구성",</a:t>
            </a:r>
          </a:p>
          <a:p xmlns:a="http://schemas.openxmlformats.org/drawingml/2006/main">
            <a:r>
              <a:t>    "기관 간 요청·승인·제공·결과 대사"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"데이터 카탈로그·제공 대사표",</a:t>
            </a:r>
          </a:p>
          <a:p xmlns:a="http://schemas.openxmlformats.org/drawingml/2006/main">
            <a:r>
              <a:t>  "acceptance": "권한별 검색 결과 분리·계약 필드 대사·회수 후 재접근 차단",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"GAI-T11"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"공공데이터 개방·표준",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인공지능(AI) 데이터 표준화 및 데이터 스페이스 구축",</a:t>
            </a:r>
          </a:p>
          <a:p xmlns:a="http://schemas.openxmlformats.org/drawingml/2006/main">
            <a:r>
              <a:t>        "5. 공공데이터 개방 및 관련 시스템 구축․관리, 공공데이터 활용성과 평가 대응"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"교통데이터 분석·결합",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"8. 빅데이터 결합 ․분석․활용 및 교통 빅데이터 플랫폼 구축사업"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통합정보 제공",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"택시·대중교통 정보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택시 운행정보 관리시스템 구축 및 운영",</a:t>
            </a:r>
          </a:p>
          <a:p xmlns:a="http://schemas.openxmlformats.org/drawingml/2006/main">
            <a:r>
              <a:t>        "10. 대중교통정보시스템(TAGO) 운영 등 ITS 관련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"현황조사·데이터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업무",</a:t>
            </a:r>
          </a:p>
          <a:p xmlns:a="http://schemas.openxmlformats.org/drawingml/2006/main">
            <a:r>
              <a:t>        "9. 첨단모빌리티 데이터 수집관리 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"데이터 품질관리",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"개인정보·접근 보안",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정보보안 및 개인정보보호 관련 제도 및 지침관리",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"교통데이터 제공·연계 지원",</a:t>
            </a:r>
          </a:p>
          <a:p xmlns:a="http://schemas.openxmlformats.org/drawingml/2006/main">
            <a:r>
              <a:t>  "delta": "공개 가능 필드·데이터 사전·API 요청 연결",</a:t>
            </a:r>
          </a:p>
          <a:p xmlns:a="http://schemas.openxmlformats.org/drawingml/2006/main">
            <a:r>
              <a:t>  "kpi": "연계 성공률 / 목적 외 노출 건수",</a:t>
            </a:r>
          </a:p>
          <a:p xmlns:a="http://schemas.openxmlformats.org/drawingml/2006/main">
            <a:r>
              <a:t>  "validation": "공개·내부 필드 혼합과 재식별 위험 입력 검증",</a:t>
            </a:r>
          </a:p>
          <a:p xmlns:a="http://schemas.openxmlformats.org/drawingml/2006/main">
            <a:r>
              <a:t>  "requirement": "BM-ST-07-R01",</a:t>
            </a:r>
          </a:p>
          <a:p xmlns:a="http://schemas.openxmlformats.org/drawingml/2006/main">
            <a:r>
              <a:t>  "test": "BM-ST-07-T01",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"데이터 탐색·연계 보완시간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"데이터 정의·필드, 소유부서, 제공목적·권한, 연계 명세",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"요청 목적·소관 분류",</a:t>
            </a:r>
          </a:p>
          <a:p xmlns:a="http://schemas.openxmlformats.org/drawingml/2006/main">
            <a:r>
              <a:t>    "필드·품질·제공조건 대조",</a:t>
            </a:r>
          </a:p>
          <a:p xmlns:a="http://schemas.openxmlformats.org/drawingml/2006/main">
            <a:r>
              <a:t>    "승인된 제공경로 연결",</a:t>
            </a:r>
          </a:p>
          <a:p xmlns:a="http://schemas.openxmlformats.org/drawingml/2006/main">
            <a:r>
              <a:t>    "수신 대사·회수 반영"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"공공데이터 개방·표준",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인공지능(AI) 데이터 표준화 및 데이터 스페이스 구축",</a:t>
            </a:r>
          </a:p>
          <a:p xmlns:a="http://schemas.openxmlformats.org/drawingml/2006/main">
            <a:r>
              <a:t>        "5. 공공데이터 개방 및 관련 시스템 구축․관리, 공공데이터 활용성과 평가 대응"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"RULEWORK-1019600-3",</a:t>
            </a:r>
          </a:p>
          <a:p xmlns:a="http://schemas.openxmlformats.org/drawingml/2006/main">
            <a:r>
              <a:t>          "text": "3. 인공지능(AI) 데이터 표준화 및 데이터 스페이스 구축",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"RULEWORK-1019600-3-T01",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"RULEWORK-1019600-5",</a:t>
            </a:r>
          </a:p>
          <a:p xmlns:a="http://schemas.openxmlformats.org/drawingml/2006/main">
            <a:r>
              <a:t>          "text": "5. 공공데이터 개방 및 관련 시스템 구축․관리, 공공데이터 활용성과 평가 대응",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"RULEWORK-1019600-5-T01",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"RULEWORK-1019600-5-T02",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"교통데이터 분석·결합",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"8. 빅데이터 결합 ․분석․활용 및 교통 빅데이터 플랫폼 구축사업"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"RULEWORK-1019030-3",</a:t>
            </a:r>
          </a:p>
          <a:p xmlns:a="http://schemas.openxmlformats.org/drawingml/2006/main">
            <a:r>
              <a:t>          "text": "3. 운행기록데이터 관리·분석·활용 및 정책지원",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"RULEWORK-1019030-8",</a:t>
            </a:r>
          </a:p>
          <a:p xmlns:a="http://schemas.openxmlformats.org/drawingml/2006/main">
            <a:r>
              <a:t>          "text": "8. 빅데이터 결합 ․분석․활용 및 교통 빅데이터 플랫폼 구축사업",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통합정보 제공",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"RULEWORK-1019400-3",</a:t>
            </a:r>
          </a:p>
          <a:p xmlns:a="http://schemas.openxmlformats.org/drawingml/2006/main">
            <a:r>
              <a:t>          "text": "3. 자동차토털이력관리시스템 운영",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"RULEWORK-1019400-8",</a:t>
            </a:r>
          </a:p>
          <a:p xmlns:a="http://schemas.openxmlformats.org/drawingml/2006/main">
            <a:r>
              <a:t>          "text": "8. 자동차정보 통합서비스 제공 업무",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"택시·대중교통 정보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택시 운행정보 관리시스템 구축 및 운영",</a:t>
            </a:r>
          </a:p>
          <a:p xmlns:a="http://schemas.openxmlformats.org/drawingml/2006/main">
            <a:r>
              <a:t>        "10. 대중교통정보시스템(TAGO) 운영 등 ITS 관련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"RULEWORK-1019020-2",</a:t>
            </a:r>
          </a:p>
          <a:p xmlns:a="http://schemas.openxmlformats.org/drawingml/2006/main">
            <a:r>
              <a:t>          "text": "2. 택시 운행정보 관리시스템 구축 및 운영",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"RULEWORK-1019020-2-T01",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"RULEWORK-1019020-2-T02",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"RULEWORK-1019020-10",</a:t>
            </a:r>
          </a:p>
          <a:p xmlns:a="http://schemas.openxmlformats.org/drawingml/2006/main">
            <a:r>
              <a:t>          "text": "10. 대중교통정보시스템(TAGO) 운영 등 ITS 관련 업무",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"지역·시간·배차 제약과 요청 맥락 분류",</a:t>
            </a:r>
          </a:p>
          <a:p xmlns:a="http://schemas.openxmlformats.org/drawingml/2006/main">
            <a:r>
              <a:t>              "output": "조건·예외·변경 요청·결과 대사표",</a:t>
            </a:r>
          </a:p>
          <a:p xmlns:a="http://schemas.openxmlformats.org/drawingml/2006/main">
            <a:r>
              <a:t>              "testId": "RULEWORK-1019020-10-T01",</a:t>
            </a:r>
          </a:p>
          <a:p xmlns:a="http://schemas.openxmlformats.org/drawingml/2006/main">
            <a:r>
              <a:t>              "criterion": "운영 상태·조건별 가능한 후보와 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"기존 운영시스템 조회·승인 후 변경 결과 대사",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"RULEWORK-1019020-10-T02",</a:t>
            </a:r>
          </a:p>
          <a:p xmlns:a="http://schemas.openxmlformats.org/drawingml/2006/main">
            <a:r>
              <a:t>              "criterion": "운영자 확인 전 변경 및 중복 배차 요청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"현황조사·데이터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업무",</a:t>
            </a:r>
          </a:p>
          <a:p xmlns:a="http://schemas.openxmlformats.org/drawingml/2006/main">
            <a:r>
              <a:t>        "9. 첨단모빌리티 데이터 수집관리 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"RULEWORK-1019010-7",</a:t>
            </a:r>
          </a:p>
          <a:p xmlns:a="http://schemas.openxmlformats.org/drawingml/2006/main">
            <a:r>
              <a:t>          "text": "7. 대중교통 현황조사에 관한 업무",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"RULEWORK-1019010-7-T01",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"RULEWORK-1019010-7-T02",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"RULEWORK-1019010-8",</a:t>
            </a:r>
          </a:p>
          <a:p xmlns:a="http://schemas.openxmlformats.org/drawingml/2006/main">
            <a:r>
              <a:t>          "text": "9. 첨단모빌리티 데이터 수집관리 지원",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"RULEWORK-1019010-8-T01",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"RULEWORK-1019010-8-T02",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"데이터 품질관리",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"RULEWORK-1019300-20",</a:t>
            </a:r>
          </a:p>
          <a:p xmlns:a="http://schemas.openxmlformats.org/drawingml/2006/main">
            <a:r>
              <a:t>          "text": "20. 데이터 품질관리",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"RULEWORK-1019300-20-T01",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"RULEWORK-1019300-20-T02",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"RULEWORK-1019300-20-T03",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"개인정보·접근 보안",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정보보안 및 개인정보보호 관련 제도 및 지침관리",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"RULEWORK-1019500-2",</a:t>
            </a:r>
          </a:p>
          <a:p xmlns:a="http://schemas.openxmlformats.org/drawingml/2006/main">
            <a:r>
              <a:t>          "text": "2. 정보보안 및 개인정보보호 관련 제도 및 지침관리",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"RULEWORK-1019500-2-T01",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"RULEWORK-1019500-2-T02",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"RULEWORK-1019500-10",</a:t>
            </a:r>
          </a:p>
          <a:p xmlns:a="http://schemas.openxmlformats.org/drawingml/2006/main">
            <a:r>
              <a:t>          "text": "10. 개인정보보호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"RULEWORK-1019500-10-T01",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"RULEWORK-1019500-10-T02",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자료 검색·질의 지원"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"목적·필드별 정책 카탈로그",</a:t>
            </a:r>
          </a:p>
          <a:p xmlns:a="http://schemas.openxmlformats.org/drawingml/2006/main">
            <a:r>
              <a:t>    "요청–승인–제공–회수 연결 어댑터"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"공개/내부 필드 혼합, 스키마 변경, 권한 회수",</a:t>
            </a:r>
          </a:p>
          <a:p xmlns:a="http://schemas.openxmlformats.org/drawingml/2006/main">
            <a:r>
              <a:t>    "criterion": "허용 필드만 제공·불일치 보류·회수 후 캐시 차단",</a:t>
            </a:r>
          </a:p>
          <a:p xmlns:a="http://schemas.openxmlformats.org/drawingml/2006/main">
            <a:r>
              <a:t>    "evidence": "필드 대사표·거부셋 결과·회수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"승인 조건 충족 연계 수 ÷ 연계 시도 수 / 목적 외 노출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"PF-R07",</a:t>
            </a:r>
          </a:p>
          <a:p xmlns:a="http://schemas.openxmlformats.org/drawingml/2006/main">
            <a:r>
              <a:t>    "PF-R08",</a:t>
            </a:r>
          </a:p>
          <a:p xmlns:a="http://schemas.openxmlformats.org/drawingml/2006/main">
            <a:r>
              <a:t>    "PF03",</a:t>
            </a:r>
          </a:p>
          <a:p xmlns:a="http://schemas.openxmlformats.org/drawingml/2006/main">
            <a:r>
              <a:t>    "PF06"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"ST-07",</a:t>
            </a:r>
          </a:p>
          <a:p xmlns:a="http://schemas.openxmlformats.org/drawingml/2006/main">
            <a:r>
              <a:t>  "number": 7,</a:t>
            </a:r>
          </a:p>
          <a:p xmlns:a="http://schemas.openxmlformats.org/drawingml/2006/main">
            <a:r>
              <a:t>  "direction": "균형있는 국민체감 서비스 실현",</a:t>
            </a:r>
          </a:p>
          <a:p xmlns:a="http://schemas.openxmlformats.org/drawingml/2006/main">
            <a:r>
              <a:t>  "strategy": "교통데이터 개방·연계 기반 서비스 편익 증대",</a:t>
            </a:r>
          </a:p>
          <a:p xmlns:a="http://schemas.openxmlformats.org/drawingml/2006/main">
            <a:r>
              <a:t>  "solution": "교통데이터 카탈로그·연계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"L04",</a:t>
            </a:r>
          </a:p>
          <a:p xmlns:a="http://schemas.openxmlformats.org/drawingml/2006/main">
            <a:r>
              <a:t>    "L10",</a:t>
            </a:r>
          </a:p>
          <a:p xmlns:a="http://schemas.openxmlformats.org/drawingml/2006/main">
            <a:r>
              <a:t>    "L15",</a:t>
            </a:r>
          </a:p>
          <a:p xmlns:a="http://schemas.openxmlformats.org/drawingml/2006/main">
            <a:r>
              <a:t>    "L16"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"1019600",</a:t>
            </a:r>
          </a:p>
          <a:p xmlns:a="http://schemas.openxmlformats.org/drawingml/2006/main">
            <a:r>
              <a:t>    "1019030",</a:t>
            </a:r>
          </a:p>
          <a:p xmlns:a="http://schemas.openxmlformats.org/drawingml/2006/main">
            <a:r>
              <a:t>    "1019400",</a:t>
            </a:r>
          </a:p>
          <a:p xmlns:a="http://schemas.openxmlformats.org/drawingml/2006/main">
            <a:r>
              <a:t>    "1019020",</a:t>
            </a:r>
          </a:p>
          <a:p xmlns:a="http://schemas.openxmlformats.org/drawingml/2006/main">
            <a:r>
              <a:t>    "1019010",</a:t>
            </a:r>
          </a:p>
          <a:p xmlns:a="http://schemas.openxmlformats.org/drawingml/2006/main">
            <a:r>
              <a:t>    "1019300",</a:t>
            </a:r>
          </a:p>
          <a:p xmlns:a="http://schemas.openxmlformats.org/drawingml/2006/main">
            <a:r>
              <a:t>    "1019500"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"교통·차량 데이터의 소재·권리·품질·활용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"데이터 정의·소유부서·용도·권한 카탈로그 구성",</a:t>
            </a:r>
          </a:p>
          <a:p xmlns:a="http://schemas.openxmlformats.org/drawingml/2006/main">
            <a:r>
              <a:t>    "기관 간 요청·승인·제공·결과 대사"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"데이터 카탈로그·제공 대사표",</a:t>
            </a:r>
          </a:p>
          <a:p xmlns:a="http://schemas.openxmlformats.org/drawingml/2006/main">
            <a:r>
              <a:t>  "acceptance": "권한별 검색 결과 분리·계약 필드 대사·회수 후 재접근 차단",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"GAI-T09",</a:t>
            </a:r>
          </a:p>
          <a:p xmlns:a="http://schemas.openxmlformats.org/drawingml/2006/main">
            <a:r>
              <a:t>    "GAI-T11"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"공공데이터 개방·표준",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인공지능(AI) 데이터 표준화 및 데이터 스페이스 구축",</a:t>
            </a:r>
          </a:p>
          <a:p xmlns:a="http://schemas.openxmlformats.org/drawingml/2006/main">
            <a:r>
              <a:t>        "5. 공공데이터 개방 및 관련 시스템 구축․관리, 공공데이터 활용성과 평가 대응"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"교통데이터 분석·결합",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"8. 빅데이터 결합 ․분석․활용 및 교통 빅데이터 플랫폼 구축사업"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통합정보 제공",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"택시·대중교통 정보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택시 운행정보 관리시스템 구축 및 운영",</a:t>
            </a:r>
          </a:p>
          <a:p xmlns:a="http://schemas.openxmlformats.org/drawingml/2006/main">
            <a:r>
              <a:t>        "10. 대중교통정보시스템(TAGO) 운영 등 ITS 관련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"현황조사·데이터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업무",</a:t>
            </a:r>
          </a:p>
          <a:p xmlns:a="http://schemas.openxmlformats.org/drawingml/2006/main">
            <a:r>
              <a:t>        "9. 첨단모빌리티 데이터 수집관리 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"데이터 품질관리",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"개인정보·접근 보안",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정보보안 및 개인정보보호 관련 제도 및 지침관리",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"AX23",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"교통데이터 제공·연계 지원",</a:t>
            </a:r>
          </a:p>
          <a:p xmlns:a="http://schemas.openxmlformats.org/drawingml/2006/main">
            <a:r>
              <a:t>  "delta": "공개 가능 필드·데이터 사전·API 요청 연결",</a:t>
            </a:r>
          </a:p>
          <a:p xmlns:a="http://schemas.openxmlformats.org/drawingml/2006/main">
            <a:r>
              <a:t>  "kpi": "연계 성공률 / 목적 외 노출 건수",</a:t>
            </a:r>
          </a:p>
          <a:p xmlns:a="http://schemas.openxmlformats.org/drawingml/2006/main">
            <a:r>
              <a:t>  "validation": "공개·내부 필드 혼합과 재식별 위험 입력 검증",</a:t>
            </a:r>
          </a:p>
          <a:p xmlns:a="http://schemas.openxmlformats.org/drawingml/2006/main">
            <a:r>
              <a:t>  "requirement": "BM-ST-07-R01",</a:t>
            </a:r>
          </a:p>
          <a:p xmlns:a="http://schemas.openxmlformats.org/drawingml/2006/main">
            <a:r>
              <a:t>  "test": "BM-ST-07-T01",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"데이터 탐색·연계 보완시간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"데이터 정의·필드, 소유부서, 제공목적·권한, 연계 명세",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"요청 목적·소관 분류",</a:t>
            </a:r>
          </a:p>
          <a:p xmlns:a="http://schemas.openxmlformats.org/drawingml/2006/main">
            <a:r>
              <a:t>    "필드·품질·제공조건 대조",</a:t>
            </a:r>
          </a:p>
          <a:p xmlns:a="http://schemas.openxmlformats.org/drawingml/2006/main">
            <a:r>
              <a:t>    "승인된 제공경로 연결",</a:t>
            </a:r>
          </a:p>
          <a:p xmlns:a="http://schemas.openxmlformats.org/drawingml/2006/main">
            <a:r>
              <a:t>    "수신 대사·회수 반영"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"공공데이터 개방·표준",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인공지능(AI) 데이터 표준화 및 데이터 스페이스 구축",</a:t>
            </a:r>
          </a:p>
          <a:p xmlns:a="http://schemas.openxmlformats.org/drawingml/2006/main">
            <a:r>
              <a:t>        "5. 공공데이터 개방 및 관련 시스템 구축․관리, 공공데이터 활용성과 평가 대응"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"RULEWORK-1019600-3",</a:t>
            </a:r>
          </a:p>
          <a:p xmlns:a="http://schemas.openxmlformats.org/drawingml/2006/main">
            <a:r>
              <a:t>          "text": "3. 인공지능(AI) 데이터 표준화 및 데이터 스페이스 구축",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"RULEWORK-1019600-3-T01",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"RULEWORK-1019600-5",</a:t>
            </a:r>
          </a:p>
          <a:p xmlns:a="http://schemas.openxmlformats.org/drawingml/2006/main">
            <a:r>
              <a:t>          "text": "5. 공공데이터 개방 및 관련 시스템 구축․관리, 공공데이터 활용성과 평가 대응",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"RULEWORK-1019600-5-T01",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"RULEWORK-1019600-5-T02",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"1019030",</a:t>
            </a:r>
          </a:p>
          <a:p xmlns:a="http://schemas.openxmlformats.org/drawingml/2006/main">
            <a:r>
              <a:t>      "name": "데이터융복합처",</a:t>
            </a:r>
          </a:p>
          <a:p xmlns:a="http://schemas.openxmlformats.org/drawingml/2006/main">
            <a:r>
              <a:t>      "job": "교통데이터 분석·결합",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운행기록데이터 관리·분석·활용 및 정책지원",</a:t>
            </a:r>
          </a:p>
          <a:p xmlns:a="http://schemas.openxmlformats.org/drawingml/2006/main">
            <a:r>
              <a:t>        "8. 빅데이터 결합 ․분석․활용 및 교통 빅데이터 플랫폼 구축사업"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"RULEWORK-1019030-3",</a:t>
            </a:r>
          </a:p>
          <a:p xmlns:a="http://schemas.openxmlformats.org/drawingml/2006/main">
            <a:r>
              <a:t>          "text": "3. 운행기록데이터 관리·분석·활용 및 정책지원",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"RULEWORK-1019030-8",</a:t>
            </a:r>
          </a:p>
          <a:p xmlns:a="http://schemas.openxmlformats.org/drawingml/2006/main">
            <a:r>
              <a:t>          "text": "8. 빅데이터 결합 ․분석․활용 및 교통 빅데이터 플랫폼 구축사업",</a:t>
            </a:r>
          </a:p>
          <a:p xmlns:a="http://schemas.openxmlformats.org/drawingml/2006/main">
            <a:r>
              <a:t>          "locator": "별표4 · T39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"RULEWORK-1019030-8-T01",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"RULEWORK-1019030-8-T02",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"RULEWORK-1019030-8-R03",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"RULEWORK-1019030-8-T03",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"1019400",</a:t>
            </a:r>
          </a:p>
          <a:p xmlns:a="http://schemas.openxmlformats.org/drawingml/2006/main">
            <a:r>
              <a:t>      "name": "자동차정보처",</a:t>
            </a:r>
          </a:p>
          <a:p xmlns:a="http://schemas.openxmlformats.org/drawingml/2006/main">
            <a:r>
              <a:t>      "job": "자동차 통합정보 제공",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자동차토털이력관리시스템 운영",</a:t>
            </a:r>
          </a:p>
          <a:p xmlns:a="http://schemas.openxmlformats.org/drawingml/2006/main">
            <a:r>
              <a:t>        "8. 자동차정보 통합서비스 제공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"RULEWORK-1019400-3",</a:t>
            </a:r>
          </a:p>
          <a:p xmlns:a="http://schemas.openxmlformats.org/drawingml/2006/main">
            <a:r>
              <a:t>          "text": "3. 자동차토털이력관리시스템 운영",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"RULEWORK-1019400-3-T01",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"RULEWORK-1019400-3-T02",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"RULEWORK-1019400-8",</a:t>
            </a:r>
          </a:p>
          <a:p xmlns:a="http://schemas.openxmlformats.org/drawingml/2006/main">
            <a:r>
              <a:t>          "text": "8. 자동차정보 통합서비스 제공 업무",</a:t>
            </a:r>
          </a:p>
          <a:p xmlns:a="http://schemas.openxmlformats.org/drawingml/2006/main">
            <a:r>
              <a:t>          "locator": "별표4 · T37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"용어·필드·판본·품질 규칙 대응",</a:t>
            </a:r>
          </a:p>
          <a:p xmlns:a="http://schemas.openxmlformats.org/drawingml/2006/main">
            <a:r>
              <a:t>              "output": "품질 점검표·제공 명세·변경 이력",</a:t>
            </a:r>
          </a:p>
          <a:p xmlns:a="http://schemas.openxmlformats.org/drawingml/2006/main">
            <a:r>
              <a:t>              "testId": "RULEWORK-1019400-8-T01",</a:t>
            </a:r>
          </a:p>
          <a:p xmlns:a="http://schemas.openxmlformats.org/drawingml/2006/main">
            <a:r>
              <a:t>              "criterion": "누락·중복·단위·기간·정의의 원천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"소유부서 승인·제공 이력·접근정책 연계",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"RULEWORK-1019400-8-T02",</a:t>
            </a:r>
          </a:p>
          <a:p xmlns:a="http://schemas.openxmlformats.org/drawingml/2006/main">
            <a:r>
              <a:t>              "criterion": "공개 제한 필드·만료된 제공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"RULEWORK-1019400-8-R03",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"RULEWORK-1019400-8-T03",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"택시·대중교통 정보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택시 운행정보 관리시스템 구축 및 운영",</a:t>
            </a:r>
          </a:p>
          <a:p xmlns:a="http://schemas.openxmlformats.org/drawingml/2006/main">
            <a:r>
              <a:t>        "10. 대중교통정보시스템(TAGO) 운영 등 ITS 관련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"RULEWORK-1019020-2",</a:t>
            </a:r>
          </a:p>
          <a:p xmlns:a="http://schemas.openxmlformats.org/drawingml/2006/main">
            <a:r>
              <a:t>          "text": "2. 택시 운행정보 관리시스템 구축 및 운영",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"RULEWORK-1019020-2-T01",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"RULEWORK-1019020-2-T02",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"RULEWORK-1019020-10",</a:t>
            </a:r>
          </a:p>
          <a:p xmlns:a="http://schemas.openxmlformats.org/drawingml/2006/main">
            <a:r>
              <a:t>          "text": "10. 대중교통정보시스템(TAGO) 운영 등 ITS 관련 업무",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"지역·시간·배차 제약과 요청 맥락 분류",</a:t>
            </a:r>
          </a:p>
          <a:p xmlns:a="http://schemas.openxmlformats.org/drawingml/2006/main">
            <a:r>
              <a:t>              "output": "조건·예외·변경 요청·결과 대사표",</a:t>
            </a:r>
          </a:p>
          <a:p xmlns:a="http://schemas.openxmlformats.org/drawingml/2006/main">
            <a:r>
              <a:t>              "testId": "RULEWORK-1019020-10-T01",</a:t>
            </a:r>
          </a:p>
          <a:p xmlns:a="http://schemas.openxmlformats.org/drawingml/2006/main">
            <a:r>
              <a:t>              "criterion": "운영 상태·조건별 가능한 후보와 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"기존 운영시스템 조회·승인 후 변경 결과 대사",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"RULEWORK-1019020-10-T02",</a:t>
            </a:r>
          </a:p>
          <a:p xmlns:a="http://schemas.openxmlformats.org/drawingml/2006/main">
            <a:r>
              <a:t>              "criterion": "운영자 확인 전 변경 및 중복 배차 요청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"현황조사·데이터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6,</a:t>
            </a:r>
          </a:p>
          <a:p xmlns:a="http://schemas.openxmlformats.org/drawingml/2006/main">
            <a:r>
              <a:t>        7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업무",</a:t>
            </a:r>
          </a:p>
          <a:p xmlns:a="http://schemas.openxmlformats.org/drawingml/2006/main">
            <a:r>
              <a:t>        "9. 첨단모빌리티 데이터 수집관리 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"RULEWORK-1019010-7",</a:t>
            </a:r>
          </a:p>
          <a:p xmlns:a="http://schemas.openxmlformats.org/drawingml/2006/main">
            <a:r>
              <a:t>          "text": "7. 대중교통 현황조사에 관한 업무",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"RULEWORK-1019010-7-T01",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"RULEWORK-1019010-7-T02",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"RULEWORK-1019010-8",</a:t>
            </a:r>
          </a:p>
          <a:p xmlns:a="http://schemas.openxmlformats.org/drawingml/2006/main">
            <a:r>
              <a:t>          "text": "9. 첨단모빌리티 데이터 수집관리 지원",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"RULEWORK-1019010-8-T01",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"RULEWORK-1019010-8-T02",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"1019300",</a:t>
            </a:r>
          </a:p>
          <a:p xmlns:a="http://schemas.openxmlformats.org/drawingml/2006/main">
            <a:r>
              <a:t>      "name": "디지털기획처",</a:t>
            </a:r>
          </a:p>
          <a:p xmlns:a="http://schemas.openxmlformats.org/drawingml/2006/main">
            <a:r>
              <a:t>      "job": "데이터 품질관리",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"20. 데이터 품질관리"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"RULEWORK-1019300-20",</a:t>
            </a:r>
          </a:p>
          <a:p xmlns:a="http://schemas.openxmlformats.org/drawingml/2006/main">
            <a:r>
              <a:t>          "text": "20. 데이터 품질관리",</a:t>
            </a:r>
          </a:p>
          <a:p xmlns:a="http://schemas.openxmlformats.org/drawingml/2006/main">
            <a:r>
              <a:t>          "locator": "별표4 · T37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"RULEWORK-1019300-20-T01",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"RULEWORK-1019300-20-T02",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"RULEWORK-1019300-20-R03",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"RULEWORK-1019300-20-T03",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"1019500",</a:t>
            </a:r>
          </a:p>
          <a:p xmlns:a="http://schemas.openxmlformats.org/drawingml/2006/main">
            <a:r>
              <a:t>      "name": "정보보안처",</a:t>
            </a:r>
          </a:p>
          <a:p xmlns:a="http://schemas.openxmlformats.org/drawingml/2006/main">
            <a:r>
              <a:t>      "job": "개인정보·접근 보안",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정보보안 및 개인정보보호 관련 제도 및 지침관리",</a:t>
            </a:r>
          </a:p>
          <a:p xmlns:a="http://schemas.openxmlformats.org/drawingml/2006/main">
            <a:r>
              <a:t>        "10. 개인정보보호 업무총괄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"RULEWORK-1019500-2",</a:t>
            </a:r>
          </a:p>
          <a:p xmlns:a="http://schemas.openxmlformats.org/drawingml/2006/main">
            <a:r>
              <a:t>          "text": "2. 정보보안 및 개인정보보호 관련 제도 및 지침관리",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"RULEWORK-1019500-2-T01",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"RULEWORK-1019500-2-T02",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"RULEWORK-1019500-10",</a:t>
            </a:r>
          </a:p>
          <a:p xmlns:a="http://schemas.openxmlformats.org/drawingml/2006/main">
            <a:r>
              <a:t>          "text": "10. 개인정보보호 업무총괄 관리",</a:t>
            </a:r>
          </a:p>
          <a:p xmlns:a="http://schemas.openxmlformats.org/drawingml/2006/main">
            <a:r>
              <a:t>          "locator": "별표4 · T37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"문서·필드·행위별 제한 분류",</a:t>
            </a:r>
          </a:p>
          <a:p xmlns:a="http://schemas.openxmlformats.org/drawingml/2006/main">
            <a:r>
              <a:t>              "output": "통제항목·허용·거부·보완 대장",</a:t>
            </a:r>
          </a:p>
          <a:p xmlns:a="http://schemas.openxmlformats.org/drawingml/2006/main">
            <a:r>
              <a:t>              "testId": "RULEWORK-1019500-10-T01",</a:t>
            </a:r>
          </a:p>
          <a:p xmlns:a="http://schemas.openxmlformats.org/drawingml/2006/main">
            <a:r>
              <a:t>              "criterion": "민감 필드 누락·과잉 마스킹·근거 위치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"검색·생성·반출·대기 작업의 정책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"RULEWORK-1019500-10-T02",</a:t>
            </a:r>
          </a:p>
          <a:p xmlns:a="http://schemas.openxmlformats.org/drawingml/2006/main">
            <a:r>
              <a:t>              "criterion": "비인가 노출·실행 0건 및 회수 후 재접근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"RULEWORK-1019500-10-R03",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"RULEWORK-1019500-10-T03",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자료 검색·질의 지원"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"CCK-03",</a:t>
            </a:r>
          </a:p>
          <a:p xmlns:a="http://schemas.openxmlformats.org/drawingml/2006/main">
            <a:r>
              <a:t>      "use": "Connor 명세의 실행·로그 경계"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"목적·필드별 정책 카탈로그",</a:t>
            </a:r>
          </a:p>
          <a:p xmlns:a="http://schemas.openxmlformats.org/drawingml/2006/main">
            <a:r>
              <a:t>    "요청–승인–제공–회수 연결 어댑터"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"공개/내부 필드 혼합, 스키마 변경, 권한 회수",</a:t>
            </a:r>
          </a:p>
          <a:p xmlns:a="http://schemas.openxmlformats.org/drawingml/2006/main">
            <a:r>
              <a:t>    "criterion": "허용 필드만 제공·불일치 보류·회수 후 캐시 차단",</a:t>
            </a:r>
          </a:p>
          <a:p xmlns:a="http://schemas.openxmlformats.org/drawingml/2006/main">
            <a:r>
              <a:t>    "evidence": "필드 대사표·거부셋 결과·회수 로그",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"승인 조건 충족 연계 수 ÷ 연계 시도 수 / 목적 외 노출 건수",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"PF-R07",</a:t>
            </a:r>
          </a:p>
          <a:p xmlns:a="http://schemas.openxmlformats.org/drawingml/2006/main">
            <a:r>
              <a:t>    "PF-R08",</a:t>
            </a:r>
          </a:p>
          <a:p xmlns:a="http://schemas.openxmlformats.org/drawingml/2006/main">
            <a:r>
              <a:t>    "PF03",</a:t>
            </a:r>
          </a:p>
          <a:p xmlns:a="http://schemas.openxmlformats.org/drawingml/2006/main">
            <a:r>
              <a:t>    "PF06"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"ST-08",</a:t>
            </a:r>
          </a:p>
          <a:p xmlns:a="http://schemas.openxmlformats.org/drawingml/2006/main">
            <a:r>
              <a:t>  "number": 8,</a:t>
            </a:r>
          </a:p>
          <a:p xmlns:a="http://schemas.openxmlformats.org/drawingml/2006/main">
            <a:r>
              <a:t>  "direction": "균형있는 국민체감 서비스 실현",</a:t>
            </a:r>
          </a:p>
          <a:p xmlns:a="http://schemas.openxmlformats.org/drawingml/2006/main">
            <a:r>
              <a:t>  "strategy": "생활 밀착형 이동 서비스 확대",</a:t>
            </a:r>
          </a:p>
          <a:p xmlns:a="http://schemas.openxmlformats.org/drawingml/2006/main">
            <a:r>
              <a:t>  "solution": "국민 이동·신청 절차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"L11",</a:t>
            </a:r>
          </a:p>
          <a:p xmlns:a="http://schemas.openxmlformats.org/drawingml/2006/main">
            <a:r>
              <a:t>    "L15",</a:t>
            </a:r>
          </a:p>
          <a:p xmlns:a="http://schemas.openxmlformats.org/drawingml/2006/main">
            <a:r>
              <a:t>    "L16",</a:t>
            </a:r>
          </a:p>
          <a:p xmlns:a="http://schemas.openxmlformats.org/drawingml/2006/main">
            <a:r>
              <a:t>    "L17"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"1019020",</a:t>
            </a:r>
          </a:p>
          <a:p xmlns:a="http://schemas.openxmlformats.org/drawingml/2006/main">
            <a:r>
              <a:t>    "1019010",</a:t>
            </a:r>
          </a:p>
          <a:p xmlns:a="http://schemas.openxmlformats.org/drawingml/2006/main">
            <a:r>
              <a:t>    "1022030",</a:t>
            </a:r>
          </a:p>
          <a:p xmlns:a="http://schemas.openxmlformats.org/drawingml/2006/main">
            <a:r>
              <a:t>    "1022010"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"이동정보·교통약자·자격·현장 서비스의 안내·인계",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"이용 목적·지역별 절차·서류·담당 창구 구성",</a:t>
            </a:r>
          </a:p>
          <a:p xmlns:a="http://schemas.openxmlformats.org/drawingml/2006/main">
            <a:r>
              <a:t>    "국민 문의와 소관 부서 처리상태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"목적별 안내·필수서류·인계 기록",</a:t>
            </a:r>
          </a:p>
          <a:p xmlns:a="http://schemas.openxmlformats.org/drawingml/2006/main">
            <a:r>
              <a:t>  "acceptance": "공개 지식만 사용한 안내·기관 내부정보 차단·담당 창구 일치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"이동정보·교통약자 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수요응답형(DRT) 대중교통 시스템 구축 및 운영",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"대중교통 현황조사",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"운수종사자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운수종사자 입․퇴사 정보, 교통사고정보 관리 및 부적격운전자 통보",</a:t>
            </a:r>
          </a:p>
          <a:p xmlns:a="http://schemas.openxmlformats.org/drawingml/2006/main">
            <a:r>
              <a:t>        "9. 운수종사자관리정보시스템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"1022010",</a:t>
            </a:r>
          </a:p>
          <a:p xmlns:a="http://schemas.openxmlformats.org/drawingml/2006/main">
            <a:r>
              <a:t>      "name": "자격교육처",</a:t>
            </a:r>
          </a:p>
          <a:p xmlns:a="http://schemas.openxmlformats.org/drawingml/2006/main">
            <a:r>
              <a:t>      "job": "자격·적성검사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20,</a:t>
            </a:r>
          </a:p>
          <a:p xmlns:a="http://schemas.openxmlformats.org/drawingml/2006/main">
            <a:r>
              <a:t>        31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"21. 운전적성정밀검사(신규, 특별, 버스‧택시‧화물 자격유지 등), 국가자격시험(버스, 화물, 택시, 교통안전관리자), 사업계획 수립 및 관련법령 개정 등 제도개선",</a:t>
            </a:r>
          </a:p>
          <a:p xmlns:a="http://schemas.openxmlformats.org/drawingml/2006/main">
            <a:r>
              <a:t>        "32. 화물․버스․택시 운전 및 교통안전관리자 자격증 발급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"법정 자격·조사·운행정보 업무의 안내·인계 지원 / 개별 지원사업 자격·지급 판정은 별도 과업",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"AX02",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"자연어·음성 이동 서비스 접점",</a:t>
            </a:r>
          </a:p>
          <a:p xmlns:a="http://schemas.openxmlformats.org/drawingml/2006/main">
            <a:r>
              <a:t>  "delta": "발화 정리·필수 항목 확인·소관 서비스 연결",</a:t>
            </a:r>
          </a:p>
          <a:p xmlns:a="http://schemas.openxmlformats.org/drawingml/2006/main">
            <a:r>
              <a:t>  "kpi": "정보약자 도달률 / 포기율",</a:t>
            </a:r>
          </a:p>
          <a:p xmlns:a="http://schemas.openxmlformats.org/drawingml/2006/main">
            <a:r>
              <a:t>  "validation": "기존 메뉴와 사용자군별 과업 비교·상담 전환",</a:t>
            </a:r>
          </a:p>
          <a:p xmlns:a="http://schemas.openxmlformats.org/drawingml/2006/main">
            <a:r>
              <a:t>  "requirement": "BM-ST-08-R01",</a:t>
            </a:r>
          </a:p>
          <a:p xmlns:a="http://schemas.openxmlformats.org/drawingml/2006/main">
            <a:r>
              <a:t>  "test": "BM-ST-08-T01",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"국민의 서비스 탐색·발화 재입력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"공개 서비스 목록, 지역·대상·필수서류, 텍스트·음성 요청",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"발화·업무 목적 정리",</a:t>
            </a:r>
          </a:p>
          <a:p xmlns:a="http://schemas.openxmlformats.org/drawingml/2006/main">
            <a:r>
              <a:t>    "이용자 필수 항목 확인",</a:t>
            </a:r>
          </a:p>
          <a:p xmlns:a="http://schemas.openxmlformats.org/drawingml/2006/main">
            <a:r>
              <a:t>    "소관·공식 서비스 연결",</a:t>
            </a:r>
          </a:p>
          <a:p xmlns:a="http://schemas.openxmlformats.org/drawingml/2006/main">
            <a:r>
              <a:t>    "인증·상담 인계·완료 확인"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"이동정보·교통약자 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수요응답형(DRT) 대중교통 시스템 구축 및 운영",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"RULEWORK-1019020-3",</a:t>
            </a:r>
          </a:p>
          <a:p xmlns:a="http://schemas.openxmlformats.org/drawingml/2006/main">
            <a:r>
              <a:t>          "text": "3. 수요응답형(DRT) 대중교통 시스템 구축 및 운영",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"지역·시간·배차 제약과 요청 맥락 분류",</a:t>
            </a:r>
          </a:p>
          <a:p xmlns:a="http://schemas.openxmlformats.org/drawingml/2006/main">
            <a:r>
              <a:t>              "output": "조건·예외·변경 요청·결과 대사표",</a:t>
            </a:r>
          </a:p>
          <a:p xmlns:a="http://schemas.openxmlformats.org/drawingml/2006/main">
            <a:r>
              <a:t>              "testId": "RULEWORK-1019020-3-T01",</a:t>
            </a:r>
          </a:p>
          <a:p xmlns:a="http://schemas.openxmlformats.org/drawingml/2006/main">
            <a:r>
              <a:t>              "criterion": "운영 상태·조건별 가능한 후보와 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"기존 운영시스템 조회·승인 후 변경 결과 대사",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"RULEWORK-1019020-3-T02",</a:t>
            </a:r>
          </a:p>
          <a:p xmlns:a="http://schemas.openxmlformats.org/drawingml/2006/main">
            <a:r>
              <a:t>              "criterion": "운영자 확인 전 변경 및 중복 배차 요청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"RULEWORK-1019020-23",</a:t>
            </a:r>
          </a:p>
          <a:p xmlns:a="http://schemas.openxmlformats.org/drawingml/2006/main">
            <a:r>
              <a:t>          "text": "23. 교통약자 이동편의실태조사 및 자료관리",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"RULEWORK-1019020-23-T01",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"RULEWORK-1019020-23-T02",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"RULEWORK-1019020-23-T03",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"대중교통 현황조사",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"RULEWORK-1019010-7",</a:t>
            </a:r>
          </a:p>
          <a:p xmlns:a="http://schemas.openxmlformats.org/drawingml/2006/main">
            <a:r>
              <a:t>          "text": "7. 대중교통 현황조사에 관한 업무",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"RULEWORK-1019010-7-T01",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"RULEWORK-1019010-7-T02",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"운수종사자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운수종사자 입․퇴사 정보, 교통사고정보 관리 및 부적격운전자 통보",</a:t>
            </a:r>
          </a:p>
          <a:p xmlns:a="http://schemas.openxmlformats.org/drawingml/2006/main">
            <a:r>
              <a:t>        "9. 운수종사자관리정보시스템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"RULEWORK-1022030-8",</a:t>
            </a:r>
          </a:p>
          <a:p xmlns:a="http://schemas.openxmlformats.org/drawingml/2006/main">
            <a:r>
              <a:t>          "text": "8. 운수종사자 입․퇴사 정보, 교통사고정보 관리 및 부적격운전자 통보",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"RULEWORK-1022030-8-T01",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"RULEWORK-1022030-8-T02",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"RULEWORK-1022030-9",</a:t>
            </a:r>
          </a:p>
          <a:p xmlns:a="http://schemas.openxmlformats.org/drawingml/2006/main">
            <a:r>
              <a:t>          "text": "9. 운수종사자관리정보시스템 운영 및 관리",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"RULEWORK-1022030-9-R01",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"RULEWORK-1022030-9-T01",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"RULEWORK-1022030-9-R02",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"RULEWORK-1022030-9-T02",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"RULEWORK-1022030-9-R03",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"RULEWORK-1022030-9-T03",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"1022010",</a:t>
            </a:r>
          </a:p>
          <a:p xmlns:a="http://schemas.openxmlformats.org/drawingml/2006/main">
            <a:r>
              <a:t>      "name": "자격교육처",</a:t>
            </a:r>
          </a:p>
          <a:p xmlns:a="http://schemas.openxmlformats.org/drawingml/2006/main">
            <a:r>
              <a:t>      "job": "자격·적성검사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20,</a:t>
            </a:r>
          </a:p>
          <a:p xmlns:a="http://schemas.openxmlformats.org/drawingml/2006/main">
            <a:r>
              <a:t>        31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"21. 운전적성정밀검사(신규, 특별, 버스‧택시‧화물 자격유지 등), 국가자격시험(버스, 화물, 택시, 교통안전관리자), 사업계획 수립 및 관련법령 개정 등 제도개선",</a:t>
            </a:r>
          </a:p>
          <a:p xmlns:a="http://schemas.openxmlformats.org/drawingml/2006/main">
            <a:r>
              <a:t>        "32. 화물․버스․택시 운전 및 교통안전관리자 자격증 발급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"RULEWORK-1022010-21",</a:t>
            </a:r>
          </a:p>
          <a:p xmlns:a="http://schemas.openxmlformats.org/drawingml/2006/main">
            <a:r>
              <a:t>          "text": "21. 운전적성정밀검사(신규, 특별, 버스‧택시‧화물 자격유지 등), 국가자격시험(버스, 화물, 택시, 교통안전관리자), 사업계획 수립 및 관련법령 개정 등 제도개선",</a:t>
            </a:r>
          </a:p>
          <a:p xmlns:a="http://schemas.openxmlformats.org/drawingml/2006/main">
            <a:r>
              <a:t>          "locator": "별표4 · T40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"RULEWORK-1022010-21-R01",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"종목·대상·기간별 요건·교육 안내 구성",</a:t>
            </a:r>
          </a:p>
          <a:p xmlns:a="http://schemas.openxmlformats.org/drawingml/2006/main">
            <a:r>
              <a:t>              "output": "요건·보완·일정·이수 확인표",</a:t>
            </a:r>
          </a:p>
          <a:p xmlns:a="http://schemas.openxmlformats.org/drawingml/2006/main">
            <a:r>
              <a:t>              "testId": "RULEWORK-1022010-21-T01",</a:t>
            </a:r>
          </a:p>
          <a:p xmlns:a="http://schemas.openxmlformats.org/drawingml/2006/main">
            <a:r>
              <a:t>              "criterion": "자격 요건·면제·기간·이수 기준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"RULEWORK-1022010-21-R02",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"접수–심사–시험–이수·발급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"RULEWORK-1022010-21-T02",</a:t>
            </a:r>
          </a:p>
          <a:p xmlns:a="http://schemas.openxmlformats.org/drawingml/2006/main">
            <a:r>
              <a:t>              "criterion": "AI에 의한 응시 적격·성적·자격 발급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"RULEWORK-1022010-21-R03",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"RULEWORK-1022010-21-T03",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"RULEWORK-1022010-32",</a:t>
            </a:r>
          </a:p>
          <a:p xmlns:a="http://schemas.openxmlformats.org/drawingml/2006/main">
            <a:r>
              <a:t>          "text": "32. 화물․버스․택시 운전 및 교통안전관리자 자격증 발급 및 관리",</a:t>
            </a:r>
          </a:p>
          <a:p xmlns:a="http://schemas.openxmlformats.org/drawingml/2006/main">
            <a:r>
              <a:t>          "locator": "별표4 · T40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"RULEWORK-1022010-32-R01",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"종목·대상·기간별 요건·교육 안내 구성",</a:t>
            </a:r>
          </a:p>
          <a:p xmlns:a="http://schemas.openxmlformats.org/drawingml/2006/main">
            <a:r>
              <a:t>              "output": "요건·보완·일정·이수 확인표",</a:t>
            </a:r>
          </a:p>
          <a:p xmlns:a="http://schemas.openxmlformats.org/drawingml/2006/main">
            <a:r>
              <a:t>              "testId": "RULEWORK-1022010-32-T01",</a:t>
            </a:r>
          </a:p>
          <a:p xmlns:a="http://schemas.openxmlformats.org/drawingml/2006/main">
            <a:r>
              <a:t>              "criterion": "자격 요건·면제·기간·이수 기준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"RULEWORK-1022010-32-R02",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"접수–심사–시험–이수·발급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"RULEWORK-1022010-32-T02",</a:t>
            </a:r>
          </a:p>
          <a:p xmlns:a="http://schemas.openxmlformats.org/drawingml/2006/main">
            <a:r>
              <a:t>              "criterion": "AI에 의한 응시 적격·성적·자격 발급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"RULEWORK-1022010-32-R03",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"RULEWORK-1022010-32-T03",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공개지식 검색·대화"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"JET·Foundry의 필수 입력·절차 설계"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"음성 입력·발화 정리 연계",</a:t>
            </a:r>
          </a:p>
          <a:p xmlns:a="http://schemas.openxmlformats.org/drawingml/2006/main">
            <a:r>
              <a:t>    "서비스 라우터·메뉴/상담 복귀 경로"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"고령·방언·소음·범위 밖 요청과 일반 사용자 과업",</a:t>
            </a:r>
          </a:p>
          <a:p xmlns:a="http://schemas.openxmlformats.org/drawingml/2006/main">
            <a:r>
              <a:t>    "criterion": "정확한 창구 연결·사용자 확인·내부자료 차단·상담 전환",</a:t>
            </a:r>
          </a:p>
          <a:p xmlns:a="http://schemas.openxmlformats.org/drawingml/2006/main">
            <a:r>
              <a:t>    "evidence": "사용자군별 과업 기록·도달률·오인계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"정확한 서비스 도달 수 ÷ 전체 시도 수 / 사용자군별 완료시간·포기율",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"PF-R02",</a:t>
            </a:r>
          </a:p>
          <a:p xmlns:a="http://schemas.openxmlformats.org/drawingml/2006/main">
            <a:r>
              <a:t>    "PF-R05",</a:t>
            </a:r>
          </a:p>
          <a:p xmlns:a="http://schemas.openxmlformats.org/drawingml/2006/main">
            <a:r>
              <a:t>    "PF-R07",</a:t>
            </a:r>
          </a:p>
          <a:p xmlns:a="http://schemas.openxmlformats.org/drawingml/2006/main">
            <a:r>
              <a:t>    "PF03",</a:t>
            </a:r>
          </a:p>
          <a:p xmlns:a="http://schemas.openxmlformats.org/drawingml/2006/main">
            <a:r>
              <a:t>    "PF07",</a:t>
            </a:r>
          </a:p>
          <a:p xmlns:a="http://schemas.openxmlformats.org/drawingml/2006/main">
            <a:r>
              <a:t>    "PF-A12",</a:t>
            </a:r>
          </a:p>
          <a:p xmlns:a="http://schemas.openxmlformats.org/drawingml/2006/main">
            <a:r>
              <a:t>    "PF31"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"ST-08",</a:t>
            </a:r>
          </a:p>
          <a:p xmlns:a="http://schemas.openxmlformats.org/drawingml/2006/main">
            <a:r>
              <a:t>  "number": 8,</a:t>
            </a:r>
          </a:p>
          <a:p xmlns:a="http://schemas.openxmlformats.org/drawingml/2006/main">
            <a:r>
              <a:t>  "direction": "균형있는 국민체감 서비스 실현",</a:t>
            </a:r>
          </a:p>
          <a:p xmlns:a="http://schemas.openxmlformats.org/drawingml/2006/main">
            <a:r>
              <a:t>  "strategy": "생활 밀착형 이동 서비스 확대",</a:t>
            </a:r>
          </a:p>
          <a:p xmlns:a="http://schemas.openxmlformats.org/drawingml/2006/main">
            <a:r>
              <a:t>  "solution": "국민 이동·신청 절차 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"L11",</a:t>
            </a:r>
          </a:p>
          <a:p xmlns:a="http://schemas.openxmlformats.org/drawingml/2006/main">
            <a:r>
              <a:t>    "L15",</a:t>
            </a:r>
          </a:p>
          <a:p xmlns:a="http://schemas.openxmlformats.org/drawingml/2006/main">
            <a:r>
              <a:t>    "L16",</a:t>
            </a:r>
          </a:p>
          <a:p xmlns:a="http://schemas.openxmlformats.org/drawingml/2006/main">
            <a:r>
              <a:t>    "L17"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"1019020",</a:t>
            </a:r>
          </a:p>
          <a:p xmlns:a="http://schemas.openxmlformats.org/drawingml/2006/main">
            <a:r>
              <a:t>    "1019010",</a:t>
            </a:r>
          </a:p>
          <a:p xmlns:a="http://schemas.openxmlformats.org/drawingml/2006/main">
            <a:r>
              <a:t>    "1022030",</a:t>
            </a:r>
          </a:p>
          <a:p xmlns:a="http://schemas.openxmlformats.org/drawingml/2006/main">
            <a:r>
              <a:t>    "1022010"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"이동정보·교통약자·자격·현장 서비스의 안내·인계",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"이용 목적·지역별 절차·서류·담당 창구 구성",</a:t>
            </a:r>
          </a:p>
          <a:p xmlns:a="http://schemas.openxmlformats.org/drawingml/2006/main">
            <a:r>
              <a:t>    "국민 문의와 소관 부서 처리상태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"목적별 안내·필수서류·인계 기록",</a:t>
            </a:r>
          </a:p>
          <a:p xmlns:a="http://schemas.openxmlformats.org/drawingml/2006/main">
            <a:r>
              <a:t>  "acceptance": "공개 지식만 사용한 안내·기관 내부정보 차단·담당 창구 일치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"이동정보·교통약자 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수요응답형(DRT) 대중교통 시스템 구축 및 운영",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"대중교통 현황조사",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"운수종사자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운수종사자 입․퇴사 정보, 교통사고정보 관리 및 부적격운전자 통보",</a:t>
            </a:r>
          </a:p>
          <a:p xmlns:a="http://schemas.openxmlformats.org/drawingml/2006/main">
            <a:r>
              <a:t>        "9. 운수종사자관리정보시스템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"1022010",</a:t>
            </a:r>
          </a:p>
          <a:p xmlns:a="http://schemas.openxmlformats.org/drawingml/2006/main">
            <a:r>
              <a:t>      "name": "자격교육처",</a:t>
            </a:r>
          </a:p>
          <a:p xmlns:a="http://schemas.openxmlformats.org/drawingml/2006/main">
            <a:r>
              <a:t>      "job": "자격·적성검사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20,</a:t>
            </a:r>
          </a:p>
          <a:p xmlns:a="http://schemas.openxmlformats.org/drawingml/2006/main">
            <a:r>
              <a:t>        31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"21. 운전적성정밀검사(신규, 특별, 버스‧택시‧화물 자격유지 등), 국가자격시험(버스, 화물, 택시, 교통안전관리자), 사업계획 수립 및 관련법령 개정 등 제도개선",</a:t>
            </a:r>
          </a:p>
          <a:p xmlns:a="http://schemas.openxmlformats.org/drawingml/2006/main">
            <a:r>
              <a:t>        "32. 화물․버스․택시 운전 및 교통안전관리자 자격증 발급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"법정 자격·조사·운행정보 업무의 안내·인계 지원 / 개별 지원사업 자격·지급 판정은 별도 과업",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"AX02",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"자연어·음성 이동 서비스 접점",</a:t>
            </a:r>
          </a:p>
          <a:p xmlns:a="http://schemas.openxmlformats.org/drawingml/2006/main">
            <a:r>
              <a:t>  "delta": "발화 정리·필수 항목 확인·소관 서비스 연결",</a:t>
            </a:r>
          </a:p>
          <a:p xmlns:a="http://schemas.openxmlformats.org/drawingml/2006/main">
            <a:r>
              <a:t>  "kpi": "정보약자 도달률 / 포기율",</a:t>
            </a:r>
          </a:p>
          <a:p xmlns:a="http://schemas.openxmlformats.org/drawingml/2006/main">
            <a:r>
              <a:t>  "validation": "기존 메뉴와 사용자군별 과업 비교·상담 전환",</a:t>
            </a:r>
          </a:p>
          <a:p xmlns:a="http://schemas.openxmlformats.org/drawingml/2006/main">
            <a:r>
              <a:t>  "requirement": "BM-ST-08-R01",</a:t>
            </a:r>
          </a:p>
          <a:p xmlns:a="http://schemas.openxmlformats.org/drawingml/2006/main">
            <a:r>
              <a:t>  "test": "BM-ST-08-T01",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"국민의 서비스 탐색·발화 재입력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"공개 서비스 목록, 지역·대상·필수서류, 텍스트·음성 요청",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"발화·업무 목적 정리",</a:t>
            </a:r>
          </a:p>
          <a:p xmlns:a="http://schemas.openxmlformats.org/drawingml/2006/main">
            <a:r>
              <a:t>    "이용자 필수 항목 확인",</a:t>
            </a:r>
          </a:p>
          <a:p xmlns:a="http://schemas.openxmlformats.org/drawingml/2006/main">
            <a:r>
              <a:t>    "소관·공식 서비스 연결",</a:t>
            </a:r>
          </a:p>
          <a:p xmlns:a="http://schemas.openxmlformats.org/drawingml/2006/main">
            <a:r>
              <a:t>    "인증·상담 인계·완료 확인"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"1019020",</a:t>
            </a:r>
          </a:p>
          <a:p xmlns:a="http://schemas.openxmlformats.org/drawingml/2006/main">
            <a:r>
              <a:t>      "name": "모빌리티연구처",</a:t>
            </a:r>
          </a:p>
          <a:p xmlns:a="http://schemas.openxmlformats.org/drawingml/2006/main">
            <a:r>
              <a:t>      "job": "이동정보·교통약자 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22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수요응답형(DRT) 대중교통 시스템 구축 및 운영",</a:t>
            </a:r>
          </a:p>
          <a:p xmlns:a="http://schemas.openxmlformats.org/drawingml/2006/main">
            <a:r>
              <a:t>        "23. 교통약자 이동편의실태조사 및 자료관리"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T39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"RULEWORK-1019020-3",</a:t>
            </a:r>
          </a:p>
          <a:p xmlns:a="http://schemas.openxmlformats.org/drawingml/2006/main">
            <a:r>
              <a:t>          "text": "3. 수요응답형(DRT) 대중교통 시스템 구축 및 운영",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"지역·시간·배차 제약과 요청 맥락 분류",</a:t>
            </a:r>
          </a:p>
          <a:p xmlns:a="http://schemas.openxmlformats.org/drawingml/2006/main">
            <a:r>
              <a:t>              "output": "조건·예외·변경 요청·결과 대사표",</a:t>
            </a:r>
          </a:p>
          <a:p xmlns:a="http://schemas.openxmlformats.org/drawingml/2006/main">
            <a:r>
              <a:t>              "testId": "RULEWORK-1019020-3-T01",</a:t>
            </a:r>
          </a:p>
          <a:p xmlns:a="http://schemas.openxmlformats.org/drawingml/2006/main">
            <a:r>
              <a:t>              "criterion": "운영 상태·조건별 가능한 후보와 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"기존 운영시스템 조회·승인 후 변경 결과 대사",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"RULEWORK-1019020-3-T02",</a:t>
            </a:r>
          </a:p>
          <a:p xmlns:a="http://schemas.openxmlformats.org/drawingml/2006/main">
            <a:r>
              <a:t>              "criterion": "운영자 확인 전 변경 및 중복 배차 요청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"RULEWORK-1019020-23",</a:t>
            </a:r>
          </a:p>
          <a:p xmlns:a="http://schemas.openxmlformats.org/drawingml/2006/main">
            <a:r>
              <a:t>          "text": "23. 교통약자 이동편의실태조사 및 자료관리",</a:t>
            </a:r>
          </a:p>
          <a:p xmlns:a="http://schemas.openxmlformats.org/drawingml/2006/main">
            <a:r>
              <a:t>          "locator": "별표4 · T39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"RULEWORK-1019020-23-T01",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"RULEWORK-1019020-23-T02",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"RULEWORK-1019020-23-R03",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"RULEWORK-1019020-23-T03",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"대중교통 현황조사",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6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"7. 대중교통 현황조사에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"RULEWORK-1019010-7",</a:t>
            </a:r>
          </a:p>
          <a:p xmlns:a="http://schemas.openxmlformats.org/drawingml/2006/main">
            <a:r>
              <a:t>          "text": "7. 대중교통 현황조사에 관한 업무",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"RULEWORK-1019010-7-T01",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"RULEWORK-1019010-7-T02",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"RULEWORK-1019010-7-R03",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"RULEWORK-1019010-7-T03",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"1022030",</a:t>
            </a:r>
          </a:p>
          <a:p xmlns:a="http://schemas.openxmlformats.org/drawingml/2006/main">
            <a:r>
              <a:t>      "name": "교통안전처",</a:t>
            </a:r>
          </a:p>
          <a:p xmlns:a="http://schemas.openxmlformats.org/drawingml/2006/main">
            <a:r>
              <a:t>      "job": "운수종사자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7,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운수종사자 입․퇴사 정보, 교통사고정보 관리 및 부적격운전자 통보",</a:t>
            </a:r>
          </a:p>
          <a:p xmlns:a="http://schemas.openxmlformats.org/drawingml/2006/main">
            <a:r>
              <a:t>        "9. 운수종사자관리정보시스템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"RULEWORK-1022030-8",</a:t>
            </a:r>
          </a:p>
          <a:p xmlns:a="http://schemas.openxmlformats.org/drawingml/2006/main">
            <a:r>
              <a:t>          "text": "8. 운수종사자 입․퇴사 정보, 교통사고정보 관리 및 부적격운전자 통보",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"RULEWORK-1022030-8-R01",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"대상·관할별 위험·점검 항목 대응",</a:t>
            </a:r>
          </a:p>
          <a:p xmlns:a="http://schemas.openxmlformats.org/drawingml/2006/main">
            <a:r>
              <a:t>              "output": "지적·개선·인계·재확인 대장",</a:t>
            </a:r>
          </a:p>
          <a:p xmlns:a="http://schemas.openxmlformats.org/drawingml/2006/main">
            <a:r>
              <a:t>              "testId": "RULEWORK-1022030-8-T01",</a:t>
            </a:r>
          </a:p>
          <a:p xmlns:a="http://schemas.openxmlformats.org/drawingml/2006/main">
            <a:r>
              <a:t>              "criterion": "지적별 원문 증거·관할·누락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"RULEWORK-1022030-8-R02",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"지적–조치–수락–재점검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"RULEWORK-1022030-8-T02",</a:t>
            </a:r>
          </a:p>
          <a:p xmlns:a="http://schemas.openxmlformats.org/drawingml/2006/main">
            <a:r>
              <a:t>              "criterion": "미완료 조치·근거 없는 종결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"RULEWORK-1022030-8-R03",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"RULEWORK-1022030-8-T03",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"RULEWORK-1022030-9",</a:t>
            </a:r>
          </a:p>
          <a:p xmlns:a="http://schemas.openxmlformats.org/drawingml/2006/main">
            <a:r>
              <a:t>          "text": "9. 운수종사자관리정보시스템 운영 및 관리",</a:t>
            </a:r>
          </a:p>
          <a:p xmlns:a="http://schemas.openxmlformats.org/drawingml/2006/main">
            <a:r>
              <a:t>          "locator": "별표4 · T40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"RULEWORK-1022030-9-R01",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"시스템·변경·업무건 관계 추적",</a:t>
            </a:r>
          </a:p>
          <a:p xmlns:a="http://schemas.openxmlformats.org/drawingml/2006/main">
            <a:r>
              <a:t>              "output": "영향분석·조치·복구·대사 기록",</a:t>
            </a:r>
          </a:p>
          <a:p xmlns:a="http://schemas.openxmlformats.org/drawingml/2006/main">
            <a:r>
              <a:t>              "testId": "RULEWORK-1022030-9-T01",</a:t>
            </a:r>
          </a:p>
          <a:p xmlns:a="http://schemas.openxmlformats.org/drawingml/2006/main">
            <a:r>
              <a:t>              "criterion": "중복·누락·순서 역전·장애 사례의 결과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"RULEWORK-1022030-9-R02",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"멱등 요청·오류 재처리·승인된 연계 어댑터",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"RULEWORK-1022030-9-T02",</a:t>
            </a:r>
          </a:p>
          <a:p xmlns:a="http://schemas.openxmlformats.org/drawingml/2006/main">
            <a:r>
              <a:t>              "criterion": "무승인 변경·중복 실행 차단 및 복구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"RULEWORK-1022030-9-R03",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"RULEWORK-1022030-9-T03",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"1022010",</a:t>
            </a:r>
          </a:p>
          <a:p xmlns:a="http://schemas.openxmlformats.org/drawingml/2006/main">
            <a:r>
              <a:t>      "name": "자격교육처",</a:t>
            </a:r>
          </a:p>
          <a:p xmlns:a="http://schemas.openxmlformats.org/drawingml/2006/main">
            <a:r>
              <a:t>      "job": "자격·적성검사 운영",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20,</a:t>
            </a:r>
          </a:p>
          <a:p xmlns:a="http://schemas.openxmlformats.org/drawingml/2006/main">
            <a:r>
              <a:t>        31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"21. 운전적성정밀검사(신규, 특별, 버스‧택시‧화물 자격유지 등), 국가자격시험(버스, 화물, 택시, 교통안전관리자), 사업계획 수립 및 관련법령 개정 등 제도개선",</a:t>
            </a:r>
          </a:p>
          <a:p xmlns:a="http://schemas.openxmlformats.org/drawingml/2006/main">
            <a:r>
              <a:t>        "32. 화물․버스․택시 운전 및 교통안전관리자 자격증 발급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"RULEWORK-1022010-21",</a:t>
            </a:r>
          </a:p>
          <a:p xmlns:a="http://schemas.openxmlformats.org/drawingml/2006/main">
            <a:r>
              <a:t>          "text": "21. 운전적성정밀검사(신규, 특별, 버스‧택시‧화물 자격유지 등), 국가자격시험(버스, 화물, 택시, 교통안전관리자), 사업계획 수립 및 관련법령 개정 등 제도개선",</a:t>
            </a:r>
          </a:p>
          <a:p xmlns:a="http://schemas.openxmlformats.org/drawingml/2006/main">
            <a:r>
              <a:t>          "locator": "별표4 · T40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"RULEWORK-1022010-21-R01",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"종목·대상·기간별 요건·교육 안내 구성",</a:t>
            </a:r>
          </a:p>
          <a:p xmlns:a="http://schemas.openxmlformats.org/drawingml/2006/main">
            <a:r>
              <a:t>              "output": "요건·보완·일정·이수 확인표",</a:t>
            </a:r>
          </a:p>
          <a:p xmlns:a="http://schemas.openxmlformats.org/drawingml/2006/main">
            <a:r>
              <a:t>              "testId": "RULEWORK-1022010-21-T01",</a:t>
            </a:r>
          </a:p>
          <a:p xmlns:a="http://schemas.openxmlformats.org/drawingml/2006/main">
            <a:r>
              <a:t>              "criterion": "자격 요건·면제·기간·이수 기준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"RULEWORK-1022010-21-R02",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"접수–심사–시험–이수·발급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"RULEWORK-1022010-21-T02",</a:t>
            </a:r>
          </a:p>
          <a:p xmlns:a="http://schemas.openxmlformats.org/drawingml/2006/main">
            <a:r>
              <a:t>              "criterion": "AI에 의한 응시 적격·성적·자격 발급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"RULEWORK-1022010-21-R03",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"RULEWORK-1022010-21-T03",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"RULEWORK-1022010-32",</a:t>
            </a:r>
          </a:p>
          <a:p xmlns:a="http://schemas.openxmlformats.org/drawingml/2006/main">
            <a:r>
              <a:t>          "text": "32. 화물․버스․택시 운전 및 교통안전관리자 자격증 발급 및 관리",</a:t>
            </a:r>
          </a:p>
          <a:p xmlns:a="http://schemas.openxmlformats.org/drawingml/2006/main">
            <a:r>
              <a:t>          "locator": "별표4 · T40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"RULEWORK-1022010-32-R01",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"종목·대상·기간별 요건·교육 안내 구성",</a:t>
            </a:r>
          </a:p>
          <a:p xmlns:a="http://schemas.openxmlformats.org/drawingml/2006/main">
            <a:r>
              <a:t>              "output": "요건·보완·일정·이수 확인표",</a:t>
            </a:r>
          </a:p>
          <a:p xmlns:a="http://schemas.openxmlformats.org/drawingml/2006/main">
            <a:r>
              <a:t>              "testId": "RULEWORK-1022010-32-T01",</a:t>
            </a:r>
          </a:p>
          <a:p xmlns:a="http://schemas.openxmlformats.org/drawingml/2006/main">
            <a:r>
              <a:t>              "criterion": "자격 요건·면제·기간·이수 기준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"RULEWORK-1022010-32-R02",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"접수–심사–시험–이수·발급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"RULEWORK-1022010-32-T02",</a:t>
            </a:r>
          </a:p>
          <a:p xmlns:a="http://schemas.openxmlformats.org/drawingml/2006/main">
            <a:r>
              <a:t>              "criterion": "AI에 의한 응시 적격·성적·자격 발급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"RULEWORK-1022010-32-R03",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"RULEWORK-1022010-32-T03",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공개지식 검색·대화"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"JET·Foundry의 필수 입력·절차 설계"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"음성 입력·발화 정리 연계",</a:t>
            </a:r>
          </a:p>
          <a:p xmlns:a="http://schemas.openxmlformats.org/drawingml/2006/main">
            <a:r>
              <a:t>    "서비스 라우터·메뉴/상담 복귀 경로"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"고령·방언·소음·범위 밖 요청과 일반 사용자 과업",</a:t>
            </a:r>
          </a:p>
          <a:p xmlns:a="http://schemas.openxmlformats.org/drawingml/2006/main">
            <a:r>
              <a:t>    "criterion": "정확한 창구 연결·사용자 확인·내부자료 차단·상담 전환",</a:t>
            </a:r>
          </a:p>
          <a:p xmlns:a="http://schemas.openxmlformats.org/drawingml/2006/main">
            <a:r>
              <a:t>    "evidence": "사용자군별 과업 기록·도달률·오인계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"정확한 서비스 도달 수 ÷ 전체 시도 수 / 사용자군별 완료시간·포기율",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"PF-R02",</a:t>
            </a:r>
          </a:p>
          <a:p xmlns:a="http://schemas.openxmlformats.org/drawingml/2006/main">
            <a:r>
              <a:t>    "PF-R05",</a:t>
            </a:r>
          </a:p>
          <a:p xmlns:a="http://schemas.openxmlformats.org/drawingml/2006/main">
            <a:r>
              <a:t>    "PF-R07",</a:t>
            </a:r>
          </a:p>
          <a:p xmlns:a="http://schemas.openxmlformats.org/drawingml/2006/main">
            <a:r>
              <a:t>    "PF03",</a:t>
            </a:r>
          </a:p>
          <a:p xmlns:a="http://schemas.openxmlformats.org/drawingml/2006/main">
            <a:r>
              <a:t>    "PF07",</a:t>
            </a:r>
          </a:p>
          <a:p xmlns:a="http://schemas.openxmlformats.org/drawingml/2006/main">
            <a:r>
              <a:t>    "PF-A12",</a:t>
            </a:r>
          </a:p>
          <a:p xmlns:a="http://schemas.openxmlformats.org/drawingml/2006/main">
            <a:r>
              <a:t>    "PF31"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"ST-09",</a:t>
            </a:r>
          </a:p>
          <a:p xmlns:a="http://schemas.openxmlformats.org/drawingml/2006/main">
            <a:r>
              <a:t>  "number": 9,</a:t>
            </a:r>
          </a:p>
          <a:p xmlns:a="http://schemas.openxmlformats.org/drawingml/2006/main">
            <a:r>
              <a:t>  "direction": "균형있는 국민체감 서비스 실현",</a:t>
            </a:r>
          </a:p>
          <a:p xmlns:a="http://schemas.openxmlformats.org/drawingml/2006/main">
            <a:r>
              <a:t>  "strategy": "민간·지역·산업 균형 성장 역동성 지원",</a:t>
            </a:r>
          </a:p>
          <a:p xmlns:a="http://schemas.openxmlformats.org/drawingml/2006/main">
            <a:r>
              <a:t>  "solution": "기업·지역 모빌리티 사업지원",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"L18",</a:t>
            </a:r>
          </a:p>
          <a:p xmlns:a="http://schemas.openxmlformats.org/drawingml/2006/main">
            <a:r>
              <a:t>    "L19"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"1019010",</a:t>
            </a:r>
          </a:p>
          <a:p xmlns:a="http://schemas.openxmlformats.org/drawingml/2006/main">
            <a:r>
              <a:t>    "1021020",</a:t>
            </a:r>
          </a:p>
          <a:p xmlns:a="http://schemas.openxmlformats.org/drawingml/2006/main">
            <a:r>
              <a:t>    "1021030"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"기업·지자체의 모빌리티 정책·규제특례·실증 지원",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"사업유형별 신청요건·절차·증빙 점검",</a:t>
            </a:r>
          </a:p>
          <a:p xmlns:a="http://schemas.openxmlformats.org/drawingml/2006/main">
            <a:r>
              <a:t>    "기업·지역·본사 간 보완·검토·인계 추적"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"사업 준비·특례 검토 패키지",</a:t>
            </a:r>
          </a:p>
          <a:p xmlns:a="http://schemas.openxmlformats.org/drawingml/2006/main">
            <a:r>
              <a:t>  "acceptance": "기업·지역·사업별 제출요건 분류와 검토/승인 분리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"모빌리티 정책·산업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모빌리티 정책지원 및 연구수행",</a:t>
            </a:r>
          </a:p>
          <a:p xmlns:a="http://schemas.openxmlformats.org/drawingml/2006/main">
            <a:r>
              <a:t>        "11. 모빌리티 산업활성화 지원 관련 협력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"기업 실증특례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"10. 모빌리티 실증특례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"지역 특화·시범사업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"2. 모빌리티 시범도시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"AX24",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"지역·산업 지원 검토 근거",</a:t>
            </a:r>
          </a:p>
          <a:p xmlns:a="http://schemas.openxmlformats.org/drawingml/2006/main">
            <a:r>
              <a:t>  "delta": "지역 수요·지원 조건·실증 증빙 매핑",</a:t>
            </a:r>
          </a:p>
          <a:p xmlns:a="http://schemas.openxmlformats.org/drawingml/2006/main">
            <a:r>
              <a:t>  "kpi": "검토시간 / 근거 누락률",</a:t>
            </a:r>
          </a:p>
          <a:p xmlns:a="http://schemas.openxmlformats.org/drawingml/2006/main">
            <a:r>
              <a:t>  "validation": "지역별 기준·지원조건 차이와 보류 처리 검증",</a:t>
            </a:r>
          </a:p>
          <a:p xmlns:a="http://schemas.openxmlformats.org/drawingml/2006/main">
            <a:r>
              <a:t>  "requirement": "BM-ST-09-R01",</a:t>
            </a:r>
          </a:p>
          <a:p xmlns:a="http://schemas.openxmlformats.org/drawingml/2006/main">
            <a:r>
              <a:t>  "test": "BM-ST-09-T01",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"신청 보완 반복·지원 검토시간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"지역·기업 신청자료, 규제특례 조건, 실증계획·보완 이력",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"지역·사업 유형 분류",</a:t>
            </a:r>
          </a:p>
          <a:p xmlns:a="http://schemas.openxmlformats.org/drawingml/2006/main">
            <a:r>
              <a:t>    "해당 신청요건 대조",</a:t>
            </a:r>
          </a:p>
          <a:p xmlns:a="http://schemas.openxmlformats.org/drawingml/2006/main">
            <a:r>
              <a:t>    "누락·조건 충돌 확인",</a:t>
            </a:r>
          </a:p>
          <a:p xmlns:a="http://schemas.openxmlformats.org/drawingml/2006/main">
            <a:r>
              <a:t>    "담당 검토·보완 인계"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"모빌리티 정책·산업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모빌리티 정책지원 및 연구수행",</a:t>
            </a:r>
          </a:p>
          <a:p xmlns:a="http://schemas.openxmlformats.org/drawingml/2006/main">
            <a:r>
              <a:t>        "11. 모빌리티 산업활성화 지원 관련 협력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"RULEWORK-1019010-3",</a:t>
            </a:r>
          </a:p>
          <a:p xmlns:a="http://schemas.openxmlformats.org/drawingml/2006/main">
            <a:r>
              <a:t>          "text": "3. 모빌리티 정책지원 및 연구수행",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"RULEWORK-1019010-3-T01",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"RULEWORK-1019010-3-T02",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"RULEWORK-1019010-10",</a:t>
            </a:r>
          </a:p>
          <a:p xmlns:a="http://schemas.openxmlformats.org/drawingml/2006/main">
            <a:r>
              <a:t>          "text": "11. 모빌리티 산업활성화 지원 관련 협력 업무",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"RULEWORK-1019010-10-T01",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"RULEWORK-1019010-10-T02",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"기업 실증특례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"10. 모빌리티 실증특례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"RULEWORK-1021020-2",</a:t>
            </a:r>
          </a:p>
          <a:p xmlns:a="http://schemas.openxmlformats.org/drawingml/2006/main">
            <a:r>
              <a:t>          "text": "2. 모빌리티 실증특례 접수 및 승인 지원",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"RULEWORK-1021020-2-T01",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"RULEWORK-1021020-2-T02",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"RULEWORK-1021020-10",</a:t>
            </a:r>
          </a:p>
          <a:p xmlns:a="http://schemas.openxmlformats.org/drawingml/2006/main">
            <a:r>
              <a:t>          "text": "10. 모빌리티 실증특례 사업지원",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"RULEWORK-1021020-10-T01",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"RULEWORK-1021020-10-T02",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"지역 특화·시범사업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"2. 모빌리티 시범도시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"RULEWORK-1021030-1",</a:t>
            </a:r>
          </a:p>
          <a:p xmlns:a="http://schemas.openxmlformats.org/drawingml/2006/main">
            <a:r>
              <a:t>          "text": "1. 모빌리티 특화도시 사업지원",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"RULEWORK-1021030-1-T01",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"RULEWORK-1021030-2",</a:t>
            </a:r>
          </a:p>
          <a:p xmlns:a="http://schemas.openxmlformats.org/drawingml/2006/main">
            <a:r>
              <a:t>          "text": "2. 모빌리티 시범도시 사업지원",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"RULEWORK-1021030-2-T01",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"RULEWORK-1021030-2-T02",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요건 검색·서식 초안"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"Audin·Foundry의 증빙·절차 검토"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"지역·사업별 적용요건 사전",</a:t>
            </a:r>
          </a:p>
          <a:p xmlns:a="http://schemas.openxmlformats.org/drawingml/2006/main">
            <a:r>
              <a:t>    "신청–보완–검토 사건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"다른 지역 요건, 만료 특례, 누락 실증자료",</a:t>
            </a:r>
          </a:p>
          <a:p xmlns:a="http://schemas.openxmlformats.org/drawingml/2006/main">
            <a:r>
              <a:t>    "criterion": "해당 조건만 적용·근거 제시·판정 보류",</a:t>
            </a:r>
          </a:p>
          <a:p xmlns:a="http://schemas.openxmlformats.org/drawingml/2006/main">
            <a:r>
              <a:t>    "evidence": "요건 대조표·보완 이력·검토자 기록",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"신청건당 보완 횟수 / 검토 완료시간; 지역경제 효과는 별도 평가",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"PF-R05",</a:t>
            </a:r>
          </a:p>
          <a:p xmlns:a="http://schemas.openxmlformats.org/drawingml/2006/main">
            <a:r>
              <a:t>    "PF-A03",</a:t>
            </a:r>
          </a:p>
          <a:p xmlns:a="http://schemas.openxmlformats.org/drawingml/2006/main">
            <a:r>
              <a:t>    "PF-A14"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"ST-09",</a:t>
            </a:r>
          </a:p>
          <a:p xmlns:a="http://schemas.openxmlformats.org/drawingml/2006/main">
            <a:r>
              <a:t>  "number": 9,</a:t>
            </a:r>
          </a:p>
          <a:p xmlns:a="http://schemas.openxmlformats.org/drawingml/2006/main">
            <a:r>
              <a:t>  "direction": "균형있는 국민체감 서비스 실현",</a:t>
            </a:r>
          </a:p>
          <a:p xmlns:a="http://schemas.openxmlformats.org/drawingml/2006/main">
            <a:r>
              <a:t>  "strategy": "민간·지역·산업 균형 성장 역동성 지원",</a:t>
            </a:r>
          </a:p>
          <a:p xmlns:a="http://schemas.openxmlformats.org/drawingml/2006/main">
            <a:r>
              <a:t>  "solution": "기업·지역 모빌리티 사업지원",</a:t>
            </a:r>
          </a:p>
          <a:p xmlns:a="http://schemas.openxmlformats.org/drawingml/2006/main">
            <a:r>
              <a:t>  "lawIds": [</a:t>
            </a:r>
          </a:p>
          <a:p xmlns:a="http://schemas.openxmlformats.org/drawingml/2006/main">
            <a:r>
              <a:t>    "L18",</a:t>
            </a:r>
          </a:p>
          <a:p xmlns:a="http://schemas.openxmlformats.org/drawingml/2006/main">
            <a:r>
              <a:t>    "L19"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"1019010",</a:t>
            </a:r>
          </a:p>
          <a:p xmlns:a="http://schemas.openxmlformats.org/drawingml/2006/main">
            <a:r>
              <a:t>    "1021020",</a:t>
            </a:r>
          </a:p>
          <a:p xmlns:a="http://schemas.openxmlformats.org/drawingml/2006/main">
            <a:r>
              <a:t>    "1021030"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"기업·지자체의 모빌리티 정책·규제특례·실증 지원",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"사업유형별 신청요건·절차·증빙 점검",</a:t>
            </a:r>
          </a:p>
          <a:p xmlns:a="http://schemas.openxmlformats.org/drawingml/2006/main">
            <a:r>
              <a:t>    "기업·지역·본사 간 보완·검토·인계 추적"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"사업 준비·특례 검토 패키지",</a:t>
            </a:r>
          </a:p>
          <a:p xmlns:a="http://schemas.openxmlformats.org/drawingml/2006/main">
            <a:r>
              <a:t>  "acceptance": "기업·지역·사업별 제출요건 분류와 검토/승인 분리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"GAI-T08"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"관계법령·법정업무 + 직제시행세칙",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"모빌리티 정책·산업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모빌리티 정책지원 및 연구수행",</a:t>
            </a:r>
          </a:p>
          <a:p xmlns:a="http://schemas.openxmlformats.org/drawingml/2006/main">
            <a:r>
              <a:t>        "11. 모빌리티 산업활성화 지원 관련 협력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"기업 실증특례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"10. 모빌리티 실증특례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"지역 특화·시범사업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"2. 모빌리티 시범도시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"연결 법령의 해당 사무 + 참여 부서별 별표4 업무분장 / 개인별 전결·권한의 별도 매핑",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"AX01",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"AX24",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"지역·산업 지원 검토 근거",</a:t>
            </a:r>
          </a:p>
          <a:p xmlns:a="http://schemas.openxmlformats.org/drawingml/2006/main">
            <a:r>
              <a:t>  "delta": "지역 수요·지원 조건·실증 증빙 매핑",</a:t>
            </a:r>
          </a:p>
          <a:p xmlns:a="http://schemas.openxmlformats.org/drawingml/2006/main">
            <a:r>
              <a:t>  "kpi": "검토시간 / 근거 누락률",</a:t>
            </a:r>
          </a:p>
          <a:p xmlns:a="http://schemas.openxmlformats.org/drawingml/2006/main">
            <a:r>
              <a:t>  "validation": "지역별 기준·지원조건 차이와 보류 처리 검증",</a:t>
            </a:r>
          </a:p>
          <a:p xmlns:a="http://schemas.openxmlformats.org/drawingml/2006/main">
            <a:r>
              <a:t>  "requirement": "BM-ST-09-R01",</a:t>
            </a:r>
          </a:p>
          <a:p xmlns:a="http://schemas.openxmlformats.org/drawingml/2006/main">
            <a:r>
              <a:t>  "test": "BM-ST-09-T01",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"신청 보완 반복·지원 검토시간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"지역·기업 신청자료, 규제특례 조건, 실증계획·보완 이력",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"지역·사업 유형 분류",</a:t>
            </a:r>
          </a:p>
          <a:p xmlns:a="http://schemas.openxmlformats.org/drawingml/2006/main">
            <a:r>
              <a:t>    "해당 신청요건 대조",</a:t>
            </a:r>
          </a:p>
          <a:p xmlns:a="http://schemas.openxmlformats.org/drawingml/2006/main">
            <a:r>
              <a:t>    "누락·조건 충돌 확인",</a:t>
            </a:r>
          </a:p>
          <a:p xmlns:a="http://schemas.openxmlformats.org/drawingml/2006/main">
            <a:r>
              <a:t>    "담당 검토·보완 인계"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"1019010",</a:t>
            </a:r>
          </a:p>
          <a:p xmlns:a="http://schemas.openxmlformats.org/drawingml/2006/main">
            <a:r>
              <a:t>      "name": "정책지원처",</a:t>
            </a:r>
          </a:p>
          <a:p xmlns:a="http://schemas.openxmlformats.org/drawingml/2006/main">
            <a:r>
              <a:t>      "job": "모빌리티 정책·산업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모빌리티 정책지원 및 연구수행",</a:t>
            </a:r>
          </a:p>
          <a:p xmlns:a="http://schemas.openxmlformats.org/drawingml/2006/main">
            <a:r>
              <a:t>        "11. 모빌리티 산업활성화 지원 관련 협력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"RULEWORK-1019010-3",</a:t>
            </a:r>
          </a:p>
          <a:p xmlns:a="http://schemas.openxmlformats.org/drawingml/2006/main">
            <a:r>
              <a:t>          "text": "3. 모빌리티 정책지원 및 연구수행",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"대상·항목·분모·기간별 자료 정합성 점검",</a:t>
            </a:r>
          </a:p>
          <a:p xmlns:a="http://schemas.openxmlformats.org/drawingml/2006/main">
            <a:r>
              <a:t>              "output": "증빙·보완·분석·공표 검토자료",</a:t>
            </a:r>
          </a:p>
          <a:p xmlns:a="http://schemas.openxmlformats.org/drawingml/2006/main">
            <a:r>
              <a:t>              "testId": "RULEWORK-1019010-3-T01",</a:t>
            </a:r>
          </a:p>
          <a:p xmlns:a="http://schemas.openxmlformats.org/drawingml/2006/main">
            <a:r>
              <a:t>              "criterion": "표본·분모·단위·기간과 분석 결과 재현"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"조사 원장·원본 증빙·공표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"RULEWORK-1019010-3-T02",</a:t>
            </a:r>
          </a:p>
          <a:p xmlns:a="http://schemas.openxmlformats.org/drawingml/2006/main">
            <a:r>
              <a:t>              "criterion": "공식 공표 승인·개인정보 제한 검증"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"RULEWORK-1019010-10",</a:t>
            </a:r>
          </a:p>
          <a:p xmlns:a="http://schemas.openxmlformats.org/drawingml/2006/main">
            <a:r>
              <a:t>          "text": "11. 모빌리티 산업활성화 지원 관련 협력 업무",</a:t>
            </a:r>
          </a:p>
          <a:p xmlns:a="http://schemas.openxmlformats.org/drawingml/2006/main">
            <a:r>
              <a:t>          "locator": "별표4 · T41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"RULEWORK-1019010-10-T01",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"RULEWORK-1019010-10-T02",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"RULEWORK-1019010-10-R03",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"RULEWORK-1019010-10-T03",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"1021020",</a:t>
            </a:r>
          </a:p>
          <a:p xmlns:a="http://schemas.openxmlformats.org/drawingml/2006/main">
            <a:r>
              <a:t>      "name": "규제혁신처",</a:t>
            </a:r>
          </a:p>
          <a:p xmlns:a="http://schemas.openxmlformats.org/drawingml/2006/main">
            <a:r>
              <a:t>      "job": "기업 실증특례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모빌리티 실증특례 접수 및 승인 지원",</a:t>
            </a:r>
          </a:p>
          <a:p xmlns:a="http://schemas.openxmlformats.org/drawingml/2006/main">
            <a:r>
              <a:t>        "10. 모빌리티 실증특례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"RULEWORK-1021020-2",</a:t>
            </a:r>
          </a:p>
          <a:p xmlns:a="http://schemas.openxmlformats.org/drawingml/2006/main">
            <a:r>
              <a:t>          "text": "2. 모빌리티 실증특례 접수 및 승인 지원",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"RULEWORK-1021020-2-T01",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"RULEWORK-1021020-2-T02",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"RULEWORK-1021020-10",</a:t>
            </a:r>
          </a:p>
          <a:p xmlns:a="http://schemas.openxmlformats.org/drawingml/2006/main">
            <a:r>
              <a:t>          "text": "10. 모빌리티 실증특례 사업지원",</a:t>
            </a:r>
          </a:p>
          <a:p xmlns:a="http://schemas.openxmlformats.org/drawingml/2006/main">
            <a:r>
              <a:t>          "locator": "별표4 · T41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"RULEWORK-1021020-10-T01",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"RULEWORK-1021020-10-T02",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"RULEWORK-1021020-10-R03",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"RULEWORK-1021020-10-T03",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"1021030",</a:t>
            </a:r>
          </a:p>
          <a:p xmlns:a="http://schemas.openxmlformats.org/drawingml/2006/main">
            <a:r>
              <a:t>      "name": "실증사업처",</a:t>
            </a:r>
          </a:p>
          <a:p xmlns:a="http://schemas.openxmlformats.org/drawingml/2006/main">
            <a:r>
              <a:t>      "job": "지역 특화·시범사업 지원",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모빌리티 특화도시 사업지원",</a:t>
            </a:r>
          </a:p>
          <a:p xmlns:a="http://schemas.openxmlformats.org/drawingml/2006/main">
            <a:r>
              <a:t>        "2. 모빌리티 시범도시 사업지원"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T41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"RULEWORK-1021030-1",</a:t>
            </a:r>
          </a:p>
          <a:p xmlns:a="http://schemas.openxmlformats.org/drawingml/2006/main">
            <a:r>
              <a:t>          "text": "1. 모빌리티 특화도시 사업지원",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"RULEWORK-1021030-1-T01",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"RULEWORK-1021030-1-T02",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"RULEWORK-1021030-2",</a:t>
            </a:r>
          </a:p>
          <a:p xmlns:a="http://schemas.openxmlformats.org/drawingml/2006/main">
            <a:r>
              <a:t>          "text": "2. 모빌리티 시범도시 사업지원",</a:t>
            </a:r>
          </a:p>
          <a:p xmlns:a="http://schemas.openxmlformats.org/drawingml/2006/main">
            <a:r>
              <a:t>          "locator": "별표4 · T41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"사업·신청 유형별 적용 조건 선택",</a:t>
            </a:r>
          </a:p>
          <a:p xmlns:a="http://schemas.openxmlformats.org/drawingml/2006/main">
            <a:r>
              <a:t>              "output": "요건·보완·지원·이행 검토표",</a:t>
            </a:r>
          </a:p>
          <a:p xmlns:a="http://schemas.openxmlformats.org/drawingml/2006/main">
            <a:r>
              <a:t>              "testId": "RULEWORK-1021030-2-T01",</a:t>
            </a:r>
          </a:p>
          <a:p xmlns:a="http://schemas.openxmlformats.org/drawingml/2006/main">
            <a:r>
              <a:t>              "criterion": "대상·기간·예외·지원 조건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"신청–보완–심의–조건 이행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"RULEWORK-1021030-2-T02",</a:t>
            </a:r>
          </a:p>
          <a:p xmlns:a="http://schemas.openxmlformats.org/drawingml/2006/main">
            <a:r>
              <a:t>              "criterion": "기관의 선정·허가·지원금 결정 자동화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"RULEWORK-1021030-2-R03",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"RULEWORK-1021030-2-T03",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요건 검색·서식 초안"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"Audin·Foundry의 증빙·절차 검토"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"지역·사업별 적용요건 사전",</a:t>
            </a:r>
          </a:p>
          <a:p xmlns:a="http://schemas.openxmlformats.org/drawingml/2006/main">
            <a:r>
              <a:t>    "신청–보완–검토 사건 연결"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"다른 지역 요건, 만료 특례, 누락 실증자료",</a:t>
            </a:r>
          </a:p>
          <a:p xmlns:a="http://schemas.openxmlformats.org/drawingml/2006/main">
            <a:r>
              <a:t>    "criterion": "해당 조건만 적용·근거 제시·판정 보류",</a:t>
            </a:r>
          </a:p>
          <a:p xmlns:a="http://schemas.openxmlformats.org/drawingml/2006/main">
            <a:r>
              <a:t>    "evidence": "요건 대조표·보완 이력·검토자 기록",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"신청건당 보완 횟수 / 검토 완료시간; 지역경제 효과는 별도 평가",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"PF-R05",</a:t>
            </a:r>
          </a:p>
          <a:p xmlns:a="http://schemas.openxmlformats.org/drawingml/2006/main">
            <a:r>
              <a:t>    "PF-A03",</a:t>
            </a:r>
          </a:p>
          <a:p xmlns:a="http://schemas.openxmlformats.org/drawingml/2006/main">
            <a:r>
              <a:t>    "PF-A14"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"ST-10",</a:t>
            </a:r>
          </a:p>
          <a:p xmlns:a="http://schemas.openxmlformats.org/drawingml/2006/main">
            <a:r>
              <a:t>  "number": 10,</a:t>
            </a:r>
          </a:p>
          <a:p xmlns:a="http://schemas.openxmlformats.org/drawingml/2006/main">
            <a:r>
              <a:t>  "direction": "지속가능 책임경영 이행",</a:t>
            </a:r>
          </a:p>
          <a:p xmlns:a="http://schemas.openxmlformats.org/drawingml/2006/main">
            <a:r>
              <a:t>  "strategy": "실용·성과·효율 지향 경영체계 구축",</a:t>
            </a:r>
          </a:p>
          <a:p xmlns:a="http://schemas.openxmlformats.org/drawingml/2006/main">
            <a:r>
              <a:t>  "solution": "계획·예산·성과 업무지원",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"1016050",</a:t>
            </a:r>
          </a:p>
          <a:p xmlns:a="http://schemas.openxmlformats.org/drawingml/2006/main">
            <a:r>
              <a:t>    "1016042",</a:t>
            </a:r>
          </a:p>
          <a:p xmlns:a="http://schemas.openxmlformats.org/drawingml/2006/main">
            <a:r>
              <a:t>    "1018034",</a:t>
            </a:r>
          </a:p>
          <a:p xmlns:a="http://schemas.openxmlformats.org/drawingml/2006/main">
            <a:r>
              <a:t>    "1018030"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"부서별 계획·예산·계약·성과 증빙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"계획–예산–집행–성과의 업무건 연결",</a:t>
            </a:r>
          </a:p>
          <a:p xmlns:a="http://schemas.openxmlformats.org/drawingml/2006/main">
            <a:r>
              <a:t>    "작성·검토·전결·결산 역할별 자료 구성"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"성과 근거표·경영 검토자료",</a:t>
            </a:r>
          </a:p>
          <a:p xmlns:a="http://schemas.openxmlformats.org/drawingml/2006/main">
            <a:r>
              <a:t>  "acceptance": "예산·집행·성과 원천 대사 및 전결·위임에 따른 접근/승인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"GAI-T09"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"예산 편성·집행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예산의 편성‧집행‧운영 관리",</a:t>
            </a:r>
          </a:p>
          <a:p xmlns:a="http://schemas.openxmlformats.org/drawingml/2006/main">
            <a:r>
              <a:t>        "4. 예산집행실적 및 차이분석에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"1016042",</a:t>
            </a:r>
          </a:p>
          <a:p xmlns:a="http://schemas.openxmlformats.org/drawingml/2006/main">
            <a:r>
              <a:t>      "name": "혁신성과처",</a:t>
            </a:r>
          </a:p>
          <a:p xmlns:a="http://schemas.openxmlformats.org/drawingml/2006/main">
            <a:r>
              <a:t>      "job": "기관·부서 성과평가",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"내부경영평가(BSC, MBO)에 관한 업무",</a:t>
            </a:r>
          </a:p>
          <a:p xmlns:a="http://schemas.openxmlformats.org/drawingml/2006/main">
            <a:r>
              <a:t>        "4. 임원, 부서장 경영계약 및 이행실적 평가에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"계약·결산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"5. 구매․공사 및 용역 등의 계약에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"문서·정보공개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"5. 정보공개제도의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"AX24",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"성과·경영 문서 검토 지원",</a:t>
            </a:r>
          </a:p>
          <a:p xmlns:a="http://schemas.openxmlformats.org/drawingml/2006/main">
            <a:r>
              <a:t>  "delta": "근거 자료·산식·업무 수행시간 계측",</a:t>
            </a:r>
          </a:p>
          <a:p xmlns:a="http://schemas.openxmlformats.org/drawingml/2006/main">
            <a:r>
              <a:t>  "kpi": "완료시간 / 재작업률 / 업무당 비용",</a:t>
            </a:r>
          </a:p>
          <a:p xmlns:a="http://schemas.openxmlformats.org/drawingml/2006/main">
            <a:r>
              <a:t>  "validation": "동일 난도 비교군·검토시간 포함 평가",</a:t>
            </a:r>
          </a:p>
          <a:p xmlns:a="http://schemas.openxmlformats.org/drawingml/2006/main">
            <a:r>
              <a:t>  "requirement": "BM-ST-10-R01",</a:t>
            </a:r>
          </a:p>
          <a:p xmlns:a="http://schemas.openxmlformats.org/drawingml/2006/main">
            <a:r>
              <a:t>  "test": "BM-ST-10-T01",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"검토·재작업을 포함한 업무시간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"계획·예산·집행·계약·성과 자료, 지표 산식, 전결표",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"사업·업무건 식별",</a:t>
            </a:r>
          </a:p>
          <a:p xmlns:a="http://schemas.openxmlformats.org/drawingml/2006/main">
            <a:r>
              <a:t>    "계획–집행–성과 원천 대사",</a:t>
            </a:r>
          </a:p>
          <a:p xmlns:a="http://schemas.openxmlformats.org/drawingml/2006/main">
            <a:r>
              <a:t>    "산식·판본·전결 검토",</a:t>
            </a:r>
          </a:p>
          <a:p xmlns:a="http://schemas.openxmlformats.org/drawingml/2006/main">
            <a:r>
              <a:t>    "검토자료 작성·보완"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"예산 편성·집행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예산의 편성‧집행‧운영 관리",</a:t>
            </a:r>
          </a:p>
          <a:p xmlns:a="http://schemas.openxmlformats.org/drawingml/2006/main">
            <a:r>
              <a:t>        "4. 예산집행실적 및 차이분석에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"RULEWORK-1016050-3",</a:t>
            </a:r>
          </a:p>
          <a:p xmlns:a="http://schemas.openxmlformats.org/drawingml/2006/main">
            <a:r>
              <a:t>          "text": "3. 예산의 편성‧집행‧운영 관리",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"RULEWORK-1016050-3-T01",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"RULEWORK-1016050-3-T02",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"RULEWORK-1016050-4",</a:t>
            </a:r>
          </a:p>
          <a:p xmlns:a="http://schemas.openxmlformats.org/drawingml/2006/main">
            <a:r>
              <a:t>          "text": "4. 예산집행실적 및 차이분석에 관한 사항",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"RULEWORK-1016050-4-T01",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"1016042",</a:t>
            </a:r>
          </a:p>
          <a:p xmlns:a="http://schemas.openxmlformats.org/drawingml/2006/main">
            <a:r>
              <a:t>      "name": "혁신성과처",</a:t>
            </a:r>
          </a:p>
          <a:p xmlns:a="http://schemas.openxmlformats.org/drawingml/2006/main">
            <a:r>
              <a:t>      "job": "기관·부서 성과평가",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"내부경영평가(BSC, MBO)에 관한 업무",</a:t>
            </a:r>
          </a:p>
          <a:p xmlns:a="http://schemas.openxmlformats.org/drawingml/2006/main">
            <a:r>
              <a:t>        "4. 임원, 부서장 경영계약 및 이행실적 평가에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"RULEWORK-1016042-2",</a:t>
            </a:r>
          </a:p>
          <a:p xmlns:a="http://schemas.openxmlformats.org/drawingml/2006/main">
            <a:r>
              <a:t>          "text": "내부경영평가(BSC, MBO)에 관한 업무",</a:t>
            </a:r>
          </a:p>
          <a:p xmlns:a="http://schemas.openxmlformats.org/drawingml/2006/main">
            <a:r>
              <a:t>          "locator": "별표4 · T36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"RULEWORK-1016042-2-T01",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"RULEWORK-1016042-2-T02",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"RULEWORK-1016042-2-T03",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"RULEWORK-1016042-4",</a:t>
            </a:r>
          </a:p>
          <a:p xmlns:a="http://schemas.openxmlformats.org/drawingml/2006/main">
            <a:r>
              <a:t>          "text": "4. 임원, 부서장 경영계약 및 이행실적 평가에 관한 업무",</a:t>
            </a:r>
          </a:p>
          <a:p xmlns:a="http://schemas.openxmlformats.org/drawingml/2006/main">
            <a:r>
              <a:t>          "locator": "별표4 · T36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"RULEWORK-1016042-4-T01",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"RULEWORK-1016042-4-T02",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"RULEWORK-1016042-4-T03",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"계약·결산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"5. 구매․공사 및 용역 등의 계약에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"RULEWORK-1018034-4",</a:t>
            </a:r>
          </a:p>
          <a:p xmlns:a="http://schemas.openxmlformats.org/drawingml/2006/main">
            <a:r>
              <a:t>          "text": "4. 연간·월간 회계결산 및 연차 결산보고서 작성 보고",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"RULEWORK-1018034-5",</a:t>
            </a:r>
          </a:p>
          <a:p xmlns:a="http://schemas.openxmlformats.org/drawingml/2006/main">
            <a:r>
              <a:t>          "text": "5. 구매․공사 및 용역 등의 계약에 관한 사항",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"RULEWORK-1018034-5-T01",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"RULEWORK-1018034-5-T02",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"문서·정보공개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"5. 정보공개제도의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"RULEWORK-1018030-4",</a:t>
            </a:r>
          </a:p>
          <a:p xmlns:a="http://schemas.openxmlformats.org/drawingml/2006/main">
            <a:r>
              <a:t>          "text": "4. 문서의 접수·분류·수발·처리 및 보존관리",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"RULEWORK-1018030-4-T01",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"RULEWORK-1018030-4-T02",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"RULEWORK-1018030-5",</a:t>
            </a:r>
          </a:p>
          <a:p xmlns:a="http://schemas.openxmlformats.org/drawingml/2006/main">
            <a:r>
              <a:t>          "text": "5. 정보공개제도의 운영 및 관리",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"문의 유형별 지식·소관·안내 서식 선택",</a:t>
            </a:r>
          </a:p>
          <a:p xmlns:a="http://schemas.openxmlformats.org/drawingml/2006/main">
            <a:r>
              <a:t>              "output": "분류·근거 답변·이관·처리 기록",</a:t>
            </a:r>
          </a:p>
          <a:p xmlns:a="http://schemas.openxmlformats.org/drawingml/2006/main">
            <a:r>
              <a:t>              "testId": "RULEWORK-1018030-5-T01",</a:t>
            </a:r>
          </a:p>
          <a:p xmlns:a="http://schemas.openxmlformats.org/drawingml/2006/main">
            <a:r>
              <a:t>              "criterion": "소관·기한·근거·안내 내용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"접수–이관–수락–답변·민감정보 제한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"RULEWORK-1018030-5-T02",</a:t>
            </a:r>
          </a:p>
          <a:p xmlns:a="http://schemas.openxmlformats.org/drawingml/2006/main">
            <a:r>
              <a:t>              "criterion": "민감 원문 노출·무권한 약속·처분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문서 검색·요약·서식"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증빙 검토·구조화"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"사업–예산–성과 연결표",</a:t>
            </a:r>
          </a:p>
          <a:p xmlns:a="http://schemas.openxmlformats.org/drawingml/2006/main">
            <a:r>
              <a:t>    "지표 산식 검증·검토시간 계측"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"집행 중복, 다른 보고기간, 산식 오류, 전결권 부재",</a:t>
            </a:r>
          </a:p>
          <a:p xmlns:a="http://schemas.openxmlformats.org/drawingml/2006/main">
            <a:r>
              <a:t>    "criterion": "원천 합계 일치·오류 보류·권한별 결과 분리",</a:t>
            </a:r>
          </a:p>
          <a:p xmlns:a="http://schemas.openxmlformats.org/drawingml/2006/main">
            <a:r>
              <a:t>    "evidence": "원천 대사표·업무시간 기록·보완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"최종 검토까지 소요시간 중앙값 / 재작업 건수 ÷ 완료 건수 / 업무당 비용",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"PF-R01",</a:t>
            </a:r>
          </a:p>
          <a:p xmlns:a="http://schemas.openxmlformats.org/drawingml/2006/main">
            <a:r>
              <a:t>    "PF-R03",</a:t>
            </a:r>
          </a:p>
          <a:p xmlns:a="http://schemas.openxmlformats.org/drawingml/2006/main">
            <a:r>
              <a:t>    "PF-R06",</a:t>
            </a:r>
          </a:p>
          <a:p xmlns:a="http://schemas.openxmlformats.org/drawingml/2006/main">
            <a:r>
              <a:t>    "PF-R08",</a:t>
            </a:r>
          </a:p>
          <a:p xmlns:a="http://schemas.openxmlformats.org/drawingml/2006/main">
            <a:r>
              <a:t>    "PF01",</a:t>
            </a:r>
          </a:p>
          <a:p xmlns:a="http://schemas.openxmlformats.org/drawingml/2006/main">
            <a:r>
              <a:t>    "PF02",</a:t>
            </a:r>
          </a:p>
          <a:p xmlns:a="http://schemas.openxmlformats.org/drawingml/2006/main">
            <a:r>
              <a:t>    "PF04",</a:t>
            </a:r>
          </a:p>
          <a:p xmlns:a="http://schemas.openxmlformats.org/drawingml/2006/main">
            <a:r>
              <a:t>    "PF-A09",</a:t>
            </a:r>
          </a:p>
          <a:p xmlns:a="http://schemas.openxmlformats.org/drawingml/2006/main">
            <a:r>
              <a:t>    "PF-A13",</a:t>
            </a:r>
          </a:p>
          <a:p xmlns:a="http://schemas.openxmlformats.org/drawingml/2006/main">
            <a:r>
              <a:t>    "PF-A15",</a:t>
            </a:r>
          </a:p>
          <a:p xmlns:a="http://schemas.openxmlformats.org/drawingml/2006/main">
            <a:r>
              <a:t>    "PF-A16",</a:t>
            </a:r>
          </a:p>
          <a:p xmlns:a="http://schemas.openxmlformats.org/drawingml/2006/main">
            <a:r>
              <a:t>    "PF08",</a:t>
            </a:r>
          </a:p>
          <a:p xmlns:a="http://schemas.openxmlformats.org/drawingml/2006/main">
            <a:r>
              <a:t>    "PF-A18",</a:t>
            </a:r>
          </a:p>
          <a:p xmlns:a="http://schemas.openxmlformats.org/drawingml/2006/main">
            <a:r>
              <a:t>    "PF-C03"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"ST-10",</a:t>
            </a:r>
          </a:p>
          <a:p xmlns:a="http://schemas.openxmlformats.org/drawingml/2006/main">
            <a:r>
              <a:t>  "number": 10,</a:t>
            </a:r>
          </a:p>
          <a:p xmlns:a="http://schemas.openxmlformats.org/drawingml/2006/main">
            <a:r>
              <a:t>  "direction": "지속가능 책임경영 이행",</a:t>
            </a:r>
          </a:p>
          <a:p xmlns:a="http://schemas.openxmlformats.org/drawingml/2006/main">
            <a:r>
              <a:t>  "strategy": "실용·성과·효율 지향 경영체계 구축",</a:t>
            </a:r>
          </a:p>
          <a:p xmlns:a="http://schemas.openxmlformats.org/drawingml/2006/main">
            <a:r>
              <a:t>  "solution": "계획·예산·성과 업무지원",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"1016050",</a:t>
            </a:r>
          </a:p>
          <a:p xmlns:a="http://schemas.openxmlformats.org/drawingml/2006/main">
            <a:r>
              <a:t>    "1016042",</a:t>
            </a:r>
          </a:p>
          <a:p xmlns:a="http://schemas.openxmlformats.org/drawingml/2006/main">
            <a:r>
              <a:t>    "1018034",</a:t>
            </a:r>
          </a:p>
          <a:p xmlns:a="http://schemas.openxmlformats.org/drawingml/2006/main">
            <a:r>
              <a:t>    "1018030"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"부서별 계획·예산·계약·성과 증빙 관리",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"계획–예산–집행–성과의 업무건 연결",</a:t>
            </a:r>
          </a:p>
          <a:p xmlns:a="http://schemas.openxmlformats.org/drawingml/2006/main">
            <a:r>
              <a:t>    "작성·검토·전결·결산 역할별 자료 구성"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"성과 근거표·경영 검토자료",</a:t>
            </a:r>
          </a:p>
          <a:p xmlns:a="http://schemas.openxmlformats.org/drawingml/2006/main">
            <a:r>
              <a:t>  "acceptance": "예산·집행·성과 원천 대사 및 전결·위임에 따른 접근/승인 확인",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"GAI-T05",</a:t>
            </a:r>
          </a:p>
          <a:p xmlns:a="http://schemas.openxmlformats.org/drawingml/2006/main">
            <a:r>
              <a:t>    "GAI-T08",</a:t>
            </a:r>
          </a:p>
          <a:p xmlns:a="http://schemas.openxmlformats.org/drawingml/2006/main">
            <a:r>
              <a:t>    "GAI-T09"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"예산 편성·집행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예산의 편성‧집행‧운영 관리",</a:t>
            </a:r>
          </a:p>
          <a:p xmlns:a="http://schemas.openxmlformats.org/drawingml/2006/main">
            <a:r>
              <a:t>        "4. 예산집행실적 및 차이분석에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"1016042",</a:t>
            </a:r>
          </a:p>
          <a:p xmlns:a="http://schemas.openxmlformats.org/drawingml/2006/main">
            <a:r>
              <a:t>      "name": "혁신성과처",</a:t>
            </a:r>
          </a:p>
          <a:p xmlns:a="http://schemas.openxmlformats.org/drawingml/2006/main">
            <a:r>
              <a:t>      "job": "기관·부서 성과평가",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"내부경영평가(BSC, MBO)에 관한 업무",</a:t>
            </a:r>
          </a:p>
          <a:p xmlns:a="http://schemas.openxmlformats.org/drawingml/2006/main">
            <a:r>
              <a:t>        "4. 임원, 부서장 경영계약 및 이행실적 평가에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"계약·결산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"5. 구매․공사 및 용역 등의 계약에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"문서·정보공개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"5. 정보공개제도의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"AX09",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"AX10",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"AX21",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"AX24",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"성과·경영 문서 검토 지원",</a:t>
            </a:r>
          </a:p>
          <a:p xmlns:a="http://schemas.openxmlformats.org/drawingml/2006/main">
            <a:r>
              <a:t>  "delta": "근거 자료·산식·업무 수행시간 계측",</a:t>
            </a:r>
          </a:p>
          <a:p xmlns:a="http://schemas.openxmlformats.org/drawingml/2006/main">
            <a:r>
              <a:t>  "kpi": "완료시간 / 재작업률 / 업무당 비용",</a:t>
            </a:r>
          </a:p>
          <a:p xmlns:a="http://schemas.openxmlformats.org/drawingml/2006/main">
            <a:r>
              <a:t>  "validation": "동일 난도 비교군·검토시간 포함 평가",</a:t>
            </a:r>
          </a:p>
          <a:p xmlns:a="http://schemas.openxmlformats.org/drawingml/2006/main">
            <a:r>
              <a:t>  "requirement": "BM-ST-10-R01",</a:t>
            </a:r>
          </a:p>
          <a:p xmlns:a="http://schemas.openxmlformats.org/drawingml/2006/main">
            <a:r>
              <a:t>  "test": "BM-ST-10-T01",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"검토·재작업을 포함한 업무시간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"계획·예산·집행·계약·성과 자료, 지표 산식, 전결표",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"사업·업무건 식별",</a:t>
            </a:r>
          </a:p>
          <a:p xmlns:a="http://schemas.openxmlformats.org/drawingml/2006/main">
            <a:r>
              <a:t>    "계획–집행–성과 원천 대사",</a:t>
            </a:r>
          </a:p>
          <a:p xmlns:a="http://schemas.openxmlformats.org/drawingml/2006/main">
            <a:r>
              <a:t>    "산식·판본·전결 검토",</a:t>
            </a:r>
          </a:p>
          <a:p xmlns:a="http://schemas.openxmlformats.org/drawingml/2006/main">
            <a:r>
              <a:t>    "검토자료 작성·보완"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"1016050",</a:t>
            </a:r>
          </a:p>
          <a:p xmlns:a="http://schemas.openxmlformats.org/drawingml/2006/main">
            <a:r>
              <a:t>      "name": "예산처",</a:t>
            </a:r>
          </a:p>
          <a:p xmlns:a="http://schemas.openxmlformats.org/drawingml/2006/main">
            <a:r>
              <a:t>      "job": "예산 편성·집행 분석",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예산의 편성‧집행‧운영 관리",</a:t>
            </a:r>
          </a:p>
          <a:p xmlns:a="http://schemas.openxmlformats.org/drawingml/2006/main">
            <a:r>
              <a:t>        "4. 예산집행실적 및 차이분석에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"RULEWORK-1016050-3",</a:t>
            </a:r>
          </a:p>
          <a:p xmlns:a="http://schemas.openxmlformats.org/drawingml/2006/main">
            <a:r>
              <a:t>          "text": "3. 예산의 편성‧집행‧운영 관리",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"RULEWORK-1016050-3-T01",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"RULEWORK-1016050-3-T02",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"RULEWORK-1016050-4",</a:t>
            </a:r>
          </a:p>
          <a:p xmlns:a="http://schemas.openxmlformats.org/drawingml/2006/main">
            <a:r>
              <a:t>          "text": "4. 예산집행실적 및 차이분석에 관한 사항",</a:t>
            </a:r>
          </a:p>
          <a:p xmlns:a="http://schemas.openxmlformats.org/drawingml/2006/main">
            <a:r>
              <a:t>          "locator": "별표4 · T36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"RULEWORK-1016050-4-T01",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"RULEWORK-1016050-4-T02",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"RULEWORK-1016050-4-R03",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"RULEWORK-1016050-4-T03",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"1016042",</a:t>
            </a:r>
          </a:p>
          <a:p xmlns:a="http://schemas.openxmlformats.org/drawingml/2006/main">
            <a:r>
              <a:t>      "name": "혁신성과처",</a:t>
            </a:r>
          </a:p>
          <a:p xmlns:a="http://schemas.openxmlformats.org/drawingml/2006/main">
            <a:r>
              <a:t>      "job": "기관·부서 성과평가",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1,</a:t>
            </a:r>
          </a:p>
          <a:p xmlns:a="http://schemas.openxmlformats.org/drawingml/2006/main">
            <a:r>
              <a:t>        3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"내부경영평가(BSC, MBO)에 관한 업무",</a:t>
            </a:r>
          </a:p>
          <a:p xmlns:a="http://schemas.openxmlformats.org/drawingml/2006/main">
            <a:r>
              <a:t>        "4. 임원, 부서장 경영계약 및 이행실적 평가에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5행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"RULEWORK-1016042-2",</a:t>
            </a:r>
          </a:p>
          <a:p xmlns:a="http://schemas.openxmlformats.org/drawingml/2006/main">
            <a:r>
              <a:t>          "text": "내부경영평가(BSC, MBO)에 관한 업무",</a:t>
            </a:r>
          </a:p>
          <a:p xmlns:a="http://schemas.openxmlformats.org/drawingml/2006/main">
            <a:r>
              <a:t>          "locator": "별표4 · T36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"RULEWORK-1016042-2-T01",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"RULEWORK-1016042-2-T02",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"RULEWORK-1016042-2-T03",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"RULEWORK-1016042-4",</a:t>
            </a:r>
          </a:p>
          <a:p xmlns:a="http://schemas.openxmlformats.org/drawingml/2006/main">
            <a:r>
              <a:t>          "text": "4. 임원, 부서장 경영계약 및 이행실적 평가에 관한 업무",</a:t>
            </a:r>
          </a:p>
          <a:p xmlns:a="http://schemas.openxmlformats.org/drawingml/2006/main">
            <a:r>
              <a:t>          "locator": "별표4 · T36 · 5행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"RULEWORK-1016042-4-T01",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"RULEWORK-1016042-4-T02",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"RULEWORK-1016042-4-R03",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"RULEWORK-1016042-4-T03",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"계약·결산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"5. 구매․공사 및 용역 등의 계약에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"RULEWORK-1018034-4",</a:t>
            </a:r>
          </a:p>
          <a:p xmlns:a="http://schemas.openxmlformats.org/drawingml/2006/main">
            <a:r>
              <a:t>          "text": "4. 연간·월간 회계결산 및 연차 결산보고서 작성 보고",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"RULEWORK-1018034-5",</a:t>
            </a:r>
          </a:p>
          <a:p xmlns:a="http://schemas.openxmlformats.org/drawingml/2006/main">
            <a:r>
              <a:t>          "text": "5. 구매․공사 및 용역 등의 계약에 관한 사항",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"RULEWORK-1018034-5-T01",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"RULEWORK-1018034-5-T02",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"문서·정보공개 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4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"5. 정보공개제도의 운영 및 관리"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"RULEWORK-1018030-4",</a:t>
            </a:r>
          </a:p>
          <a:p xmlns:a="http://schemas.openxmlformats.org/drawingml/2006/main">
            <a:r>
              <a:t>          "text": "4. 문서의 접수·분류·수발·처리 및 보존관리",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"RULEWORK-1018030-4-T01",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"RULEWORK-1018030-4-T02",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"RULEWORK-1018030-5",</a:t>
            </a:r>
          </a:p>
          <a:p xmlns:a="http://schemas.openxmlformats.org/drawingml/2006/main">
            <a:r>
              <a:t>          "text": "5. 정보공개제도의 운영 및 관리",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"RULEWORK-1018030-5-R01",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"문의 유형별 지식·소관·안내 서식 선택",</a:t>
            </a:r>
          </a:p>
          <a:p xmlns:a="http://schemas.openxmlformats.org/drawingml/2006/main">
            <a:r>
              <a:t>              "output": "분류·근거 답변·이관·처리 기록",</a:t>
            </a:r>
          </a:p>
          <a:p xmlns:a="http://schemas.openxmlformats.org/drawingml/2006/main">
            <a:r>
              <a:t>              "testId": "RULEWORK-1018030-5-T01",</a:t>
            </a:r>
          </a:p>
          <a:p xmlns:a="http://schemas.openxmlformats.org/drawingml/2006/main">
            <a:r>
              <a:t>              "criterion": "소관·기한·근거·안내 내용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"RULEWORK-1018030-5-R02",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"접수–이관–수락–답변·민감정보 제한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"RULEWORK-1018030-5-T02",</a:t>
            </a:r>
          </a:p>
          <a:p xmlns:a="http://schemas.openxmlformats.org/drawingml/2006/main">
            <a:r>
              <a:t>              "criterion": "민감 원문 노출·무권한 약속·처분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"RULEWORK-1018030-5-R03",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"RULEWORK-1018030-5-T03",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문서 검색·요약·서식"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"Audin·JET의 증빙 검토·구조화"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"사업–예산–성과 연결표",</a:t>
            </a:r>
          </a:p>
          <a:p xmlns:a="http://schemas.openxmlformats.org/drawingml/2006/main">
            <a:r>
              <a:t>    "지표 산식 검증·검토시간 계측"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"집행 중복, 다른 보고기간, 산식 오류, 전결권 부재",</a:t>
            </a:r>
          </a:p>
          <a:p xmlns:a="http://schemas.openxmlformats.org/drawingml/2006/main">
            <a:r>
              <a:t>    "criterion": "원천 합계 일치·오류 보류·권한별 결과 분리",</a:t>
            </a:r>
          </a:p>
          <a:p xmlns:a="http://schemas.openxmlformats.org/drawingml/2006/main">
            <a:r>
              <a:t>    "evidence": "원천 대사표·업무시간 기록·보완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"최종 검토까지 소요시간 중앙값 / 재작업 건수 ÷ 완료 건수 / 업무당 비용",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"PF-R01",</a:t>
            </a:r>
          </a:p>
          <a:p xmlns:a="http://schemas.openxmlformats.org/drawingml/2006/main">
            <a:r>
              <a:t>    "PF-R03",</a:t>
            </a:r>
          </a:p>
          <a:p xmlns:a="http://schemas.openxmlformats.org/drawingml/2006/main">
            <a:r>
              <a:t>    "PF-R06",</a:t>
            </a:r>
          </a:p>
          <a:p xmlns:a="http://schemas.openxmlformats.org/drawingml/2006/main">
            <a:r>
              <a:t>    "PF-R08",</a:t>
            </a:r>
          </a:p>
          <a:p xmlns:a="http://schemas.openxmlformats.org/drawingml/2006/main">
            <a:r>
              <a:t>    "PF01",</a:t>
            </a:r>
          </a:p>
          <a:p xmlns:a="http://schemas.openxmlformats.org/drawingml/2006/main">
            <a:r>
              <a:t>    "PF02",</a:t>
            </a:r>
          </a:p>
          <a:p xmlns:a="http://schemas.openxmlformats.org/drawingml/2006/main">
            <a:r>
              <a:t>    "PF04",</a:t>
            </a:r>
          </a:p>
          <a:p xmlns:a="http://schemas.openxmlformats.org/drawingml/2006/main">
            <a:r>
              <a:t>    "PF-A09",</a:t>
            </a:r>
          </a:p>
          <a:p xmlns:a="http://schemas.openxmlformats.org/drawingml/2006/main">
            <a:r>
              <a:t>    "PF-A13",</a:t>
            </a:r>
          </a:p>
          <a:p xmlns:a="http://schemas.openxmlformats.org/drawingml/2006/main">
            <a:r>
              <a:t>    "PF-A15",</a:t>
            </a:r>
          </a:p>
          <a:p xmlns:a="http://schemas.openxmlformats.org/drawingml/2006/main">
            <a:r>
              <a:t>    "PF-A16",</a:t>
            </a:r>
          </a:p>
          <a:p xmlns:a="http://schemas.openxmlformats.org/drawingml/2006/main">
            <a:r>
              <a:t>    "PF08",</a:t>
            </a:r>
          </a:p>
          <a:p xmlns:a="http://schemas.openxmlformats.org/drawingml/2006/main">
            <a:r>
              <a:t>    "PF-A18",</a:t>
            </a:r>
          </a:p>
          <a:p xmlns:a="http://schemas.openxmlformats.org/drawingml/2006/main">
            <a:r>
              <a:t>    "PF-C03"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"ST-11",</a:t>
            </a:r>
          </a:p>
          <a:p xmlns:a="http://schemas.openxmlformats.org/drawingml/2006/main">
            <a:r>
              <a:t>  "number": 11,</a:t>
            </a:r>
          </a:p>
          <a:p xmlns:a="http://schemas.openxmlformats.org/drawingml/2006/main">
            <a:r>
              <a:t>  "direction": "지속가능 책임경영 이행",</a:t>
            </a:r>
          </a:p>
          <a:p xmlns:a="http://schemas.openxmlformats.org/drawingml/2006/main">
            <a:r>
              <a:t>  "strategy": "지속가능 ESG 경영성과 실현",</a:t>
            </a:r>
          </a:p>
          <a:p xmlns:a="http://schemas.openxmlformats.org/drawingml/2006/main">
            <a:r>
              <a:t>  "solution": "ESG 이행·증빙 관리",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"1016047",</a:t>
            </a:r>
          </a:p>
          <a:p xmlns:a="http://schemas.openxmlformats.org/drawingml/2006/main">
            <a:r>
              <a:t>    "1016043",</a:t>
            </a:r>
          </a:p>
          <a:p xmlns:a="http://schemas.openxmlformats.org/drawingml/2006/main">
            <a:r>
              <a:t>    "1019040",</a:t>
            </a:r>
          </a:p>
          <a:p xmlns:a="http://schemas.openxmlformats.org/drawingml/2006/main">
            <a:r>
              <a:t>    "1018034"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"ESG·사회가치·안전보건·환경 실적의 부서 협업",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"지표별 정의·보고기간·증빙·책임자 연결",</a:t>
            </a:r>
          </a:p>
          <a:p xmlns:a="http://schemas.openxmlformats.org/drawingml/2006/main">
            <a:r>
              <a:t>    "이행과제·공시 항목·검토 이력 정리"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"ESG 증빙대장·공시 검토 초안",</a:t>
            </a:r>
          </a:p>
          <a:p xmlns:a="http://schemas.openxmlformats.org/drawingml/2006/main">
            <a:r>
              <a:t>  "acceptance": "공시 수치의 원천·판본 추적 및 누락/중복 증빙 식별",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"GAI-T11"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"ESG 총괄·보고서",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ESG․지속가능․윤리․인권경영에 관한 업무 총괄",</a:t>
            </a:r>
          </a:p>
          <a:p xmlns:a="http://schemas.openxmlformats.org/drawingml/2006/main">
            <a:r>
              <a:t>        "10. 지속가능경영보고서(ESG보고서) 발간에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"안전경영 성과관리",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안전경영 성과관리 및 안전촉진 활동에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정책자료",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"회계·계약 증빙",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"10. 회계․계약관련 제도개선 및 회계감사·세무조사에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"ESG 증빙·공시 검토 지원",</a:t>
            </a:r>
          </a:p>
          <a:p xmlns:a="http://schemas.openxmlformats.org/drawingml/2006/main">
            <a:r>
              <a:t>  "delta": "지표별 산식·원천·검토자·변경 이력 연결",</a:t>
            </a:r>
          </a:p>
          <a:p xmlns:a="http://schemas.openxmlformats.org/drawingml/2006/main">
            <a:r>
              <a:t>  "kpi": "증빙 누락률 / 공시 검토시간",</a:t>
            </a:r>
          </a:p>
          <a:p xmlns:a="http://schemas.openxmlformats.org/drawingml/2006/main">
            <a:r>
              <a:t>  "validation": "산식·원문 불일치와 보고 누락 주입 시험",</a:t>
            </a:r>
          </a:p>
          <a:p xmlns:a="http://schemas.openxmlformats.org/drawingml/2006/main">
            <a:r>
              <a:t>  "requirement": "BM-ST-11-R01",</a:t>
            </a:r>
          </a:p>
          <a:p xmlns:a="http://schemas.openxmlformats.org/drawingml/2006/main">
            <a:r>
              <a:t>  "test": "BM-ST-11-T01",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"공시 근거 누락·검토시간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"ESG 지표 정의, 환경·안전·사회가치 실적, 공시 근거",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"지표·기간·담당 연결",</a:t>
            </a:r>
          </a:p>
          <a:p xmlns:a="http://schemas.openxmlformats.org/drawingml/2006/main">
            <a:r>
              <a:t>    "원천 증빙 수집",</a:t>
            </a:r>
          </a:p>
          <a:p xmlns:a="http://schemas.openxmlformats.org/drawingml/2006/main">
            <a:r>
              <a:t>    "중복·산식 대사",</a:t>
            </a:r>
          </a:p>
          <a:p xmlns:a="http://schemas.openxmlformats.org/drawingml/2006/main">
            <a:r>
              <a:t>    "검토·공시 판본 관리"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"ESG 총괄·보고서",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ESG․지속가능․윤리․인권경영에 관한 업무 총괄",</a:t>
            </a:r>
          </a:p>
          <a:p xmlns:a="http://schemas.openxmlformats.org/drawingml/2006/main">
            <a:r>
              <a:t>        "10. 지속가능경영보고서(ESG보고서) 발간에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"RULEWORK-1016047-1",</a:t>
            </a:r>
          </a:p>
          <a:p xmlns:a="http://schemas.openxmlformats.org/drawingml/2006/main">
            <a:r>
              <a:t>          "text": "1. ESG․지속가능․윤리․인권경영에 관한 업무 총괄",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"지표 정의·기간별 실적·증빙 분류",</a:t>
            </a:r>
          </a:p>
          <a:p xmlns:a="http://schemas.openxmlformats.org/drawingml/2006/main">
            <a:r>
              <a:t>              "output": "지표·누락·개선·공시 검토자료",</a:t>
            </a:r>
          </a:p>
          <a:p xmlns:a="http://schemas.openxmlformats.org/drawingml/2006/main">
            <a:r>
              <a:t>              "testId": "RULEWORK-1016047-1-T01",</a:t>
            </a:r>
          </a:p>
          <a:p xmlns:a="http://schemas.openxmlformats.org/drawingml/2006/main">
            <a:r>
              <a:t>              "criterion": "분모·기간·중복 실적·주장별 증빙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"활동–성과–공시 근거·승인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"RULEWORK-1016047-1-T02",</a:t>
            </a:r>
          </a:p>
          <a:p xmlns:a="http://schemas.openxmlformats.org/drawingml/2006/main">
            <a:r>
              <a:t>              "criterion": "미입증 성과·공시 수치의 확정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"RULEWORK-1016047-13",</a:t>
            </a:r>
          </a:p>
          <a:p xmlns:a="http://schemas.openxmlformats.org/drawingml/2006/main">
            <a:r>
              <a:t>          "text": "10. 지속가능경영보고서(ESG보고서) 발간에 관한 업무",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"지표 정의·기간별 실적·증빙 분류",</a:t>
            </a:r>
          </a:p>
          <a:p xmlns:a="http://schemas.openxmlformats.org/drawingml/2006/main">
            <a:r>
              <a:t>              "output": "지표·누락·개선·공시 검토자료",</a:t>
            </a:r>
          </a:p>
          <a:p xmlns:a="http://schemas.openxmlformats.org/drawingml/2006/main">
            <a:r>
              <a:t>              "testId": "RULEWORK-1016047-13-T01",</a:t>
            </a:r>
          </a:p>
          <a:p xmlns:a="http://schemas.openxmlformats.org/drawingml/2006/main">
            <a:r>
              <a:t>              "criterion": "분모·기간·중복 실적·주장별 증빙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"활동–성과–공시 근거·승인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"RULEWORK-1016047-13-T02",</a:t>
            </a:r>
          </a:p>
          <a:p xmlns:a="http://schemas.openxmlformats.org/drawingml/2006/main">
            <a:r>
              <a:t>              "criterion": "미입증 성과·공시 수치의 확정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"안전경영 성과관리",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안전경영 성과관리 및 안전촉진 활동에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"RULEWORK-1016043-2",</a:t>
            </a:r>
          </a:p>
          <a:p xmlns:a="http://schemas.openxmlformats.org/drawingml/2006/main">
            <a:r>
              <a:t>          "text": "2. 안전경영 성과관리 및 안전촉진 활동에 관한 업무",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"작업·위험 유형별 기준·증빙 분류",</a:t>
            </a:r>
          </a:p>
          <a:p xmlns:a="http://schemas.openxmlformats.org/drawingml/2006/main">
            <a:r>
              <a:t>              "output": "위험·예방조치·이행·재점검표",</a:t>
            </a:r>
          </a:p>
          <a:p xmlns:a="http://schemas.openxmlformats.org/drawingml/2006/main">
            <a:r>
              <a:t>              "testId": "RULEWORK-1016043-2-T01",</a:t>
            </a:r>
          </a:p>
          <a:p xmlns:a="http://schemas.openxmlformats.org/drawingml/2006/main">
            <a:r>
              <a:t>              "criterion": "중대 위험·미이행·반복 지적의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"개선 책임·기한·이행·재확인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"RULEWORK-1016043-2-T02",</a:t>
            </a:r>
          </a:p>
          <a:p xmlns:a="http://schemas.openxmlformats.org/drawingml/2006/main">
            <a:r>
              <a:t>              "criterion": "필수 조치 미완료 건의 안전 확인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정책자료",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"RULEWORK-1019040-6",</a:t>
            </a:r>
          </a:p>
          <a:p xmlns:a="http://schemas.openxmlformats.org/drawingml/2006/main">
            <a:r>
              <a:t>          "text": "6. 교통물류 정책관련 연구‧사업 업무",</a:t>
            </a:r>
          </a:p>
          <a:p xmlns:a="http://schemas.openxmlformats.org/drawingml/2006/main">
            <a:r>
              <a:t>          "locator": "별표4 · T40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"RULEWORK-1019040-6-T01",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"RULEWORK-1019040-6-T02",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"회계·계약 증빙",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"10. 회계․계약관련 제도개선 및 회계감사·세무조사에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"RULEWORK-1018034-4",</a:t>
            </a:r>
          </a:p>
          <a:p xmlns:a="http://schemas.openxmlformats.org/drawingml/2006/main">
            <a:r>
              <a:t>          "text": "4. 연간·월간 회계결산 및 연차 결산보고서 작성 보고",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"RULEWORK-1018034-10",</a:t>
            </a:r>
          </a:p>
          <a:p xmlns:a="http://schemas.openxmlformats.org/drawingml/2006/main">
            <a:r>
              <a:t>          "text": "10. 회계․계약관련 제도개선 및 회계감사·세무조사에 관한 사항",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"RULEWORK-1018034-10-T01",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"RULEWORK-1018034-10-T02",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공시 초안·근거 검색"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"Audin·Torus의 증빙·검토 기록"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"지표–원천–검토자 연결표",</a:t>
            </a:r>
          </a:p>
          <a:p xmlns:a="http://schemas.openxmlformats.org/drawingml/2006/main">
            <a:r>
              <a:t>    "중복 증빙·산식·공시 판본 검증"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"중복 실적, 다른 기간 증빙, 근거 없는 수치",</a:t>
            </a:r>
          </a:p>
          <a:p xmlns:a="http://schemas.openxmlformats.org/drawingml/2006/main">
            <a:r>
              <a:t>    "criterion": "중복 제외·원천 재현·미비 공시 보류",</a:t>
            </a:r>
          </a:p>
          <a:p xmlns:a="http://schemas.openxmlformats.org/drawingml/2006/main">
            <a:r>
              <a:t>    "evidence": "지표별 증빙대장·계산 대사·검토 이력",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"근거 추적 가능 지표 수 ÷ 대상 지표 수 / 공시 검토 소요시간",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"ST-11",</a:t>
            </a:r>
          </a:p>
          <a:p xmlns:a="http://schemas.openxmlformats.org/drawingml/2006/main">
            <a:r>
              <a:t>  "number": 11,</a:t>
            </a:r>
          </a:p>
          <a:p xmlns:a="http://schemas.openxmlformats.org/drawingml/2006/main">
            <a:r>
              <a:t>  "direction": "지속가능 책임경영 이행",</a:t>
            </a:r>
          </a:p>
          <a:p xmlns:a="http://schemas.openxmlformats.org/drawingml/2006/main">
            <a:r>
              <a:t>  "strategy": "지속가능 ESG 경영성과 실현",</a:t>
            </a:r>
          </a:p>
          <a:p xmlns:a="http://schemas.openxmlformats.org/drawingml/2006/main">
            <a:r>
              <a:t>  "solution": "ESG 이행·증빙 관리",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"1016047",</a:t>
            </a:r>
          </a:p>
          <a:p xmlns:a="http://schemas.openxmlformats.org/drawingml/2006/main">
            <a:r>
              <a:t>    "1016043",</a:t>
            </a:r>
          </a:p>
          <a:p xmlns:a="http://schemas.openxmlformats.org/drawingml/2006/main">
            <a:r>
              <a:t>    "1019040",</a:t>
            </a:r>
          </a:p>
          <a:p xmlns:a="http://schemas.openxmlformats.org/drawingml/2006/main">
            <a:r>
              <a:t>    "1018034"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"ESG·사회가치·안전보건·환경 실적의 부서 협업",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"지표별 정의·보고기간·증빙·책임자 연결",</a:t>
            </a:r>
          </a:p>
          <a:p xmlns:a="http://schemas.openxmlformats.org/drawingml/2006/main">
            <a:r>
              <a:t>    "이행과제·공시 항목·검토 이력 정리"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"ESG 증빙대장·공시 검토 초안",</a:t>
            </a:r>
          </a:p>
          <a:p xmlns:a="http://schemas.openxmlformats.org/drawingml/2006/main">
            <a:r>
              <a:t>  "acceptance": "공시 수치의 원천·판본 추적 및 누락/중복 증빙 식별",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"ON-W04",</a:t>
            </a:r>
          </a:p>
          <a:p xmlns:a="http://schemas.openxmlformats.org/drawingml/2006/main">
            <a:r>
              <a:t>    "ON-W05",</a:t>
            </a:r>
          </a:p>
          <a:p xmlns:a="http://schemas.openxmlformats.org/drawingml/2006/main">
            <a:r>
              <a:t>    "ON-W06"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"GAI-T06",</a:t>
            </a:r>
          </a:p>
          <a:p xmlns:a="http://schemas.openxmlformats.org/drawingml/2006/main">
            <a:r>
              <a:t>    "GAI-T07",</a:t>
            </a:r>
          </a:p>
          <a:p xmlns:a="http://schemas.openxmlformats.org/drawingml/2006/main">
            <a:r>
              <a:t>    "GAI-T11"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"ESG 총괄·보고서",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ESG․지속가능․윤리․인권경영에 관한 업무 총괄",</a:t>
            </a:r>
          </a:p>
          <a:p xmlns:a="http://schemas.openxmlformats.org/drawingml/2006/main">
            <a:r>
              <a:t>        "10. 지속가능경영보고서(ESG보고서) 발간에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"안전경영 성과관리",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안전경영 성과관리 및 안전촉진 활동에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정책자료",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"회계·계약 증빙",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"10. 회계․계약관련 제도개선 및 회계감사·세무조사에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"AX08",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"AX12",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"AX14",</a:t>
            </a:r>
          </a:p>
          <a:p xmlns:a="http://schemas.openxmlformats.org/drawingml/2006/main">
            <a:r>
              <a:t>      "type": "직접 업무 유사"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"ESG 증빙·공시 검토 지원",</a:t>
            </a:r>
          </a:p>
          <a:p xmlns:a="http://schemas.openxmlformats.org/drawingml/2006/main">
            <a:r>
              <a:t>  "delta": "지표별 산식·원천·검토자·변경 이력 연결",</a:t>
            </a:r>
          </a:p>
          <a:p xmlns:a="http://schemas.openxmlformats.org/drawingml/2006/main">
            <a:r>
              <a:t>  "kpi": "증빙 누락률 / 공시 검토시간",</a:t>
            </a:r>
          </a:p>
          <a:p xmlns:a="http://schemas.openxmlformats.org/drawingml/2006/main">
            <a:r>
              <a:t>  "validation": "산식·원문 불일치와 보고 누락 주입 시험",</a:t>
            </a:r>
          </a:p>
          <a:p xmlns:a="http://schemas.openxmlformats.org/drawingml/2006/main">
            <a:r>
              <a:t>  "requirement": "BM-ST-11-R01",</a:t>
            </a:r>
          </a:p>
          <a:p xmlns:a="http://schemas.openxmlformats.org/drawingml/2006/main">
            <a:r>
              <a:t>  "test": "BM-ST-11-T01",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"공시 근거 누락·검토시간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"ESG 지표 정의, 환경·안전·사회가치 실적, 공시 근거",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"지표·기간·담당 연결",</a:t>
            </a:r>
          </a:p>
          <a:p xmlns:a="http://schemas.openxmlformats.org/drawingml/2006/main">
            <a:r>
              <a:t>    "원천 증빙 수집",</a:t>
            </a:r>
          </a:p>
          <a:p xmlns:a="http://schemas.openxmlformats.org/drawingml/2006/main">
            <a:r>
              <a:t>    "중복·산식 대사",</a:t>
            </a:r>
          </a:p>
          <a:p xmlns:a="http://schemas.openxmlformats.org/drawingml/2006/main">
            <a:r>
              <a:t>    "검토·공시 판본 관리"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"ESG 총괄·보고서",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0,</a:t>
            </a:r>
          </a:p>
          <a:p xmlns:a="http://schemas.openxmlformats.org/drawingml/2006/main">
            <a:r>
              <a:t>        12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"1. ESG․지속가능․윤리․인권경영에 관한 업무 총괄",</a:t>
            </a:r>
          </a:p>
          <a:p xmlns:a="http://schemas.openxmlformats.org/drawingml/2006/main">
            <a:r>
              <a:t>        "10. 지속가능경영보고서(ESG보고서) 발간에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"RULEWORK-1016047-1",</a:t>
            </a:r>
          </a:p>
          <a:p xmlns:a="http://schemas.openxmlformats.org/drawingml/2006/main">
            <a:r>
              <a:t>          "text": "1. ESG․지속가능․윤리․인권경영에 관한 업무 총괄",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"지표 정의·기간별 실적·증빙 분류",</a:t>
            </a:r>
          </a:p>
          <a:p xmlns:a="http://schemas.openxmlformats.org/drawingml/2006/main">
            <a:r>
              <a:t>              "output": "지표·누락·개선·공시 검토자료",</a:t>
            </a:r>
          </a:p>
          <a:p xmlns:a="http://schemas.openxmlformats.org/drawingml/2006/main">
            <a:r>
              <a:t>              "testId": "RULEWORK-1016047-1-T01",</a:t>
            </a:r>
          </a:p>
          <a:p xmlns:a="http://schemas.openxmlformats.org/drawingml/2006/main">
            <a:r>
              <a:t>              "criterion": "분모·기간·중복 실적·주장별 증빙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"활동–성과–공시 근거·승인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"RULEWORK-1016047-1-T02",</a:t>
            </a:r>
          </a:p>
          <a:p xmlns:a="http://schemas.openxmlformats.org/drawingml/2006/main">
            <a:r>
              <a:t>              "criterion": "미입증 성과·공시 수치의 확정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"RULEWORK-1016047-13",</a:t>
            </a:r>
          </a:p>
          <a:p xmlns:a="http://schemas.openxmlformats.org/drawingml/2006/main">
            <a:r>
              <a:t>          "text": "10. 지속가능경영보고서(ESG보고서) 발간에 관한 업무",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"지표 정의·기간별 실적·증빙 분류",</a:t>
            </a:r>
          </a:p>
          <a:p xmlns:a="http://schemas.openxmlformats.org/drawingml/2006/main">
            <a:r>
              <a:t>              "output": "지표·누락·개선·공시 검토자료",</a:t>
            </a:r>
          </a:p>
          <a:p xmlns:a="http://schemas.openxmlformats.org/drawingml/2006/main">
            <a:r>
              <a:t>              "testId": "RULEWORK-1016047-13-T01",</a:t>
            </a:r>
          </a:p>
          <a:p xmlns:a="http://schemas.openxmlformats.org/drawingml/2006/main">
            <a:r>
              <a:t>              "criterion": "분모·기간·중복 실적·주장별 증빙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"활동–성과–공시 근거·승인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"RULEWORK-1016047-13-T02",</a:t>
            </a:r>
          </a:p>
          <a:p xmlns:a="http://schemas.openxmlformats.org/drawingml/2006/main">
            <a:r>
              <a:t>              "criterion": "미입증 성과·공시 수치의 확정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"1016043",</a:t>
            </a:r>
          </a:p>
          <a:p xmlns:a="http://schemas.openxmlformats.org/drawingml/2006/main">
            <a:r>
              <a:t>      "name": "안전보건실",</a:t>
            </a:r>
          </a:p>
          <a:p xmlns:a="http://schemas.openxmlformats.org/drawingml/2006/main">
            <a:r>
              <a:t>      "job": "안전경영 성과관리",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1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"2. 안전경영 성과관리 및 안전촉진 활동에 관한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T34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"RULEWORK-1016043-2",</a:t>
            </a:r>
          </a:p>
          <a:p xmlns:a="http://schemas.openxmlformats.org/drawingml/2006/main">
            <a:r>
              <a:t>          "text": "2. 안전경영 성과관리 및 안전촉진 활동에 관한 업무",</a:t>
            </a:r>
          </a:p>
          <a:p xmlns:a="http://schemas.openxmlformats.org/drawingml/2006/main">
            <a:r>
              <a:t>          "locator": "별표4 · T34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"RULEWORK-1016043-2-R01",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"작업·위험 유형별 기준·증빙 분류",</a:t>
            </a:r>
          </a:p>
          <a:p xmlns:a="http://schemas.openxmlformats.org/drawingml/2006/main">
            <a:r>
              <a:t>              "output": "위험·예방조치·이행·재점검표",</a:t>
            </a:r>
          </a:p>
          <a:p xmlns:a="http://schemas.openxmlformats.org/drawingml/2006/main">
            <a:r>
              <a:t>              "testId": "RULEWORK-1016043-2-T01",</a:t>
            </a:r>
          </a:p>
          <a:p xmlns:a="http://schemas.openxmlformats.org/drawingml/2006/main">
            <a:r>
              <a:t>              "criterion": "중대 위험·미이행·반복 지적의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"RULEWORK-1016043-2-R02",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"개선 책임·기한·이행·재확인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"RULEWORK-1016043-2-T02",</a:t>
            </a:r>
          </a:p>
          <a:p xmlns:a="http://schemas.openxmlformats.org/drawingml/2006/main">
            <a:r>
              <a:t>              "criterion": "필수 조치 미완료 건의 안전 확인 처리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"RULEWORK-1016043-2-R03",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"RULEWORK-1016043-2-T03",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"1019040",</a:t>
            </a:r>
          </a:p>
          <a:p xmlns:a="http://schemas.openxmlformats.org/drawingml/2006/main">
            <a:r>
              <a:t>      "name": "기후탄소물류처",</a:t>
            </a:r>
          </a:p>
          <a:p xmlns:a="http://schemas.openxmlformats.org/drawingml/2006/main">
            <a:r>
              <a:t>      "job": "교통물류 정책자료",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교통물류 정책관련 연구‧사업 업무"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T40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"RULEWORK-1019040-6",</a:t>
            </a:r>
          </a:p>
          <a:p xmlns:a="http://schemas.openxmlformats.org/drawingml/2006/main">
            <a:r>
              <a:t>          "text": "6. 교통물류 정책관련 연구‧사업 업무",</a:t>
            </a:r>
          </a:p>
          <a:p xmlns:a="http://schemas.openxmlformats.org/drawingml/2006/main">
            <a:r>
              <a:t>          "locator": "별표4 · T40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"경계·단위·계수 판본별 산정자료 분류",</a:t>
            </a:r>
          </a:p>
          <a:p xmlns:a="http://schemas.openxmlformats.org/drawingml/2006/main">
            <a:r>
              <a:t>              "output": "산식·실적·누락·감축 검토표",</a:t>
            </a:r>
          </a:p>
          <a:p xmlns:a="http://schemas.openxmlformats.org/drawingml/2006/main">
            <a:r>
              <a:t>              "testId": "RULEWORK-1019040-6-T01",</a:t>
            </a:r>
          </a:p>
          <a:p xmlns:a="http://schemas.openxmlformats.org/drawingml/2006/main">
            <a:r>
              <a:t>              "criterion": "단위·산정 경계·중복 실적·계수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"실적 원장·계수·검토·승인 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"RULEWORK-1019040-6-T02",</a:t>
            </a:r>
          </a:p>
          <a:p xmlns:a="http://schemas.openxmlformats.org/drawingml/2006/main">
            <a:r>
              <a:t>              "criterion": "근거 없는 감축량·인증 결과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"RULEWORK-1019040-6-R03",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"RULEWORK-1019040-6-T03",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"1018034",</a:t>
            </a:r>
          </a:p>
          <a:p xmlns:a="http://schemas.openxmlformats.org/drawingml/2006/main">
            <a:r>
              <a:t>      "name": "재정회계처",</a:t>
            </a:r>
          </a:p>
          <a:p xmlns:a="http://schemas.openxmlformats.org/drawingml/2006/main">
            <a:r>
              <a:t>      "job": "회계·계약 증빙",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9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연간·월간 회계결산 및 연차 결산보고서 작성 보고",</a:t>
            </a:r>
          </a:p>
          <a:p xmlns:a="http://schemas.openxmlformats.org/drawingml/2006/main">
            <a:r>
              <a:t>        "10. 회계․계약관련 제도개선 및 회계감사·세무조사에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4행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"RULEWORK-1018034-4",</a:t>
            </a:r>
          </a:p>
          <a:p xmlns:a="http://schemas.openxmlformats.org/drawingml/2006/main">
            <a:r>
              <a:t>          "text": "4. 연간·월간 회계결산 및 연차 결산보고서 작성 보고",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"RULEWORK-1018034-4-T01",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"RULEWORK-1018034-4-T02",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"RULEWORK-1018034-10",</a:t>
            </a:r>
          </a:p>
          <a:p xmlns:a="http://schemas.openxmlformats.org/drawingml/2006/main">
            <a:r>
              <a:t>          "text": "10. 회계․계약관련 제도개선 및 회계감사·세무조사에 관한 사항",</a:t>
            </a:r>
          </a:p>
          <a:p xmlns:a="http://schemas.openxmlformats.org/drawingml/2006/main">
            <a:r>
              <a:t>          "locator": "별표4 · T38 · 4행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"과업·변경·검수·지급 조건 구조화",</a:t>
            </a:r>
          </a:p>
          <a:p xmlns:a="http://schemas.openxmlformats.org/drawingml/2006/main">
            <a:r>
              <a:t>              "output": "의무·검수·청구·지출 대조표",</a:t>
            </a:r>
          </a:p>
          <a:p xmlns:a="http://schemas.openxmlformats.org/drawingml/2006/main">
            <a:r>
              <a:t>              "testId": "RULEWORK-1018034-10-T01",</a:t>
            </a:r>
          </a:p>
          <a:p xmlns:a="http://schemas.openxmlformats.org/drawingml/2006/main">
            <a:r>
              <a:t>              "criterion": "원장 합계·의무·증빙·중복 청구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"계약–산출물–검수–청구의 ID·판본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"RULEWORK-1018034-10-T02",</a:t>
            </a:r>
          </a:p>
          <a:p xmlns:a="http://schemas.openxmlformats.org/drawingml/2006/main">
            <a:r>
              <a:t>              "criterion": "전결·검수 근거 없는 지급·공식 승인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"RULEWORK-1018034-10-R03",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"RULEWORK-1018034-10-T03",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공시 초안·근거 검색"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"Audin·Torus의 증빙·검토 기록"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"지표–원천–검토자 연결표",</a:t>
            </a:r>
          </a:p>
          <a:p xmlns:a="http://schemas.openxmlformats.org/drawingml/2006/main">
            <a:r>
              <a:t>    "중복 증빙·산식·공시 판본 검증"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"중복 실적, 다른 기간 증빙, 근거 없는 수치",</a:t>
            </a:r>
          </a:p>
          <a:p xmlns:a="http://schemas.openxmlformats.org/drawingml/2006/main">
            <a:r>
              <a:t>    "criterion": "중복 제외·원천 재현·미비 공시 보류",</a:t>
            </a:r>
          </a:p>
          <a:p xmlns:a="http://schemas.openxmlformats.org/drawingml/2006/main">
            <a:r>
              <a:t>    "evidence": "지표별 증빙대장·계산 대사·검토 이력",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"근거 추적 가능 지표 수 ÷ 대상 지표 수 / 공시 검토 소요시간",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"ST-12",</a:t>
            </a:r>
          </a:p>
          <a:p xmlns:a="http://schemas.openxmlformats.org/drawingml/2006/main">
            <a:r>
              <a:t>  "number": 12,</a:t>
            </a:r>
          </a:p>
          <a:p xmlns:a="http://schemas.openxmlformats.org/drawingml/2006/main">
            <a:r>
              <a:t>  "direction": "지속가능 책임경영 이행",</a:t>
            </a:r>
          </a:p>
          <a:p xmlns:a="http://schemas.openxmlformats.org/drawingml/2006/main">
            <a:r>
              <a:t>  "strategy": "자율·참여·소통·공정 조직문화 조성",</a:t>
            </a:r>
          </a:p>
          <a:p xmlns:a="http://schemas.openxmlformats.org/drawingml/2006/main">
            <a:r>
              <a:t>  "solution": "조직 협업·인수인계 지원",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"1018037",</a:t>
            </a:r>
          </a:p>
          <a:p xmlns:a="http://schemas.openxmlformats.org/drawingml/2006/main">
            <a:r>
              <a:t>    "1018030",</a:t>
            </a:r>
          </a:p>
          <a:p xmlns:a="http://schemas.openxmlformats.org/drawingml/2006/main">
            <a:r>
              <a:t>    "1016047",</a:t>
            </a:r>
          </a:p>
          <a:p xmlns:a="http://schemas.openxmlformats.org/drawingml/2006/main">
            <a:r>
              <a:t>    "1019600"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"업무분장·담당자 탐색·인수인계·조직 지식 공유",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"소속·직무·겸직에 따른 업무 지식 연결",</a:t>
            </a:r>
          </a:p>
          <a:p xmlns:a="http://schemas.openxmlformats.org/drawingml/2006/main">
            <a:r>
              <a:t>    "이동·대행·협업 요청의 인계·수락 관리"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"직무별 안내·인수인계 묶음",</a:t>
            </a:r>
          </a:p>
          <a:p xmlns:a="http://schemas.openxmlformats.org/drawingml/2006/main">
            <a:r>
              <a:t>  "acceptance": "인사이동 후 소속/권한 회수·겸직 맥락 확인·민감정보 최소수집 검증",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"ON-W02",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"GAI-T03",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"인사·직무교육",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"9. 직무교육, 계층교육, 자기계발교육 등 교육훈련 업무 총괄"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"문서·노사관계",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"6. 임금․단체협약 등 노사관계 업무에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"기업문화·내부 소통",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10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기업문화에 관한 업무",</a:t>
            </a:r>
          </a:p>
          <a:p xmlns:a="http://schemas.openxmlformats.org/drawingml/2006/main">
            <a:r>
              <a:t>        "- 내부 소통 채널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역량강화",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임직원 인공지능(AI) 역량강화 교육 및 역량진단"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"AX04",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"AX02",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"조직 협업·참여·공정성 지원",</a:t>
            </a:r>
          </a:p>
          <a:p xmlns:a="http://schemas.openxmlformats.org/drawingml/2006/main">
            <a:r>
              <a:t>  "delta": "역할별 인계·평가 피드백·이의제기 보호",</a:t>
            </a:r>
          </a:p>
          <a:p xmlns:a="http://schemas.openxmlformats.org/drawingml/2006/main">
            <a:r>
              <a:t>  "kpi": "인계 완료시간 / 부서별 오류율 편차",</a:t>
            </a:r>
          </a:p>
          <a:p xmlns:a="http://schemas.openxmlformats.org/drawingml/2006/main">
            <a:r>
              <a:t>  "validation": "겸직·대행·전보·접근 회수·의견 보호 시험",</a:t>
            </a:r>
          </a:p>
          <a:p xmlns:a="http://schemas.openxmlformats.org/drawingml/2006/main">
            <a:r>
              <a:t>  "requirement": "BM-ST-12-R01",</a:t>
            </a:r>
          </a:p>
          <a:p xmlns:a="http://schemas.openxmlformats.org/drawingml/2006/main">
            <a:r>
              <a:t>  "test": "BM-ST-12-T01",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"인계 누락·담당자 탐색시간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"직무분장·인사변경, 인계 대상 업무, 교육·참여 기록",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"직무·역할·변경일 확인",</a:t>
            </a:r>
          </a:p>
          <a:p xmlns:a="http://schemas.openxmlformats.org/drawingml/2006/main">
            <a:r>
              <a:t>    "허용 인계자료 구성",</a:t>
            </a:r>
          </a:p>
          <a:p xmlns:a="http://schemas.openxmlformats.org/drawingml/2006/main">
            <a:r>
              <a:t>    "협업 요청·수락 추적",</a:t>
            </a:r>
          </a:p>
          <a:p xmlns:a="http://schemas.openxmlformats.org/drawingml/2006/main">
            <a:r>
              <a:t>    "권한 회수·이의 확인"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"인사·직무교육",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"9. 직무교육, 계층교육, 자기계발교육 등 교육훈련 업무 총괄"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"RULEWORK-1018037-3",</a:t>
            </a:r>
          </a:p>
          <a:p xmlns:a="http://schemas.openxmlformats.org/drawingml/2006/main">
            <a:r>
              <a:t>          "text": "3. 직원의 채용, 승진, 전보 등 임용 및 보직에 관한 업무",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"RULEWORK-1018037-9",</a:t>
            </a:r>
          </a:p>
          <a:p xmlns:a="http://schemas.openxmlformats.org/drawingml/2006/main">
            <a:r>
              <a:t>          "text": "9. 직무교육, 계층교육, 자기계발교육 등 교육훈련 업무 총괄",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"RULEWORK-1018037-9-R01",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"RULEWORK-1018037-9-T01",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"RULEWORK-1018037-9-R02",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"RULEWORK-1018037-9-T02",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"RULEWORK-1018037-9-R03",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"RULEWORK-1018037-9-T03",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"문서·노사관계",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"6. 임금․단체협약 등 노사관계 업무에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"RULEWORK-1018030-4",</a:t>
            </a:r>
          </a:p>
          <a:p xmlns:a="http://schemas.openxmlformats.org/drawingml/2006/main">
            <a:r>
              <a:t>          "text": "4. 문서의 접수·분류·수발·처리 및 보존관리",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"RULEWORK-1018030-4-T01",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"RULEWORK-1018030-4-T02",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"RULEWORK-1018030-6",</a:t>
            </a:r>
          </a:p>
          <a:p xmlns:a="http://schemas.openxmlformats.org/drawingml/2006/main">
            <a:r>
              <a:t>          "text": "6. 임금․단체협약 등 노사관계 업무에 관한 사항",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"RULEWORK-1018030-6-T01",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"RULEWORK-1018030-6-T02",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"기업문화·내부 소통",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10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기업문화에 관한 업무",</a:t>
            </a:r>
          </a:p>
          <a:p xmlns:a="http://schemas.openxmlformats.org/drawingml/2006/main">
            <a:r>
              <a:t>        "- 내부 소통 채널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"RULEWORK-1016047-10",</a:t>
            </a:r>
          </a:p>
          <a:p xmlns:a="http://schemas.openxmlformats.org/drawingml/2006/main">
            <a:r>
              <a:t>          "text": "8. 기업문화에 관한 업무",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"RULEWORK-1016047-10-T01",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"RULEWORK-1016047-10-T02",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"RULEWORK-1016047-11",</a:t>
            </a:r>
          </a:p>
          <a:p xmlns:a="http://schemas.openxmlformats.org/drawingml/2006/main">
            <a:r>
              <a:t>          "text": "- 내부 소통 채널 운영",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"RULEWORK-1016047-11-T01",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"RULEWORK-1016047-11-T02",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역량강화",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임직원 인공지능(AI) 역량강화 교육 및 역량진단"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"RULEWORK-1019600-6",</a:t>
            </a:r>
          </a:p>
          <a:p xmlns:a="http://schemas.openxmlformats.org/drawingml/2006/main">
            <a:r>
              <a:t>          "text": "6. 임직원 인공지능(AI) 역량강화 교육 및 역량진단",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"RULEWORK-1019600-6-T01",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"RULEWORK-1019600-6-T02",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직무 지식 검색·요약"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"Foundry·Torus의 인계 절차·기록 명세"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"겸직·대행·전보별 인계 규칙",</a:t>
            </a:r>
          </a:p>
          <a:p xmlns:a="http://schemas.openxmlformats.org/drawingml/2006/main">
            <a:r>
              <a:t>    "민감 의견 분리·수락/회수 추적"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"전보 당일, 기간 만료 대행, 민감 의견, 미수락 인계",</a:t>
            </a:r>
          </a:p>
          <a:p xmlns:a="http://schemas.openxmlformats.org/drawingml/2006/main">
            <a:r>
              <a:t>    "criterion": "전임 접근 회수·겸직 맥락 확인·의견 비노출·미수락 유지",</a:t>
            </a:r>
          </a:p>
          <a:p xmlns:a="http://schemas.openxmlformats.org/drawingml/2006/main">
            <a:r>
              <a:t>    "evidence": "변경 전후 권한표·인계 수락 기록·거부셋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"인계 수락까지 소요시간 / 누락 업무 수 ÷ 대상 업무 수 / 부서별 오류율 차이",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"PF-R02",</a:t>
            </a:r>
          </a:p>
          <a:p xmlns:a="http://schemas.openxmlformats.org/drawingml/2006/main">
            <a:r>
              <a:t>    "PF-R06",</a:t>
            </a:r>
          </a:p>
          <a:p xmlns:a="http://schemas.openxmlformats.org/drawingml/2006/main">
            <a:r>
              <a:t>    "PF05",</a:t>
            </a:r>
          </a:p>
          <a:p xmlns:a="http://schemas.openxmlformats.org/drawingml/2006/main">
            <a:r>
              <a:t>    "PF-A08",</a:t>
            </a:r>
          </a:p>
          <a:p xmlns:a="http://schemas.openxmlformats.org/drawingml/2006/main">
            <a:r>
              <a:t>    "PF-A09",</a:t>
            </a:r>
          </a:p>
          <a:p xmlns:a="http://schemas.openxmlformats.org/drawingml/2006/main">
            <a:r>
              <a:t>    "PF-A13",</a:t>
            </a:r>
          </a:p>
          <a:p xmlns:a="http://schemas.openxmlformats.org/drawingml/2006/main">
            <a:r>
              <a:t>    "PF-A14",</a:t>
            </a:r>
          </a:p>
          <a:p xmlns:a="http://schemas.openxmlformats.org/drawingml/2006/main">
            <a:r>
              <a:t>    "PF-A15",</a:t>
            </a:r>
          </a:p>
          <a:p xmlns:a="http://schemas.openxmlformats.org/drawingml/2006/main">
            <a:r>
              <a:t>    "PF08",</a:t>
            </a:r>
          </a:p>
          <a:p xmlns:a="http://schemas.openxmlformats.org/drawingml/2006/main">
            <a:r>
              <a:t>    "PF-C01",</a:t>
            </a:r>
          </a:p>
          <a:p xmlns:a="http://schemas.openxmlformats.org/drawingml/2006/main">
            <a:r>
              <a:t>    "PF-C02",</a:t>
            </a:r>
          </a:p>
          <a:p xmlns:a="http://schemas.openxmlformats.org/drawingml/2006/main">
            <a:r>
              <a:t>    "PF-C03"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"id": "ST-12",</a:t>
            </a:r>
          </a:p>
          <a:p xmlns:a="http://schemas.openxmlformats.org/drawingml/2006/main">
            <a:r>
              <a:t>  "number": 12,</a:t>
            </a:r>
          </a:p>
          <a:p xmlns:a="http://schemas.openxmlformats.org/drawingml/2006/main">
            <a:r>
              <a:t>  "direction": "지속가능 책임경영 이행",</a:t>
            </a:r>
          </a:p>
          <a:p xmlns:a="http://schemas.openxmlformats.org/drawingml/2006/main">
            <a:r>
              <a:t>  "strategy": "자율·참여·소통·공정 조직문화 조성",</a:t>
            </a:r>
          </a:p>
          <a:p xmlns:a="http://schemas.openxmlformats.org/drawingml/2006/main">
            <a:r>
              <a:t>  "solution": "조직 협업·인수인계 지원",</a:t>
            </a:r>
          </a:p>
          <a:p xmlns:a="http://schemas.openxmlformats.org/drawingml/2006/main">
            <a:r>
              <a:t>  "lawIds": [],</a:t>
            </a:r>
          </a:p>
          <a:p xmlns:a="http://schemas.openxmlformats.org/drawingml/2006/main">
            <a:r>
              <a:t>  "codes": [</a:t>
            </a:r>
          </a:p>
          <a:p xmlns:a="http://schemas.openxmlformats.org/drawingml/2006/main">
            <a:r>
              <a:t>    "1018037",</a:t>
            </a:r>
          </a:p>
          <a:p xmlns:a="http://schemas.openxmlformats.org/drawingml/2006/main">
            <a:r>
              <a:t>    "1018030",</a:t>
            </a:r>
          </a:p>
          <a:p xmlns:a="http://schemas.openxmlformats.org/drawingml/2006/main">
            <a:r>
              <a:t>    "1016047",</a:t>
            </a:r>
          </a:p>
          <a:p xmlns:a="http://schemas.openxmlformats.org/drawingml/2006/main">
            <a:r>
              <a:t>    "1019600"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"work": "업무분장·담당자 탐색·인수인계·조직 지식 공유",</a:t>
            </a:r>
          </a:p>
          <a:p xmlns:a="http://schemas.openxmlformats.org/drawingml/2006/main">
            <a:r>
              <a:t>  "features": [</a:t>
            </a:r>
          </a:p>
          <a:p xmlns:a="http://schemas.openxmlformats.org/drawingml/2006/main">
            <a:r>
              <a:t>    "소속·직무·겸직에 따른 업무 지식 연결",</a:t>
            </a:r>
          </a:p>
          <a:p xmlns:a="http://schemas.openxmlformats.org/drawingml/2006/main">
            <a:r>
              <a:t>    "이동·대행·협업 요청의 인계·수락 관리"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"output": "직무별 안내·인수인계 묶음",</a:t>
            </a:r>
          </a:p>
          <a:p xmlns:a="http://schemas.openxmlformats.org/drawingml/2006/main">
            <a:r>
              <a:t>  "acceptance": "인사이동 후 소속/권한 회수·겸직 맥락 확인·민감정보 최소수집 검증",</a:t>
            </a:r>
          </a:p>
          <a:p xmlns:a="http://schemas.openxmlformats.org/drawingml/2006/main">
            <a:r>
              <a:t>  "phase": "공통 기반 인수 후 부서별 적용",</a:t>
            </a:r>
          </a:p>
          <a:p xmlns:a="http://schemas.openxmlformats.org/drawingml/2006/main">
            <a:r>
              <a:t>  "packages": [</a:t>
            </a:r>
          </a:p>
          <a:p xmlns:a="http://schemas.openxmlformats.org/drawingml/2006/main">
            <a:r>
              <a:t>    "ON-W01",</a:t>
            </a:r>
          </a:p>
          <a:p xmlns:a="http://schemas.openxmlformats.org/drawingml/2006/main">
            <a:r>
              <a:t>    "ON-W02",</a:t>
            </a:r>
          </a:p>
          <a:p xmlns:a="http://schemas.openxmlformats.org/drawingml/2006/main">
            <a:r>
              <a:t>    "ON-W03",</a:t>
            </a:r>
          </a:p>
          <a:p xmlns:a="http://schemas.openxmlformats.org/drawingml/2006/main">
            <a:r>
              <a:t>    "ON-W05"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"tests": [</a:t>
            </a:r>
          </a:p>
          <a:p xmlns:a="http://schemas.openxmlformats.org/drawingml/2006/main">
            <a:r>
              <a:t>    "GAI-T02",</a:t>
            </a:r>
          </a:p>
          <a:p xmlns:a="http://schemas.openxmlformats.org/drawingml/2006/main">
            <a:r>
              <a:t>    "GAI-T03",</a:t>
            </a:r>
          </a:p>
          <a:p xmlns:a="http://schemas.openxmlformats.org/drawingml/2006/main">
            <a:r>
              <a:t>    "GAI-T04",</a:t>
            </a:r>
          </a:p>
          <a:p xmlns:a="http://schemas.openxmlformats.org/drawingml/2006/main">
            <a:r>
              <a:t>    "GAI-T07"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"status": "솔루션·조직·범위 연결안",</a:t>
            </a:r>
          </a:p>
          <a:p xmlns:a="http://schemas.openxmlformats.org/drawingml/2006/main">
            <a:r>
              <a:t>  "basis": "설립법·직제시행세칙 기반 경영지원 업무",</a:t>
            </a:r>
          </a:p>
          <a:p xmlns:a="http://schemas.openxmlformats.org/drawingml/2006/main">
            <a:r>
              <a:t>  "foundation": "ON27-BASE / C27-COM",</a:t>
            </a:r>
          </a:p>
          <a:p xmlns:a="http://schemas.openxmlformats.org/drawingml/2006/main">
            <a:r>
              <a:t>  "dutyBindings":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"인사·직무교육",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"9. 직무교육, 계층교육, 자기계발교육 등 교육훈련 업무 총괄"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"문서·노사관계",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"6. 임금․단체협약 등 노사관계 업무에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"기업문화·내부 소통",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10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기업문화에 관한 업무",</a:t>
            </a:r>
          </a:p>
          <a:p xmlns:a="http://schemas.openxmlformats.org/drawingml/2006/main">
            <a:r>
              <a:t>        "- 내부 소통 채널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역량강화",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임직원 인공지능(AI) 역량강화 교육 및 역량진단"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"basisNote": "설립법·별표4 내부 업무분장 / 인사·재무·계약·전결 등 업무별 규정의 별도 확인",</a:t>
            </a:r>
          </a:p>
          <a:p xmlns:a="http://schemas.openxmlformats.org/drawingml/2006/main">
            <a:r>
              <a:t>  "caseRefs":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"AX04",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"AX02",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"AX03",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"AX07",</a:t>
            </a:r>
          </a:p>
          <a:p xmlns:a="http://schemas.openxmlformats.org/drawingml/2006/main">
            <a:r>
              <a:t>      "type": "실패 통제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"AX15",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"caseId": "AX26",</a:t>
            </a:r>
          </a:p>
          <a:p xmlns:a="http://schemas.openxmlformats.org/drawingml/2006/main">
            <a:r>
              <a:t>      "type": "방법론 참조"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"plan": "조직 협업·참여·공정성 지원",</a:t>
            </a:r>
          </a:p>
          <a:p xmlns:a="http://schemas.openxmlformats.org/drawingml/2006/main">
            <a:r>
              <a:t>  "delta": "역할별 인계·평가 피드백·이의제기 보호",</a:t>
            </a:r>
          </a:p>
          <a:p xmlns:a="http://schemas.openxmlformats.org/drawingml/2006/main">
            <a:r>
              <a:t>  "kpi": "인계 완료시간 / 부서별 오류율 편차",</a:t>
            </a:r>
          </a:p>
          <a:p xmlns:a="http://schemas.openxmlformats.org/drawingml/2006/main">
            <a:r>
              <a:t>  "validation": "겸직·대행·전보·접근 회수·의견 보호 시험",</a:t>
            </a:r>
          </a:p>
          <a:p xmlns:a="http://schemas.openxmlformats.org/drawingml/2006/main">
            <a:r>
              <a:t>  "requirement": "BM-ST-12-R01",</a:t>
            </a:r>
          </a:p>
          <a:p xmlns:a="http://schemas.openxmlformats.org/drawingml/2006/main">
            <a:r>
              <a:t>  "test": "BM-ST-12-T01",</a:t>
            </a:r>
          </a:p>
          <a:p xmlns:a="http://schemas.openxmlformats.org/drawingml/2006/main">
            <a:r>
              <a:t>  "effectStatus": "기대 방향 · TS 실측 전",</a:t>
            </a:r>
          </a:p>
          <a:p xmlns:a="http://schemas.openxmlformats.org/drawingml/2006/main">
            <a:r>
              <a:t>  "effect": "인계 누락·담당자 탐색시간 감소",</a:t>
            </a:r>
          </a:p>
          <a:p xmlns:a="http://schemas.openxmlformats.org/drawingml/2006/main">
            <a:r>
              <a:t>  "reuse": "ON27-BASE / C27-COM + CCK 재사용 판정 기능",</a:t>
            </a:r>
          </a:p>
          <a:p xmlns:a="http://schemas.openxmlformats.org/drawingml/2006/main">
            <a:r>
              <a:t>  "input": "직무분장·인사변경, 인계 대상 업무, 교육·참여 기록",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"직무·역할·변경일 확인",</a:t>
            </a:r>
          </a:p>
          <a:p xmlns:a="http://schemas.openxmlformats.org/drawingml/2006/main">
            <a:r>
              <a:t>    "허용 인계자료 구성",</a:t>
            </a:r>
          </a:p>
          <a:p xmlns:a="http://schemas.openxmlformats.org/drawingml/2006/main">
            <a:r>
              <a:t>    "협업 요청·수락 추적",</a:t>
            </a:r>
          </a:p>
          <a:p xmlns:a="http://schemas.openxmlformats.org/drawingml/2006/main">
            <a:r>
              <a:t>    "권한 회수·이의 확인"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"departments":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"1018037",</a:t>
            </a:r>
          </a:p>
          <a:p xmlns:a="http://schemas.openxmlformats.org/drawingml/2006/main">
            <a:r>
              <a:t>      "name": "인재개발처",</a:t>
            </a:r>
          </a:p>
          <a:p xmlns:a="http://schemas.openxmlformats.org/drawingml/2006/main">
            <a:r>
              <a:t>      "job": "인사·직무교육",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2,</a:t>
            </a:r>
          </a:p>
          <a:p xmlns:a="http://schemas.openxmlformats.org/drawingml/2006/main">
            <a:r>
              <a:t>        8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"3. 직원의 채용, 승진, 전보 등 임용 및 보직에 관한 업무",</a:t>
            </a:r>
          </a:p>
          <a:p xmlns:a="http://schemas.openxmlformats.org/drawingml/2006/main">
            <a:r>
              <a:t>        "9. 직무교육, 계층교육, 자기계발교육 등 교육훈련 업무 총괄"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"RULEWORK-1018037-3",</a:t>
            </a:r>
          </a:p>
          <a:p xmlns:a="http://schemas.openxmlformats.org/drawingml/2006/main">
            <a:r>
              <a:t>          "text": "3. 직원의 채용, 승진, 전보 등 임용 및 보직에 관한 업무",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"공식 키·별칭·승계 관계 매핑",</a:t>
            </a:r>
          </a:p>
          <a:p xmlns:a="http://schemas.openxmlformats.org/drawingml/2006/main">
            <a:r>
              <a:t>              "output": "조직·직무·역할·유효기간표",</a:t>
            </a:r>
          </a:p>
          <a:p xmlns:a="http://schemas.openxmlformats.org/drawingml/2006/main">
            <a:r>
              <a:t>              "testId": "RULEWORK-1018037-3-T01",</a:t>
            </a:r>
          </a:p>
          <a:p xmlns:a="http://schemas.openxmlformats.org/drawingml/2006/main">
            <a:r>
              <a:t>              "criterion": "동명이인·효력일 전후·겸직·종료 정답셋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"이동·겸직·종료에 따른 권한·캐시 재검증",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"RULEWORK-1018037-3-T02",</a:t>
            </a:r>
          </a:p>
          <a:p xmlns:a="http://schemas.openxmlformats.org/drawingml/2006/main">
            <a:r>
              <a:t>              "criterion": "종료된 소속·권한의 재사용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"RULEWORK-1018037-3-R03",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"RULEWORK-1018037-3-T03",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"RULEWORK-1018037-9",</a:t>
            </a:r>
          </a:p>
          <a:p xmlns:a="http://schemas.openxmlformats.org/drawingml/2006/main">
            <a:r>
              <a:t>          "text": "9. 직무교육, 계층교육, 자기계발교육 등 교육훈련 업무 총괄",</a:t>
            </a:r>
          </a:p>
          <a:p xmlns:a="http://schemas.openxmlformats.org/drawingml/2006/main">
            <a:r>
              <a:t>          "locator": "별표4 · T38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"RULEWORK-1018037-9-R01",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"RULEWORK-1018037-9-T01",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"RULEWORK-1018037-9-R02",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"RULEWORK-1018037-9-T02",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"RULEWORK-1018037-9-R03",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"RULEWORK-1018037-9-T03",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"1018030",</a:t>
            </a:r>
          </a:p>
          <a:p xmlns:a="http://schemas.openxmlformats.org/drawingml/2006/main">
            <a:r>
              <a:t>      "name": "운영지원처",</a:t>
            </a:r>
          </a:p>
          <a:p xmlns:a="http://schemas.openxmlformats.org/drawingml/2006/main">
            <a:r>
              <a:t>      "job": "문서·노사관계",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3,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"4. 문서의 접수·분류·수발·처리 및 보존관리",</a:t>
            </a:r>
          </a:p>
          <a:p xmlns:a="http://schemas.openxmlformats.org/drawingml/2006/main">
            <a:r>
              <a:t>        "6. 임금․단체협약 등 노사관계 업무에 관한 사항"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T38 · 2행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"RULEWORK-1018030-4",</a:t>
            </a:r>
          </a:p>
          <a:p xmlns:a="http://schemas.openxmlformats.org/drawingml/2006/main">
            <a:r>
              <a:t>          "text": "4. 문서의 접수·분류·수발·처리 및 보존관리",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"업무 목적·문서유형별 근거·서식 선택",</a:t>
            </a:r>
          </a:p>
          <a:p xmlns:a="http://schemas.openxmlformats.org/drawingml/2006/main">
            <a:r>
              <a:t>              "output": "근거·일정·보완·보고 초안",</a:t>
            </a:r>
          </a:p>
          <a:p xmlns:a="http://schemas.openxmlformats.org/drawingml/2006/main">
            <a:r>
              <a:t>              "testId": "RULEWORK-1018030-4-T01",</a:t>
            </a:r>
          </a:p>
          <a:p xmlns:a="http://schemas.openxmlformats.org/drawingml/2006/main">
            <a:r>
              <a:t>              "criterion": "원문 인용·수치·기한·누락 항목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"요구–문서–검토–승인과 변경 이력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"RULEWORK-1018030-4-T02",</a:t>
            </a:r>
          </a:p>
          <a:p xmlns:a="http://schemas.openxmlformats.org/drawingml/2006/main">
            <a:r>
              <a:t>              "criterion": "근거 없는 승인·법적 판단·이행 완료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"RULEWORK-1018030-4-R03",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"RULEWORK-1018030-4-T03",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"RULEWORK-1018030-6",</a:t>
            </a:r>
          </a:p>
          <a:p xmlns:a="http://schemas.openxmlformats.org/drawingml/2006/main">
            <a:r>
              <a:t>          "text": "6. 임금․단체협약 등 노사관계 업무에 관한 사항",</a:t>
            </a:r>
          </a:p>
          <a:p xmlns:a="http://schemas.openxmlformats.org/drawingml/2006/main">
            <a:r>
              <a:t>          "locator": "별표4 · T38 · 2행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"RULEWORK-1018030-6-T01",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"RULEWORK-1018030-6-T02",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"RULEWORK-1018030-6-R03",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"RULEWORK-1018030-6-T03",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"1016047",</a:t>
            </a:r>
          </a:p>
          <a:p xmlns:a="http://schemas.openxmlformats.org/drawingml/2006/main">
            <a:r>
              <a:t>      "name": "ESG경영처",</a:t>
            </a:r>
          </a:p>
          <a:p xmlns:a="http://schemas.openxmlformats.org/drawingml/2006/main">
            <a:r>
              <a:t>      "job": "기업문화·내부 소통",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9,</a:t>
            </a:r>
          </a:p>
          <a:p xmlns:a="http://schemas.openxmlformats.org/drawingml/2006/main">
            <a:r>
              <a:t>        10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"8. 기업문화에 관한 업무",</a:t>
            </a:r>
          </a:p>
          <a:p xmlns:a="http://schemas.openxmlformats.org/drawingml/2006/main">
            <a:r>
              <a:t>        "- 내부 소통 채널 운영"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T36 · 6행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"RULEWORK-1016047-10",</a:t>
            </a:r>
          </a:p>
          <a:p xmlns:a="http://schemas.openxmlformats.org/drawingml/2006/main">
            <a:r>
              <a:t>          "text": "8. 기업문화에 관한 업무",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"RULEWORK-1016047-10-R01",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"RULEWORK-1016047-10-T01",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"RULEWORK-1016047-10-R02",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"RULEWORK-1016047-10-T02",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"RULEWORK-1016047-10-R03",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"RULEWORK-1016047-10-T03",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},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"RULEWORK-1016047-11",</a:t>
            </a:r>
          </a:p>
          <a:p xmlns:a="http://schemas.openxmlformats.org/drawingml/2006/main">
            <a:r>
              <a:t>          "text": "- 내부 소통 채널 운영",</a:t>
            </a:r>
          </a:p>
          <a:p xmlns:a="http://schemas.openxmlformats.org/drawingml/2006/main">
            <a:r>
              <a:t>          "locator": "별표4 · T36 · 6행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"RULEWORK-1016047-11-R01",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"RULEWORK-1016047-11-T01",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"RULEWORK-1016047-11-R02",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"RULEWORK-1016047-11-T02",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"RULEWORK-1016047-11-R03",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"RULEWORK-1016047-11-T03",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"code": "1019600",</a:t>
            </a:r>
          </a:p>
          <a:p xmlns:a="http://schemas.openxmlformats.org/drawingml/2006/main">
            <a:r>
              <a:t>      "name": "AI혁신처",</a:t>
            </a:r>
          </a:p>
          <a:p xmlns:a="http://schemas.openxmlformats.org/drawingml/2006/main">
            <a:r>
              <a:t>      "job": "AI 역량강화",</a:t>
            </a:r>
          </a:p>
          <a:p xmlns:a="http://schemas.openxmlformats.org/drawingml/2006/main">
            <a:r>
              <a:t>      "indices": [</a:t>
            </a:r>
          </a:p>
          <a:p xmlns:a="http://schemas.openxmlformats.org/drawingml/2006/main">
            <a:r>
              <a:t>        5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"duties": [</a:t>
            </a:r>
          </a:p>
          <a:p xmlns:a="http://schemas.openxmlformats.org/drawingml/2006/main">
            <a:r>
              <a:t>        "6. 임직원 인공지능(AI) 역량강화 교육 및 역량진단"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"locator": "별표4 · T37 · 3행 · 업무분장 열",</a:t>
            </a:r>
          </a:p>
          <a:p xmlns:a="http://schemas.openxmlformats.org/drawingml/2006/main">
            <a:r>
              <a:t>      "restriction": null,</a:t>
            </a:r>
          </a:p>
          <a:p xmlns:a="http://schemas.openxmlformats.org/drawingml/2006/main">
            <a:r>
              <a:t>      "status": "제공 세칙 원문 연결",</a:t>
            </a:r>
          </a:p>
          <a:p xmlns:a="http://schemas.openxmlformats.org/drawingml/2006/main">
            <a:r>
              <a:t>      "workItems": [</a:t>
            </a:r>
          </a:p>
          <a:p xmlns:a="http://schemas.openxmlformats.org/drawingml/2006/main">
            <a:r>
              <a:t>        {</a:t>
            </a:r>
          </a:p>
          <a:p xmlns:a="http://schemas.openxmlformats.org/drawingml/2006/main">
            <a:r>
              <a:t>          "id": "RULEWORK-1019600-6",</a:t>
            </a:r>
          </a:p>
          <a:p xmlns:a="http://schemas.openxmlformats.org/drawingml/2006/main">
            <a:r>
              <a:t>          "text": "6. 임직원 인공지능(AI) 역량강화 교육 및 역량진단",</a:t>
            </a:r>
          </a:p>
          <a:p xmlns:a="http://schemas.openxmlformats.org/drawingml/2006/main">
            <a:r>
              <a:t>          "locator": "별표4 · T37 · 3행 · 업무분장 열",</a:t>
            </a:r>
          </a:p>
          <a:p xmlns:a="http://schemas.openxmlformats.org/drawingml/2006/main">
            <a:r>
              <a:t>          "restriction": "",</a:t>
            </a:r>
          </a:p>
          <a:p xmlns:a="http://schemas.openxmlformats.org/drawingml/2006/main">
            <a:r>
              <a:t>          "requirements": [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"RULEWORK-1019600-6-R01",</a:t>
            </a:r>
          </a:p>
          <a:p xmlns:a="http://schemas.openxmlformats.org/drawingml/2006/main">
            <a:r>
              <a:t>              "title": "업무 맥락·전용 지식 구성",</a:t>
            </a:r>
          </a:p>
          <a:p xmlns:a="http://schemas.openxmlformats.org/drawingml/2006/main">
            <a:r>
              <a:t>              "development": "대상·소속·시점별 규정·서식 선택",</a:t>
            </a:r>
          </a:p>
          <a:p xmlns:a="http://schemas.openxmlformats.org/drawingml/2006/main">
            <a:r>
              <a:t>              "output": "규정 안내·요건·교육·협의 자료",</a:t>
            </a:r>
          </a:p>
          <a:p xmlns:a="http://schemas.openxmlformats.org/drawingml/2006/main">
            <a:r>
              <a:t>              "testId": "RULEWORK-1019600-6-T01",</a:t>
            </a:r>
          </a:p>
          <a:p xmlns:a="http://schemas.openxmlformats.org/drawingml/2006/main">
            <a:r>
              <a:t>              "criterion": "규정 판본·적용 대상·예외 정답 대조"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"RULEWORK-1019600-6-R02",</a:t>
            </a:r>
          </a:p>
          <a:p xmlns:a="http://schemas.openxmlformats.org/drawingml/2006/main">
            <a:r>
              <a:t>              "title": "업무건·역할·시스템 연결",</a:t>
            </a:r>
          </a:p>
          <a:p xmlns:a="http://schemas.openxmlformats.org/drawingml/2006/main">
            <a:r>
              <a:t>              "development": "개인정보 최소화·유효 권한·확인 절차 연결",</a:t>
            </a:r>
          </a:p>
          <a:p xmlns:a="http://schemas.openxmlformats.org/drawingml/2006/main">
            <a:r>
              <a:t>              "output": "업무건·원천·역할·변경 연결 명세",</a:t>
            </a:r>
          </a:p>
          <a:p xmlns:a="http://schemas.openxmlformats.org/drawingml/2006/main">
            <a:r>
              <a:t>              "testId": "RULEWORK-1019600-6-T02",</a:t>
            </a:r>
          </a:p>
          <a:p xmlns:a="http://schemas.openxmlformats.org/drawingml/2006/main">
            <a:r>
              <a:t>              "criterion": "채용·평가·징계 등 인사 결정 자동 확정 차단"</a:t>
            </a:r>
          </a:p>
          <a:p xmlns:a="http://schemas.openxmlformats.org/drawingml/2006/main">
            <a:r>
              <a:t>            },</a:t>
            </a:r>
          </a:p>
          <a:p xmlns:a="http://schemas.openxmlformats.org/drawingml/2006/main">
            <a:r>
              <a:t>            {</a:t>
            </a:r>
          </a:p>
          <a:p xmlns:a="http://schemas.openxmlformats.org/drawingml/2006/main">
            <a:r>
              <a:t>              "id": "RULEWORK-1019600-6-R03",</a:t>
            </a:r>
          </a:p>
          <a:p xmlns:a="http://schemas.openxmlformats.org/drawingml/2006/main">
            <a:r>
              <a:t>              "title": "현업 평가셋·운영 인수",</a:t>
            </a:r>
          </a:p>
          <a:p xmlns:a="http://schemas.openxmlformats.org/drawingml/2006/main">
            <a:r>
              <a:t>              "development": "해당 업무의 정상·예외·거부 사례와 판정 근거 구성",</a:t>
            </a:r>
          </a:p>
          <a:p xmlns:a="http://schemas.openxmlformats.org/drawingml/2006/main">
            <a:r>
              <a:t>              "output": "업무별 정답셋·결과·결함·재검증 기록",</a:t>
            </a:r>
          </a:p>
          <a:p xmlns:a="http://schemas.openxmlformats.org/drawingml/2006/main">
            <a:r>
              <a:t>              "testId": "RULEWORK-1019600-6-T03",</a:t>
            </a:r>
          </a:p>
          <a:p xmlns:a="http://schemas.openxmlformats.org/drawingml/2006/main">
            <a:r>
              <a:t>              "criterion": "평가셋·분모·목표의 착수 분석 단계 합의, 필수 거부셋 비인가 노출·실행 0건, 중대 결함 해소"</a:t>
            </a:r>
          </a:p>
          <a:p xmlns:a="http://schemas.openxmlformats.org/drawingml/2006/main">
            <a:r>
              <a:t>            }</a:t>
            </a:r>
          </a:p>
          <a:p xmlns:a="http://schemas.openxmlformats.org/drawingml/2006/main">
            <a:r>
              <a:t>          ]</a:t>
            </a:r>
          </a:p>
          <a:p xmlns:a="http://schemas.openxmlformats.org/drawingml/2006/main">
            <a:r>
              <a:t>        }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"reuseItems":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"CCK-01",</a:t>
            </a:r>
          </a:p>
          <a:p xmlns:a="http://schemas.openxmlformats.org/drawingml/2006/main">
            <a:r>
              <a:t>      "use": "NOA의 직무 지식 검색·요약"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"assetId": "CCK-02",</a:t>
            </a:r>
          </a:p>
          <a:p xmlns:a="http://schemas.openxmlformats.org/drawingml/2006/main">
            <a:r>
              <a:t>      "use": "Foundry·Torus의 인계 절차·기록 명세"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"deliverables": [</a:t>
            </a:r>
          </a:p>
          <a:p xmlns:a="http://schemas.openxmlformats.org/drawingml/2006/main">
            <a:r>
              <a:t>    "겸직·대행·전보별 인계 규칙",</a:t>
            </a:r>
          </a:p>
          <a:p xmlns:a="http://schemas.openxmlformats.org/drawingml/2006/main">
            <a:r>
              <a:t>    "민감 의견 분리·수락/회수 추적"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"acceptancePlan": {</a:t>
            </a:r>
          </a:p>
          <a:p xmlns:a="http://schemas.openxmlformats.org/drawingml/2006/main">
            <a:r>
              <a:t>    "sample": "전보 당일, 기간 만료 대행, 민감 의견, 미수락 인계",</a:t>
            </a:r>
          </a:p>
          <a:p xmlns:a="http://schemas.openxmlformats.org/drawingml/2006/main">
            <a:r>
              <a:t>    "criterion": "전임 접근 회수·겸직 맥락 확인·의견 비노출·미수락 유지",</a:t>
            </a:r>
          </a:p>
          <a:p xmlns:a="http://schemas.openxmlformats.org/drawingml/2006/main">
            <a:r>
              <a:t>    "evidence": "변경 전후 권한표·인계 수락 기록·거부셋 결과",</a:t>
            </a:r>
          </a:p>
          <a:p xmlns:a="http://schemas.openxmlformats.org/drawingml/2006/main">
            <a:r>
              <a:t>    "execution": "미실행"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"formula": "인계 수락까지 소요시간 / 누락 업무 수 ÷ 대상 업무 수 / 부서별 오류율 차이",</a:t>
            </a:r>
          </a:p>
          <a:p xmlns:a="http://schemas.openxmlformats.org/drawingml/2006/main">
            <a:r>
              <a:t>  "comparison": "동일 난도·동일 기간의 기존 방식 대비 평가 / 검토·재작업 포함 / 목표·표본 수의 착수 단계 합의",</a:t>
            </a:r>
          </a:p>
          <a:p xmlns:a="http://schemas.openxmlformats.org/drawingml/2006/main">
            <a:r>
              <a:t>  "platformCases": [</a:t>
            </a:r>
          </a:p>
          <a:p xmlns:a="http://schemas.openxmlformats.org/drawingml/2006/main">
            <a:r>
              <a:t>    "PF-R02",</a:t>
            </a:r>
          </a:p>
          <a:p xmlns:a="http://schemas.openxmlformats.org/drawingml/2006/main">
            <a:r>
              <a:t>    "PF-R06",</a:t>
            </a:r>
          </a:p>
          <a:p xmlns:a="http://schemas.openxmlformats.org/drawingml/2006/main">
            <a:r>
              <a:t>    "PF05",</a:t>
            </a:r>
          </a:p>
          <a:p xmlns:a="http://schemas.openxmlformats.org/drawingml/2006/main">
            <a:r>
              <a:t>    "PF-A08",</a:t>
            </a:r>
          </a:p>
          <a:p xmlns:a="http://schemas.openxmlformats.org/drawingml/2006/main">
            <a:r>
              <a:t>    "PF-A09",</a:t>
            </a:r>
          </a:p>
          <a:p xmlns:a="http://schemas.openxmlformats.org/drawingml/2006/main">
            <a:r>
              <a:t>    "PF-A13",</a:t>
            </a:r>
          </a:p>
          <a:p xmlns:a="http://schemas.openxmlformats.org/drawingml/2006/main">
            <a:r>
              <a:t>    "PF-A14",</a:t>
            </a:r>
          </a:p>
          <a:p xmlns:a="http://schemas.openxmlformats.org/drawingml/2006/main">
            <a:r>
              <a:t>    "PF-A15",</a:t>
            </a:r>
          </a:p>
          <a:p xmlns:a="http://schemas.openxmlformats.org/drawingml/2006/main">
            <a:r>
              <a:t>    "PF08",</a:t>
            </a:r>
          </a:p>
          <a:p xmlns:a="http://schemas.openxmlformats.org/drawingml/2006/main">
            <a:r>
              <a:t>    "PF-C01",</a:t>
            </a:r>
          </a:p>
          <a:p xmlns:a="http://schemas.openxmlformats.org/drawingml/2006/main">
            <a:r>
              <a:t>    "PF-C02",</a:t>
            </a:r>
          </a:p>
          <a:p xmlns:a="http://schemas.openxmlformats.org/drawingml/2006/main">
            <a:r>
              <a:t>    "PF-C03"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CCK-01: NOA 사용자 가이드 확인. 설치본 기능시험 필요.</a:t>
            </a:r>
          </a:p>
          <a:p xmlns:a="http://schemas.openxmlformats.org/drawingml/2006/main">
            <a:r>
              <a:t>CCK-02/03: 명세 기반 재사용 후보. 실물 기능검증 필요.</a:t>
            </a:r>
          </a:p>
          <a:p xmlns:a="http://schemas.openxmlformats.org/drawingml/2006/main">
            <a:r>
              <a:t>기존 SSO·RAG·권한·로그·연계 범위 대조 후 추가분 산정.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c72ca4bbda4e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75e17233ef46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9da0ff433b4a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a9efb664b4c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3815b1ce143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1737ad10834d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FFEBFF-EC31-49C2-878F-E5C61CD77D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382D9B5-F399-45DF-AE8F-0DDD09476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C9D66DA-B5A7-4D2E-8577-2797F8B1C2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E16AC6-1452-4773-940A-F6C5B2E5B5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3470A4-6FB3-439D-A0EF-9370F889D4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646E137-9012-4F03-88B9-B76B6958EE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5FEF30-EA01-4762-81C9-83D56BB3F6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406B81-310E-4BE8-8084-53E11F09F9E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E9B2AF-ECA4-4DFE-8FFE-45EB4EF774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44C199B-D361-43DD-8DF5-9659B864B1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c6f964fc40401d" /><Relationship Type="http://schemas.openxmlformats.org/officeDocument/2006/relationships/slideLayout" Target="/ppt/slideLayouts/slideLayout1.xml" Id="R34f06b91465241d8" /><Relationship Type="http://schemas.openxmlformats.org/officeDocument/2006/relationships/slideLayout" Target="/ppt/slideLayouts/slideLayout2.xml" Id="R8d48082a5c8e4939" /><Relationship Type="http://schemas.openxmlformats.org/officeDocument/2006/relationships/slideLayout" Target="/ppt/slideLayouts/slideLayout3.xml" Id="Re10ff26fec9e4358" /><Relationship Type="http://schemas.openxmlformats.org/officeDocument/2006/relationships/slideLayout" Target="/ppt/slideLayouts/slideLayout4.xml" Id="Rce868e2be29248e4" /><Relationship Type="http://schemas.openxmlformats.org/officeDocument/2006/relationships/slideLayout" Target="/ppt/slideLayouts/slideLayout5.xml" Id="R26cf200348ee4641" /><Relationship Type="http://schemas.openxmlformats.org/officeDocument/2006/relationships/slideLayout" Target="/ppt/slideLayouts/slideLayout6.xml" Id="R106e2bbaa44343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f06b91465241d8"/>
    <p:sldLayoutId xmlns:r="http://schemas.openxmlformats.org/officeDocument/2006/relationships" id="2147483650" r:id="R8d48082a5c8e4939"/>
    <p:sldLayoutId xmlns:r="http://schemas.openxmlformats.org/officeDocument/2006/relationships" id="2147483651" r:id="Re10ff26fec9e4358"/>
    <p:sldLayoutId xmlns:r="http://schemas.openxmlformats.org/officeDocument/2006/relationships" id="2147483652" r:id="Rce868e2be29248e4"/>
    <p:sldLayoutId xmlns:r="http://schemas.openxmlformats.org/officeDocument/2006/relationships" id="2147483653" r:id="R26cf200348ee4641"/>
    <p:sldLayoutId xmlns:r="http://schemas.openxmlformats.org/officeDocument/2006/relationships" id="2147483654" r:id="R106e2bbaa44343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901bc22ece4aea" /><Relationship Type="http://schemas.openxmlformats.org/officeDocument/2006/relationships/notesSlide" Target="/ppt/notesSlides/notesSlide1.xml" Id="Re4b50dfad6f743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daa742b24f479d" /><Relationship Type="http://schemas.openxmlformats.org/officeDocument/2006/relationships/notesSlide" Target="/ppt/notesSlides/notesSlide2.xml" Id="R2eed1164dcde44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b48753a2fb4422" /><Relationship Type="http://schemas.openxmlformats.org/officeDocument/2006/relationships/notesSlide" Target="/ppt/notesSlides/notesSlide3.xml" Id="Rcb0fac71745f44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76a68d45dd40e1" /><Relationship Type="http://schemas.openxmlformats.org/officeDocument/2006/relationships/notesSlide" Target="/ppt/notesSlides/notesSlide4.xml" Id="R704125c193bb43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1d196fb4f94dc7" /><Relationship Type="http://schemas.openxmlformats.org/officeDocument/2006/relationships/notesSlide" Target="/ppt/notesSlides/notesSlide5.xml" Id="R460e1c9c64164b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c48f2796684307" /><Relationship Type="http://schemas.openxmlformats.org/officeDocument/2006/relationships/notesSlide" Target="/ppt/notesSlides/notesSlide6.xml" Id="Rba0791da0ce148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25414a78b94bd6" /><Relationship Type="http://schemas.openxmlformats.org/officeDocument/2006/relationships/notesSlide" Target="/ppt/notesSlides/notesSlide7.xml" Id="Ra58d0edb812a48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b48e68b1334dbf" /><Relationship Type="http://schemas.openxmlformats.org/officeDocument/2006/relationships/notesSlide" Target="/ppt/notesSlides/notesSlide8.xml" Id="Re0dd36f2a4af40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d925cf54984e26" /><Relationship Type="http://schemas.openxmlformats.org/officeDocument/2006/relationships/notesSlide" Target="/ppt/notesSlides/notesSlide9.xml" Id="Rda5cb569ccaf46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3cb6f8cc8f478e" /><Relationship Type="http://schemas.openxmlformats.org/officeDocument/2006/relationships/notesSlide" Target="/ppt/notesSlides/notesSlide10.xml" Id="R70e870f0105c47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b780c5b1374dae" /><Relationship Type="http://schemas.openxmlformats.org/officeDocument/2006/relationships/notesSlide" Target="/ppt/notesSlides/notesSlide11.xml" Id="R6f796c07ce5745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b4a94b77f64eb7" /><Relationship Type="http://schemas.openxmlformats.org/officeDocument/2006/relationships/notesSlide" Target="/ppt/notesSlides/notesSlide12.xml" Id="R15847e52ce39408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ab5b5ce10c4053" /><Relationship Type="http://schemas.openxmlformats.org/officeDocument/2006/relationships/notesSlide" Target="/ppt/notesSlides/notesSlide13.xml" Id="Rb98b71062d6243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8e16d7b0fb4484" /><Relationship Type="http://schemas.openxmlformats.org/officeDocument/2006/relationships/notesSlide" Target="/ppt/notesSlides/notesSlide14.xml" Id="Rea913486907c4c7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b21bee6f814905" /><Relationship Type="http://schemas.openxmlformats.org/officeDocument/2006/relationships/notesSlide" Target="/ppt/notesSlides/notesSlide15.xml" Id="R705e953b0ba045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afe1f806b84cb4" /><Relationship Type="http://schemas.openxmlformats.org/officeDocument/2006/relationships/notesSlide" Target="/ppt/notesSlides/notesSlide16.xml" Id="R421d7018afb343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fcb45e99f944ed" /><Relationship Type="http://schemas.openxmlformats.org/officeDocument/2006/relationships/notesSlide" Target="/ppt/notesSlides/notesSlide17.xml" Id="R0f9f14b06da845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006bb70719433c" /><Relationship Type="http://schemas.openxmlformats.org/officeDocument/2006/relationships/notesSlide" Target="/ppt/notesSlides/notesSlide18.xml" Id="R20e3bcf188eb475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fb55dff9e04d99" /><Relationship Type="http://schemas.openxmlformats.org/officeDocument/2006/relationships/notesSlide" Target="/ppt/notesSlides/notesSlide19.xml" Id="R26f79dea38fd45c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5abdb8c18f41ae" /><Relationship Type="http://schemas.openxmlformats.org/officeDocument/2006/relationships/notesSlide" Target="/ppt/notesSlides/notesSlide20.xml" Id="R9ae700a48e56468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39c3c3174a49e3" /><Relationship Type="http://schemas.openxmlformats.org/officeDocument/2006/relationships/notesSlide" Target="/ppt/notesSlides/notesSlide21.xml" Id="Rb531beb99a0d4b6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bfb8656d8b447d" /><Relationship Type="http://schemas.openxmlformats.org/officeDocument/2006/relationships/notesSlide" Target="/ppt/notesSlides/notesSlide22.xml" Id="Re66fc6ad849a4d0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51247f90f24afb" /><Relationship Type="http://schemas.openxmlformats.org/officeDocument/2006/relationships/notesSlide" Target="/ppt/notesSlides/notesSlide23.xml" Id="Rfc4e8adc89c045d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4d3f1dcd0b4c48" /><Relationship Type="http://schemas.openxmlformats.org/officeDocument/2006/relationships/notesSlide" Target="/ppt/notesSlides/notesSlide24.xml" Id="R5b0d4d951b2a46f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6a155f302b44b7" /><Relationship Type="http://schemas.openxmlformats.org/officeDocument/2006/relationships/notesSlide" Target="/ppt/notesSlides/notesSlide25.xml" Id="R1a6fcb960747450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ac025ebd6e41a6" /><Relationship Type="http://schemas.openxmlformats.org/officeDocument/2006/relationships/notesSlide" Target="/ppt/notesSlides/notesSlide26.xml" Id="R25bbbe73f52b4a7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841be8b44e427b" /><Relationship Type="http://schemas.openxmlformats.org/officeDocument/2006/relationships/notesSlide" Target="/ppt/notesSlides/notesSlide27.xml" Id="Rdb965d66bf224ba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b452cd433c411c" /><Relationship Type="http://schemas.openxmlformats.org/officeDocument/2006/relationships/notesSlide" Target="/ppt/notesSlides/notesSlide28.xml" Id="R3fa89054858447f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88cc06794b433d" /><Relationship Type="http://schemas.openxmlformats.org/officeDocument/2006/relationships/notesSlide" Target="/ppt/notesSlides/notesSlide29.xml" Id="R436e89a6688c451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216771a0364410" /><Relationship Type="http://schemas.openxmlformats.org/officeDocument/2006/relationships/notesSlide" Target="/ppt/notesSlides/notesSlide30.xml" Id="R30267aa398bc459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8e7064b0c04cc8" /><Relationship Type="http://schemas.openxmlformats.org/officeDocument/2006/relationships/notesSlide" Target="/ppt/notesSlides/notesSlide31.xml" Id="R73d66990bced4be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67d9dc56d641b1" /><Relationship Type="http://schemas.openxmlformats.org/officeDocument/2006/relationships/notesSlide" Target="/ppt/notesSlides/notesSlide32.xml" Id="R08b1df599ff34da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3d96b7bfe8454c" /><Relationship Type="http://schemas.openxmlformats.org/officeDocument/2006/relationships/notesSlide" Target="/ppt/notesSlides/notesSlide33.xml" Id="R5a4748d518b94fc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a4cfdc84ec414b" /><Relationship Type="http://schemas.openxmlformats.org/officeDocument/2006/relationships/notesSlide" Target="/ppt/notesSlides/notesSlide34.xml" Id="R026db09fe9c2443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5c38d6591b4dfb" /><Relationship Type="http://schemas.openxmlformats.org/officeDocument/2006/relationships/notesSlide" Target="/ppt/notesSlides/notesSlide35.xml" Id="Red0dfee300ce490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1449606ed74bfb" /><Relationship Type="http://schemas.openxmlformats.org/officeDocument/2006/relationships/notesSlide" Target="/ppt/notesSlides/notesSlide36.xml" Id="Rf6bee9325dc4448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94142452124cc7" /><Relationship Type="http://schemas.openxmlformats.org/officeDocument/2006/relationships/notesSlide" Target="/ppt/notesSlides/notesSlide37.xml" Id="Rd3c68bc8960e435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76e47055cf4b78" /><Relationship Type="http://schemas.openxmlformats.org/officeDocument/2006/relationships/notesSlide" Target="/ppt/notesSlides/notesSlide38.xml" Id="Rbba2cfbc6f80462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19dce727fe4950" /><Relationship Type="http://schemas.openxmlformats.org/officeDocument/2006/relationships/notesSlide" Target="/ppt/notesSlides/notesSlide39.xml" Id="R520a2f99194c403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b51eb6e183467c" /><Relationship Type="http://schemas.openxmlformats.org/officeDocument/2006/relationships/notesSlide" Target="/ppt/notesSlides/notesSlide40.xml" Id="R1decdf8fc2c74a1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b990bba23c406a" /><Relationship Type="http://schemas.openxmlformats.org/officeDocument/2006/relationships/notesSlide" Target="/ppt/notesSlides/notesSlide41.xml" Id="R1fe7a6a2fc46484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fafbef16d24d76" /><Relationship Type="http://schemas.openxmlformats.org/officeDocument/2006/relationships/notesSlide" Target="/ppt/notesSlides/notesSlide42.xml" Id="Rdf5298a3c7644ee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357893b4f8446f" /><Relationship Type="http://schemas.openxmlformats.org/officeDocument/2006/relationships/notesSlide" Target="/ppt/notesSlides/notesSlide43.xml" Id="R95d2bb0d3cb9478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7b5b825b174525" /><Relationship Type="http://schemas.openxmlformats.org/officeDocument/2006/relationships/notesSlide" Target="/ppt/notesSlides/notesSlide44.xml" Id="R435f72e4c70543c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aae8cfaf654ac8" /><Relationship Type="http://schemas.openxmlformats.org/officeDocument/2006/relationships/notesSlide" Target="/ppt/notesSlides/notesSlide45.xml" Id="R265a1035bf5b485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d2b3cac1c543d9" /><Relationship Type="http://schemas.openxmlformats.org/officeDocument/2006/relationships/notesSlide" Target="/ppt/notesSlides/notesSlide46.xml" Id="Rc1768938c99a4c4b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aa443682874a94" /><Relationship Type="http://schemas.openxmlformats.org/officeDocument/2006/relationships/notesSlide" Target="/ppt/notesSlides/notesSlide47.xml" Id="R7cc2312a837f43c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798fdd4de74ccd" /><Relationship Type="http://schemas.openxmlformats.org/officeDocument/2006/relationships/notesSlide" Target="/ppt/notesSlides/notesSlide48.xml" Id="Rad0c198dd74e47a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bf62ca76bd451d" /><Relationship Type="http://schemas.openxmlformats.org/officeDocument/2006/relationships/notesSlide" Target="/ppt/notesSlides/notesSlide49.xml" Id="Rf0e8f24cc6c44b4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3407cad06a4b70" /><Relationship Type="http://schemas.openxmlformats.org/officeDocument/2006/relationships/notesSlide" Target="/ppt/notesSlides/notesSlide50.xml" Id="Rb919e991b6bb426a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4d3367d4844766" /><Relationship Type="http://schemas.openxmlformats.org/officeDocument/2006/relationships/notesSlide" Target="/ppt/notesSlides/notesSlide51.xml" Id="R64c9d1c31e4f429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008dd824f9409c" /><Relationship Type="http://schemas.openxmlformats.org/officeDocument/2006/relationships/notesSlide" Target="/ppt/notesSlides/notesSlide52.xml" Id="R91af2a66880544f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f49d5340748f0" /><Relationship Type="http://schemas.openxmlformats.org/officeDocument/2006/relationships/notesSlide" Target="/ppt/notesSlides/notesSlide53.xml" Id="R62e74f98b5b6449f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25705b3d974d6f" /><Relationship Type="http://schemas.openxmlformats.org/officeDocument/2006/relationships/notesSlide" Target="/ppt/notesSlides/notesSlide54.xml" Id="Raeb085190b5b456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57ce989adf4721" /><Relationship Type="http://schemas.openxmlformats.org/officeDocument/2006/relationships/notesSlide" Target="/ppt/notesSlides/notesSlide55.xml" Id="Ra165115b88734dd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c34803ce9645a0" /><Relationship Type="http://schemas.openxmlformats.org/officeDocument/2006/relationships/notesSlide" Target="/ppt/notesSlides/notesSlide56.xml" Id="R1bd1d7b21168466b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3acb38a29843e5" /><Relationship Type="http://schemas.openxmlformats.org/officeDocument/2006/relationships/notesSlide" Target="/ppt/notesSlides/notesSlide57.xml" Id="Rb0b1f26921ef4574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e260f301d34bb8" /><Relationship Type="http://schemas.openxmlformats.org/officeDocument/2006/relationships/notesSlide" Target="/ppt/notesSlides/notesSlide58.xml" Id="R11d4e2bb96fd47f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057fa7f7994fbe" /><Relationship Type="http://schemas.openxmlformats.org/officeDocument/2006/relationships/notesSlide" Target="/ppt/notesSlides/notesSlide59.xml" Id="R69eb05b003224555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846ca8bbaf47ab" /><Relationship Type="http://schemas.openxmlformats.org/officeDocument/2006/relationships/notesSlide" Target="/ppt/notesSlides/notesSlide60.xml" Id="Rc6cf23679aee4ab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803646e8de4362" /><Relationship Type="http://schemas.openxmlformats.org/officeDocument/2006/relationships/notesSlide" Target="/ppt/notesSlides/notesSlide61.xml" Id="Re32bda1c38a2422e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c0e50f49704237" /><Relationship Type="http://schemas.openxmlformats.org/officeDocument/2006/relationships/notesSlide" Target="/ppt/notesSlides/notesSlide62.xml" Id="Re463b397af7845b0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f6c1d8c0534ea9" /><Relationship Type="http://schemas.openxmlformats.org/officeDocument/2006/relationships/notesSlide" Target="/ppt/notesSlides/notesSlide63.xml" Id="R074c9105ff634e7f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7d872b8ef240b2" /><Relationship Type="http://schemas.openxmlformats.org/officeDocument/2006/relationships/notesSlide" Target="/ppt/notesSlides/notesSlide64.xml" Id="R007593ac05a248d1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39282ace22423c" /><Relationship Type="http://schemas.openxmlformats.org/officeDocument/2006/relationships/notesSlide" Target="/ppt/notesSlides/notesSlide65.xml" Id="Rea638abce3e545b5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4fb575590b41c6" /><Relationship Type="http://schemas.openxmlformats.org/officeDocument/2006/relationships/notesSlide" Target="/ppt/notesSlides/notesSlide66.xml" Id="R065a5a72f9954b6b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be2086f25480d" /><Relationship Type="http://schemas.openxmlformats.org/officeDocument/2006/relationships/notesSlide" Target="/ppt/notesSlides/notesSlide67.xml" Id="R58fb192bcea747f7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63b44172884609" /><Relationship Type="http://schemas.openxmlformats.org/officeDocument/2006/relationships/notesSlide" Target="/ppt/notesSlides/notesSlide68.xml" Id="Rdbb7a3c985894baf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ec92d78b6413f" /><Relationship Type="http://schemas.openxmlformats.org/officeDocument/2006/relationships/notesSlide" Target="/ppt/notesSlides/notesSlide69.xml" Id="Rafd97625444449fb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d7d5bb4e8e49a3" /><Relationship Type="http://schemas.openxmlformats.org/officeDocument/2006/relationships/notesSlide" Target="/ppt/notesSlides/notesSlide70.xml" Id="R2e91a69773d144b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d9cda5b0214476" /><Relationship Type="http://schemas.openxmlformats.org/officeDocument/2006/relationships/notesSlide" Target="/ppt/notesSlides/notesSlide71.xml" Id="Ra497525a927c4c84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8a0436eb894667" /><Relationship Type="http://schemas.openxmlformats.org/officeDocument/2006/relationships/notesSlide" Target="/ppt/notesSlides/notesSlide72.xml" Id="R55f8c737ad444db4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6b3511ccd148fc" /><Relationship Type="http://schemas.openxmlformats.org/officeDocument/2006/relationships/notesSlide" Target="/ppt/notesSlides/notesSlide73.xml" Id="R143b21f85d664853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baf503b5774026" /><Relationship Type="http://schemas.openxmlformats.org/officeDocument/2006/relationships/notesSlide" Target="/ppt/notesSlides/notesSlide74.xml" Id="R909131cf02f24bd3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77a965ea6d40bb" /><Relationship Type="http://schemas.openxmlformats.org/officeDocument/2006/relationships/notesSlide" Target="/ppt/notesSlides/notesSlide75.xml" Id="R8bc5b693b1ea40cf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a798b6ecf145fc" /><Relationship Type="http://schemas.openxmlformats.org/officeDocument/2006/relationships/notesSlide" Target="/ppt/notesSlides/notesSlide76.xml" Id="R552d5dd40ce14e19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8ba11016124fc0" /><Relationship Type="http://schemas.openxmlformats.org/officeDocument/2006/relationships/notesSlide" Target="/ppt/notesSlides/notesSlide77.xml" Id="R865d25cf4cbe44a7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04b8993e947d1" /><Relationship Type="http://schemas.openxmlformats.org/officeDocument/2006/relationships/notesSlide" Target="/ppt/notesSlides/notesSlide78.xml" Id="Rfc4d43399a9d4077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af71057ed447c8" /><Relationship Type="http://schemas.openxmlformats.org/officeDocument/2006/relationships/notesSlide" Target="/ppt/notesSlides/notesSlide79.xml" Id="Rf4ae7444e6df4f13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4d8b4175b54cd7" /><Relationship Type="http://schemas.openxmlformats.org/officeDocument/2006/relationships/notesSlide" Target="/ppt/notesSlides/notesSlide80.xml" Id="Ra9d5cb074e8c4e55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49b1308940448a" /><Relationship Type="http://schemas.openxmlformats.org/officeDocument/2006/relationships/notesSlide" Target="/ppt/notesSlides/notesSlide81.xml" Id="Rf1fbe8dad5334b9c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555a4636d84dad" /><Relationship Type="http://schemas.openxmlformats.org/officeDocument/2006/relationships/notesSlide" Target="/ppt/notesSlides/notesSlide82.xml" Id="R33ca4de3f7684729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5121b26141457d" /><Relationship Type="http://schemas.openxmlformats.org/officeDocument/2006/relationships/notesSlide" Target="/ppt/notesSlides/notesSlide83.xml" Id="Ra757f71ec5d04146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1cbbf510b5489a" /><Relationship Type="http://schemas.openxmlformats.org/officeDocument/2006/relationships/notesSlide" Target="/ppt/notesSlides/notesSlide84.xml" Id="R450f63806b8d4804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98cef5cae5468a" /><Relationship Type="http://schemas.openxmlformats.org/officeDocument/2006/relationships/notesSlide" Target="/ppt/notesSlides/notesSlide85.xml" Id="Ra6c6ce62cdf44091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d9bace1c4d4eed" /><Relationship Type="http://schemas.openxmlformats.org/officeDocument/2006/relationships/notesSlide" Target="/ppt/notesSlides/notesSlide86.xml" Id="R2d4c328576de49c5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5efb9608b24578" /><Relationship Type="http://schemas.openxmlformats.org/officeDocument/2006/relationships/notesSlide" Target="/ppt/notesSlides/notesSlide87.xml" Id="R756c19d44e58430a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a3c2078f904fe2" /><Relationship Type="http://schemas.openxmlformats.org/officeDocument/2006/relationships/notesSlide" Target="/ppt/notesSlides/notesSlide88.xml" Id="Ra7a2d723ea2340cf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3771a8a9da4907" /><Relationship Type="http://schemas.openxmlformats.org/officeDocument/2006/relationships/notesSlide" Target="/ppt/notesSlides/notesSlide89.xml" Id="R0acc03480ecc4dbd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cec60f0e9d4370" /><Relationship Type="http://schemas.openxmlformats.org/officeDocument/2006/relationships/notesSlide" Target="/ppt/notesSlides/notesSlide90.xml" Id="R2002e832c62947ef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96509db08a40db" /><Relationship Type="http://schemas.openxmlformats.org/officeDocument/2006/relationships/notesSlide" Target="/ppt/notesSlides/notesSlide91.xml" Id="R174598e51bf14da5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ca180369cc43f1" /><Relationship Type="http://schemas.openxmlformats.org/officeDocument/2006/relationships/notesSlide" Target="/ppt/notesSlides/notesSlide92.xml" Id="R7bc02b9f45c5435e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94375530eb4173" /><Relationship Type="http://schemas.openxmlformats.org/officeDocument/2006/relationships/notesSlide" Target="/ppt/notesSlides/notesSlide93.xml" Id="R0679c4f7fd164368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319260e07b4a81" /><Relationship Type="http://schemas.openxmlformats.org/officeDocument/2006/relationships/notesSlide" Target="/ppt/notesSlides/notesSlide94.xml" Id="Rf551be1ce5694537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2fa64003784792" /><Relationship Type="http://schemas.openxmlformats.org/officeDocument/2006/relationships/notesSlide" Target="/ppt/notesSlides/notesSlide95.xml" Id="R3ed88ef5918d4d64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95581c8f7f47c8" /><Relationship Type="http://schemas.openxmlformats.org/officeDocument/2006/relationships/notesSlide" Target="/ppt/notesSlides/notesSlide96.xml" Id="Ra3351bfc1dac4527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8e34b364294ad4" /><Relationship Type="http://schemas.openxmlformats.org/officeDocument/2006/relationships/notesSlide" Target="/ppt/notesSlides/notesSlide97.xml" Id="Ra92ae91a8f024b44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3162c373024d03" /><Relationship Type="http://schemas.openxmlformats.org/officeDocument/2006/relationships/notesSlide" Target="/ppt/notesSlides/notesSlide98.xml" Id="Re29c098291634f39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efce7301084819" /><Relationship Type="http://schemas.openxmlformats.org/officeDocument/2006/relationships/notesSlide" Target="/ppt/notesSlides/notesSlide99.xml" Id="Re89e496698ef49cd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ebb9fa57904e15" /><Relationship Type="http://schemas.openxmlformats.org/officeDocument/2006/relationships/notesSlide" Target="/ppt/notesSlides/notesSlide100.xml" Id="R2db882ee456342b3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ad90b9c70b49bc" /><Relationship Type="http://schemas.openxmlformats.org/officeDocument/2006/relationships/notesSlide" Target="/ppt/notesSlides/notesSlide101.xml" Id="R8e142ff362a2440d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b51cbe7f9c4fff" /><Relationship Type="http://schemas.openxmlformats.org/officeDocument/2006/relationships/notesSlide" Target="/ppt/notesSlides/notesSlide102.xml" Id="R35b8897047de4d79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0191ddebf44b3d" /><Relationship Type="http://schemas.openxmlformats.org/officeDocument/2006/relationships/notesSlide" Target="/ppt/notesSlides/notesSlide103.xml" Id="R2da5adaaea88474e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908e2b734c4bd3" /><Relationship Type="http://schemas.openxmlformats.org/officeDocument/2006/relationships/notesSlide" Target="/ppt/notesSlides/notesSlide104.xml" Id="Rfe799a44c9ff401e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bd5ee3a18e4854" /><Relationship Type="http://schemas.openxmlformats.org/officeDocument/2006/relationships/notesSlide" Target="/ppt/notesSlides/notesSlide105.xml" Id="R7fce3e55280049d1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02c9acaff74eb1" /><Relationship Type="http://schemas.openxmlformats.org/officeDocument/2006/relationships/notesSlide" Target="/ppt/notesSlides/notesSlide106.xml" Id="R2166030c5eb24f4a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3b670c8c394040" /><Relationship Type="http://schemas.openxmlformats.org/officeDocument/2006/relationships/notesSlide" Target="/ppt/notesSlides/notesSlide107.xml" Id="Rb8645c7524a84891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a2a3c750514d3b" /><Relationship Type="http://schemas.openxmlformats.org/officeDocument/2006/relationships/notesSlide" Target="/ppt/notesSlides/notesSlide108.xml" Id="R214dd1d4bb2b4d4b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8054fff6a741a0" /><Relationship Type="http://schemas.openxmlformats.org/officeDocument/2006/relationships/notesSlide" Target="/ppt/notesSlides/notesSlide109.xml" Id="R7b02a948b8a64ee9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b894b88ff14e13" /><Relationship Type="http://schemas.openxmlformats.org/officeDocument/2006/relationships/notesSlide" Target="/ppt/notesSlides/notesSlide110.xml" Id="R39f2519a0a3748fb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73e255f484457a" /><Relationship Type="http://schemas.openxmlformats.org/officeDocument/2006/relationships/notesSlide" Target="/ppt/notesSlides/notesSlide111.xml" Id="R646f3e49974a4725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401e14038b43f0" /><Relationship Type="http://schemas.openxmlformats.org/officeDocument/2006/relationships/notesSlide" Target="/ppt/notesSlides/notesSlide112.xml" Id="Re6eccc57f90746bb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bf07b8123b4b25" /><Relationship Type="http://schemas.openxmlformats.org/officeDocument/2006/relationships/notesSlide" Target="/ppt/notesSlides/notesSlide113.xml" Id="R6848dbdfeb2749a9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d876a713284c69" /><Relationship Type="http://schemas.openxmlformats.org/officeDocument/2006/relationships/notesSlide" Target="/ppt/notesSlides/notesSlide114.xml" Id="Rb6231edadff243b6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dd9b6baa734446" /><Relationship Type="http://schemas.openxmlformats.org/officeDocument/2006/relationships/notesSlide" Target="/ppt/notesSlides/notesSlide115.xml" Id="Rce880ce64b934132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c090ac75594f93" /><Relationship Type="http://schemas.openxmlformats.org/officeDocument/2006/relationships/notesSlide" Target="/ppt/notesSlides/notesSlide116.xml" Id="R1d1711ca1b9a4a73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336b2a229b48ce" /><Relationship Type="http://schemas.openxmlformats.org/officeDocument/2006/relationships/notesSlide" Target="/ppt/notesSlides/notesSlide117.xml" Id="Rdcd883b0335e4f82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df0dee81d048d6" /><Relationship Type="http://schemas.openxmlformats.org/officeDocument/2006/relationships/notesSlide" Target="/ppt/notesSlides/notesSlide118.xml" Id="R699d28c0bb0041ef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f9c96df97f4e1a" /><Relationship Type="http://schemas.openxmlformats.org/officeDocument/2006/relationships/notesSlide" Target="/ppt/notesSlides/notesSlide119.xml" Id="Rc14f6aa7c54a4a08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61d1317e2c4364" /><Relationship Type="http://schemas.openxmlformats.org/officeDocument/2006/relationships/notesSlide" Target="/ppt/notesSlides/notesSlide120.xml" Id="R8d7d4b508715443d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853dcfd2a449b1" /><Relationship Type="http://schemas.openxmlformats.org/officeDocument/2006/relationships/notesSlide" Target="/ppt/notesSlides/notesSlide121.xml" Id="R54d86d887a8d4500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83d5d499b946b6" /><Relationship Type="http://schemas.openxmlformats.org/officeDocument/2006/relationships/notesSlide" Target="/ppt/notesSlides/notesSlide122.xml" Id="Rf7c98af6fb044ea2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706f298e464e7b" /><Relationship Type="http://schemas.openxmlformats.org/officeDocument/2006/relationships/notesSlide" Target="/ppt/notesSlides/notesSlide123.xml" Id="R1752c41929e5434c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6a851e97034043" /><Relationship Type="http://schemas.openxmlformats.org/officeDocument/2006/relationships/notesSlide" Target="/ppt/notesSlides/notesSlide124.xml" Id="R260286cd8ae64352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ca9dc7127b4f7c" /><Relationship Type="http://schemas.openxmlformats.org/officeDocument/2006/relationships/notesSlide" Target="/ppt/notesSlides/notesSlide125.xml" Id="R3b03c6c35d9440e8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e539c6604f4395" /><Relationship Type="http://schemas.openxmlformats.org/officeDocument/2006/relationships/notesSlide" Target="/ppt/notesSlides/notesSlide126.xml" Id="R07b756cb81b54c80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1f066b3cf847c7" /><Relationship Type="http://schemas.openxmlformats.org/officeDocument/2006/relationships/notesSlide" Target="/ppt/notesSlides/notesSlide127.xml" Id="Rf7bae24e71c0417f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2c04b74dfc4b66" /><Relationship Type="http://schemas.openxmlformats.org/officeDocument/2006/relationships/notesSlide" Target="/ppt/notesSlides/notesSlide128.xml" Id="R98448a2cb8f84cdf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f3330611ff439f" /><Relationship Type="http://schemas.openxmlformats.org/officeDocument/2006/relationships/notesSlide" Target="/ppt/notesSlides/notesSlide129.xml" Id="Rb632cf00d35f4690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fa42010d30463c" /><Relationship Type="http://schemas.openxmlformats.org/officeDocument/2006/relationships/notesSlide" Target="/ppt/notesSlides/notesSlide130.xml" Id="R4521c882b39b4163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dfa7e680094ecd" /><Relationship Type="http://schemas.openxmlformats.org/officeDocument/2006/relationships/notesSlide" Target="/ppt/notesSlides/notesSlide131.xml" Id="Ra354af043d2743a8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cc154a4e414967" /><Relationship Type="http://schemas.openxmlformats.org/officeDocument/2006/relationships/notesSlide" Target="/ppt/notesSlides/notesSlide132.xml" Id="Rff92519b82914da5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bfb1b2da564fc5" /><Relationship Type="http://schemas.openxmlformats.org/officeDocument/2006/relationships/notesSlide" Target="/ppt/notesSlides/notesSlide133.xml" Id="Rd6a0093b0e3e4e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703D6-76EE-4E6C-BCD1-0C7F1550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GROWTH AI / TS ORGANIZATION-NATIVE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72B3A-3A71-40C6-94E2-F628FE37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12대 전략과제 AX 사례집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5074B-10A4-4455-8FE1-1A8F0B02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5372C-AD84-4650-8005-3582A1ED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FEF96-456E-463E-B91F-078721E4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61C61-B1AD-4E86-B087-4AD7BC23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300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부서·업무에 연결한 후속 적용계획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FA06EE-A049-4BB7-8E78-6D8EA34A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26개 상세 사례 / 12개 전략 후속계획</a:t>
            </a:r>
          </a:p>
          <a:p xmlns:a="http://schemas.openxmlformats.org/drawingml/2006/main">
            <a:pPr>
              <a:defRPr sz="20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사례별 세부 구조·예외 처리·개발·검수·효과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6853C-1502-44CD-B7E7-9B150127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공개자료·RFP 기반 CCK 분석 및 적용 설계</a:t>
            </a:r>
          </a:p>
        </p:txBody>
      </p:sp>
    </p:spTree>
    <p:extLst>
      <p:ext uri="{BB962C8B-B14F-4D97-AF65-F5344CB8AC3E}">
        <p14:creationId xmlns:p14="http://schemas.microsoft.com/office/powerpoint/2010/main" val="7719961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A9E06-6696-4928-A818-4BD9A766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AX01 / 성공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D225B-4417-43A8-B46A-E96DA90D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서울 올빼미버스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B1033-CEF1-40AE-9B75-F7D03D72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5562D-845F-45B4-B7DE-57657BB6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C3227-389A-4229-BAF8-06BF724F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EAD7B-C93C-494A-BACD-4C01B1EF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1C09B-BAB3-46B8-A091-F5D035D4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심야 교통 수요를 실제 노선 결정에 연결한 데이터 기반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정책 사례. 기존 노선·운행계획을 검토하는 담당자가 시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간대·지역별 잠재 수요를 함께 비교하는 업무 변화.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910557-0E5A-4B00-AF1A-552F5A5D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342A2-5282-4373-ABC0-7B1529B9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통신 이동량과 노선 정보를 공통 공간 단위로 정리한 뒤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수요 분포와 노선 후보를 비교하는 분석 흐름의 재구성.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 적용 시 분석 결과를 담당 관할·교통약자 지원 업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무·노선 검토자료로 변환하는 단계의 분리.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8371C-9165-422B-9831-BE486D6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397CE-FD89-475D-B53E-C2C705A6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운영 노선 확대 실적과 안전·지역경제 효과의 구분. 통신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자료의 대표성, 시간대별 집계 재현성, 실제 승차 수요와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의 차이를 확인한 후 TS 업무 검토시간·근거 누락률로 평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가할 대상.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57101-16D9-46D0-A417-3653319E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86595-13C2-4122-9638-8AB48008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지역·시간·관할 코드 정규화 / 집계 통계와 현장 근거 대조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E3D64-D6CF-475E-8A4B-3B9D8542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4692E-85F7-457A-AC20-5A9C7412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동일 지역·기간의 원천 집계 재현 및 담당 부서 매핑 대조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B34A9B-D942-4D61-A89E-9523C357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621DB0-9BF0-4AC9-8E74-DBBE03AE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수요 검토 소요시간 / 근거 누락률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927DB0-FE73-472A-9601-CC673D73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 발표 · 생성형 AI 사례 아님 · 사고 감소·지역경제 인과효과 별도</a:t>
            </a:r>
          </a:p>
        </p:txBody>
      </p:sp>
    </p:spTree>
    <p:extLst>
      <p:ext uri="{BB962C8B-B14F-4D97-AF65-F5344CB8AC3E}">
        <p14:creationId xmlns:p14="http://schemas.microsoft.com/office/powerpoint/2010/main" val="4312675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3DB3C4-B26F-4088-87AC-33D4999B75D5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4D4900-5529-4726-A8A1-EA3ECADF5728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3E4D4A-2C0B-4667-BF9D-C40BC54F3D3D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8A866A-4A91-49D5-8DCC-ACD876A9B03E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CA7EB7D-14EC-4E47-A578-B42AECB917E9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2016745-8C71-43DF-AAFB-BF456B3B7D65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AC82C5-F595-4459-AC6E-9BD74F40BFE0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AAA9AF-71CF-49A9-9F4B-0AFD4789D989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5B5AE2-3E1B-4584-BC74-66C828691D6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0A73D5-6BFE-4167-AFF2-F230B185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AX01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FFC9D-CA84-4F33-8070-45231933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서울 올빼미버스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B269CC-4C73-4952-B21F-6289EA80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A7592-45F5-4D80-AE2A-E6F4D1CC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88275-9F3A-434A-AFF5-1EFE0863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96537-DFA9-4ED8-8244-A41EB77D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51C06-84CD-463E-A89F-E08740B4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A26FB-D81C-4C96-8346-0EF6FD8D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69CD9-FF63-475D-BC75-263D5D29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노선 검토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8CDBC8-249A-431A-98B6-970523FD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2BCF1-366E-466F-8E16-392243C9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D18CB-CD34-46CA-9B46-BCA3EC1E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시간·지역 범위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0A48B-EF6F-4925-9B17-1CCAC80E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97BE41-7B10-43D2-A44F-6FAF9907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86DC8F-489B-4188-96DA-CB08A38B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수요 집계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32695E-3A65-4818-8707-67927C8D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0161F7-AE7A-4D62-9297-C35CB2C2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1520B8-2A69-4EA5-BC56-489AC188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노선 후보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F06B64-610A-48EF-9CEE-28501E3B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86DB8-BA08-48F8-A28B-DBC18017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A725F6-69A5-4628-8292-8A580C28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대표성·집계 검증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5164A6-E9DC-47CF-96A6-FC83FEE4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BFCDC9-BAFC-4F35-B695-E36EE015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8A70C4-218C-400A-A68A-8CD424AB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교통정책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8BEA24-F1BA-46E3-91D0-4BF55E08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D44DB8-39D4-4B27-815B-408D32A3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7F91E7-D2F3-4D86-A395-9A0D6505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노선 운영계획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163582-E919-4618-902A-F67106F5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9D1764-30ED-468A-8BCE-35043456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856A15-B314-4E3B-B71F-9BB07CBB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운행 수요 비교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43D43D-4090-49BD-8C8C-5BA16165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8F2DEA-D718-4882-87CD-7EFAB095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4AAF2F-D87E-406E-AFF2-92AB34B9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통신·노선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58FC60-7469-4355-87DE-EF558A9D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786C24-EC4D-4C60-817A-5501ACAC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D9C396-252A-4235-9D0C-2627DA02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공간 단위 정합화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140BCF-1247-4347-AA03-BA3C263C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AE8566-6229-4FFA-ADB6-A692446B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A0AFD5-2D40-4C59-A3A1-5687E1AA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지역·시간 집계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CDF5F8-D4BC-40EA-9810-D8BA52ED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A2A38B-4587-45B5-BEDD-C03B9426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A7DFDE-2255-4DF6-A56F-43F90753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집계 이용정책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4BB022-BA54-43D1-BE65-7734B604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3733788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9581A8-FDBC-4E2D-A086-4D1D431C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AX01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FBFBC-4412-480E-B8D1-A8701114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서울 올빼미버스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5D5AB9-951B-4222-8BA9-C0FC2D09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86FC0C-2066-4758-B4F8-565DB373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9D10D9-0202-4F9B-A4AD-07C6B66E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8AC82-2DA7-414E-BA8A-952B6B00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19343-9BCA-4464-8562-B464DF34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219F9-4EB2-4D11-906F-8891B47D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7F463C-8414-4C1D-B2F3-A0C83BA6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시간대·출발지·도착지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F39DC-3434-4B98-9AAA-4FD29C9A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D2F631-6852-4105-B02B-4BE51974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117BCE-1019-46C5-A65C-A5D63847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시간대별 이동량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BFD18-E00D-44DD-A275-FB8B0F9D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75BEF-BAEF-4722-808B-B15143AE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9D530-EADF-4633-92FA-2BA51537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지역별 수요 분포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1FB6E-E012-43B7-B281-D2E5AAF5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F587EF-841E-4C41-87D9-50B0B730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09B977-33FA-453A-B073-3DD9E3BB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노선 후보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A5123D-9E21-4672-89AE-14D9EF3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6DEC55-48F9-41DA-B5D7-9FD8C0C4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6C6A5-2CA6-4C9E-9160-01DAB17C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노선 후보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E25794-5C3B-4E9B-8130-12CB7349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092001-2069-4B72-9813-66A0A4C7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D891B8-94C1-4710-8E0F-F3EEE0C9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운영 노선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1048E5-4FDE-4B5D-B9BA-4D316164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FEF4BC-310C-4BDD-8EE5-F303F750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지역별 통신 표본 비율 차이·관측기간 불일치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015456-BDE7-4C3A-8FA3-D312AE16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A313B-38B7-47F8-815F-55502205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집계 단위·관측기간 대조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EB4A51-D491-4EB2-8CCF-8ADBA0F5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DB1F-C035-426A-8393-BEC61C06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운행 후 수요 차이를 차기 노선 검토에 반영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51A880-218F-4433-84CD-8D46A90C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BC2106-6E09-48BA-9DEB-4551BD1C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지역·시간 단위 원천 집계 대사표와 노선 후보 선정 사유</a:t>
            </a:r>
          </a:p>
        </p:txBody>
      </p:sp>
    </p:spTree>
    <p:extLst>
      <p:ext uri="{BB962C8B-B14F-4D97-AF65-F5344CB8AC3E}">
        <p14:creationId xmlns:p14="http://schemas.microsoft.com/office/powerpoint/2010/main" val="6208930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267C4-EB82-4159-B08D-21B71CE4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AX01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6BDBB-9ECD-40CB-B65A-E3EB5DC8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서울 올빼미버스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7735F-A703-4AA9-A4F2-EEE16B96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83EC3-14DC-434A-B548-DB44312B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3E54C-72A8-4F48-9600-F665D3DE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D56F6B-BF12-4383-A042-60042A6F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8CEFD-2C7C-46E1-A0AF-18CACFB2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통신 수요와 실제 노선의 결합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심야 시간·지역 단위의 수요 구분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9D84BB-5159-4A5E-947F-7AD8B39B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32FCC6-1B46-407C-B00E-D83C0FFB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휴대전화 자료의 이용자 대표성 차이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노선 확대와 사고 감소의 인과관계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995A2-9414-4629-A29D-DD3B4AB7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F1ED1F-35E7-4B3D-9933-1B1923E5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집계 단위·관측기간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FAA3A-D078-4095-AA73-059E1830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C98ED-7824-4D4C-AADE-DE16EB79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심야 시간대별 이동 수요를 기존 노선과 대조해 미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충족 구간 선정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54556C-8EAA-4C20-A4B3-3EA5C4F8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99B02C-5A25-46A5-B084-2787D0DA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지역별 통신 표본 비율 차이·관측기간 불일치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5C6C6D-B93E-495F-9D4E-338DBC9E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ECB207-06F3-4AFD-A847-07C4CD90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지역·시간 단위 원천 집계 대사표와 노선 후보 선정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사유</a:t>
            </a:r>
          </a:p>
        </p:txBody>
      </p:sp>
    </p:spTree>
    <p:extLst>
      <p:ext uri="{BB962C8B-B14F-4D97-AF65-F5344CB8AC3E}">
        <p14:creationId xmlns:p14="http://schemas.microsoft.com/office/powerpoint/2010/main" val="13616329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42249-D495-4F7A-9A4E-9737D1B2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AX02 / 혼합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5D332-390F-4264-910F-8C30BEBE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CLOVA CareCall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AB57C-E1D6-4D0B-BAF7-C989D2E8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D24AD-0437-419E-89F6-718DCA6F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54FEF-D1CB-453E-8424-AE26C7AC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F4DF0-049C-474B-95BF-BF062841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0F3FB-B5C9-46D9-A674-B9A02DFC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자유 발화 중심의 안부전화와 복지 담당자의 후속 대응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을 결합한 서비스. 통화 자체의 자동화보다 대상자의 상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황을 파악해 필요한 확인·방문 업무로 인계하는 연결이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핵심.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549188-1FDA-41FE-AB2E-C69E7831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189AF7-51FB-4F51-A1F4-41984DA8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음성 대화 기록에서 상태와 확인할 내용을 정리하고 담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당자가 대응 여부를 검토하는 흐름. TS 적용 설계에서는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민원 발화를 신청 목적·대상·지역 등 필수 항목으로 정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리한 뒤 사용자 확인과 상담원 인계를 구성.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6966C2-751C-4CCC-B864-228CD21C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9A488D-B85A-4786-9EDD-42B86768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인터뷰에서 보고된 부담 완화와 임상·복지 성과의 구분.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소음·방언·고령 발화의 인식 오류, 위험 신호의 미탐, 상담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원이 실제 인계받았는지를 별도로 측정할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1E86A-F13F-4998-9812-961E925C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71CFAB-3B5C-46B9-A333-3F740222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한국어 음성 연계 / 발화 정리 / 필수 항목 검증 / 상담 전환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187EF-8B28-4555-94D3-EC15D03F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383853-63AE-4611-8E50-B5C45F04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고령·소음·방언 표본의 필수 항목 정확도 및 상담 전환 성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845C7A-3C8A-454E-8C69-1CBEB2BF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D44DE-8D1C-49F8-8C1C-E83EB1D4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서비스 도달률 / 발화 재입력률 / 집단별 완료시간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41BB45-F3D3-43D7-A2EB-243037C1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소규모 질적 연구 · 부적절 발화 통제와 지자체별 요구 반영의 난점 · 임상 효과 근거 아님</a:t>
            </a:r>
          </a:p>
        </p:txBody>
      </p:sp>
    </p:spTree>
    <p:extLst>
      <p:ext uri="{BB962C8B-B14F-4D97-AF65-F5344CB8AC3E}">
        <p14:creationId xmlns:p14="http://schemas.microsoft.com/office/powerpoint/2010/main" val="13334012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A5F9646-0A47-41B4-A828-6FAD2984CA61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81284D-C285-4ABB-88FF-D074C637A6A0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B4ECE8-92EB-4A9D-A4F6-A90E49DAA6EA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E81DF7-58F9-4F28-BDF7-00AE0D5ADAD1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54DFFF-2BEF-4DC4-92E6-1F1A2BD4ED70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5DBE1B-A1B2-4968-BB56-F6B586D62947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F4EBEA-86F4-4E76-AD32-FAD1B1DD6334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DAB3AEB-1222-416C-B0FE-2E2C14FC5457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187ECA-6693-4817-9139-4566441BC75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B0B7AE-71D0-4546-A720-3780E5B7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AX02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5B613-57DD-429B-ABE9-B951BDF7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CLOVA CareCall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59333-4C41-405D-B3A0-53AD59DB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0CAE1-AA23-4CBF-81E7-5C284027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E5B6C-1C05-4FD5-BD30-46D07874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91FC4-9C19-4B86-9CF0-33D6CCA9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75DEAB-1319-45AB-8964-1286ACB6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B51BB-7B87-4434-9039-3E5716F3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05B4F0-2589-4F93-ABAF-41E8D890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안부전화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7910B-2871-49D6-A631-F66731FF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4FDB7C-A8CA-4366-9EA6-E8D1066F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09BFEF-7CCC-411F-9135-30D09EC0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대상·대화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571D4-FBD6-4C05-A0E7-D1D70539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AF640-61D8-4FDB-AFAF-4A95291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33DB5-8CB8-4EE1-9C83-B756BC21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이전 대응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C5481C-D59A-47CE-A91A-8137DC50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B6A3F9-DF6E-4247-98E2-115961C9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B97A36-56A8-4399-8E17-2FA73A39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대화·상태 요약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D97DCF-8B51-4883-BDCD-39A99869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5AE2AD-7F2A-40C8-85E1-FA125256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DDA83E-99F4-48FA-A605-24C464EE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위험 발화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1E0668-742A-4B89-ABCF-9782B50E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E15A6B-A84D-48F6-A321-6CCDCD05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57152C-3355-40E6-8C39-C5119062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복지 담당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5C8750-B2DF-445A-A56C-0BF09819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03938C-5082-4F14-BF22-8B7E87C8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94CF5D-2B4D-462C-8FA2-39A17FCE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상담·방문 인계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80FFAA-0BA8-4A46-90E1-6AD297EA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563032-39E1-4048-8261-B7C7CD7E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C0EDC8-28E3-4B55-B75B-016D3B25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조치 완료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2C915A-CE1B-47AD-B428-729219B6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126F35-3EEF-4E1C-A693-A09BCE85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BEA12E-9B82-4592-A7B4-3F1E3AC0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동의받은 대화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95D418-6D6A-4679-98F9-2F7050AA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59D7B7-D681-4EEB-A1B9-4426C790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C19EDA-9D36-41F6-A658-5A0721FE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민감 발화 분리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79F034-6B1B-4D46-9E19-FD78D678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F3A337-98B5-4F7C-AEAE-4909EB4A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2E7BE1-1C4D-437C-99D7-49C88007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대화·대응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BAD5E9-03DA-46FF-A683-ACB0B923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5F090C-A920-4522-B640-B2A1B620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BDD8B3-1817-4AAA-99C7-657455DF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동의·열람정책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3EC16C4-2BDE-412B-9152-A26E2EEA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7849953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C52653-3DCC-4F51-BEAE-463334D2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AX02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4B9E1-5A98-4D71-81A7-DE0FDF3B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CLOVA CareCall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3B8DF-B391-4D23-8606-84B9E285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E30A37-2262-4A99-85F7-EAB988CD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C6DBC8-3F9A-4D7D-9CAF-E8B06F37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0165E-0EE4-4ED6-83BE-6BFAEA87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1936DD-1753-4C6E-AD5A-24CE5149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BC4F0-9E3C-44AB-9126-02374390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A31A3-DC52-4521-9E67-CFC1FAEC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전화 대상·대화 문맥의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EDAC8-41B0-45DA-8741-0FA6258E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D76BE-AA83-40F7-863A-2F1E9B6E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9847F0-C1B5-45CF-9442-8B1E533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동의받은 발화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052D5F-7ABB-4191-85CC-196487FA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98397-3F66-4676-89D7-5AC86815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4DC613-B73A-4929-9764-EB475BE1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상황 요약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38358F-DEA0-4177-B8E0-E59F1BFE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411996-573B-41E8-92D6-367811E9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85BD9F-D617-469C-AECB-5A3C5870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확인 필요 대상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435D98-D5D5-427A-8B64-B5416FC0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CA52C4-DCD0-4023-BF9E-C37C8B41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1274BA-E9F8-4C8D-B332-BFC04908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확인 필요 대상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F60776-D53B-428B-BC7D-36D5A19F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350A50-E5D0-4FB6-98E6-BD09E711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4C725B-D3B9-4201-975C-F8D3E4F6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담당자 대응 기록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3F7FFC-D2E4-4986-8558-BABF5AE2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C6C2C5-4A6E-49F7-A167-99C81F1B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방언·침묵·통화 중단·위험 발화의 부정문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973CC7-6427-4875-BFF4-C7B0874A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C94AE5-3622-4AED-9838-584AC7CE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신호의 사람 확인·상담 인계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709231-6E58-4351-A313-C9B54D5D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AE36F3-B026-4AEA-86FE-9DFF8DB3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오인식·부적절 발화와 실제 대응 결과 검토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592484-E79E-4256-A5D5-A3AF6660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B0A5E-D39E-4501-A2E6-64BFAB65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 발화 대비 상태·위험 신호 추출표와 상담 인계 수신 기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</p:spTree>
    <p:extLst>
      <p:ext uri="{BB962C8B-B14F-4D97-AF65-F5344CB8AC3E}">
        <p14:creationId xmlns:p14="http://schemas.microsoft.com/office/powerpoint/2010/main" val="15106775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32F4F3-370E-4AF2-8970-A7A72CC3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AX02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1EE97-3B88-49C0-B247-2DCB4939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CLOVA CareCall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8A22FB-B84F-4BEF-868C-70C81E5A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450486-6C2B-4A39-B344-BF0BD3E2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39D43-7A30-434C-9616-7D72A51A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B6CED-5758-4EC7-AECA-DE865288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6A54A4-5C12-4349-8A95-57FD5DAF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전화 접점과 담당자 후속 대응의 결합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이용자 상황을 반영한 대화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B3F5B-37C8-45F9-B2C1-2C5CAB76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7A178-CBB7-49CD-93E8-FE93F413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발화의 오해·미탐 가능성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대화 종료와 실제 복지 조치의 혼동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0394F-5BBD-41E8-8922-2D76F6EA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10A6E-D02A-4D46-B510-BC094004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신호의 사람 확인·상담 인계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7EEB32-26E5-4FEE-A496-013662DC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0FDA8-2738-4EDB-9A47-2570037B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통화에서 식사·수면·불편 사항을 파악하고 담당자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 후속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CDF09E-4250-40B2-93E8-396E402C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F94A5-EE89-4DC0-AE54-7154334C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방언·침묵·통화 중단·위험 발화의 부정문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E02907-2BD9-4294-830E-289433DE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879FB6-89C5-4F25-A5C5-EF4EBBF3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 발화 대비 상태·위험 신호 추출표와 상담 인계 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수신 기록</a:t>
            </a:r>
          </a:p>
        </p:txBody>
      </p:sp>
    </p:spTree>
    <p:extLst>
      <p:ext uri="{BB962C8B-B14F-4D97-AF65-F5344CB8AC3E}">
        <p14:creationId xmlns:p14="http://schemas.microsoft.com/office/powerpoint/2010/main" val="9992868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EB24D4-2A61-4C86-B61A-9FF7B84F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AX03 / 실패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19FA2-4B63-40A9-8243-52AB6EDF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이루다 개인정보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75AA0-D67E-455A-AF25-B8171A31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10B1C-0B80-4D08-9B13-4BBEEACC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ED6F9-ED45-4038-B510-675E765C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0C754-594D-4132-97BF-F87E8171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B442E-6BA5-4A6A-A4E0-2B4F1B6F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서비스에서 수집한 대화를 AI 학습·운영에 활용하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는 과정의 개인정보 통제 실패 사례. 자료를 보유한다는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사실과 해당 목적의 AI 이용 권한이 일치하지 않는 문제.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058D1-CBED-4BB2-A311-A83C2BA3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FB31E-B509-4EC8-8EAD-08BC9187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 수집 목적·동의 범위·보유기간을 데이터에 연결하고,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학습용·검색용·출력용 경로마다 허용 여부를 판정하는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 재발 방지 설계. 삭제 요청은 원본뿐 아니라 색인·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캐시·복제본까지 추적하는 구조.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452C7-F77B-488D-87F7-FCCB88F4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68664-8DB7-4AD0-8150-B1B3B6CC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인사·민원 데이터의 연결 시 업무 권한과 AI 재사용 목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적을 별도 속성으로 관리할 근거. 민감정보를 포함한 실제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사용자 데이터를 시험에 노출하지 않고 비허용 목적·회수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상황을 합성 자료로 재현하는 검수.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9DDD11-9D6A-4353-A0CD-0B99EB00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6C33A1-BC2A-4B2A-8DBB-18E5A4F0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수집 목적 태그 / 학습·검색·출력별 정책 / 삭제·회수 전파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F4591-87E9-4C06-BA76-2CA83ED6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782AE-28D2-4E61-B225-82331E2E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목적 외 입력 거부·권한 회수 후 검색 및 캐시 노출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97BF9-A1FF-4F7E-A9DE-9613EFA0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D47AB-5895-4F68-86BD-97B9A0E3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필수 거부셋 노출 건수 / 삭제 전파 지연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164E1-07AF-40E4-986E-DCD0A383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2021년 조사 대상 행위 기준 · 후속 서비스 전체에 대한 평가 아님</a:t>
            </a:r>
          </a:p>
        </p:txBody>
      </p:sp>
    </p:spTree>
    <p:extLst>
      <p:ext uri="{BB962C8B-B14F-4D97-AF65-F5344CB8AC3E}">
        <p14:creationId xmlns:p14="http://schemas.microsoft.com/office/powerpoint/2010/main" val="8976311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6B61EE-6766-441B-8B94-622B108C882A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A3D6049-485B-4D31-98EE-7F138DFBAA6D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51D140E-77B5-42BE-88E1-A4ACA82C062A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14FED9-6EC3-4BE1-B535-58A43AEDD333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EAD9B8-06B8-4F7D-A9DA-75E4B8078347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C27D95-2C11-4254-B65D-FC6E4539A38D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5AB8FD-BB01-4E69-A481-7441C7ABBCF4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40EBFF-FEB2-4417-B0EF-51AC1A305784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231351-6EC7-4496-9313-A317AF7473FE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7134D8-F9E0-4235-8C64-30EBC59A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AX03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B1A3B-828B-483C-A6D3-AB2CFC11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이루다 개인정보 처리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87E0DB-A481-4729-9B11-57C74CE6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59973-603A-4331-86FC-74A9D7E4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1E816-7195-46AC-8765-35C32F66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BBEBA-BF92-4910-BF04-4600553E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30471-05A7-47E6-A816-9CB03EEA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429868-2765-4EC0-92D7-74EECA5A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BA2BA-FB36-4FCF-B6A7-89FF8B55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재사용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894D7-A858-4A0B-B42A-94E38BE2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1C6A26-0FD9-4D78-B70A-0BF73089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A3489-9EF9-4FD8-92CE-BD2A6D91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목적·동의 범위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5655D7-9D24-441B-91C4-9274CD14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105798-4DB2-48C8-B4E7-FFD0CABA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D04A39-42B3-49C0-953F-35E9E6AE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대상 자료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38D8F-F725-4AE6-A907-60DB72CA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3A4C3-2876-407F-A009-808FD172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9563B-C931-4134-9730-120B8DBC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학습·응답 분리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15185D-7522-423F-8DC7-9E0C09F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39BB7D-1C3C-4698-9287-63CE347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5AF924-63A2-4308-B39A-5FF341EA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목적 외 이용 차단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8D0D2E-CBE9-4E5F-BDD5-6F5089C5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E6E31C-84FC-45EA-8079-FD14BC16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C83372-7104-4FF4-AE47-96DA0DBE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자료 관리자 심사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5EDAAB-A50A-4B14-ADEB-43C7B306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4CDCAA-A493-4AC8-9F58-61D61FB0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8A51A6-FA96-425F-9AF2-3FB0E88B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허용본·회수 처리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0C93BD-E204-4223-A8A8-6695822F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B343AA-A9B9-4CA2-A792-04B19D34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682C85-736E-4EDF-9BFE-1B0AD6E1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잔존 데이터 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8E8950-AC57-4039-80EA-6E654DA4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F4D1AB-EE04-4A05-AC08-67CFB0D6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80312E-9590-43BD-ACE4-A0A90CC3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원 서비스 대화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57F931-13C7-4884-BF1A-26906871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CBF2C7-0437-480D-A514-E3538BD0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6EC7BD-C044-4CC7-9DE5-FEE30BC5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개인정보 태깅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162DF3-DA29-4BA9-ABAC-976C5204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6D3E2A-6A6C-4812-AF11-2071B1F3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FE1841-07F3-45C6-8C5A-CA52B0B9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복제본·판본 목록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E08C5C-F06E-4407-A0F6-ADA274F6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A250A31-B691-4A29-9393-667C42C8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ECDF14-E482-46E3-82E5-49B92270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삭제·보유정책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1184908-3DD6-4DBA-801E-373E966D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5215065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27DF-6CC5-4F03-8E67-6A9E7EE2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AX03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DCF46-7016-467D-85AF-BC486F16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이루다 개인정보 처리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51448-AF55-4252-8F4D-1D22A59B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7FB7E-F102-41C4-87E4-846FE863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78559-5B5F-4F7C-95BD-D4EA2F47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AE742-BA12-420C-9CB1-9673D86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B42E3-E7D1-404F-A8CF-A052A604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775652-0F2F-4DA6-9E03-CF872295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9F1D5-5BB9-4855-8C32-D8A080CB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 서비스 동의와 재사용 목적의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C0BA4-1C12-41F1-BCAE-2892C9BB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21049-A77B-4DA3-8221-DD78A2C7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7D13B-0A4A-4B22-BF4A-0F50E987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대화 원문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94CAE-2D5A-4611-891D-90D73671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E8410-CE5E-4918-B934-B1285B2A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50F08-77C3-483F-B207-0CD18E02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재사용 대상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0AD354-92B0-4115-86DD-8DEF38AD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B9DEF5-42D3-4023-B6D7-C80D6C83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4F3AB4-10B2-4D71-87C2-B81AF03B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학습·응답 자료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201A2-D3B2-4BB1-9F58-54D4BD91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8ADE39-F368-4C4C-873A-C062EDA3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BD1A68-C677-43A3-B1DE-164D762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학습·응답 자료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3B7593-9C63-4A85-814E-2E3B1B35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D76C9-D21A-49A8-8FD9-85EBAE85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6D46EF-B010-43A2-AE45-F9DC4615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생성 발화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1845CA-C5F2-4A8F-A5B9-2E362B32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D91044-F406-424D-A82B-E6BAC3CD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동의 철회·다른 서비스 자료·복제된 삭제 대상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2F4F6C-7ACB-4E68-A27B-C945F46B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583A74-233F-4F81-9259-58978368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목적·동의 범위 대사와 삭제 전파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2D5971-BC7E-4AFB-A262-058D2092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1771F9-B987-4085-B600-BB825555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삭제 이후 학습·검색·출력 경로의 잔존 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4C3245-F6E6-48A6-A32E-22042F47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1A2EFA-6479-432D-9C2A-31BFD47A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목적별 허용/차단 결과와 원천·색인·캐시 삭제 대사</a:t>
            </a:r>
          </a:p>
        </p:txBody>
      </p:sp>
    </p:spTree>
    <p:extLst>
      <p:ext uri="{BB962C8B-B14F-4D97-AF65-F5344CB8AC3E}">
        <p14:creationId xmlns:p14="http://schemas.microsoft.com/office/powerpoint/2010/main" val="15551597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CE88E0-A3BF-4BDD-B666-D2BD3DBA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AX03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87598A-5F4C-4491-A95D-BA81EC40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이루다 개인정보 처리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B2DFA-4BF5-4076-8ADE-2CA603B0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8AD32-F994-4288-B17B-0D9893E9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2DBE31-6FF4-425B-AA6D-C96714FE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5B5284-500A-43F1-B8BC-8191D684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재발 방지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28AB0-1AE0-4F0C-9F29-78BF05FF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수집 목적별 데이터 분리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이용 동의·삭제 요청의 재사용 경로 반영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28838-B4A8-4BBC-AC2C-B81B09C0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요인·시정 쟁점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FD6AB-8115-4C36-AA62-E7884622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서비스 대화의 목적 외 이용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학습·응답 경로의 개인정보 통제 부족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B0E70A-A526-4BBB-9433-BA13C2C1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4F0FFF-3A78-4FCD-850A-4D14129E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목적·동의 범위 대사와 삭제 전파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53E80-D760-425F-9C76-F1B904B1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AC541-76AC-4878-BA2F-874555F2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명시된 목적에 맞는 대화만 학습·검색·응답 경로에 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57D02-BFC2-47FD-801C-EBCA3F0C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C0448-BD41-4C6F-A4BD-A5BB5067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동의 철회·다른 서비스 자료·복제된 삭제 대상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A072AD-69D8-4679-B89E-5D707576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B0D4C4-318D-4412-AFC7-EA39FE7D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목적별 허용/차단 결과와 원천·색인·캐시 삭제 대사</a:t>
            </a:r>
          </a:p>
        </p:txBody>
      </p:sp>
    </p:spTree>
    <p:extLst>
      <p:ext uri="{BB962C8B-B14F-4D97-AF65-F5344CB8AC3E}">
        <p14:creationId xmlns:p14="http://schemas.microsoft.com/office/powerpoint/2010/main" val="153674884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58FB21-84F3-4DA2-BCEB-C160DC67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AX04 / 혼합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2C2B3-5767-480E-AF4E-C37F0925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영국 정부 M365 Copilot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64214-0DEE-4A54-81A3-86F94C69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728CE-C98E-47B6-A3C3-940E0C39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BE1D0-1B87-4BB7-951B-3EE84643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52E46-5847-4FAE-BFA5-5E97FAD9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46DBB-DA91-4616-B063-49C7A852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기존 M365 문서·회의 접점에서 공무원의 작성·검색·요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약을 지원한 실험. 새 업무 시스템 구축보다 직원이 이미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접근하는 자료와 협업 도구 안에 AI를 배치한 유형.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C574F-66F1-4EDA-8601-DD3A668D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FFF39-7D40-45F8-A89A-6C143077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자료 접근권한을 전제로 요청 문맥을 만들고 검색·생성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결과를 직원이 검토하는 흐름. 조직·직무별 동일 과업을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정의한 뒤 AI 사용 전후의 초안 작성, 사실 확인, 수정 시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간을 함께 기록하는 CCK 비교 설계.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67B4B2-33A3-4605-978E-A3E463FF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93443-71E2-43F3-88F9-D0407F1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설문 자기보고 절감시간을 TS의 예상 절감률로 직접 전환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하지 않는 평가. 과다공유 문서, 복잡한 질의, 숙련도 차이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와 재작업을 포함해 부서별 완료시간·오류율을 산정할 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3BD56-C025-44A9-B6D3-013CAB74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428E1-1781-4BCA-97C8-EE55EA54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로그인 ID–조직 연결 / 직무별 검색·서식 / 검토시간 포함 계측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08037-85CF-47D5-A8BC-A472A5F5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7A9D06-482A-47BD-A5B4-EC6BF3C8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권한 교차 시험과 동일 난도 업무의 전후·비교군 평가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21FA1-4318-4A89-96EE-17ADD06F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440F76-B6B4-443A-B319-CBA663CB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검토·재작업 포함 완료시간 / 오류율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AD570C-B3B5-4522-A815-B7EFE6AD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실측 인과효과 아님 · 복잡한 맥락·데이터 업무 한계 · 기존 자료 과다공유 위험</a:t>
            </a:r>
          </a:p>
        </p:txBody>
      </p:sp>
    </p:spTree>
    <p:extLst>
      <p:ext uri="{BB962C8B-B14F-4D97-AF65-F5344CB8AC3E}">
        <p14:creationId xmlns:p14="http://schemas.microsoft.com/office/powerpoint/2010/main" val="9822383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9FF2B0-5D47-496A-8EDB-E8E52AD106A8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876CC36-B906-4E96-ABA3-4D45438DA9E8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45FCC6-8491-4225-B761-38578F8B7948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E2DE03-C3D0-469D-8E40-F02A54FD8E0A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4A2FED-8579-41A9-AC1E-DEEA0354C820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595737-910C-4DA5-AD58-A2E4EC02C0E7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1D7B4EC-6013-40CF-84A1-6A961DC0041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AFEBD7-7FAA-4A1A-8F11-AB376763BB02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8526B9-A6E8-4979-9BED-9FC98AC130F9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A71FF0-D5FC-4E00-A15B-EA7267D7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AX04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AB6E1-EF40-4319-97B5-5F13CD86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영국 정부 M365 Copilot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9E510-0A69-4AF7-B07D-E7AD886E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90AFA-CD47-4C82-AE94-8F92C0C2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B3E32-EE50-4F09-8BA7-55377D15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0695B8-9B47-4A17-BB04-B463E5D9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08C14-61D0-4BB4-8F6D-5D49E191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171D4-E647-489D-81A7-0922498B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5B22C-2E57-4033-BB46-71617B76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M365 업무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359547-4B8B-4CF1-BE4A-8E513712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A7870-C376-49EC-AED5-C7BDB71B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F8097-893E-4D95-9C41-5BBC9DBE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직원·과업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CA8A4F-EA02-4005-BC27-ABFDDDCE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6DA0F-C9F4-43C6-99EF-E1E1F8D0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928B0B-022E-4F44-A5DB-949AE393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권한 내 자료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8FEBA4-9A54-4B08-9DB3-5C80CF78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835D3-DC55-4E39-B60A-C9763C08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CC0FA0-848C-493F-94AB-4295240D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검색·요약·작성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475509-795F-421E-90DC-5D5C1C76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BB3D8-F513-46CA-A7DC-297C5D85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3D5DE9-52DB-4E63-BE4C-60F49883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근거·사실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964CAA-E313-46EE-9052-C8DBD4A6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29429F-7355-4189-A13B-B1584CF3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D9F4C8-C8D7-47B5-A9C3-FC77A59F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직원 편집·확인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DCC204-C6D4-48A4-A3FF-76B8C591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A7A8E5-7A1D-49B2-987C-F0DDD72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01732C-ECA6-4AB6-ADAA-2495D4CE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문서·회의 후속업무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C3BBCD-F761-407B-B192-2F170962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4DAB14-D4B3-4547-B1E0-00131663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E4C8C3-FC58-4D83-B021-26B3F236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검토시간 비교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D67D23-C366-46B5-A1C1-5AAA4866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8D2AC5-79E2-45B3-A4E5-45A688E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F7D07E-68C9-4CFA-AFAD-C2275F51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문서·회의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3B346A-A217-4C88-A0EE-5D8D3621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3BE88B-A3DC-4D2D-AF80-84651ED3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F6D5BF-6B81-4B23-9E19-40447BAF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공유범위 점검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811A76-39D0-43E7-8118-A50B2575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8AACD9-B8F2-4A15-B980-90AC546A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E96CF9-D481-4C84-8492-2AE16351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업무·평가 기록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EAE0D2-1417-4E5A-A2F6-ACA2FCE1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BAE013-15C8-4B12-812D-99B220EF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16122E-878B-449D-9F79-B6D29414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문서 접근정책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E00B7A-FB55-4441-A74A-A8C245BB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3083595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BE9533-6AB8-40A4-85CC-5B6AB08C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AX04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54C24F-50AB-4171-ACFC-02AA6724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영국 정부 M365 Copilot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3D7DD2-798D-4FE1-A502-48E0EB67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755BE-C0B0-4CD9-9370-F40E1193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5C82F-B122-4E50-9577-E4A16898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D1132-019B-441B-A693-B361B3FF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BE189-C9ED-4D85-8E65-7E32F030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C72AD2-69E2-4C18-AA92-595CD405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2503F-5C48-40C3-994A-F2EB8709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직원 계정과 과업별 접근 문맥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88229-BAE7-4F51-A1C3-14EFEA63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2AD6ED-0DEC-4677-A849-C9D91A50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2EF1C5-2FB5-4B93-A9A3-A47A6765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 요청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4B07C-9009-409B-896A-C0C55E70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E04038-1DE9-489B-9288-E3C7B4E5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872C40-2B58-4E11-A086-74704290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권한 내 근거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D18EE2-6F34-4EB5-949F-1CFCBBE7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1801F5-4C33-44B9-8F67-B339B1C0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E30D2A-9AB5-4C16-98D1-3EF7E8B2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문서·회의 초안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D58CF8-D618-4E71-ACA6-24DD4E71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6AEF0D-C4FA-49FA-821A-4E6441A4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81B3E-BAA5-479C-8A9B-401157E5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문서·회의 초안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BA36F4-B1C0-4EF9-880F-5CB0073C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82F7A-6DBE-41BA-8199-62C4DFA7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70E281-2B7C-42C1-AF68-DF22C9B0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검토 결과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11FE7A-876E-4CBD-8897-554D8122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96CB19-C003-4F0D-A588-4265C4ED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부서 공유문서·누락된 발언·잘못된 할일 배정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3984EF-32CF-4898-AD1A-6EF8519B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B4829E-D52A-4FD1-9161-87741C47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정답·검토시간을 포함한 비교 평가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8E2BBE-049F-4D02-88E2-CE0E16B8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ADDFAC-87F8-4FD6-A435-6D0B30E0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검토·재작업 시간과 사용 로그의 과업별 비교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40ECFC-5331-476C-AC70-52C8398A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C5BF6A-5E02-464D-BEB7-B6008075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권한별 결과와 검토·재작업을 포함한 과업 완료시간</a:t>
            </a:r>
          </a:p>
        </p:txBody>
      </p:sp>
    </p:spTree>
    <p:extLst>
      <p:ext uri="{BB962C8B-B14F-4D97-AF65-F5344CB8AC3E}">
        <p14:creationId xmlns:p14="http://schemas.microsoft.com/office/powerpoint/2010/main" val="166827088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AB5E98-4312-4B73-9BCA-E894064B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AX04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684D8-7D7E-4F35-9754-4927BC36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영국 정부 M365 Copilot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928D4-1044-4A97-BAAD-8AC0F056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F26C8-7EFA-4389-AD5A-3A0EA343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8FE04-8007-4D56-9488-526EAEA9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7E364-D82C-40EA-B644-AB229F7A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3F6B6-06B5-4F43-B970-6C4D0208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기존 문서·회의 도구 안의 지원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실제 직원의 활용·피드백 수집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3EB677-E2E1-4230-820D-1987EDCA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52AC3-4CEE-4CA3-98EB-53433445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업무별 효과 편차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자기보고 절감시간과 실측시간의 차이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FEF8E5-D2C4-4BBE-AB53-A49008C2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1B4A0-4ADC-4E9C-90D7-C9820F33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정답·검토시간을 포함한 비교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A5A94-1092-4A70-9E14-5A091B5A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5DD96B-0258-4F08-AB3E-501D9062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같은 회의자료로 회의록 초안을 작성하고 직원이 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수정·확정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A6504E-333F-4195-A093-4F57D529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5EC92-69B0-46C4-82CC-B01E4988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부서 공유문서·누락된 발언·잘못된 할일 배정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E0F238-6989-4157-9839-CC0308F8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ADBEF4-858F-4195-8088-CD295D41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권한별 결과와 검토·재작업을 포함한 과업 완료시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간</a:t>
            </a:r>
          </a:p>
        </p:txBody>
      </p:sp>
    </p:spTree>
    <p:extLst>
      <p:ext uri="{BB962C8B-B14F-4D97-AF65-F5344CB8AC3E}">
        <p14:creationId xmlns:p14="http://schemas.microsoft.com/office/powerpoint/2010/main" val="193422841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19CC77-5F9F-499B-82F0-A8CBBAD5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AX05 / 성공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08DDE-4E8F-4AAD-9075-BD0BC3BA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데이터센터 냉각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CEF37-D729-4A9E-9898-4ABA76A3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85EEB2-14EC-45C5-890F-9A461C01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D0564-4996-4FE5-8E71-B00B182B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31B7E-310B-4493-B9EA-0BF1083B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20CC58-156A-489F-83CA-C2BA3955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데이터센터 냉각의 전력 효율과 설비 안전을 함께 다룬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제어 사례. 예측 결과를 화면에 보여주는 단계에서 실제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제어에 연결할 때 필요한 독립 안전검증이 핵심.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81A72-A9EE-40C4-B3F3-EF715D4B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F69F5-5407-4D4F-9ABF-D3522E1F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센서 상태에서 제어 후보를 예측한 뒤 클라우드 측 검증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과 현장 제어계 검증을 거쳐 실행하는 공개 구조. 운영자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의 수동 전환과 허용 경계를 별도 계층으로 유지하고 실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행 결과를 다음 주기 입력에 반영.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EBC17-5BE1-45D5-833B-84871022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8B072-8D32-400D-BEC8-30943350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시설·장비 업무에 적용할 경우 AI 권고와 현장 실행 승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인을 분리할 근거. 에너지 기준선은 계절·부하로 나누고,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센서 누락·경계 초과·통신 장애 시 안전 상태와 수동 복귀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를 먼저 검수할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84B9C-B172-4481-90A6-E8944071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34C17A-7E3D-4EE0-9A1F-3CA52801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원천·배출계수 판본 대사 / 계산 검증 / 권고 승인 / 계측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37DCC-52AB-4477-AD52-03A5FF40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9BB211-82BC-45B6-89B2-9168BDF1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계수·단위·경계조건별 재계산 및 이상 입력 시 권고 보류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6964F8-E8F9-4D26-AE3E-7D30166F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1507DB-2EF4-4150-9688-BC92A5BB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검증된 활동량당 에너지 / 산식 오류율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13240F-831E-4BD7-B203-50B1A218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데이터센터 냉각 한정 · 총 전력·탄소·TS 절감률과 구분</a:t>
            </a:r>
          </a:p>
        </p:txBody>
      </p:sp>
    </p:spTree>
    <p:extLst>
      <p:ext uri="{BB962C8B-B14F-4D97-AF65-F5344CB8AC3E}">
        <p14:creationId xmlns:p14="http://schemas.microsoft.com/office/powerpoint/2010/main" val="188527916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4FA81F4-196B-49AC-8F3C-AEFA2420674F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27D39F-6A1D-4202-B53A-2B524D737B71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EED6109-FF77-4B33-94B5-A5A42BFC5C56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7544D63-9402-43FE-8F68-6E8AEF4CC84A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65E9279-8C47-4E96-A3FD-541E97C91167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9100B0-7B5F-4F55-8C0A-1277A3DBCD73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39FF63-315C-4E5C-8797-92E6510F61B3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493159-42C5-49B3-B484-DFFB29C15A2D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05C28D-058C-4D12-9528-E1404156741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734B83D-6CEA-47F4-B51F-D7FE9B6A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AX05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A6735B-622B-439F-9CE3-5BEA7FBF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데이터센터 냉각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27230-3D5B-4B61-A660-ADE876F2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49F43-05C9-4DCD-BF6C-4BD71AA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C3EAE-6921-4D4F-803C-2EB731EB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CD5FB-1D7D-461F-8633-07CF4E75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DeepMind 2018-08-17 안전 제어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B8814-8BF5-4A58-8154-4998A31F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8EB544-8EFE-4080-9EFF-A358BFA2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8BF3B-3D82-4416-96B0-4F03CA2E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냉각 상태 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0965B-AEBC-4632-85C2-6941F788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31AD1-9C10-46F8-9630-FA93E891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7C111E-C45F-4931-B2EA-AC2E937A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운전·안전 경계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04B69D-F43E-4A99-AB33-69263E4D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E2673F-AF7C-4DCC-B1C8-3C42D10F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7A75D9-5123-4434-836C-990D53EB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센서 이력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8FA80C-222A-492A-B442-DBE39F3D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BD9746-2E0C-4D4C-8070-19270B85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CB360A-D3B3-4BFC-A658-F27ABD37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소비·제어값 예측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0C4948-8919-446F-AA51-D7779489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CF6241-493D-40DE-BB38-A7A18682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5540F8-9FAF-409E-8F3A-D6FFF36D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클라우드 안전검증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D94C4-D70A-4289-8DA7-E491D438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4784D0-8BF7-457C-8B76-65739E75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7CB68F-3F86-40E4-9EA4-50BECE68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현장 독립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325E3-5328-4F83-B140-8EC21EE4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BE7C9E-DF1E-4C0D-A4E9-57C778C0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CF4AEB-775A-4663-B7B0-0A84E249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제어·수동 전환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06AABF-700E-4EF6-94D3-DF22C683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A49D8D-23A7-45AE-9F40-E1DA3B89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8DD796-06E2-4281-A34E-D86CAA7E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다음 주기 환류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0DD2CC-D31A-4037-99F0-3E32AA7A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7DB54A-FFD1-4413-8D0C-E05B7050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30E3AF-B19C-4565-BDC5-1BA5A284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센서·운전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5BDE4D-7500-4161-A72A-6806419A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4DA934-BD0F-4F07-ADF1-4A5CBB60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9567DF-92E3-4EBD-9FB2-F86C7E8C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시각·결측 정리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8B4C82-F1F1-48DB-8DDF-E1D88761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D19F53-979B-4DFF-9A3B-C382C6BC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B07236-B863-4560-B5B5-BDA908FE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상태·명령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638F19-A0B2-4F7C-A5DF-78484D95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A2B2E5-B3DD-4A4D-BE9C-DBBB8C8E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3C73E1-5E7D-4F26-9767-94F14F89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제어 허용경계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10BC2F-D357-46D0-A1F9-686B7582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77633314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3FEDC1-E8A0-4A69-8BDA-DB4887D0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AX05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0E9CF-91F3-4D91-A2E0-3A7102D2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데이터센터 냉각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C65C1-2D40-4717-A4C1-3E816B7E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22D28-D91B-49E8-89AA-740FFCE9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D4775-65B9-4B37-A02A-BB69F736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AA65A-9E40-422B-AE5E-7AD1DFC8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ACE19-9E77-414E-8FB4-24A598E7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D1BB6-0245-4E01-AFF5-D09C1937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9579DC-87A8-4E85-8AA7-C4C09DFF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센서 상태·운영 제약 수집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6DC5A3-A5C8-4B6F-8BA5-F2882AEA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F4302-174A-4912-ADEC-3F68BFCB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19EECE-FBF7-4002-B407-4BBECE01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센서 스냅샷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EE2D9-FFAF-4394-AACC-2D2A4DF8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95065F-0E2B-470B-8367-2227A38A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8ADAB0-6A5B-4789-A9DF-908039BD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행동별 소비 예측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AB12CF-107A-40FA-B53B-B73C7724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480CD6-3219-4F68-B37E-80CFFD9E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0A3A63-5226-4089-BFFC-822E14B7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행동별 소비 예측·제어값 후보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61BDA2-7534-4A22-BC4D-F06AF215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2F638A-791C-4A1B-84E6-4CF852FE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28460E-746C-469E-B2A7-E668FE1E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 조건 충족 명령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2C19A6-1422-4F3F-AA2B-42528B59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156D17-2148-4419-B862-426C5884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6ACA5F-83E5-484C-98D8-7E2B1557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검증·실행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A2A40-00DE-417B-99D9-55E03279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298618-AD5A-415F-B1A9-2F32894D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센서 결측·제어값 한계 초과·현장 검증 거부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38D7AB-89B7-4CAA-99F9-C78CF7DB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C2E1D-4BD3-4935-BC7D-36235607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독립 검증·수동 전환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F390D5-8F89-4660-B15F-1FCE77D2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B49592-392F-4CCB-8B66-FDC3B5F8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운영자 수동 전환 및 제어 결과의 다음 주기 반영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F6064B-E9D3-4767-BED9-B50D6494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CAA842-BA6D-4049-8CC9-15ED9A17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제약별 통과/보류 결과와 수동 전환·제어 이력</a:t>
            </a:r>
          </a:p>
        </p:txBody>
      </p:sp>
    </p:spTree>
    <p:extLst>
      <p:ext uri="{BB962C8B-B14F-4D97-AF65-F5344CB8AC3E}">
        <p14:creationId xmlns:p14="http://schemas.microsoft.com/office/powerpoint/2010/main" val="9863314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944130-AFA0-4BC4-BB10-C5176AA3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AX05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D5F7F-3A3C-4E51-875D-E2FDD8B0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데이터센터 냉각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908EC-BB7B-45F9-81F2-B1C86A6F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6CF2A-C975-47FC-9D29-F39420DB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66E7E-2AE9-46A2-B659-AF707301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8437C-281B-411D-A4E9-E61F2B85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029B4-FC60-4F8E-BFFC-CA4B2572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클라우드·현장 제어의 이중 안전검증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운영자 수동 전환과 불확실성 제한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D19C45-3C9C-4DF6-85BB-F153A838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94BDDC-34A7-4815-9D1E-D25D8660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계절·부하에 따른 기준선 변화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 한계를 넓힐 때의 제어 위험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806562-DC06-4FAD-B996-EEA5939E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0769C-33DE-4655-AE58-A6254EFB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독립 검증·수동 전환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F1C3E1-AA5B-4D61-85CF-944E7F2B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3F5118-8B4C-4768-A306-C61DFEE7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현재 운전상태에서 허용범위 내 냉각 제어값 산출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DD9063-AA0E-47C8-8F52-CFF0138D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06B06E-7276-4AFC-A834-3E448B24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센서 결측·제어값 한계 초과·현장 검증 거부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325432-73B9-45EC-B532-AD92D0BD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AECE2D-AD7E-4124-ABAD-9457F8E4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제약별 통과/보류 결과와 수동 전환·제어 이력</a:t>
            </a:r>
          </a:p>
        </p:txBody>
      </p:sp>
    </p:spTree>
    <p:extLst>
      <p:ext uri="{BB962C8B-B14F-4D97-AF65-F5344CB8AC3E}">
        <p14:creationId xmlns:p14="http://schemas.microsoft.com/office/powerpoint/2010/main" val="180070208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D7E437-3B7E-42CF-BCF2-853EFF7C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AX06 / 혼합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3D1D98-DD8C-4415-A80F-44E34AD6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GOV.UK Chat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F9520-043A-4A1D-933F-805E6080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E5022-ED1F-4633-ABCE-783D12B5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B1A4F-6CC0-4D1C-A292-4A62D782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C819C5-9605-4CF1-BB9F-289B7CD5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162F2-4DC7-4C25-B1B5-44551F8C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정부 안내 페이지를 이용자가 직접 탐색하는 과정에 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연어 질의 접점을 추가한 사례. 질문에 대한 설명과 실제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공공서비스 신청은 별도 단계이며 원문·공식 서비스로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의 이동이 중요한 완료조건.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6F404-4D81-4CD4-8F5C-93BEBC18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C769F-B146-4F11-9D1B-6ECAE38A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공개 기술기록의 Rails·Claude/Bedrock·OpenSearc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h·BigQuery를 기준으로 콘텐츠 준비, 질의 검색, 응답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생성, 품질 관측을 구분. 2023년 파일럿 설계와 2025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년 공개 기술기록은 판본이 다른 자료로 취급.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83406-9E47-44E0-A459-7216ACE0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55AD1-1F4E-4791-85FF-8DE97D1F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CCK에서는 TS 메뉴를 없애기보다 질문의 소관·지역·자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격을 정리하고 검증된 메뉴에 연결하는 방식으로 현지화.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없음·범위 밖 질의·느린 응답·틀린 신청 경로를 별도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과업으로 시험할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88AAF-CC95-4FD2-9FA4-8D9537BF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BBB99-7164-4F97-8B19-C78F3A1A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공개·내부 지식 분리 / 서비스 라우터 / 필수 입력 확인 / 인증·전</a:t>
            </a:r>
          </a:p>
          <a:p xmlns:a="http://schemas.openxmlformats.org/drawingml/2006/main">
            <a:pPr>
              <a:def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송 연계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2CFDE0-2E3E-4B26-B01E-8CD0D264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7D9BF-D599-4099-9BAD-51EE218D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실제 메뉴 대비 업무 도달률·완료시간 및 잘못된 기관 안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내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2CEAFF-94D9-4346-93D2-FB714F9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9F9E9-F207-4921-BED3-1FA44A43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정확한 서비스 도달률 / 포기율 / 응답 p95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7BF0A-6E19-43F1-8C73-E23C8AD7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공개 안내 검색 범위 · 개인 업무 처리와 담당자 인계는 당시 지원·개선 범위 구분</a:t>
            </a:r>
          </a:p>
        </p:txBody>
      </p:sp>
    </p:spTree>
    <p:extLst>
      <p:ext uri="{BB962C8B-B14F-4D97-AF65-F5344CB8AC3E}">
        <p14:creationId xmlns:p14="http://schemas.microsoft.com/office/powerpoint/2010/main" val="141306866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F3A08C9-9D44-477D-9EA4-9E8783751DD2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283F1E-356B-49C0-9D7B-18A3677B6C4E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657B43-C648-46F4-A435-7F3187071260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1807F0-4BA4-4837-8743-FBD550DD2D08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498A7B7-7FCC-4DEF-BEEC-8EB9625FEB32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EF5728-BF5B-46D7-85FE-77DE9ECCE2EC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922DC26-CC2E-4B7D-BE5B-CE7686E654B6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669547-DADB-4B25-99B4-BA23896B8BF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0A9E9B-6A13-4FAA-9F1F-BB381E8617B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3B3A49-9260-42EB-AD9C-E826D435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AX06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C4391D-696E-49A9-98E5-F2102CDC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GOV.UK Chat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A5CDC-3383-4DB1-9ECF-7BECCDD2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5919C-B662-4C03-A1D9-EB6444F0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6BC7AB-F828-48D0-BC3A-A726CE6D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08F9B1-FBF9-4603-9E7B-4F230C87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ATRS 2025-10-07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6C4D1-4516-4471-AAB2-38DBAFA9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55817-65E9-4473-9708-0E217A95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8FF6C-4807-4148-B50E-AFE1953B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GOV.UK 앱 질의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5A740-859E-4FD6-A500-6A5815C9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657C4-13F3-4870-B46D-30D12142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6F9C5-E9B0-4A56-9926-B515B480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질문·대화 문맥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8306CA-1695-4609-94A4-68DC376F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870955-AFF7-4E13-89FD-A4D97F2F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89E33-BACE-48EE-9340-B6A46FA2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OpenSearch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DB3DB-7142-401D-ACAB-A3AB02AB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51561B-7547-460D-BB59-6CB9D208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7A01AA-6106-4ADE-886B-784041A8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Claude / Bedrock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32933-AB7A-4CA3-AFC5-B5980C14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2DF613-AF0C-4ADE-8911-27C97BCF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F6811-3E08-4CB7-A561-F2F40470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범위·근거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6E4489-A4DA-4600-B90D-117D90B5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B9F3B0-4F27-4F8F-A5F3-D7C84C51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BE2C8F-01AD-4687-A601-F94CB9C1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이용자 원문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FE8F2E-2F3D-4EDE-A7E6-13D9571C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B606B0-9E5C-4AFC-8420-07076869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FA1A04-1176-4117-8CF6-708FE579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공식 서비스 연결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64CF0D-379E-4A4E-8C45-8E2619E1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4F959F-BBC5-4BC0-8607-09478744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DB2372-2C5F-4C82-A6C9-48396FF3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관리·품질 분석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988855-D3A9-4AF6-97BF-DCE64AFC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74B2C0-AAFB-47E2-B61E-CD50AD5C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600AA1-0832-445E-B0B4-248C24EC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GOV.UK 콘텐츠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8A4BF7-5852-4C5C-8786-FD4E60FB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D6C0E6-4382-4AA0-86A6-40EA390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FC562E-D48F-453D-B6FD-4F2A3374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선별·청킹·벡터화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88C03F-F17D-4FD3-B4C0-E662D03C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18FA9C-CEF4-40E6-B076-B34F3CD0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FE6128-D869-41DE-9B36-05174E9E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문서·BigQuery 기록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6B9D5B-F102-4968-8562-98756EB1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36AA50-D128-42A3-8842-BB2E6DC3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ADCBAA-CC6D-4B6E-99B7-0C612B56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지식 범위·안전정책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FD2451-9FD1-46D2-8ED4-CE2B5999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35904918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112B08-03F9-4F47-A1FD-B89B04C6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AX06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B24C8-F896-40F7-A2B9-646A8C39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GOV.UK Chat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B214A-DFF7-4E79-BE95-2ADE339F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79F98-F7DD-44D5-9178-A1A2413F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B8642D-2F77-4CCD-BB99-E0775AAC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E33788-16CD-4CCE-9BC9-9C94D204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98E4B6-7D35-46E9-A639-9F143143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B1AAB-E315-43F7-9D38-EF9EF46C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49BB11-5ED2-4C4C-8759-07F08109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앱 질문과 이전 대화의 문맥 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BC24B-F347-4147-89CD-5D674F57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84EA3-B14E-44BA-8062-6985E9F4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E1121-ADED-4B6A-BC70-B9A4FBF6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질문·의도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411053-084D-4540-80F4-E3E1F474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04554F-1EAE-4D02-950E-6525420A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0D05B6-D492-42C1-8D3D-DFC81652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공식 문서 조각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7CC5E4-FDA0-4B52-B045-9C77564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1EA5DC-D75B-4824-B18B-4C35A351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D30A52-5A9F-41A2-B919-21F455E8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출처 포함 답변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0727BC-B5E1-438B-824A-7FAE26E0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E190BA-6DCE-4B42-AA53-BB117131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AAB06F-F972-4951-88BE-E3FB23FC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출처 포함 답변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E5AC66-47BB-4AF7-86BA-77B47EA3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530D00-1BF6-4A01-8C43-82EE8FB8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28500B-5158-4665-BB3D-6487F75F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원문·공식 서비스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3C42DC-9558-449F-967B-28F52052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5F0C54-C47C-4EB2-83AB-E90EA6E4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범위 밖 질문·상충 안내·개인 업무의 실행 요청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099864-B7E2-4C4A-9AEF-3A65929F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1212F3-14D4-46E1-B945-C9F3ED5E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 분류·응답 품질 평가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3A5331-E599-445C-B9A6-D80D1598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AD1505-284A-46CD-8428-82EDEF2A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관리 도구·BigQuery 기반 품질 분석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060CE4-6940-4A93-85E0-377217E6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74E1B0-DB81-47D5-9B6C-220201AB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정답 안내 페이지·근거 문단·응답 보류·처리시간 대조</a:t>
            </a:r>
          </a:p>
        </p:txBody>
      </p:sp>
    </p:spTree>
    <p:extLst>
      <p:ext uri="{BB962C8B-B14F-4D97-AF65-F5344CB8AC3E}">
        <p14:creationId xmlns:p14="http://schemas.microsoft.com/office/powerpoint/2010/main" val="187945751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6E407E-9B48-4E82-A058-AF3733D6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AX06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69330-80BD-45DA-A667-4F461DEB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GOV.UK Chat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C7B57-40E5-46F1-A7E0-6FB4A0B5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3C23D-56E0-40DA-8D55-6B463F56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D5660-2A99-4F93-8553-344AD0A1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B57D7-E243-4674-BD97-23D47095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6E464-6628-4D8E-9365-D3DDCAD1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공식 안내 자료에 한정한 검색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출처 링크와 기존 탐색 경로 병행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138FB-81D9-4F71-B6E7-C9AE01D7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62C3E-AF17-42B1-8F99-65F2DC5E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 범위 밖 질문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응답속도·안내와 실제 처리의 간극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BA603-6E97-4DA3-898D-D68A56DE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30827-E5BD-4B0D-8BA8-CE8C3088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 분류·응답 품질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A10C6F-B47A-4BD2-863D-54C6DDF7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E20C5-B4EA-40CA-94F9-79886653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신청 방법을 질문하고 근거 안내와 해당 공식 페이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8EADB7-32E2-4960-BDDC-D2F5ABEA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F397B9-9159-4D42-B2FD-280B6864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범위 밖 질문·상충 안내·개인 업무의 실행 요청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A047C-F3FA-4EE1-9C2C-BCCA91B1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D10B24-3A4B-44B0-9F9D-7B2BFF81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정답 안내 페이지·근거 문단·응답 보류·처리시간 대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</a:t>
            </a:r>
          </a:p>
        </p:txBody>
      </p:sp>
    </p:spTree>
    <p:extLst>
      <p:ext uri="{BB962C8B-B14F-4D97-AF65-F5344CB8AC3E}">
        <p14:creationId xmlns:p14="http://schemas.microsoft.com/office/powerpoint/2010/main" val="44172735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7946DD-6932-495C-AE4B-C319598D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AX07 / 실패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A17F96-706F-4507-85E3-CACD3CAD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호주 Robodebt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CC049-0756-43F6-B8A1-1A8BBB13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11AB4-84B4-4A3C-A14C-8AEF7CF5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60BB0-76EF-4335-9708-DA80FD58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C32A0-3E55-45E1-B23D-63F810C5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8DD69-2F00-4CBA-98DD-3A53D85B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기관 자료를 이용한 자동 산정·통지의 법적·증빙 통제 실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패를 다룬 사례. 생성형 AI의 오답 문제보다 자료의 적용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기간과 산정 전제, 당사자의 이의제기 절차가 핵심인 행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 자동화 사례.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B1B354-FB75-4BEE-A3F2-0CE3C28D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5B4E77-86C8-4C61-BEA8-C67B79C8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소득자료와 산정 대상 기간을 연결한 뒤 불일치 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료를 사람이 검토하도록 하는 재발 방지 구조. 통지에는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사용 근거와 산정 경로를 남기고 이의제기·재심 결과를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 규칙에 환류하는 설계.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2D5258-C8FE-4C4E-AA03-CA7B5302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C978FB-1EA9-42C5-A83E-67B47236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TS에서는 AI 분류·계산 결과를 처분·부과·승인으로 곧바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로 확정하지 않는 책임 경계에 활용. 근거 없는 자동 확정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차단, 기간 불일치 탐지, 재심 가능성과 증빙 추적을 검수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할 대상.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4D1E4-757E-4D52-8FDA-575B4B60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AA66B-5D3C-4E9C-AD60-1E75D3FD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근거·입력 검증 / 자동 확정 제한 / 이의제기·재검토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59E57-4509-4167-8C5D-049E2F8F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72601B-A99F-4185-9400-55BFA094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누락·기간 불일치·권한 부재 시 보류 및 재심 처리 추적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B0999E-3F78-4FCC-ADF6-B2632AEB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EFAFB2-7296-4B77-8013-DA053D24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누락률 / 오판 보완률 / 이의처리 시간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83A49-05EA-4C41-975F-0D7A84FF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규칙 기반 행정 자동화의 실패 교훈 · 생성형 AI 사례 아님</a:t>
            </a:r>
          </a:p>
        </p:txBody>
      </p:sp>
    </p:spTree>
    <p:extLst>
      <p:ext uri="{BB962C8B-B14F-4D97-AF65-F5344CB8AC3E}">
        <p14:creationId xmlns:p14="http://schemas.microsoft.com/office/powerpoint/2010/main" val="114762684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12CB978-058C-4E69-9759-51E59CB74D38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D0BCD2-ABD2-4076-8855-609D2C2B07D5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D9AB70-1F4C-457B-A67B-FEF0B2943509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1B819B-BD7A-4659-88BA-606C8EC61C56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1E8137-3B6B-47FE-AABB-A3229F2096DB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FDA5EE-2126-478C-A395-9EB0A043E27C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E63C09-D746-407B-9EC8-15B3D9B8A29A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3FA143-A165-4A29-A874-A89AAAD918C4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66934E-76EE-4DCD-87D3-0A41E7DED6E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F79E1C-FA84-47F2-98AA-8E42B8FE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AX07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BB9C5-A3F8-46AF-BCD8-A43BFE90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호주 Robodebt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5AFE9-D38B-4E50-A4DF-9F068DDB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E6A7D9-7B15-4F45-8ABB-24CE86F6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80D5A-06FC-478D-92AC-559EF57C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F77AB-318E-4759-9E4B-E7BBF64E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EEF1D-A21D-44A4-BD38-1CEAB020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1F24D-37CF-4C6C-81CD-606A559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96FB2D-2951-4E32-B5F5-7AD50008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행정 산정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E1C84E-DB68-4AA7-A354-6682D95C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9D4858-38D7-4DFA-B78D-F34F229B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2957F-DE71-454E-9846-6EEA0A7F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대상·적용기간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D0A6B4-B49F-4705-9D6D-9FFB7F92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0C4F8D-7F70-490A-BA75-8C22B085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16483-3223-4C3F-A8B6-FE1A4F47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원천 소득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03DDF-F280-4496-A8B3-4F17A23F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8ED5C0-41F5-45C8-B9A2-A55FE329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61A102-0F39-445E-8876-CB0B9871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기간·산식 대조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6446EB-669A-4BF0-81BE-7ACBF582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2A9899-719E-46C7-A84A-ED8FBF9A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440C37-0B4A-4253-AE9A-A7D67A74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증빙 불일치 보류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B6191-435E-4DFD-B26C-0E4A1BD7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630FB-A362-419A-9B8B-5025FFEF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51CA4C-14A6-4E30-BA22-A47985A0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담당자 근거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9C36ED-A7F7-4E15-806E-86A2785A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063ECD-12C1-413B-B138-46D876B6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6F0680-515D-43D4-8AE8-577A28D6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통지·이의제기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77D813-2FA1-426F-A672-FAD566E1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D4A4F6-0221-4E99-8A9A-7AA3EA69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54408E-4FE1-441D-8796-353E410F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재심 결과 환류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146631-1FB1-41A6-B53C-5EDB3F59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F9FA4B-1A14-408F-B33D-B2021493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AD7B43-57B9-46DC-9C42-DF2882E1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기관 소득자료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CBB9C5-DCB4-4E56-A8F0-308166E5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D19CB1-5942-4C7F-A0C3-88A3A886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AA8006-F59D-4F4E-B616-2A16B80B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기간·식별자 정합화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8DA10B-238C-4AEF-9BD2-8C331DCF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7E5614-F79A-4218-877D-C86305A6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16EDAC-091C-4CB7-A5E8-E65D2AFE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근거·통지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D0BA96-E5E5-458D-856B-697F7A2B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0E56E-2C79-4D8A-8035-FDE603B1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130214-D92B-4E98-9DE1-F57ED153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산정·재심 규칙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E75AA5A-C2E9-4619-B1E2-445B2ACC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32635190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885F64-300A-4AC8-B374-86AB8C61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AX07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82761-848B-4E55-B3BD-3AE32754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호주 Robodebt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C7B07A-2A7D-4254-BD55-2C956A25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92D9F1-77F8-4EE9-8902-40F22043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983FC9-ACB4-4F7A-BEE5-E67EE4B4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350A5-F055-4B34-854F-11675AC4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C7EA6-AC0A-4568-BF0A-3126BE04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7AE1C-82BA-4F7F-865F-131CE08D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0AAC94-CE1C-4709-9263-ABD4CEAC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자료의 대상·기간·적용 근거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99482C-65E6-4FB6-B131-B8AAE8BE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942A5C-1D9B-456C-80FC-F9E0E2DB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9B47F-E954-41C8-84B9-D0ABA5D3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기관별 소득자료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EA757-CB55-4056-AD90-8A41B95B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8B84ED-4036-43B5-B0C5-59F67B9A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679CE1-F9AB-4EC8-9F6D-97EBD12A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산정 대상·기간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DD6A6-9F3D-487D-BBED-6E06F20A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2AED35-D1F6-469A-AE30-252B4AC6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C3FDE-F677-4003-B03A-A9A7230F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기간별 산정 후보·소득 증빙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A50A5B-087D-4733-8F57-5E683129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E9F6-BBC5-4B3C-9F93-0DB54B80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7F7C2E-F9D5-412E-B04A-F27D5CEB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채무 통지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EA2FF1-1B0F-476D-A141-1A042B29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513D0-A714-4B1F-9A8F-9EF092EA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922B62-1C5A-41DF-943F-6C217A2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이의·재심 기록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939337-D471-4D6C-B73C-FE13AAFD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B67EB3-F287-4D9B-8AA5-40EA3474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연간 자료를 짧은 기간에 일률 배분·당사자 반박 증빙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C36314-1140-46FC-8E98-EA9A4FA6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63CB29-3841-4F8D-8682-9623A7C6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증빙 불일치 시 자동 확정 보류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FE28FE-7168-43EE-98AB-FF71E698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1F1E19-39B7-4186-B1CA-03830D76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오판·이의제기 결과의 규칙 및 절차 개선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546ED1-2D90-4D2D-A1B8-BFF99BCC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B0007B-7F28-4798-A319-A7425EFF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기간별 산정 대사와 보류·재심·담당자 판단 기록</a:t>
            </a:r>
          </a:p>
        </p:txBody>
      </p:sp>
    </p:spTree>
    <p:extLst>
      <p:ext uri="{BB962C8B-B14F-4D97-AF65-F5344CB8AC3E}">
        <p14:creationId xmlns:p14="http://schemas.microsoft.com/office/powerpoint/2010/main" val="145086943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439788-0477-40F1-BD50-70C9D632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AX07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15101-8C2B-462C-BD1B-CDFAC3ED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호주 Robodebt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C56FD-C870-46FD-8E3C-A3A8F23B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3F5C4-56E4-48D4-8B00-9CC9DE53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7FEDDD-57FE-40CE-BDBA-45C084EE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1B860-5813-4640-9033-AC5DFDD8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재발 방지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4830C-84D5-4DE2-88D2-018ED4E2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자동 결정 전 법적·증빙 근거 확인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이의제기와 재심 경로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2F694-D65A-42AE-810B-26C0E0FB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요인·시정 쟁점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31D0B-9D61-4E29-94E8-66DCFF94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자료 기간·산정 전제의 부적합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자동 판단에 대한 책임·재심 통제 부족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E1F01D-4F39-46E0-AB81-503C5073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66D80-3CCA-4017-8148-9A556ADC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증빙 불일치 시 자동 확정 보류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4D0B0-1425-4117-8E78-2E253AEE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CD46F1-A99D-4D12-A5FF-206C2AC4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기간이 일치하는 증빙을 확인한 뒤 담당자가 행정 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결과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4431B-256A-4467-8197-E670FBD3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23A866-E594-4C37-B1A9-D8E5DBDE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연간 자료를 짧은 기간에 일률 배분·당사자 반박 증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1D433-479B-4385-BDAA-59E3456C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331FB7-7165-4D01-91B3-8E24BA5A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기간별 산정 대사와 보류·재심·담당자 판단 기록</a:t>
            </a:r>
          </a:p>
        </p:txBody>
      </p:sp>
    </p:spTree>
    <p:extLst>
      <p:ext uri="{BB962C8B-B14F-4D97-AF65-F5344CB8AC3E}">
        <p14:creationId xmlns:p14="http://schemas.microsoft.com/office/powerpoint/2010/main" val="16157749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85E07C-2106-43A0-ABF7-3D7F881E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AX08 / 실패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AC42C-4EF8-4424-84A8-5A8D4D1C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Cruise 사고보고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2886B-82C2-4383-A5E7-30F5C9DE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2AA38-5786-46A6-B28A-449220ED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E35D55-B211-45E5-A479-7910CC07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183E7-27F5-4649-98F0-0C1CC071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310B9-5983-4FCE-976B-1043AA5B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자율주행 사고의 원시 증거와 감독기관 보고 사이에서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누락이 발생한 시정 사례. 모델의 주행 성능과 별개로 사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고 전후 정보를 완전하게 보고하는 운영 책임이 주요 쟁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점.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80E43-0941-455D-AD50-24876FD5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BDE74-08B0-4730-A6C4-9A8BC2FE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영상·센서·이벤트 로그를 사고 ID와 시간축으로 묶고 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 보고 항목과 대조하는 CCK 설계. 요약 보고서를 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들더라도 원본 증거·작성 판본·승인자·추가 보완 이력을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함께 유지하는 구조.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BC106-E259-4A66-81A6-F8779E95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174BE-93E0-4543-AC1A-EDF8E537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사고조사 지원에서 자동 요약의 편의보다 증거 누락을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우선 평가할 근거. 충돌 전·중·후 자료와 수정본을 섞은 시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험으로 사건 재구성, 빠진 항목 경고, 제출본 추적을 검수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DBBE7-699B-4882-AAA6-D068FB2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07BFEA-FDB4-4039-8C9D-19674670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증거 무결성 / 필수 사건 체크 / 누락 경고 / 검토·승인 이력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860C70-31C4-4EF5-8F2C-E7FDED2B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D772C5-6788-49B5-8C7C-5BD67AF4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 사건·충돌 시각 주입 후 탐지 및 승인 없이 전송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807A01-6C82-45D8-BF37-CEA41361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71E62-15DB-427B-9253-A1D52D08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필수 사건 재현율 / 검토 누락률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5987A-8480-411D-9F4E-BCBEC5A8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보고 완전성·안전 거버넌스 문제 · 사고 원인을 LLM 오류로 단정 불가</a:t>
            </a:r>
          </a:p>
        </p:txBody>
      </p:sp>
    </p:spTree>
    <p:extLst>
      <p:ext uri="{BB962C8B-B14F-4D97-AF65-F5344CB8AC3E}">
        <p14:creationId xmlns:p14="http://schemas.microsoft.com/office/powerpoint/2010/main" val="111924016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4BA0E96-C266-4C18-BCF7-27CFEA44B63E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374321A-8D9A-436F-92A1-476BC728A8D1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8B0784-BA67-4C11-8B6F-0D4438F7A0BF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F37D90-F0B7-4952-B3E3-C808DD2804D7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2D20BC-5B74-445C-98D5-5D9550AD39BF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78A1FF-62C3-4AF4-A3C9-759C99C7D168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14B3D3-3FBE-4816-B3B8-788E444AD869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B5BE9B-4331-4EE0-88A4-9EFCC6E82E6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9E0F64-943B-4921-BEF7-AEBACE99584F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1EB95C8-2AD0-4E76-B741-9925BEDE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AX08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6B6D6-FAA9-4EDC-8A8F-1A770BAE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Cruise 사고보고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1D99D-303A-4749-A69D-B96E7393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43FD2-1749-490C-B168-6EC957AC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20A6F-6ADB-4739-A791-99A4B156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2D367-A315-4714-BC15-B99C4D6E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0156D-9E2C-4180-A8ED-B8FA7025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CC854-6316-44E7-8E5A-0043B2BE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8882A-3117-4256-B026-919E472A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사고보고 접수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EE93F4-CE3D-4214-BEDC-5BF671D0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6A33D8-8260-4A64-899D-B1790D9A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E83E74-43F9-43CC-8F67-EBF8CBA9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사고 ID·기간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572E8-4587-47C8-A428-58E9DA7E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462C0-7BBA-4EC2-924C-19B679B4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89462-AF46-449F-AF86-C5016E72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영상·로그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F14B0-FAF6-44CF-9DFB-9695DD68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2C48C6-0479-4034-86BF-B1E5F7EA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50BCD-EEE3-4760-A58F-551C85B8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시각별 사건 재구성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968F94-C00A-43C5-96BC-EFCA6577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FABE66-4684-4F6E-BC05-F8EB8741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09E481-94CB-4FF1-9930-AE60DBA8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필수 항목 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91068D-7A80-4826-A69F-4F391AA2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CC5E75-4CD0-4A36-9C21-69CA199E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091660-0BF6-4644-A773-F6B691E7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작성·승인자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22E4DB-6EB8-43BD-BF43-55614E42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9AF1CD-8C09-4915-950C-82DF9694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F915A1-551E-4CF4-976C-BC704D77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제출·보완 보고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19F350-08DF-43C8-A72F-0DC9A968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753DE3-44C1-410B-B677-7DB21019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C7AC31-239B-4577-B474-6B134864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누락·수정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1E618B-AC79-404E-A128-FEBDA063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25F5A4-6E91-4A1F-A3A2-E6DAF83D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F77EAD-4DA4-4935-8978-593C560A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원시 영상·센서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F5283F-D923-42BD-B764-915D9529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BB6CAE-EC90-40AB-B247-5E40F08D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7C7E18-B956-4910-9F92-68903139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시간축·판본 정합화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3B843F-304D-4A7B-8B5C-11415211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41B525-A2E3-4A52-901F-0EF81FAE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83CBD8-0A2D-4A22-8013-B96B5B65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증거·보고 판본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085E10-395E-431E-A243-A4E27850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97621A-7627-4A9A-A457-7F12FF38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1C8611-515F-4024-AF78-1DF3567A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보존·보고 규칙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6AE7BED-9BB0-4BD0-A5F3-764E9475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56918784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CFBD42-CEA1-4A3B-B770-BB4D0158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AX08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0A34F-D70E-4065-8192-9B68C035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Cruise 사고보고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3B6F7-B496-463E-98C9-273653F9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74ED6-C784-428E-A90F-EE00F887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ED5AA-A766-4559-A088-5E29E875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7E4DE-C122-4FB3-968F-20A394AA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FA352-603E-4B6D-B108-88A2E73E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8FD79-B893-46E0-B3CD-BFE0322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FC163-8B37-47AF-BE27-2AC3280D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사고 ID와 보고 대상 기간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2A71F-3372-4233-B8A8-A75F9988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ADB96-31EA-4B17-AC96-C12EDA4D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0425B-3BA1-42CC-BEEF-A8649698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시각별 원시 증거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50AB5-1601-4FED-B88B-1585D02A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5A6D18-F108-48DD-AEFE-8CF28EFA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68CE7-413C-4A7F-8E66-308215F5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충돌 전후 사건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8CE2E-51A1-4DD0-9046-A30E5967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E651FB-E8B7-431A-BC40-5D683C52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6C7664-EB13-4DB0-BA65-3EE20D8E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사건 타임라인·보고항목 초안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1573FB-53D9-4CF2-BAA6-B8E6175B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4FFCD2-BAFE-45AE-AC19-1F98A752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9C1502-396E-435D-8B8E-A502A3FD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필수 보고 항목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1D84E-7DD2-44AB-B6CA-602CBFDB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4ACD41-0838-4930-A08E-9720DAF5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EFA86B-8828-40FC-A2AF-62615749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제출·보완 기록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851A6B-E3D2-4334-83D7-30B250A1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97B48C-0FE5-48EF-B1A0-AA29E782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충돌 이후 이벤트 삭제·영상과 로그 시각 충돌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22B1A5-2FE8-4A36-8093-2FDCBEC9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BEDA66-E91B-47DA-BEC7-E5F24459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충돌 전·중·후 증거의 완전성 대사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36ABE9-018B-44B7-A50B-A6744802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B47CA6-02F5-4475-8836-9600043C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추가 발견 증거의 보완 보고·수정 이력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9DAF7E-93B1-4B99-A381-FCD6CCA5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3305A3-C18A-4E08-A00B-4B831FAD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원시 증거별 보고 포함 여부와 누락 경고·승인 이력</a:t>
            </a:r>
          </a:p>
        </p:txBody>
      </p:sp>
    </p:spTree>
    <p:extLst>
      <p:ext uri="{BB962C8B-B14F-4D97-AF65-F5344CB8AC3E}">
        <p14:creationId xmlns:p14="http://schemas.microsoft.com/office/powerpoint/2010/main" val="34669975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B32B4-94E9-4FDD-BD1D-DD1814E9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AX08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BEF89-A479-45FB-92B0-0ADD49C4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Cruise 사고보고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6C303-7B83-4B3F-8BDC-5DF8F3E2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45D4D-841A-4954-9F05-DAF170D4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08065-7136-499E-B8C8-FC2D8AB5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0CA2B-D9FD-4F8C-BCCA-0812A275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재발 방지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D5073-B0F5-4F7B-A365-22A76F9C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원시 영상과 보고 항목의 대사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보고 책임자와 변경 이력 관리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DF024-5F55-4F37-95D3-9C98ED8A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요인·시정 쟁점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CD5DE-B3ED-46DA-8E6C-E336E424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사고 후 상황의 보고 누락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요약본만으로 사고 전체를 판단하는 위험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6E8B3-16CB-4D28-8DD3-C7202721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1A362-BAB7-4A24-98D5-A02FA403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충돌 전·중·후 증거의 완전성 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243FE-63C4-4553-9C7B-44FAB13C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F28CF-8E1F-413D-8E51-304455E4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사고 발생 전후 전체 이벤트를 보고 항목에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8918DF-0A10-44BF-9268-14AD055B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0409B-A5EE-447C-B189-719B2303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충돌 이후 이벤트 삭제·영상과 로그 시각 충돌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B4B869-0542-41AF-BBAB-062D0BFD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13CBD-0D97-4D5E-83FE-D507CF42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원시 증거별 보고 포함 여부와 누락 경고·승인 이력</a:t>
            </a:r>
          </a:p>
        </p:txBody>
      </p:sp>
    </p:spTree>
    <p:extLst>
      <p:ext uri="{BB962C8B-B14F-4D97-AF65-F5344CB8AC3E}">
        <p14:creationId xmlns:p14="http://schemas.microsoft.com/office/powerpoint/2010/main" val="176239147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38F9D-E68B-4C9B-A745-FDB6DA1E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AX09 / 성공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58037-E5C4-4D22-BE67-230D02A1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Morgan Stanley 지식지원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45D10-D598-4934-A866-B8172265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083D2-8587-4A0D-A797-566BCF5F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67A5C-CF66-4E10-B2CA-7A31E8EA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68C44-D51F-4A3D-8F64-18617BDF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FB25B-87CC-4138-BCC4-41200EF7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금융 자문가가 승인된 사내 전문지식을 검색하고 근거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있는 답변을 얻도록 한 사례. 직원의 문서 탐색을 지원하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면서 전문가 평가를 품질 개선에 연결한 접근.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A3E3D-63F1-430E-A8E2-FFAC84FF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1803F-AFF2-4D0C-99F3-C11A59BE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 질문의 자료 범위를 확인하고 관련 문서·원문 위치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를 검색한 뒤 자문가가 답변을 검토하는 흐름. TS 적용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 검사·인증·안전 규정별 전문가 정답셋과 문서 개정 이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력을 연결하는 설계.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5C234-B450-496F-8444-708AAFA1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26743E-5288-4C3B-91B4-5DF9F2F4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활용자 수·도입 확대와 답변의 정답률을 구분해 평가할 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요. 숨긴 평가셋, 근거 조문 일치, 개정 후 회귀시험, 전문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 수정시간을 함께 수집하는 CCK 벤치마킹.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B6EB-42C9-46EF-8E73-7F96CA56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11C62-6B4F-4D32-BDB6-8EC648CC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직무별 평가셋 / 근거 위치 / 답변 보류 / 변경 영향 재평가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221DBB-E4D0-4F2A-9146-8A4CC3B8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521993-4AF5-4D08-AA48-99FD3D85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숨긴 평가셋의 근거 일치·판본 일치·거부율 평가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62973-C037-40F8-9654-139DCFE8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B93734-1984-4A57-A1E8-7F8EA22A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정확도 / 재작업률 / 지식 탐색시간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33A12D-1399-4AB7-BDB3-AF681AD7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자문팀 기준 공급사 발표 · 생산성 인과효과·TS 정확도 근거와 구분</a:t>
            </a:r>
          </a:p>
        </p:txBody>
      </p:sp>
    </p:spTree>
    <p:extLst>
      <p:ext uri="{BB962C8B-B14F-4D97-AF65-F5344CB8AC3E}">
        <p14:creationId xmlns:p14="http://schemas.microsoft.com/office/powerpoint/2010/main" val="203498394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499F556-75DE-4266-9318-9DB893693264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B3640D-69E0-41F9-80A2-3D0E30933045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6A1ADB-7860-4A29-82E9-AFCDB0F92D95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82F784-0124-4A34-A700-F88EE068BB95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17DBDA3-4D92-4E81-A8D6-92D276BCCFCF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5241D9-DD3B-4D71-9500-54A04195EE68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AE45B5-1C5E-4340-9948-B13A5531604A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B926A5-BFC8-4DE4-B09B-6F9BF0BDD559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B01720-41D2-412A-A8FE-EE9771ED88E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C27244-C155-4307-8E61-69F81100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AX09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FD86C-7A8B-4454-8E9A-6C331D26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Morgan Stanley 지식지원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D2B96-B323-43AC-8C9D-9F721153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1C117-BE7A-46C8-BE3B-CFCC039B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9D263-741B-4A14-90C5-7FC3861E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DA251-8915-43CC-8ED9-703CCC92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57F9A-7D0F-4A19-9F7B-0B214E6B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08A959-7BD0-4818-A8B4-89626CD8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6402E-A3FA-46A6-83BD-EDB40CA3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자문가 질문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744E9-CAAD-4662-BF37-A956DDF3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24870-0D01-46F7-BE4A-55645B6A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40E0B-3148-4ED1-A9E7-095FB94F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질의·접근 문맥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4CB372-9E7B-4A63-9A9F-C4D28C34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9CFE4-E1BF-4840-99B5-ADB361BF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461CC-28A2-4EED-85C1-273D7EF7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승인 문서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3A7C42-9176-46CB-9BE7-007EEBC3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209806-4A75-44E0-8E02-D2F75C9F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D5909E-2090-42C5-AC85-1CD20504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근거 응답 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162509-DE65-44FC-88AF-2202934A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8475F3-4F07-4CDE-B4A9-77FCEE83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92363B-9A42-452C-9F25-D4328958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문서·답변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30EB66-030D-47CA-AEC1-5617CEDF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00651C-25C3-4D4D-B4DA-A9999AFE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C3C38-A10A-439D-9E3D-BF41B93B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자문가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9A93C6-3730-4ABA-8E8F-696A755B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E16C32-41E4-4BF7-B383-C8C4BD7C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F3B588-C6FA-4E36-9FE3-093F829A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상담 업무 활용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4A3CAB-F43B-4DDF-9494-791F99B0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A8C1A-A848-4CA3-B29C-D2C3E0D6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BE24AC-36A4-49C9-891E-D221F039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정답셋 회귀평가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0BC793-4511-4740-AE77-030966A3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99030B-D424-48A0-BD91-C78AC6BE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397DA9-754C-4829-BF39-6829A539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승인 전문지식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E5B619-0227-4DB8-9922-0B25B7FA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61B08C-AB7A-4F44-9071-89F1B5B3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7FB8A9-7DEC-46F6-9FC9-8C5492EE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원문 위치·판본화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448F80-C7B9-4396-8027-0C09D63F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F95C27-A770-4A8F-8239-83E43004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CBA94B-2B15-4926-9F54-0C584089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문서·평가셋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C287CA-FAF8-40A3-9715-659043C5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3ED5D4-4C8F-48FA-B8CC-A29E99A5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A42A25-7628-4D31-A281-DD2CF15B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자료 접근정책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D378D6-D8CB-447F-8705-FB2DB55D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28925100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E85ECA-37C1-4BB5-BDB6-D8F69158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AX09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D74524-0913-4E6A-B31B-B4E9863E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Morgan Stanley 지식지원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9331F-4027-4D28-8994-0901B11F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FCFE2-425C-4449-B7F7-E40E1FBC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BA7D3-AAE6-49E7-97D6-BCB67446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F6782-2EA6-49E2-A6F6-5E20C67C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C5715-9645-45C3-9E61-827D7043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70222-02A1-49D9-801A-74E22E72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7A01B1-ABCF-4826-8914-32F94C2C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질문의 업무 범위·자료 접근조건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7A1503-6A09-4AC0-B110-2CD05000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54F71-B48B-438C-A3A8-5E649E12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D6FF12-1FEB-48CA-A023-69DFF8C6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질문·업무 목적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1BF11D-7413-4DEC-AB72-25848969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1E721C-5230-4EC4-8E09-0543C1F4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719F27-FA2B-4C3E-9793-C1C71BA6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관련 문서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1217D-45A9-430F-95D3-BC2EFA3D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C463E-F118-45EB-95AA-D5040E5B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28F61D-E7A3-4948-BE08-52F9C881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답변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6684BC-180B-4A38-80CB-11EE4184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8B0223-D9C9-4FA1-864F-AF401714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7D89F4-F688-460A-88C6-1DDDBDCE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답변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8F0166-3BA8-4184-ABC5-6CDB8B7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E480F-7BC0-4F3B-9C16-00B6678C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35A45E-D64B-4980-A279-42E0271B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평가·수정 기록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D70AD9-0441-48FC-93E6-B06D7597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846CC1-FE6D-4718-9732-C1D0F087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구버전 문서·근거 없는 질문·서로 다른 상품 조건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3CA9BB-FBDD-438A-92A6-0E40DCDC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71721E-1FE0-4DC5-9B18-54C4AC8B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문서 개정 후 숨긴 평가셋 재검증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B221A4-C7C4-488D-98CC-E7CD0E14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EFFEAF-E0A5-4E8D-8A2A-8BB3BA7D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 정답셋과 오류 유형별 회귀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A33E07-3AC5-4778-8CC3-7C66D9ED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4461E7-FCA1-444E-9CC4-71416609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 정답표와 근거 정확도·보류 적정성 결과</a:t>
            </a:r>
          </a:p>
        </p:txBody>
      </p:sp>
    </p:spTree>
    <p:extLst>
      <p:ext uri="{BB962C8B-B14F-4D97-AF65-F5344CB8AC3E}">
        <p14:creationId xmlns:p14="http://schemas.microsoft.com/office/powerpoint/2010/main" val="28809018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CE3B4F-476D-4F22-8B35-2B0DC2DC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AX09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D966F-6ED2-4680-8638-90DB8256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Morgan Stanley 지식지원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431535-F551-4FD9-97C0-4A4005FF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5EF52-C740-4613-AE15-F0490FDD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6F7637-9CA3-43B0-8A33-42B039B5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D4E6E-9A12-425E-83A9-D96572BA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2A9C19-6834-4A24-A796-8B36CDF1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 평가셋과 지속 개선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현업 지식을 업무 접점에서 검색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C38EA-E488-4833-B8E5-B9FAD01E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6F795-BAF4-47F2-94CD-FAE848B2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활용률과 정답률의 혼동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자료 개정에 따른 답변 품질 저하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9BB5D-7E15-4608-A6CF-81BF5B57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69BD4-5E13-4DD1-A81D-204DD216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문서 개정 후 숨긴 평가셋 재검증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1705D-794D-474B-9A60-90441A18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EF5ED-81BE-40E2-A924-B997683A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전문가가 규정 질의의 답변·인용 원문·판본을 평가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D84E7-24C6-4217-BBEB-9AB321AA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388AD8-1896-432A-B4F7-7E3E5D12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구버전 문서·근거 없는 질문·서로 다른 상품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9BE8C1-42E9-4D6C-9BEB-F5CE6342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E4CA22-39E9-4A96-91DE-1879781B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 정답표와 근거 정확도·보류 적정성 결과</a:t>
            </a:r>
          </a:p>
        </p:txBody>
      </p:sp>
    </p:spTree>
    <p:extLst>
      <p:ext uri="{BB962C8B-B14F-4D97-AF65-F5344CB8AC3E}">
        <p14:creationId xmlns:p14="http://schemas.microsoft.com/office/powerpoint/2010/main" val="185517654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49393B-B552-4E6D-A07A-1A0E2D15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AX10 / 성공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6E7A75-0777-4BFA-8254-3EE209FD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스키폴 Deep Turnaround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67D8C-B165-4640-9F22-6CAF7B6A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A7688-E562-4D81-A7DF-CF85C51F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E8796-D775-4E8D-95EA-34EA55A6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13AC4-21D8-43BB-AFFF-39C6342F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80A14A-7D4B-46B5-9C19-8B0AFC9E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공항 지상조업의 진행 상태를 영상으로 파악하고 항공사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·조업사·공항이 공유하는 사례. 서로 다른 담당자가 같은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항공편의 준비 상태를 확인하도록 하는 협업 변화.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910EF-3BB3-4228-8CB7-A8DC31B1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53D7F-8F3A-4C2E-8224-8710EB72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카메라 관측을 항공편·주기장·시각과 연결하고 조업 이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벤트와 상태를 대시보드·API로 전달하는 구조의 재구성.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관측된 상태, 지연 추정, 실제 조업 조치를 별도 기록으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로 관리.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659E0-21BB-4FE2-A84D-F97C5EE2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DD60D-C311-48FB-A3C2-24A4907B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현장 모니터링에 적용할 경우 야간·가림·날씨·카메라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위치별 편차를 평가할 필요. 탐지 정확도뿐 아니라 담당자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 확인한 시점, 조정 조치, 누락 이벤트의 복구까지 비교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할 대상.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453A18-CD40-4A6E-9893-6D323D3B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118CA3-B2CA-4E03-88DC-7A112D5C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사건 분류·증거 시각·협업 인계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A279D-BB43-4982-B01B-D8DA4B58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7FA83-F8BD-4ED2-8B44-E9596848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지연·중복 이벤트와 원영상 대조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4E9BC0-623C-48EB-8620-FD3E4D0E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0B8E8-EF0B-4A2B-94DA-151313E8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상황 확인시간 / 인계 누락률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AC9C81-E23F-4DF4-B21E-C7E8719D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 발표 · TS 감독 업무와 공항 조업 운영의 역할 차이</a:t>
            </a:r>
          </a:p>
        </p:txBody>
      </p:sp>
    </p:spTree>
    <p:extLst>
      <p:ext uri="{BB962C8B-B14F-4D97-AF65-F5344CB8AC3E}">
        <p14:creationId xmlns:p14="http://schemas.microsoft.com/office/powerpoint/2010/main" val="157643833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79D019A-FB4B-4F83-9998-5A667503808D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38F6191-D00B-47EE-997F-46DEA2856A1A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177D644-C754-416D-B0BA-CE247A05F3C8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6D8F7E-C2C1-4E57-AA12-E6904DBA226F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6343604-51B3-43C4-8771-8A4A3E15B94D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B673C15-7937-42B1-B253-C53272244AB8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0FE8FE-3EB0-4FB4-A191-0BBC4882B47D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B4D051-1591-4E1E-A496-D042C27184F0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FF6D57-F074-4438-AC66-2F1C083D25D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C73F8A-A8DA-46EF-AF77-BE8034FA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AX10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CA093-8E75-4AF3-A0B2-10C679CD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스키폴 Deep Turnaround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B57AD-7FC2-4A1C-B6AA-97C6144F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FB5C9-400D-4492-9CF3-DA77FB13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341D6-CF96-41D3-B383-0AF17297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74EAB-79DB-4D1A-89B8-F7643593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BC782-5AE1-46A1-8E1A-22455356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CDA76-6560-4BB6-B072-CBFA5312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B95CC-180C-4576-BE51-BBEB6ED3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조업 관측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EBBDF-AD0A-4619-9DC2-8BC3A364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EBED5-AAEB-4E6F-826E-E3EA4B81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1DD7AB-AA4C-412A-B101-C767C961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항공편·주기장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CF8EE7-35A1-44AC-8E9D-272B9B81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E6B1A-49E2-4418-A00C-0D8C297B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A2A84-B46B-4A37-9828-43CA4F1F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프레임·일정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CC9EA2-A470-456C-9AD0-390A9BFB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9199AF-D3AA-4913-90D2-285B1584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A4B071-BD64-4E63-9058-E12EAAB3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조업 이벤트 인식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BF113-D190-4DE1-96E0-5866456C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220A4-6824-4FBB-8756-EF7A3A49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470845-348E-4BFD-92B8-03B34189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시각·누락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E8F0AA-EF9A-4DB6-9FD0-D05DF42A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47E9BB-FEE5-41C5-A92D-9E92BC47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22D50E-5780-40CB-BD23-9EE85D8B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조업 담당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1DECE9-4602-49D0-B588-4818F1D4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20EB91-2BF4-4392-B9DB-491D8F6E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4ADB39-1379-4A8C-8272-EAE07DE1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상황판·API 공유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BB0683-820D-467F-9574-1E00C249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BE732E-80C4-49C2-B05F-32BCF1EE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2F1489-816E-435D-A1FC-2F290B7F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지연·현장 결과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DFFA2B-28A8-4489-BBBA-E2C1D13C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C144CD-7992-486A-BC89-76CD4649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CEFFE0-F655-4DFC-B4AE-1C5188C9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계류장 영상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E22D86-438E-4BD8-A078-28DFF50D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922F1C-1882-4234-981B-0C813C2E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3CEB55-4E91-4AAC-AAAF-80D87CED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영상·항공편 매핑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A633C9-83DD-419B-B81D-92760E5D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C83CC3-EFD9-4FCB-85C7-A7AFC8D4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5FF1CA-9367-49F2-A612-4FE9FEFD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이벤트 타임라인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7733F4-77EC-4A35-9F06-750487C6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3F2FB4-4971-4433-92CC-48815B41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0431CD-1791-412F-9BAA-1A2A5971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영상·협업 권한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87B3B8-AF08-4F4C-A6CB-15CF5801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10569469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04BB42-03A5-46D7-A3C2-A62585F0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AX10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482D6-C93B-475E-BA45-F7863EEF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스키폴 Deep Turnaround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70D96-21B2-4BD3-BCB8-4638A533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8014F5-D737-4FC3-B1EE-EBC1960A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2EB40-9475-43AB-9C64-B9655E64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578DE-17E9-4D49-8CE7-13361C13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06738-5C58-42A9-8317-ACF68315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01ABD-F21E-4BE6-B632-1C549659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A71770-57BB-401D-8D4E-F3BC3E9F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항공편·주기장·관측시각 매핑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3BBBCA-D288-47D1-B20D-2025D0B7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598F20-2F21-4C88-93CC-A216E72D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F9B5E1-4042-4554-82BD-6A50842F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영상 프레임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980B1-A947-44B0-8E31-17AF8FF5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4D696-8015-4186-9F85-03BA97B7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3FC68-CD31-41D0-93BA-D4B559C5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이벤트·시각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84C53-45E8-4EDE-AEA4-AF406958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855082-468B-4A12-A140-50C086C0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0DF51B-24C0-4F30-A676-0E490470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조업 이벤트·탐지 시각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CE26D-4431-45C9-ACDF-B4E00CD7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5FD584-8261-4881-991E-C16C37CD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0E6B85-156A-4211-9E4E-F9F29FA9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대시보드·API 상태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C4FF4D-EB50-439C-80E6-3429BCA3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5F64FB-221A-482E-AD7A-FB586F75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96747C-504C-43E7-B1F8-4D30038C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조업 조정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A8589A-5C89-4F53-9141-27F6F8AE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551D9F-7000-478B-8FCD-E34E9687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카메라 가림·항공편 변경·이벤트 순서 역전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D561EB-7C28-403C-BEFD-6B466070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4B4AF2-7A64-4B5E-A57B-8A35C554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기준 이벤트와 탐지 시각 대조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41471A-2B3C-47AE-AA32-BFE95CC0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D4248C-E050-4951-A3C8-D3797484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 이벤트와 실제 이륙 준비상태 대조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1891FC-C995-4508-8937-1B6B43D5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153A7D-AC72-42D8-A217-D88B9EA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영상 시각 대비 상태 전이표와 담당자 확인 기록</a:t>
            </a:r>
          </a:p>
        </p:txBody>
      </p:sp>
    </p:spTree>
    <p:extLst>
      <p:ext uri="{BB962C8B-B14F-4D97-AF65-F5344CB8AC3E}">
        <p14:creationId xmlns:p14="http://schemas.microsoft.com/office/powerpoint/2010/main" val="196945249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C2182-2564-4920-9CE8-5EC7D21D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AX10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2C100-2D02-4883-8DBB-B2B74B90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스키폴 Deep Turnaround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7865A-EB7F-47CB-B77E-F3980069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D68CE-BB5F-4789-ACC7-C08D0D42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130D9D-EDD9-4C6D-AFC8-07428CC6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991B8-94A6-4988-A62B-CD1FEECC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961BA-6A04-40BA-A08D-BFE2CB28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공통 조업 상태의 공유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영상 관측과 실제 현장 조정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58E8F-59F3-4756-934D-194C288B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7D5E8A-082B-471C-BF29-CF925B07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가림·야간·날씨에 따른 인식 편차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상태 추정과 안전 판단의 혼동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AFECA-4C98-4EEF-BFE7-E4EE3D31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7C63D-9EB3-4C79-A419-977E493D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기준 이벤트와 탐지 시각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CE21F1-432B-4B61-8E23-B5942A45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128D4-A832-491A-9996-ACB789C5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항공편별 지상조업 단계와 지연 후보를 공동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BD3108-DAE3-4380-AC78-081D102C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C5A5C-7256-4EFD-A6F3-C781319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카메라 가림·항공편 변경·이벤트 순서 역전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489352-779E-458D-AEAB-70C4BD8C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5C8A22-1BC4-49E4-A6C8-8580134D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영상 시각 대비 상태 전이표와 담당자 확인 기록</a:t>
            </a:r>
          </a:p>
        </p:txBody>
      </p:sp>
    </p:spTree>
    <p:extLst>
      <p:ext uri="{BB962C8B-B14F-4D97-AF65-F5344CB8AC3E}">
        <p14:creationId xmlns:p14="http://schemas.microsoft.com/office/powerpoint/2010/main" val="108199370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B970A9-C0F4-4420-B877-BAEB6D43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AX11 / 성공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AC723-AE8E-4F95-9DE3-556FF4D8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Green Light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9C9F1-8C4E-42DB-9785-CD506085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7765A-025A-41AF-8D38-4B3E6742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F5215-F565-48D3-B698-DA6BCED6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2230E-53AE-4F9A-9FDE-D267F52F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EFD95A-6041-42AA-ABDC-4A322104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도시 교통 흐름을 분석해 신호 운영 개선안을 기술자에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게 제공하는 사례. AI가 모든 교차로 신호를 직접 제어하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는 방식으로 일반화하기보다 권고와 현장 적용의 연결에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주목.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BD2C7-8B7B-4E09-90CE-6FE71DCC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FDCAF4-5F05-4E35-9F42-D8D62736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교차로·시간대별 흐름에서 정체·정지 패턴을 찾고 신호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조정 후보를 만드는 흐름. 지역 교통기술자가 보행자·긴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급차량·현장 제약을 확인한 뒤 운영계획에 반영하는 CC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K 적용 구조.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33D63C-A86D-4A18-877B-1F345534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B28F4B-FAC1-4DDA-B8D8-3111BF1E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교차로의 결과를 다른 지역 성과로 그대로 환산하지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않는 비교. 변경 전후 교통지표, 안전 제약 위반, 권고 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택 여부와 실제 운영 반영시간을 함께 검수할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212EF-4E27-4237-87FE-5E0D977C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16DC20-7CF4-44BD-9F15-291A31C6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지역·교차로·관할·개선 전후 지표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62123E-3FCA-4153-B25C-CE5BB65F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4D2956-B614-4A31-BC77-DA49C5C1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동일 시간대·교통량 비교와 담당자 승인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4AB0B-9D07-4997-AF67-C3618556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DC4DCE-7E92-4B4C-8822-0F153CDF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정체·대기 지표 / 권고 채택률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38011-A687-41D2-8917-D097523C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도시별 효과 차이 · 신호 변경 권한은 운영기관 소관</a:t>
            </a:r>
          </a:p>
        </p:txBody>
      </p:sp>
    </p:spTree>
    <p:extLst>
      <p:ext uri="{BB962C8B-B14F-4D97-AF65-F5344CB8AC3E}">
        <p14:creationId xmlns:p14="http://schemas.microsoft.com/office/powerpoint/2010/main" val="149583303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16C3F2C-D29C-4FAE-8A7B-C7D5E9AB664C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D7DB03-E6A8-46DD-ABBC-FCC2605BC6FE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A94CB4-98E8-4E1D-B868-D7DE761383B6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5B0574-9270-451A-BB5D-C60812663314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F9F4F0-90E1-481F-BC84-7382664ACB5E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7E5648-ED7F-4688-99CA-24D43743F56A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0BFC01-A13A-4605-9316-8D23D0C588D2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349144-EFA8-45E9-984D-16E24BE7584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0B5532-7A58-4424-9BD2-2A63E25BFA1A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24C7D5-8D11-4177-B8F3-66DEAD1B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AX11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00E6D-7A20-4524-92BE-25B1ACEE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Green Light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99D9C-078E-4D4F-92E0-FB0B2A44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A551D-58E3-4C93-8156-69DBAAF7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590AB-9C17-4FA6-8D46-27F34616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F040B-0B8E-4383-9267-07DB9EEB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095A4-8A36-4C1C-9B9F-960E7C90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FB4DC-A757-4624-94FE-70044260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A84D09-ADDE-47BE-8F50-9FF73DF9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신호 검토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E6451-0593-4D7F-B190-7260DF72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21563-5B6F-478D-BEE3-0A3A31C4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ABF8A-4130-4388-8AA2-07E127B8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교차로·시간대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25AE37-CDE0-4AC3-974F-5B11472D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52C095-3620-4809-87ED-00EABECB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7AB964-5EA5-46BA-9EDC-BA1FFB88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 흐름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3F0C38-CAF2-421A-AFED-6AB52282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062290-33C0-485E-97FC-9FBA45AE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48B86F-E240-425A-8EE4-03B15D8D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신호 조정 후보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03ADF9-8E6A-4354-8DF7-1D1791FA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A33C32-E771-4702-A2DB-0DE236CB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1D62A7-DCBB-4A26-9EE9-855EBAC7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지역·안전 제약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B3E3AE-5E4A-4005-AFE2-340538C9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6D4158-738F-4C76-B91A-5800629D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E8C991-4EFF-4A95-B1C4-1B950A60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교통기술자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71B06C-FDCE-461B-99A4-F4EF0070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D4B937-D7B7-4CB4-A090-3A9852D5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94EEBA-B67A-413F-9C85-EAE314D4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신호계획 반영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5692DF-7B8B-4AF9-8FD4-30A08DB5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86E17-B521-49ED-B625-26FD8B3D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8E54FD-6BBB-40A0-A23D-495B3A9A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변경 전후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22FEE3-A747-4D9E-B642-EA767F89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E12341-9F27-423D-9409-70724C54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23F5D0-BF83-4EAA-A20B-BBF96DF1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교통·신호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5CEB05-7491-4E4F-817E-67862DD9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4786-877A-4253-9528-9B216C1B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A21752-D056-4A0B-963F-A927AC09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교차로 코드 정리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EAE74B-D2C4-46BC-ADD4-6FBB0460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629635-6AC1-4274-B486-C0077A30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18DCC1-7E99-4E13-888E-0A5209C9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흐름·계획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C463CB5-111C-4191-A562-718C59B5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1CDB7D-708F-48AC-8BA9-67934E3C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892A83-471C-4B28-9216-869A9CCB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보행·긴급 제약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DEB4DB-A80E-4F8D-BADF-165CAD12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28620203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B854ED-E667-45BB-88DB-45A13852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AX11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EF69A-4E20-405E-9869-2D4CC2DD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Green Light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C57E2-8F4B-4903-8142-D536A24A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66030-38A3-4822-A925-15D5CC89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791F9-87B4-4C27-AF72-DF2DE9E3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DD30F-DB14-4F78-AD3B-FE1EBFC6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0D16E-2863-40B9-975E-BE48F805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566C6-9959-494D-8232-13D14FF2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67624-00EC-4A62-920B-02C593A6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교차로·시간대·운영 조건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48B601-1EA5-474C-A1A6-1FAB7764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72BBDC-7896-4EEE-8E34-6E1B11E3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B43555-AE34-4677-9E17-1FB5657A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교차로 흐름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CC7588-9F08-4000-A12D-DDCA69AC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356598-F85D-452F-A391-D31248C3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BB2895-A7C2-43E9-8E87-C29217A7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정체 패턴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3132E-2A96-4EE3-BD2D-6F363648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AB57A6-27FF-47D3-BE83-FBF456E3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02480F-2D9B-4A67-9801-6BAABCD6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신호 조정안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493C5-B5FB-4471-AF4C-DC5B2C9E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4A99D7-350F-4E83-80CD-BE510A04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A5CA91-E045-44CA-AA4E-25A4A648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신호 조정안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11DF67-C12B-4D43-A417-07DD384E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79263D-66A9-4409-A62A-45B738E8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CAD11B-8765-47DB-9CE9-AEAB1E04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기술자 적용 결과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935EFA-8C01-4B4A-B857-575FCACF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D77122-27DC-49FB-A98C-791C548C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보행시간 부족·인접 교차로 정체·특수 행사일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1C104B-6E03-49CB-96A6-45C11E08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02E0E7-8255-4BA6-835E-0B7B38A6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 제약·안전 조건 검토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0FE35F-EF96-49DC-B184-A369CE83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74AD2A-7F52-4DBE-8D38-65E10D31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변경 전후 교통지표와 안전 제약의 병행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013EE-F54F-4DEC-A1A2-E7B5C705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734EFB-FB64-4942-8E51-A0AB6731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변경 전후 지표와 보행·안전 제약 확인 기록</a:t>
            </a:r>
          </a:p>
        </p:txBody>
      </p:sp>
    </p:spTree>
    <p:extLst>
      <p:ext uri="{BB962C8B-B14F-4D97-AF65-F5344CB8AC3E}">
        <p14:creationId xmlns:p14="http://schemas.microsoft.com/office/powerpoint/2010/main" val="106986161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BF9003-377D-4CB4-B0C8-D05B90FB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AX11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EA2BBB-D701-4192-B006-A8FFD986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Green Light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087A5-8334-482E-908E-65C6608E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D6C11-B22F-4379-925D-7C1EA73E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F1EC5-9E4A-4F6E-817D-BE60124C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A866A-7355-4F81-85DD-C4F5CF03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E8E28-0571-4774-8E28-AF36AF56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기존 신호 운영에 개선 권고 제공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도시 기술자의 검토 후 반영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46812-5F32-4ECC-BD6C-B22B10CF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69058-4F6D-4394-BF64-9DA81BA4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교차로 외 일반화 위험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보행자·긴급차량 조건 누락 가능성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7171F-EC3A-4854-BBCE-0CEC542E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7E43B-F5AD-4E2B-837F-A6B5035B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 제약·안전 조건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F6C11-8F26-4965-810D-4A154600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6A8F2-F350-461E-A431-5C2FC0E3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교차로의 신호 조정 후보를 기술자가 현장 조건과 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8D1DF2-AD7A-4456-850F-9C89179F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F5F82C-084B-4B5C-9C49-B5457A21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보행시간 부족·인접 교차로 정체·특수 행사일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89B30-57ED-4192-9DCD-7C8128C6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35AC5-7AD7-43A8-AFE3-3A90FE16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변경 전후 지표와 보행·안전 제약 확인 기록</a:t>
            </a:r>
          </a:p>
        </p:txBody>
      </p:sp>
    </p:spTree>
    <p:extLst>
      <p:ext uri="{BB962C8B-B14F-4D97-AF65-F5344CB8AC3E}">
        <p14:creationId xmlns:p14="http://schemas.microsoft.com/office/powerpoint/2010/main" val="25326240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BD74DD-EB34-4511-9AD3-A705B225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AX12 / 성공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74383-413F-4782-A077-A61DA852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홍수 예측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E6B9F-11E0-4FE3-ACC2-38F354D2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8EFCA-976A-4005-A77F-C6863521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C74A5B-1747-4DF3-B0AD-002A1CA8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43890-2D5B-45A1-9489-A340926A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33D610-AD64-4396-B8A2-A6711DAE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자료가 부족한 지역까지 홍수 예측 정보를 제공하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려는 사례. 예측 모델의 지역 일반화와 주민·대응기관의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실제 행동을 연결하는 단계가 별도 과제.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84B4F-9B35-4DCA-B2C4-6FF31E46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7A86B-E951-4654-9818-0394ABF9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유역 특성·강수·유량을 시간·공간 단위로 정합화하고 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험 지역·예상 시점을 산출하는 구조. TS 적용 설계에서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는 기상·재난 위험을 교통시설·운행 업무와 연결해 담당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자의 대응 검토를 지원.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7416-78B5-448F-8806-8328794A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A4981-0070-4CCB-8535-D244376F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예측 정확도와 사고 예방 효과의 분리. 지역별 미탐·과경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보·선행시간, 경보 수신과 조치 완료를 함께 평가하며 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측 부족 구간의 불확실성을 보존할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095DD9-73B9-42F2-A833-77793E7C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AC2BF-CCD4-4846-95C3-E5FC80EE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시설·위험 등급·대응 절차·조치기한 매핑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8763E8-8C2C-40E7-B92B-DEE708B4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363E10-DA87-4337-8B1D-5CE9508B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지역·계절 분리 평가와 오경보·미탐 점검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D7D9D-16C4-4CFE-86F4-ABFEACCC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236240-6400-476B-970E-0EC429B8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경보 선행시간 / 미조치 건수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90680F-E9BB-4172-9B93-9874BA44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논문의 하천 홍수 평가 범위 · 모든 재난 예측 성능으로 확대 불가</a:t>
            </a:r>
          </a:p>
        </p:txBody>
      </p:sp>
    </p:spTree>
    <p:extLst>
      <p:ext uri="{BB962C8B-B14F-4D97-AF65-F5344CB8AC3E}">
        <p14:creationId xmlns:p14="http://schemas.microsoft.com/office/powerpoint/2010/main" val="82084838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046811B-9C0C-439B-9B21-B1040CFF15B2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1BDA1E-3B6D-4870-B349-249A1C71008D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6F6AF0-67AF-45B0-B8D5-A99336AACE51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52DC75A-88FC-45DD-9F07-51BD72E78676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5CD5E1-B07B-4042-8965-B6E84D97D0E0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AE66B5-E139-416E-BA99-428DC261EA9B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2C6A6B-9942-467A-8E12-3C68273DFE5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FCBFDE-A417-4846-BE17-6F170275F882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932F9F-D617-43E2-A9B8-1D6C3A4063B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3F60CA-A150-4983-80AA-8A74DEDA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AX12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CDC90-DED5-4144-929E-4A90414A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홍수 예측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B0795-A373-4272-A605-E6650F9F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A52A1-26B8-4702-BB7F-12EB6E80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208DC-F8B4-41CF-99C7-17F25004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8AB5E-2AE4-422F-BE0E-F01858AA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95B61-0972-45D2-A98C-65842616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6B34B2-3DB6-4907-BD91-95AF3648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9D2FC-4018-461D-AB98-26C3E1EE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예측 대상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B9CA9-BB13-45F2-9B39-7F765DF1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B7917-97F9-4E25-AB9C-ECC70E4F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ACC2CA-4657-41F3-B54B-7E61AC7C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유역·예측시점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AEE235-AFE5-40B6-85D6-AB4C09BC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00E93D-528D-450B-8907-F2B246DF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8569D4-DE00-47EE-B549-F4621099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기상·수문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78953-BF71-466B-BF8B-A6219D9B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73D1A6-B964-4752-8E11-B80DEC5C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398BD4-6A5F-4463-B7E5-478D2472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홍수 위험 예측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8ADD9F-A8C7-46BF-9172-6B684167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D2C954-0428-466E-B27D-4ACC6167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20034-5244-4F88-84EB-2DE56F70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지역별 오차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403539-9252-4326-9397-8F064F3D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D333D4-55EE-43C8-B2D0-E0DCAC7C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F45A27-8D62-4C16-A738-D33E30E4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예보 담당 판단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9D8423-31C8-481B-ACF1-802D2A30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5EE622-E7AC-456A-A167-1F3CA7A1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3D9AC7-7B87-4076-AB4E-3188DCF5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경보·대응 연결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59D6B8-4D4C-4540-B3AE-EBFFE6BD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BABAE8-C043-463F-9588-4AB5DE04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4B5BD9-F575-4252-8335-22212448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미탐·과경보 분석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645458-9225-4CAE-875C-2D146644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CD8917-F3AE-4945-AB46-BD092A31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7759C1-BB26-4EE5-B8BA-6931608E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유역·관측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857189-273A-4E8E-9909-80C511A3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BDFE70-920C-4A4E-8007-E927E3F2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E421D3-5D28-4DC1-ABEA-1A7EC0C8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시간·공간 정합화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644E53-36E6-45EB-BFC2-EF421EF6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CD2EAA-33E8-426E-9A08-969BA4EE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4A4D96-3B50-40A6-A525-50458A51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예측·관측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BF72CA-E50C-444C-A0BF-8250FA89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673118-573F-476D-A694-C1AA33C2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3671DD-1177-40C4-9E8C-32CE861E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경보·대응 기준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37F1916-D747-44F1-8728-4CEF720B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71672261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14C588-856C-4B4F-AD2A-C75C56FC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AX12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56ED0A-EC65-4F1A-A4BE-1D2576B3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홍수 예측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A548C-ACA3-41D2-97FD-C8E30F09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680DA-161F-4D7B-8176-182F8939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6530C-C940-43A4-B337-CDDAC950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4A4F6-DA29-4DB5-BEB5-8B8F2B5D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D96625-A9B9-4B44-A766-BB12F2FD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67188-AB93-4247-917A-6DF8C6D8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059E8-E517-47EF-84E2-510B046A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유역·예측시점·대상 지역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36ACD5-8BEA-4A63-AB56-C1145AAC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B385F-B3A5-42A1-9EDA-AB8E061E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C1BD5D-8E1B-4C53-A065-6F450D60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강수·유량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00EDE-0527-4501-A601-37A37DB1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5B275D-762D-4E4F-B52C-93DA37F1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DADAD-E730-4C0F-9E01-9A918D66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시간별 예측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ABF528-5D4B-43C6-A997-94358858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E5543A-AB02-42BF-ACDF-6DD1D7AF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66475-8FE5-40A6-B0AD-A7404252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위험·예상 시점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F616F1-B59C-4CA5-907D-2A0615C0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884BDD-8FB8-4F0E-B7E2-DFCDFD4A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E2D16C-2719-4AA7-8BF8-91F16358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위험·예상 시점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B71D4E-4277-45E2-A27F-E68496D7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0523CA-22B4-4FCF-8EE0-1F0836E1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FD08A8-40D8-4923-BE25-BCD52AB5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대응 판단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589D0-FB3B-4693-946B-24AC1D3A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90944-82B3-49AC-9FAB-3BDAA730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결측·분포가 다른 유역·예측시점 이후 자료 혼입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C65173-135A-4D76-8100-0F2D386D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A73CA0-C08D-4890-9E3E-C2F29FCF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지역별 오탐·미탐과 선행시간 평가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4FCAF0-1FC4-4EA9-AC9D-6504A0C1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9266FA-A71D-4B0D-8299-C02646B5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미탐·과경보와 지역별 오차의 사후 분석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E97C20-73EA-4136-A628-17B3917E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7A96EA-AE53-44AC-B286-50752104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시점 분리 평가와 유역별 미탐·과경보 결과</a:t>
            </a:r>
          </a:p>
        </p:txBody>
      </p:sp>
    </p:spTree>
    <p:extLst>
      <p:ext uri="{BB962C8B-B14F-4D97-AF65-F5344CB8AC3E}">
        <p14:creationId xmlns:p14="http://schemas.microsoft.com/office/powerpoint/2010/main" val="111579933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51B5B8-6168-46DF-931C-058E94F0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AX12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7085E-18E8-4D5A-B0FF-7746B47E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Google 홍수 예측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ADDEC-F759-4480-90C0-00F092B5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B74CE-04B8-4957-968F-3F3C603E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B1E43-AB39-4105-8789-984F45BC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29A02-1D63-45CC-85FD-B3216F66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660D0-D77A-4DD3-B50E-797AE82C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부족 지역의 예측 범위 확대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비교 평가를 통한 예측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F50AF-DFC4-4072-B263-13134548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BEECCB-4378-48EE-9E1E-D0685E89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분포·지역별 불확실성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경보 정확도와 실제 대응 효과의 차이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28D835-27BD-4D51-92ED-5AA920EA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610596-8618-4826-B9E8-2691FCC5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지역별 오탐·미탐과 선행시간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A6CF6-68F8-4A2E-B0CC-BF0501C8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976C31-DE1D-4F2D-B260-C87A181C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유역별 예측 위험을 지역별 대응 검토에 제공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95EA5-BDB2-4E8A-AF27-04601091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1ED28-6EB0-46FC-B5A7-40C7F42F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결측·분포가 다른 유역·예측시점 이후 자료 혼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77676-7E96-44E6-B9A7-7267AD7E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8412F-295E-4EF4-861C-774BA4F1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시점 분리 평가와 유역별 미탐·과경보 결과</a:t>
            </a:r>
          </a:p>
        </p:txBody>
      </p:sp>
    </p:spTree>
    <p:extLst>
      <p:ext uri="{BB962C8B-B14F-4D97-AF65-F5344CB8AC3E}">
        <p14:creationId xmlns:p14="http://schemas.microsoft.com/office/powerpoint/2010/main" val="33135217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41B43A-9B8D-49EF-9576-3F147227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AX13 / 실패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37F1D7-2B6D-4BA2-A724-4DBA79B0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뉴욕 MyCity 챗봇 감사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27B59-31F9-4A34-BC50-1F46B3D4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44F32-08AA-4BC4-A39B-D0A65E59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CBDC4-B9AD-4D64-B549-D171807E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49DCA-EB93-439B-AD9D-9F967826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F1E20-4250-4278-A31E-7F82542B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뉴욕 MyCity의 챗봇 답변 품질과 통합서비스 사업관리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문제를 다룬 감사 사례. 공식 안내의 정확성과 서비스 통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합·계약 감독을 함께 봐야 하는 대민 AI 사업의 사례.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38181-F360-479C-A06B-3EE9680D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076C0-574E-41F4-BDD4-1C2B04D8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질문별 근거 문서, 답변 결과, 공식 신청 경로, 오류 수정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이력을 연결하는 재구성. 독립 시험셋과 계약 산출물 목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록을 대응시키고 감사 지적·기관 반론을 근거별로 구분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해 비교하는 방식.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E30FC-449F-4466-B965-6D9398EC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D4E539-BB59-4DE3-8C92-BE7A9913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TS에서는 챗봇 공개와 민원 업무 완결을 같은 성과로 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 않는 설계에 활용. 부정확·상충 안내의 회귀시험, 완료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조건 정의, 변경 요구와 인수 증빙의 연결을 CCK 사업관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리 기능에 반영할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E8A8CB-BC8B-4B60-AD97-EBB7CF46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0BA3A-5BD1-46C3-9E96-79DEF5D2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반례 정답셋·오안내 신고·책임부서 인계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5365AF-B303-48D4-9D05-04668D42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099580-C4F4-4C4D-99D0-F911606A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규정과 상충하는 안내 및 미완료 신청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E323E6-7685-4B4A-92A9-49129386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B6828-DEAD-4C07-B2F5-AD38D82B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오안내율 / 신청 완료율 / 재접촉률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84C355-9738-468A-B557-BD5A432E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운영기관의 정확도 주장과 감사 판단의 차이 존재 · 개별 질의·평가 방식 대조 필요</a:t>
            </a:r>
          </a:p>
        </p:txBody>
      </p:sp>
    </p:spTree>
    <p:extLst>
      <p:ext uri="{BB962C8B-B14F-4D97-AF65-F5344CB8AC3E}">
        <p14:creationId xmlns:p14="http://schemas.microsoft.com/office/powerpoint/2010/main" val="111961296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A31D82C-64EF-4EC7-827A-B3BAE6B64FCE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DA00EA-9B88-4E6D-BEAC-3AC04DD72C68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AB8C20-AAEB-4B13-9734-9B008B96B66A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131DFE-17A5-4229-9736-F9F515552530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D27213-5B80-4F2B-8085-79EDDCF7BD2D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5B20F6-68CB-436A-BE77-0A38CE3786AB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B0CE87-1493-401B-B902-CF945AB69AD8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6DD917-06DD-46C6-8DF1-BDD12C880EF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EE7E018-C486-4FFD-B7A6-EED0FD90B878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EC2F08-485E-4989-9FAF-299A7CB4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AX13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D2AD6-10AA-4672-8582-7B078959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뉴욕 MyCity 챗봇 감사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4204B-8C5F-469F-9777-03A02213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B9E93-8BD4-45AE-896A-A6455BBC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7E55F-463E-4AAE-904D-7A292C86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955BF2-9245-4153-99EF-652FEFFD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76991-7FE7-448F-AEBE-CD0F93BE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68732-6404-4BA0-BC4D-CBCFE005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B89F8F-4276-4975-9849-A229244E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MyCity 질의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79817-61BB-4FB1-82D0-6BE51A16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46575-5427-48A4-9978-60B50525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84B38-B376-4DB6-B8C5-95950003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소관·이용조건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75687-6DE6-49FD-A045-6549EBEA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28D56-80C6-446C-A666-EBD412E5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C2F3DF-5EAD-4F54-9D8F-245D4AFC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공식 안내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3F09ED-4A88-4B9A-9FA9-C3A5B9C9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348E9E-A692-4FB8-9FE3-760D8690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58B853-9BA9-48AE-8310-080F522C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근거형 답변 구성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49D085-ED06-4132-9248-99A2E73D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7C5CF-8698-4ABB-9535-41CB6C8F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7C0374-9A28-427A-9EB6-1CBF5A56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위법·상충 안내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DC2473-C9E9-4883-9319-396CCD00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67B9EC-CBEC-409D-AD4C-BDB47EC0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57F02C-5734-4424-B7A4-6E61E607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서비스 담당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BC903A-F9EC-41F9-99E7-EC70E041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AED3EA-B0CF-4C5C-9A01-A36C97E0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3512BE-4C10-485F-B6D9-6DAB3CF7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신청 경로 안내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DA570A-CCCC-40D4-9E2A-12A2D0CA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517C0E-7740-4685-BCA6-DFEAE742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8A79C7-2149-4FFD-9A14-E700C771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오답·계약 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B8D710-0A95-4040-81C4-669289D5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3E0B22-AB72-4B27-A952-8539753A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E10915-18F1-439F-AD50-487620E9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정책·서비스 목록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C2B103-17A8-4AA4-841B-5829E69A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C68097-A422-4FE1-9C7C-3B531817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AF4B58-CE71-4184-BCB0-E3921770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판본·적용조건 정리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DF322B-1219-4940-947C-16254951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3F8494-AEF6-4895-A5E2-3142C04A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40B5C6-659D-4C99-86C8-A95489DD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안내·회귀시험셋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0977D9-39A5-42F8-94CA-6DE04C3B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0122A8-B035-43D4-B646-8D0FBBC3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C6DDD7-C1B5-441A-8545-ADD7BB49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업무 책임·품질기준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48F8F7-A723-4AF8-B54C-9CD43FC2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38723751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7E2EF8-B327-4331-A7F2-A5986C9F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AX13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295B3-2359-40FB-BBCE-7BEDD104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뉴욕 MyCity 챗봇 감사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466FF-5683-4403-AB45-0EE469FA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770097-27D2-4A42-B8F2-B5325EEA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E06E6-5CD4-4206-9885-52D574D6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464E6-7B47-470B-9050-A7E0FB9A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28CB8-1C2A-4817-ACED-BA9C2DA2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4E6BF-8964-4927-84FB-7EB5BB7B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A1280F-58F4-4438-83ED-A3721342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요청 업무와 공식 소관·이용조건 식별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1F20C-FE23-4A84-80E2-AAF01C7D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0BE52-083E-4EFC-B25B-30755B46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9D68B6-0AB2-462C-BF3D-A804B233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이용자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5B6257-D003-4E7C-9804-04C28587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882A02-C713-45E2-8179-94473B14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C05285-21CF-4F13-A70C-D254AD1B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안내 자료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DF0F0-9882-42A9-BB29-DC2A9FD2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39DE9-BD4B-4258-8D80-0333B6BB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880B9-3BCC-4A70-96C1-B59FE930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챗봇 답변·연결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8835A1-9C22-48EC-B713-90459D12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E9B6EC-39DF-4C53-B66A-F0B83875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2D7B22-3719-4EE0-9953-174C3964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챗봇 답변·연결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9DD94-0E98-4742-BFC4-22D53D81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3C1197-542A-4E81-BD8C-2FE14501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904CFB-F68A-4B48-B5A4-2C55C23A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피드백·감사 기록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52137C-61D6-4C9A-98FB-834BD54D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58F5BE-25AD-4E48-8FB2-D0BAA375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동일 질문 표현 변경·상충 규정·폐지된 서비스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1C5A64-ED9B-4010-BD72-85DBDC46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661C8E-03BA-4683-88F7-C205FE94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OTI 반론을 함께 보존한 근거별 평가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B31D5B-27DB-4F88-B52A-7934CBEF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3AC624-A442-4545-B2C2-D781D664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회귀시험·오답 보완·계약 산출물의 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DC3E5C-1B4C-459A-BFBD-28335132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B6C060-9CDC-456B-9067-F41FC618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질문별 정답·변형 질의 일관성·실제 서비스 도달 기록</a:t>
            </a:r>
          </a:p>
        </p:txBody>
      </p:sp>
    </p:spTree>
    <p:extLst>
      <p:ext uri="{BB962C8B-B14F-4D97-AF65-F5344CB8AC3E}">
        <p14:creationId xmlns:p14="http://schemas.microsoft.com/office/powerpoint/2010/main" val="2063713116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895832-4891-4668-B6A8-BC66ACB6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AX13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9DD20-8F91-41E4-8FFB-B8948AA3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뉴욕 MyCity 챗봇 감사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C965B-009A-4EB8-8C2B-3FC5D51F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04E04-0E60-42BE-99CF-EEB41C7D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DB6B6-8137-4399-8B88-B045BBE6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5EE3F-8041-4001-A18F-68D30910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재발 방지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67A4F5-721B-467C-9400-29F07D71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 완결 조건과 책임 범위 정의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독립 평가셋·계약 산출물 추적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38D47-100B-437B-9E39-13F17E4A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요인·시정 쟁점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0A667-FC4E-4186-B111-44C89D7D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감사에서 지적된 부정확·비일관 답변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통합서비스 계획·계약 감독의 미비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31EF9-8316-4CBF-94C5-32037605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69FF32-E16E-4C82-9B05-E05EF91A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OTI 반론을 함께 보존한 근거별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05E314-0AD0-40E6-8DCA-052048E9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FD3A7-E083-4295-8452-71250E74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사업자가 허가 조건을 질문해 공식 안내로 이동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0EC4BD-1BE0-412A-A7D7-1463B1BF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0E36C9-026E-4858-AA66-3E95FE86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동일 질문 표현 변경·상충 규정·폐지된 서비스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23052-DFB8-4070-9906-911894C7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1FF89C-07A6-4986-83FA-4A3D241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질문별 정답·변형 질의 일관성·실제 서비스 도달 기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</p:spTree>
    <p:extLst>
      <p:ext uri="{BB962C8B-B14F-4D97-AF65-F5344CB8AC3E}">
        <p14:creationId xmlns:p14="http://schemas.microsoft.com/office/powerpoint/2010/main" val="643257236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2AC74-4ED3-4775-9D3F-AB414073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AX14 / 시범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497FC9-677C-40F9-ADDD-6D145C9F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DHL Protex AI 안전 실증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DDA5F-B3D4-4503-A264-8FD24C52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4645E-8DF0-480B-8025-E5E6F446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1A98F-32CA-42EF-A451-FC78E3A1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ECC38-2681-4788-ACDA-E428CF35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33D88-0345-42AC-AEFF-AC0F8AD5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물류 작업장의 영상에서 위험 행동·근접 상황을 선별해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 담당자의 예방 조치를 돕는 사례. 탐지 이후의 검토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·조치 연결이 현장 적용의 핵심.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B5DFFE-9892-40CA-8417-910EF5F2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C81C96-30B1-427C-ABBC-DAB2E798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구역·작업시간·영상 접근범위를 지정하고 위험 후보를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사건 단위로 저장하는 구조의 재구성. 담당자가 현장 상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황을 확인해 개선 조치를 기록하고 재발 여부를 검토하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는 흐름.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DCBCF-0515-4E98-AEB5-464120E1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CB3A3-9CA4-4772-A3D9-0D843CBD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시설·사업장 적용에서 카메라 설치만으로 안전 효과를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주장하기 어려운 유형. 구역·작업별 오경보와 중요 미탐,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경보 확인·조치 시간, 조치 후 재발을 분리해 평가할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CC9491-355C-4FB4-A3F9-46093362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A2429B-7550-4999-A25C-43E92B8A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사건 사전·검토 큐·조치 이력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44CAE1-C2A1-4A86-87B6-60D27669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90D67F-7820-4647-BEEC-B286BBF0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오탐·미탐·사람 가림·조치 누락 시나리오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19F1F-8AE7-4C1B-82F6-B5DF0A2E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80661E-4C9F-4011-8ABE-5A92EAA2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확인시간 / 조치 이행률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37C36B-83AE-425C-A566-022C541B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PoC 범위 · 전 사업장 확산·재해 감소 실측과 구분</a:t>
            </a:r>
          </a:p>
        </p:txBody>
      </p:sp>
    </p:spTree>
    <p:extLst>
      <p:ext uri="{BB962C8B-B14F-4D97-AF65-F5344CB8AC3E}">
        <p14:creationId xmlns:p14="http://schemas.microsoft.com/office/powerpoint/2010/main" val="15660279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2F46FE-FA96-4594-86D9-7B900C082B2F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FCCD80-42FF-4E1D-AFAC-3183C5CD9089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47A95F-19BB-4497-A76A-5E466936F2D2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8056FF-6397-4450-BC79-A311E6E6F57D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9AC677-98D4-4CF4-A3D0-0B98FA580C0F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84FC61-A73C-4DFC-972E-0000298EBF6E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8B50C1-D3A4-4628-8278-4446A81E3E2B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E4CEA1-AE86-45E3-962B-CEFEA49DA24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FC48C0-C3C4-4D8D-81EE-6C29E97E1DA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AF0C8C-8E77-47B6-B5D9-221B26BC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AX14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F0BA18-FF68-48F5-AA86-E935442F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DHL Protex AI 안전 실증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D9710-7FEE-45AC-89BD-742446F3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A1D17-9DC0-4AA1-BFEA-50C3DC21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F8F78-9EE6-4213-BF90-8282B3B4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2A0BC-F3CC-4848-96E0-1F59A227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480D2-31B4-4B99-BBD9-4DA75788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E634A8-BD5C-4348-87BD-07EA6F43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BDE68-7624-485D-A672-718A9E52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현장 영상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30E989-3AB7-4C57-AF06-6A26A7D8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9380D-FFAA-4654-A006-003C8608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CC15D-BB22-49C6-AF7A-EFBC5A61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구역·작업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AB6EB-127E-4FCB-8569-AC4910AA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26945-790D-4715-A331-DCBCD02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E25D2-6955-45C9-8765-1C46EB33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영상·이력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D89C59-555B-4043-B610-01FB228E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0999DC-78F1-4682-85F0-2D19ED7F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77A5D5-C836-4B42-A9DF-1F4D2945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위험 행동 탐지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C50E07-A81A-4AD3-8672-8933E5A8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B8C278-9616-446E-922F-9FA32275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8411E-1FCA-41D5-B6E4-3BC3792E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오경보·미탐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3727DB-1114-4180-A22F-5017C070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19F6D7-EF00-4C91-AB66-513CCC61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E74BE6-5FCB-4F3D-A214-65764007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안전 담당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4F8FFE-AFE6-476C-9F61-6C0095D1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10D427-7F0C-49FB-AE5A-23E16844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2DA645-4ECF-49B7-9DC1-43FA43C4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개선 조치 인계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47A47-6DBF-4A21-852A-803DAAD8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7FCD05-B732-4CD1-9D08-65E172DA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9740C0-B8E9-403C-9909-DCB5404F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재발·조치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463954-2C52-46C1-A406-297F189C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97C10E-ABD6-45CD-93C0-CF20ADCC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42B25-5E1D-442C-A9FF-38F71483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영상·구역 지도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BB470B-70AD-444B-A0BB-600E0EE2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70BB7D-6D27-4915-9865-31B75E82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4EC043-4FDA-4CFA-A52B-66164E8E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사건·위치 정합화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34DDC4-3AF1-4418-A8D0-64FD7FA7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CDB6386-685A-4635-98C7-5D43EACA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E8E7C1-A1AA-4219-9D5E-C85E8F80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위험·조치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74F040-A2D2-4FB7-B8CA-98B7EF49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D8332D-0610-4F0C-94A6-CB93C490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A17F4D-0769-418E-BBF3-3A16F5EA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 열람정책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AAD7681-630E-4D07-B0B7-79CF3221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42377983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BDA7B1-DC01-4AAB-BED8-DC2501AB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AX14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20C0E-E145-4703-8637-5FD08869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DHL Protex AI 안전 실증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F6921-3B1A-4BD9-B910-6F505DA0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6644E-47EF-45E3-B015-6273460E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11809-05DB-45AB-877A-5184743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6AE651-FF46-4B92-8C90-9FAF4B6E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FA626-1294-46F3-A3D5-93B74822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1A078-9421-4EE5-90FE-894BC890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ED329-A158-434B-8051-6D1CD6AB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구역·작업시간·관측 목적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67A8C-BD6F-4B95-94B9-AD9DE035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A5A70A-AF76-4DA0-9D7D-A326FF5B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153E55-9C0B-426F-8DBD-7897EA7D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977D7-4DE8-4888-9472-40B3D07A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79EDE2-EFEE-45E1-83BD-72644F80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A16D1-A4A3-435C-9204-5B26CEEB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3D4065-F5D2-4E8D-81ED-E07041FE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340584-8F6A-4D25-BF40-ECAC7996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ECA23-F55B-4258-8337-1A58EFEB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검토 이벤트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BE7AB-F17C-4996-B972-6F0239BB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C620E2-5613-4B5A-81AC-D19ED12B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C5E403-FD2B-4AB4-AB7F-97640829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검토 이벤트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73374B-E195-4796-B481-8A1122C3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044861-411D-4548-B2F5-DFF59863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0DAFD7-1356-4259-A5C1-5893A752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예방 조치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8C180C-C77C-4CA2-A9FB-4C372999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FF0BE5-9B30-42A2-A3F3-AAA60EE8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가림·조명 변화·작업 동선 변경·비위험 행동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A4C52B-1FA3-4629-AFB4-2777DBDE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EA1F47-170E-4603-A0A4-BD4A86D3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오경보·중요 미탐과 조치 이행 측정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89BC7A-643A-4719-8DFF-3646DA09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5EC593-5271-4683-AF8C-3FC9D72D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오탐·누락·조치 완료와 재발 여부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F5ED05-D743-4CE7-9006-F0606A23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D64411-D154-4950-8C89-CDC20CAF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사건 표본별 오탐·미탐과 확인·조치 완료 이력</a:t>
            </a:r>
          </a:p>
        </p:txBody>
      </p:sp>
    </p:spTree>
    <p:extLst>
      <p:ext uri="{BB962C8B-B14F-4D97-AF65-F5344CB8AC3E}">
        <p14:creationId xmlns:p14="http://schemas.microsoft.com/office/powerpoint/2010/main" val="201844385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030D6-AB54-48F8-BC4C-A1D334CF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AX14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FC56C-F0BB-4E36-8107-D5BEB5C7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DHL Protex AI 안전 실증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337FC-04B1-4ACD-BBB0-55F6CFE6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E7B24-B353-4290-939D-49A18164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817DA-AF86-4D16-858E-584969AA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6CC0A-BABE-4472-9F2C-44543271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5E8EFD-9613-42EC-88CB-B4B72C8A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영상에서 위험 이벤트 선별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 담당자의 예방 조치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0FE56-4946-443E-85E8-8F5E3026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E5195-0797-40E5-A4E8-6349CB17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카메라 위치·작업 유형별 편차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실증 탐지와 실제 재해 감소의 차이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60FD3-ECF3-4F1B-9694-ED96706F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51C0D5-8B18-46BA-936F-744366D7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오경보·중요 미탐과 조치 이행 측정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7655A1-8B40-4F72-B186-6C9F522A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C419B-8C43-41B5-A245-C40F9A68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영상에서 위험 상황을 발견하고 담당자가 조치 등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36D2C-9373-464C-A0E9-2EA605D0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4C0559-83B7-4FA3-877C-7F59C747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가림·조명 변화·작업 동선 변경·비위험 행동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E8A252-CB90-496C-87AC-97E68BC4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84F7A2-4852-494D-BC92-4FA9AB10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사건 표본별 오탐·미탐과 확인·조치 완료 이력</a:t>
            </a:r>
          </a:p>
        </p:txBody>
      </p:sp>
    </p:spTree>
    <p:extLst>
      <p:ext uri="{BB962C8B-B14F-4D97-AF65-F5344CB8AC3E}">
        <p14:creationId xmlns:p14="http://schemas.microsoft.com/office/powerpoint/2010/main" val="154851785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712B0D-674C-4112-8ADC-F7BAE63C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AX15 / 성공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6CA93-FFD5-43ED-834A-59DBC42C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국세청 AI 전화상담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5DF6FC-0ED7-40FF-9536-51B106A4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14590-F51D-4927-8380-F46CDA29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CC423-1620-47BB-BD65-3E827162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6450C-D3A0-4C4B-9A18-EC8D94FD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6729D-CDBA-4945-AB6D-567E2BCA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반복 세무 문의를 전화 채널에서 안내하고 복잡한 질문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을 상담원에게 연결하는 음성 상담 사례. 상담내용의 범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위와 적용 연도를 정확히 식별하는 작업이 중요.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F4B6B-121F-4818-9FD9-23F2C1A4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E5156-96E0-42CF-9251-B3A6306F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발화의 세목·기간·질문 목적을 정리하고 승인 지식을 찾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아 음성으로 안내하는 구조의 재구성. 응답이 불분명하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거나 예외 판단이 필요한 경우 대화 맥락을 상담원에게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전달.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678C24-7999-4B80-AB5F-A4B90C4E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20AB8C-E1A7-479D-A1D2-C801A899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음성 민원 접점에서 인식률만으로 검수하지 않고 필수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항목 확인과 인계 성공을 포함할 근거. 시범 운영과 전국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확대 계획, 실제 해결률을 각각 구분한 비교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05A6E4-679F-44BA-8DFB-7F67F60D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E0C05A-B0A8-42ED-BAE0-84A37449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발화 정리·확인·소관 서비스·상담 인계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89D34-BD6E-4421-800C-15F3C6F5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B4535F-4705-468C-A299-1E6F0971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고령·소음·중도 정정·상담 전환 과업 시험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3DAD2-A2AC-4378-972E-182BFD26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FECF82-5A0B-4958-8E42-E0B586A2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안내 도달률 / 포기율 / 재문의율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C2D04-0206-4C39-933F-6424811A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시범 운영과 이후 확대 계획 구분 · 개인별 과세 판단 자동화로 해석 금지</a:t>
            </a:r>
          </a:p>
        </p:txBody>
      </p:sp>
    </p:spTree>
    <p:extLst>
      <p:ext uri="{BB962C8B-B14F-4D97-AF65-F5344CB8AC3E}">
        <p14:creationId xmlns:p14="http://schemas.microsoft.com/office/powerpoint/2010/main" val="51566347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7F0A15-D126-487D-B632-6304AB0D996C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8CA43B-2C75-4D76-9F7F-A2A13B7112E7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B15040-689F-4E26-984A-23F7ED6607CC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81B7ADE-E478-4EFC-8B34-B22153BF45A9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B1FA4D-8859-4396-85C4-AC73E29A94C6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6EAC74-10E6-4EF3-976F-1C87BE6F9282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092292-960A-4CC1-8362-055ADA2363EB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ED0D65-E532-435B-884A-38C5406EADB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E944F0-2931-4498-91B2-E64FEEE74F3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ED1AD6-C93B-4DE7-8B43-45259A62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AX15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15AA7-4E7A-48FB-947B-71E6670D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국세청 AI 전화상담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D4D04-9417-44EF-88B8-842FE35F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CC2EE-2DF7-4FE5-95AF-3CDFDF25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AD5588-29C0-4902-A374-BB249581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9C38D-4B8D-4233-A744-54C41B82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1A8F2D-679A-40A2-B22A-BBE7A230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D6CFD4-6D43-48DE-A8B4-F8F45E8E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C1180-BE6D-49A6-82BA-4C98B4EE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전화 상담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B0CC9-41C4-4050-935A-1E99690D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0D54A2-FCD6-441E-A7BD-1C7AD69F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5884B1-F99E-4C30-A5D7-692A21DE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세목·기간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066F9-DB10-42D3-A5A2-A3BF761A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5F831-B62C-4A05-ABF0-1A711FA0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94CED3-43D3-40F0-A62A-DBA56AFA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승인 지식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0E1DD-69F1-4C42-BEB4-71C9CBDD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C90321-E300-4B4A-9C7F-D1CB4999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F96DB1-1314-4DEE-9DA3-7352D374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발화·의도 처리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513E05-DF57-4E9A-8E07-E22A2ED4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D135F6-8827-491E-9B1F-415F9A66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32F9DE-4020-4411-9585-69C50703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핵심 조건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7FF79-9FED-43EC-BDF7-28F07F24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2F349-AD4C-4BA7-B48A-9B3D6134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49FB0A-3F46-4B5F-9FB1-51FC1E7A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이용자·상담원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64D3F6-9473-408C-88B8-2F0907FA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93900F-40E9-40B4-AA6B-F1BC2396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663FDF-3905-43ED-BE8D-FEC9823D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음성 안내·인계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BA3569-95FE-4CE8-BB0A-03B1E21E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E7412A-B2F6-4303-A5BF-A805E575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23C3CE-E09B-48FB-BD0A-FA667A87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반복 문의 분석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81142D-543F-4D2F-80FE-40F29D57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1E7D97-DB37-410A-894A-A3CC86B3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39C926-B9A9-40C3-8E37-7FA4CED6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세무 상담자료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959038-21FC-4387-AE69-058084C2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A1A956-866D-484D-8ED8-747009E4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6674B8-7042-42E5-AA99-08CFCDD5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적용연도 정리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23229B-0DFE-4B34-8D6C-D94C38B7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96FF18-4C0A-475E-B7C9-C71757C2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470003-ECAA-4600-9742-737ED583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지식·상담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F2E76B-0CBE-4BDE-AE38-D957BD14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255608-48F0-4A36-8595-65A2BDD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3C1475-8E89-44B6-A2D6-4C14B7FF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전문 상담 기준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8DEF97-72DD-4AF9-93DC-347839F9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34980125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780E4F-238A-4686-9661-A3856FB0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AX15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7FE68-502C-425C-B9CF-CDF26E78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국세청 AI 전화상담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0C91C-F6BF-424F-B490-32B8AA16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4984A-F187-4689-935E-16C4E58E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2D67C6-3410-4945-A0A0-12E4E62E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BEE18F-0B4A-4504-814C-7A2AB8B9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6EE28-DCD2-4E48-B5CD-38AC490B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382969-6FE7-4AE4-84F0-60AEB8AC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7D6365-25CC-4A62-918E-3001CCBE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발화에서 세목·기간·문의 목적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CEDC3-AB36-4142-9621-8106C920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4B2FB-0D90-45EC-A008-F1F920A3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38EFA0-A439-466D-84A7-9A82410E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전화 발화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8B398-9A3C-4664-AB4A-B44C4DB5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AF2C7C-3A71-4741-841F-D6C7D2BD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137D3-C4EB-41F1-838E-9F94716D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질의 의도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B10DD8-674A-4851-AF40-4BBCD372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94B6E0-5E12-4895-BB08-DF1839AB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F0B164-D44D-41A7-85EC-77887094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세무 안내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913901-FF5D-441D-AB60-1E8A90C6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240616-BE29-4620-AF2B-52755BB3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770167-FF4C-4F70-95D6-28CB5306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세무 안내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32DCEB-140E-48C2-ABE4-00F7D70B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CE33C7-9CDF-48F7-BE6E-03F4D79B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D10B71-D943-4181-AF59-315CA8F6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후속 상담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75980F-5488-4AB8-AC40-61D549B2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BAC9CE-BA18-43B2-9E84-204122A0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발화 인식 실패·다른 귀속연도·개인별 과세 판단 요청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040FE0-487B-48BD-8F12-21B9CE5A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E540E4-2C35-40A5-8E3D-B2C8F328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핵심 발화 확인·전문 상담 전환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F5ACF3-F47B-4D4C-A494-E4CB7D6E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B42663-1A80-4BA9-95C7-49CEF85E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상담 이관·반복 문의·안내 오류 점검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403F51-3739-4E3A-8816-07A4C5BB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BA1306-9CF6-4717-AAE1-C463859A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필수 항목 인식표와 상담원 인계·해결 여부</a:t>
            </a:r>
          </a:p>
        </p:txBody>
      </p:sp>
    </p:spTree>
    <p:extLst>
      <p:ext uri="{BB962C8B-B14F-4D97-AF65-F5344CB8AC3E}">
        <p14:creationId xmlns:p14="http://schemas.microsoft.com/office/powerpoint/2010/main" val="5616911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C00EF2-08D8-4810-AB14-0812BE4A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AX15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84775-0EE4-4072-984A-785D2FFD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국세청 AI 전화상담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28ADE-316E-4269-AC61-88C751D6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92288-1146-42FA-AF98-61352207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EDB3C-8D96-4607-A19E-D227C79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614231-F012-4E76-8B43-6F1C71B2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E83CB-2F08-4CA0-820D-BCC4F6C3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전화 채널과 세무 안내 결합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시범 적용 후 확대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D52510-CC83-4D6B-BDA7-89A0BB5C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E503D-2ACC-4E76-9B4A-76E072BA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예외 세무상담의 잘못된 안내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시범 성과와 전국 운영의 혼동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8A7B47-36EF-448A-AC48-0FF909CD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991F1-F42F-41FE-AF94-4FE12B8C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핵심 발화 확인·전문 상담 전환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683B00-A451-4C4A-AE3D-A85E3CB3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6ACA1-7409-465C-A318-70C35387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납세자의 세목·귀속연도를 확인한 뒤 안내·상담 전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BA81D-5093-42C9-AB9D-F28D8123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65738-CDB4-4A35-8215-349C9277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발화 인식 실패·다른 귀속연도·개인별 과세 판단 요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8D1F45-4463-4793-9B9F-B94B5231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1CAB4-6D45-467E-8DA8-D0A0A555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필수 항목 인식표와 상담원 인계·해결 여부</a:t>
            </a:r>
          </a:p>
        </p:txBody>
      </p:sp>
    </p:spTree>
    <p:extLst>
      <p:ext uri="{BB962C8B-B14F-4D97-AF65-F5344CB8AC3E}">
        <p14:creationId xmlns:p14="http://schemas.microsoft.com/office/powerpoint/2010/main" val="1565995804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5CFE10-A26E-4EE9-859E-809D0C89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AX16 / 계획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74E5C-D8B0-461B-B082-239A058E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싱가포르 버스 충돌경고 확대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EDD3B-90F8-447F-9793-77CC07F8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09E1B-626B-4EDB-8BBC-2C5D5649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CB128-1499-43A3-881A-A8918760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9E6B3-C698-4658-9CD3-775B6BB1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1B9FC-8262-4DB7-AFEA-56E91CEE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버스 주변 위험을 감지해 운전자에게 즉시 경고하는 안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 지원 사례. 운전자의 판단과 대응을 전제로 한 경고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시스템이며 운행 후 위험 이벤트 검토와도 연결.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A9D9E-B3A7-4A3B-9D2A-46A35982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5E88A-B018-49D3-AA44-061AA43E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차량·시간·주변 상황을 센서·영상과 맞추고 위험 후보에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 경고로 이어지는 지연을 관리하는 구조. 경고 발생,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운전자 반응, 실제 위험 여부를 서로 다른 기록으로 보존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하는 CCK 분석.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F202C-7291-4159-9158-0BAA28D3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22690-DF7C-48D3-96AC-20EC1B47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적용에서는 경보 과다로 인한 무시와 중요한 위험의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미탐을 동시에 확인할 필요. 차량·도로·시간대별 경보 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연·정확도·수용성을 비교하고 보급 규모를 사고 감소 실적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으로 환산하지 않는 평가.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6202E-E72F-4AF1-9E16-5D341C15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71650-A4C5-4984-90D5-18F6B7FB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장치 상태·경고 이력·점검 항목 매핑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491D0-5385-499B-B194-7151203A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7A239-A66F-43A5-B5AC-C5EA05F3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결측·장치 고장·과경보 및 점검 증빙 대조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611B5-F2FE-456B-99E9-F3EBBA7A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F21184-D95B-4162-958D-53992DEC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경고 신뢰도 / 증빙 누락률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6D29C-D67C-4FA5-AC62-332508C7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계획·조달 단계와 전 차량 운영 성과 구분</a:t>
            </a:r>
          </a:p>
        </p:txBody>
      </p:sp>
    </p:spTree>
    <p:extLst>
      <p:ext uri="{BB962C8B-B14F-4D97-AF65-F5344CB8AC3E}">
        <p14:creationId xmlns:p14="http://schemas.microsoft.com/office/powerpoint/2010/main" val="326882970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4B16AD-F008-40AB-9285-5B642B46C76F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115839-D87A-4A78-B54F-455F958CFBE5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7124D5A-3D7B-414B-BE6A-382776767FA2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A78480-70BE-40EE-8A27-711730A56388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61A3E8-BB27-4FE1-838B-F6E46A62E9AD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C74EA8-F177-4DC0-811B-AE3BDD8EFBF4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A8E36B-54DD-48AD-B619-F706A691E332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BBE669-2218-4E85-BEB4-C2F048A802E5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ADD9C6-802C-424E-B97E-09D6781A6B6A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58F665-6A13-460E-8E76-0F58604A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AX16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D5C73-78A0-4A14-9F26-37E9541B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싱가포르 버스 충돌경고 확대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A2627D-04D8-4368-93EB-56FBD13B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E4D0-4C06-4B75-9386-130F9178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119D6-2755-4E5D-AC78-D037D3D1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001AA-6F35-4ADA-A439-B9203780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92927-38B4-434C-BF29-3397A780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3D9E0-6F2D-466C-8EC2-E337ACCA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4C5924-3B08-49A6-90DC-CFCFA573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차량 센서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77516-CCC8-4492-A515-0CB1C50F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E61C4F-6C0E-4924-91BC-AA4273C6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E0051E-7DE6-449D-BEA7-CDCD49B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차량·주변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D22C28-9AB8-4614-BB52-768A9C6C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50226-D6C1-4AED-9CBC-8A4B5089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975F99-A461-4B18-883B-030A09F9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영상·센서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F0456-FBE8-48E4-8442-823070FC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B2E0E3-6441-486A-B12B-E9B9FFB9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620A2E-F246-43B0-AC40-087E2886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충돌 위험 탐지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88C100-6929-4141-859A-34EC6EE8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CEA763-D416-496B-919F-B840BE0C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7FB990-4C83-428B-9835-15E5689E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경보 지연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FBF74E-A49B-4EC9-89FB-7F44142E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D81E78-1799-49FC-9B66-6C98F7A6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E563A2-1D1D-463E-AFA7-343E9064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운전자 상황 판단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742DBF-39E6-4CF5-A3B1-E287C0FE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B180E2-FC57-44B6-B4ED-1FC405C7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8CE400-13BE-43A9-93F9-34D25997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위험 경고 전달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570266-6233-4313-8FAC-B9992927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D4759D-6121-4344-93AC-DD5961C6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7C45D4-6CCF-4D27-9918-FFE99382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운행 후 검토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CC0F72-8372-434D-AAD1-55F08620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8A6115-9746-4630-B1C5-F0803605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5A1DB6-8491-4AA1-B125-6FDB5562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영상·센서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CBCF9B-0858-41BC-8EDC-1991FB2E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8478F3-6675-4DF0-9103-72491FFB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0FD7CA-E61C-4F7D-A0DD-03CB75A0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시간 동기화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CCA1F1-153B-43C7-9FE4-121B241B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7FD592-D6F2-40F2-9387-4DEA2920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C4546D-17DF-4709-8242-32268D77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경고·반응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C83678-46CE-4DD7-9004-F676A849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8770B0-64EF-4893-9D3A-5CBAEE31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4101ED-637D-4430-874D-DF20C6E3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차량 안전 경계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3D237E-1135-4C25-8690-09A0CD0D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697396821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030B23-7A0E-48A1-B1A2-9339E9BA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AX16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7067DC-5474-42BA-A5D9-64F6185B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싱가포르 버스 충돌경고 확대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DC630-1E6B-493D-B5AC-4D7205D9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D870C-5DB5-4D4D-AC4D-89F8001A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33FC0-5590-4D69-98BB-893A5AE4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B5921-F286-440A-95C7-C86E9BA4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FB332-453B-4F43-BAA2-F5521DCB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F389F-C39D-44FC-AA8A-56EEF7CF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44967-AB5C-475C-AA2F-73533524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차량·시간·주변 상황 인지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35F13-2210-4706-A276-CA5883DF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02773-CC2A-4F5F-972F-AF53109A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755F98-E16C-4002-813F-B6E6D233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센서 관측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90CBA-314A-42AB-9299-F62E8C19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F254E-C195-49A7-9638-ACE08B61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073828-901E-425D-B232-96D2752B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1B17D7-D8CC-4FA4-B347-21D2B0B5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759445-2EA0-44EA-A16E-46D27C76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8F6A4E-E778-43B5-8ECB-95A23EB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후보·예상 경고 시점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8FAC1-D351-4B69-BB1A-D59BAD14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B41B03-6122-4C22-A187-CF29AB75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2CC861-9579-4F1A-AA83-6D9B3946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9A8E14-23A3-4FE2-9FEA-66FB8475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2DC970-B0E1-4240-874C-C3C749E3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2420F-91C3-4480-971E-A3B83B56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운행 후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99D4CE-238B-4CBF-8D9D-AE9C88B8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E708A6-96B0-4328-83E3-033DF604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우천·야간·가림·정차 상태의 비위험 객체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6A0CFC-DC11-48EB-AD51-4CED97B4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4EC191-201C-4418-B728-ECF4D95A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경보 지연·오탐·운전자 수용성 평가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95ED66-73BF-4CC9-AEF0-5E8846E7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2BFACA-91BF-45F0-8AA5-F0F9783E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오경보·미탐과 운전자 반응의 표본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F65C5E-1425-4EED-B4D1-44117A3F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DCFA25-551B-4D36-B14A-4F366D65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환경별 경고 적정성과 운전자 반응의 표본 기록</a:t>
            </a:r>
          </a:p>
        </p:txBody>
      </p:sp>
    </p:spTree>
    <p:extLst>
      <p:ext uri="{BB962C8B-B14F-4D97-AF65-F5344CB8AC3E}">
        <p14:creationId xmlns:p14="http://schemas.microsoft.com/office/powerpoint/2010/main" val="579071913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579017-D78A-41EB-9340-9E29CBBF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AX16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A3607-7FAA-482C-9037-8794D669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싱가포르 버스 충돌경고 확대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CCFF3-F7BA-4A11-98D9-CFD3563B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3E977-7529-49FD-94A7-E3E75809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D621E5-0FA5-4D91-8ACB-116CDA16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6DE60-71AA-4680-8DDC-695D5422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3E275-EAD0-425B-9CBF-5ED9600C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차량의 위험 인지와 즉시 경고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운전자 대응을 전제로 한 안전 지원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D9605C-DD19-4C22-978E-320F5D65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B22DD-16F8-4526-A288-67DFDD7E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경보 과다에 따른 무시 위험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확대 계획을 사고 감소 실적으로 해석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90FB4C-053A-426A-BB52-7993662B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E849A9-6C77-4708-8913-75081190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경보 지연·오탐·운전자 수용성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CDED8-EE0F-4E45-8F4B-CD7E003F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37876-10BC-4E95-B74F-1ADFD3DD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운행 중 접근 위험을 감지하고 운전자에게 경고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9967FD-CF87-4373-A32E-1524CE8C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8DEE3-A486-4D8C-9D5D-A9D3F2A1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우천·야간·가림·정차 상태의 비위험 객체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AFB39B-8DF3-4FE9-A268-C2758FEA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3C587A-EBC0-4C51-83B6-3F0AB046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환경별 경고 적정성과 운전자 반응의 표본 기록</a:t>
            </a:r>
          </a:p>
        </p:txBody>
      </p:sp>
    </p:spTree>
    <p:extLst>
      <p:ext uri="{BB962C8B-B14F-4D97-AF65-F5344CB8AC3E}">
        <p14:creationId xmlns:p14="http://schemas.microsoft.com/office/powerpoint/2010/main" val="2038481275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F59AF-6C85-45E2-85AE-4D6FE0AC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AX17 / 혼합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AA5BF-3930-4E63-9BE6-E222A1E3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코레일 자동검측·AI 확대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666BD-C13B-447B-9786-2AFEFECB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AE3D5A-2A85-4CB9-BABA-41FC0D6B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F1D7A-FF09-402A-9271-705C4712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EE8FC-83E3-46AD-A223-F4D40E03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9293C0-F72F-450A-BB6E-127D90C3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철도 설비의 자동검측 자료를 유지보수 검토에 활용하는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사례. 검측 데이터 확보, AI 이상 분석, 현장 정비 판단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은 서로 다른 기능·사업 범위.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A38D4D-8C5F-49CD-897D-2F832F30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B64A8-7C09-4F58-A2D5-106FDB73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노선·설비 ID·검측구간을 기준으로 관측값과 과거 정비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이력을 결합하고 이상 후보를 점검자에게 제공하는 재구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성. 현장 확인과 조치 후 재검측을 연결해 후보의 유효성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을 확인.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D3E63-8616-4C4E-8DF0-2883A575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8236F-CA07-4267-8863-341E9A71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철도 안전 업무에서는 기존 자동검측 장비와 추가 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석 모델을 분리해 재사용 범위를 산정할 필요. 실제 결함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정답, 설비별 탐지 편차, 정비 조치·재점검 증빙을 검수에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연결.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590AC9-8B26-4F11-9C28-CEDD848B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55B077-A190-4DE4-ACDD-DE8FA241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 ID·판정 기준·검사 시점 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82BEB-1FD9-4813-A25D-7249F4FD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3D086F-E7BC-40F8-BE26-1485DD23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정상·이상·판정 변경 및 미조치 자료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0476DD-E7E5-4214-BB4C-D0C60765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4398B5-12F8-4086-800D-B34D13E5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검사 검토시간 / 증거 누락률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90E352-B275-4C3A-9587-C9D7D73F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현재 검측 기능과 향후 AI 확대 구분 · 안전 감소 효과의 인과 검증 별도</a:t>
            </a:r>
          </a:p>
        </p:txBody>
      </p:sp>
    </p:spTree>
    <p:extLst>
      <p:ext uri="{BB962C8B-B14F-4D97-AF65-F5344CB8AC3E}">
        <p14:creationId xmlns:p14="http://schemas.microsoft.com/office/powerpoint/2010/main" val="781919978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3958D1C-A57E-4FCF-B82A-64995E36059B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25B305-DEE8-4D48-B330-2D0E68584945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BF5D93-BEE7-4112-B6C6-85BE52DE182B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F9A80F-64E8-4EFC-8D10-EFBB84B655AF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60DBE3-7F4E-4882-B1D4-44CEF06DF7D8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1B6C00-68A8-4BE2-BD3F-42289FB3DCBC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8A8517-6A8D-4783-A0EA-A2B9EC87CAC8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BCBBEF-3FAB-4CAB-B670-D4CCFF359BD2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59BC0B-FC6F-4DB4-B5BD-77A986AC179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8C4D275-C6DC-4D0C-8491-1FB56CF0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AX17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A86555-4E7B-4212-A9D4-5BDCF292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코레일 자동검측·AI 확대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05867-5751-4C0F-8C79-78F88F31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9E8FC-7F14-46BD-ABA1-0CB50397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5BF06B-B0DF-41A0-ABE8-667B2867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D79A2-4B85-4290-99E8-8DE23C4D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80B349-8D94-43CD-9D67-0F02F9F7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257FC-D540-4DC1-AFA0-7C5A0F6A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E1338-C827-4EEB-934C-CF4060EC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자동검측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1C2201-0C47-489F-A8EB-A51EA29A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2B7CD6-5FC7-44F5-85AD-D673540C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DBBB1-0F94-4666-A787-A34E9B20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노선·설비 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CF85DE-30B4-44F5-9FE0-3F120D59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997DB-62FD-4FFD-8D79-48D67222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CE974-6326-4F74-95E8-B63C9774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검측·정비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D59F84-95BC-4FF9-9930-5CD31B17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B86465-6C38-4782-8F88-3D695671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F05DE2-8E8F-4D47-9B20-E25E684A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이상 후보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474859-1164-475D-8EEA-9CFC2D86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94448B-C84A-4267-BE7E-4E78DF9D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6C9493-F6D3-4A89-842E-E5962A51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결함 기준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15373-7D7F-42E8-85F7-7EFAD7A8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ED17FF-81EE-4EC2-A4DF-58ADDC52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4636BF-47A5-4D8D-BFB9-0A2E6C9F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점검 담당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F4F695-8454-47DC-82AF-03AE63D3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CE4931-4EDE-4C44-A0E3-45DB6F0B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0E0AC-3DE7-4966-91DC-F3F11F48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정비계획 반영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542A6D-E710-4D07-84BA-1A17A93C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60F517-6A76-4C53-9D40-23158DBE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8AE881-B47A-4D60-92C9-8D22A497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조치 후 재검측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210008-AD93-44DF-A6AB-479AB83A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FFD256-98E9-4303-822B-9377004C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DC3624-CCF1-420F-B273-6777A7B3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설비·검측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F8730E-E50F-40C2-B45F-A016E7AD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FFA4CA-AB03-43F7-8B44-CC51F9DF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FCCC7F-CE8E-40AC-BE7D-FFC809DD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위치·단위 정합화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3DB382-1444-432F-9DB7-A2E2B8E7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AF7A13-996B-4BF5-A26A-AC4D049A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A2C696-FDFD-4E1C-8B7A-61AEA77C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결함·정비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7EBC1D-CA2C-49EA-B48A-E8F32124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90EAA19-884F-4EDE-86CC-936262EC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17E693-1687-4F66-BA59-2CFF4818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점검·판정 기준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9E6F14-5E72-4064-980D-45F60E8F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780931705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005FD1-7958-4560-BE56-9BF3036C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AX17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56375-E629-4C4A-96F7-714E0185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코레일 자동검측·AI 확대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4B35BB-C139-41FE-9A1F-E6F34E2C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6C172-ECDC-4B4F-83E4-0BBC6F7B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65286-1DC4-4B1D-9D21-D25704E1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A492A-DC66-490E-B332-FA34BBF8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0A271F-D102-4F69-97EE-C4154A86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7DF62-88B9-4C35-92CB-1556DB4E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893C1-2431-4F62-A0A6-9A009119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노선·설비 ID·검측구간 식별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E3BA3-6387-4717-804F-6F1D6D00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4AA5A-1DFF-4A5D-8F77-92A9553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70A56-9FA8-4595-B9C8-7E967B82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검측값·영상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54DA11-1423-449B-923F-EACAB881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908BA-BA43-4A2D-9F1C-531CFBF8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AB80D6-D939-4D13-AE84-78E062EE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결함 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5FDB74-E131-41CF-B1AC-38BB0ECA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0C371A-2456-46C2-A29C-888CF8DD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D1342-6CBE-455A-BD43-42F6D3D2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702908-1D3E-4406-AB28-1B2B7CEF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ABCAB6-05DA-412F-801D-7CA8AE48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D02443-10A6-47A4-B2B2-0B7EBE0E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0E15FB-D044-47C3-94F3-7DBBA60E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6339FD-0339-46CC-AA53-009D6228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BD8BA8-CFF9-4110-B968-4A937F02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정비 기록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26B2B1-00AC-473D-9230-F6BEF394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AE8812-E60B-4CC7-B125-83034807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 ID 불일치·센서 튐·정비 후 상태 미갱신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E40343-0DE3-4E6C-A86E-C4BF55DF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26545A-7F82-4A49-BAD1-BFE83463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실제 결함과 검측 후보 대사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C9475C-4D5E-4D35-AF43-0C706036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799592-E32B-47AD-8FB3-FBFCD017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확인값과 조치 후 재검측 결과 비교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4ADCBD-0BD5-4B8B-B9A8-C7AD43E7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CB2681-31C4-4060-896E-96AA073F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검측 원천·설비·현장 판정·재검측 연결표</a:t>
            </a:r>
          </a:p>
        </p:txBody>
      </p:sp>
    </p:spTree>
    <p:extLst>
      <p:ext uri="{BB962C8B-B14F-4D97-AF65-F5344CB8AC3E}">
        <p14:creationId xmlns:p14="http://schemas.microsoft.com/office/powerpoint/2010/main" val="692249563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3D30D4-F8AB-471B-85C5-D67EAF6A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AX17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6DB9F-A90E-4773-86A7-2DB9529F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코레일 자동검측·AI 확대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B634C3-0B33-44FC-AFCE-ADDB5059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4EE28-98A3-4772-BF03-80861BB0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54531-2D2B-4046-9CEA-2795E0AB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B26679-DDF0-4365-BD61-A42FF76D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1AAFFE-FE4C-4DED-81D4-D74BFD21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자동검측 자료의 지속 확보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이상 후보와 정비 이력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55E57-85C5-4D2A-9ACE-902FB3FE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6DACF-9E4A-4BE0-AA86-43D3127B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자동검측과 AI 개발 범위 혼동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설비·노선별 탐지 편차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8A9111-4081-49E9-ACD7-0EED1888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728FF0-79D0-47F3-89FD-E69738B6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실제 결함과 검측 후보 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180EA1-F935-4877-B086-DEDC3962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A6836-5DD7-4449-BC42-68012FC5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검측 이상을 설비대장에 연결하고 점검 대상 선정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1957C-74E6-4736-9E2A-3C2CF1B4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A0B2A-5953-4186-9077-15932E1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 ID 불일치·센서 튐·정비 후 상태 미갱신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761A3-F02B-4147-9402-082DB8B4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C52EB3-90AF-4940-A888-134EA9DE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검측 원천·설비·현장 판정·재검측 연결표</a:t>
            </a:r>
          </a:p>
        </p:txBody>
      </p:sp>
    </p:spTree>
    <p:extLst>
      <p:ext uri="{BB962C8B-B14F-4D97-AF65-F5344CB8AC3E}">
        <p14:creationId xmlns:p14="http://schemas.microsoft.com/office/powerpoint/2010/main" val="207256356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BC8250-DA2F-4679-8F02-F7F16D37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AX18 / 성공 / 해외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51C92-7381-405E-A1EF-DC17EF9D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Network Rail Insight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91D3A-79B1-4D89-BB13-1C707A7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1E35F-C21B-4230-B1B5-EFFD26D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ACEE6-CF3C-495A-AECD-8D26F140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D51B4A-F230-44F4-8EA9-64E9C6F9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CAB88-5E4B-445C-9743-8C4EA3EF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여러 철도 설비의 관측 자료를 통합해 예방정비 우선순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위를 지원하는 사례. 서로 다른 설비 데이터의 품질과 식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별자를 맞추는 기반 작업이 주요 전제.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7E2D83-00A4-41DB-B7FD-80CA01D2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63FB3-F906-4CB0-A95B-2E30EABC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 ID에 관측·위치·고장·정비 이력을 연결하고 이상 신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호를 합쳐 점검 후보를 만드는 구조. 위험 순위는 현장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담당자의 확인 후 정비계획으로 전환하고 실제 결함 여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부를 환류.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11201-F351-4DEB-A962-932086F9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BDF9C3-1C45-4634-BA03-0D7FD96B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CCK에서는 이상 경보를 정비 완료로 처리하지 않는 상태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모델을 적용. 누락 설비, 관측 결측, 실제 결함과 오경보,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점검 후 조치 완료를 함께 추적하는 TS 후속 업무 설계.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70101-1EF8-4F31-B776-5A206C48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7F257-8A65-45D2-8F76-311C21D9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설비별 위험 근거 묶음·담당 배정·기한 관리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70A7E-04FD-4419-B58C-319B111C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C8125-3305-4280-A558-9F728B70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결측·상충 신호·미조치 건 우선순위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345EAB-5148-421F-8EB9-2D7B379A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03D99-B332-4882-887E-4FB53C21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점검 준비시간 / 미조치 추적률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637210-BC3C-4443-BCB8-C0C7910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철도 운영사 사례 · TS의 검사·감독 책임 범위에 맞춘 현지화 필요</a:t>
            </a:r>
          </a:p>
        </p:txBody>
      </p:sp>
    </p:spTree>
    <p:extLst>
      <p:ext uri="{BB962C8B-B14F-4D97-AF65-F5344CB8AC3E}">
        <p14:creationId xmlns:p14="http://schemas.microsoft.com/office/powerpoint/2010/main" val="1186734632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A1AC90-B70F-4B09-9577-6D050D2FFD19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BB49E1-2442-48AA-ABF8-F84989621A10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2B2D63-6872-43D1-ABD1-1F98497E3023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8A067F-B063-4EA0-96F0-7F6E1CFC5ABC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DC209D-B506-4BEC-853D-834D016353E7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1089EE-AF56-4D8F-80EA-7D7530FFE966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C07873-DD30-4A68-AD2D-FAE8FD87BDA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A4CD60-4B57-48E7-81A7-EFF1CB73CDA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63900F-C745-468C-9BC6-B164535DE6A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BA515C-9FAB-450D-AA48-EA4D0A53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AX18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DC356-634E-481E-9E01-3FA885B0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Network Rail Insight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D8315-4547-4D10-93DC-A2472D67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18BD6C-9514-4EB2-A3B7-C15B29B0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A1B37-E3A5-4C91-947E-A03729B5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C1450-4498-4EB0-B3D6-3B45446C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1A25E8-F53E-4BDB-80DB-AD5550B4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97188-269C-48A7-A452-D905832E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E0858-5DFE-4976-8B70-4EF02A86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설비 상태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FB73E-5575-4FEF-A284-B60EE299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55A3E-A961-4D82-A505-65F78526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3B377-F976-4325-8D56-323B5775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위치·고장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405C0-6392-4116-ACDC-8F41F198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A6EB0B-8B5C-4B50-A4A8-D3FCB224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B55DD4-F00C-4102-B5BA-F048A2BC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다종 관측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061231-2371-4823-8999-76920B97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4B5C9B-6624-4C31-8585-F5971B58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DA021-A73D-4DA8-BBE2-666A6530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이상 신호 결합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7B71B5-E094-4B2F-B98E-9C7CA272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475B6-920B-4889-8604-8B67F19B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0D5A20-252E-4DD9-8336-B7B7E2C8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누락 설비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B01C51-DE97-4B28-92B3-A927A92D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7D9427-FC87-4DBC-BE65-E52661E2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B7F835-B63E-458B-8CF5-A78D08CF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현장 점검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C6A931-4837-47A1-9E25-59730F3D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5764C2-B6A5-4212-B75B-D230CA05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DDF759-6D84-4D50-8AE8-D6F0E6D3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정비 우선순위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7F2432-76BD-41E5-A8FB-B5CF9DC3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F41B77-04B6-43E1-8950-6E2B3A68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F7B799-27E3-4C41-A12F-C2FA261B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결함 결과 환류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6F9D3F-341E-4AF1-A7A0-4899EBF7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A774E1-7DBC-45B8-9C5B-BB61C66F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4C2230-A00F-4CF1-B69D-4AA3337A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관측·설비대장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F7F76D-C299-4A50-8FE1-A2F40A73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B163FC-C64F-4A9A-9055-E9921085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B67017-6DA0-42CE-AB80-4F5CE278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설비 식별자 통합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8D2EE5-8ECB-4822-A221-474B7357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8012DD-5C99-48C3-BEC5-707C1237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AC62F9-848E-478F-A69A-8125A76F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상태·정비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B50C27-F950-44A7-857C-768A280A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C6A7C5-45F6-4AE4-8BC9-7EC02BAB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0EDE95-7B90-4178-A453-8448118A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설비 관리 책임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D60FF3A-CA43-40CB-BF5E-81AF5561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648276925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EB64D5-D632-4ABE-AC8B-F4213029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AX18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AED4A-AE31-4590-A137-6F610198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Network Rail Insight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8C1AA-2D60-4EBD-B670-C2A117BC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D25F3-3750-471F-8B35-F62C80E6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29A23-5B9A-4F14-B932-8F92DD5E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895234-B2FF-4238-92DE-EE7D6DDD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8BCA4-1ABC-4745-934E-FBA82CCA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415A5-2B00-4076-BACF-4090482A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5B502-DB03-4C7B-AA2A-23352EA3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설비·위치·고장 맥락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FE9108-25B7-4678-9979-619D500B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126B48-B332-45E6-99AF-EB169E33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E92B10-360A-4E78-A9FF-9576E652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 관측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416B9B-E8A6-4AA1-B81E-D792DC5E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C8D99-9885-4A53-BA2D-9925C632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FF9F6-C2DB-42E6-A6CE-23992693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이상 징후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E5D732-4112-4D65-B3DA-1997FB69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36C85-6A40-48DA-BC12-59BA42E2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FD826-2277-41AF-8D96-823B0C3B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정비 우선순위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EBCAAC-4D3C-4399-9BBF-75460CF1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237F29-E850-4C29-AE58-550B3BFD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3E804-D0E9-4632-AFED-8D5AEDD9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정비 우선순위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009CD0-A51B-4B31-8AA5-27C8E93A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4A936-009F-4726-A24F-DF71E93C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03D16A-4202-49DE-841A-3B822210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조치·재점검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F08DB0-614B-4EB6-9C66-6E009B54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6F4C1C-D01F-43C4-A807-C44D4D83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데이터 지연·상충 신호·정비 완료 이력 누락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BA3D73-1180-406F-BAAC-19C95883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EC8152-7CE7-475B-8F41-53F44B54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 설비·중요 결함 별도 평가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41A0F6-AC5C-4BD6-BC81-2B695E97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6D6D11-FCAF-4F4F-ADB3-8C3B9FC9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판정과 실제 결함을 다음 분석에 반영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953BE2-02D9-47C8-ACED-53247FDB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C8771B-4FB9-497F-8265-306D01D9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우선순위 근거와 현장 확인·정비 결과 대사</a:t>
            </a:r>
          </a:p>
        </p:txBody>
      </p:sp>
    </p:spTree>
    <p:extLst>
      <p:ext uri="{BB962C8B-B14F-4D97-AF65-F5344CB8AC3E}">
        <p14:creationId xmlns:p14="http://schemas.microsoft.com/office/powerpoint/2010/main" val="88331087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023733-96EC-4904-8F61-B6D388BA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AX18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3FD2B-513E-455C-AC3C-0CD49F89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Network Rail Insight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6B9A6-CBB4-4BDD-87F0-9431A49C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B44C8-E3BE-4678-8C95-69C411FC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33D41-1648-4667-A9DB-839EE2F8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8E1D7-08F3-4C1B-87C7-5D0AD20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ED3D6-B914-4888-B4CC-CA9657DD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여러 설비 자료의 통합 분석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정비 우선순위와 현장 조치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38ABA3-1583-41C5-9FD1-16029D8A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26E91-66F2-4671-B234-43BBE41A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설비별 데이터 품질 차이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권고를 정비 완료로 간주하는 위험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FD33F-EA30-4453-87D3-8324BA29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E8A05-5A53-4542-A020-EBDD5D10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 설비·중요 결함 별도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D9C68-2BF0-4112-AF15-04CFFD51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51867-364F-43F5-B006-63CB50FA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설비의 여러 관측 신호로 정비 우선순위를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7BAC9-7B13-4A92-928F-0457A536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9D7F4E-3313-4521-A30A-836CC551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데이터 지연·상충 신호·정비 완료 이력 누락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3034C-0E1C-4AC1-926E-63BDD690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708C64-7E67-4443-A2FE-423E4152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우선순위 근거와 현장 확인·정비 결과 대사</a:t>
            </a:r>
          </a:p>
        </p:txBody>
      </p:sp>
    </p:spTree>
    <p:extLst>
      <p:ext uri="{BB962C8B-B14F-4D97-AF65-F5344CB8AC3E}">
        <p14:creationId xmlns:p14="http://schemas.microsoft.com/office/powerpoint/2010/main" val="163275454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8E8D4D-00E1-4FF7-A38F-566CB400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AX19 / 성공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93745-1C98-44C7-9D8E-251927AE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청년농업인 특화 AI 상담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45F3A-F490-494B-8A1B-3394B4D4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5E59E-3E5D-4459-8341-E9A6D542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294E3-437D-4CF7-B9A2-267000F2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82DBB-F4E8-4754-A1C4-8D698CFD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1431F-A15E-45BD-AFB7-3FCEB26C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농업인이 작물·지역·생육 상황에 맞는 전문지식을 찾도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록 지원하는 상담 사례. 범용 질문 답변에 현장 문맥과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 확인을 결합하는 유형.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47A34-B681-4392-8F1B-C1498C90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6320A-20E2-4D88-A1A6-96B529C1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입력에서 작물·생육단계·지역·문제 상황을 정리한 뒤 관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련 기술자료를 검색하고 원문 근거를 안내하는 구조의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재구성. 정보가 부족하거나 지역 예외가 있는 질문은 추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가 확인·전문가 상담으로 연결.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A81A9-D6D9-4485-8597-0012576F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D9498-D5A1-4DD6-A30C-4FB4AEC7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업무에는 차량·시설·지역·시행일 등 도메인 문맥을 먼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저 확보하는 방식으로 현지화. 평균 정답률보다 상황별 오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류와 전문가 전환율, 실제 업무에 맞는 안내인지의 검토가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중요.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F5DF5-E678-46F4-8B63-A9BA4188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CA3DD-D61F-44EF-99C9-F7F058D8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업종·지역·자격 조건·지원 절차 사전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A52D3-D096-4B4A-915A-F5BA9385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A2E039-1AC6-40BB-B9AD-C5C832D1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업종·지역별 답변 근거와 신청 조건 대조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27FC19-2FA8-449A-8B27-EB10B814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25345E-172A-4067-AD9C-6D77E22F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정보 탐색시간 / 조건 오안내율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A76C5A-D45C-409D-8189-6CCBFA52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기관 실증 사례 수록 · 정착·소득 개선 인과효과 실측과 구분</a:t>
            </a:r>
          </a:p>
        </p:txBody>
      </p:sp>
    </p:spTree>
    <p:extLst>
      <p:ext uri="{BB962C8B-B14F-4D97-AF65-F5344CB8AC3E}">
        <p14:creationId xmlns:p14="http://schemas.microsoft.com/office/powerpoint/2010/main" val="121785460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87E8215-80A2-44E9-886A-BE058ADBE23A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4B36F57-3A4C-41BE-9950-3B069693842E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7B2343E-E4B3-4387-AA3F-60F5D57DBEAB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2B1F1FA-ABA4-47BF-B5C8-785A465B1E85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C9C8BF-9462-4E75-A7C9-A1911DE76053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B5F3E1-A280-457C-A9B7-634227DF41E0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6543EA-761B-42EE-B5EE-89BEDF0C64EE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6F5FEE-B6DB-40E6-9C51-284CB5229F29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E7916D-4ADC-4129-81B1-3B605280C71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A753D8-ED2E-47C4-8FCB-3BF1FF68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AX19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DF08D-E31A-4811-AE08-E1E91504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청년농업인 특화 AI 상담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93DFD-9DFA-4DE5-8295-E06A5AC9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420F8-B86E-41F6-9AFA-41DC00DE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1E7D6-AA35-49B9-95E4-46CC28E2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BC0A0-8AE8-4480-8193-045E9B25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ACBCC5-4476-4ADF-830B-35D38BFA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6B1B4B-B843-4E1D-B946-1249DF31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F5DC8-D036-4B75-8EFD-4C721577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영농 질의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E7B1D-BF4B-433A-A2F6-015180BC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91C21C-2C1D-408F-8EC2-DA07413B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DDACD-6D23-4FBA-A7DF-446AC7BB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작물·생육단계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F22336-4BC8-4336-8117-2F80977C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1C485C-7A0D-4F6D-A8D5-4A0EE454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6B2350-3EEA-499C-8CFA-475FC624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농업 지식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FBA8A-5B28-48DF-A79F-CF2E1B55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A275A3-3718-44BD-AB46-41F87DA2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C4668A-CB0A-42DA-A5A8-82BD1568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맥락형 상담 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5C5B70-DAA9-4564-B46E-9598E65A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7A0C9-2030-48E5-9B8F-FEC23DB5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DBFF23-D277-406A-A70E-D3FFDD7D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지역·상황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B6C0FC-8675-41F0-9DB2-A27394C0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DF1D76-77B4-4BD2-869D-694B4B67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B4D881-0CD5-418C-B626-D6EBFF43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전문가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E023DD-9AD0-4562-A17A-6A429B4B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C3852A-F2B0-4097-BA05-3624509B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671806-CF89-424F-858B-3AE2654A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원문·상담 연결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E09F7D-C5B0-486B-898C-D084A7E5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9594AE-A8AB-4125-AB07-5C2A57D4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EE41A9-D154-4B70-AC49-EE5733C9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현장 적합성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E04538-B499-4F08-9B5E-480E687D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2F3003-5166-4A96-A5E3-9476282F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1CA355-5A18-4479-894D-6B9E435E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기술·상담 자료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1D4091-9E9B-490E-B9A9-77471147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F47BAA-8007-448A-84DB-2EB32283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3B4005-C603-4507-A160-FDAF0C98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작물·지역 태깅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2885E9-1B2F-4EC6-BBCE-5DE32171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138E9C-F28A-486D-9C63-E06BEAE3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B41238-9ADD-49AB-86CD-3FB6D3A8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문서·평가셋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2A79D3-3317-489B-A459-C1D24493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DEA51D-AAA7-47FF-9D18-F294BCEE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25BDD8-DF52-44E4-8457-9F18930F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전문가 전환 기준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8DD501-0E76-4C34-973D-950A5DB9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717043664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98D4CB-E53F-471B-B499-714ABD32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AX19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1217A-6AE0-418F-95CF-B2916C28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청년농업인 특화 AI 상담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D7FDD-B1E8-43AF-B48B-9A338D88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1501D-573A-4E0E-BC6D-E32AE799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72E5CE-E9AE-49B4-ADBB-29688DCE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B0BDE-A4B0-4AF4-A720-D89DAC34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880DE-18FB-495A-B945-9DF41B6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C8535-2506-42F9-9656-B68C5DD1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FA9AA-5304-4692-845B-866A4C5D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작물·지역·생육단계·문제 상황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862BF-7C63-4702-AD24-8217E794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0F98A-F256-4D39-BA0E-C6AE4B23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327BC-AA08-4B60-994C-90E0935A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질문·작물·위치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52E7B5-2637-4ED3-9D68-DA8032A3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420DC7-A93F-41BE-A88B-40B5D61B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6F4606-386B-4387-A88C-4956C330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관련 영농 근거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AA01DE-C7EA-47A2-9D04-3C239C2A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66DA16-246F-4B9A-A590-33CF4E00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CF043A-F539-4008-B403-0F669C81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상담 답변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49A5E-8C24-43E6-8001-16904EE5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4B0C07-55BB-4795-A764-506A4009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5ECD0-3FEB-4B13-B5DF-C180950F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상담 답변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2A225-952E-43AA-8BF8-6E35D3D9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870386-20D4-41CE-8A58-1E61D882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29937B-6AF2-465D-829D-9E7587F8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이용자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89CF72-3ECA-4F16-9A48-828D6E99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7839E5-6757-4B12-9D76-3E18AE88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작물 지침·증상 누락·전문가 판단이 필요한 요청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A87D44-3BDF-4788-8859-C1DC737A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7488A3-9F20-4AA2-BF0A-BA233A34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지역·작물별 정답 및 전문가 전환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FA5645-6B41-4E15-8936-46C13310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8E624C-B585-442B-B1DA-09646E19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작물·상황별 오답과 현장 적용성 검토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94A237-2891-41A2-8B9B-F4BE613A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2149D-67FB-48EC-A96D-A8E6735F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조건별 근거 일치와 전문가 전환 판정표</a:t>
            </a:r>
          </a:p>
        </p:txBody>
      </p:sp>
    </p:spTree>
    <p:extLst>
      <p:ext uri="{BB962C8B-B14F-4D97-AF65-F5344CB8AC3E}">
        <p14:creationId xmlns:p14="http://schemas.microsoft.com/office/powerpoint/2010/main" val="1316939870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EB73F8-8737-47AB-884A-17691BDC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AX19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EDA35-D4D2-412E-9880-1E050027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청년농업인 특화 AI 상담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94DEB-3A5E-42F4-AA20-107C6C80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B0E556-0E70-4822-87DB-67383243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5F883-0AB6-4588-92C2-52BABD68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08085-9491-4040-9F51-8E5BCFFE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75197-A814-491B-A8FC-F6E2FBA9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작물·위치 맥락의 전문 지식 연결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전문가·이용자 사전 평가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3F5972-6D8F-4396-BC40-5BFDDA91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9F541-EF94-4B4D-90CA-C7D2E9A4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지역·생육환경 예외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상담 답변과 현장 적합성의 간극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7B6AAC-B5F4-4E38-BBCC-5B14C8C6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87435-0B00-44DA-AF77-7A700639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지역·작물별 정답 및 전문가 전환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0C70F9-E1C1-4F57-86DD-17267AE1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956427-7D4E-4FD3-B9A9-24BF72D8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작물·지역·생육단계에 맞는 기술 지식 안내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4164E0-581E-4973-9EDE-B967830A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0AF59-2DC2-473A-9CB3-131BD240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작물 지침·증상 누락·전문가 판단이 필요한 요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0BBBF-0B42-42C5-8CE4-F949CEF7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05474-6166-4A0A-AAFD-CA412C89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조건별 근거 일치와 전문가 전환 판정표</a:t>
            </a:r>
          </a:p>
        </p:txBody>
      </p:sp>
    </p:spTree>
    <p:extLst>
      <p:ext uri="{BB962C8B-B14F-4D97-AF65-F5344CB8AC3E}">
        <p14:creationId xmlns:p14="http://schemas.microsoft.com/office/powerpoint/2010/main" val="5969467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579B58-BD6E-4422-84E3-CC431A34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AX20 / 성공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CEE53A-0CE5-4AD4-A124-CA5C6062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K-인파관리지원시스템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EE1D0-EBBA-4B31-85C1-6BA761ED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70E54-3AEA-4537-A47C-DB184879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05462-3B2A-4977-90F1-470A83C6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C3DECB-97CC-43C3-950B-03BB8EE4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D7400-EB57-45AE-9660-C4004D3C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유동인구와 공간정보를 결합해 밀집 위험을 상황실과 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장 대응부서에 전달하는 사례. 추정 밀집도와 실제 현장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상태를 확인하는 조직적 대응이 결합된 구조.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1D6D83-9D40-412C-BFAC-A546E081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CBC55-1CAC-48D6-B5AD-1452DF75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시간·구역·행사 맥락에 따라 집계 자료를 정합화하고 GI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S 상황판과 경보를 생성하는 재구성. 경보 발생, 상황실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확인, 현장 출동·통제, 결과 보고를 별도 상태로 연결.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AE2F32-5937-4E36-B3B4-C1FB14EC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87BA6-0F47-4A8A-AE6C-28AF82DD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교통·시설 안전 적용에서 집계 공간 단위와 관측 편차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를 먼저 확인할 필요. 오경보·미탐 외에 알림 수신·확인·대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응까지 걸린 시간과 담당 부서의 인계 누락을 검수할 대상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66139-46E8-4EF7-B0F6-191AB10F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0776C-FD3A-4DFD-AE6A-9B019C29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장소·시간·단계·담당 기관 매핑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AB132-23FE-4CE7-8FA1-44584A0F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63FAC-0E9C-4F3A-95C6-DDB450FA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자료 지연·경계 지역·알림 미수신 시험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AB057-593B-45D2-BED9-31204297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6BF5E-25A3-43E2-9823-BE64B309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상황 전파시간 / 조치 누락률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B79321-C1BD-48B2-AA3B-D2E8E798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분석 운영 사례 · 생성형 AI 아님 · 사고 감소 인과효과 별도</a:t>
            </a:r>
          </a:p>
        </p:txBody>
      </p:sp>
    </p:spTree>
    <p:extLst>
      <p:ext uri="{BB962C8B-B14F-4D97-AF65-F5344CB8AC3E}">
        <p14:creationId xmlns:p14="http://schemas.microsoft.com/office/powerpoint/2010/main" val="63305364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F2B67D-17D9-4F3E-B114-24638E41102C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1E1EE0F-942F-4080-AE81-FE3CD981A0F7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3DF8698-A5FE-44ED-94EE-26F6D2A1EE06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E29039E-474E-4BDB-9F71-7A6A76ACAE88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A238A8A-A612-4CE2-85C2-690C4864EEB8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580EF0-9C43-4EB7-938C-01529587766C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F1C98C-312C-4F8F-9612-F5DC198C073D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CF70B7-6D95-413B-9338-35A75822DE0D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DB6800-29A7-477C-A0DA-39C8F6BAC99E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DF8A5D2-C25D-4977-91D9-D702BAA7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AX20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F6C5E-DA6D-4ABB-BE52-EDE7EE2A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K-인파관리지원시스템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5CFB4-1732-4428-A44F-9C1D20D2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FED8D0-86D8-411F-89A2-C740E8E7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FD836-8FC4-4FFC-AC44-4D2F90BB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79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E07FBA-1B51-406C-9D40-9BDF2660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9AAC7-B276-41C9-A98E-8593131A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F41E7-6C65-44C5-9A7C-46B88B39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67FD4-0B62-427D-91E8-18895CFB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상황실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E4F83-67CD-434E-925E-79CA0D6E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AF406-9CCE-44A1-8A91-99DA11F2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0E2B2-BA63-4B85-8C87-217B6179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구역·행사 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C98B69-8D06-4BEC-B682-10ECF15D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65C753-1E3C-41A2-BA92-A007904F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424FB-9D22-4AA2-8B70-2479FF4F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인구·공간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2BE84E-6600-48C2-8CF5-EE54E444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21564-40D1-47CA-A420-3B4935F6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45C362-637C-4C9A-AB9A-C6E7DC39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밀집 위험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22E6DC-313F-4745-A0F5-BBFD8E70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0C1075-8DBD-471A-BE23-43FF1573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4FE313-7C1D-45E8-9A5F-EDE6BB24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관측·추정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4EB7C-C3C7-4CF3-89E3-D74AFE31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18A383-F39F-4672-ADC8-9C0440C5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FBDFD9-A3BB-43FD-8B2D-ACEB5EA6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상황실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6420D8-0CDA-4E49-8345-408B4F1A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7E68AD-498B-4A81-9FE1-35412572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FE2CE6-C824-4550-AD52-47697DD0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현장 대응 알림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6835D7-7224-4E2F-AFF9-C564DE18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EABF11-3185-426D-B8FD-0FC138B3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9F04E4-04AC-40E1-A9BB-B5F87C13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대응시간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62BED1-642C-4238-90F5-3434601E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A1A5FB-B191-4676-A740-95F46EE5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8FB909-5841-48E9-BFB5-6609800D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유동인구·GIS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08682C-B612-422A-A55A-EEB9BE2D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FA963B-C857-4911-ABDC-499AE05D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2055E1-0889-4188-9473-99A6BA1C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시간·구역 정합화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DB3F80-A472-4A8E-A1EF-C3079C4E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684D52-76D5-48AE-8FED-FE9C182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410BCA-904D-4089-8B82-5A784D40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밀집·대응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26E7F4-3395-4300-842D-84C12DFF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4504ED-D172-4EF1-93D8-93D45D26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974C6D-48D9-4CBD-8591-7E887C98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집계·경보 기준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FCCC08C-6FB8-4F10-80C1-BA590BB0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237825872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DCF22F-B5D9-4162-995E-2DC91B91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AX20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227649-7A00-4B18-A57C-E5DD7AA8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K-인파관리지원시스템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C87A4C-86D1-4CAF-9897-CF7DFBA4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897D7-4D2C-41F0-9252-6531E029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013E9-58EA-47A4-8DD1-606B4864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B57F8B-1D5C-47AD-B149-DDED69CF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BC245-44A9-41C9-8C20-34E14A31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68424-D793-48A6-8B82-4A693E84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D68C2-1C17-4D87-8E6C-F2C7E36E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구역·시간·행사 등 상황 맥락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E26928-E875-4A03-8195-0A4FB81C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CF4D6-85AB-4F52-A2D0-202193CE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9F8073-093F-46F7-8698-84BE1699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인구·공간 집계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73544-89D0-43CF-9D61-526DD81D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1603B-BA47-4E9F-9247-719048F0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45AA4F-6C4E-46A6-A81F-558EA66C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밀집 지표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A7CFDC-C465-453E-AE02-4D48E834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D03337-2558-4AA5-B490-3C3D36BD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445C95-05AF-4979-959A-8AC5C704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알림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E813A7-C8AA-4F34-A48A-6E5916B3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810F69-02F7-4715-B020-69E36F16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71FE17-5BD3-4985-ACAA-BE4F272B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알림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BB78D2-2CBF-4F93-BC79-40D60426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ABAFFC-B7FD-4521-8B40-8C36FEA8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2FF9FA-A468-4C1B-9166-0E14D2BD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대응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EEEEE7-D8F9-43FA-AC2D-31BDD1AB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9529A2-2F2A-4E8E-910D-AFEB1452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집계 지연·통신 표본 편향·구역 경계 변경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4B7B40-8063-485F-8D34-084AD881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B8488C-655F-4DB4-9D82-585FD2D2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공간·시간 단위 대사와 조치 확인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675BAE-1315-482A-9EDB-B973A494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8CD9D2-F00E-4C2C-914E-3414D28C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실제 밀집상태·경보·대응시간 대조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57540C-D23C-40C4-BDB7-94F89325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F591C9-1A63-4CEC-99D8-06D6CA80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밀집상태 대비 경보·전파·조치 시각</a:t>
            </a:r>
          </a:p>
        </p:txBody>
      </p:sp>
    </p:spTree>
    <p:extLst>
      <p:ext uri="{BB962C8B-B14F-4D97-AF65-F5344CB8AC3E}">
        <p14:creationId xmlns:p14="http://schemas.microsoft.com/office/powerpoint/2010/main" val="409921127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F937F-34EA-45C4-9DE6-8521D153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AX20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78CF0-9EEA-4ACA-9CE7-41C53A87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K-인파관리지원시스템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DECBA-5D06-4B03-A4A8-6088079E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588653-DFF5-4055-9383-625B1FE7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F3D0C3-B817-41AC-8486-B96EF71A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312F6-5A93-45AD-A391-E1A4EAD67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6DC2F-21DA-4622-83DA-47180862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공간정보와 유동인구의 결합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상황판·알림과 지자체 대응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9DB8D-349D-4B51-9C8E-974CAB92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15C40-6D47-4E39-800D-4E4066E7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추정 인구와 실제 밀집의 차이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알림 발생과 대응 완료의 혼동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BEAD6-79F5-4362-A064-DF929E01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CCC40E-BB51-4C98-B6A2-508767F2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공간·시간 단위 대사와 조치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6AC97F-3662-4E49-BF1D-D74E028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0DA11E-D6C7-4A28-B052-2A93277D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구역별 인파 밀집을 파악하고 현장 확인 요청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5C543-4C10-4D5B-8CD5-590648B2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E1B033-988E-4A38-9DCC-1D3F3940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집계 지연·통신 표본 편향·구역 경계 변경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413C9B-F7F1-4CFB-A461-72FBA2F9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EFCBC9-FC4D-4984-B8CB-E3E773BF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밀집상태 대비 경보·전파·조치 시각</a:t>
            </a:r>
          </a:p>
        </p:txBody>
      </p:sp>
    </p:spTree>
    <p:extLst>
      <p:ext uri="{BB962C8B-B14F-4D97-AF65-F5344CB8AC3E}">
        <p14:creationId xmlns:p14="http://schemas.microsoft.com/office/powerpoint/2010/main" val="380060673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B4607A-627F-4333-B78B-AF1ED5B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AX21 / 시범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F0999-1310-4753-BCE7-9A44419C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항공안전 이슈 분석 AI PoC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157D3-CEC9-43AA-B934-A53D1961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B7BDCF-1EC7-466A-9539-9C4EE0AC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2BD24-E29C-42A0-A2CD-F55BE878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84A648-937E-411B-AD00-FA69468F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81A9D6-250D-423F-BB2E-26CC3876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항공안전 관련 기사에서 사건과 위험 요인을 찾아 분석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원의 검토를 돕는 사례. 다국어 자료의 번역·요약과 정해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진 안전 분류체계 적용이 결합된 업무.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3A6ECF-3198-458F-A247-93F46B88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CF6078-85BE-4CB8-9BF1-09B4B460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기사 출처·발생일·항공업무를 식별한 뒤 번역문과 원문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을 연결하고 위험 태그 후보를 제시하는 재구성. 분석원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의 수정값과 판정 근거를 보존해 분류 누락·오역을 회귀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평가.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9680F-173A-457F-B869-7E41EE4E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7272D3-D718-43EE-AF41-8B126D2F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적용에서는 기사량 처리보다 사건·시각·위험등급의 정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확한 추출과 근거 추적을 우선. 원문 대비 중요 사건 누락,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분류체계 개정, 다국어 전문용어 오역을 독립 시험할 필요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4DAC2-BBC5-481D-9535-3DF48696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8C4C2-64C1-4CC0-B123-453D197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 이슈 분류셋·근거 위치·검토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27FA2D-FA2A-4FB6-9FF6-67A751FC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0E4F83-5119-4D4D-80A4-E0A85370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유형별 누락·오분류·번역 오류 평가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54DB7-006F-40A2-9A17-8AFB3C1F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85771-FD75-4CD3-B615-0F739AA9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분류 재현율 / 검토 포함 소요시간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2BC93C-7626-4935-BAB4-B9FA295A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PoC 범위 · 운영 생산성 실측으로 해석 금지</a:t>
            </a:r>
          </a:p>
        </p:txBody>
      </p:sp>
    </p:spTree>
    <p:extLst>
      <p:ext uri="{BB962C8B-B14F-4D97-AF65-F5344CB8AC3E}">
        <p14:creationId xmlns:p14="http://schemas.microsoft.com/office/powerpoint/2010/main" val="97414128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EEEAD1-9053-4974-B10A-AFBCE044E007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41CA0D9-26D6-4F5F-8F5E-7F93A286AE33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137799-D95D-45B0-95FB-DFA0D8A0BD20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515936B-0DE5-4DF0-95E0-488F49A296E2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D8C5C3-AB54-4F94-8F5A-D73A1222A7FC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5A7173-2189-4B50-B4B3-3F1C2DFE4113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A1ED14-711B-4168-BE7A-85C8CD9F2A48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6EC01F-B305-439A-8006-EEB0F0BD8FFC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D24D2C-10B6-4D9C-B222-BACC1383925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5565119-1574-44EC-A155-FC77947B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AX21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8FDB8-B8C2-4078-8E58-1B106031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항공안전 이슈 분석 AI PoC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62390-725E-4088-95F3-A67E9E38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7AECF-AB89-4BCE-81C3-0CF59994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323C1-B5D1-4F49-AE16-ACB88567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07D4B-7D53-421C-850D-68515A46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C2B78-B6B0-4257-A449-F0D9837B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23945-7C9C-45DE-86AA-3F94EDA5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06674-84A7-45DB-821E-FA67CB6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기사 수집 접점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0575D-4636-4CD0-A21B-6A601D5C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BE8C1-CD8A-4FD4-97BE-94C9519A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B9475C-5413-4595-AE22-3FAA8139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출처·발생일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C9E70-2FB3-46DD-B0B4-CF4448A5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5E3FFB-F154-41E8-B6E4-6D465519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E719A-C039-4622-B974-75C38CB1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분류 지식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D40621-074A-414B-826D-7A883CAC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92D0B-58F4-4BF3-AD99-02682B8E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F885F0-F4FA-4BD1-878F-072E20D5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번역·요약·태깅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34DECD-6484-4468-8178-BFB09988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6952E5-BD48-4CFB-A58F-30AD5299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FA0C07-4D55-4E66-A279-74433F59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사건·등급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D6E192-158D-4224-9867-FD1DE6EF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F65654-7DFB-4C4B-9E5F-73D4FE12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9A8863-5923-4C5D-B2E7-7ABD1DD5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분석원 수정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E8596-974B-492D-ABFA-8227B280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CC2CE3-87CC-4ED6-BDFE-88972523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BEC8D0-FCE8-4EED-AB56-725316D0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검토 보고서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86F528-5A21-456A-AA77-99D283B4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7B65AE-D9CC-4D12-BBF4-32D555EC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F3F764-B8EC-4189-B030-5638DB4A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누락 회귀평가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AD914E-79C6-4852-A57F-FCCA8EB3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65217F-0FF3-4D1A-A0CB-D605D154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3D3D67-E3AC-4C3C-923D-D10BFDCB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기사·안전 분류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F3CEDC-6544-4D2E-BAD2-23C711BE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0721E5-5047-4FFC-935E-FA5958A9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9C542D-62A2-4D2F-82F9-F8D1770F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번역·판본 정리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201B0D-6911-4901-889E-A42B1151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552668-C6BE-4728-8562-032BC4FF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A6AF14-976C-4ED8-8C33-F15DB577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기사·분류 이력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454ABC-E644-4DFD-A369-D8B84E4E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F7043F-8E68-4900-BB00-43C73204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9637EB-534B-48DF-BB6E-572D1395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분류·검토 책임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4FE0F3-0B3C-4977-A9B6-BABADC6E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385978107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25C5C2-7A1F-4C77-9542-B1151929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AX21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03159-A196-40FB-8654-4B740800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항공안전 이슈 분석 AI PoC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23F2F-A33F-4165-9DDF-4E56F08B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AFA701-7BE4-4FAB-A75E-87BED5F1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6A1E4-A24E-4BCD-B9B8-EFA360D2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0D6CA-48BA-4271-8191-7197BE72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AF8C85-EF79-4D0B-938F-32B6614E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6ED71-F808-422A-A99E-92299B3E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6548C-61B8-4BA6-870F-811081AB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기사 출처·발생일·대상 항공 업무 식별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F5EDC-FC52-4336-87B0-180A93DD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F23D8-01C2-4490-AE4E-DC60D2E7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5AF91E-7242-4B63-B0D2-561FF05A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기사 원문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4FEE5B-9E58-41E2-B218-3B28CDD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600334-EDE0-4DA2-BD5C-33E49388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5A270-89DC-44C0-850D-5F2B6339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분석용 문서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37CF35-DFDF-4678-845E-41C3CF8F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DCF19-FF44-4490-A492-37A03338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CF2A72-6A80-47D0-A1E3-F7A1131A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요약·위험 태그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9D8C6-ECA7-4A1A-BA54-65EDB1A9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5466AC-CD1F-4743-BF47-138A09C4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AFECE7-3324-4BDD-ABE3-E01880A2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요약·위험 태그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6655C1-9C43-46A1-8D10-0BF2A148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10B88E-DF4E-4FC2-A992-D96D2B9E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BCA5E7-51E1-4022-8C3C-121CBA2D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분석원 수정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5F212D-88B7-4312-924C-66A7016E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1B108-FC5F-4ABF-828B-23901B66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사건의 혼합·번역 부정문 오류·분류 중복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20ED63-1A9D-42AD-9DE9-2124B9A5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286829-050B-44F2-B2D2-5EA40F2A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원문 사건·시각·위험등급 대조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3F9B5A-0DD7-43FA-BEF6-89E1D0DF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DD38E6-FFAF-41F4-9B05-4E4DC7E9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분석원 수정과 분류 누락의 회귀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80D68-5E7D-4D60-A32F-017F32BA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3CEB75-C815-42AE-8BAD-99C003F7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원문 구간과 번역·분류·분석원 수정 연결표</a:t>
            </a:r>
          </a:p>
        </p:txBody>
      </p:sp>
    </p:spTree>
    <p:extLst>
      <p:ext uri="{BB962C8B-B14F-4D97-AF65-F5344CB8AC3E}">
        <p14:creationId xmlns:p14="http://schemas.microsoft.com/office/powerpoint/2010/main" val="1056951980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0EED91-E3C4-4904-B37E-A863E143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AX21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A5074-9FB2-46DC-9F20-43076ED3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항공안전 이슈 분석 AI PoC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86F87-EBDC-40BE-8044-259B6F77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0C7E6-42DE-4FFA-84E1-450EFB0A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F7E8B-4046-4122-8588-7514AE9A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2E455-42A8-4EB7-827C-8C0B6257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FDF089-44E6-46F7-9B45-7ECEF9AE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분류체계에 맞춘 번역·요약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 분석원의 재검토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56DC20-0B74-47C3-9FE8-4F04FE5C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E06EFE-D2ED-4DC2-8AE4-FA352CF6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다국어 용어·위험 분류 오류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기사 요약에서 중요 사건 누락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272FBD-BEDC-4907-8E10-BF2FA2AA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472CE-D7EE-4451-8AF0-ABDCF0AD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원문 사건·시각·위험등급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A9C302-7BD9-4607-AA19-0D02EAD7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553951-ABBF-4E20-BC49-2B3D5BFB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기사의 사건·번역·분류 근거를 분석원이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7B2ED-D2DB-4F65-B51E-13E2BD83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C00277-E0EA-4C15-BA0C-F2AEC073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사건의 혼합·번역 부정문 오류·분류 중복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21CAD8-38AB-44BF-A0C1-E593F4E4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8D81B-C7DA-4712-A6E7-1D394783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원문 구간과 번역·분류·분석원 수정 연결표</a:t>
            </a:r>
          </a:p>
        </p:txBody>
      </p:sp>
    </p:spTree>
    <p:extLst>
      <p:ext uri="{BB962C8B-B14F-4D97-AF65-F5344CB8AC3E}">
        <p14:creationId xmlns:p14="http://schemas.microsoft.com/office/powerpoint/2010/main" val="1062783653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E1C19D-0683-4ACF-B35E-E76BA867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AX22 / 시범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E0BA3A-D0F6-4D08-97E3-40F3CFC1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도시철도 교통안전 GPT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3D426-EE5F-41DB-A934-F59398FF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4CEB9-5E56-467D-AD22-DDC610AA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D24EF-D02F-4E31-BFF7-96E1FC59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C6F23-AC97-4A10-BCFD-EE790767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844AA-87E7-4398-800A-5203BFFE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도시철도 안전 업무에서 법령·사규·매뉴얼을 함께 검색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하는 질의응답 사례. 자료가 여러 위치와 판본으로 존재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할 때 관련 조문을 찾는 작업의 지원.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72D8D-37F1-478B-BFA5-1FD9091C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AD78F-7497-482E-9988-AC69A8B5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질의의 업무·설비·적용 시점을 바탕으로 유효 문서를 검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색하고 조문 위치를 포함한 답변을 구성하는 재구성. 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장 담당자가 예외 조건과 시행일을 확인한 후 업무에 참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고하는 흐름.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1DA78E-5921-4B5B-9510-AD421ADA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A64D5-CBCE-4140-8E5E-572E1770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CCK에서는 검색 답변과 안전 승인 권한을 분리하고 개정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전후 충돌 답변을 시험할 근거. 구판 회수, 조문 위치 일치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, 예외 조건 누락과 검토시간을 TS 부서별로 측정할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94317-B03E-45D3-B418-B5E0D91D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89DF5-497D-4F5C-ACD3-6C39B18C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규정 효력일·폐지 문서·업무별 평가셋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AB08E-270A-4769-AAE9-37556FEC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6CAE4-F090-449C-88FC-A25C10C6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동일 질문의 개정 전후 근거·답변 일치 시험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3EDDE-DCEA-400B-B47D-612C6F83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AE9E72-82FA-4746-8344-CDD7ED3D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정확도 / 검토시간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0DEEC2-711A-4F6F-89B9-55E2061D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실증과 기대효과 소개 · 사고 예방의 인과성과 수치 미제시</a:t>
            </a:r>
          </a:p>
        </p:txBody>
      </p:sp>
    </p:spTree>
    <p:extLst>
      <p:ext uri="{BB962C8B-B14F-4D97-AF65-F5344CB8AC3E}">
        <p14:creationId xmlns:p14="http://schemas.microsoft.com/office/powerpoint/2010/main" val="1233524623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38DB181-C031-4354-A3B0-7C9D0D174018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EA0F85-6728-4427-9EEE-41217F0E3D57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641AE1-8FFB-4482-95E9-25BD9B1814B4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F9E64EE-0C04-493E-B2BF-F94E35502F14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11C59F-8CC9-4288-B12D-5BC73CE242AD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851C57-73E8-4C41-B13B-6FDAF7FB13FA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4D1853-65B5-4595-86B0-54E71B98EF69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16C592-0FF2-48FA-AECA-B5C932601E34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4D18D1-0C4E-46D8-A19B-966155DF3FCA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C1DD80E-830E-4322-A786-85064005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AX22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3F8D7-5B06-44A4-8EDB-0BD9B1F9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도시철도 교통안전 GPT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5E934F-3A32-4DE7-95D5-F02E7CA0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89893-0CE4-4A84-9802-D44E9E2F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69F73A-B8D5-4F07-9DD3-06397328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DF305-A2EF-4B54-BCC1-BD84B520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6B5B0-745E-464F-8B1D-C0EBFB52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6CA4C-18CA-4B3F-A844-CC52D9B9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3B9335-EF06-4471-A720-E336E7E9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안전업무 질의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F6DECB-E7E5-4777-B45D-801DAAFF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A84347-39E4-4C33-8336-8190D0D5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51DF5F-B7C4-48BB-AD37-8777BD5D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설비·적용시점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48C95-9886-4FB2-A685-71875CC4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1707B4-D53D-4BF3-8F15-33FA8342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BFDD1-09E3-4ABE-9FFA-3B4097AB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유효 조문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60597F-A899-46EC-B275-623ED4DE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EFF40B-43D6-4C59-97F4-31926F68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F4CA87-C16A-43B7-82B5-C4B7D66F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근거 답변 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FA2301-A4FD-431F-B67C-9B7EBA0D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352DC3-8536-4F4C-844B-71CB58E9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CAC5E2-AC1D-4E03-9558-7CE1E365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시행일·예외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5876EF-C25C-4CD8-A466-4D9D3F54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3690CB-6D55-47A8-B260-659E2B12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0CDDC-D663-4FD2-A07D-F818606E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현장 담당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DA16F9-123A-45C9-AA6F-FF59A797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C225B-6061-43D8-AE6D-CF4889B3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E7C4CB-C64B-4290-97BA-C95133AE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안전업무 참고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4DF098-5D85-438D-B554-D7FB2284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85A9B7-2A38-4638-96D3-FEFBAC13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2D75A4-7BA1-4F35-A65A-D8B5DDD5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구판 인용 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E843DD-C44D-41EB-AEA1-6EB7BD3E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D65F68-993B-4D0D-999D-A15CB03E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3592AB-735D-447A-9A41-8AF5F579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법령·사규·매뉴얼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7CAAE4-DA81-4CC6-9F2B-A6B4F144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548271-5B7D-4D74-BDEA-FD68AC0E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B1FE17-B353-4C2C-9B1C-B97B835B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조문·개정일 색인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5E1FC3-494A-4A98-B66C-2B061197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C1CCF0-1B77-43F4-9AF8-FA882CC1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220B6B-C9B9-4E0A-BDE0-366F3D33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유효 문서·답변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F57477-90E6-4BC6-9246-B43F2B2D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DC3CE0-371A-4496-92E0-F6062570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4D5873-32F9-4286-8654-77B8C3C9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안전 승인 경계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3D4273-5DF4-437E-80DC-033BFD4F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60722942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BF51AE-F7DE-4C63-804A-68914C1D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AX22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91D0E-0F3F-435D-96B2-2352B897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도시철도 교통안전 GPT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2C932-0E53-4F30-AC88-4591E608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2B11D-C304-4A2B-893F-889CA3B9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780EF-301A-4AD6-B634-FD016EF5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99043-B8EA-4F2E-A229-55B4165C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987A2-2129-435E-9D72-A2043830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98107-D02E-40BE-B704-89266A54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BB760-343C-4BAD-A5A5-DFABE9AF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업무·설비·적용 시점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E691B-09DC-4656-9703-806648E7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600C08-79D0-449B-B65A-A2ADA586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B1BA0-82B6-4A14-8A19-E74F0603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3F94B8-0D97-4CEF-94BD-2458D8D4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8DF92-A777-4FC2-AC68-2CBCBF2A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411457-1230-4BEC-BC6A-7072932F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관련 조문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2B182F-BD31-4B8C-8CAE-233B680B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D0D6AC-D4FA-4A3B-84E5-78803895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9B868A-8412-4483-82BB-B5E70CFF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답변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2FD72-A7FE-4D64-9A9E-475C292D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47BB9-2A64-403A-B804-E449DE7D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EF7FD7-373B-405D-A0E5-0DA6BC9A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답변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F6B208-7355-40E3-A1EA-1284E482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A89798-873C-40FD-8F91-3F49F249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13062E-F5F2-454C-AC5E-B70A937A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0AACAC-56C3-4459-8128-3AC86F13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1AEBAE-6C3A-46BF-B761-4DB6225C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폐지 규정·상위 법령과 사규 충돌·근거 부재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2DAC70-C6AA-4BAB-B80B-59B5C7EB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416029-3A46-4815-9988-F238DC67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시행일·조문 위치·예외 조건 검증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B66CD5-F47F-4C30-BDA3-8ADA6DAF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31FF5A-6978-40F1-8724-3400E372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개정 후 구버전 인용과 충돌 답변 시험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927D0A-753E-42E5-81E7-CAB150CA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112DAD-654B-4D1D-B850-78C5C642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판본·조문 정답표와 충돌 경고·응답 보류 결과</a:t>
            </a:r>
          </a:p>
        </p:txBody>
      </p:sp>
    </p:spTree>
    <p:extLst>
      <p:ext uri="{BB962C8B-B14F-4D97-AF65-F5344CB8AC3E}">
        <p14:creationId xmlns:p14="http://schemas.microsoft.com/office/powerpoint/2010/main" val="1198388750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0D01DC-CA27-4DF7-B2D6-AEAF5204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AX22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AF401-B2E2-457C-8EE7-EBE19D57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도시철도 교통안전 GPT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253C3-2CC7-4D0F-B9D1-83926EAD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39C8E-3682-4EB6-8D37-B1D78F82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0676B-8BA7-4EE7-B1B7-AF6A8CC4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89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93B8F-A73D-4EE4-B30C-153AACC5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96B318-BFAA-4D16-9653-0D4A9F19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법령·사규·매뉴얼의 통합 검색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 담당자의 근거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02960A-AFB5-4A7D-B3EF-D38113E6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23571-F5A4-4565-8729-EF426E66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폐지·개정 전 문서 인용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질의응답을 안전 승인으로 오인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702C0-BFF8-4C4E-B858-5EDCEE6C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57BD9-6DED-4E3A-BE7F-169180EC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시행일·조문 위치·예외 조건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2808C3-A346-4C5C-910C-ADFFAEDB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59C2B-DE9E-432C-AF78-9F2DBB4F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질문에 적용 시점의 안전 규정과 조문 제공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51C330-CE9D-4B5C-AF26-EE2E7AEB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F4DABD-BBFE-4B21-BDB3-A9918668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폐지 규정·상위 법령과 사규 충돌·근거 부재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EE9149-38C3-4AE4-90CD-615272CD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B1FBDF-81B1-4BAA-ACC7-850FE1D8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판본·조문 정답표와 충돌 경고·응답 보류 결과</a:t>
            </a:r>
          </a:p>
        </p:txBody>
      </p:sp>
    </p:spTree>
    <p:extLst>
      <p:ext uri="{BB962C8B-B14F-4D97-AF65-F5344CB8AC3E}">
        <p14:creationId xmlns:p14="http://schemas.microsoft.com/office/powerpoint/2010/main" val="570941657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31F7CE-135B-4358-ACE3-134B12E2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AX23 / 시범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DC96D9-91DA-4369-939B-41F9D4F0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경찰 AI 교통안전 시스템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BC0B8B-440A-4AE9-A185-DF818A81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CAF5C-6832-4B4D-8B9B-2B95F749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A2E6B-1F49-4E5B-9AC5-0165B9E5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8D755-DA74-40AC-B13B-9C64753F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7E76F-F93C-427C-A500-DBD4E963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사고·단속·시설·기상·교통량을 결합해 지역별 교통 위험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을 분석하는 사례. 다양한 원천의 시간·공간 단위를 맞추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고 현장 실증으로 예측을 평가하는 유형.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F347A-49A1-454B-90A2-954A499D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AE64E-B74D-442A-867B-C537AC36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자료를 정합화하고 결측·표본 편차를 검사한 뒤 학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습·평가 특징을 구성하는 재구성. 위험 순위는 단속·시설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개선 담당자의 검토 자료로 전달하고 실제 개입 결과를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별도 기록.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8BF72-EAB5-44C5-8487-7093EBF4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8D36CA-8394-4855-92BC-9161EAA1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 비교에서는 시간·지역 분리 평가로 데이터 누수를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막고 희귀 사고의 미탐을 별도로 확인. 예측 성능과 개입 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후 사고 변화의 인과효과를 구분하고 관할 부서별 조치 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력을 연결할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C449D-54FF-49E1-B6DD-B8BCF63E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FBD67-5A9E-44A0-ACE4-39B4B7DE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지역·도로·시점 정규화 및 개선 이력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857622-E659-4397-BF8B-AE128208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AC25C-4436-42EA-A0E7-DCC434C4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시간·지역 분리 검증과 데이터 누락 시험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53C76F-09EC-4451-8843-A4C47E68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FB499-4716-43D7-BDCF-801A32E4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탐지율 / 예방 조치 이행률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DB024-10CC-4B26-B34B-51DFEE10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지역 실증 범위 · 전국 사고 감소 성과로 확대 불가</a:t>
            </a:r>
          </a:p>
        </p:txBody>
      </p:sp>
    </p:spTree>
    <p:extLst>
      <p:ext uri="{BB962C8B-B14F-4D97-AF65-F5344CB8AC3E}">
        <p14:creationId xmlns:p14="http://schemas.microsoft.com/office/powerpoint/2010/main" val="406950650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37CBB10-E7E5-44AA-A7BF-ACD92F44FAB0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9DD7A2-0B6C-4CE2-9DEF-E5D8F4CCAD73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76686E-29C4-4ABF-BE77-005170CD78B0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2D39C3A-6C4C-4CE8-9240-6D9CCD60F868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02EA16-75BD-43CB-8A24-6F0BB9FFC6A6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D403D8-E4F6-4F54-B340-B7B05C06785D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746D4A-4215-4F33-B9ED-C6CF672C0930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934495-8BC3-41F8-8023-CF811FFD3C3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5452544-9306-4A00-A5E6-D1B59DCB81B8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0CC3585-4AB7-47A3-B675-149A563E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AX23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B9B43-BF22-4FBA-9FC5-0D6D5329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경찰 AI 교통안전 시스템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A4C1D-AB68-4C0D-A7BA-9494D1DA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E0469-4D73-42FE-B02B-96C856ED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7A8A1-1277-45CD-86B6-AEBD439C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3FB9A-ED2C-4D43-B795-8C7D9457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2E29F-27D7-49AA-93AD-57D4BAD3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78F83-3CA8-4F54-A48E-5B982754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0E98D-FAD6-4C44-B269-7BC2ECDE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지역 위험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2349E1-7068-43E3-9891-87535F4D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CE101-C7F0-4F0D-BF56-39E80A0B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4787A-C4B6-4952-BA68-99CB898C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지역·기간·유형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00254-B10A-44AE-9B4E-0BE742FE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F183F-16C2-471E-A5EA-36CC182F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6F82FA-8C2E-43F4-A6A5-7BCA4340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 특징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0021C0-614B-4590-B941-A574539C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E16721-E9D0-49A9-9554-C895403A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A79ED3-B4DA-4EDA-BBD0-79B63287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위험 순위 예측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55BE03-EF70-4A75-A65E-416E1617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E0C51-8A98-47CD-955A-C8885080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E7E31-E8B3-44B4-8EAC-E3588D7E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누수·편향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5AB5B4-DB15-4204-AF06-F5A1536A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B9AA1F-9EB3-4DDA-B5FD-ADCC88E7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A33BB8-03B6-4EBA-BF55-AC55FCEE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안전 담당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5DE04C-3F28-4EF2-8048-3830D9EC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624E45-E921-4D6A-9725-422C1E8A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C39573-844E-4DC7-9CDD-55322D4F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단속·시설 계획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C62237-67EE-4E45-94A5-134BA80B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743DAB-5CF9-4AE7-98F6-A9CEED2C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5831B2-ED52-4017-8DDE-E5D935B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지역 실증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C41A3A-76D9-40DF-B637-C8C6AAFD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D3E829-88B8-411B-9F27-C2893060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CDB938-CCC4-4446-99AA-DD2A28A1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사고·기상·시설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7DA71E-D66A-43BC-AE81-7EA830E8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A2A3EA-29CD-4DB4-AF38-1D2FC347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77A2A1-75B3-4B42-B236-1EB5F6A6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시공간·결측 정리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FD09EE-E26F-4B99-ACFB-2A4CEC73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C0CB61-289B-46A5-9273-9C2D9A9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E4A1FE-859D-4BE7-8B5C-4F6C9BAD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특징·평가 자료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61D34D-AB10-4EB7-B876-7B798BBF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F2AFE1-BDB8-429D-9EB6-3E43EA69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EC89E1-5086-44DE-9AE0-F6E6A056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기간·지역 분리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B02BB82-8A11-4B2A-A96D-47C608DD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755569710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36134F-9B74-4405-A831-FA2578A7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AX23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E3136-ED60-48DE-839F-C0EC38BA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경찰 AI 교통안전 시스템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9F566-6516-454D-BDAE-E155E6C7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2E14A-4628-4762-9517-3BBF1528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14095-DF41-403B-9FE2-18E38867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30589-5983-49EF-96F0-860BC241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3D506B-9950-4DCA-BF4F-5E408685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22B76A-1164-49C9-9BEB-0028C512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09A59-8773-4749-890F-08CA1852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지역·기간·사고유형 정의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A8B37-5C11-4446-98B0-538C4E82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DF1B2-CB32-4502-AC12-7AD2F307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112B3-CE29-4A2C-9F91-7BC75D6F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관측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3DCF4C-B298-4219-BA40-0943757E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A15A2-D4D4-401A-8EF3-9009D47E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06E1C-9E81-446E-B22E-479C730A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학습·평가 특징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01DC7-4055-4FC3-9AF4-BBC55CE8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4F39D5-7955-4F54-AFBF-B4102996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B5BF4C-3659-4472-B8D1-FA02A99D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지역별 위험 점수·평가 근거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6436A-9165-4591-8E82-894315D3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A077DF-FCDD-4D6E-9FA1-0689A430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14F3A8-729D-4315-A82E-77706731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순위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A2F519-1814-452A-9C6B-348D644E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0F2A5A-080B-444E-8165-46C7EA12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A39FCB-4CC9-4C83-9355-9D8B5BDA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현장 조치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2F2543-272B-4924-B463-715B899D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CB5A69-7E14-46C3-A001-88922763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공간 코드 변경·기상 결측·학습 이후 자료 유입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B8B241-8B7E-464F-97A8-983DB01D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4A4468-24ED-4A34-AEE1-0F2B41F9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시간·지역 분리 평가와 누수 차단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D8175-89EA-40CC-9F48-3A17ED39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357B5B-1E4F-4FF7-8AA0-11258AB5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예측 오차·지역 편차·개입 후 지표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CB303C-970D-4B77-8ED0-F3C2BD8A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7D0C7C-5410-47A1-AF45-56D748E4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시공간 분리 평가와 지역별 오차·대응 기록</a:t>
            </a:r>
          </a:p>
        </p:txBody>
      </p:sp>
    </p:spTree>
    <p:extLst>
      <p:ext uri="{BB962C8B-B14F-4D97-AF65-F5344CB8AC3E}">
        <p14:creationId xmlns:p14="http://schemas.microsoft.com/office/powerpoint/2010/main" val="1855270326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1FFB9C-62F0-4CD2-8476-8F794668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AX23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F406AB-CD5B-4B99-B244-C3B78064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경찰 AI 교통안전 시스템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3A2F4-2391-4996-A9E9-F72E1D92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654AD-1359-47F8-AEF6-C15D88A9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028C1-32E4-4ADA-8099-0E099490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DC3D1-AE05-4FD9-B5B0-0277B84F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66DF7-2ACB-470E-8D83-3E1AAD39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사고·시설·기상·교통량 결합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 현장 실증으로 위험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C6BB3-17F2-46BD-AAA6-BF3F89A8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8F309-84EB-477E-BE8E-6E744C36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희귀 사고의 표본 불균형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예측지표를 예방 효과로 환산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72591-E6B2-4DB2-8ECC-0D68CDCB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DFC999-96F7-4344-A02C-10E6DDE7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시간·지역 분리 평가와 누수 차단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FA379-200B-41FB-B426-61365BFC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FAD4E0-753D-4FEA-B6A6-F1BDAB06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같은 지역·기간의 사고 위험을 분석하고 대응 후보 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D5FAD-AB46-4D9B-A3CB-DA9E198E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592DF-C5D7-43EE-9CE3-1F65A2B7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공간 코드 변경·기상 결측·학습 이후 자료 유입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F5EA06-7BEF-44BD-A347-86AEFE23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5069BC-FC99-4BA9-8E31-E1056FC7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시공간 분리 평가와 지역별 오차·대응 기록</a:t>
            </a:r>
          </a:p>
        </p:txBody>
      </p:sp>
    </p:spTree>
    <p:extLst>
      <p:ext uri="{BB962C8B-B14F-4D97-AF65-F5344CB8AC3E}">
        <p14:creationId xmlns:p14="http://schemas.microsoft.com/office/powerpoint/2010/main" val="1560863804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AE323F-06DA-4BA1-B125-CEF33FDE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AX24 / 시범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EAF15-8076-458D-8776-A672F950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국가 R&amp;D 사업비 Risk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67405-2B05-4FC5-A252-F2E11C62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B6A871-E429-4742-A3DD-5DBED1F6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42293-DA16-4E5E-B983-59609501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6A500B-8480-484E-93FB-00FB644A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4C541-9C23-4A98-AF4E-92DDA992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연구비 집행 자료와 부처·사업별 지침을 연결해 상담·증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빙·서식 작성을 지원하는 사례. 같은 지출 항목도 사업·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협약연도에 따라 적용 기준이 다른 업무.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89D506-1DC2-4A04-8580-2475AE5E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8C96B-7F80-47A4-BC5E-72E0276F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부처·사업·협약기간·집행항목을 먼저 식별하고 해당 판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본의 규정과 거래증빙을 대조하는 재구성. 누락 서류·예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외 조건·서식 초안을 담당 검토자에게 전달하는 흐름.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6F486-72B7-4E2F-9A9A-63CDFA23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8206FC-A2C9-4582-B560-586A2672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 AI PMS에 적용할 경우 지침 검색·양식 재사용과 적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 집행 판단을 분리. 사업 변경·연차 차이·증빙 누락 시험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을 수행하고 요구사항·검수·제출 증빙의 추적에 연결할 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38117D-C449-4A68-A599-61E0B87A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F528B3-6246-46BC-89EE-F12406C0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부처·사업·계약 판본·증빙 요구 매핑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5799C6-7060-4019-A5C3-636AB2DC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4D2387-AEA3-4E69-947D-AA9E294F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유효 규정·증빙 누락·목적 외 자료 차단 시험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A1821-236C-497B-B343-40DBBEB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3CBCCE-E446-4566-9DE4-41D3E02F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보완 왕복 횟수 / 검토 소요시간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1CF0B3-35EA-4F20-8DCC-5FDAA2B2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성과 항목이 기대효과 중심 · 행정 부담 감소 실측 별도</a:t>
            </a:r>
          </a:p>
        </p:txBody>
      </p:sp>
    </p:spTree>
    <p:extLst>
      <p:ext uri="{BB962C8B-B14F-4D97-AF65-F5344CB8AC3E}">
        <p14:creationId xmlns:p14="http://schemas.microsoft.com/office/powerpoint/2010/main" val="1613739430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732E38-04C3-4F73-BEFB-783741B1029D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5C127BD-F320-4C5F-9794-8C169BA012C6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A7EB764-6EE6-4672-B906-667E0862344A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226494-0EFD-4A0E-85F9-38A5333E7E4A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04E182-E04D-45E3-8151-9E89A5014C33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221C320-4ED1-4484-BFCD-AF09D9F2B915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C16DA37-668C-4A57-A37D-C9A0604FCE45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9ED505-D2D4-4D4A-BC08-3134A317BB4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205FBC-D3C3-4F60-92DE-ED3121F7BFE1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E827C12-7B2A-457D-95B7-0DE190DF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AX24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DBFE7-B00F-4D1B-A5C9-618FF7C8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국가 R&amp;D 사업비 Risk 지원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9468D-B028-44F6-A557-530362D4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9A6BE-F25B-4BA6-B7F8-1D519E09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C9481E-8F62-4C39-A892-44B32D77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16D56-7BFD-4F55-99AC-C1EDE587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C02F4-7090-4C31-AD7D-EFF03125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DC527-EC15-4EEE-9A08-F250E94C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5A04E1-B950-49B2-B537-466E0843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연구비 질의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FA4C4-833E-4FC4-87BF-2ED166C3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695010-E931-45F8-8CC2-BD638F8A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958D7-565E-4D33-AA59-7F5B4954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사업·협약·항목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8A98CC-3696-45BD-9816-EA020A9B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56100-4505-4393-8328-95C6331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872F3-9829-47A9-9E16-5C0D22C6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규정·증빙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CFC090-25DA-4014-A3F8-680E9F7A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CAB219-9869-42F1-B917-E32FFB39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0FBD92-B264-4558-9C18-943DBF56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조건 비교·서식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6474D5-ADFF-4059-9BA7-ADF67B7D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A90415-20A7-44D8-91C5-00911CC6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4A8500-95C2-47F2-8F74-0ED9C71C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판본·누락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DB5879-770A-498A-874C-608A25E3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909345-924A-47DA-A450-3242112B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E55AE9-A258-465D-8164-FFD7C0F8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기관 검토자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CFD16E-D525-4AC5-9EB6-C8AD5714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851777-4C2B-4924-BD42-16F83A22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BACC64-70B1-46C7-AD5A-5B83CB58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보완·집행 검토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786217-255D-41C1-86E6-D15154D1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D1AF5E-69AA-488A-8CC3-14C90D3E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80B0F9-3D4F-4E7C-8F53-962E7CCF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오분류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77C07C-1BBB-41B7-BC84-4206E003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C739B2-7BAB-4FB9-83D2-5BB4C179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A13C6D-25DB-4E95-BE36-4841B0A6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지침·거래 증빙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AF249F-FB95-4ED7-ACE5-A955E7E7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14B2C4-5E75-42C0-87D3-2011AB5E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6878E5-3A2B-4263-B6A1-781025E8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판본·항목 연결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99C530-DE1F-47A3-B7C7-1A60BDD5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E9FF4B-B095-4A10-A7BD-48F7F2B3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A04B5B-7938-4ED2-8F9A-9D3A52E6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집행·근거 기록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38C08F-9563-466B-BDDF-8FB997A3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FB29AF-9E21-4C40-A1B3-99052B62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FDEA0D-A4A2-4EB6-A63E-F243FC82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사업별 집행 기준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F09C027-C391-4E2E-B7F5-A3D10979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293061720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037362-B5C9-4061-9923-E3E08DBC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AX24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C503C1-0CEF-499E-9566-24A29F8D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국가 R&amp;D 사업비 Risk 지원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BA044-4CFB-45D8-A961-BF7E3062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363B4-34CF-45AD-BF6A-CC3E0BC7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FB2A15-13A8-4EC0-9B87-88F79DB6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6368D-114D-4D28-A500-1CF23C11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772C3-54F6-4F75-B93F-67CE8ECB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2E09E-0FD2-43CF-9F80-16221B03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F9079E-AA96-4631-95E1-29ECEDA5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부처·사업·협약기간·집행항목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4FF6E-0365-45F4-80FE-10C4A606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0CED6-69F6-48BC-93CD-51C7CCF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1364A-2BF4-4632-A8A9-E184DE84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집행 내역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EAB2FE-71C4-4D64-820F-5BF39CBB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7C1E7-65D0-42CC-984F-CAA33E0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F5BC4-F05A-4DFC-AE02-2CAE1639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적용 규정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BAD3AD-AC86-476A-9CC8-BB5D7407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9F748E-CA0F-414E-BCA7-A121C9D6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A8791A-8294-46DB-BB44-BED89022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서식·증빙 목록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128091-319B-423E-9C8F-1F7DFE55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07758D-BF96-44B5-A804-8F8B3F1D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55F1AD-5FD8-46DE-A49D-F4B91650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서식·증빙 목록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F49BCA-3B47-4C3B-B110-05EA0C70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5294ED-BFED-4981-9614-20529159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3C68F8-2816-43FF-80C2-A7D4C744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보완·검토 결과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B922E4-E604-4958-9A4B-E3CF5EFC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604804-3124-4BD1-83F5-BCBD87E5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부처 지침·기간 외 거래·중복 집행 증빙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7B70A3-31CD-4586-A8BF-BCFE91CA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C9C2DC-03E0-455E-B129-62E469B7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사업·판본별 의무와 예외 대사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A49733-2BE9-4DA5-96AB-A2587572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A81FC0-956F-419C-8016-0C05D5AD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오분류·증빙 누락과 검토 결과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5225B5-0966-4B69-AB48-FB4D25AC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43F8F5-35BE-4F2E-9FE2-824F1901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요건·거래·증빙·검토자 연결표와 누락 검출 결과</a:t>
            </a:r>
          </a:p>
        </p:txBody>
      </p:sp>
    </p:spTree>
    <p:extLst>
      <p:ext uri="{BB962C8B-B14F-4D97-AF65-F5344CB8AC3E}">
        <p14:creationId xmlns:p14="http://schemas.microsoft.com/office/powerpoint/2010/main" val="907209358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A4771-3790-4E0E-A136-CAE9AE59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AX24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A8D50-52D7-43A1-A456-A552D4C9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국가 R&amp;D 사업비 Risk 지원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E97BF-B711-4F32-9A4D-134F0557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6744E-5387-450A-BE99-CF8DE969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767BD-ACC0-4FA7-A7F4-A50A848B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D408B-F6EC-4F88-B93D-3D690333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870E0-C629-42A0-9841-F2DE02B8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부처 지침과 집행 자료 연결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서식·증빙을 검토 과정에 결합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0A718-278E-4B57-9FA6-579C1E8D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BBAB05-53EC-41E8-AED1-CEA06B1E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부처·연차별 집행기준 혼용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서식 생성과 적정 집행 판정의 혼동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007E5B-D0C7-42B3-9EA5-A90D8084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5F277-C37B-461A-9866-53489D65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사업·판본별 의무와 예외 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38A9D-A083-431C-BD0E-C3781BAC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ED0B11-1EF5-4733-BE21-796BBFF8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부처·사업·협약기간에 맞는 집행 조건과 증빙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C5EF70-1C63-4E0F-AC78-F5EDD441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E01F5-D18C-47DC-B875-56EC756F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부처 지침·기간 외 거래·중복 집행 증빙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0624B4-8410-4B69-82CA-74B7591E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86C3AD-1EF7-4CD0-B016-6A9F229B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요건·거래·증빙·검토자 연결표와 누락 검출 결과</a:t>
            </a:r>
          </a:p>
        </p:txBody>
      </p:sp>
    </p:spTree>
    <p:extLst>
      <p:ext uri="{BB962C8B-B14F-4D97-AF65-F5344CB8AC3E}">
        <p14:creationId xmlns:p14="http://schemas.microsoft.com/office/powerpoint/2010/main" val="1457812194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8CB3EF-2B21-4DA3-B54B-6546C27A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AX25 / 시범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0BCCD-53AD-48AB-8347-53BDD30B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조달청 e-제안요청 도움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BF2FAD-F3CD-4DCD-9EDD-534C8320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A3EE0-4CAF-49C6-895F-F3886F77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3E0499-B69C-40A2-86B6-384448E1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4AE20-F1C7-4EAA-BE1C-7AA33B73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F02D8-8AF0-45D1-A13E-1808793E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기존 RFP와 사업 수요를 분석해 목차·키워드·요구사항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초안을 만드는 지원 사례. 과거 문서를 재활용하면서 신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규 범위와 기존 의무의 중복을 피하는 작업이 핵심.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C1126-CCCD-4EF0-8DEC-039E630E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71185-A26F-4005-A48B-AEE218E1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 목적·현재 시스템·추가 개발 범위를 입력하고 목차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별 요구 후보를 구성하는 재구성. 담당자가 출처·누락·중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복·검수 가능성을 확인한 뒤 요구 ID와 시험 항목을 연결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62150D-75EE-48D6-9836-83ACFB85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590E79-00BD-4710-A3CF-EEDE34FE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CCK 제안·사업관리 스킬에서는 문서 생성보다 근거와 요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구·검수의 추적을 공통 기능으로 활용. 기존 과업 복사, 빈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검수기준, 법령 판본 혼용을 포함한 검토 시나리오 필요.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FBB299-1D0C-4A19-8DE7-81E232E2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7579C-64D0-45F7-9CBD-8EF30B19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요구ID·원문·산출물·검수의 누락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FF8D58-33E7-4E56-B9BD-0B2A95ED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CB662B-C0CD-4D97-A240-EA9DB6F9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누락·중복·상충 요구 및 근거 없는 성능 목표 탐지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3EA4A5-599F-42F4-9F00-4CFAD263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DE389-7E91-4B89-98A7-D8FC4E50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작성·보완 시간 / 추적 누락률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0A82B-7E0F-41E6-9CFB-3231C726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작성 지원 범위 · 요구사항·예산의 자동 승인과 구분</a:t>
            </a:r>
          </a:p>
        </p:txBody>
      </p:sp>
    </p:spTree>
    <p:extLst>
      <p:ext uri="{BB962C8B-B14F-4D97-AF65-F5344CB8AC3E}">
        <p14:creationId xmlns:p14="http://schemas.microsoft.com/office/powerpoint/2010/main" val="161598162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E2DE6B-18B8-4DA7-AFC1-48B7165B08E4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943242-BFAA-44B8-90F2-D47DDE1F9D6A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CA7182-2D3E-400C-9BAC-618907D80B9E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DD8989-FF19-4420-A9C0-02F3183F6BD4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C5E91D-3122-4AFC-B45C-F927B1C6DF63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70DFF4-1042-472A-9B03-D9D1CB2B8C2A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12809B-3C1A-4527-A689-2FB5E09CD8A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CF9826-1F17-47FF-9FFA-3347194A27A3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CCDA4B-6DD4-43BC-82F4-5ABAC86CA005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AE9B5D-E390-4953-A074-1B8C9369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AX25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1416C-6BDC-4001-B6D3-0F525403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조달청 e-제안요청 도움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BCBE8-4B55-4FE7-8BF9-D4CC0DC0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98825-693F-4CC7-88B7-3FDF024A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6283FF-3C59-4ED8-A1EF-F7C74238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244D3-BBEF-4A20-B8E9-0F151CD0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CD6984-84ED-4916-8560-1D2E03E0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D77E89-407B-487B-A934-C7AD5435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ED509-C336-49C0-B854-C7E35000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RFP 작성 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8FC62-A99C-402F-AFD5-0F3CFE87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9171A-391E-4B6E-9DA5-D874585C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01EFAA-248D-437F-868C-EE388B2F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목적·범위·기존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31A4CD-77DF-418F-AA78-F6A8AFDE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415785-07B2-4CEE-B5D1-EA925BB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90C52-258A-4EED-AE81-AA911D54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지침·요구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98943-2D59-46A4-B886-23C56C0B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2524D8-A158-495F-9A0A-95506DE5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14D1BF-57AB-477B-BD49-05CCF69B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목차·초안 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7C318D-2A2D-491F-BD24-266BA95A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E25AA-1915-4C09-B3D6-03E84FD4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57DB83-5659-403E-9ACE-CC832573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중복·누락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68E4DD-EC39-4D03-9174-A37BF2B2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9F7A9E-4CDE-4618-BA06-BE9BE83F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E53BB0-16C4-429E-B67D-2B0B8E27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발주 담당 검토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7D48BF-6675-4F7B-B317-7731B3F5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254576-C868-4FEF-B100-F5407820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1B35BB-9B7C-43FE-81BA-BC571B1B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요구·검수 명세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AA2856-835E-4798-ABF7-843B547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40E03F-4332-4C8F-85DB-6456FECC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AF9A72-80BB-4AAA-9D78-59F67A7D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변경 추적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E3B476-C5F6-4456-85DB-BCC23010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447F0B-4220-45C8-8E68-F903B9EC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710D7D-DDAE-4F4B-8EDC-32D3825D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기존 RFP·수요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C5F395-CB32-471D-94E8-E3F2F942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35BB6B-9829-42F8-A7EC-B746030C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C3CC82-6874-4D6B-965A-681171AA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목차·ID 구조화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BD7A91-6AFF-4BA0-906A-62F90915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8C8B2E-DFC0-4D22-A1E3-CFEE5E89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9A08B6-262A-482D-AB53-F05425DD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요구·검수 원장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7B23ABD-888E-4D8C-AE30-1D95449F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222225-DB1A-4E5B-B038-FD9097AC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AB32F1-BE1F-4416-AF33-28BF73E4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기존 의무·범위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6A257C-1E99-41A8-A055-CED2E7EE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921233362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EF2A82-AD8C-43F8-9D39-61863BCB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AX25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18486-CCE3-4609-88E7-0755F83E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조달청 e-제안요청 도움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079A0-C18D-4FFD-8E1F-441E5A1F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663D1-DD10-4EB7-BD12-462B59A0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10BA3-DD4E-4874-9D37-C71AA644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E26B9-E968-4932-BCA4-F6D4A828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D4E08-1324-4B9A-937E-0972892A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8C5E1B-3C74-48B1-B47F-70CC86A5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76D19-BC36-4A42-9EAB-4184FCF4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 목적·범위·기존 시스템 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BDCF6-E482-430E-A10F-7D035146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17854-1546-4AB7-924E-6875B27D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1072AF-3F71-4CD1-8129-F0E6CBA4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기존 문서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2C33F-458F-4FF1-AC3A-D01E773B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099BB1-AAAD-4D7E-81B7-495A2416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0EEFF6-446B-48E6-A906-774336F6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요구 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3B05C5-8A95-424E-AF35-4244CB49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851A37-F192-483C-98BE-D7A5CF22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03A106-A0CA-4C62-8AF6-0654B799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검증된 목차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CCCB5-1F08-45D9-80B1-B9421DA4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1EB307-2838-4C47-8D99-98D221F0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1498DE-B3AF-407F-8A83-527CF3F0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검증된 목차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1AF0F4-224E-4FA8-90D6-EDA71DDD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431074-4E1A-481D-82A9-1F77697F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6FC60B-7B71-46D9-B08A-42E0DA1E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RFP 초안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A85917-C08C-4935-97D8-3B5510E5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81CAAF-CD83-4CCA-BFCD-9886A58A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기존 계약 중복·수치 근거 부재·검수 불가능 요구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44F9F8-03AF-4B19-80D2-854129AC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AEC77D-34DA-47D5-9FBD-0743EFE7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 범위·기존 의무·검수 연결 확인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F4F818-8629-4A84-9026-6D3AC6E8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6F9777-9250-45DA-8F6E-6847BD90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수정 이력과 요구사항·검수 연결 누락 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5C25F1-6217-442F-BC9C-9C2065C2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A7340B-121A-4680-9700-4538FDA1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요구사항별 범위·출처·검수 연결 및 담당자 수정 기록</a:t>
            </a:r>
          </a:p>
        </p:txBody>
      </p:sp>
    </p:spTree>
    <p:extLst>
      <p:ext uri="{BB962C8B-B14F-4D97-AF65-F5344CB8AC3E}">
        <p14:creationId xmlns:p14="http://schemas.microsoft.com/office/powerpoint/2010/main" val="1161737972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E6F4F6-271B-4889-BEA6-8385AEE3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AX25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803A8-91ED-4806-8FB4-87B55B94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조달청 e-제안요청 도움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A3BB5-54F5-4547-B5A1-D224F31C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657F8-2BB8-4FE8-B720-AA644FE6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D55C4D-AC04-4ABE-A1DE-BCF7D92C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FD2782-EAC8-451F-8FA3-A009E16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CDE29-1D06-4DA1-848A-93B92C0E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RFP 목차·키워드의 구조화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사용자 검증을 통한 초안 구성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93A1E-AFB0-42E8-8C79-B9AED240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8CF4D4-1B57-44A1-A324-3581655D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과거 과업의 무비판적 재사용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필수 요구·검수 항목 누락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5FE25-968E-4A21-B4E5-6447A8C4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48BF5-137E-4ECD-94A4-A03D9440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 범위·기존 의무·검수 연결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58B3E-280D-49D3-8116-4EFF503F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4A68B-C20A-4E1B-8457-3539D489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 범위에 맞는 RFP 요구와 검수 초안 구성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5DF12-896B-4BED-B56D-E10B23D4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2141CD-D551-4085-8E07-CC7B4B6C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기존 계약 중복·수치 근거 부재·검수 불가능 요구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7B19CF-8F2F-48DE-B3CC-E0F03D54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C09945-9800-4DF7-B86E-5EC248D2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요구사항별 범위·출처·검수 연결 및 담당자 수정 기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</p:spTree>
    <p:extLst>
      <p:ext uri="{BB962C8B-B14F-4D97-AF65-F5344CB8AC3E}">
        <p14:creationId xmlns:p14="http://schemas.microsoft.com/office/powerpoint/2010/main" val="1150049646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B2EE94-E559-4152-9535-F1EAF934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AX26 / 시범 / 국내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0395-219D-4590-986C-B3A9CDE9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교육행정 응대 AI PoC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1AD19-78E7-4D7B-8889-109E550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D4257-F9FC-45AE-83DA-6A9C31A6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65915-224B-4397-A751-DC78C9E9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3CB12-70E9-4994-A32C-FEF62BCD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추진 배경·대상 업무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06BC4-F561-42E5-910B-09109FC3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340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학교급·학년도별 학교생활기록부 지침을 교직원 질의에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연결하는 사례. 같은 질문이라도 적용 연도·학교급·업무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상황에 따라 근거가 달라지는 규정형 업무.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85B40-02FB-4AAF-98D4-C821ABFC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구현 방식·업무 변화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7F0181-0238-47DC-9F6C-A7DF3486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1475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질의 문맥을 확보한 뒤 해당 지침 판본과 페이지를 검색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해 근거를 제공하는 재구성. 답변의 편집·검토 과정에서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도 원문 페이지와 적용 조건을 함께 보존.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AE4C3-53E1-4481-B70D-53CC9A3B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관점의 시사점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466BB1-653B-4218-9764-0479D1B2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5"/>
            <a:ext cx="5238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TS 조직 네이티브 AI에서는 소속·직무뿐 아니라 업무 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상과 시행일을 검색 조건으로 추가하는 참고. 연도 혼용·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 혼용·예외 조항 누락에 해당하는 TS 도메인 시험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셋의 별도 구성.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BB776-1A16-4AB6-8C0B-7E133998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AD3B7B-381C-4B60-9E65-48917FAB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직무별 검색 필터·출처 페이지·오류 피드백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04DC8-5FF1-478C-87C0-ABF39805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957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3C1DC3-7DCD-4F11-A56D-898F27C2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부서·직무 변경 전후 검색 근거 대조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D7ACF0-C17C-4FC8-9F4A-78B74629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578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 지표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75933A-76EA-432B-91BD-D1A4C270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02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일치율 / 보완시간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2FAA12-0C8C-4CC1-9F25-20FEA721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선정 문서·업무 범위의 PoC · 전체 교육행정 자동화와 구분</a:t>
            </a:r>
          </a:p>
        </p:txBody>
      </p:sp>
    </p:spTree>
    <p:extLst>
      <p:ext uri="{BB962C8B-B14F-4D97-AF65-F5344CB8AC3E}">
        <p14:creationId xmlns:p14="http://schemas.microsoft.com/office/powerpoint/2010/main" val="1212540307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FDEB005-570C-49ED-8FE7-EBEA6EBD3BA7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9817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9B4BE5-839D-42FA-8531-1298BB4AC36C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162300" y="525780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A8A65"/>
            </a:solidFill>
            <a:tailEnd type="arrow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4D5CE7-C5B8-4C10-AEF8-69FD2143EE2F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1623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BDE826-76B9-4045-99EB-D6722BC82FBA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9817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695903-0897-4466-A37A-25E28A6F1959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801100" y="3819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349E0F-2F69-4107-84BA-BE12FFF54A2E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325100" y="29146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DD073C-580B-4447-96B5-2CF99CCC46B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8011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0082D2-31CD-442C-ADF7-6C98405EADB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817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2A381E-AB34-4EAD-99C0-E7469FE48DF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62300" y="23812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2634B"/>
            </a:solidFill>
            <a:tailEnd type="arrow" w="med" len="med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D7C888-5CE3-4788-A190-24FF4B38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AX26 / CCK 세부 재구성 · 논리 서비스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B2A8F-92B4-4F20-AFD5-7F13F974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교육행정 응대 AI PoC · 세부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6F6BD-FB98-4D07-B516-87098BC3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3A333-479C-4ED3-8E64-1CC071F8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EABDC-952B-439D-9EE0-15201D74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1A017-3B9F-45F7-A455-6D72B4CA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운영기관·공급사·감사 자료의 업무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66AE6-8DC9-4A68-A961-5B87C9E9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90846-D5B4-42DC-B1D7-82DB8779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C01 / 이용 접점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74FE0-E791-4780-A530-1BF88D14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교직원 질의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B1DCE-5A58-4255-BEA1-CA2D11FE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724964-1247-4DF8-949F-8EBB613E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C02 / 업무 문맥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C9243-FA2D-4F51-AF84-3DA2C230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학교급·학년도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5121A-6365-474E-9CA8-9FC8F434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6D35E-01AB-4F39-AB58-8C7ECDCF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C03 / 자료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A6032A-356E-45EB-ACFE-3C0CB096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유효 지침 검색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00CFFB-9DF8-4BE7-906E-9781CAE4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4785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82204-7DDF-4DE9-BF84-0FDC1922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6215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C04 / 핵심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D90E2E-C9DF-4BB4-840C-7B437536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145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근거 답변 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97D6ED-90CE-43A2-A3C7-064B6634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73775-25D5-4CBD-AFC8-28961F43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C05 / 결과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06375C-57FD-4E80-B41D-00B9AE48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페이지·예외 대조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A3668C-5BE3-4BAF-8317-3E36A8EF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A0EB9B-CA03-453A-9DC3-84D9685B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C06 / 사람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E231EF-48AF-49B5-8A47-6E749463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교직원 원문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3B26C6-9AEF-43A9-80F9-426833B8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7E66C1-C74D-4572-B27B-EA06AEAB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C07 / 업무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A56898-934E-4B19-9317-C67D4A96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행정업무 적용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DA787E-CE18-41B1-B062-39C4E282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C81B84-47AB-4AD3-AFE7-470E69D3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C08 / 운영 관측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68F822-0564-40D5-A827-21A38A4D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연도 혼용 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4D808B-34CE-43C1-908C-64660016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C3DB47-6FE1-4B02-A14B-94D461EF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C09 / 데이터 원천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B30FC-D49D-4BFE-A0D3-CBBAB709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지침·질의응답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9CA701-A8FC-4D8A-9659-50AC3C6D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22F594-B6DA-4433-B3BF-A1715B4B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C10 / 준비·갱신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EE0DC5-7BA8-4789-B8A3-BD950D1E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페이지·판본 색인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160FDA-72B6-4B22-A10A-402E0013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6E8F0F-2FDD-49B8-B69D-19A1FA23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C11 / 상태·지식 저장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1803AB-FF37-4612-BEDF-3287A0A7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지침·평가셋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D83E3E-8E50-4A2E-A7B6-AE7B824F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24400"/>
            <a:ext cx="2590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ED"/>
          </a:solidFill>
          <a:ln xmlns:a="http://schemas.openxmlformats.org/drawingml/2006/main" w="9525">
            <a:solidFill>
              <a:srgbClr val="D4DD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B9095A-4FE9-48E4-B97C-542C79D4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324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C12 / 권한·정책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E0A0D1-D00D-4222-BB6F-24323DDB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학교급별 경계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E8950D-8FCF-4EC4-AF3B-06604200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데이터 C11 → 조회 C03 / 정책 C12 → 문맥 C02·검증 C05 / 결과 C08 → 운영 환류</a:t>
            </a:r>
          </a:p>
        </p:txBody>
      </p:sp>
    </p:spTree>
    <p:extLst>
      <p:ext uri="{BB962C8B-B14F-4D97-AF65-F5344CB8AC3E}">
        <p14:creationId xmlns:p14="http://schemas.microsoft.com/office/powerpoint/2010/main" val="1543044013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47FE-7787-4C7D-B96E-D6A96E1E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AX26 / 논리 인터페이스·복구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B668E-6722-482A-AD90-6D58B33E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교육행정 응대 AI PoC · 데이터와 예외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B508B-CAED-47E8-B768-274D5F62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3DA20-D3AB-45CC-8C46-704C39AA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487B3-ED70-4D94-9D16-A77C2A02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8D918-5DD8-4793-A0A1-CD4C8967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요청·처리·결과의 전달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D68764-C3CE-40E6-A5B1-BF803A21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예외·복구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743D13-45A3-44DA-B48C-4E3DDE10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IF-01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95948-B2F0-4D50-9015-0ABB4DED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14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학교급·학년도·업무 상황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38E8A-A4D6-4EF9-996A-5D8EB59B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765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215049-DF5C-498B-8D65-37D2AACD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IF-02 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6EBEA-8477-405D-B8DD-8C7EFA39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432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학교급·질문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B6001-E022-405F-9B3B-E9275422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51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03EA88-8DD9-4450-B214-5FBF7A0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IF-03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22A68-0495-47EC-81FB-3269EBE6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71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관련 지침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A339B-58B8-4745-BDDC-B18304FF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496CDA-BB8F-4E4C-A28C-D302FEA1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IF-04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DEC54D-5EB0-44E1-9FB2-20F5B43B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페이지 답변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7823AB-4D96-410A-8669-5E21B28D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C40457-4FA2-4040-AA03-4DFBDE1F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IF-05 검토·인계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B693A-5E5A-44AE-983B-FC89326A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페이지 답변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0F6308-A6F8-4A96-AA25-9AC9FA62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21BF65-F9C7-40E1-848D-C3954507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IF-06 결과·환류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6FD415-C746-4951-B903-064C9CD2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검증·보완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4950D6-7E61-42B0-B55F-A5045B2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145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858A1C-1D34-4B69-9BF3-F8CB9C3E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6697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이전 학년도 혼입·예외 조건 누락·원문 페이지 변경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74ECF2-CAF0-4C6A-8D37-BD4256B5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보류·확인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1CEFD5-C334-4F8B-BDDE-7104A452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학교급·연도·원문 페이지 대조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301326-76EE-442D-921A-E186C052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보정·재검증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AEB192-41D2-4143-9F1D-2814DA71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91025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학년도 혼용·예외 조항 누락의 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928EF0-7859-481F-895E-5DE0D975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006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종료 증빙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219885-C88C-4A04-BFCD-440C1866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353050"/>
            <a:ext cx="5286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학년도별 정답·근거 페이지·예외 적용 대조표</a:t>
            </a:r>
          </a:p>
        </p:txBody>
      </p:sp>
    </p:spTree>
    <p:extLst>
      <p:ext uri="{BB962C8B-B14F-4D97-AF65-F5344CB8AC3E}">
        <p14:creationId xmlns:p14="http://schemas.microsoft.com/office/powerpoint/2010/main" val="512196122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038A5C-ABFE-400E-A2FC-B118F88E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AX26 / CCK 비교·재현 시험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DD8A29-3FE3-4F3B-AE81-A4A904FC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교육행정 응대 AI PoC · 벤치마킹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32BB54-9BFB-4228-9493-BB421830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ACE68-BEC2-4847-B28F-6F2970FB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91E75-01CA-46A9-A83D-3CE1DF83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3D116-F7BF-413E-97CB-BA145247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성공·성립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729CA-5E45-4B93-9BE4-CDA65DB9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6217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학교급별 지침의 분리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답변과 원문 페이지의 연결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00300-8455-4908-B381-E786778B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실패 위험·한계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F09EC6-5B3A-4E52-8E06-4604A8FA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52387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학교급·적용 연도 혼용</a:t>
            </a:r>
          </a:p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유사 질문의 예외 답변 누락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003608-51B6-438F-BD34-BA244752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통제 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3FFB1-9AD8-4878-A3B6-1013A242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5238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학교급·연도·원문 페이지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393AD-4AAB-403A-9970-44BB250C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정상 과업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FAB76B-8C2F-4B42-B47F-5DE85C7A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62175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학년도·학교급에 맞는 생활기록부 지침 안내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EAE86-D8FA-485C-AFC4-53498720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8612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예외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D82D2-69F2-468A-BE51-BA8F29F6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이전 학년도 혼입·예외 조건 누락·원문 페이지 변경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F773F2-217B-4DA4-B09B-9AF4A8FE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판정·증빙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D1645F-4DFE-46DD-BB03-9506F921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19675"/>
            <a:ext cx="5286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학년도별 정답·근거 페이지·예외 적용 대조표</a:t>
            </a:r>
          </a:p>
        </p:txBody>
      </p:sp>
    </p:spTree>
    <p:extLst>
      <p:ext uri="{BB962C8B-B14F-4D97-AF65-F5344CB8AC3E}">
        <p14:creationId xmlns:p14="http://schemas.microsoft.com/office/powerpoint/2010/main" val="1264011035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5061B1-BB35-484C-B385-E694601F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ST-01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38E623-6381-4582-9018-8FB2AC38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지역·취약계층 안전조치 근거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2B7F3-7544-4975-8AD7-794651A3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8FDAF1-6622-4010-B89E-200D3529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2D816-422D-4B07-BE1B-76A79586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4F497D-D4A4-4436-A3A5-D41D47C5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사고취약 수단·계층 정밀 안전망 구축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AB691-76E0-44BD-A7DA-F0D8B6DD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9F559B-806F-42D3-B24E-1710C629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교통안전처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AE9BB-C4F3-468B-828E-57A84AA8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운수회사 안전관리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86884-FCCA-4194-BE72-3658A39F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5. 교통안전수단점검에 관한 업무 총괄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7. 운수회사 안전관리 및 교통사고 예방사업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630BC3-2E61-4CB9-BA20-DE8D197D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8FD5A2-2D13-4E2E-9B84-B841C927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실증사업처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7959DA-4984-4106-96DD-11C3805A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교통시설·사각지대 점검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90DAE-9747-4FD7-8732-151C264A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7. 교통시설 안전진단ㆍ점검ㆍ평가에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9. 교통안전 사각지대 교통안전점검에 관한 업무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E24414-98C9-429C-A3AE-D3AB722B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EFD16F-23BC-49DA-97F9-A7FA7400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데이터융복합처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FB328C-14F1-4885-8F3B-DB48D8E0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운행기록 분석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A2DAB3-9518-49CF-B66A-15C858CD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운행기록데이터 관리·분석·활용 및 정책지원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5. 교통안전정보관리체계 운영에 관한 업무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C2375A-7790-46B9-AB29-A9480A7A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92C1DF-05B1-47C4-A3EE-5FA55D76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모빌리티연구처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25188-4A44-425F-9BB2-86E0D60B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교통약자 실태조사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BBC31A-247D-4347-A61C-AEC0337D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23. 교통약자 이동편의실태조사 및 자료관리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FEEE08-9543-4C45-807B-455B42F5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54735715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09544E-1819-49FD-B18D-DE0C5EB0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ST-01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9B0908-856C-460D-83EC-752919D3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지역·취약계층 안전조치 근거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85698-7399-47B0-8B41-D0060BEB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AF0D0-9C60-402F-9E15-1FBCF6EC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61262-6F51-45E8-8281-23F55410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BA21F-227A-475F-90F2-123D8499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BF62E-361B-4979-9F57-72A30C06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점검 기준 검색·요약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Audin·JET의 증빙 검토·항목 구조화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1B7E2-7CF5-4D6C-AF9D-AC97072C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D60E4-0B04-4BC0-966A-FA0A7609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관할·대상 코드 사전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점검항목–증거–조치 연결표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E7DD24-1549-4348-8D63-1CEA256D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5F8A71-BFFC-4E06-88CC-06009D59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위험 검토시간·조치 누락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검토 완료시간 중앙값 / 미조치 탐지 건수 ÷ 실제 미조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치 건수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81898A-0D65-4619-938B-985BCF38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41865B-EFCC-450F-BCEA-31FF70ED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기간·지역 불일치, 증빙 없는 완료 건 주입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2ED7A2-E5DE-462C-8867-22B1E942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C56E6-8F44-455B-BD8B-1565C207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위치 표시·불일치 보류·미조치 유지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6AC436-6B6D-454D-AF57-1506DA75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297015-4D7A-4883-9E37-BAE3FA5C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대사표·누락 탐지 결과·검토 이력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DD9D68-2060-4C23-9394-9B149C7A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BM-ST-01-R01 / BM-ST-01-T01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6EED36-ECB8-4272-B251-E0BF1936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415092982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2F6C62-BFDD-43A2-A6B5-8DB60A90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ST-02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AA87D-8889-4247-9C10-7B17253A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검사·소비자 권익 검토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48A21-D794-473F-BBCE-8F140ACF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A3203-67C8-4702-805D-3747114F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7354F-4044-4E76-A65F-30832428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377AA5-3BA7-4102-81D8-24256460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자동차 안전관리 및 소비자 권익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66E367-CA4A-471C-B3D3-075C959C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CEC99-B21B-4323-BDF1-EB8B5766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검사기획처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2E0B3-51E6-45F5-9025-13B7FCA9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검사제도·품질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BFD4F-807F-446B-AF14-C5FCCF11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자동차검사 품질강화 및 공공성 강화 관련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21. 검사표준서비스, 검사프로세스 개선‧관리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F9E06-6E3D-4F19-BEA1-F75A3264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80D34-55AB-4F96-A280-4035D163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기술승인처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C40857-B434-41D9-B73C-8E6C3DE6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튜닝 승인·검사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A3034C-0FC7-43D2-B636-4434AFDE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튜닝승인 및 튜닝검사, 안전검사 등에 관한 업무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53B2E-F128-4BD8-8C5C-F7AC00F7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2AD2A-0CAE-45B7-AA0F-21E2C8D9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자동차안전연구원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E041C3-BDE6-471F-B0E2-05A7AAB2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제작결함 조사·안전도평가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0B786-3F8B-4589-8A6F-F54F45C5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법령·업무 원장 기반 요약 / 세부 직제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91BC00-DE64-46F5-BCCF-D8603E07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A6B320-186A-435C-A0E8-DFAFCCB0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자동차정보처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06F6C-9BAD-4C94-B884-8CE6CE17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자동차 이력·정보 관리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5270AB-1019-4614-8DD0-0850B9C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자동차토털이력관리시스템 운영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자동차정보 통합서비스 제공 업무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ECBC25-5413-4E01-AC68-D0AD4102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325792785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1BBABA-FFE8-4F6A-8F9B-4A07E580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ST-02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D3940-4CB9-480D-854F-60B7855B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검사·소비자 권익 검토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C9482-D083-4A77-A2A4-93F3D2A5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16A85-F500-4EA8-B634-4C3D4543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67159-66F7-4A1A-8E5E-9D8F490E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D1099A-8538-44BB-927E-80BD1C35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1725E5-6D14-451E-B446-C8189633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기준 검색·서식 초안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Audin·Foundry의 근거 검토·절차 구성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F2C2F9-8B02-42D0-AC04-D6F3468D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09E52F-F5D5-48EC-9C33-826EDFEA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차량–검사–민원 사건 연결 명세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기준 개정·신청일 판정 규칙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9947DA-3D29-4469-900D-FC2CD66E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7AFFA1-2AC0-40FF-81A8-866D0C5E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보완 반복·검토 누락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업무건당 보완 횟수 / 필수 증빙 누락 건수 ÷ 평가 건수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88653B-711B-4BDD-8D5B-A4DA4CC1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385A89-5886-46C4-80EC-D1512BD7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개정 전후 신청, 다른 차량 증빙, 누락서류 주입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8CDA06-3E09-484F-AC61-DCA255BC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F2EFC1-02AC-42AC-A6A7-2C565438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해당 판본·차량 일치·불완전 건 승인 보류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03E7E3-3AD7-428D-A6B6-099FDA15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934C8-6D73-43B9-BBC2-889B35BD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판본 대조표·보완 목록·승인 차단 로그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18B680-3FD5-4767-9533-86732531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BM-ST-02-R01 / BM-ST-02-T01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D5B1A5-D687-479C-BC24-72BFA410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1126161553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4EA60B-E975-4BEF-8E36-F8E621E5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ST-03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DE1A2-06CD-43BC-ACEE-FFA27A2D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중대사고 예방·보고 완전성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99518-76CD-40C5-89AB-BD9E1BAC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80AE7-D988-4D10-A8C1-F14B237E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BB9DE-F411-45EC-AAB6-7D8644B4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15ED8-16CC-41EE-9F59-6780F900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중대사고 예방 능동적 안전관리체계 구축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C6CD2-0C3D-4111-8F1D-5E228660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85D6FC-E9A0-4455-BA42-752AE11D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안전보건실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0FF21B-7DA9-4489-9605-EFCC0AFC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사업장 안전·재발방지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E8440-28B5-4704-B1E3-C6CD0DBD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산업재해 신고, 사고대응 및 재발방지 조치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중대재해처벌법 안전보건의무 이행점검에 관한 업무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9DA90A-1FEE-4638-B5F9-3099095D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258CA-A0B0-41E7-A8E8-858CF7D0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교통안전처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3EA899-0EB7-4B64-AFAC-36C383D5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운수회사 예방대책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FC05E2-202A-47DF-8ADC-C3047070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교통사고예방대책 수립 및 교통안전사업 개발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7. 운수회사 안전관리 및 교통사고 예방사업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7A9A3-58D9-49EE-B105-F4D3C078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E7011-E8FE-44FC-B7AD-22D77885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실증사업처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0B7D3-DD5E-4BC3-BEEA-13062AF6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교통시설 안전점검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7C2BC-5470-4157-A24C-7B81660D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7. 교통시설 안전진단ㆍ점검ㆍ평가에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교통시설설치ㆍ관리자의 교통안전관리규정 적정성 및 이행여부 확인평가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F74C09-06AF-42EB-B386-29E38FA1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F5F12D-898F-4A8D-91A3-8D574BCE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철도안전처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A9B879-ADB4-478E-B71A-4D0911EC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철도사고 분석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37ED2A-057C-46CA-9A68-84D9AB8E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철도사고(철도준사고 포함) 자료 원인분석 및 정책자료 제공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5FC55D-D79E-42C2-9682-DCBE19DB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2109970010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E7D25-CDFB-49AD-A998-B88573D3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ST-03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2571A-54F5-41A6-8253-F580CF7C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중대사고 예방·보고 완전성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F85FA5-03B9-4406-9669-79C15A32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74E233-D766-4002-9286-640616EC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B1C3D-D70C-4BCE-8450-2F9BF5AA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81EF77-4AA6-457A-97EA-2BC0AD8A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중대사고 예방 능동적 안전관리체계 구축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93F71-9CEA-4041-B0D5-3360DC20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0BB01-C6B2-4A5E-B5AE-6A34CE91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철도승인처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AE14E-3A80-4B95-9932-B8B0E62B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철도 안전관리체계 승인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68D70C-0D74-43F5-9D1A-F7770DED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철도안전관리체계 승인업무(최초·변경) 시행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철도안전관리체계 기술기준 제·개정 및 관리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77B80-F7CE-4D73-9AF3-760CE446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E6C92A-6615-4467-BAAD-42EB4947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철도검사처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2B160-0C36-478C-914B-557747AD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철도 안전관리체계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98266-64D0-446A-82BE-CA9D3196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철도안전관리체계 수시검사 시행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철도사고 및 운행장애 초기대응 점검 시행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A3545B-5686-4A1D-8890-407EBBE3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1C7E0-F319-4BFF-B332-2161A2DB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항공안전처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845D53-1D83-4AEC-BD6D-AAA5CA4E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항공안전·사고조사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D153B3-A9FD-44C1-964E-25DF9377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항공안전‧항공보안 자율보고의 접수·분석 및 전파업무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13. 초경량비행장치 사고조사 업무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6826A3-B1CF-4951-8640-A6BC7D0D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180721904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CF1B25-C683-4212-81F7-FC88EBC0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ST-03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10399-AFFE-4BDB-AF6A-C1984C0D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중대사고 예방·보고 완전성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9A68F-C367-4803-AEB5-33690CC2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A7EDE-4FF1-4B18-8424-AB7547D2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ACBC2-DAE9-455E-B43A-EFCF6829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C9D2E-52D2-40BA-9D3D-04D89F38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3191A-23B8-42B6-A6EB-4EBD4FAE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Audin·JET의 증거·항목 검토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Connor 명세의 실행·로그 경계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B3556-D5AD-4663-BBBC-2E68C6D1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F1EC9-936A-4A6E-A9DA-C1BB1D63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분야별 보고 항목 사전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원시 증거–사건–보고서 추적표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E7F31E-C2A7-441B-AF65-634531AC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75A3F-8822-4745-A329-A44EEC67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보고 누락·재점검 지연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필수 사건 재현 건수 ÷ 정답 사건 수 / 재점검 기한 초과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D35213-28D9-4FE3-B8AE-C81435F5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089A0-0625-4AD2-9381-01B2A0D3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사고 후 사건 삭제, 시각 충돌, 미이행 조치 주입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5466C-A12D-45F9-ABEB-E1F2CC73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FD287-D4B1-41AE-B90C-4581C36A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누락 경고·원시 근거 추적·종결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E01A7-9BBB-499F-BD04-4A711027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437AED-DC5A-481B-8961-EAC4291B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사건별 정답표·탐지 결과·종결 시도 로그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7544F-1192-49EE-8CAC-DFEF2A43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BM-ST-03-R01 / BM-ST-03-T01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237D64-7628-4C47-B578-7B6CA256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856931856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134A30-DDF5-4421-AC6A-D5CEAE9E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ST-04 / TS 담당 부서·실제 업무 / 1차 공통 기반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8317C-E066-4087-8A1F-79EFB6CE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조직 네이티브 공통 기반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3190C-0418-4845-BE09-207C3670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4E418-49F1-42CF-8B8E-672283B7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CB9AD-517D-4FEA-914B-B8DAC590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D31AF-82D8-42B2-893F-EC31B07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교통안전체계 인공지능 대전환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222322-47B1-4D6E-BC4D-B438DADE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3DCF91-4FC1-4B4E-B8AB-442D14CC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AI미래전략실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A1AD9-42EC-4242-B434-F36BD2A1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AI 전략·윤리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71F9C-FDA7-4614-A707-BC35774A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인공지능(AI) 전환 전략 수립․조정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인공지능(AI) 제도 및 지침, 윤리기준 관리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05E68-5386-45AA-AC32-7B0DECD4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6D0F9-135D-4DA4-946F-54BF3060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AI혁신처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D1BB5-EFB5-4772-B5F8-A9F7FF57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AI 사업 조정·데이터 표준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F8BB1-9513-4630-95F7-545A97E2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인공지능(AI) 활용 서비스 구축 지원 및 성과관리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인공지능(AI) 데이터 표준화 및 데이터 스페이스 구축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28147-5C92-43DD-A83A-63741A94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16D882-357D-4C2E-8B2F-855A1FCC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AI서비스개발팀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86A76-FE95-4289-98DC-410DEB8F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공통플랫폼·모델 품질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026E3-F930-4847-8400-028D49E9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인공지능(AI) 공통플랫폼 구축․운영 인공지능(AI) 모델 고도화․품질관리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인공지능(AI) 시범 서비스(PoC) 추진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F553CE-9C61-4A20-9E3F-CB97DE40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34BFD2-5011-4814-A9D1-B1186A0F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예산처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B29997-5A7C-42EF-9F20-29092626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조직·분장·전결 관리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C2945C-2DF9-43AE-B638-1AA174F9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조직 및 정원관리 총괄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9. 위임전결에 관한 사항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업무분장 조정‧관리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3F231E-E2D1-4B39-8182-B2BEA1CB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66118892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2E42CD-FB47-46E9-B89D-F2DE3048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ST-04 / TS 담당 부서·실제 업무 / 1차 공통 기반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06BD3-984F-4B8A-A7C5-84196379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조직 네이티브 공통 기반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BEF71-0A7D-4B39-B09A-66C9D271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4D3BB-8CD7-4DF5-835E-EA4318B9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48E5F-93FB-40EF-B05D-FACCBFE5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0A1DA-32C9-4964-B57A-B686BC7C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교통안전체계 인공지능 대전환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0AD11-9CFF-4769-A2CF-B5D3A5CB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0903A-459A-4556-895A-283A074A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인재개발처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1E6FE-9092-4DDC-B505-ACD0F6BA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발령·인사정보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B578C8-1F01-4A84-B57C-8A33AFDA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직원의 채용, 승진, 전보 등 임용 및 보직에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인사통계자료․인사정보 관리 및 인사 관련 제증명 발급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0EC1B8-9B02-44F9-9789-6BFF9FEE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FA7DD9-5C58-4362-9C1E-E5B5493C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디지털기획처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941AE-8C17-47E4-9653-47CE0AD5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정보화·데이터 품질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5A6215-E896-47E6-A74F-37AF50EE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13. 정보화사업 사전검토(과업지시서 등) 및 시스템 구축 지원(기술분야)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20. 데이터 품질관리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1244E-B064-41E3-8A36-066B5B74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A6C33C-EED2-459C-9F88-24B021C5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정보보안처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BAABEE-69A5-44A2-998E-7E5891F4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보안·개인정보 관리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6F1F94-DA1B-458C-B37B-6680FB48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정보보안 업무총괄 관리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개인정보보호 업무총괄 관리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24A659-EDB3-4C9B-9F1E-FF5144D2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2119018652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3B257-C1C0-4730-B364-47CF015E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ST-04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99B97-FC03-4DC5-87C5-E5F228FF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조직 네이티브 공통 기반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41935-B4F6-44D3-90E3-81CEB0D4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F8499-D252-452C-8CD7-D3F8E354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1CCCA-5AA3-4841-8537-AF07DF97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9D38A3-8931-4FB5-B7B5-FBD671F3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C26B0-1F67-4164-A412-359CB833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대화·검색·서식·스킬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Connor 명세의 실행·로그 경계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64218-FB74-4B1C-B54E-A4694B10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260E1-7EC1-48E4-B579-1E388DCF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사람–조직–직무–업무 관계·효력일 모델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업무 분류기·검색 전 정책 집행 연결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D13E6-DD5C-4225-A242-2A39133C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C92C0-80F7-4222-A2DA-F1A3C8FC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반복 맥락 입력·부서 간 오인계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직무·업무 분류 정답 건수 ÷ 평가 건수 / 변경 전파 지연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 / 비인가 노출 건수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1BEEF-D75D-4D02-9305-F17BD3F2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38F22D-3A8C-4CEE-A40E-7744CAB3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동명이인·겸직·전보·회수 전후 동일 요청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CAAA2-670D-4E37-9F1D-F08DEA4F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43B6F8-BEAA-4794-B310-60B097D5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정답 조직·업무·서식 일치, 모호한 식별 보류, 비인가 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노출·실행 0건 기준안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47BB85-83AE-4A94-B947-80A2A286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D0744-3DD9-465A-AC7C-61AAA015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신원 매핑 정답셋·교차권한 결과·변경 전파·복구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3BEB6D-892F-42B2-82CB-752F4E84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BM-ST-04-R01 / BM-ST-04-T01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3FC466-F650-4F78-AF8F-8B37DCDC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1456186198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017B2C-85FA-4315-B975-ED893281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ST-05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F8A4F-E1EE-4BCF-8EED-3DD071ED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모빌리티 실증 증거·안전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2D63B-569F-428C-BB66-76D0C27C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9E444-5976-4816-B283-DF41FA58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C70A8-9ED1-4238-B29E-4B076579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06F38-9AF2-43BA-AB07-4F721BF4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K-AI 기반 안전한 미래 모빌리티 실현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49814-29BD-4210-A708-811AE3A9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9DCDBA-8C95-4FA8-9228-F0B81A82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자동차안전연구원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42FBD-C79A-4D2D-ABC7-D376E9BC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미래차 안전 연구·평가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05393-C4EC-4262-B40E-4F6C9293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법령·업무 원장 기반 요약 / 세부 직제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0FF268-258B-4187-A00B-05697D9D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9DC33-31A2-4A16-A74A-D1BA4782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첨단연구개발처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58E23-0632-47FF-803E-FFD52041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미래차 검사기술 연구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36339-DBAA-4119-8AA5-604806BE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5. 검사기준 및 검사방법 개발에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자율주행자동차 등 검사기술 개발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6376B7-551E-4176-A6FC-3BDB58F6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5CAF9D-F6C1-4B34-9E9C-97E339B0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규제혁신처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C5AF56-7BBE-46B2-9812-6E6DC2A0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실증특례 접수·승인 지원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366DFE-99D1-41E3-BA80-4D6E09C3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모빌리티 실증특례 접수 및 승인 지원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실증특례 통합검토위원회 구성, 운영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475FE-E955-40F5-B4E2-A2097EA9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4FFBB8-FF62-469B-A3ED-E1982E9C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실증사업처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526616-0C88-417E-98EE-F1C01369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특화도시·시범사업 지원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018A72-3699-4D01-8B55-97B9E366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모빌리티 특화도시 사업지원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첨단모빌리티 시범사업과 대상지역 지정요청 접수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41C551-6794-4B8F-95E2-FEA8892F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54761027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B915D-D7BC-4D15-8D5D-D4C7A21D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ST-05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895A1-D9C5-4783-BCDF-0B01FE8F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모빌리티 실증 증거·안전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3E72E-6027-4599-AE88-779AF243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C41BDA-E2B7-4FA5-9C3C-E2A1F039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9836A-C130-44C4-BAD6-179CE9CA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C4918-2361-44B5-B17C-67849462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K-AI 기반 안전한 미래 모빌리티 실현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20212-4555-4E65-96B0-DB38124B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B69B4-F08E-4DB3-A553-83EE355D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드론관리처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70986-317D-44BE-B0FD-DFFDBA1A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드론 안전관리·연구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EA1C1-7C7C-4E6B-B8BC-81E21734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초경량비행장치 사용사업체 안전관리 및 지도점검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5. 무인비행장치(드론) 관련 신규사업 개발 및 안전연구(UTM, 안티드론, 드론택시․택배 등)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697465-6853-4FC0-9E17-4F96A8B1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343512982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209FF3-9DFE-486D-86EB-57E1D206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ST-05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19644-BF0C-43D5-A727-EB80DEE7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모빌리티 실증 증거·안전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C7A66-C8DF-4E18-94F1-9814A26F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4A696-2061-4A69-BDC0-FF098938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2972E-FE89-4820-B4B0-E3B8C80B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017345-782C-4933-9BD3-DC0C5B66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7F7D89-E61E-4801-92CF-9181131A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기술 기준 검색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JET·Audin의 구조화 검토·증거 대사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B04EE-BDBE-4774-85E4-BF72A221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103F0-9701-4EE4-9771-CD0CE49E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실증조건–요구조건–시험 ID 연결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조건 변경 영향·재검증 목록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245C14-8EF0-43C6-B4FD-B6DD267B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37640B-8B96-4818-A630-3E505B54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실증 검토 재작업·시험 증거 누락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증거 연결 완료 시험 수 ÷ 대상 시험 수 / 변경 후 재검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토 소요시간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B0A08C-C2AA-44C5-8F3C-D4CD3DDE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7FF058-0B8C-4B9C-9792-609342BD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운행조건 변경, 로그 누락, 시험판본 불일치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5CDEB6-F024-4F9B-8A57-E3710748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361F8-6387-4F0E-A76C-E4419EDE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변경 영향 시험 재선정·증거 미비 보류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F33BEA-828A-41D2-8BF9-BE78BBC3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1EE87F-FB88-4626-8BB0-AF8EB880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요구–시험–증거 추적표·재검증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E965C-8FC1-4EA3-AED0-4C51BE33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BM-ST-05-R01 / BM-ST-05-T01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B71192-3F6A-488C-B85E-06519679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796484708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0D0A85-22E2-4982-8BC5-D514F57C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ST-06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ACC71-A381-43AD-BEB1-9A02E4AE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친환경 운행·탄소 검증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2B0B2-BFF8-4361-9A74-1133B06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BCA8B-4D9A-4B1D-8705-55B39E70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0C209-768A-4F93-8D56-A5E4B8B9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56166-A557-4448-8FA4-26D4A8A7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기후위기 대응 친환경 전환 가속화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ADBF84-C547-41F2-A2CA-EB771D3F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19757-8D0C-4691-A9B0-19CA0157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기후탄소물류처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055D5-1DF8-47C0-B5A1-5F86DA9B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교통물류 정책·실적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7E9004-DAAC-4D3A-AD32-870D67C7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화물운송실적관리시스템 운영에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교통물류 정책관련 연구‧사업 업무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5DE0E-5BF1-480F-B4B7-FECE40C0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33FE8-E5E4-4F5A-838F-AFF6F373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탄소중립정책팀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1A20F-B68D-46CE-A60F-C52B1AAE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온실가스 조사·감축지원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E37A9-19A1-4F94-8858-7716EA6A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교통부문 온실가스 배출량 조사사업(배출량 조사, 계수개발, 목표관리제, KOTEMS 등) 운영 및 관리 업무</a:t>
            </a:r>
          </a:p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교통부문 온실가스 감축 추진 등을 위한 배출권거래제 외부사업, 국제항공탄소 상쇄제도 및 국제감축 등 </a:t>
            </a:r>
          </a:p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감축지원 사업 발굴, 운영·관리 업무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9803E8-EDFE-4027-A0CE-5A5438E7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A1F19-7BF5-48DA-9691-1030708B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데이터융복합처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11C97-B047-4E39-B6AB-FA7C139A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친환경차 안전 정책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80E061-7D68-4C85-AEFF-2F501D96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18. 사업부서 추진 중 친환경차 안전확보 업무에 대한 총괄 정책 업무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C3676A-A447-46A8-8A9E-0CC270E7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859558058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3F5401-30E9-44FE-889C-3CF260F9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ST-06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D1B80-5BA5-4FD1-B3DB-59B64EBF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친환경 운행·탄소 검증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00A899-CAFE-40AF-B0C9-67E8F488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B5268-E5B7-4595-ADE4-13C44C8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0C94E-A4DC-43E5-9A44-4A819A4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88A16-7BB9-490F-ACE9-41FE205E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814C8-148B-4CBD-BBE4-F45CF322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근거 검색·보고 초안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Audin·JET의 수치 근거 구조화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799F9-ED8F-4171-934E-D93E8019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DD1FC7-BD05-449A-B010-0B503343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활동량–계수–산식 버전 연결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독립 재계산·결측 판정 모듈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AA7C9-3458-4F2B-AD53-986BC5DD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4F464-1A3B-4402-8C52-90700420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보고 재계산·산식 오류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산식 오류 건수 ÷ 산정 건수 / 산정 검토시간; 에너지·탄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소 효과는 별도 실측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2A1054-A00A-4160-940E-E5A4345D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59ADA4-E433-489A-A0EC-39C78BC7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단위 변환 오류, 기간 중복, 계수 개정, 결측값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68BE7-8B05-4B76-8FFC-E865A58B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80D134-D6CB-4940-8956-6B9318FA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독립 계산 일치·누락/이상값 보류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D59856-ECD6-4F46-98A6-BE826FF3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A0D67-9C0C-41BE-8A67-48B7B8E9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입력·계수 판본표·계산 대사·검토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E68BE9-BB61-4770-AF13-21B2E400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BM-ST-06-R01 / BM-ST-06-T01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909F2-6187-4C2E-ACFC-C51A6201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2037773168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AF78B1-D443-4374-BC5E-86F6B9AD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ST-07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766E1-54D0-4BBA-B5FA-885048F8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교통데이터 제공·연계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8FA8E5-8D9C-4D7C-9FCE-0B73C6C4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D0695-3D02-45F4-A639-EC0F9847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054C7-2A9A-4073-9DA1-965D228C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92AEF-B86B-43DA-BDFC-D24F063A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교통데이터 개방·연계 기반 서비스 편익 증대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30681D-A046-452D-978A-42E12CA0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C7BB6-6F90-41C0-BD84-71B485F4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AI혁신처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4A2876-168A-4611-9008-8DBA1A56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공공데이터 개방·표준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AE1361-7BCF-4C0D-906A-964E323A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인공지능(AI) 데이터 표준화 및 데이터 스페이스 구축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5. 공공데이터 개방 및 관련 시스템 구축․관리, 공공데이터 활용성과 평가 대응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3ACBDC-89FF-4A86-8906-60414D4B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3470FF-4268-4AD9-9069-EB1466EE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데이터융복합처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BAB35-6F10-434B-9B18-F0D540ED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교통데이터 분석·결합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62FEC9-A468-48D8-92C0-9A14E144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운행기록데이터 관리·분석·활용 및 정책지원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빅데이터 결합 ․분석․활용 및 교통 빅데이터 플랫폼 구축사업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E7372-88FB-4CBB-A8AA-8D5BC8EE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55588-5A0F-4980-AA5F-4F9AC576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자동차정보처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2AFC80-57C0-4A07-A498-E923338B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자동차 통합정보 제공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D57A33-B9CC-4E0B-A2FA-CF5AC82F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자동차토털이력관리시스템 운영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자동차정보 통합서비스 제공 업무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C5B49-E658-4FFC-B17D-C84C28E1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2A43D9-B289-434F-B331-EA188982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모빌리티연구처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E48361-47F8-4C25-9863-6FA570E4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택시·대중교통 정보 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D75621-AE64-4D3C-89D5-5635EFE0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택시 운행정보 관리시스템 구축 및 운영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대중교통정보시스템(TAGO) 운영 등 ITS 관련 업무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CD571B-7D3C-4255-8E56-599D7C3D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148338343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7736E-63BA-4B3B-8C3B-A64E781D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ST-07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8D3D3-E9AB-4854-BD08-7AD955E3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교통데이터 제공·연계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B69CF-13AA-4104-8944-D4E79747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2F8D5-2AD6-4AA2-BD25-A33D613F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E67C65-43A5-4B74-9E67-11EB15AA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F3E28-9F82-4BD4-9B68-BE4D1D6A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교통데이터 개방·연계 기반 서비스 편익 증대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382352-67B2-4227-8CAC-08E12FA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87CFAB-9F3D-47ED-8346-AD7E6429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정책지원처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64574-0271-4B4A-A05C-B6D37544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현황조사·데이터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AE1C2-11C6-4E56-A44E-25E5C9B3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7. 대중교통 현황조사에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9. 첨단모빌리티 데이터 수집관리 지원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3D71E-07D7-4235-8874-4EB05B27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FF688-4B80-4895-81D8-AE9F7CE5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디지털기획처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4812F-3F02-4AD4-9702-13D58F77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데이터 품질관리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1C8FB-22DB-40F0-8AAA-D753EF56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20. 데이터 품질관리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BE3BF-3A82-4EFC-A5D6-E5F7CDF9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5D365E-EFCF-40C6-A2D1-9F737385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정보보안처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692CD-B9E8-49CC-B5A5-B274187B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개인정보·접근 보안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743621-6058-4F7C-9F63-6AB879C1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정보보안 및 개인정보보호 관련 제도 및 지침관리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개인정보보호 업무총괄 관리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07264F-B9D0-419D-BF35-B17B637C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856371622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C84DF-E345-4243-AEC2-FD461FBC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ST-07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AF798-363B-4DE7-A2BC-63568213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교통데이터 제공·연계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647D0-C413-4A13-8706-53912CDC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5D57E5-0D8B-47FD-8960-B2DF78E4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2D777-453A-4E73-BE6A-D06CF553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93D43-AB25-48BD-85C3-9F908683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045AC-56C6-417D-967D-DB37B683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자료 검색·질의 지원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Connor 명세의 실행·로그 경계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1C4A8-2286-4D48-BA1D-A072DEA2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BEF5F-2682-4479-9C37-06E34678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목적·필드별 정책 카탈로그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요청–승인–제공–회수 연결 어댑터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3A67F-550A-48D3-BF65-CB626996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5DCC61-1559-41E9-84D2-1E3CBA52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데이터 탐색·연계 보완시간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승인 조건 충족 연계 수 ÷ 연계 시도 수 / 목적 외 노출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건수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969194-33B7-4133-A9A5-19C758A6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1B42B-B862-48C3-9581-7E1CB4EB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공개/내부 필드 혼합, 스키마 변경, 권한 회수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B23304-D681-4BCA-AF9E-029E4149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FBF86-E7CC-4DE7-B8BF-D7FEC405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허용 필드만 제공·불일치 보류·회수 후 캐시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943DB6-9997-4A36-92F5-78E5DB1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079E93-3370-4ADC-8680-75D4209F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필드 대사표·거부셋 결과·회수 로그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6A864B-0F00-4D6B-95C2-5FB84897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BM-ST-07-R01 / BM-ST-07-T01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D1A20F-2230-4E08-9386-3C68CBC7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32069873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ED43CB-0D7D-4D3A-AD8C-6F59A473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ST-08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ABC44-1816-4FAB-A92B-65629488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자연어·음성 이동 서비스 접점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B92F1E-BA16-4DFA-AF5A-2C549C5A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44485-623E-41F0-88E2-7859D97E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10939-4997-4FC3-82C4-FBA3D3BE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D30CF-484F-402A-A3F8-88DFA9F8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생활 밀착형 이동 서비스 확대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ECA1B2-B01F-48CD-B938-49943DAA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A7B36-27F9-49A5-994C-094BB2A3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모빌리티연구처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F2445-2664-4F4C-92D9-CF6AEA61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이동정보·교통약자 조사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3D02B-09CC-4A06-983B-ADA97656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수요응답형(DRT) 대중교통 시스템 구축 및 운영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23. 교통약자 이동편의실태조사 및 자료관리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84309-2B1A-4C5B-A940-1DFE8644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C3BCBA-1BFD-4BDC-892A-0EB03DC3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정책지원처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5FD59-0E7E-402B-8EF1-4A90DB3E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대중교통 현황조사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FDC4C-2AF9-4800-9EC5-AE1D0975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7. 대중교통 현황조사에 관한 업무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769CD8-9144-4DB5-85B3-9191654F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10A7F-D38B-4400-A6EF-A9C59797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교통안전처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ADE08-3667-4367-878B-7AE40B30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운수종사자 관리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C55CE7-ECB6-456D-ADF9-CA4F41DD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운수종사자 입․퇴사 정보, 교통사고정보 관리 및 부적격운전자 통보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9. 운수종사자관리정보시스템 운영 및 관리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750660-712E-4998-AB00-D6E54AF6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F3683D-C667-4C57-B714-00B90364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자격교육처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F60100-756F-4BD2-9EC6-52A771D3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자격·적성검사 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473197-B9B7-413D-AABA-82D0B5A5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21. 운전적성정밀검사(신규, 특별, 버스‧택시‧화물 자격유지 등), 국가자격시험(버스, 화물, 택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시, 교통안전관리자), 사업계획 수립 및 관련법령 개정 등 제도개선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32. 화물․버스․택시 운전 및 교통안전관리자 자격증 발급 및 관리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BC08D5-76EC-4A97-AD6E-1C55D997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367292880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78E7B6-5D96-4828-8E15-25991836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ST-08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CCFAF2-CDDE-4497-9600-6BA7CA15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자연어·음성 이동 서비스 접점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FCDB87-8731-4D3D-81BF-ABDBB59F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1E7E8-21DB-4626-8AB4-345B8E26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B35162-8732-41AC-9356-6B4CDC55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451A8-9336-427C-96EE-1DAED557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43B7C-C22B-4D46-A496-F531213F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공개지식 검색·대화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JET·Foundry의 필수 입력·절차 설계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64E033-2439-4925-96B6-4AAB728C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AF716-A278-4C2D-B1FA-B32091AC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음성 입력·발화 정리 연계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서비스 라우터·메뉴/상담 복귀 경로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8879E-A387-49D5-AC94-18009681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3F39A2-ACA9-4887-A16F-2CE5B4F1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국민의 서비스 탐색·발화 재입력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정확한 서비스 도달 수 ÷ 전체 시도 수 / 사용자군별 완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료시간·포기율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6D7BD-F847-4ACB-9BAA-EFD0B67D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C5D320-817D-4D60-959B-D77C80FF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고령·방언·소음·범위 밖 요청과 일반 사용자 과업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341EC-1B57-4CD2-9838-7CBCBB2F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8BAB5-437B-4332-BE7C-468786A6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정확한 창구 연결·사용자 확인·내부자료 차단·상담 전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7B79C1-7CB2-4B73-BE85-539A7B9D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D0986D-8565-4052-9FF6-F3082F8D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사용자군별 과업 기록·도달률·오인계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05A76-BEEA-44EE-A379-E12D5AC6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BM-ST-08-R01 / BM-ST-08-T01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E05314-FA48-4E15-84AB-DB1B07E1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1132202378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6685C3-E731-4E46-B74D-2ED9B088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ST-09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98FC7-0299-4CCB-845B-88210E83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지역·산업 지원 검토 근거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E25214-13FB-400C-B8F9-92474A41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E57C0-78D8-4C03-BC11-169E92B8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51281-8275-4F5F-9C2D-937E242B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0C461-3068-4A8D-BBBF-A86B9D40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민간·지역·산업 균형 성장 역동성 지원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EE6F2-826C-4B55-88EB-7E5BC285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24872-B9B2-474D-B80B-85C93938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정책지원처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C59B8-560E-496E-AACC-652131BC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모빌리티 정책·산업 지원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D0F2C-3236-404F-B604-447F60FB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모빌리티 정책지원 및 연구수행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11. 모빌리티 산업활성화 지원 관련 협력 업무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69125-780B-4362-9426-3871C7A4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81CED-AC21-402D-B5B2-FE1085D2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규제혁신처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4B30B-3E25-4D93-9219-1BC5F6BC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기업 실증특례 지원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666DF3-E4AD-40A5-8E8E-04D266E6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모빌리티 실증특례 접수 및 승인 지원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모빌리티 실증특례 사업지원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117FAA-0C56-4FB9-BAE6-076BAEA2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F4D47C-76B4-444D-8C05-6512AE5A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실증사업처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A0EEF1-5685-46AB-AE47-2B592E3C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 특화·시범사업 지원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A24B8-C040-4840-B155-33BACCE6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모빌리티 특화도시 사업지원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모빌리티 시범도시 사업지원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20C69-2516-424F-A6CC-A2309138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673280617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70EE07-9C69-4276-ABAE-78623CF9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ST-09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CC7CE-9FC1-4298-A7CA-8CF05E88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지역·산업 지원 검토 근거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4ECC9-B654-4A47-9F84-1B0EE71F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BC21B-852E-49AB-B3CA-C55F0C43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2B429-7D69-4024-AF5D-09FF433C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842D7-D6AB-4726-B47A-F2438C90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7FD7E-7E2D-4E6F-8309-B9C6E463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요건 검색·서식 초안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Audin·Foundry의 증빙·절차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981BE9-4892-4BE8-8DBE-D828A9DA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A6366-6452-49BA-9783-4B4F3128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지역·사업별 적용요건 사전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신청–보완–검토 사건 연결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4C4514-93EF-4756-8CCD-8FE7FC3C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2A1FA-7CA6-4586-AF96-DCEC3318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신청 보완 반복·지원 검토시간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신청건당 보완 횟수 / 검토 완료시간; 지역경제 효과는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별도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62AC7-180D-4DE9-BADE-1DFB8B24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A310A-4678-410B-AE8E-195004BC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다른 지역 요건, 만료 특례, 누락 실증자료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EC9A65-404A-49B3-B6A7-A225B8AA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EA57E8-77FA-493A-9646-6F9F1811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해당 조건만 적용·근거 제시·판정 보류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554EF8-946E-4A50-9E04-1CA1FFCC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51DF3C-708E-4063-985D-A672810F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요건 대조표·보완 이력·검토자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9220A-9DA5-435B-9051-CB625468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BM-ST-09-R01 / BM-ST-09-T01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BFFC9F-E66C-435B-9E63-7A77916D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53709127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BD89BD-00E2-47A8-8D85-8A673189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ST-10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484A13-23C2-4F34-A110-B51BE81D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성과·경영 문서 검토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87E49-3CC8-405C-A0B4-6FEAC2F3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4EACBD-8DDE-4211-B65C-2F82586D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7F6FF-151F-42CB-A67E-F5F047D3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2A0BB-3D70-4CBD-A7DB-7DE12EDD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실용·성과·효율 지향 경영체계 구축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45F6A-545D-4DB8-A947-0668B318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5A866-9D9C-417F-A667-ABD98C05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예산처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34C6B-D771-42CD-A9B8-557994DC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예산 편성·집행 분석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33110-3FB0-44C9-97A9-F8243898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예산의 편성‧집행‧운영 관리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예산집행실적 및 차이분석에 관한 사항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9BF83B-160C-43DE-98FB-A2997D93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69EEFC-A263-4523-A0A8-F029665F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혁신성과처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CE6906-EAFF-4F6D-8C47-C02F89FC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기관·부서 성과평가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2E548-D8EA-4B6E-9FD8-B6C2D797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내부경영평가(BSC, MBO)에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임원, 부서장 경영계약 및 이행실적 평가에 관한 업무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1CF4C-7DD7-4FDC-8ADD-E3B48DE4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C9262-209F-4147-84D9-D7EAF3AF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재정회계처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22771-E0CE-400F-90CF-B1D9A634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계약·결산 관리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12E4E-A903-4B6B-AE92-B4331729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연간·월간 회계결산 및 연차 결산보고서 작성 보고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5. 구매․공사 및 용역 등의 계약에 관한 사항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87912F-84DE-4260-AC0F-BE69D729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714066-C53E-4C05-BC0C-339EEEC7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운영지원처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3765E8-CC1D-4733-880D-B9EBC193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문서·정보공개 관리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3B01C6-9604-405D-ADF1-0AD68357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문서의 접수·분류·수발·처리 및 보존관리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5. 정보공개제도의 운영 및 관리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71A85-9207-4F61-919C-B8250DA8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278332248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BC864-9186-4763-B633-565C65E9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ST-10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FE4F7-BAE5-443C-B7EF-C4C0985B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성과·경영 문서 검토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BF1FD-6A2B-427E-A288-2A3FC6CF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BB265-6043-4163-BD32-5DC540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3D464-298E-4CEE-8A14-02AA3611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EB3027-6C51-4A8A-91A8-F4A85EF8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CF45A-3AB5-473B-AE06-CBC78C2E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문서 검색·요약·서식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Audin·JET의 증빙 검토·구조화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4CFB0-5F68-4EA6-BA54-9E27E1C4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7BDC4-A4C9-4C25-B4EB-BA337FBA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사업–예산–성과 연결표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지표 산식 검증·검토시간 계측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5B27F-2403-4C2D-99B2-B1FA653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04A99-5366-4721-B158-25382E03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검토·재작업을 포함한 업무시간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최종 검토까지 소요시간 중앙값 / 재작업 건수 ÷ 완료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건수 / 업무당 비용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E00F1-815D-4706-8324-DD1CE85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E6074-93A2-4EB0-AC7D-C7248DA8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집행 중복, 다른 보고기간, 산식 오류, 전결권 부재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C5FEC3-F1BA-434B-9A04-9D5824CF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DF8790-175C-494B-9BBF-6EC2C622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합계 일치·오류 보류·권한별 결과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1BA15C-984F-4859-ADC7-A3452899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0A527C-8745-4FE8-8A5B-5DBEFC11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원천 대사표·업무시간 기록·보완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E0A855-B200-4BB5-AE0B-E72983C7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BM-ST-10-R01 / BM-ST-10-T01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02DEA-FEBA-47FA-A955-59F4C89A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10535316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C7542-9CC7-419A-87FB-1EA80BBC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ST-11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B8C30-A5A9-47CA-A403-01322E95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ESG 증빙·공시 검토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11785-B18A-4DA3-9EF1-53BCC8B6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AC160-FAB0-4FC6-9508-126397D2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B99EB-0375-47B0-8891-1B2D9E46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C3719B-3689-4880-AE2B-5B7E226D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지속가능 ESG 경영성과 실현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7C256-5135-4971-8B46-D40DB0E8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5FAA2-F7C9-41EC-B727-3BA65BE2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ESG경영처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9C1B7C-89C8-427E-BE84-B41F8CB3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ESG 총괄·보고서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9E4F6-E2B9-4B35-94B3-49DB3F10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1. ESG․지속가능․윤리․인권경영에 관한 업무 총괄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지속가능경영보고서(ESG보고서) 발간에 관한 업무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D7924-94E0-4BE6-8829-8E118B3C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F44D5-8C0E-42C8-B194-83A20739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안전보건실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6D2BEE-3B9C-4B3A-AAE9-2BAC2043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안전경영 성과관리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A51A45-EFD6-4519-A58B-753170CF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2. 안전경영 성과관리 및 안전촉진 활동에 관한 업무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1D0D34-22A9-4275-8923-AC92DEE3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64733C-436D-4623-8308-20C620D3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기후탄소물류처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0A05D-C6EE-46EA-9FFB-6FB647DE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교통물류 정책자료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F17BE2-16C1-4E37-9D93-5A055799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교통물류 정책관련 연구‧사업 업무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6ADE5-71BF-47C0-A21A-5BCFB0C3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4EA08-63B9-49B2-A070-B036E96E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재정회계처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7196AF-09BA-4DED-8DC0-7A94AACD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회계·계약 증빙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0423E2-DC29-4A00-BEF9-EEF2FE4A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연간·월간 회계결산 및 연차 결산보고서 작성 보고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10. 회계․계약관련 제도개선 및 회계감사·세무조사에 관한 사항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89B7D9-3A07-4E0D-8655-A8543898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806597681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E1BB41-4E1D-4D5E-BEDA-0E19A2B0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ST-11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355CA7-6C7C-4BC3-A124-F5559627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ESG 증빙·공시 검토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B577B-E5E7-48AF-B690-4743554D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D9DCA-5601-4B26-991F-E0EE6998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B3239-1CFA-48A8-B14E-6F894990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0E84AE-2AD1-4F01-9B59-824978FA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FC4DA-EDA5-4DF4-95A3-AD3403E5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공시 초안·근거 검색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Audin·Torus의 증빙·검토 기록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6AD5E-0D60-4B4A-BEF8-39B79DC7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95076-1437-48F6-842C-F4D3530B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지표–원천–검토자 연결표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중복 증빙·산식·공시 판본 검증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18CFCE-5C40-4D84-A940-4197795F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AB3138-445E-42A5-A96F-E0E2E5CB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공시 근거 누락·검토시간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근거 추적 가능 지표 수 ÷ 대상 지표 수 / 공시 검토 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요시간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354838-17E6-49F2-AC92-A21E7487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3E231-F99C-4F7F-8B68-60A06840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중복 실적, 다른 기간 증빙, 근거 없는 수치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3AB406-23B7-4AD6-B9C1-9B6ED3A6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4779DE-2BF1-4FD4-AB7C-B09D5FFD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중복 제외·원천 재현·미비 공시 보류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9DE157-4F2C-418A-9AB8-66FE56B3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4D7461-A1F7-45A8-A020-6DB34931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지표별 증빙대장·계산 대사·검토 이력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35AC41-AB3A-4AEC-A3E0-D1B4D854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BM-ST-11-R01 / BM-ST-11-T01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7E3394-A40A-48C0-B4FE-6F81CCEE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1722896742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B21DBB-2C7D-4C42-AFB7-DB637E5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ST-12 / TS 담당 부서·실제 업무 / 공통 기반 인수 후 부서별 적용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20A668-0A45-47D3-BEEA-9A146997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조직 협업·참여·공정성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A4294B-55C9-4B11-9362-9764E2BC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8F05C-A7B9-4686-BD87-C64D5B3F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0BC0AE-B65B-474E-9195-4B24127F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F4C87-6CAF-407C-9DF9-9B222218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144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자율·참여·소통·공정 조직문화 조성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38FA69-F14E-41F2-8F1F-335F15AF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65D02-A472-4B24-BFF8-C1898201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인재개발처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BC74A-AF60-47D5-881C-C2BD47ED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인사·직무교육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9270D6-84F5-4464-9A4C-0E0066EB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0025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3. 직원의 채용, 승진, 전보 등 임용 및 보직에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9. 직무교육, 계층교육, 자기계발교육 등 교육훈련 업무 총괄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15631-1A8C-4F40-A4F5-CB7E0DF5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2DDF68-7193-4F2C-8BC8-EC75BCDE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운영지원처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DEAE0-A8C9-459E-B13D-7A4B6CA8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문서·노사관계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882A4D-05C2-427C-B02B-941B996B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4. 문서의 접수·분류·수발·처리 및 보존관리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임금․단체협약 등 노사관계 업무에 관한 사항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2C493-CB90-4F35-B1F0-B2FFB9CF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8D1DA3-A9C0-4E63-93C6-A5871271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ESG경영처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7391A-AB82-4BA7-B9E0-F190D59D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기업문화·내부 소통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63CF13-CF5F-4B85-8589-5306DCE0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00500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8. 기업문화에 관한 업무</a:t>
            </a:r>
          </a:p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- 내부 소통 채널 운영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292A3-E84A-4917-9FC7-51E956D7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9BD678-85CE-406A-A022-EBADDF2B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AI혁신처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75D7E2-AED8-4C85-AC44-5EAD2B8F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72100"/>
            <a:ext cx="2238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AI 역량강화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5E0646-C1BB-4B6F-AEA3-CCEE1921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847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6. 임직원 인공지능(AI) 역량강화 교육 및 역량진단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CD0E17-DF6D-46C3-9FDA-5FD3E118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직제시행세칙 2026.06.30 / 참여·협업 역할은 적용 설계</a:t>
            </a:r>
          </a:p>
        </p:txBody>
      </p:sp>
    </p:spTree>
    <p:extLst>
      <p:ext uri="{BB962C8B-B14F-4D97-AF65-F5344CB8AC3E}">
        <p14:creationId xmlns:p14="http://schemas.microsoft.com/office/powerpoint/2010/main" val="1877114053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3672C2-50B2-4881-9309-101AAEC5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ST-12 / CCK 재사용·추가 개발·검수·기대효과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FD7FA-15A1-47DE-B9BE-E77BBD91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334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조직 협업·참여·공정성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9B150-B7DA-41A4-A518-C36C717D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D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6D7A3-90A6-4F4A-BDAF-B54EF16A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71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CCK / TS 2027  / 2026.10.16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4241B-4EAB-4AD8-B532-829F9485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133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358605-0210-4AAA-B45F-8EB15BF3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CCK 재사용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87D80-E7BD-445A-909E-77CCA865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NOA의 직무 지식 검색·요약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Foundry·Torus의 인계 절차·기록 명세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7827F-A00E-45E5-A4B8-20C8DFBC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추가 개발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529CD-82E2-49AC-940E-8835B5A4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겸직·대행·전보별 인계 규칙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민감 의견 분리·수락/회수 추적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A00FA-458C-4CC1-A65A-7592150B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기대효과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B82BF0-E330-4F1A-8ED0-CB8EE24D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2442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인계 누락·담당자 탐색시간 감소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인계 수락까지 소요시간 / 누락 업무 수 ÷ 대상 업무 수 </a:t>
            </a:r>
          </a:p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/ 부서별 오류율 차이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D5CFA-D3CC-49A8-9213-10DA242E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526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검수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C59A3-841B-43A7-8383-E4848B2B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05025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전보 당일, 기간 만료 대행, 민감 의견, 미수락 인계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4908E-19D5-48B7-970C-7996912C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C958D-3CD2-4AD2-A054-7366B41F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766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전임 접근 회수·겸직 맥락 확인·의견 비노출·미수락 </a:t>
            </a:r>
          </a:p>
          <a:p xmlns:a="http://schemas.openxmlformats.org/drawingml/2006/main">
            <a:pPr>
              <a:def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유지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A0B70A-B34C-42C9-8F9F-1B119FCB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481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제출 증빙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F0B0E9-FDB8-4DE9-8102-53572CB8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00575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8352B"/>
                </a:solidFill>
                <a:latin typeface="Pretendard"/>
                <a:ea typeface="Pretendard"/>
                <a:cs typeface="Pretendard"/>
              </a:rPr>
              <a:t>변경 전후 권한표·인계 수락 기록·거부셋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8AA5AA-B88B-496E-A3E7-79F75692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4830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42634B"/>
                </a:solidFill>
                <a:latin typeface="Pretendard"/>
                <a:ea typeface="Pretendard"/>
                <a:cs typeface="Pretendard"/>
              </a:rPr>
              <a:t>BM-ST-12-R01 / BM-ST-12-T01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9060B7-626E-489F-9E7F-82A07E9C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8102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87369"/>
                </a:solidFill>
                <a:latin typeface="Pretendard"/>
                <a:ea typeface="Pretendard"/>
                <a:cs typeface="Pretendard"/>
              </a:rPr>
              <a:t>검수 설계안·미실행 / 기대효과 TS 실측 전</a:t>
            </a:r>
          </a:p>
        </p:txBody>
      </p:sp>
    </p:spTree>
    <p:extLst>
      <p:ext uri="{BB962C8B-B14F-4D97-AF65-F5344CB8AC3E}">
        <p14:creationId xmlns:p14="http://schemas.microsoft.com/office/powerpoint/2010/main" val="11878767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2026-10-16T08:00:35.1930000Z</dcterms:created>
  <dcterms:modified xsi:type="dcterms:W3CDTF">2026-10-16T08:00:35.1930000Z</dcterms:modified>
</coreProperties>
</file>