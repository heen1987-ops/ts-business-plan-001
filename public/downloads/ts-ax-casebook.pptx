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f7dcfbf39b4c63" /><Relationship Type="http://schemas.openxmlformats.org/officeDocument/2006/relationships/extended-properties" Target="/docProps/app.xml" Id="R5471aba47945490a" /><Relationship Type="http://schemas.openxmlformats.org/officeDocument/2006/relationships/officeDocument" Target="/ppt/presentation.xml" Id="Re8fac95ea0f9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d73e2691043f3"/>
  </p:sldMasterIdLst>
  <p:notesMasterIdLst>
    <p:notesMasterId xmlns:r="http://schemas.openxmlformats.org/officeDocument/2006/relationships" r:id="R2a75ea49151c4b0a"/>
  </p:notesMasterIdLst>
  <p:sldIdLst>
    <p:sldId xmlns:r="http://schemas.openxmlformats.org/officeDocument/2006/relationships" id="256" r:id="R3d0ab8bc92c748df"/>
    <p:sldId xmlns:r="http://schemas.openxmlformats.org/officeDocument/2006/relationships" id="257" r:id="R9c2af83cc2d4477d"/>
    <p:sldId xmlns:r="http://schemas.openxmlformats.org/officeDocument/2006/relationships" id="258" r:id="Rcf0bc46bd16d494d"/>
    <p:sldId xmlns:r="http://schemas.openxmlformats.org/officeDocument/2006/relationships" id="259" r:id="Ra65651ad86ff462f"/>
    <p:sldId xmlns:r="http://schemas.openxmlformats.org/officeDocument/2006/relationships" id="260" r:id="R0c6ff890b65b4aed"/>
    <p:sldId xmlns:r="http://schemas.openxmlformats.org/officeDocument/2006/relationships" id="261" r:id="R1380d5884f444c58"/>
    <p:sldId xmlns:r="http://schemas.openxmlformats.org/officeDocument/2006/relationships" id="262" r:id="R2dfaf9e484084a26"/>
    <p:sldId xmlns:r="http://schemas.openxmlformats.org/officeDocument/2006/relationships" id="263" r:id="R661e027ddbbd48ef"/>
    <p:sldId xmlns:r="http://schemas.openxmlformats.org/officeDocument/2006/relationships" id="264" r:id="R9587698afac8428f"/>
    <p:sldId xmlns:r="http://schemas.openxmlformats.org/officeDocument/2006/relationships" id="265" r:id="R818f3b37d5774c97"/>
    <p:sldId xmlns:r="http://schemas.openxmlformats.org/officeDocument/2006/relationships" id="266" r:id="R9a462f8ec55a48a9"/>
    <p:sldId xmlns:r="http://schemas.openxmlformats.org/officeDocument/2006/relationships" id="267" r:id="Rebc5d8c5031d48e2"/>
    <p:sldId xmlns:r="http://schemas.openxmlformats.org/officeDocument/2006/relationships" id="268" r:id="R44db73afd5ab4cfe"/>
    <p:sldId xmlns:r="http://schemas.openxmlformats.org/officeDocument/2006/relationships" id="269" r:id="Rf58d98a32d2a470b"/>
    <p:sldId xmlns:r="http://schemas.openxmlformats.org/officeDocument/2006/relationships" id="270" r:id="R7d1c3953ed864087"/>
    <p:sldId xmlns:r="http://schemas.openxmlformats.org/officeDocument/2006/relationships" id="271" r:id="R090e402ed7b24964"/>
    <p:sldId xmlns:r="http://schemas.openxmlformats.org/officeDocument/2006/relationships" id="272" r:id="Rf381cdf820cf47d3"/>
    <p:sldId xmlns:r="http://schemas.openxmlformats.org/officeDocument/2006/relationships" id="273" r:id="R753bad5f367048e3"/>
    <p:sldId xmlns:r="http://schemas.openxmlformats.org/officeDocument/2006/relationships" id="274" r:id="R7217ffae63214045"/>
    <p:sldId xmlns:r="http://schemas.openxmlformats.org/officeDocument/2006/relationships" id="275" r:id="R75380dddb1124938"/>
    <p:sldId xmlns:r="http://schemas.openxmlformats.org/officeDocument/2006/relationships" id="276" r:id="R784e8faa7d76424a"/>
    <p:sldId xmlns:r="http://schemas.openxmlformats.org/officeDocument/2006/relationships" id="277" r:id="R86fde634b58f4ec9"/>
    <p:sldId xmlns:r="http://schemas.openxmlformats.org/officeDocument/2006/relationships" id="278" r:id="Rdaad4fe41e8f4602"/>
    <p:sldId xmlns:r="http://schemas.openxmlformats.org/officeDocument/2006/relationships" id="279" r:id="R3c0a031311174972"/>
    <p:sldId xmlns:r="http://schemas.openxmlformats.org/officeDocument/2006/relationships" id="280" r:id="Rcbdd32fce7a44f5a"/>
    <p:sldId xmlns:r="http://schemas.openxmlformats.org/officeDocument/2006/relationships" id="281" r:id="R89f3ca1fd4f84e20"/>
    <p:sldId xmlns:r="http://schemas.openxmlformats.org/officeDocument/2006/relationships" id="282" r:id="R0fabdc9089444a14"/>
    <p:sldId xmlns:r="http://schemas.openxmlformats.org/officeDocument/2006/relationships" id="283" r:id="R2cb1cd5606a748e2"/>
    <p:sldId xmlns:r="http://schemas.openxmlformats.org/officeDocument/2006/relationships" id="284" r:id="R910eb1530e7f44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cd919a0544c43" /><Relationship Type="http://schemas.openxmlformats.org/officeDocument/2006/relationships/slideMaster" Target="/ppt/slideMasters/slideMaster1.xml" Id="R30ed73e2691043f3" /><Relationship Type="http://schemas.openxmlformats.org/officeDocument/2006/relationships/notesMaster" Target="/ppt/notesMasters/notesMaster1.xml" Id="R2a75ea49151c4b0a" /><Relationship Type="http://schemas.openxmlformats.org/officeDocument/2006/relationships/presProps" Target="/ppt/presProps.xml" Id="R31dc11412a4143f1" /><Relationship Type="http://schemas.openxmlformats.org/officeDocument/2006/relationships/tableStyles" Target="/ppt/tableStyles.xml" Id="R0d8efaa6982541fa" /><Relationship Type="http://schemas.openxmlformats.org/officeDocument/2006/relationships/slide" Target="/ppt/slides/slide1.xml" Id="R3d0ab8bc92c748df" /><Relationship Type="http://schemas.openxmlformats.org/officeDocument/2006/relationships/slide" Target="/ppt/slides/slide2.xml" Id="R9c2af83cc2d4477d" /><Relationship Type="http://schemas.openxmlformats.org/officeDocument/2006/relationships/slide" Target="/ppt/slides/slide3.xml" Id="Rcf0bc46bd16d494d" /><Relationship Type="http://schemas.openxmlformats.org/officeDocument/2006/relationships/slide" Target="/ppt/slides/slide4.xml" Id="Ra65651ad86ff462f" /><Relationship Type="http://schemas.openxmlformats.org/officeDocument/2006/relationships/slide" Target="/ppt/slides/slide5.xml" Id="R0c6ff890b65b4aed" /><Relationship Type="http://schemas.openxmlformats.org/officeDocument/2006/relationships/slide" Target="/ppt/slides/slide6.xml" Id="R1380d5884f444c58" /><Relationship Type="http://schemas.openxmlformats.org/officeDocument/2006/relationships/slide" Target="/ppt/slides/slide7.xml" Id="R2dfaf9e484084a26" /><Relationship Type="http://schemas.openxmlformats.org/officeDocument/2006/relationships/slide" Target="/ppt/slides/slide8.xml" Id="R661e027ddbbd48ef" /><Relationship Type="http://schemas.openxmlformats.org/officeDocument/2006/relationships/slide" Target="/ppt/slides/slide9.xml" Id="R9587698afac8428f" /><Relationship Type="http://schemas.openxmlformats.org/officeDocument/2006/relationships/slide" Target="/ppt/slides/slide10.xml" Id="R818f3b37d5774c97" /><Relationship Type="http://schemas.openxmlformats.org/officeDocument/2006/relationships/slide" Target="/ppt/slides/slide11.xml" Id="R9a462f8ec55a48a9" /><Relationship Type="http://schemas.openxmlformats.org/officeDocument/2006/relationships/slide" Target="/ppt/slides/slide12.xml" Id="Rebc5d8c5031d48e2" /><Relationship Type="http://schemas.openxmlformats.org/officeDocument/2006/relationships/slide" Target="/ppt/slides/slide13.xml" Id="R44db73afd5ab4cfe" /><Relationship Type="http://schemas.openxmlformats.org/officeDocument/2006/relationships/slide" Target="/ppt/slides/slide14.xml" Id="Rf58d98a32d2a470b" /><Relationship Type="http://schemas.openxmlformats.org/officeDocument/2006/relationships/slide" Target="/ppt/slides/slide15.xml" Id="R7d1c3953ed864087" /><Relationship Type="http://schemas.openxmlformats.org/officeDocument/2006/relationships/slide" Target="/ppt/slides/slide16.xml" Id="R090e402ed7b24964" /><Relationship Type="http://schemas.openxmlformats.org/officeDocument/2006/relationships/slide" Target="/ppt/slides/slide17.xml" Id="Rf381cdf820cf47d3" /><Relationship Type="http://schemas.openxmlformats.org/officeDocument/2006/relationships/slide" Target="/ppt/slides/slide18.xml" Id="R753bad5f367048e3" /><Relationship Type="http://schemas.openxmlformats.org/officeDocument/2006/relationships/slide" Target="/ppt/slides/slide19.xml" Id="R7217ffae63214045" /><Relationship Type="http://schemas.openxmlformats.org/officeDocument/2006/relationships/slide" Target="/ppt/slides/slide20.xml" Id="R75380dddb1124938" /><Relationship Type="http://schemas.openxmlformats.org/officeDocument/2006/relationships/slide" Target="/ppt/slides/slide21.xml" Id="R784e8faa7d76424a" /><Relationship Type="http://schemas.openxmlformats.org/officeDocument/2006/relationships/slide" Target="/ppt/slides/slide22.xml" Id="R86fde634b58f4ec9" /><Relationship Type="http://schemas.openxmlformats.org/officeDocument/2006/relationships/slide" Target="/ppt/slides/slide23.xml" Id="Rdaad4fe41e8f4602" /><Relationship Type="http://schemas.openxmlformats.org/officeDocument/2006/relationships/slide" Target="/ppt/slides/slide24.xml" Id="R3c0a031311174972" /><Relationship Type="http://schemas.openxmlformats.org/officeDocument/2006/relationships/slide" Target="/ppt/slides/slide25.xml" Id="Rcbdd32fce7a44f5a" /><Relationship Type="http://schemas.openxmlformats.org/officeDocument/2006/relationships/slide" Target="/ppt/slides/slide26.xml" Id="R89f3ca1fd4f84e20" /><Relationship Type="http://schemas.openxmlformats.org/officeDocument/2006/relationships/slide" Target="/ppt/slides/slide27.xml" Id="R0fabdc9089444a14" /><Relationship Type="http://schemas.openxmlformats.org/officeDocument/2006/relationships/slide" Target="/ppt/slides/slide28.xml" Id="R2cb1cd5606a748e2" /><Relationship Type="http://schemas.openxmlformats.org/officeDocument/2006/relationships/slide" Target="/ppt/slides/slide29.xml" Id="R910eb1530e7f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38d48c3ed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524801f644df3" /><Relationship Type="http://schemas.openxmlformats.org/officeDocument/2006/relationships/notesMaster" Target="/ppt/notesMasters/notesMaster1.xml" Id="R50e6b2c5ba1945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0772492444969" /><Relationship Type="http://schemas.openxmlformats.org/officeDocument/2006/relationships/notesMaster" Target="/ppt/notesMasters/notesMaster1.xml" Id="Rda375c94b2b6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538ff978ad4798" /><Relationship Type="http://schemas.openxmlformats.org/officeDocument/2006/relationships/notesMaster" Target="/ppt/notesMasters/notesMaster1.xml" Id="Rba36b11b7ece44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228244ce24643" /><Relationship Type="http://schemas.openxmlformats.org/officeDocument/2006/relationships/notesMaster" Target="/ppt/notesMasters/notesMaster1.xml" Id="R47df3e0a468640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ee9ce67ab1443a" /><Relationship Type="http://schemas.openxmlformats.org/officeDocument/2006/relationships/notesMaster" Target="/ppt/notesMasters/notesMaster1.xml" Id="Rc0832376af5e41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935b51ee84a27" /><Relationship Type="http://schemas.openxmlformats.org/officeDocument/2006/relationships/notesMaster" Target="/ppt/notesMasters/notesMaster1.xml" Id="Ra07d2db12c4944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d83ee362340bd" /><Relationship Type="http://schemas.openxmlformats.org/officeDocument/2006/relationships/notesMaster" Target="/ppt/notesMasters/notesMaster1.xml" Id="R12e82138365248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c5a9c261a24f1e" /><Relationship Type="http://schemas.openxmlformats.org/officeDocument/2006/relationships/notesMaster" Target="/ppt/notesMasters/notesMaster1.xml" Id="Rdddddf62a2124c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4f03f0bc904e81" /><Relationship Type="http://schemas.openxmlformats.org/officeDocument/2006/relationships/notesMaster" Target="/ppt/notesMasters/notesMaster1.xml" Id="Re2d6fd9a2ee940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7eb1ab7ba47b9" /><Relationship Type="http://schemas.openxmlformats.org/officeDocument/2006/relationships/notesMaster" Target="/ppt/notesMasters/notesMaster1.xml" Id="R8a802e2ded0b4e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dce7bf03f44408" /><Relationship Type="http://schemas.openxmlformats.org/officeDocument/2006/relationships/notesMaster" Target="/ppt/notesMasters/notesMaster1.xml" Id="R68bfc83ed8414c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67f02aac9a48d6" /><Relationship Type="http://schemas.openxmlformats.org/officeDocument/2006/relationships/notesMaster" Target="/ppt/notesMasters/notesMaster1.xml" Id="R3894bf9b674844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a7c7c6fea2467d" /><Relationship Type="http://schemas.openxmlformats.org/officeDocument/2006/relationships/notesMaster" Target="/ppt/notesMasters/notesMaster1.xml" Id="Rc411e95aebb24f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7460505b054508" /><Relationship Type="http://schemas.openxmlformats.org/officeDocument/2006/relationships/notesMaster" Target="/ppt/notesMasters/notesMaster1.xml" Id="R2a4b3eebbe8445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bbdb23090d40df" /><Relationship Type="http://schemas.openxmlformats.org/officeDocument/2006/relationships/notesMaster" Target="/ppt/notesMasters/notesMaster1.xml" Id="R03932a820af141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75ce18be6043f8" /><Relationship Type="http://schemas.openxmlformats.org/officeDocument/2006/relationships/notesMaster" Target="/ppt/notesMasters/notesMaster1.xml" Id="R78594dc17d1a40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fc4812b5cc4523" /><Relationship Type="http://schemas.openxmlformats.org/officeDocument/2006/relationships/notesMaster" Target="/ppt/notesMasters/notesMaster1.xml" Id="Rfdc8fab5e8e244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39226777424c2e" /><Relationship Type="http://schemas.openxmlformats.org/officeDocument/2006/relationships/notesMaster" Target="/ppt/notesMasters/notesMaster1.xml" Id="R49a66e662d9c4a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f38fc7c8404ec9" /><Relationship Type="http://schemas.openxmlformats.org/officeDocument/2006/relationships/notesMaster" Target="/ppt/notesMasters/notesMaster1.xml" Id="R93d69bcc997f44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c56440a1f2482b" /><Relationship Type="http://schemas.openxmlformats.org/officeDocument/2006/relationships/notesMaster" Target="/ppt/notesMasters/notesMaster1.xml" Id="Rda664d9f63d449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d245260f2b4cce" /><Relationship Type="http://schemas.openxmlformats.org/officeDocument/2006/relationships/notesMaster" Target="/ppt/notesMasters/notesMaster1.xml" Id="Rc32a2831b96e4b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9706cbb9154fec" /><Relationship Type="http://schemas.openxmlformats.org/officeDocument/2006/relationships/notesMaster" Target="/ppt/notesMasters/notesMaster1.xml" Id="R94ea69f045634d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142dea4a7f42a1" /><Relationship Type="http://schemas.openxmlformats.org/officeDocument/2006/relationships/notesMaster" Target="/ppt/notesMasters/notesMaster1.xml" Id="R85d9b2432e5745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220c6260894b87" /><Relationship Type="http://schemas.openxmlformats.org/officeDocument/2006/relationships/notesMaster" Target="/ppt/notesMasters/notesMaster1.xml" Id="Rd1f3ff9ee5ca4e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580f5142b642aa" /><Relationship Type="http://schemas.openxmlformats.org/officeDocument/2006/relationships/notesMaster" Target="/ppt/notesMasters/notesMaster1.xml" Id="R819416e3b0e642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7af36a2dad400a" /><Relationship Type="http://schemas.openxmlformats.org/officeDocument/2006/relationships/notesMaster" Target="/ppt/notesMasters/notesMaster1.xml" Id="Rb5dab6c713cc43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f1a14c22f44db3" /><Relationship Type="http://schemas.openxmlformats.org/officeDocument/2006/relationships/notesMaster" Target="/ppt/notesMasters/notesMaster1.xml" Id="Rab3a9882a7f74a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3786a1ebd64ea6" /><Relationship Type="http://schemas.openxmlformats.org/officeDocument/2006/relationships/notesMaster" Target="/ppt/notesMasters/notesMaster1.xml" Id="Ra48b8349dc0a43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f9bcca53ce433a" /><Relationship Type="http://schemas.openxmlformats.org/officeDocument/2006/relationships/notesMaster" Target="/ppt/notesMasters/notesMaster1.xml" Id="R95813b911ac948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사례·출처·자료 내려받기: https://heen1987-ops.github.io/TS-business-Plan-001/index.html?view=casebook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"AX02",</a:t>
            </a:r>
          </a:p>
          <a:p xmlns:a="http://schemas.openxmlformats.org/drawingml/2006/main">
            <a:r>
              <a:t>  "title": "CLOVA CareCall",</a:t>
            </a:r>
          </a:p>
          <a:p xmlns:a="http://schemas.openxmlformats.org/drawingml/2006/main">
            <a:r>
              <a:t>  "region": "국내",</a:t>
            </a:r>
          </a:p>
          <a:p xmlns:a="http://schemas.openxmlformats.org/drawingml/2006/main">
            <a:r>
              <a:t>  "country": "대한민국",</a:t>
            </a:r>
          </a:p>
          <a:p xmlns:a="http://schemas.openxmlformats.org/drawingml/2006/main">
            <a:r>
              <a:t>  "result": "혼합",</a:t>
            </a:r>
          </a:p>
          <a:p xmlns:a="http://schemas.openxmlformats.org/drawingml/2006/main">
            <a:r>
              <a:t>  "kind": "음성·LLM 돌봄 서비스",</a:t>
            </a:r>
          </a:p>
          <a:p xmlns:a="http://schemas.openxmlformats.org/drawingml/2006/main">
            <a:r>
              <a:t>  "period": "CHI 2023 / 2024 소개",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"음성",</a:t>
            </a:r>
          </a:p>
          <a:p xmlns:a="http://schemas.openxmlformats.org/drawingml/2006/main">
            <a:r>
              <a:t>    "정보약자",</a:t>
            </a:r>
          </a:p>
          <a:p xmlns:a="http://schemas.openxmlformats.org/drawingml/2006/main">
            <a:r>
              <a:t>    "맞춤 서비스",</a:t>
            </a:r>
          </a:p>
          <a:p xmlns:a="http://schemas.openxmlformats.org/drawingml/2006/main">
            <a:r>
              <a:t>    "인간 개입"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"안부전화와 복지 담당자 후속 대응의 결합; 인터뷰에서 업무 부담 완화와 사용자 이해의 이점 보고",</a:t>
            </a:r>
          </a:p>
          <a:p xmlns:a="http://schemas.openxmlformats.org/drawingml/2006/main">
            <a:r>
              <a:t>  "limit": "소규모 질적 연구 · 부적절 발화 통제와 지자체별 요구 반영의 난점 · 임상 효과 근거 아님",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"안부전화",</a:t>
            </a:r>
          </a:p>
          <a:p xmlns:a="http://schemas.openxmlformats.org/drawingml/2006/main">
            <a:r>
              <a:t>    "LLM 대화",</a:t>
            </a:r>
          </a:p>
          <a:p xmlns:a="http://schemas.openxmlformats.org/drawingml/2006/main">
            <a:r>
              <a:t>    "내역 열람·분석",</a:t>
            </a:r>
          </a:p>
          <a:p xmlns:a="http://schemas.openxmlformats.org/drawingml/2006/main">
            <a:r>
              <a:t>    "복지 담당자 대응"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"개발사 공개 서비스 구조 요약",</a:t>
            </a:r>
          </a:p>
          <a:p xmlns:a="http://schemas.openxmlformats.org/drawingml/2006/main">
            <a:r>
              <a:t>  "lesson": "자유 발화와 필수 업무 항목의 분리 및 사람에게 연결되는 경로",</a:t>
            </a:r>
          </a:p>
          <a:p xmlns:a="http://schemas.openxmlformats.org/drawingml/2006/main">
            <a:r>
              <a:t>  "local": "TS 민원 발화를 요약한 뒤 신청 목적·대상·지역의 사용자 확인",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"한국어 음성 연계 / 발화 정리 / 필수 항목 검증 / 상담 전환",</a:t>
            </a:r>
          </a:p>
          <a:p xmlns:a="http://schemas.openxmlformats.org/drawingml/2006/main">
            <a:r>
              <a:t>  "test": "고령·소음·방언 표본의 필수 항목 정확도 및 상담 전환 성공률",</a:t>
            </a:r>
          </a:p>
          <a:p xmlns:a="http://schemas.openxmlformats.org/drawingml/2006/main">
            <a:r>
              <a:t>  "metric": "서비스 도달률 / 발화 재입력률 / 집단별 완료시간"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NAVER · CareCall 이해관계자 연구 https://clova.ai/tech-blog/ko-clova-%EC%BC%80%EC%96%B4%EC%BD%9C-%EC%97%B0%EA%B5%AC-%EB%85%BC%EB%AC%B8-%EC%86%8C%EA%B0%9C-%EC%B4%88%EA%B1%B0%EB%8C%80-%EC%9D%B8%EA%B3%B5%EC%A7%80%EB%8A%A5-%EA%B8%B0%EB%B0%98-%EC%B1%97%EB%B4%87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"AX03",</a:t>
            </a:r>
          </a:p>
          <a:p xmlns:a="http://schemas.openxmlformats.org/drawingml/2006/main">
            <a:r>
              <a:t>  "title": "이루다 개인정보 처리",</a:t>
            </a:r>
          </a:p>
          <a:p xmlns:a="http://schemas.openxmlformats.org/drawingml/2006/main">
            <a:r>
              <a:t>  "region": "국내",</a:t>
            </a:r>
          </a:p>
          <a:p xmlns:a="http://schemas.openxmlformats.org/drawingml/2006/main">
            <a:r>
              <a:t>  "country": "대한민국",</a:t>
            </a:r>
          </a:p>
          <a:p xmlns:a="http://schemas.openxmlformats.org/drawingml/2006/main">
            <a:r>
              <a:t>  "result": "실패",</a:t>
            </a:r>
          </a:p>
          <a:p xmlns:a="http://schemas.openxmlformats.org/drawingml/2006/main">
            <a:r>
              <a:t>  "kind": "학습·응답 데이터 통제",</a:t>
            </a:r>
          </a:p>
          <a:p xmlns:a="http://schemas.openxmlformats.org/drawingml/2006/main">
            <a:r>
              <a:t>  "period": "2021 조사",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"개인정보",</a:t>
            </a:r>
          </a:p>
          <a:p xmlns:a="http://schemas.openxmlformats.org/drawingml/2006/main">
            <a:r>
              <a:t>    "목적 제한",</a:t>
            </a:r>
          </a:p>
          <a:p xmlns:a="http://schemas.openxmlformats.org/drawingml/2006/main">
            <a:r>
              <a:t>    "데이터 재사용",</a:t>
            </a:r>
          </a:p>
          <a:p xmlns:a="http://schemas.openxmlformats.org/drawingml/2006/main">
            <a:r>
              <a:t>    "책임"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"다른 서비스에서 수집한 대화의 목적 외 학습·운영 이용 등에 대한 개인정보보호위원회 제재",</a:t>
            </a:r>
          </a:p>
          <a:p xmlns:a="http://schemas.openxmlformats.org/drawingml/2006/main">
            <a:r>
              <a:t>  "limit": "2021년 조사 대상 행위 기준 · 후속 서비스 전체에 대한 평가 아님",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"원 서비스 대화",</a:t>
            </a:r>
          </a:p>
          <a:p xmlns:a="http://schemas.openxmlformats.org/drawingml/2006/main">
            <a:r>
              <a:t>    "목적 외 재사용",</a:t>
            </a:r>
          </a:p>
          <a:p xmlns:a="http://schemas.openxmlformats.org/drawingml/2006/main">
            <a:r>
              <a:t>    "학습·응답 DB",</a:t>
            </a:r>
          </a:p>
          <a:p xmlns:a="http://schemas.openxmlformats.org/drawingml/2006/main">
            <a:r>
              <a:t>    "이루다 발화"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"조사에서 확인된 처리 관계 요약 · 내부 구현 상세 미공개",</a:t>
            </a:r>
          </a:p>
          <a:p xmlns:a="http://schemas.openxmlformats.org/drawingml/2006/main">
            <a:r>
              <a:t>  "lesson": "데이터 보유와 AI 활용 권한의 분리",</a:t>
            </a:r>
          </a:p>
          <a:p xmlns:a="http://schemas.openxmlformats.org/drawingml/2006/main">
            <a:r>
              <a:t>  "local": "인사·민원 데이터의 목적·보유기간·접근정책을 별도 속성으로 관리",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"CCK-02",</a:t>
            </a:r>
          </a:p>
          <a:p xmlns:a="http://schemas.openxmlformats.org/drawingml/2006/main">
            <a:r>
              <a:t>    "CCK-03"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"수집 목적 태그 / 학습·검색·출력별 정책 / 삭제·회수 전파",</a:t>
            </a:r>
          </a:p>
          <a:p xmlns:a="http://schemas.openxmlformats.org/drawingml/2006/main">
            <a:r>
              <a:t>  "test": "목적 외 입력 거부·권한 회수 후 검색 및 캐시 노출 차단",</a:t>
            </a:r>
          </a:p>
          <a:p xmlns:a="http://schemas.openxmlformats.org/drawingml/2006/main">
            <a:r>
              <a:t>  "metric": "필수 거부셋 노출 건수 / 삭제 전파 지연"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개인정보보호위원회 · 이루다 조사 결과 https://www.korea.kr/news/policyNewsView.do?newsId=156449232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"AX04",</a:t>
            </a:r>
          </a:p>
          <a:p xmlns:a="http://schemas.openxmlformats.org/drawingml/2006/main">
            <a:r>
              <a:t>  "title": "영국 정부 M365 Copilot",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"영국",</a:t>
            </a:r>
          </a:p>
          <a:p xmlns:a="http://schemas.openxmlformats.org/drawingml/2006/main">
            <a:r>
              <a:t>  "result": "혼합",</a:t>
            </a:r>
          </a:p>
          <a:p xmlns:a="http://schemas.openxmlformats.org/drawingml/2006/main">
            <a:r>
              <a:t>  "kind": "직원 업무 생산성 실험",</a:t>
            </a:r>
          </a:p>
          <a:p xmlns:a="http://schemas.openxmlformats.org/drawingml/2006/main">
            <a:r>
              <a:t>  "period": "2024.09–12 실험",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"업무효율",</a:t>
            </a:r>
          </a:p>
          <a:p xmlns:a="http://schemas.openxmlformats.org/drawingml/2006/main">
            <a:r>
              <a:t>    "직원",</a:t>
            </a:r>
          </a:p>
          <a:p xmlns:a="http://schemas.openxmlformats.org/drawingml/2006/main">
            <a:r>
              <a:t>    "권한",</a:t>
            </a:r>
          </a:p>
          <a:p xmlns:a="http://schemas.openxmlformats.org/drawingml/2006/main">
            <a:r>
              <a:t>    "성과 측정"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"2만 명 규모 실험; 설문 응답자 7,115명의 자기보고 시간 절약 평균 약 26분/일",</a:t>
            </a:r>
          </a:p>
          <a:p xmlns:a="http://schemas.openxmlformats.org/drawingml/2006/main">
            <a:r>
              <a:t>  "limit": "실측 인과효과 아님 · 복잡한 맥락·데이터 업무 한계 · 기존 자료 과다공유 위험",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"직원 요청",</a:t>
            </a:r>
          </a:p>
          <a:p xmlns:a="http://schemas.openxmlformats.org/drawingml/2006/main">
            <a:r>
              <a:t>    "기존 접근권한",</a:t>
            </a:r>
          </a:p>
          <a:p xmlns:a="http://schemas.openxmlformats.org/drawingml/2006/main">
            <a:r>
              <a:t>    "업무 자료 검색",</a:t>
            </a:r>
          </a:p>
          <a:p xmlns:a="http://schemas.openxmlformats.org/drawingml/2006/main">
            <a:r>
              <a:t>    "초안·직원 검토"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"보고서의 기능·권한 설명 기반 재구성",</a:t>
            </a:r>
          </a:p>
          <a:p xmlns:a="http://schemas.openxmlformats.org/drawingml/2006/main">
            <a:r>
              <a:t>  "lesson": "사용 빈도와 실측 성과의 분리 / 기존 권한의 사전 정비",</a:t>
            </a:r>
          </a:p>
          <a:p xmlns:a="http://schemas.openxmlformats.org/drawingml/2006/main">
            <a:r>
              <a:t>  "local": "같은 요청을 부서·직무별로 분류하고 원천 접근권한을 검색 전 집행",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"로그인 ID–조직 연결 / 직무별 검색·서식 / 검토시간 포함 계측",</a:t>
            </a:r>
          </a:p>
          <a:p xmlns:a="http://schemas.openxmlformats.org/drawingml/2006/main">
            <a:r>
              <a:t>  "test": "권한 교차 시험과 동일 난도 업무의 전후·비교군 평가",</a:t>
            </a:r>
          </a:p>
          <a:p xmlns:a="http://schemas.openxmlformats.org/drawingml/2006/main">
            <a:r>
              <a:t>  "metric": "검토·재작업 포함 완료시간 / 오류율"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영국 정부 · M365 Copilot 실험 보고서 https://www.gov.uk/government/publications/microsoft-365-copilot-experiment-cross-government-findings-report/microsoft-365-copilot-experiment-cross-government-findings-report-html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"AX05",</a:t>
            </a:r>
          </a:p>
          <a:p xmlns:a="http://schemas.openxmlformats.org/drawingml/2006/main">
            <a:r>
              <a:t>  "title": "Google 데이터센터 냉각",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"미국",</a:t>
            </a:r>
          </a:p>
          <a:p xmlns:a="http://schemas.openxmlformats.org/drawingml/2006/main">
            <a:r>
              <a:t>  "result": "성공",</a:t>
            </a:r>
          </a:p>
          <a:p xmlns:a="http://schemas.openxmlformats.org/drawingml/2006/main">
            <a:r>
              <a:t>  "kind": "AI 기반 운영 최적화",</a:t>
            </a:r>
          </a:p>
          <a:p xmlns:a="http://schemas.openxmlformats.org/drawingml/2006/main">
            <a:r>
              <a:t>  "period": "2018 운영 발표",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"에너지",</a:t>
            </a:r>
          </a:p>
          <a:p xmlns:a="http://schemas.openxmlformats.org/drawingml/2006/main">
            <a:r>
              <a:t>    "친환경",</a:t>
            </a:r>
          </a:p>
          <a:p xmlns:a="http://schemas.openxmlformats.org/drawingml/2006/main">
            <a:r>
              <a:t>    "안전 제약",</a:t>
            </a:r>
          </a:p>
          <a:p xmlns:a="http://schemas.openxmlformats.org/drawingml/2006/main">
            <a:r>
              <a:t>    "운영"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"운영사 보고 기준 냉각 효율 지표(kW/ton)의 과거 기준 대비 약 30% 개선",</a:t>
            </a:r>
          </a:p>
          <a:p xmlns:a="http://schemas.openxmlformats.org/drawingml/2006/main">
            <a:r>
              <a:t>  "limit": "데이터센터 냉각 한정 · 총 전력·탄소·TS 절감률과 구분",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"센서 상태",</a:t>
            </a:r>
          </a:p>
          <a:p xmlns:a="http://schemas.openxmlformats.org/drawingml/2006/main">
            <a:r>
              <a:t>    "소비 예측",</a:t>
            </a:r>
          </a:p>
          <a:p xmlns:a="http://schemas.openxmlformats.org/drawingml/2006/main">
            <a:r>
              <a:t>    "안전 제약 확인",</a:t>
            </a:r>
          </a:p>
          <a:p xmlns:a="http://schemas.openxmlformats.org/drawingml/2006/main">
            <a:r>
              <a:t>    "현장 재검증·제어"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기술 구조 요약 · 운영자 수동 전환 포함",</a:t>
            </a:r>
          </a:p>
          <a:p xmlns:a="http://schemas.openxmlformats.org/drawingml/2006/main">
            <a:r>
              <a:t>  "lesson": "추천과 실행 사이의 이중 검증 및 운영자 통제",</a:t>
            </a:r>
          </a:p>
          <a:p xmlns:a="http://schemas.openxmlformats.org/drawingml/2006/main">
            <a:r>
              <a:t>  "local": "TS 탄소·에너지 근거 검증과 운행 개선 권고부터 적용",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"CCK-02",</a:t>
            </a:r>
          </a:p>
          <a:p xmlns:a="http://schemas.openxmlformats.org/drawingml/2006/main">
            <a:r>
              <a:t>    "CCK-03"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"원천·배출계수 판본 대사 / 계산 검증 / 권고 승인 / 계측",</a:t>
            </a:r>
          </a:p>
          <a:p xmlns:a="http://schemas.openxmlformats.org/drawingml/2006/main">
            <a:r>
              <a:t>  "test": "계수·단위·경계조건별 재계산 및 이상 입력 시 권고 보류",</a:t>
            </a:r>
          </a:p>
          <a:p xmlns:a="http://schemas.openxmlformats.org/drawingml/2006/main">
            <a:r>
              <a:t>  "metric": "검증된 활동량당 에너지 / 산식 오류율"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Google DeepMind · 데이터센터 냉각 제어 https://deepmind.google/blog/safety-first-ai-for-autonomous-data-centre-cooling-and-industrial-control/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"AX06",</a:t>
            </a:r>
          </a:p>
          <a:p xmlns:a="http://schemas.openxmlformats.org/drawingml/2006/main">
            <a:r>
              <a:t>  "title": "GOV.UK Chat",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"영국",</a:t>
            </a:r>
          </a:p>
          <a:p xmlns:a="http://schemas.openxmlformats.org/drawingml/2006/main">
            <a:r>
              <a:t>  "result": "혼합",</a:t>
            </a:r>
          </a:p>
          <a:p xmlns:a="http://schemas.openxmlformats.org/drawingml/2006/main">
            <a:r>
              <a:t>  "kind": "정부 안내 RAG 실증",</a:t>
            </a:r>
          </a:p>
          <a:p xmlns:a="http://schemas.openxmlformats.org/drawingml/2006/main">
            <a:r>
              <a:t>  "period": "2025 기술 기록 / 2026 실증",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"S06",</a:t>
            </a:r>
          </a:p>
          <a:p xmlns:a="http://schemas.openxmlformats.org/drawingml/2006/main">
            <a:r>
              <a:t>    "S07"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"민원",</a:t>
            </a:r>
          </a:p>
          <a:p xmlns:a="http://schemas.openxmlformats.org/drawingml/2006/main">
            <a:r>
              <a:t>    "공공정보",</a:t>
            </a:r>
          </a:p>
          <a:p xmlns:a="http://schemas.openxmlformats.org/drawingml/2006/main">
            <a:r>
              <a:t>    "자연어 탐색",</a:t>
            </a:r>
          </a:p>
          <a:p xmlns:a="http://schemas.openxmlformats.org/drawingml/2006/main">
            <a:r>
              <a:t>    "서비스 접근"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"iOS 실증 641명·4주·2,670개 질문; 안내 편의와 응답속도·업무 범위의 개선 과제 확인",</a:t>
            </a:r>
          </a:p>
          <a:p xmlns:a="http://schemas.openxmlformats.org/drawingml/2006/main">
            <a:r>
              <a:t>  "limit": "공개 안내 검색 범위 · 개인 업무 처리와 담당자 인계는 당시 지원·개선 범위 구분",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"질문 분류",</a:t>
            </a:r>
          </a:p>
          <a:p xmlns:a="http://schemas.openxmlformats.org/drawingml/2006/main">
            <a:r>
              <a:t>    "GOV.UK 자료 검색",</a:t>
            </a:r>
          </a:p>
          <a:p xmlns:a="http://schemas.openxmlformats.org/drawingml/2006/main">
            <a:r>
              <a:t>    "근거 기반 응답",</a:t>
            </a:r>
          </a:p>
          <a:p xmlns:a="http://schemas.openxmlformats.org/drawingml/2006/main">
            <a:r>
              <a:t>    "공식 안내 확인"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RAG 구조와 실증 결과의 요약",</a:t>
            </a:r>
          </a:p>
          <a:p xmlns:a="http://schemas.openxmlformats.org/drawingml/2006/main">
            <a:r>
              <a:t>  "lesson": "공식 서비스 목록·정확도·수행 경계의 명시",</a:t>
            </a:r>
          </a:p>
          <a:p xmlns:a="http://schemas.openxmlformats.org/drawingml/2006/main">
            <a:r>
              <a:t>  "local": "TS 공개 서비스 카탈로그와 소관 부서 연결 / 메뉴를 유지한 프롬프트·음성 진입",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"공개·내부 지식 분리 / 서비스 라우터 / 필수 입력 확인 / 인증·전송 연계",</a:t>
            </a:r>
          </a:p>
          <a:p xmlns:a="http://schemas.openxmlformats.org/drawingml/2006/main">
            <a:r>
              <a:t>  "test": "실제 메뉴 대비 업무 도달률·완료시간 및 잘못된 기관 안내 검증",</a:t>
            </a:r>
          </a:p>
          <a:p xmlns:a="http://schemas.openxmlformats.org/drawingml/2006/main">
            <a:r>
              <a:t>  "metric": "정확한 서비스 도달률 / 포기율 / 응답 p95"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GDS · GOV.UK Chat 이용자 실증 https://insidegovuk.blog.gov.uk/2026/03/16/5-things-we-learned-testing-gov-uk-chat-an-ai-assistant-for-government/</a:t>
            </a:r>
          </a:p>
          <a:p xmlns:a="http://schemas.openxmlformats.org/drawingml/2006/main">
            <a:r>
              <a:t>DSIT · GOV.UK Chat 알고리즘 공개 기록 https://www.gov.uk/algorithmic-transparency-records/dsit-gov-dot-uk-chat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"AX07",</a:t>
            </a:r>
          </a:p>
          <a:p xmlns:a="http://schemas.openxmlformats.org/drawingml/2006/main">
            <a:r>
              <a:t>  "title": "호주 Robodebt",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"호주",</a:t>
            </a:r>
          </a:p>
          <a:p xmlns:a="http://schemas.openxmlformats.org/drawingml/2006/main">
            <a:r>
              <a:t>  "result": "실패",</a:t>
            </a:r>
          </a:p>
          <a:p xmlns:a="http://schemas.openxmlformats.org/drawingml/2006/main">
            <a:r>
              <a:t>  "kind": "행정 자동화·책임 통제",</a:t>
            </a:r>
          </a:p>
          <a:p xmlns:a="http://schemas.openxmlformats.org/drawingml/2006/main">
            <a:r>
              <a:t>  "period": "2023 최종 조사",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"행정 판단",</a:t>
            </a:r>
          </a:p>
          <a:p xmlns:a="http://schemas.openxmlformats.org/drawingml/2006/main">
            <a:r>
              <a:t>    "적법성",</a:t>
            </a:r>
          </a:p>
          <a:p xmlns:a="http://schemas.openxmlformats.org/drawingml/2006/main">
            <a:r>
              <a:t>    "이의제기",</a:t>
            </a:r>
          </a:p>
          <a:p xmlns:a="http://schemas.openxmlformats.org/drawingml/2006/main">
            <a:r>
              <a:t>    "공정성"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"왕립위원회 최종 조사에서 자동 결정의 법적 틀·재심 경로·데이터 교환 통제·취약계층 대응 개선 권고",</a:t>
            </a:r>
          </a:p>
          <a:p xmlns:a="http://schemas.openxmlformats.org/drawingml/2006/main">
            <a:r>
              <a:t>  "limit": "규칙 기반 행정 자동화의 실패 교훈 · 생성형 AI 사례 아님",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"기관 간 자료",</a:t>
            </a:r>
          </a:p>
          <a:p xmlns:a="http://schemas.openxmlformats.org/drawingml/2006/main">
            <a:r>
              <a:t>    "자동 산정·결정",</a:t>
            </a:r>
          </a:p>
          <a:p xmlns:a="http://schemas.openxmlformats.org/drawingml/2006/main">
            <a:r>
              <a:t>    "대상자 통지",</a:t>
            </a:r>
          </a:p>
          <a:p xmlns:a="http://schemas.openxmlformats.org/drawingml/2006/main">
            <a:r>
              <a:t>    "이의제기·재심"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"조사 권고의 대상 업무를 설명하기 위한 재구성",</a:t>
            </a:r>
          </a:p>
          <a:p xmlns:a="http://schemas.openxmlformats.org/drawingml/2006/main">
            <a:r>
              <a:t>  "lesson": "자동화 이전의 법적 근거·증빙 검증과 재심 경로",</a:t>
            </a:r>
          </a:p>
          <a:p xmlns:a="http://schemas.openxmlformats.org/drawingml/2006/main">
            <a:r>
              <a:t>  "local": "검사·지원·자격 업무의 근거 조문·증빙·전결 확인 후 담당자 판단",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"CCK-02",</a:t>
            </a:r>
          </a:p>
          <a:p xmlns:a="http://schemas.openxmlformats.org/drawingml/2006/main">
            <a:r>
              <a:t>    "CCK-03"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"근거·입력 검증 / 자동 확정 제한 / 이의제기·재검토 연결",</a:t>
            </a:r>
          </a:p>
          <a:p xmlns:a="http://schemas.openxmlformats.org/drawingml/2006/main">
            <a:r>
              <a:t>  "test": "누락·기간 불일치·권한 부재 시 보류 및 재심 처리 추적",</a:t>
            </a:r>
          </a:p>
          <a:p xmlns:a="http://schemas.openxmlformats.org/drawingml/2006/main">
            <a:r>
              <a:t>  "metric": "근거 누락률 / 오판 보완률 / 이의처리 시간"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호주 왕립위원회 · Robodebt 최종 보고서 https://robodebt.royalcommission.gov.au/publications/report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"AX08",</a:t>
            </a:r>
          </a:p>
          <a:p xmlns:a="http://schemas.openxmlformats.org/drawingml/2006/main">
            <a:r>
              <a:t>  "title": "Cruise 사고보고",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"미국",</a:t>
            </a:r>
          </a:p>
          <a:p xmlns:a="http://schemas.openxmlformats.org/drawingml/2006/main">
            <a:r>
              <a:t>  "result": "실패",</a:t>
            </a:r>
          </a:p>
          <a:p xmlns:a="http://schemas.openxmlformats.org/drawingml/2006/main">
            <a:r>
              <a:t>  "kind": "자율주행 안전·사고보고",</a:t>
            </a:r>
          </a:p>
          <a:p xmlns:a="http://schemas.openxmlformats.org/drawingml/2006/main">
            <a:r>
              <a:t>  "period": "2023 사고 / 2024 시정",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"S09"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"미래 모빌리티",</a:t>
            </a:r>
          </a:p>
          <a:p xmlns:a="http://schemas.openxmlformats.org/drawingml/2006/main">
            <a:r>
              <a:t>    "사고",</a:t>
            </a:r>
          </a:p>
          <a:p xmlns:a="http://schemas.openxmlformats.org/drawingml/2006/main">
            <a:r>
              <a:t>    "실증",</a:t>
            </a:r>
          </a:p>
          <a:p xmlns:a="http://schemas.openxmlformats.org/drawingml/2006/main">
            <a:r>
              <a:t>    "안전보고"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"충돌 후 상황을 빠뜨린 사고보고에 대한 NHTSA 시정 명령 및 강화된 보고·감독",</a:t>
            </a:r>
          </a:p>
          <a:p xmlns:a="http://schemas.openxmlformats.org/drawingml/2006/main">
            <a:r>
              <a:t>  "limit": "보고 완전성·안전 거버넌스 문제 · 사고 원인을 LLM 오류로 단정 불가",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"사고 원시 증거",</a:t>
            </a:r>
          </a:p>
          <a:p xmlns:a="http://schemas.openxmlformats.org/drawingml/2006/main">
            <a:r>
              <a:t>    "사건 타임라인",</a:t>
            </a:r>
          </a:p>
          <a:p xmlns:a="http://schemas.openxmlformats.org/drawingml/2006/main">
            <a:r>
              <a:t>    "보고서 작성",</a:t>
            </a:r>
          </a:p>
          <a:p xmlns:a="http://schemas.openxmlformats.org/drawingml/2006/main">
            <a:r>
              <a:t>    "감독기관 보고"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시정 내용 기반 보고 흐름 재구성",</a:t>
            </a:r>
          </a:p>
          <a:p xmlns:a="http://schemas.openxmlformats.org/drawingml/2006/main">
            <a:r>
              <a:t>  "lesson": "요약 결과와 원시 증거의 대사 / 보고 책임의 분리",</a:t>
            </a:r>
          </a:p>
          <a:p xmlns:a="http://schemas.openxmlformats.org/drawingml/2006/main">
            <a:r>
              <a:t>  "local": "TS 실증·사고·점검 자료의 사건 ID와 원문 시점별 근거 연결",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"CCK-02",</a:t>
            </a:r>
          </a:p>
          <a:p xmlns:a="http://schemas.openxmlformats.org/drawingml/2006/main">
            <a:r>
              <a:t>    "CCK-03"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"증거 무결성 / 필수 사건 체크 / 누락 경고 / 검토·승인 이력",</a:t>
            </a:r>
          </a:p>
          <a:p xmlns:a="http://schemas.openxmlformats.org/drawingml/2006/main">
            <a:r>
              <a:t>  "test": "누락 사건·충돌 시각 주입 후 탐지 및 승인 없이 전송 차단",</a:t>
            </a:r>
          </a:p>
          <a:p xmlns:a="http://schemas.openxmlformats.org/drawingml/2006/main">
            <a:r>
              <a:t>  "metric": "필수 사건 재현율 / 검토 누락률"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NHTSA · Cruise 사고보고 시정 명령 https://www.nhtsa.gov/press-releases/consent-order-cruise-crash-reporting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"AX13",</a:t>
            </a:r>
          </a:p>
          <a:p xmlns:a="http://schemas.openxmlformats.org/drawingml/2006/main">
            <a:r>
              <a:t>  "title": "뉴욕 MyCity 챗봇 감사",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"미국",</a:t>
            </a:r>
          </a:p>
          <a:p xmlns:a="http://schemas.openxmlformats.org/drawingml/2006/main">
            <a:r>
              <a:t>  "result": "실패",</a:t>
            </a:r>
          </a:p>
          <a:p xmlns:a="http://schemas.openxmlformats.org/drawingml/2006/main">
            <a:r>
              <a:t>  "kind": "공공 서비스 AI 품질·사업관리",</a:t>
            </a:r>
          </a:p>
          <a:p xmlns:a="http://schemas.openxmlformats.org/drawingml/2006/main">
            <a:r>
              <a:t>  "period": "2025 감사 / 2026 갱신",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"S-AX13"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"공공 서비스 AI 품질",</a:t>
            </a:r>
          </a:p>
          <a:p xmlns:a="http://schemas.openxmlformats.org/drawingml/2006/main">
            <a:r>
              <a:t>    "사업관리"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"부정확·비일관 답변과 사업관리·통합서비스 미비에 대한 감사 지적",</a:t>
            </a:r>
          </a:p>
          <a:p xmlns:a="http://schemas.openxmlformats.org/drawingml/2006/main">
            <a:r>
              <a:t>  "limit": "운영기관의 정확도 주장과 감사 판단의 차이 존재 · 개별 질의·평가 방식 대조 필요",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"공공 안내 자료",</a:t>
            </a:r>
          </a:p>
          <a:p xmlns:a="http://schemas.openxmlformats.org/drawingml/2006/main">
            <a:r>
              <a:t>    "AI 챗봇",</a:t>
            </a:r>
          </a:p>
          <a:p xmlns:a="http://schemas.openxmlformats.org/drawingml/2006/main">
            <a:r>
              <a:t>    "사업자 안내",</a:t>
            </a:r>
          </a:p>
          <a:p xmlns:a="http://schemas.openxmlformats.org/drawingml/2006/main">
            <a:r>
              <a:t>    "감사·개선 요청"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업무 흐름의 요약·재구성 / 내부 배치 구조 추정 제외",</a:t>
            </a:r>
          </a:p>
          <a:p xmlns:a="http://schemas.openxmlformats.org/drawingml/2006/main">
            <a:r>
              <a:t>  "lesson": "출시 여부와 실제 민원 과업 완료의 분리 평가",</a:t>
            </a:r>
          </a:p>
          <a:p xmlns:a="http://schemas.openxmlformats.org/drawingml/2006/main">
            <a:r>
              <a:t>  "local": "TS 대민 안내의 근거·소관·신청 완료까지 검수",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"반례 정답셋·오안내 신고·책임부서 인계",</a:t>
            </a:r>
          </a:p>
          <a:p xmlns:a="http://schemas.openxmlformats.org/drawingml/2006/main">
            <a:r>
              <a:t>  "test": "규정과 상충하는 안내 및 미완료 신청 재현",</a:t>
            </a:r>
          </a:p>
          <a:p xmlns:a="http://schemas.openxmlformats.org/drawingml/2006/main">
            <a:r>
              <a:t>  "metric": "오안내율 / 신청 완료율 / 재접촉률",</a:t>
            </a:r>
          </a:p>
          <a:p xmlns:a="http://schemas.openxmlformats.org/drawingml/2006/main">
            <a:r>
              <a:t>  "strategies": [</a:t>
            </a:r>
          </a:p>
          <a:p xmlns:a="http://schemas.openxmlformats.org/drawingml/2006/main">
            <a:r>
              <a:t>    "ST-04",</a:t>
            </a:r>
          </a:p>
          <a:p xmlns:a="http://schemas.openxmlformats.org/drawingml/2006/main">
            <a:r>
              <a:t>    "ST-08",</a:t>
            </a:r>
          </a:p>
          <a:p xmlns:a="http://schemas.openxmlformats.org/drawingml/2006/main">
            <a:r>
              <a:t>    "ST-09",</a:t>
            </a:r>
          </a:p>
          <a:p xmlns:a="http://schemas.openxmlformats.org/drawingml/2006/main">
            <a:r>
              <a:t>    "ST-10"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뉴욕 MyCity 챗봇 감사 · 뉴욕시 감사기관 / 2025-12-30 https://comptroller.nyc.gov/reports/audit-report-on-the-new-york-city-office-of-technology-and-innovations-mycity-system/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"AX18",</a:t>
            </a:r>
          </a:p>
          <a:p xmlns:a="http://schemas.openxmlformats.org/drawingml/2006/main">
            <a:r>
              <a:t>  "title": "Network Rail Insight",</a:t>
            </a:r>
          </a:p>
          <a:p xmlns:a="http://schemas.openxmlformats.org/drawingml/2006/main">
            <a:r>
              <a:t>  "region": "해외",</a:t>
            </a:r>
          </a:p>
          <a:p xmlns:a="http://schemas.openxmlformats.org/drawingml/2006/main">
            <a:r>
              <a:t>  "country": "영국",</a:t>
            </a:r>
          </a:p>
          <a:p xmlns:a="http://schemas.openxmlformats.org/drawingml/2006/main">
            <a:r>
              <a:t>  "result": "성공",</a:t>
            </a:r>
          </a:p>
          <a:p xmlns:a="http://schemas.openxmlformats.org/drawingml/2006/main">
            <a:r>
              <a:t>  "kind": "철도 예지정비",</a:t>
            </a:r>
          </a:p>
          <a:p xmlns:a="http://schemas.openxmlformats.org/drawingml/2006/main">
            <a:r>
              <a:t>  "period": "2023 운영 소개",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"S-AX18"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"철도 예지정비"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"설비 데이터와 AI 분석을 결합하여 철도 유지관리의 이상 징후·우선순위 검토 지원",</a:t>
            </a:r>
          </a:p>
          <a:p xmlns:a="http://schemas.openxmlformats.org/drawingml/2006/main">
            <a:r>
              <a:t>  "limit": "철도 운영사 사례 · TS의 검사·감독 책임 범위에 맞춘 현지화 필요",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"설비·검측 자료",</a:t>
            </a:r>
          </a:p>
          <a:p xmlns:a="http://schemas.openxmlformats.org/drawingml/2006/main">
            <a:r>
              <a:t>    "AI 이상 분석",</a:t>
            </a:r>
          </a:p>
          <a:p xmlns:a="http://schemas.openxmlformats.org/drawingml/2006/main">
            <a:r>
              <a:t>    "정비 우선순위",</a:t>
            </a:r>
          </a:p>
          <a:p xmlns:a="http://schemas.openxmlformats.org/drawingml/2006/main">
            <a:r>
              <a:t>    "담당자 조치"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업무 흐름의 요약·재구성 / 내부 배치 구조 추정 제외",</a:t>
            </a:r>
          </a:p>
          <a:p xmlns:a="http://schemas.openxmlformats.org/drawingml/2006/main">
            <a:r>
              <a:t>  "lesson": "위험 예측과 정비 의사결정의 연결",</a:t>
            </a:r>
          </a:p>
          <a:p xmlns:a="http://schemas.openxmlformats.org/drawingml/2006/main">
            <a:r>
              <a:t>  "local": "TS 점검 계획의 위험 근거·소관·이력 연결",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"설비별 위험 근거 묶음·담당 배정·기한 관리",</a:t>
            </a:r>
          </a:p>
          <a:p xmlns:a="http://schemas.openxmlformats.org/drawingml/2006/main">
            <a:r>
              <a:t>  "test": "결측·상충 신호·미조치 건 우선순위 검증",</a:t>
            </a:r>
          </a:p>
          <a:p xmlns:a="http://schemas.openxmlformats.org/drawingml/2006/main">
            <a:r>
              <a:t>  "metric": "점검 준비시간 / 미조치 추적률",</a:t>
            </a:r>
          </a:p>
          <a:p xmlns:a="http://schemas.openxmlformats.org/drawingml/2006/main">
            <a:r>
              <a:t>  "strategies": [</a:t>
            </a:r>
          </a:p>
          <a:p xmlns:a="http://schemas.openxmlformats.org/drawingml/2006/main">
            <a:r>
              <a:t>    "ST-02",</a:t>
            </a:r>
          </a:p>
          <a:p xmlns:a="http://schemas.openxmlformats.org/drawingml/2006/main">
            <a:r>
              <a:t>    "ST-03",</a:t>
            </a:r>
          </a:p>
          <a:p xmlns:a="http://schemas.openxmlformats.org/drawingml/2006/main">
            <a:r>
              <a:t>    "ST-05"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Network Rail Insight · 운영기관 / 2023-12-22 https://www.networkrail.co.uk/stories/using-artificial-intelligence-to-create-a-better-railway/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"AX21",</a:t>
            </a:r>
          </a:p>
          <a:p xmlns:a="http://schemas.openxmlformats.org/drawingml/2006/main">
            <a:r>
              <a:t>  "title": "항공안전 이슈 분석 AI PoC",</a:t>
            </a:r>
          </a:p>
          <a:p xmlns:a="http://schemas.openxmlformats.org/drawingml/2006/main">
            <a:r>
              <a:t>  "region": "국내",</a:t>
            </a:r>
          </a:p>
          <a:p xmlns:a="http://schemas.openxmlformats.org/drawingml/2006/main">
            <a:r>
              <a:t>  "country": "대한민국",</a:t>
            </a:r>
          </a:p>
          <a:p xmlns:a="http://schemas.openxmlformats.org/drawingml/2006/main">
            <a:r>
              <a:t>  "result": "시범",</a:t>
            </a:r>
          </a:p>
          <a:p xmlns:a="http://schemas.openxmlformats.org/drawingml/2006/main">
            <a:r>
              <a:t>  "kind": "안전 문서 분류·분석",</a:t>
            </a:r>
          </a:p>
          <a:p xmlns:a="http://schemas.openxmlformats.org/drawingml/2006/main">
            <a:r>
              <a:t>  "period": "2024 기술 실증",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"S-AX21"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"안전 문서 분류",</a:t>
            </a:r>
          </a:p>
          <a:p xmlns:a="http://schemas.openxmlformats.org/drawingml/2006/main">
            <a:r>
              <a:t>    "분석"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"항공안전 기사·분류체계 기반 번역·요약·위험 분류와 분석원 검토의 기술 실증",</a:t>
            </a:r>
          </a:p>
          <a:p xmlns:a="http://schemas.openxmlformats.org/drawingml/2006/main">
            <a:r>
              <a:t>  "limit": "PoC 범위 · 운영 생산성 실측으로 해석 금지",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"항공안전 기사",</a:t>
            </a:r>
          </a:p>
          <a:p xmlns:a="http://schemas.openxmlformats.org/drawingml/2006/main">
            <a:r>
              <a:t>    "전처리·RAG",</a:t>
            </a:r>
          </a:p>
          <a:p xmlns:a="http://schemas.openxmlformats.org/drawingml/2006/main">
            <a:r>
              <a:t>    "요약·위험 분류",</a:t>
            </a:r>
          </a:p>
          <a:p xmlns:a="http://schemas.openxmlformats.org/drawingml/2006/main">
            <a:r>
              <a:t>    "분석원 재검토"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업무 흐름의 요약·재구성 / 내부 배치 구조 추정 제외",</a:t>
            </a:r>
          </a:p>
          <a:p xmlns:a="http://schemas.openxmlformats.org/drawingml/2006/main">
            <a:r>
              <a:t>  "lesson": "전문 분류체계와 사람의 재검토 결합",</a:t>
            </a:r>
          </a:p>
          <a:p xmlns:a="http://schemas.openxmlformats.org/drawingml/2006/main">
            <a:r>
              <a:t>  "local": "TS 분야별 사고·위험 용어와 책임 직무 매핑",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"안전 이슈 분류셋·근거 위치·검토 기록",</a:t>
            </a:r>
          </a:p>
          <a:p xmlns:a="http://schemas.openxmlformats.org/drawingml/2006/main">
            <a:r>
              <a:t>  "test": "위험 유형별 누락·오분류·번역 오류 평가",</a:t>
            </a:r>
          </a:p>
          <a:p xmlns:a="http://schemas.openxmlformats.org/drawingml/2006/main">
            <a:r>
              <a:t>  "metric": "분류 재현율 / 검토 포함 소요시간",</a:t>
            </a:r>
          </a:p>
          <a:p xmlns:a="http://schemas.openxmlformats.org/drawingml/2006/main">
            <a:r>
              <a:t>  "strategies": [</a:t>
            </a:r>
          </a:p>
          <a:p xmlns:a="http://schemas.openxmlformats.org/drawingml/2006/main">
            <a:r>
              <a:t>    "ST-03",</a:t>
            </a:r>
          </a:p>
          <a:p xmlns:a="http://schemas.openxmlformats.org/drawingml/2006/main">
            <a:r>
              <a:t>    "ST-05",</a:t>
            </a:r>
          </a:p>
          <a:p xmlns:a="http://schemas.openxmlformats.org/drawingml/2006/main">
            <a:r>
              <a:t>    "ST-10"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항공안전 이슈 분석 AI PoC · 공공AI 사례집 100–101쪽 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"AX23",</a:t>
            </a:r>
          </a:p>
          <a:p xmlns:a="http://schemas.openxmlformats.org/drawingml/2006/main">
            <a:r>
              <a:t>  "title": "경찰 AI 교통안전 시스템",</a:t>
            </a:r>
          </a:p>
          <a:p xmlns:a="http://schemas.openxmlformats.org/drawingml/2006/main">
            <a:r>
              <a:t>  "region": "국내",</a:t>
            </a:r>
          </a:p>
          <a:p xmlns:a="http://schemas.openxmlformats.org/drawingml/2006/main">
            <a:r>
              <a:t>  "country": "대한민국",</a:t>
            </a:r>
          </a:p>
          <a:p xmlns:a="http://schemas.openxmlformats.org/drawingml/2006/main">
            <a:r>
              <a:t>  "result": "시범",</a:t>
            </a:r>
          </a:p>
          <a:p xmlns:a="http://schemas.openxmlformats.org/drawingml/2006/main">
            <a:r>
              <a:t>  "kind": "교통사고 위험 예측",</a:t>
            </a:r>
          </a:p>
          <a:p xmlns:a="http://schemas.openxmlformats.org/drawingml/2006/main">
            <a:r>
              <a:t>  "period": "2024 구축·실증",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"S-AX23"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"교통사고 위험 예측"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"교통사고·단속·시설·기상·교통량 데이터 기반 위험 예측과 지역 실증",</a:t>
            </a:r>
          </a:p>
          <a:p xmlns:a="http://schemas.openxmlformats.org/drawingml/2006/main">
            <a:r>
              <a:t>  "limit": "지역 실증 범위 · 전국 사고 감소 성과로 확대 불가",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"민관 교통 데이터",</a:t>
            </a:r>
          </a:p>
          <a:p xmlns:a="http://schemas.openxmlformats.org/drawingml/2006/main">
            <a:r>
              <a:t>    "전처리·MLOps",</a:t>
            </a:r>
          </a:p>
          <a:p xmlns:a="http://schemas.openxmlformats.org/drawingml/2006/main">
            <a:r>
              <a:t>    "사고 위험 예측",</a:t>
            </a:r>
          </a:p>
          <a:p xmlns:a="http://schemas.openxmlformats.org/drawingml/2006/main">
            <a:r>
              <a:t>    "지역 실증·현장 대응"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업무 흐름의 요약·재구성 / 내부 배치 구조 추정 제외",</a:t>
            </a:r>
          </a:p>
          <a:p xmlns:a="http://schemas.openxmlformats.org/drawingml/2006/main">
            <a:r>
              <a:t>  "lesson": "지역별 모델 평가와 예방 조치의 연결",</a:t>
            </a:r>
          </a:p>
          <a:p xmlns:a="http://schemas.openxmlformats.org/drawingml/2006/main">
            <a:r>
              <a:t>  "local": "TS 지역 안전 진단·개선 권고와 관할 매핑",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"지역·도로·시점 정규화 및 개선 이력 연결",</a:t>
            </a:r>
          </a:p>
          <a:p xmlns:a="http://schemas.openxmlformats.org/drawingml/2006/main">
            <a:r>
              <a:t>  "test": "시간·지역 분리 검증과 데이터 누락 시험",</a:t>
            </a:r>
          </a:p>
          <a:p xmlns:a="http://schemas.openxmlformats.org/drawingml/2006/main">
            <a:r>
              <a:t>  "metric": "위험 탐지율 / 예방 조치 이행률",</a:t>
            </a:r>
          </a:p>
          <a:p xmlns:a="http://schemas.openxmlformats.org/drawingml/2006/main">
            <a:r>
              <a:t>  "strategies": [</a:t>
            </a:r>
          </a:p>
          <a:p xmlns:a="http://schemas.openxmlformats.org/drawingml/2006/main">
            <a:r>
              <a:t>    "ST-01",</a:t>
            </a:r>
          </a:p>
          <a:p xmlns:a="http://schemas.openxmlformats.org/drawingml/2006/main">
            <a:r>
              <a:t>    "ST-03",</a:t>
            </a:r>
          </a:p>
          <a:p xmlns:a="http://schemas.openxmlformats.org/drawingml/2006/main">
            <a:r>
              <a:t>    "ST-07"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경찰 AI 교통안전 시스템 · 공공AI 사례집 110–111쪽 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"AX26",</a:t>
            </a:r>
          </a:p>
          <a:p xmlns:a="http://schemas.openxmlformats.org/drawingml/2006/main">
            <a:r>
              <a:t>  "title": "교육행정 응대 AI PoC",</a:t>
            </a:r>
          </a:p>
          <a:p xmlns:a="http://schemas.openxmlformats.org/drawingml/2006/main">
            <a:r>
              <a:t>  "region": "국내",</a:t>
            </a:r>
          </a:p>
          <a:p xmlns:a="http://schemas.openxmlformats.org/drawingml/2006/main">
            <a:r>
              <a:t>  "country": "대한민국",</a:t>
            </a:r>
          </a:p>
          <a:p xmlns:a="http://schemas.openxmlformats.org/drawingml/2006/main">
            <a:r>
              <a:t>  "result": "시범",</a:t>
            </a:r>
          </a:p>
          <a:p xmlns:a="http://schemas.openxmlformats.org/drawingml/2006/main">
            <a:r>
              <a:t>  "kind": "학교급·지침 기반 RAG",</a:t>
            </a:r>
          </a:p>
          <a:p xmlns:a="http://schemas.openxmlformats.org/drawingml/2006/main">
            <a:r>
              <a:t>  "period": "2024 실증",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"S-AX26"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"keywords": [</a:t>
            </a:r>
          </a:p>
          <a:p xmlns:a="http://schemas.openxmlformats.org/drawingml/2006/main">
            <a:r>
              <a:t>    "학교급",</a:t>
            </a:r>
          </a:p>
          <a:p xmlns:a="http://schemas.openxmlformats.org/drawingml/2006/main">
            <a:r>
              <a:t>    "지침 기반 RAG"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"fact": "학교생활기록부 지침·질의응답 자료를 활용한 RAG와 원문 페이지 연결 실증",</a:t>
            </a:r>
          </a:p>
          <a:p xmlns:a="http://schemas.openxmlformats.org/drawingml/2006/main">
            <a:r>
              <a:t>  "limit": "선정 문서·업무 범위의 PoC · 전체 교육행정 자동화와 구분",</a:t>
            </a:r>
          </a:p>
          <a:p xmlns:a="http://schemas.openxmlformats.org/drawingml/2006/main">
            <a:r>
              <a:t>  "flow": [</a:t>
            </a:r>
          </a:p>
          <a:p xmlns:a="http://schemas.openxmlformats.org/drawingml/2006/main">
            <a:r>
              <a:t>    "학교급별 지침",</a:t>
            </a:r>
          </a:p>
          <a:p xmlns:a="http://schemas.openxmlformats.org/drawingml/2006/main">
            <a:r>
              <a:t>    "문서 전처리·RAG",</a:t>
            </a:r>
          </a:p>
          <a:p xmlns:a="http://schemas.openxmlformats.org/drawingml/2006/main">
            <a:r>
              <a:t>    "근거 페이지 답변",</a:t>
            </a:r>
          </a:p>
          <a:p xmlns:a="http://schemas.openxmlformats.org/drawingml/2006/main">
            <a:r>
              <a:t>    "교직원 검증"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"flowBasis": "공개 업무 흐름의 요약·재구성 / 내부 배치 구조 추정 제외",</a:t>
            </a:r>
          </a:p>
          <a:p xmlns:a="http://schemas.openxmlformats.org/drawingml/2006/main">
            <a:r>
              <a:t>  "lesson": "동일 질문도 소속·업무 맥락별 지침 구분",</a:t>
            </a:r>
          </a:p>
          <a:p xmlns:a="http://schemas.openxmlformats.org/drawingml/2006/main">
            <a:r>
              <a:t>  "local": "TS 부서·직무별 규정 및 동일 요청 교차 평가",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"CCK-01",</a:t>
            </a:r>
          </a:p>
          <a:p xmlns:a="http://schemas.openxmlformats.org/drawingml/2006/main">
            <a:r>
              <a:t>    "CCK-02"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"delta": "직무별 검색 필터·출처 페이지·오류 피드백",</a:t>
            </a:r>
          </a:p>
          <a:p xmlns:a="http://schemas.openxmlformats.org/drawingml/2006/main">
            <a:r>
              <a:t>  "test": "부서·직무 변경 전후 검색 근거 대조",</a:t>
            </a:r>
          </a:p>
          <a:p xmlns:a="http://schemas.openxmlformats.org/drawingml/2006/main">
            <a:r>
              <a:t>  "metric": "근거 일치율 / 보완시간",</a:t>
            </a:r>
          </a:p>
          <a:p xmlns:a="http://schemas.openxmlformats.org/drawingml/2006/main">
            <a:r>
              <a:t>  "strategies": [</a:t>
            </a:r>
          </a:p>
          <a:p xmlns:a="http://schemas.openxmlformats.org/drawingml/2006/main">
            <a:r>
              <a:t>    "ST-04",</a:t>
            </a:r>
          </a:p>
          <a:p xmlns:a="http://schemas.openxmlformats.org/drawingml/2006/main">
            <a:r>
              <a:t>    "ST-10",</a:t>
            </a:r>
          </a:p>
          <a:p xmlns:a="http://schemas.openxmlformats.org/drawingml/2006/main">
            <a:r>
              <a:t>    "ST-12"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교육행정 응대 AI PoC · 공공AI 사례집 222–223쪽 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"ST-01",</a:t>
            </a:r>
          </a:p>
          <a:p xmlns:a="http://schemas.openxmlformats.org/drawingml/2006/main">
            <a:r>
              <a:t>  "number": 1,</a:t>
            </a:r>
          </a:p>
          <a:p xmlns:a="http://schemas.openxmlformats.org/drawingml/2006/main">
            <a:r>
              <a:t>  "direction": "무결점 교통안전체계 조성",</a:t>
            </a:r>
          </a:p>
          <a:p xmlns:a="http://schemas.openxmlformats.org/drawingml/2006/main">
            <a:r>
              <a:t>  "strategy": "사고취약 수단·계층 정밀 안전망 구축",</a:t>
            </a:r>
          </a:p>
          <a:p xmlns:a="http://schemas.openxmlformats.org/drawingml/2006/main">
            <a:r>
              <a:t>  "solution": "취약 교통안전 업무지원",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"L01",</a:t>
            </a:r>
          </a:p>
          <a:p xmlns:a="http://schemas.openxmlformats.org/drawingml/2006/main">
            <a:r>
              <a:t>    "L02",</a:t>
            </a:r>
          </a:p>
          <a:p xmlns:a="http://schemas.openxmlformats.org/drawingml/2006/main">
            <a:r>
              <a:t>    "L03",</a:t>
            </a:r>
          </a:p>
          <a:p xmlns:a="http://schemas.openxmlformats.org/drawingml/2006/main">
            <a:r>
              <a:t>    "L04",</a:t>
            </a:r>
          </a:p>
          <a:p xmlns:a="http://schemas.openxmlformats.org/drawingml/2006/main">
            <a:r>
              <a:t>    "L17"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"1022030",</a:t>
            </a:r>
          </a:p>
          <a:p xmlns:a="http://schemas.openxmlformats.org/drawingml/2006/main">
            <a:r>
              <a:t>    "1021030",</a:t>
            </a:r>
          </a:p>
          <a:p xmlns:a="http://schemas.openxmlformats.org/drawingml/2006/main">
            <a:r>
              <a:t>    "1019030",</a:t>
            </a:r>
          </a:p>
          <a:p xmlns:a="http://schemas.openxmlformats.org/drawingml/2006/main">
            <a:r>
              <a:t>    "1019020"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"지역별 위험 근거·현장점검·개선조치 관리",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"관할·대상·점검 기준별 근거 묶음 구성",</a:t>
            </a:r>
          </a:p>
          <a:p xmlns:a="http://schemas.openxmlformats.org/drawingml/2006/main">
            <a:r>
              <a:t>    "개선과제·담당자·기한·현장 증빙 연결"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"미해결 위험·조치 이행 확인서",</a:t>
            </a:r>
          </a:p>
          <a:p xmlns:a="http://schemas.openxmlformats.org/drawingml/2006/main">
            <a:r>
              <a:t>  "acceptance": "관할·취약대상·점검판본별 근거와 조치 담당의 일치 확인",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"GAI-T02",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"1022030",</a:t>
            </a:r>
          </a:p>
          <a:p xmlns:a="http://schemas.openxmlformats.org/drawingml/2006/main">
            <a:r>
              <a:t>      "name": "교통안전처",</a:t>
            </a:r>
          </a:p>
          <a:p xmlns:a="http://schemas.openxmlformats.org/drawingml/2006/main">
            <a:r>
              <a:t>      "job": "운수회사 안전관리",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4,</a:t>
            </a:r>
          </a:p>
          <a:p xmlns:a="http://schemas.openxmlformats.org/drawingml/2006/main">
            <a:r>
              <a:t>        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"5. 교통안전수단점검에 관한 업무 총괄",</a:t>
            </a:r>
          </a:p>
          <a:p xmlns:a="http://schemas.openxmlformats.org/drawingml/2006/main">
            <a:r>
              <a:t>        "7. 운수회사 안전관리 및 교통사고 예방사업"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"1021030",</a:t>
            </a:r>
          </a:p>
          <a:p xmlns:a="http://schemas.openxmlformats.org/drawingml/2006/main">
            <a:r>
              <a:t>      "name": "실증사업처",</a:t>
            </a:r>
          </a:p>
          <a:p xmlns:a="http://schemas.openxmlformats.org/drawingml/2006/main">
            <a:r>
              <a:t>      "job": "교통시설·사각지대 점검",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"7. 교통시설 안전진단ㆍ점검ㆍ평가에 관한 업무",</a:t>
            </a:r>
          </a:p>
          <a:p xmlns:a="http://schemas.openxmlformats.org/drawingml/2006/main">
            <a:r>
              <a:t>        "9. 교통안전 사각지대 교통안전점검에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"1019030",</a:t>
            </a:r>
          </a:p>
          <a:p xmlns:a="http://schemas.openxmlformats.org/drawingml/2006/main">
            <a:r>
              <a:t>      "name": "데이터융복합처",</a:t>
            </a:r>
          </a:p>
          <a:p xmlns:a="http://schemas.openxmlformats.org/drawingml/2006/main">
            <a:r>
              <a:t>      "job": "운행기록 분석",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운행기록데이터 관리·분석·활용 및 정책지원",</a:t>
            </a:r>
          </a:p>
          <a:p xmlns:a="http://schemas.openxmlformats.org/drawingml/2006/main">
            <a:r>
              <a:t>        "5. 교통안전정보관리체계 운영에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"1019020",</a:t>
            </a:r>
          </a:p>
          <a:p xmlns:a="http://schemas.openxmlformats.org/drawingml/2006/main">
            <a:r>
              <a:t>      "name": "모빌리티연구처",</a:t>
            </a:r>
          </a:p>
          <a:p xmlns:a="http://schemas.openxmlformats.org/drawingml/2006/main">
            <a:r>
              <a:t>      "job": "교통약자 실태조사",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"23. 교통약자 이동편의실태조사 및 자료관리"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"연결 법령의 해당 사무 + 참여 부서별 별표4 업무분장 / 개인별 전결·권한의 별도 매핑",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"AX02",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"AX08",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"AX16",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"AX23",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"지역·취약계층 안전조치 근거 지원",</a:t>
            </a:r>
          </a:p>
          <a:p xmlns:a="http://schemas.openxmlformats.org/drawingml/2006/main">
            <a:r>
              <a:t>  "delta": "관할·대상·현장 증거 연결",</a:t>
            </a:r>
          </a:p>
          <a:p xmlns:a="http://schemas.openxmlformats.org/drawingml/2006/main">
            <a:r>
              <a:t>  "kpi": "위험 검토시간 / 조치 이행률",</a:t>
            </a:r>
          </a:p>
          <a:p xmlns:a="http://schemas.openxmlformats.org/drawingml/2006/main">
            <a:r>
              <a:t>  "validation": "지역·기간별 원천 대조, 미조치 건 추적",</a:t>
            </a:r>
          </a:p>
          <a:p xmlns:a="http://schemas.openxmlformats.org/drawingml/2006/main">
            <a:r>
              <a:t>  "requirement": "BM-ST-01-R01",</a:t>
            </a:r>
          </a:p>
          <a:p xmlns:a="http://schemas.openxmlformats.org/drawingml/2006/main">
            <a:r>
              <a:t>  "test": "BM-ST-01-T01",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"지역·취약계층 안전조치 근거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https://english.seoul.go.kr/smg-taps-big-data-customized-policy/</a:t>
            </a:r>
          </a:p>
          <a:p xmlns:a="http://schemas.openxmlformats.org/drawingml/2006/main">
            <a:r>
              <a:t>https://clova.ai/tech-blog/ko-clova-%EC%BC%80%EC%96%B4%EC%BD%9C-%EC%97%B0%EA%B5%AC-%EB%85%BC%EB%AC%B8-%EC%86%8C%EA%B0%9C-%EC%B4%88%EA%B1%B0%EB%8C%80-%EC%9D%B8%EA%B3%B5%EC%A7%80%EB%8A%A5-%EA%B8%B0%EB%B0%98-%EC%B1%97%EB%B4%87</a:t>
            </a:r>
          </a:p>
          <a:p xmlns:a="http://schemas.openxmlformats.org/drawingml/2006/main">
            <a:r>
              <a:t>https://www.nhtsa.gov/press-releases/consent-order-cruise-crash-reporting</a:t>
            </a:r>
          </a:p>
          <a:p xmlns:a="http://schemas.openxmlformats.org/drawingml/2006/main">
            <a:r>
              <a:t>https://research.google/pubs/ai-increases-global-access-to-reliable-flood-forecasts-2/</a:t>
            </a:r>
          </a:p>
          <a:p xmlns:a="http://schemas.openxmlformats.org/drawingml/2006/main">
            <a:r>
              <a:t>https://www.lta.gov.sg/content/ltagov/en/newsroom/2025/8/news-releases/making_bus_journeys_safer.html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"ST-02",</a:t>
            </a:r>
          </a:p>
          <a:p xmlns:a="http://schemas.openxmlformats.org/drawingml/2006/main">
            <a:r>
              <a:t>  "number": 2,</a:t>
            </a:r>
          </a:p>
          <a:p xmlns:a="http://schemas.openxmlformats.org/drawingml/2006/main">
            <a:r>
              <a:t>  "direction": "무결점 교통안전체계 조성",</a:t>
            </a:r>
          </a:p>
          <a:p xmlns:a="http://schemas.openxmlformats.org/drawingml/2006/main">
            <a:r>
              <a:t>  "strategy": "자동차 안전관리 및 소비자 권익 강화",</a:t>
            </a:r>
          </a:p>
          <a:p xmlns:a="http://schemas.openxmlformats.org/drawingml/2006/main">
            <a:r>
              <a:t>  "solution": "자동차 안전·소비자 업무지원",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"L06",</a:t>
            </a:r>
          </a:p>
          <a:p xmlns:a="http://schemas.openxmlformats.org/drawingml/2006/main">
            <a:r>
              <a:t>    "L07",</a:t>
            </a:r>
          </a:p>
          <a:p xmlns:a="http://schemas.openxmlformats.org/drawingml/2006/main">
            <a:r>
              <a:t>    "L09",</a:t>
            </a:r>
          </a:p>
          <a:p xmlns:a="http://schemas.openxmlformats.org/drawingml/2006/main">
            <a:r>
              <a:t>    "L10"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"1028070",</a:t>
            </a:r>
          </a:p>
          <a:p xmlns:a="http://schemas.openxmlformats.org/drawingml/2006/main">
            <a:r>
              <a:t>    "1028075",</a:t>
            </a:r>
          </a:p>
          <a:p xmlns:a="http://schemas.openxmlformats.org/drawingml/2006/main">
            <a:r>
              <a:t>    "7000000",</a:t>
            </a:r>
          </a:p>
          <a:p xmlns:a="http://schemas.openxmlformats.org/drawingml/2006/main">
            <a:r>
              <a:t>    "1019400"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"검사·튜닝·결함조사·이력 정보의 업무별 검토",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"차량·사건·신청 유형별 검토자료 정리",</a:t>
            </a:r>
          </a:p>
          <a:p xmlns:a="http://schemas.openxmlformats.org/drawingml/2006/main">
            <a:r>
              <a:t>    "검사·연구·민원 부서 간 증빙 인계"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"안전 검토자료·소비자 안내 초안",</a:t>
            </a:r>
          </a:p>
          <a:p xmlns:a="http://schemas.openxmlformats.org/drawingml/2006/main">
            <a:r>
              <a:t>  "acceptance": "동일 차량의 검사·결함·민원 맥락 분리 및 승인된 안내 근거 추적",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"GAI-T04",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"1028070",</a:t>
            </a:r>
          </a:p>
          <a:p xmlns:a="http://schemas.openxmlformats.org/drawingml/2006/main">
            <a:r>
              <a:t>      "name": "검사기획처",</a:t>
            </a:r>
          </a:p>
          <a:p xmlns:a="http://schemas.openxmlformats.org/drawingml/2006/main">
            <a:r>
              <a:t>      "job": "검사제도·품질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20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"10. 자동차검사 품질강화 및 공공성 강화 관련 업무",</a:t>
            </a:r>
          </a:p>
          <a:p xmlns:a="http://schemas.openxmlformats.org/drawingml/2006/main">
            <a:r>
              <a:t>        "21. 검사표준서비스, 검사프로세스 개선‧관리"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T42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"1028075",</a:t>
            </a:r>
          </a:p>
          <a:p xmlns:a="http://schemas.openxmlformats.org/drawingml/2006/main">
            <a:r>
              <a:t>      "name": "기술승인처",</a:t>
            </a:r>
          </a:p>
          <a:p xmlns:a="http://schemas.openxmlformats.org/drawingml/2006/main">
            <a:r>
              <a:t>      "job": "튜닝 승인·검사",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튜닝승인 및 튜닝검사, 안전검사 등에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T44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"7000000",</a:t>
            </a:r>
          </a:p>
          <a:p xmlns:a="http://schemas.openxmlformats.org/drawingml/2006/main">
            <a:r>
              <a:t>      "name": "자동차안전연구원",</a:t>
            </a:r>
          </a:p>
          <a:p xmlns:a="http://schemas.openxmlformats.org/drawingml/2006/main">
            <a:r>
              <a:t>      "job": "제작결함 조사·안전도평가",</a:t>
            </a:r>
          </a:p>
          <a:p xmlns:a="http://schemas.openxmlformats.org/drawingml/2006/main">
            <a:r>
              <a:t>      "indices": [],</a:t>
            </a:r>
          </a:p>
          <a:p xmlns:a="http://schemas.openxmlformats.org/drawingml/2006/main">
            <a:r>
              <a:t>      "duties": [],</a:t>
            </a:r>
          </a:p>
          <a:p xmlns:a="http://schemas.openxmlformats.org/drawingml/2006/main">
            <a:r>
              <a:t>      "locator": "자동차안전연구원 별도 직제시행세칙 대조 대상",</a:t>
            </a:r>
          </a:p>
          <a:p xmlns:a="http://schemas.openxmlformats.org/drawingml/2006/main">
            <a:r>
              <a:t>      "restriction": "별표4 부설기관: 자동차안전연구원 직제시행세칙에 따름 · 하부조직·직무·업무분장 별도 확인 필요",</a:t>
            </a:r>
          </a:p>
          <a:p xmlns:a="http://schemas.openxmlformats.org/drawingml/2006/main">
            <a:r>
              <a:t>      "status": "법령·업무 원장 기반 요약 / 세부 직제 확인"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"1019400",</a:t>
            </a:r>
          </a:p>
          <a:p xmlns:a="http://schemas.openxmlformats.org/drawingml/2006/main">
            <a:r>
              <a:t>      "name": "자동차정보처",</a:t>
            </a:r>
          </a:p>
          <a:p xmlns:a="http://schemas.openxmlformats.org/drawingml/2006/main">
            <a:r>
              <a:t>      "job": "자동차 이력·정보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자동차토털이력관리시스템 운영",</a:t>
            </a:r>
          </a:p>
          <a:p xmlns:a="http://schemas.openxmlformats.org/drawingml/2006/main">
            <a:r>
              <a:t>        "8. 자동차정보 통합서비스 제공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6행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"연결 법령의 해당 사무 + 참여 부서별 별표4 업무분장 / 개인별 전결·권한의 별도 매핑",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"AX09",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"AX07",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"AX16",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"AX17",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"AX18",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"검사·소비자 권익 검토 지원",</a:t>
            </a:r>
          </a:p>
          <a:p xmlns:a="http://schemas.openxmlformats.org/drawingml/2006/main">
            <a:r>
              <a:t>  "delta": "검사 기준 판본·차량·증빙 대조",</a:t>
            </a:r>
          </a:p>
          <a:p xmlns:a="http://schemas.openxmlformats.org/drawingml/2006/main">
            <a:r>
              <a:t>  "kpi": "검토 누락률 / 보완 소요시간",</a:t>
            </a:r>
          </a:p>
          <a:p xmlns:a="http://schemas.openxmlformats.org/drawingml/2006/main">
            <a:r>
              <a:t>  "validation": "불완전 증빙의 자동 확정 차단",</a:t>
            </a:r>
          </a:p>
          <a:p xmlns:a="http://schemas.openxmlformats.org/drawingml/2006/main">
            <a:r>
              <a:t>  "requirement": "BM-ST-02-R01",</a:t>
            </a:r>
          </a:p>
          <a:p xmlns:a="http://schemas.openxmlformats.org/drawingml/2006/main">
            <a:r>
              <a:t>  "test": "BM-ST-02-T01",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"검사·소비자 권익 검토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https://openai.com/index/morgan-stanley/</a:t>
            </a:r>
          </a:p>
          <a:p xmlns:a="http://schemas.openxmlformats.org/drawingml/2006/main">
            <a:r>
              <a:t>https://robodebt.royalcommission.gov.au/publications/report</a:t>
            </a:r>
          </a:p>
          <a:p xmlns:a="http://schemas.openxmlformats.org/drawingml/2006/main">
            <a:r>
              <a:t>https://www.lta.gov.sg/content/ltagov/en/newsroom/2025/8/news-releases/making_bus_journeys_safer.html</a:t>
            </a:r>
          </a:p>
          <a:p xmlns:a="http://schemas.openxmlformats.org/drawingml/2006/main">
            <a:r>
              <a:t>https://info.korail.com/info/selectBbsNttView.do?bbsNo=199&amp;key=911&amp;nttNo=25238</a:t>
            </a:r>
          </a:p>
          <a:p xmlns:a="http://schemas.openxmlformats.org/drawingml/2006/main">
            <a:r>
              <a:t>https://www.networkrail.co.uk/stories/using-artificial-intelligence-to-create-a-better-railway/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"ST-03",</a:t>
            </a:r>
          </a:p>
          <a:p xmlns:a="http://schemas.openxmlformats.org/drawingml/2006/main">
            <a:r>
              <a:t>  "number": 3,</a:t>
            </a:r>
          </a:p>
          <a:p xmlns:a="http://schemas.openxmlformats.org/drawingml/2006/main">
            <a:r>
              <a:t>  "direction": "무결점 교통안전체계 조성",</a:t>
            </a:r>
          </a:p>
          <a:p xmlns:a="http://schemas.openxmlformats.org/drawingml/2006/main">
            <a:r>
              <a:t>  "strategy": "중대사고 예방 능동적 안전관리체계 구축",</a:t>
            </a:r>
          </a:p>
          <a:p xmlns:a="http://schemas.openxmlformats.org/drawingml/2006/main">
            <a:r>
              <a:t>  "solution": "중대위험 조치·재발방지 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"L01",</a:t>
            </a:r>
          </a:p>
          <a:p xmlns:a="http://schemas.openxmlformats.org/drawingml/2006/main">
            <a:r>
              <a:t>    "L02",</a:t>
            </a:r>
          </a:p>
          <a:p xmlns:a="http://schemas.openxmlformats.org/drawingml/2006/main">
            <a:r>
              <a:t>    "L25"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"1016043",</a:t>
            </a:r>
          </a:p>
          <a:p xmlns:a="http://schemas.openxmlformats.org/drawingml/2006/main">
            <a:r>
              <a:t>    "1022030",</a:t>
            </a:r>
          </a:p>
          <a:p xmlns:a="http://schemas.openxmlformats.org/drawingml/2006/main">
            <a:r>
              <a:t>    "1021030",</a:t>
            </a:r>
          </a:p>
          <a:p xmlns:a="http://schemas.openxmlformats.org/drawingml/2006/main">
            <a:r>
              <a:t>    "1211251",</a:t>
            </a:r>
          </a:p>
          <a:p xmlns:a="http://schemas.openxmlformats.org/drawingml/2006/main">
            <a:r>
              <a:t>    "1211250",</a:t>
            </a:r>
          </a:p>
          <a:p xmlns:a="http://schemas.openxmlformats.org/drawingml/2006/main">
            <a:r>
              <a:t>    "1211253",</a:t>
            </a:r>
          </a:p>
          <a:p xmlns:a="http://schemas.openxmlformats.org/drawingml/2006/main">
            <a:r>
              <a:t>    "1211280"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"분야별 안전점검·시정조치·재점검 관리",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"위험 근거·유사사례·시정조치 이력 연결",</a:t>
            </a:r>
          </a:p>
          <a:p xmlns:a="http://schemas.openxmlformats.org/drawingml/2006/main">
            <a:r>
              <a:t>    "현장 조치·전문 검토·종결 승인 분리"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"위험 조치대장·재점검 목록",</a:t>
            </a:r>
          </a:p>
          <a:p xmlns:a="http://schemas.openxmlformats.org/drawingml/2006/main">
            <a:r>
              <a:t>  "acceptance": "미완료 조치의 종결 차단·검토/승인 역할 구분·후속 확인 추적",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"ON-W05",</a:t>
            </a:r>
          </a:p>
          <a:p xmlns:a="http://schemas.openxmlformats.org/drawingml/2006/main">
            <a:r>
              <a:t>    "ON-W06"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"GAI-T07",</a:t>
            </a:r>
          </a:p>
          <a:p xmlns:a="http://schemas.openxmlformats.org/drawingml/2006/main">
            <a:r>
              <a:t>    "GAI-T08",</a:t>
            </a:r>
          </a:p>
          <a:p xmlns:a="http://schemas.openxmlformats.org/drawingml/2006/main">
            <a:r>
              <a:t>    "GAI-T12"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"1016043",</a:t>
            </a:r>
          </a:p>
          <a:p xmlns:a="http://schemas.openxmlformats.org/drawingml/2006/main">
            <a:r>
              <a:t>      "name": "안전보건실",</a:t>
            </a:r>
          </a:p>
          <a:p xmlns:a="http://schemas.openxmlformats.org/drawingml/2006/main">
            <a:r>
              <a:t>      "job": "사업장 안전·재발방지",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산업재해 신고, 사고대응 및 재발방지 조치",</a:t>
            </a:r>
          </a:p>
          <a:p xmlns:a="http://schemas.openxmlformats.org/drawingml/2006/main">
            <a:r>
              <a:t>        "6. 중대재해처벌법 안전보건의무 이행점검에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T34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"1022030",</a:t>
            </a:r>
          </a:p>
          <a:p xmlns:a="http://schemas.openxmlformats.org/drawingml/2006/main">
            <a:r>
              <a:t>      "name": "교통안전처",</a:t>
            </a:r>
          </a:p>
          <a:p xmlns:a="http://schemas.openxmlformats.org/drawingml/2006/main">
            <a:r>
              <a:t>      "job": "운수회사 예방대책",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교통사고예방대책 수립 및 교통안전사업 개발",</a:t>
            </a:r>
          </a:p>
          <a:p xmlns:a="http://schemas.openxmlformats.org/drawingml/2006/main">
            <a:r>
              <a:t>        "7. 운수회사 안전관리 및 교통사고 예방사업"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"1021030",</a:t>
            </a:r>
          </a:p>
          <a:p xmlns:a="http://schemas.openxmlformats.org/drawingml/2006/main">
            <a:r>
              <a:t>      "name": "실증사업처",</a:t>
            </a:r>
          </a:p>
          <a:p xmlns:a="http://schemas.openxmlformats.org/drawingml/2006/main">
            <a:r>
              <a:t>      "job": "교통시설 안전점검",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"7. 교통시설 안전진단ㆍ점검ㆍ평가에 관한 업무",</a:t>
            </a:r>
          </a:p>
          <a:p xmlns:a="http://schemas.openxmlformats.org/drawingml/2006/main">
            <a:r>
              <a:t>        "10. 교통시설설치ㆍ관리자의 교통안전관리규정 적정성 및 이행여부 확인평가"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"1211251",</a:t>
            </a:r>
          </a:p>
          <a:p xmlns:a="http://schemas.openxmlformats.org/drawingml/2006/main">
            <a:r>
              <a:t>      "name": "철도안전처",</a:t>
            </a:r>
          </a:p>
          <a:p xmlns:a="http://schemas.openxmlformats.org/drawingml/2006/main">
            <a:r>
              <a:t>      "job": "철도사고 분석",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"6. 철도사고(철도준사고 포함) 자료 원인분석 및 정책자료 제공"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T46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"1211250",</a:t>
            </a:r>
          </a:p>
          <a:p xmlns:a="http://schemas.openxmlformats.org/drawingml/2006/main">
            <a:r>
              <a:t>      "name": "철도승인처",</a:t>
            </a:r>
          </a:p>
          <a:p xmlns:a="http://schemas.openxmlformats.org/drawingml/2006/main">
            <a:r>
              <a:t>      "job": "철도 안전관리체계 승인",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철도안전관리체계 승인업무(최초·변경) 시행",</a:t>
            </a:r>
          </a:p>
          <a:p xmlns:a="http://schemas.openxmlformats.org/drawingml/2006/main">
            <a:r>
              <a:t>        "3. 철도안전관리체계 기술기준 제·개정 및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T46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"1211253",</a:t>
            </a:r>
          </a:p>
          <a:p xmlns:a="http://schemas.openxmlformats.org/drawingml/2006/main">
            <a:r>
              <a:t>      "name": "철도검사처",</a:t>
            </a:r>
          </a:p>
          <a:p xmlns:a="http://schemas.openxmlformats.org/drawingml/2006/main">
            <a:r>
              <a:t>      "job": "철도 안전관리체계 검사",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철도안전관리체계 수시검사 시행",</a:t>
            </a:r>
          </a:p>
          <a:p xmlns:a="http://schemas.openxmlformats.org/drawingml/2006/main">
            <a:r>
              <a:t>        "2. 철도사고 및 운행장애 초기대응 점검 시행"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T46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"1211280",</a:t>
            </a:r>
          </a:p>
          <a:p xmlns:a="http://schemas.openxmlformats.org/drawingml/2006/main">
            <a:r>
              <a:t>      "name": "항공안전처",</a:t>
            </a:r>
          </a:p>
          <a:p xmlns:a="http://schemas.openxmlformats.org/drawingml/2006/main">
            <a:r>
              <a:t>      "job": "항공안전·사고조사",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7,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"8. 항공안전‧항공보안 자율보고의 접수·분석 및 전파업무",</a:t>
            </a:r>
          </a:p>
          <a:p xmlns:a="http://schemas.openxmlformats.org/drawingml/2006/main">
            <a:r>
              <a:t>        "13. 초경량비행장치 사고조사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T45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"도로·철도 점검: 연결 법령 원장 / 사업장 안전·항공안전: 별표4 안전보건실·항공안전처 업무 / 분야별 법령·위탁범위 추가 대조",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"AX08",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"AX07",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"AX14",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"AX17",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"AX18",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"AX23",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"중대사고 예방·보고 완전성",</a:t>
            </a:r>
          </a:p>
          <a:p xmlns:a="http://schemas.openxmlformats.org/drawingml/2006/main">
            <a:r>
              <a:t>  "delta": "사건 타임라인·필수 보고항목 검사",</a:t>
            </a:r>
          </a:p>
          <a:p xmlns:a="http://schemas.openxmlformats.org/drawingml/2006/main">
            <a:r>
              <a:t>  "kpi": "필수 사건 재현율 / 보고 누락률",</a:t>
            </a:r>
          </a:p>
          <a:p xmlns:a="http://schemas.openxmlformats.org/drawingml/2006/main">
            <a:r>
              <a:t>  "validation": "사고 증거 누락·시점 충돌 주입 시험",</a:t>
            </a:r>
          </a:p>
          <a:p xmlns:a="http://schemas.openxmlformats.org/drawingml/2006/main">
            <a:r>
              <a:t>  "requirement": "BM-ST-03-R01",</a:t>
            </a:r>
          </a:p>
          <a:p xmlns:a="http://schemas.openxmlformats.org/drawingml/2006/main">
            <a:r>
              <a:t>  "test": "BM-ST-03-T01",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"중대사고 예방·보고 완전성의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https://www.nhtsa.gov/press-releases/consent-order-cruise-crash-reporting</a:t>
            </a:r>
          </a:p>
          <a:p xmlns:a="http://schemas.openxmlformats.org/drawingml/2006/main">
            <a:r>
              <a:t>https://robodebt.royalcommission.gov.au/publications/report</a:t>
            </a:r>
          </a:p>
          <a:p xmlns:a="http://schemas.openxmlformats.org/drawingml/2006/main">
            <a:r>
              <a:t>https://www.schiphol.nl/en/aviation-solutions/case-study-amsterdam-airport-schiphol-deep-turnaround/</a:t>
            </a:r>
          </a:p>
          <a:p xmlns:a="http://schemas.openxmlformats.org/drawingml/2006/main">
            <a:r>
              <a:t>https://research.google/pubs/ai-increases-global-access-to-reliable-flood-forecasts-2/</a:t>
            </a:r>
          </a:p>
          <a:p xmlns:a="http://schemas.openxmlformats.org/drawingml/2006/main">
            <a:r>
              <a:t>https://www.dhlfreight.com/nl-en/microsites/csi/computer-vision/logistics-use-cases/people-health-and-safety.html</a:t>
            </a:r>
          </a:p>
          <a:p xmlns:a="http://schemas.openxmlformats.org/drawingml/2006/main">
            <a:r>
              <a:t>https://info.korail.com/info/selectBbsNttView.do?bbsNo=199&amp;key=911&amp;nttNo=25238</a:t>
            </a:r>
          </a:p>
          <a:p xmlns:a="http://schemas.openxmlformats.org/drawingml/2006/main">
            <a:r>
              <a:t>https://www.networkrail.co.uk/stories/using-artificial-intelligence-to-create-a-better-railway/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"ST-04",</a:t>
            </a:r>
          </a:p>
          <a:p xmlns:a="http://schemas.openxmlformats.org/drawingml/2006/main">
            <a:r>
              <a:t>  "number": 4,</a:t>
            </a:r>
          </a:p>
          <a:p xmlns:a="http://schemas.openxmlformats.org/drawingml/2006/main">
            <a:r>
              <a:t>  "direction": "지능형 미래 모빌리티 혁신",</a:t>
            </a:r>
          </a:p>
          <a:p xmlns:a="http://schemas.openxmlformats.org/drawingml/2006/main">
            <a:r>
              <a:t>  "strategy": "교통안전체계 인공지능 대전환",</a:t>
            </a:r>
          </a:p>
          <a:p xmlns:a="http://schemas.openxmlformats.org/drawingml/2006/main">
            <a:r>
              <a:t>  "solution": "TS 조직 네이티브 AI 공통플랫폼",</a:t>
            </a:r>
          </a:p>
          <a:p xmlns:a="http://schemas.openxmlformats.org/drawingml/2006/main">
            <a:r>
              <a:t>  "lawIds": [],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"1010100",</a:t>
            </a:r>
          </a:p>
          <a:p xmlns:a="http://schemas.openxmlformats.org/drawingml/2006/main">
            <a:r>
              <a:t>    "1019600",</a:t>
            </a:r>
          </a:p>
          <a:p xmlns:a="http://schemas.openxmlformats.org/drawingml/2006/main">
            <a:r>
              <a:t>    "1019700",</a:t>
            </a:r>
          </a:p>
          <a:p xmlns:a="http://schemas.openxmlformats.org/drawingml/2006/main">
            <a:r>
              <a:t>    "1016050",</a:t>
            </a:r>
          </a:p>
          <a:p xmlns:a="http://schemas.openxmlformats.org/drawingml/2006/main">
            <a:r>
              <a:t>    "1018037",</a:t>
            </a:r>
          </a:p>
          <a:p xmlns:a="http://schemas.openxmlformats.org/drawingml/2006/main">
            <a:r>
              <a:t>    "1019300",</a:t>
            </a:r>
          </a:p>
          <a:p xmlns:a="http://schemas.openxmlformats.org/drawingml/2006/main">
            <a:r>
              <a:t>    "1019500"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"공식 조직·직무·역할 기반의 사용자 인식 및 업무 맥락 분류",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"로그인 ID·조직·담당업무·효력일 매핑",</a:t>
            </a:r>
          </a:p>
          <a:p xmlns:a="http://schemas.openxmlformats.org/drawingml/2006/main">
            <a:r>
              <a:t>    "업무별 지식·절차·서식 선택과 접근정책 집행"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"조직·업무 사전·역할/정책표·기관 인수본",</a:t>
            </a:r>
          </a:p>
          <a:p xmlns:a="http://schemas.openxmlformats.org/drawingml/2006/main">
            <a:r>
              <a:t>  "acceptance": "GAI-R01~R12와 GAI-T01~T12의 독립 인수 기준 적용",</a:t>
            </a:r>
          </a:p>
          <a:p xmlns:a="http://schemas.openxmlformats.org/drawingml/2006/main">
            <a:r>
              <a:t>  "phase": "1차 공통 기반",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"ON-W02",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"ON-W05",</a:t>
            </a:r>
          </a:p>
          <a:p xmlns:a="http://schemas.openxmlformats.org/drawingml/2006/main">
            <a:r>
              <a:t>    "ON-W06"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"GAI-T01",</a:t>
            </a:r>
          </a:p>
          <a:p xmlns:a="http://schemas.openxmlformats.org/drawingml/2006/main">
            <a:r>
              <a:t>    "GAI-T02",</a:t>
            </a:r>
          </a:p>
          <a:p xmlns:a="http://schemas.openxmlformats.org/drawingml/2006/main">
            <a:r>
              <a:t>    "GAI-T03",</a:t>
            </a:r>
          </a:p>
          <a:p xmlns:a="http://schemas.openxmlformats.org/drawingml/2006/main">
            <a:r>
              <a:t>    "GAI-T04",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"GAI-T07",</a:t>
            </a:r>
          </a:p>
          <a:p xmlns:a="http://schemas.openxmlformats.org/drawingml/2006/main">
            <a:r>
              <a:t>    "GAI-T08",</a:t>
            </a:r>
          </a:p>
          <a:p xmlns:a="http://schemas.openxmlformats.org/drawingml/2006/main">
            <a:r>
              <a:t>    "GAI-T09",</a:t>
            </a:r>
          </a:p>
          <a:p xmlns:a="http://schemas.openxmlformats.org/drawingml/2006/main">
            <a:r>
              <a:t>    "GAI-T10",</a:t>
            </a:r>
          </a:p>
          <a:p xmlns:a="http://schemas.openxmlformats.org/drawingml/2006/main">
            <a:r>
              <a:t>    "GAI-T11",</a:t>
            </a:r>
          </a:p>
          <a:p xmlns:a="http://schemas.openxmlformats.org/drawingml/2006/main">
            <a:r>
              <a:t>    "GAI-T12"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"설립법·직제시행세칙 기반 경영지원 업무",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"1010100",</a:t>
            </a:r>
          </a:p>
          <a:p xmlns:a="http://schemas.openxmlformats.org/drawingml/2006/main">
            <a:r>
              <a:t>      "name": "AI미래전략실",</a:t>
            </a:r>
          </a:p>
          <a:p xmlns:a="http://schemas.openxmlformats.org/drawingml/2006/main">
            <a:r>
              <a:t>      "job": "AI 전략·윤리",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인공지능(AI) 전환 전략 수립․조정",</a:t>
            </a:r>
          </a:p>
          <a:p xmlns:a="http://schemas.openxmlformats.org/drawingml/2006/main">
            <a:r>
              <a:t>        "6. 인공지능(AI) 제도 및 지침, 윤리기준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T34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"1019600",</a:t>
            </a:r>
          </a:p>
          <a:p xmlns:a="http://schemas.openxmlformats.org/drawingml/2006/main">
            <a:r>
              <a:t>      "name": "AI혁신처",</a:t>
            </a:r>
          </a:p>
          <a:p xmlns:a="http://schemas.openxmlformats.org/drawingml/2006/main">
            <a:r>
              <a:t>      "job": "AI 사업 조정·데이터 표준",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인공지능(AI) 활용 서비스 구축 지원 및 성과관리",</a:t>
            </a:r>
          </a:p>
          <a:p xmlns:a="http://schemas.openxmlformats.org/drawingml/2006/main">
            <a:r>
              <a:t>        "3. 인공지능(AI) 데이터 표준화 및 데이터 스페이스 구축"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"1019700",</a:t>
            </a:r>
          </a:p>
          <a:p xmlns:a="http://schemas.openxmlformats.org/drawingml/2006/main">
            <a:r>
              <a:t>      "name": "AI서비스개발팀",</a:t>
            </a:r>
          </a:p>
          <a:p xmlns:a="http://schemas.openxmlformats.org/drawingml/2006/main">
            <a:r>
              <a:t>      "job": "공통플랫폼·모델 품질",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인공지능(AI) 공통플랫폼 구축․운영 인공지능(AI) 모델 고도화․품질관리",</a:t>
            </a:r>
          </a:p>
          <a:p xmlns:a="http://schemas.openxmlformats.org/drawingml/2006/main">
            <a:r>
              <a:t>        "2. 인공지능(AI) 시범 서비스(PoC) 추진"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4행 · 업무분장 열",</a:t>
            </a:r>
          </a:p>
          <a:p xmlns:a="http://schemas.openxmlformats.org/drawingml/2006/main">
            <a:r>
              <a:t>      "restriction": "부칙 제1·2조: 팀장 최초 인사발령일부터 시행 · 발령일 미확인 · 시행 전 AI혁신처 관련 업무·정원 담당",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"1016050",</a:t>
            </a:r>
          </a:p>
          <a:p xmlns:a="http://schemas.openxmlformats.org/drawingml/2006/main">
            <a:r>
              <a:t>      "name": "예산처",</a:t>
            </a:r>
          </a:p>
          <a:p xmlns:a="http://schemas.openxmlformats.org/drawingml/2006/main">
            <a:r>
              <a:t>      "job": "조직·분장·전결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7,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"8. 조직 및 정원관리 총괄",</a:t>
            </a:r>
          </a:p>
          <a:p xmlns:a="http://schemas.openxmlformats.org/drawingml/2006/main">
            <a:r>
              <a:t>        "9. 위임전결에 관한 사항",</a:t>
            </a:r>
          </a:p>
          <a:p xmlns:a="http://schemas.openxmlformats.org/drawingml/2006/main">
            <a:r>
              <a:t>        "10. 업무분장 조정‧관리"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T36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"1018037",</a:t>
            </a:r>
          </a:p>
          <a:p xmlns:a="http://schemas.openxmlformats.org/drawingml/2006/main">
            <a:r>
              <a:t>      "name": "인재개발처",</a:t>
            </a:r>
          </a:p>
          <a:p xmlns:a="http://schemas.openxmlformats.org/drawingml/2006/main">
            <a:r>
              <a:t>      "job": "발령·인사정보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직원의 채용, 승진, 전보 등 임용 및 보직에 관한 업무",</a:t>
            </a:r>
          </a:p>
          <a:p xmlns:a="http://schemas.openxmlformats.org/drawingml/2006/main">
            <a:r>
              <a:t>        "6. 인사통계자료․인사정보 관리 및 인사 관련 제증명 발급"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"1019300",</a:t>
            </a:r>
          </a:p>
          <a:p xmlns:a="http://schemas.openxmlformats.org/drawingml/2006/main">
            <a:r>
              <a:t>      "name": "디지털기획처",</a:t>
            </a:r>
          </a:p>
          <a:p xmlns:a="http://schemas.openxmlformats.org/drawingml/2006/main">
            <a:r>
              <a:t>      "job": "정보화·데이터 품질",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"13. 정보화사업 사전검토(과업지시서 등) 및 시스템 구축 지원(기술분야)",</a:t>
            </a:r>
          </a:p>
          <a:p xmlns:a="http://schemas.openxmlformats.org/drawingml/2006/main">
            <a:r>
              <a:t>        "20. 데이터 품질관리"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"1019500",</a:t>
            </a:r>
          </a:p>
          <a:p xmlns:a="http://schemas.openxmlformats.org/drawingml/2006/main">
            <a:r>
              <a:t>      "name": "정보보안처",</a:t>
            </a:r>
          </a:p>
          <a:p xmlns:a="http://schemas.openxmlformats.org/drawingml/2006/main">
            <a:r>
              <a:t>      "job": "보안·개인정보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정보보안 업무총괄 관리",</a:t>
            </a:r>
          </a:p>
          <a:p xmlns:a="http://schemas.openxmlformats.org/drawingml/2006/main">
            <a:r>
              <a:t>        "10. 개인정보보호 업무총괄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5행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"설립법·별표4 내부 업무분장 / 인사·재무·계약·전결 등 업무별 규정의 별도 확인",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"AX04",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"AX09",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"AX26",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"조직 네이티브 공통 기반",</a:t>
            </a:r>
          </a:p>
          <a:p xmlns:a="http://schemas.openxmlformats.org/drawingml/2006/main">
            <a:r>
              <a:t>  "delta": "공식 ID·효력일·역할·업무 분류·권한 집행",</a:t>
            </a:r>
          </a:p>
          <a:p xmlns:a="http://schemas.openxmlformats.org/drawingml/2006/main">
            <a:r>
              <a:t>  "kpi": "직무 분류 정확도 / 비인가 노출 건수",</a:t>
            </a:r>
          </a:p>
          <a:p xmlns:a="http://schemas.openxmlformats.org/drawingml/2006/main">
            <a:r>
              <a:t>  "validation": "인사이동·동명이인·권한 회수·동일 요청 교차 시험",</a:t>
            </a:r>
          </a:p>
          <a:p xmlns:a="http://schemas.openxmlformats.org/drawingml/2006/main">
            <a:r>
              <a:t>  "requirement": "BM-ST-04-R01",</a:t>
            </a:r>
          </a:p>
          <a:p xmlns:a="http://schemas.openxmlformats.org/drawingml/2006/main">
            <a:r>
              <a:t>  "test": "BM-ST-04-T01",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"조직 네이티브 공통 기반의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https://www.gov.uk/government/publications/microsoft-365-copilot-experiment-cross-government-findings-report/microsoft-365-copilot-experiment-cross-government-findings-report-html</a:t>
            </a:r>
          </a:p>
          <a:p xmlns:a="http://schemas.openxmlformats.org/drawingml/2006/main">
            <a:r>
              <a:t>https://openai.com/index/morgan-stanley/</a:t>
            </a:r>
          </a:p>
          <a:p xmlns:a="http://schemas.openxmlformats.org/drawingml/2006/main">
            <a:r>
              <a:t>https://www.korea.kr/news/policyNewsView.do?newsId=156449232</a:t>
            </a:r>
          </a:p>
          <a:p xmlns:a="http://schemas.openxmlformats.org/drawingml/2006/main">
            <a:r>
              <a:t>https://comptroller.nyc.gov/reports/audit-report-on-the-new-york-city-office-of-technology-and-innovations-mycity-system/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"ST-05",</a:t>
            </a:r>
          </a:p>
          <a:p xmlns:a="http://schemas.openxmlformats.org/drawingml/2006/main">
            <a:r>
              <a:t>  "number": 5,</a:t>
            </a:r>
          </a:p>
          <a:p xmlns:a="http://schemas.openxmlformats.org/drawingml/2006/main">
            <a:r>
              <a:t>  "direction": "지능형 미래 모빌리티 혁신",</a:t>
            </a:r>
          </a:p>
          <a:p xmlns:a="http://schemas.openxmlformats.org/drawingml/2006/main">
            <a:r>
              <a:t>  "strategy": "K-AI 기반 안전한 미래 모빌리티 실현",</a:t>
            </a:r>
          </a:p>
          <a:p xmlns:a="http://schemas.openxmlformats.org/drawingml/2006/main">
            <a:r>
              <a:t>  "solution": "미래 모빌리티 검증·실증 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"L09",</a:t>
            </a:r>
          </a:p>
          <a:p xmlns:a="http://schemas.openxmlformats.org/drawingml/2006/main">
            <a:r>
              <a:t>    "L18",</a:t>
            </a:r>
          </a:p>
          <a:p xmlns:a="http://schemas.openxmlformats.org/drawingml/2006/main">
            <a:r>
              <a:t>    "L19",</a:t>
            </a:r>
          </a:p>
          <a:p xmlns:a="http://schemas.openxmlformats.org/drawingml/2006/main">
            <a:r>
              <a:t>    "L27"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"7000000",</a:t>
            </a:r>
          </a:p>
          <a:p xmlns:a="http://schemas.openxmlformats.org/drawingml/2006/main">
            <a:r>
              <a:t>    "1029020",</a:t>
            </a:r>
          </a:p>
          <a:p xmlns:a="http://schemas.openxmlformats.org/drawingml/2006/main">
            <a:r>
              <a:t>    "1021020",</a:t>
            </a:r>
          </a:p>
          <a:p xmlns:a="http://schemas.openxmlformats.org/drawingml/2006/main">
            <a:r>
              <a:t>    "1021030",</a:t>
            </a:r>
          </a:p>
          <a:p xmlns:a="http://schemas.openxmlformats.org/drawingml/2006/main">
            <a:r>
              <a:t>    "1211290"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"미래차·드론·모빌리티 실증의 기준·시험·검토 업무",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"기술유형별 요구조건·시험계획·증빙 구조화",</a:t>
            </a:r>
          </a:p>
          <a:p xmlns:a="http://schemas.openxmlformats.org/drawingml/2006/main">
            <a:r>
              <a:t>    "조건 변경에 따른 검증 항목 재구성"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"시험·실증 검토 패키지",</a:t>
            </a:r>
          </a:p>
          <a:p xmlns:a="http://schemas.openxmlformats.org/drawingml/2006/main">
            <a:r>
              <a:t>  "acceptance": "요구조건–시험–증거 추적과 변경 후 재검토 여부 확인",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"ON-W05",</a:t>
            </a:r>
          </a:p>
          <a:p xmlns:a="http://schemas.openxmlformats.org/drawingml/2006/main">
            <a:r>
              <a:t>    "ON-W06"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"GAI-T09",</a:t>
            </a:r>
          </a:p>
          <a:p xmlns:a="http://schemas.openxmlformats.org/drawingml/2006/main">
            <a:r>
              <a:t>    "GAI-T12"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"7000000",</a:t>
            </a:r>
          </a:p>
          <a:p xmlns:a="http://schemas.openxmlformats.org/drawingml/2006/main">
            <a:r>
              <a:t>      "name": "자동차안전연구원",</a:t>
            </a:r>
          </a:p>
          <a:p xmlns:a="http://schemas.openxmlformats.org/drawingml/2006/main">
            <a:r>
              <a:t>      "job": "미래차 안전 연구·평가",</a:t>
            </a:r>
          </a:p>
          <a:p xmlns:a="http://schemas.openxmlformats.org/drawingml/2006/main">
            <a:r>
              <a:t>      "indices": [],</a:t>
            </a:r>
          </a:p>
          <a:p xmlns:a="http://schemas.openxmlformats.org/drawingml/2006/main">
            <a:r>
              <a:t>      "duties": [],</a:t>
            </a:r>
          </a:p>
          <a:p xmlns:a="http://schemas.openxmlformats.org/drawingml/2006/main">
            <a:r>
              <a:t>      "locator": "자동차안전연구원 별도 직제시행세칙 대조 대상",</a:t>
            </a:r>
          </a:p>
          <a:p xmlns:a="http://schemas.openxmlformats.org/drawingml/2006/main">
            <a:r>
              <a:t>      "restriction": "별표4 부설기관: 자동차안전연구원 직제시행세칙에 따름 · 하부조직·직무·업무분장 별도 확인 필요",</a:t>
            </a:r>
          </a:p>
          <a:p xmlns:a="http://schemas.openxmlformats.org/drawingml/2006/main">
            <a:r>
              <a:t>      "status": "법령·업무 원장 기반 요약 / 세부 직제 확인"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"1029020",</a:t>
            </a:r>
          </a:p>
          <a:p xmlns:a="http://schemas.openxmlformats.org/drawingml/2006/main">
            <a:r>
              <a:t>      "name": "첨단연구개발처",</a:t>
            </a:r>
          </a:p>
          <a:p xmlns:a="http://schemas.openxmlformats.org/drawingml/2006/main">
            <a:r>
              <a:t>      "job": "미래차 검사기술 연구",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4,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"5. 검사기준 및 검사방법 개발에 관한 업무",</a:t>
            </a:r>
          </a:p>
          <a:p xmlns:a="http://schemas.openxmlformats.org/drawingml/2006/main">
            <a:r>
              <a:t>        "8. 자율주행자동차 등 검사기술 개발"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T43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"1021020",</a:t>
            </a:r>
          </a:p>
          <a:p xmlns:a="http://schemas.openxmlformats.org/drawingml/2006/main">
            <a:r>
              <a:t>      "name": "규제혁신처",</a:t>
            </a:r>
          </a:p>
          <a:p xmlns:a="http://schemas.openxmlformats.org/drawingml/2006/main">
            <a:r>
              <a:t>      "job": "실증특례 접수·승인 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모빌리티 실증특례 접수 및 승인 지원",</a:t>
            </a:r>
          </a:p>
          <a:p xmlns:a="http://schemas.openxmlformats.org/drawingml/2006/main">
            <a:r>
              <a:t>        "8. 실증특례 통합검토위원회 구성, 운영"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"1021030",</a:t>
            </a:r>
          </a:p>
          <a:p xmlns:a="http://schemas.openxmlformats.org/drawingml/2006/main">
            <a:r>
              <a:t>      "name": "실증사업처",</a:t>
            </a:r>
          </a:p>
          <a:p xmlns:a="http://schemas.openxmlformats.org/drawingml/2006/main">
            <a:r>
              <a:t>      "job": "특화도시·시범사업 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모빌리티 특화도시 사업지원",</a:t>
            </a:r>
          </a:p>
          <a:p xmlns:a="http://schemas.openxmlformats.org/drawingml/2006/main">
            <a:r>
              <a:t>        "6. 첨단모빌리티 시범사업과 대상지역 지정요청 접수"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"1211290",</a:t>
            </a:r>
          </a:p>
          <a:p xmlns:a="http://schemas.openxmlformats.org/drawingml/2006/main">
            <a:r>
              <a:t>      "name": "드론관리처",</a:t>
            </a:r>
          </a:p>
          <a:p xmlns:a="http://schemas.openxmlformats.org/drawingml/2006/main">
            <a:r>
              <a:t>      "job": "드론 안전관리·연구",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초경량비행장치 사용사업체 안전관리 및 지도점검",</a:t>
            </a:r>
          </a:p>
          <a:p xmlns:a="http://schemas.openxmlformats.org/drawingml/2006/main">
            <a:r>
              <a:t>        "5. 무인비행장치(드론) 관련 신규사업 개발 및 안전연구(UTM, 안티드론, 드론택시․택배 등)"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T45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"연결 법령 원장의 결함조사·실증·드론 신고 업무 활용 / 시험·인증 권한과 연구원 세부 직제의 별도 확인",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"AX08",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"AX16",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"AX17",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"AX18",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"모빌리티 실증 증거·안전 검증",</a:t>
            </a:r>
          </a:p>
          <a:p xmlns:a="http://schemas.openxmlformats.org/drawingml/2006/main">
            <a:r>
              <a:t>  "delta": "실증 데이터·시험조건·사건 보고의 근거 연결",</a:t>
            </a:r>
          </a:p>
          <a:p xmlns:a="http://schemas.openxmlformats.org/drawingml/2006/main">
            <a:r>
              <a:t>  "kpi": "시험 증거 누락률 / 재현 성공률",</a:t>
            </a:r>
          </a:p>
          <a:p xmlns:a="http://schemas.openxmlformats.org/drawingml/2006/main">
            <a:r>
              <a:t>  "validation": "실증 조건·원시 로그·보고서 불일치 탐지",</a:t>
            </a:r>
          </a:p>
          <a:p xmlns:a="http://schemas.openxmlformats.org/drawingml/2006/main">
            <a:r>
              <a:t>  "requirement": "BM-ST-05-R01",</a:t>
            </a:r>
          </a:p>
          <a:p xmlns:a="http://schemas.openxmlformats.org/drawingml/2006/main">
            <a:r>
              <a:t>  "test": "BM-ST-05-T01",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"모빌리티 실증 증거·안전 검증의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https://www.nhtsa.gov/press-releases/consent-order-cruise-crash-reporting</a:t>
            </a:r>
          </a:p>
          <a:p xmlns:a="http://schemas.openxmlformats.org/drawingml/2006/main">
            <a:r>
              <a:t>https://deepmind.google/blog/safety-first-ai-for-autonomous-data-centre-cooling-and-industrial-control/</a:t>
            </a:r>
          </a:p>
          <a:p xmlns:a="http://schemas.openxmlformats.org/drawingml/2006/main">
            <a:r>
              <a:t>https://www.schiphol.nl/en/aviation-solutions/case-study-amsterdam-airport-schiphol-deep-turnaround/</a:t>
            </a:r>
          </a:p>
          <a:p xmlns:a="http://schemas.openxmlformats.org/drawingml/2006/main">
            <a:r>
              <a:t>https://www.lta.gov.sg/content/ltagov/en/newsroom/2025/8/news-releases/making_bus_journeys_safer.html</a:t>
            </a:r>
          </a:p>
          <a:p xmlns:a="http://schemas.openxmlformats.org/drawingml/2006/main">
            <a:r>
              <a:t>https://info.korail.com/info/selectBbsNttView.do?bbsNo=199&amp;key=911&amp;nttNo=25238</a:t>
            </a:r>
          </a:p>
          <a:p xmlns:a="http://schemas.openxmlformats.org/drawingml/2006/main">
            <a:r>
              <a:t>https://www.networkrail.co.uk/stories/using-artificial-intelligence-to-create-a-better-railway/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"ST-06",</a:t>
            </a:r>
          </a:p>
          <a:p xmlns:a="http://schemas.openxmlformats.org/drawingml/2006/main">
            <a:r>
              <a:t>  "number": 6,</a:t>
            </a:r>
          </a:p>
          <a:p xmlns:a="http://schemas.openxmlformats.org/drawingml/2006/main">
            <a:r>
              <a:t>  "direction": "지능형 미래 모빌리티 혁신",</a:t>
            </a:r>
          </a:p>
          <a:p xmlns:a="http://schemas.openxmlformats.org/drawingml/2006/main">
            <a:r>
              <a:t>  "strategy": "기후위기 대응 친환경 전환 가속화",</a:t>
            </a:r>
          </a:p>
          <a:p xmlns:a="http://schemas.openxmlformats.org/drawingml/2006/main">
            <a:r>
              <a:t>  "solution": "친환경 교통·탄소 업무지원",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"1019040",</a:t>
            </a:r>
          </a:p>
          <a:p xmlns:a="http://schemas.openxmlformats.org/drawingml/2006/main">
            <a:r>
              <a:t>    "1019041",</a:t>
            </a:r>
          </a:p>
          <a:p xmlns:a="http://schemas.openxmlformats.org/drawingml/2006/main">
            <a:r>
              <a:t>    "1019030"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"교통물류·탄소중립 정책 및 친환경 전환 자료 관리",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"활동자료·계수·산정기간·원천 판본 연결",</a:t>
            </a:r>
          </a:p>
          <a:p xmlns:a="http://schemas.openxmlformats.org/drawingml/2006/main">
            <a:r>
              <a:t>    "부서·사업별 실적 증빙과 보고서 작성 지원"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"친환경 전환 실적·근거 보고서",</a:t>
            </a:r>
          </a:p>
          <a:p xmlns:a="http://schemas.openxmlformats.org/drawingml/2006/main">
            <a:r>
              <a:t>  "acceptance": "산정 입력·계수·기간의 재현성 및 누락 자료의 보류 처리",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"GAI-T02",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"1019040",</a:t>
            </a:r>
          </a:p>
          <a:p xmlns:a="http://schemas.openxmlformats.org/drawingml/2006/main">
            <a:r>
              <a:t>      "name": "기후탄소물류처",</a:t>
            </a:r>
          </a:p>
          <a:p xmlns:a="http://schemas.openxmlformats.org/drawingml/2006/main">
            <a:r>
              <a:t>      "job": "교통물류 정책·실적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화물운송실적관리시스템 운영에 관한 업무",</a:t>
            </a:r>
          </a:p>
          <a:p xmlns:a="http://schemas.openxmlformats.org/drawingml/2006/main">
            <a:r>
              <a:t>        "6. 교통물류 정책관련 연구‧사업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"1019041",</a:t>
            </a:r>
          </a:p>
          <a:p xmlns:a="http://schemas.openxmlformats.org/drawingml/2006/main">
            <a:r>
              <a:t>      "name": "탄소중립정책팀",</a:t>
            </a:r>
          </a:p>
          <a:p xmlns:a="http://schemas.openxmlformats.org/drawingml/2006/main">
            <a:r>
              <a:t>      "job": "온실가스 조사·감축지원",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교통부문 온실가스 배출량 조사사업(배출량 조사, 계수개발, 목표관리제, KOTEMS 등) 운영 및 관리 업무",</a:t>
            </a:r>
          </a:p>
          <a:p xmlns:a="http://schemas.openxmlformats.org/drawingml/2006/main">
            <a:r>
              <a:t>        "3. 교통부문 온실가스 감축 추진 등을 위한 배출권거래제 외부사업, 국제항공탄소 상쇄제도 및 국제감축 등 감축지원 사업 발굴, 운영·관리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5행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"1019030",</a:t>
            </a:r>
          </a:p>
          <a:p xmlns:a="http://schemas.openxmlformats.org/drawingml/2006/main">
            <a:r>
              <a:t>      "name": "데이터융복합처",</a:t>
            </a:r>
          </a:p>
          <a:p xmlns:a="http://schemas.openxmlformats.org/drawingml/2006/main">
            <a:r>
              <a:t>      "job": "친환경차 안전 정책",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"18. 사업부서 추진 중 친환경차 안전확보 업무에 대한 총괄 정책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"L13: 화물운송실적 업무에 한정 / 온실가스 조사·계수·감축지원: 별표4 T40 탄소중립정책팀 업무 / 탄소 산정 관련 개별 법령·기준 추가 대조",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"친환경 운행·탄소 검증 지원",</a:t>
            </a:r>
          </a:p>
          <a:p xmlns:a="http://schemas.openxmlformats.org/drawingml/2006/main">
            <a:r>
              <a:t>  "delta": "활동량·계수·산식 검증과 개선 권고",</a:t>
            </a:r>
          </a:p>
          <a:p xmlns:a="http://schemas.openxmlformats.org/drawingml/2006/main">
            <a:r>
              <a:t>  "kpi": "활동량당 에너지 / 산식 오류율",</a:t>
            </a:r>
          </a:p>
          <a:p xmlns:a="http://schemas.openxmlformats.org/drawingml/2006/main">
            <a:r>
              <a:t>  "validation": "같은 계절·운행 조건 비교 및 계수 판본 재계산",</a:t>
            </a:r>
          </a:p>
          <a:p xmlns:a="http://schemas.openxmlformats.org/drawingml/2006/main">
            <a:r>
              <a:t>  "requirement": "BM-ST-06-R01",</a:t>
            </a:r>
          </a:p>
          <a:p xmlns:a="http://schemas.openxmlformats.org/drawingml/2006/main">
            <a:r>
              <a:t>  "test": "BM-ST-06-T01",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"친환경 운행·탄소 검증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https://deepmind.google/blog/safety-first-ai-for-autonomous-data-centre-cooling-and-industrial-control/</a:t>
            </a:r>
          </a:p>
          <a:p xmlns:a="http://schemas.openxmlformats.org/drawingml/2006/main">
            <a:r>
              <a:t>https://sites.research.google/greenlight/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"ST-07",</a:t>
            </a:r>
          </a:p>
          <a:p xmlns:a="http://schemas.openxmlformats.org/drawingml/2006/main">
            <a:r>
              <a:t>  "number": 7,</a:t>
            </a:r>
          </a:p>
          <a:p xmlns:a="http://schemas.openxmlformats.org/drawingml/2006/main">
            <a:r>
              <a:t>  "direction": "균형있는 국민체감 서비스 실현",</a:t>
            </a:r>
          </a:p>
          <a:p xmlns:a="http://schemas.openxmlformats.org/drawingml/2006/main">
            <a:r>
              <a:t>  "strategy": "교통데이터 개방·연계 기반 서비스 편익 증대",</a:t>
            </a:r>
          </a:p>
          <a:p xmlns:a="http://schemas.openxmlformats.org/drawingml/2006/main">
            <a:r>
              <a:t>  "solution": "교통데이터 카탈로그·연계 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"L04",</a:t>
            </a:r>
          </a:p>
          <a:p xmlns:a="http://schemas.openxmlformats.org/drawingml/2006/main">
            <a:r>
              <a:t>    "L10",</a:t>
            </a:r>
          </a:p>
          <a:p xmlns:a="http://schemas.openxmlformats.org/drawingml/2006/main">
            <a:r>
              <a:t>    "L15",</a:t>
            </a:r>
          </a:p>
          <a:p xmlns:a="http://schemas.openxmlformats.org/drawingml/2006/main">
            <a:r>
              <a:t>    "L16"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"1019600",</a:t>
            </a:r>
          </a:p>
          <a:p xmlns:a="http://schemas.openxmlformats.org/drawingml/2006/main">
            <a:r>
              <a:t>    "1019030",</a:t>
            </a:r>
          </a:p>
          <a:p xmlns:a="http://schemas.openxmlformats.org/drawingml/2006/main">
            <a:r>
              <a:t>    "1019400",</a:t>
            </a:r>
          </a:p>
          <a:p xmlns:a="http://schemas.openxmlformats.org/drawingml/2006/main">
            <a:r>
              <a:t>    "1019020",</a:t>
            </a:r>
          </a:p>
          <a:p xmlns:a="http://schemas.openxmlformats.org/drawingml/2006/main">
            <a:r>
              <a:t>    "1019010",</a:t>
            </a:r>
          </a:p>
          <a:p xmlns:a="http://schemas.openxmlformats.org/drawingml/2006/main">
            <a:r>
              <a:t>    "1019300",</a:t>
            </a:r>
          </a:p>
          <a:p xmlns:a="http://schemas.openxmlformats.org/drawingml/2006/main">
            <a:r>
              <a:t>    "1019500"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"교통·차량 데이터의 소재·권리·품질·활용 관리",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"데이터 정의·소유부서·용도·권한 카탈로그 구성",</a:t>
            </a:r>
          </a:p>
          <a:p xmlns:a="http://schemas.openxmlformats.org/drawingml/2006/main">
            <a:r>
              <a:t>    "기관 간 요청·승인·제공·결과 대사"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"데이터 활용계획·연계 명세·대사표",</a:t>
            </a:r>
          </a:p>
          <a:p xmlns:a="http://schemas.openxmlformats.org/drawingml/2006/main">
            <a:r>
              <a:t>  "acceptance": "권한별 검색 결과 분리·계약 필드 대사·회수 후 재접근 차단",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"GAI-T04",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"GAI-T09",</a:t>
            </a:r>
          </a:p>
          <a:p xmlns:a="http://schemas.openxmlformats.org/drawingml/2006/main">
            <a:r>
              <a:t>    "GAI-T11"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"1019600",</a:t>
            </a:r>
          </a:p>
          <a:p xmlns:a="http://schemas.openxmlformats.org/drawingml/2006/main">
            <a:r>
              <a:t>      "name": "AI혁신처",</a:t>
            </a:r>
          </a:p>
          <a:p xmlns:a="http://schemas.openxmlformats.org/drawingml/2006/main">
            <a:r>
              <a:t>      "job": "공공데이터 개방·표준",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인공지능(AI) 데이터 표준화 및 데이터 스페이스 구축",</a:t>
            </a:r>
          </a:p>
          <a:p xmlns:a="http://schemas.openxmlformats.org/drawingml/2006/main">
            <a:r>
              <a:t>        "5. 공공데이터 개방 및 관련 시스템 구축․관리, 공공데이터 활용성과 평가 대응"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"1019030",</a:t>
            </a:r>
          </a:p>
          <a:p xmlns:a="http://schemas.openxmlformats.org/drawingml/2006/main">
            <a:r>
              <a:t>      "name": "데이터융복합처",</a:t>
            </a:r>
          </a:p>
          <a:p xmlns:a="http://schemas.openxmlformats.org/drawingml/2006/main">
            <a:r>
              <a:t>      "job": "교통데이터 분석·결합",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운행기록데이터 관리·분석·활용 및 정책지원",</a:t>
            </a:r>
          </a:p>
          <a:p xmlns:a="http://schemas.openxmlformats.org/drawingml/2006/main">
            <a:r>
              <a:t>        "8. 빅데이터 결합 ․분석․활용 및 교통 빅데이터 플랫폼 구축사업"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"1019400",</a:t>
            </a:r>
          </a:p>
          <a:p xmlns:a="http://schemas.openxmlformats.org/drawingml/2006/main">
            <a:r>
              <a:t>      "name": "자동차정보처",</a:t>
            </a:r>
          </a:p>
          <a:p xmlns:a="http://schemas.openxmlformats.org/drawingml/2006/main">
            <a:r>
              <a:t>      "job": "자동차 통합정보 제공",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자동차토털이력관리시스템 운영",</a:t>
            </a:r>
          </a:p>
          <a:p xmlns:a="http://schemas.openxmlformats.org/drawingml/2006/main">
            <a:r>
              <a:t>        "8. 자동차정보 통합서비스 제공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6행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"1019020",</a:t>
            </a:r>
          </a:p>
          <a:p xmlns:a="http://schemas.openxmlformats.org/drawingml/2006/main">
            <a:r>
              <a:t>      "name": "모빌리티연구처",</a:t>
            </a:r>
          </a:p>
          <a:p xmlns:a="http://schemas.openxmlformats.org/drawingml/2006/main">
            <a:r>
              <a:t>      "job": "택시·대중교통 정보 운영",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택시 운행정보 관리시스템 구축 및 운영",</a:t>
            </a:r>
          </a:p>
          <a:p xmlns:a="http://schemas.openxmlformats.org/drawingml/2006/main">
            <a:r>
              <a:t>        "10. 대중교통정보시스템(TAGO) 운영 등 ITS 관련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"1019010",</a:t>
            </a:r>
          </a:p>
          <a:p xmlns:a="http://schemas.openxmlformats.org/drawingml/2006/main">
            <a:r>
              <a:t>      "name": "정책지원처",</a:t>
            </a:r>
          </a:p>
          <a:p xmlns:a="http://schemas.openxmlformats.org/drawingml/2006/main">
            <a:r>
              <a:t>      "job": "현황조사·데이터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"7. 대중교통 현황조사에 관한 업무",</a:t>
            </a:r>
          </a:p>
          <a:p xmlns:a="http://schemas.openxmlformats.org/drawingml/2006/main">
            <a:r>
              <a:t>        "9. 첨단모빌리티 데이터 수집관리 지원"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"1019300",</a:t>
            </a:r>
          </a:p>
          <a:p xmlns:a="http://schemas.openxmlformats.org/drawingml/2006/main">
            <a:r>
              <a:t>      "name": "디지털기획처",</a:t>
            </a:r>
          </a:p>
          <a:p xmlns:a="http://schemas.openxmlformats.org/drawingml/2006/main">
            <a:r>
              <a:t>      "job": "데이터 품질관리",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"20. 데이터 품질관리"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"1019500",</a:t>
            </a:r>
          </a:p>
          <a:p xmlns:a="http://schemas.openxmlformats.org/drawingml/2006/main">
            <a:r>
              <a:t>      "name": "정보보안처",</a:t>
            </a:r>
          </a:p>
          <a:p xmlns:a="http://schemas.openxmlformats.org/drawingml/2006/main">
            <a:r>
              <a:t>      "job": "개인정보·접근 보안",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정보보안 및 개인정보보호 관련 제도 및 지침관리",</a:t>
            </a:r>
          </a:p>
          <a:p xmlns:a="http://schemas.openxmlformats.org/drawingml/2006/main">
            <a:r>
              <a:t>        "10. 개인정보보호 업무총괄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5행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"연결 법령의 해당 사무 + 참여 부서별 별표4 업무분장 / 개인별 전결·권한의 별도 매핑",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"AX06",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"AX23",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"교통데이터 제공·연계 지원",</a:t>
            </a:r>
          </a:p>
          <a:p xmlns:a="http://schemas.openxmlformats.org/drawingml/2006/main">
            <a:r>
              <a:t>  "delta": "공개 가능 필드·데이터 사전·API 요청 연결",</a:t>
            </a:r>
          </a:p>
          <a:p xmlns:a="http://schemas.openxmlformats.org/drawingml/2006/main">
            <a:r>
              <a:t>  "kpi": "연계 성공률 / 목적 외 노출 건수",</a:t>
            </a:r>
          </a:p>
          <a:p xmlns:a="http://schemas.openxmlformats.org/drawingml/2006/main">
            <a:r>
              <a:t>  "validation": "공개·내부 필드 혼합과 재식별 위험 입력 검증",</a:t>
            </a:r>
          </a:p>
          <a:p xmlns:a="http://schemas.openxmlformats.org/drawingml/2006/main">
            <a:r>
              <a:t>  "requirement": "BM-ST-07-R01",</a:t>
            </a:r>
          </a:p>
          <a:p xmlns:a="http://schemas.openxmlformats.org/drawingml/2006/main">
            <a:r>
              <a:t>  "test": "BM-ST-07-T01",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"교통데이터 제공·연계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https://english.seoul.go.kr/smg-taps-big-data-customized-policy/</a:t>
            </a:r>
          </a:p>
          <a:p xmlns:a="http://schemas.openxmlformats.org/drawingml/2006/main">
            <a:r>
              <a:t>https://insidegovuk.blog.gov.uk/2026/03/16/5-things-we-learned-testing-gov-uk-chat-an-ai-assistant-for-government/</a:t>
            </a:r>
          </a:p>
          <a:p xmlns:a="http://schemas.openxmlformats.org/drawingml/2006/main">
            <a:r>
              <a:t>https://www.gov.uk/algorithmic-transparency-records/dsit-gov-dot-uk-chat</a:t>
            </a:r>
          </a:p>
          <a:p xmlns:a="http://schemas.openxmlformats.org/drawingml/2006/main">
            <a:r>
              <a:t>https://www.korea.kr/news/policyNewsView.do?newsId=156449232</a:t>
            </a:r>
          </a:p>
          <a:p xmlns:a="http://schemas.openxmlformats.org/drawingml/2006/main">
            <a:r>
              <a:t>https://sites.research.google/greenlight/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"ST-08",</a:t>
            </a:r>
          </a:p>
          <a:p xmlns:a="http://schemas.openxmlformats.org/drawingml/2006/main">
            <a:r>
              <a:t>  "number": 8,</a:t>
            </a:r>
          </a:p>
          <a:p xmlns:a="http://schemas.openxmlformats.org/drawingml/2006/main">
            <a:r>
              <a:t>  "direction": "균형있는 국민체감 서비스 실현",</a:t>
            </a:r>
          </a:p>
          <a:p xmlns:a="http://schemas.openxmlformats.org/drawingml/2006/main">
            <a:r>
              <a:t>  "strategy": "생활 밀착형 이동 서비스 확대",</a:t>
            </a:r>
          </a:p>
          <a:p xmlns:a="http://schemas.openxmlformats.org/drawingml/2006/main">
            <a:r>
              <a:t>  "solution": "국민 이동·신청 절차 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"L11",</a:t>
            </a:r>
          </a:p>
          <a:p xmlns:a="http://schemas.openxmlformats.org/drawingml/2006/main">
            <a:r>
              <a:t>    "L15",</a:t>
            </a:r>
          </a:p>
          <a:p xmlns:a="http://schemas.openxmlformats.org/drawingml/2006/main">
            <a:r>
              <a:t>    "L16",</a:t>
            </a:r>
          </a:p>
          <a:p xmlns:a="http://schemas.openxmlformats.org/drawingml/2006/main">
            <a:r>
              <a:t>    "L17"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"1019020",</a:t>
            </a:r>
          </a:p>
          <a:p xmlns:a="http://schemas.openxmlformats.org/drawingml/2006/main">
            <a:r>
              <a:t>    "1019010",</a:t>
            </a:r>
          </a:p>
          <a:p xmlns:a="http://schemas.openxmlformats.org/drawingml/2006/main">
            <a:r>
              <a:t>    "1022030",</a:t>
            </a:r>
          </a:p>
          <a:p xmlns:a="http://schemas.openxmlformats.org/drawingml/2006/main">
            <a:r>
              <a:t>    "1022010"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"이동정보·교통약자·자격·현장 서비스의 안내·인계",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"이용 목적·지역별 절차·서류·담당 창구 구성",</a:t>
            </a:r>
          </a:p>
          <a:p xmlns:a="http://schemas.openxmlformats.org/drawingml/2006/main">
            <a:r>
              <a:t>    "국민 문의와 소관 부서 처리상태 연결"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"목적별 안내·준비서류·부서 인계 기록",</a:t>
            </a:r>
          </a:p>
          <a:p xmlns:a="http://schemas.openxmlformats.org/drawingml/2006/main">
            <a:r>
              <a:t>  "acceptance": "공개 지식만 사용한 안내·기관 내부정보 차단·담당 창구 일치 확인",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"GAI-T04",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"1019020",</a:t>
            </a:r>
          </a:p>
          <a:p xmlns:a="http://schemas.openxmlformats.org/drawingml/2006/main">
            <a:r>
              <a:t>      "name": "모빌리티연구처",</a:t>
            </a:r>
          </a:p>
          <a:p xmlns:a="http://schemas.openxmlformats.org/drawingml/2006/main">
            <a:r>
              <a:t>      "job": "이동정보·교통약자 조사",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수요응답형(DRT) 대중교통 시스템 구축 및 운영",</a:t>
            </a:r>
          </a:p>
          <a:p xmlns:a="http://schemas.openxmlformats.org/drawingml/2006/main">
            <a:r>
              <a:t>        "23. 교통약자 이동편의실태조사 및 자료관리"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T39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"1019010",</a:t>
            </a:r>
          </a:p>
          <a:p xmlns:a="http://schemas.openxmlformats.org/drawingml/2006/main">
            <a:r>
              <a:t>      "name": "정책지원처",</a:t>
            </a:r>
          </a:p>
          <a:p xmlns:a="http://schemas.openxmlformats.org/drawingml/2006/main">
            <a:r>
              <a:t>      "job": "대중교통 현황조사",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"7. 대중교통 현황조사에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"1022030",</a:t>
            </a:r>
          </a:p>
          <a:p xmlns:a="http://schemas.openxmlformats.org/drawingml/2006/main">
            <a:r>
              <a:t>      "name": "교통안전처",</a:t>
            </a:r>
          </a:p>
          <a:p xmlns:a="http://schemas.openxmlformats.org/drawingml/2006/main">
            <a:r>
              <a:t>      "job": "운수종사자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7,</a:t>
            </a:r>
          </a:p>
          <a:p xmlns:a="http://schemas.openxmlformats.org/drawingml/2006/main">
            <a:r>
              <a:t>        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"8. 운수종사자 입․퇴사 정보, 교통사고정보 관리 및 부적격운전자 통보",</a:t>
            </a:r>
          </a:p>
          <a:p xmlns:a="http://schemas.openxmlformats.org/drawingml/2006/main">
            <a:r>
              <a:t>        "9. 운수종사자관리정보시스템 운영 및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"1022010",</a:t>
            </a:r>
          </a:p>
          <a:p xmlns:a="http://schemas.openxmlformats.org/drawingml/2006/main">
            <a:r>
              <a:t>      "name": "자격교육처",</a:t>
            </a:r>
          </a:p>
          <a:p xmlns:a="http://schemas.openxmlformats.org/drawingml/2006/main">
            <a:r>
              <a:t>      "job": "자격·적성검사 운영",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"21. 운전적성정밀검사(신규, 특별, 버스‧택시‧화물 자격유지 등), 국가자격시험(버스, 화물, 택시, 교통안전관리자), 사업계획 수립 및 관련법령 개정 등 제도개선",</a:t>
            </a:r>
          </a:p>
          <a:p xmlns:a="http://schemas.openxmlformats.org/drawingml/2006/main">
            <a:r>
              <a:t>        "32. 화물․버스․택시 운전 및 교통안전관리자 자격증 발급 및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"법정 자격·조사·운행정보 업무의 안내·인계 지원 / 개별 지원사업 자격·지급 판정은 별도 과업",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"AX02",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"AX06",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"AX19",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"자연어·음성 이동 서비스 접점",</a:t>
            </a:r>
          </a:p>
          <a:p xmlns:a="http://schemas.openxmlformats.org/drawingml/2006/main">
            <a:r>
              <a:t>  "delta": "발화 정리·필수 항목 확인·소관 서비스 연결",</a:t>
            </a:r>
          </a:p>
          <a:p xmlns:a="http://schemas.openxmlformats.org/drawingml/2006/main">
            <a:r>
              <a:t>  "kpi": "정보약자 도달률 / 포기율",</a:t>
            </a:r>
          </a:p>
          <a:p xmlns:a="http://schemas.openxmlformats.org/drawingml/2006/main">
            <a:r>
              <a:t>  "validation": "기존 메뉴와 사용자군별 과업 비교·상담 전환",</a:t>
            </a:r>
          </a:p>
          <a:p xmlns:a="http://schemas.openxmlformats.org/drawingml/2006/main">
            <a:r>
              <a:t>  "requirement": "BM-ST-08-R01",</a:t>
            </a:r>
          </a:p>
          <a:p xmlns:a="http://schemas.openxmlformats.org/drawingml/2006/main">
            <a:r>
              <a:t>  "test": "BM-ST-08-T01",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"자연어·음성 이동 서비스 접점의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https://english.seoul.go.kr/smg-taps-big-data-customized-policy/</a:t>
            </a:r>
          </a:p>
          <a:p xmlns:a="http://schemas.openxmlformats.org/drawingml/2006/main">
            <a:r>
              <a:t>https://clova.ai/tech-blog/ko-clova-%EC%BC%80%EC%96%B4%EC%BD%9C-%EC%97%B0%EA%B5%AC-%EB%85%BC%EB%AC%B8-%EC%86%8C%EA%B0%9C-%EC%B4%88%EA%B1%B0%EB%8C%80-%EC%9D%B8%EA%B3%B5%EC%A7%80%EB%8A%A5-%EA%B8%B0%EB%B0%98-%EC%B1%97%EB%B4%87</a:t>
            </a:r>
          </a:p>
          <a:p xmlns:a="http://schemas.openxmlformats.org/drawingml/2006/main">
            <a:r>
              <a:t>https://insidegovuk.blog.gov.uk/2026/03/16/5-things-we-learned-testing-gov-uk-chat-an-ai-assistant-for-government/</a:t>
            </a:r>
          </a:p>
          <a:p xmlns:a="http://schemas.openxmlformats.org/drawingml/2006/main">
            <a:r>
              <a:t>https://www.gov.uk/algorithmic-transparency-records/dsit-gov-dot-uk-chat</a:t>
            </a:r>
          </a:p>
          <a:p xmlns:a="http://schemas.openxmlformats.org/drawingml/2006/main">
            <a:r>
              <a:t>https://sites.research.google/greenlight/</a:t>
            </a:r>
          </a:p>
          <a:p xmlns:a="http://schemas.openxmlformats.org/drawingml/2006/main">
            <a:r>
              <a:t>https://comptroller.nyc.gov/reports/audit-report-on-the-new-york-city-office-of-technology-and-innovations-mycity-system/</a:t>
            </a:r>
          </a:p>
          <a:p xmlns:a="http://schemas.openxmlformats.org/drawingml/2006/main">
            <a:r>
              <a:t>https://www.nts.go.kr/nts/na/ntt/selectNttInfo.do?bbsId=1011&amp;mi=2207&amp;nttSn=1339206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"ST-09",</a:t>
            </a:r>
          </a:p>
          <a:p xmlns:a="http://schemas.openxmlformats.org/drawingml/2006/main">
            <a:r>
              <a:t>  "number": 9,</a:t>
            </a:r>
          </a:p>
          <a:p xmlns:a="http://schemas.openxmlformats.org/drawingml/2006/main">
            <a:r>
              <a:t>  "direction": "균형있는 국민체감 서비스 실현",</a:t>
            </a:r>
          </a:p>
          <a:p xmlns:a="http://schemas.openxmlformats.org/drawingml/2006/main">
            <a:r>
              <a:t>  "strategy": "민간·지역·산업 균형 성장 역동성 지원",</a:t>
            </a:r>
          </a:p>
          <a:p xmlns:a="http://schemas.openxmlformats.org/drawingml/2006/main">
            <a:r>
              <a:t>  "solution": "기업·지역 모빌리티 사업지원",</a:t>
            </a:r>
          </a:p>
          <a:p xmlns:a="http://schemas.openxmlformats.org/drawingml/2006/main">
            <a:r>
              <a:t>  "lawIds": [</a:t>
            </a:r>
          </a:p>
          <a:p xmlns:a="http://schemas.openxmlformats.org/drawingml/2006/main">
            <a:r>
              <a:t>    "L18",</a:t>
            </a:r>
          </a:p>
          <a:p xmlns:a="http://schemas.openxmlformats.org/drawingml/2006/main">
            <a:r>
              <a:t>    "L19"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"1019010",</a:t>
            </a:r>
          </a:p>
          <a:p xmlns:a="http://schemas.openxmlformats.org/drawingml/2006/main">
            <a:r>
              <a:t>    "1021020",</a:t>
            </a:r>
          </a:p>
          <a:p xmlns:a="http://schemas.openxmlformats.org/drawingml/2006/main">
            <a:r>
              <a:t>    "1021030"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"기업·지자체의 모빌리티 정책·규제특례·실증 지원",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"사업유형별 신청요건·절차·증빙 점검",</a:t>
            </a:r>
          </a:p>
          <a:p xmlns:a="http://schemas.openxmlformats.org/drawingml/2006/main">
            <a:r>
              <a:t>    "기업·지역·본사 간 보완·검토·인계 추적"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"사업 준비·규제특례 검토 패키지",</a:t>
            </a:r>
          </a:p>
          <a:p xmlns:a="http://schemas.openxmlformats.org/drawingml/2006/main">
            <a:r>
              <a:t>  "acceptance": "기업·지역·사업별 제출요건 분류와 검토/승인 분리 확인",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"ON-W05",</a:t>
            </a:r>
          </a:p>
          <a:p xmlns:a="http://schemas.openxmlformats.org/drawingml/2006/main">
            <a:r>
              <a:t>    "ON-W06"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"GAI-T07",</a:t>
            </a:r>
          </a:p>
          <a:p xmlns:a="http://schemas.openxmlformats.org/drawingml/2006/main">
            <a:r>
              <a:t>    "GAI-T08"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"관계법령·법정업무 + 직제시행세칙",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"1019010",</a:t>
            </a:r>
          </a:p>
          <a:p xmlns:a="http://schemas.openxmlformats.org/drawingml/2006/main">
            <a:r>
              <a:t>      "name": "정책지원처",</a:t>
            </a:r>
          </a:p>
          <a:p xmlns:a="http://schemas.openxmlformats.org/drawingml/2006/main">
            <a:r>
              <a:t>      "job": "모빌리티 정책·산업 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모빌리티 정책지원 및 연구수행",</a:t>
            </a:r>
          </a:p>
          <a:p xmlns:a="http://schemas.openxmlformats.org/drawingml/2006/main">
            <a:r>
              <a:t>        "11. 모빌리티 산업활성화 지원 관련 협력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"1021020",</a:t>
            </a:r>
          </a:p>
          <a:p xmlns:a="http://schemas.openxmlformats.org/drawingml/2006/main">
            <a:r>
              <a:t>      "name": "규제혁신처",</a:t>
            </a:r>
          </a:p>
          <a:p xmlns:a="http://schemas.openxmlformats.org/drawingml/2006/main">
            <a:r>
              <a:t>      "job": "기업 실증특례 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모빌리티 실증특례 접수 및 승인 지원",</a:t>
            </a:r>
          </a:p>
          <a:p xmlns:a="http://schemas.openxmlformats.org/drawingml/2006/main">
            <a:r>
              <a:t>        "10. 모빌리티 실증특례 사업지원"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"1021030",</a:t>
            </a:r>
          </a:p>
          <a:p xmlns:a="http://schemas.openxmlformats.org/drawingml/2006/main">
            <a:r>
              <a:t>      "name": "실증사업처",</a:t>
            </a:r>
          </a:p>
          <a:p xmlns:a="http://schemas.openxmlformats.org/drawingml/2006/main">
            <a:r>
              <a:t>      "job": "지역 특화·시범사업 지원",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모빌리티 특화도시 사업지원",</a:t>
            </a:r>
          </a:p>
          <a:p xmlns:a="http://schemas.openxmlformats.org/drawingml/2006/main">
            <a:r>
              <a:t>        "2. 모빌리티 시범도시 사업지원"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T41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"연결 법령의 해당 사무 + 참여 부서별 별표4 업무분장 / 개인별 전결·권한의 별도 매핑",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"AX01",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"AX07",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"AX19",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"AX24",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"지역·산업 지원 검토 근거",</a:t>
            </a:r>
          </a:p>
          <a:p xmlns:a="http://schemas.openxmlformats.org/drawingml/2006/main">
            <a:r>
              <a:t>  "delta": "지역 수요·지원 조건·실증 증빙 매핑",</a:t>
            </a:r>
          </a:p>
          <a:p xmlns:a="http://schemas.openxmlformats.org/drawingml/2006/main">
            <a:r>
              <a:t>  "kpi": "검토시간 / 근거 누락률",</a:t>
            </a:r>
          </a:p>
          <a:p xmlns:a="http://schemas.openxmlformats.org/drawingml/2006/main">
            <a:r>
              <a:t>  "validation": "지역별 기준·지원조건 차이와 보류 처리 검증",</a:t>
            </a:r>
          </a:p>
          <a:p xmlns:a="http://schemas.openxmlformats.org/drawingml/2006/main">
            <a:r>
              <a:t>  "requirement": "BM-ST-09-R01",</a:t>
            </a:r>
          </a:p>
          <a:p xmlns:a="http://schemas.openxmlformats.org/drawingml/2006/main">
            <a:r>
              <a:t>  "test": "BM-ST-09-T01",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"지원 검토 품질·시간 개선; 지역경제 성장의 인과효과 별도 평가",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https://english.seoul.go.kr/smg-taps-big-data-customized-policy/</a:t>
            </a:r>
          </a:p>
          <a:p xmlns:a="http://schemas.openxmlformats.org/drawingml/2006/main">
            <a:r>
              <a:t>https://robodebt.royalcommission.gov.au/publications/report</a:t>
            </a:r>
          </a:p>
          <a:p xmlns:a="http://schemas.openxmlformats.org/drawingml/2006/main">
            <a:r>
              <a:t>https://comptroller.nyc.gov/reports/audit-report-on-the-new-york-city-office-of-technology-and-innovations-mycity-system/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"ST-10",</a:t>
            </a:r>
          </a:p>
          <a:p xmlns:a="http://schemas.openxmlformats.org/drawingml/2006/main">
            <a:r>
              <a:t>  "number": 10,</a:t>
            </a:r>
          </a:p>
          <a:p xmlns:a="http://schemas.openxmlformats.org/drawingml/2006/main">
            <a:r>
              <a:t>  "direction": "지속가능 책임경영 이행",</a:t>
            </a:r>
          </a:p>
          <a:p xmlns:a="http://schemas.openxmlformats.org/drawingml/2006/main">
            <a:r>
              <a:t>  "strategy": "실용·성과·효율 지향 경영체계 구축",</a:t>
            </a:r>
          </a:p>
          <a:p xmlns:a="http://schemas.openxmlformats.org/drawingml/2006/main">
            <a:r>
              <a:t>  "solution": "계획·예산·성과 업무지원",</a:t>
            </a:r>
          </a:p>
          <a:p xmlns:a="http://schemas.openxmlformats.org/drawingml/2006/main">
            <a:r>
              <a:t>  "lawIds": [],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"1016050",</a:t>
            </a:r>
          </a:p>
          <a:p xmlns:a="http://schemas.openxmlformats.org/drawingml/2006/main">
            <a:r>
              <a:t>    "1016042",</a:t>
            </a:r>
          </a:p>
          <a:p xmlns:a="http://schemas.openxmlformats.org/drawingml/2006/main">
            <a:r>
              <a:t>    "1018034",</a:t>
            </a:r>
          </a:p>
          <a:p xmlns:a="http://schemas.openxmlformats.org/drawingml/2006/main">
            <a:r>
              <a:t>    "1018030"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"부서별 계획·예산·계약·성과 증빙 관리",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"계획–예산–집행–성과의 업무건 연결",</a:t>
            </a:r>
          </a:p>
          <a:p xmlns:a="http://schemas.openxmlformats.org/drawingml/2006/main">
            <a:r>
              <a:t>    "작성·검토·전결·결산 역할별 자료 구성"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"경영 의사결정 검토자료·성과 근거표",</a:t>
            </a:r>
          </a:p>
          <a:p xmlns:a="http://schemas.openxmlformats.org/drawingml/2006/main">
            <a:r>
              <a:t>  "acceptance": "예산·집행·성과 원천 대사 및 전결·위임에 따른 접근/승인 확인",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"GAI-T05",</a:t>
            </a:r>
          </a:p>
          <a:p xmlns:a="http://schemas.openxmlformats.org/drawingml/2006/main">
            <a:r>
              <a:t>    "GAI-T08",</a:t>
            </a:r>
          </a:p>
          <a:p xmlns:a="http://schemas.openxmlformats.org/drawingml/2006/main">
            <a:r>
              <a:t>    "GAI-T09"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"설립법·직제시행세칙 기반 경영지원 업무",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"1016050",</a:t>
            </a:r>
          </a:p>
          <a:p xmlns:a="http://schemas.openxmlformats.org/drawingml/2006/main">
            <a:r>
              <a:t>      "name": "예산처",</a:t>
            </a:r>
          </a:p>
          <a:p xmlns:a="http://schemas.openxmlformats.org/drawingml/2006/main">
            <a:r>
              <a:t>      "job": "예산 편성·집행 분석",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예산의 편성‧집행‧운영 관리",</a:t>
            </a:r>
          </a:p>
          <a:p xmlns:a="http://schemas.openxmlformats.org/drawingml/2006/main">
            <a:r>
              <a:t>        "4. 예산집행실적 및 차이분석에 관한 사항"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T36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"1016042",</a:t>
            </a:r>
          </a:p>
          <a:p xmlns:a="http://schemas.openxmlformats.org/drawingml/2006/main">
            <a:r>
              <a:t>      "name": "혁신성과처",</a:t>
            </a:r>
          </a:p>
          <a:p xmlns:a="http://schemas.openxmlformats.org/drawingml/2006/main">
            <a:r>
              <a:t>      "job": "기관·부서 성과평가",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1,</a:t>
            </a:r>
          </a:p>
          <a:p xmlns:a="http://schemas.openxmlformats.org/drawingml/2006/main">
            <a:r>
              <a:t>        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"내부경영평가(BSC, MBO)에 관한 업무",</a:t>
            </a:r>
          </a:p>
          <a:p xmlns:a="http://schemas.openxmlformats.org/drawingml/2006/main">
            <a:r>
              <a:t>        "4. 임원, 부서장 경영계약 및 이행실적 평가에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T36 · 5행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"1018034",</a:t>
            </a:r>
          </a:p>
          <a:p xmlns:a="http://schemas.openxmlformats.org/drawingml/2006/main">
            <a:r>
              <a:t>      "name": "재정회계처",</a:t>
            </a:r>
          </a:p>
          <a:p xmlns:a="http://schemas.openxmlformats.org/drawingml/2006/main">
            <a:r>
              <a:t>      "job": "계약·결산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연간·월간 회계결산 및 연차 결산보고서 작성 보고",</a:t>
            </a:r>
          </a:p>
          <a:p xmlns:a="http://schemas.openxmlformats.org/drawingml/2006/main">
            <a:r>
              <a:t>        "5. 구매․공사 및 용역 등의 계약에 관한 사항"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"1018030",</a:t>
            </a:r>
          </a:p>
          <a:p xmlns:a="http://schemas.openxmlformats.org/drawingml/2006/main">
            <a:r>
              <a:t>      "name": "운영지원처",</a:t>
            </a:r>
          </a:p>
          <a:p xmlns:a="http://schemas.openxmlformats.org/drawingml/2006/main">
            <a:r>
              <a:t>      "job": "문서·정보공개 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문서의 접수·분류·수발·처리 및 보존관리",</a:t>
            </a:r>
          </a:p>
          <a:p xmlns:a="http://schemas.openxmlformats.org/drawingml/2006/main">
            <a:r>
              <a:t>        "5. 정보공개제도의 운영 및 관리"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"설립법·별표4 내부 업무분장 / 인사·재무·계약·전결 등 업무별 규정의 별도 확인",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"AX04",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"AX09",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"AX10",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"AX21",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"AX24",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"AX26",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"성과·경영 문서 검토 지원",</a:t>
            </a:r>
          </a:p>
          <a:p xmlns:a="http://schemas.openxmlformats.org/drawingml/2006/main">
            <a:r>
              <a:t>  "delta": "근거 자료·산식·업무 수행시간 계측",</a:t>
            </a:r>
          </a:p>
          <a:p xmlns:a="http://schemas.openxmlformats.org/drawingml/2006/main">
            <a:r>
              <a:t>  "kpi": "완료시간 / 재작업률 / 업무당 비용",</a:t>
            </a:r>
          </a:p>
          <a:p xmlns:a="http://schemas.openxmlformats.org/drawingml/2006/main">
            <a:r>
              <a:t>  "validation": "동일 난도 비교군·검토시간 포함 평가",</a:t>
            </a:r>
          </a:p>
          <a:p xmlns:a="http://schemas.openxmlformats.org/drawingml/2006/main">
            <a:r>
              <a:t>  "requirement": "BM-ST-10-R01",</a:t>
            </a:r>
          </a:p>
          <a:p xmlns:a="http://schemas.openxmlformats.org/drawingml/2006/main">
            <a:r>
              <a:t>  "test": "BM-ST-10-T01",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"성과·경영 문서 검토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https://www.gov.uk/government/publications/microsoft-365-copilot-experiment-cross-government-findings-report/microsoft-365-copilot-experiment-cross-government-findings-report-html</a:t>
            </a:r>
          </a:p>
          <a:p xmlns:a="http://schemas.openxmlformats.org/drawingml/2006/main">
            <a:r>
              <a:t>https://openai.com/index/morgan-stanley/</a:t>
            </a:r>
          </a:p>
          <a:p xmlns:a="http://schemas.openxmlformats.org/drawingml/2006/main">
            <a:r>
              <a:t>https://www.schiphol.nl/en/aviation-solutions/case-study-amsterdam-airport-schiphol-deep-turnaround/</a:t>
            </a:r>
          </a:p>
          <a:p xmlns:a="http://schemas.openxmlformats.org/drawingml/2006/main">
            <a:r>
              <a:t>https://comptroller.nyc.gov/reports/audit-report-on-the-new-york-city-office-of-technology-and-innovations-mycity-system/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"ST-11",</a:t>
            </a:r>
          </a:p>
          <a:p xmlns:a="http://schemas.openxmlformats.org/drawingml/2006/main">
            <a:r>
              <a:t>  "number": 11,</a:t>
            </a:r>
          </a:p>
          <a:p xmlns:a="http://schemas.openxmlformats.org/drawingml/2006/main">
            <a:r>
              <a:t>  "direction": "지속가능 책임경영 이행",</a:t>
            </a:r>
          </a:p>
          <a:p xmlns:a="http://schemas.openxmlformats.org/drawingml/2006/main">
            <a:r>
              <a:t>  "strategy": "지속가능 ESG 경영성과 실현",</a:t>
            </a:r>
          </a:p>
          <a:p xmlns:a="http://schemas.openxmlformats.org/drawingml/2006/main">
            <a:r>
              <a:t>  "solution": "ESG 이행·증빙 관리",</a:t>
            </a:r>
          </a:p>
          <a:p xmlns:a="http://schemas.openxmlformats.org/drawingml/2006/main">
            <a:r>
              <a:t>  "lawIds": [],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"1016047",</a:t>
            </a:r>
          </a:p>
          <a:p xmlns:a="http://schemas.openxmlformats.org/drawingml/2006/main">
            <a:r>
              <a:t>    "1016043",</a:t>
            </a:r>
          </a:p>
          <a:p xmlns:a="http://schemas.openxmlformats.org/drawingml/2006/main">
            <a:r>
              <a:t>    "1019040",</a:t>
            </a:r>
          </a:p>
          <a:p xmlns:a="http://schemas.openxmlformats.org/drawingml/2006/main">
            <a:r>
              <a:t>    "1018034"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"ESG·사회가치·안전보건·환경 실적의 부서 협업",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"지표별 정의·보고기간·증빙·책임자 연결",</a:t>
            </a:r>
          </a:p>
          <a:p xmlns:a="http://schemas.openxmlformats.org/drawingml/2006/main">
            <a:r>
              <a:t>    "이행과제·공시 항목·검토 이력 정리"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"ESG 지표 증빙대장·공시 검토 초안",</a:t>
            </a:r>
          </a:p>
          <a:p xmlns:a="http://schemas.openxmlformats.org/drawingml/2006/main">
            <a:r>
              <a:t>  "acceptance": "공시 수치의 원천·판본 추적 및 누락/중복 증빙 식별",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"ON-W04",</a:t>
            </a:r>
          </a:p>
          <a:p xmlns:a="http://schemas.openxmlformats.org/drawingml/2006/main">
            <a:r>
              <a:t>    "ON-W05",</a:t>
            </a:r>
          </a:p>
          <a:p xmlns:a="http://schemas.openxmlformats.org/drawingml/2006/main">
            <a:r>
              <a:t>    "ON-W06"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"GAI-T06",</a:t>
            </a:r>
          </a:p>
          <a:p xmlns:a="http://schemas.openxmlformats.org/drawingml/2006/main">
            <a:r>
              <a:t>    "GAI-T07",</a:t>
            </a:r>
          </a:p>
          <a:p xmlns:a="http://schemas.openxmlformats.org/drawingml/2006/main">
            <a:r>
              <a:t>    "GAI-T11"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"설립법·직제시행세칙 기반 경영지원 업무",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"1016047",</a:t>
            </a:r>
          </a:p>
          <a:p xmlns:a="http://schemas.openxmlformats.org/drawingml/2006/main">
            <a:r>
              <a:t>      "name": "ESG경영처",</a:t>
            </a:r>
          </a:p>
          <a:p xmlns:a="http://schemas.openxmlformats.org/drawingml/2006/main">
            <a:r>
              <a:t>      "job": "ESG 총괄·보고서",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0,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"1. ESG․지속가능․윤리․인권경영에 관한 업무 총괄",</a:t>
            </a:r>
          </a:p>
          <a:p xmlns:a="http://schemas.openxmlformats.org/drawingml/2006/main">
            <a:r>
              <a:t>        "10. 지속가능경영보고서(ESG보고서) 발간에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T36 · 6행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"1016043",</a:t>
            </a:r>
          </a:p>
          <a:p xmlns:a="http://schemas.openxmlformats.org/drawingml/2006/main">
            <a:r>
              <a:t>      "name": "안전보건실",</a:t>
            </a:r>
          </a:p>
          <a:p xmlns:a="http://schemas.openxmlformats.org/drawingml/2006/main">
            <a:r>
              <a:t>      "job": "안전경영 성과관리",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"2. 안전경영 성과관리 및 안전촉진 활동에 관한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T34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"1019040",</a:t>
            </a:r>
          </a:p>
          <a:p xmlns:a="http://schemas.openxmlformats.org/drawingml/2006/main">
            <a:r>
              <a:t>      "name": "기후탄소물류처",</a:t>
            </a:r>
          </a:p>
          <a:p xmlns:a="http://schemas.openxmlformats.org/drawingml/2006/main">
            <a:r>
              <a:t>      "job": "교통물류 정책자료",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"6. 교통물류 정책관련 연구‧사업 업무"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T40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"1018034",</a:t>
            </a:r>
          </a:p>
          <a:p xmlns:a="http://schemas.openxmlformats.org/drawingml/2006/main">
            <a:r>
              <a:t>      "name": "재정회계처",</a:t>
            </a:r>
          </a:p>
          <a:p xmlns:a="http://schemas.openxmlformats.org/drawingml/2006/main">
            <a:r>
              <a:t>      "job": "회계·계약 증빙",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연간·월간 회계결산 및 연차 결산보고서 작성 보고",</a:t>
            </a:r>
          </a:p>
          <a:p xmlns:a="http://schemas.openxmlformats.org/drawingml/2006/main">
            <a:r>
              <a:t>        "10. 회계․계약관련 제도개선 및 회계감사·세무조사에 관한 사항"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4행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"설립법·별표4 내부 업무분장 / 인사·재무·계약·전결 등 업무별 규정의 별도 확인",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"AX08",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"AX12",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"AX14",</a:t>
            </a:r>
          </a:p>
          <a:p xmlns:a="http://schemas.openxmlformats.org/drawingml/2006/main">
            <a:r>
              <a:t>      "type": "직접 업무 유사"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"ESG 증빙·공시 검토 지원",</a:t>
            </a:r>
          </a:p>
          <a:p xmlns:a="http://schemas.openxmlformats.org/drawingml/2006/main">
            <a:r>
              <a:t>  "delta": "지표별 산식·원천·검토자·변경 이력 연결",</a:t>
            </a:r>
          </a:p>
          <a:p xmlns:a="http://schemas.openxmlformats.org/drawingml/2006/main">
            <a:r>
              <a:t>  "kpi": "증빙 누락률 / 공시 검토시간",</a:t>
            </a:r>
          </a:p>
          <a:p xmlns:a="http://schemas.openxmlformats.org/drawingml/2006/main">
            <a:r>
              <a:t>  "validation": "산식·원문 불일치와 보고 누락 주입 시험",</a:t>
            </a:r>
          </a:p>
          <a:p xmlns:a="http://schemas.openxmlformats.org/drawingml/2006/main">
            <a:r>
              <a:t>  "requirement": "BM-ST-11-R01",</a:t>
            </a:r>
          </a:p>
          <a:p xmlns:a="http://schemas.openxmlformats.org/drawingml/2006/main">
            <a:r>
              <a:t>  "test": "BM-ST-11-T01",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"ESG 증빙·공시 검토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https://deepmind.google/blog/safety-first-ai-for-autonomous-data-centre-cooling-and-industrial-control/</a:t>
            </a:r>
          </a:p>
          <a:p xmlns:a="http://schemas.openxmlformats.org/drawingml/2006/main">
            <a:r>
              <a:t>https://www.nhtsa.gov/press-releases/consent-order-cruise-crash-reporting</a:t>
            </a:r>
          </a:p>
          <a:p xmlns:a="http://schemas.openxmlformats.org/drawingml/2006/main">
            <a:r>
              <a:t>https://research.google/pubs/ai-increases-global-access-to-reliable-flood-forecasts-2/</a:t>
            </a:r>
          </a:p>
          <a:p xmlns:a="http://schemas.openxmlformats.org/drawingml/2006/main">
            <a:r>
              <a:t>https://www.dhlfreight.com/nl-en/microsites/csi/computer-vision/logistics-use-cases/people-health-and-safety.html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"ST-12",</a:t>
            </a:r>
          </a:p>
          <a:p xmlns:a="http://schemas.openxmlformats.org/drawingml/2006/main">
            <a:r>
              <a:t>  "number": 12,</a:t>
            </a:r>
          </a:p>
          <a:p xmlns:a="http://schemas.openxmlformats.org/drawingml/2006/main">
            <a:r>
              <a:t>  "direction": "지속가능 책임경영 이행",</a:t>
            </a:r>
          </a:p>
          <a:p xmlns:a="http://schemas.openxmlformats.org/drawingml/2006/main">
            <a:r>
              <a:t>  "strategy": "자율·참여·소통·공정 조직문화 조성",</a:t>
            </a:r>
          </a:p>
          <a:p xmlns:a="http://schemas.openxmlformats.org/drawingml/2006/main">
            <a:r>
              <a:t>  "solution": "조직 협업·인수인계 지원",</a:t>
            </a:r>
          </a:p>
          <a:p xmlns:a="http://schemas.openxmlformats.org/drawingml/2006/main">
            <a:r>
              <a:t>  "lawIds": [],</a:t>
            </a:r>
          </a:p>
          <a:p xmlns:a="http://schemas.openxmlformats.org/drawingml/2006/main">
            <a:r>
              <a:t>  "codes": [</a:t>
            </a:r>
          </a:p>
          <a:p xmlns:a="http://schemas.openxmlformats.org/drawingml/2006/main">
            <a:r>
              <a:t>    "1018037",</a:t>
            </a:r>
          </a:p>
          <a:p xmlns:a="http://schemas.openxmlformats.org/drawingml/2006/main">
            <a:r>
              <a:t>    "1018030",</a:t>
            </a:r>
          </a:p>
          <a:p xmlns:a="http://schemas.openxmlformats.org/drawingml/2006/main">
            <a:r>
              <a:t>    "1016047",</a:t>
            </a:r>
          </a:p>
          <a:p xmlns:a="http://schemas.openxmlformats.org/drawingml/2006/main">
            <a:r>
              <a:t>    "1019600"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"work": "업무분장·담당자 탐색·인수인계·조직 지식 공유",</a:t>
            </a:r>
          </a:p>
          <a:p xmlns:a="http://schemas.openxmlformats.org/drawingml/2006/main">
            <a:r>
              <a:t>  "features": [</a:t>
            </a:r>
          </a:p>
          <a:p xmlns:a="http://schemas.openxmlformats.org/drawingml/2006/main">
            <a:r>
              <a:t>    "소속·직무·겸직에 따른 업무 지식 연결",</a:t>
            </a:r>
          </a:p>
          <a:p xmlns:a="http://schemas.openxmlformats.org/drawingml/2006/main">
            <a:r>
              <a:t>    "이동·대행·협업 요청의 인계·수락 관리"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"output": "직무별 업무 안내·인수인계 묶음",</a:t>
            </a:r>
          </a:p>
          <a:p xmlns:a="http://schemas.openxmlformats.org/drawingml/2006/main">
            <a:r>
              <a:t>  "acceptance": "인사이동 후 소속/권한 회수·겸직 맥락 확인·민감정보 최소수집 검증",</a:t>
            </a:r>
          </a:p>
          <a:p xmlns:a="http://schemas.openxmlformats.org/drawingml/2006/main">
            <a:r>
              <a:t>  "phase": "공통 기반 인수 후 부서별 적용",</a:t>
            </a:r>
          </a:p>
          <a:p xmlns:a="http://schemas.openxmlformats.org/drawingml/2006/main">
            <a:r>
              <a:t>  "packages": [</a:t>
            </a:r>
          </a:p>
          <a:p xmlns:a="http://schemas.openxmlformats.org/drawingml/2006/main">
            <a:r>
              <a:t>    "ON-W01",</a:t>
            </a:r>
          </a:p>
          <a:p xmlns:a="http://schemas.openxmlformats.org/drawingml/2006/main">
            <a:r>
              <a:t>    "ON-W02",</a:t>
            </a:r>
          </a:p>
          <a:p xmlns:a="http://schemas.openxmlformats.org/drawingml/2006/main">
            <a:r>
              <a:t>    "ON-W03",</a:t>
            </a:r>
          </a:p>
          <a:p xmlns:a="http://schemas.openxmlformats.org/drawingml/2006/main">
            <a:r>
              <a:t>    "ON-W05"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"tests": [</a:t>
            </a:r>
          </a:p>
          <a:p xmlns:a="http://schemas.openxmlformats.org/drawingml/2006/main">
            <a:r>
              <a:t>    "GAI-T02",</a:t>
            </a:r>
          </a:p>
          <a:p xmlns:a="http://schemas.openxmlformats.org/drawingml/2006/main">
            <a:r>
              <a:t>    "GAI-T03",</a:t>
            </a:r>
          </a:p>
          <a:p xmlns:a="http://schemas.openxmlformats.org/drawingml/2006/main">
            <a:r>
              <a:t>    "GAI-T04",</a:t>
            </a:r>
          </a:p>
          <a:p xmlns:a="http://schemas.openxmlformats.org/drawingml/2006/main">
            <a:r>
              <a:t>    "GAI-T07"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"솔루션·조직·범위 연결안",</a:t>
            </a:r>
          </a:p>
          <a:p xmlns:a="http://schemas.openxmlformats.org/drawingml/2006/main">
            <a:r>
              <a:t>  "basis": "설립법·직제시행세칙 기반 경영지원 업무",</a:t>
            </a:r>
          </a:p>
          <a:p xmlns:a="http://schemas.openxmlformats.org/drawingml/2006/main">
            <a:r>
              <a:t>  "foundation": "ON27-BASE / C27-COM",</a:t>
            </a:r>
          </a:p>
          <a:p xmlns:a="http://schemas.openxmlformats.org/drawingml/2006/main">
            <a:r>
              <a:t>  "dutyBindings":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"1018037",</a:t>
            </a:r>
          </a:p>
          <a:p xmlns:a="http://schemas.openxmlformats.org/drawingml/2006/main">
            <a:r>
              <a:t>      "name": "인재개발처",</a:t>
            </a:r>
          </a:p>
          <a:p xmlns:a="http://schemas.openxmlformats.org/drawingml/2006/main">
            <a:r>
              <a:t>      "job": "인사·직무교육",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2,</a:t>
            </a:r>
          </a:p>
          <a:p xmlns:a="http://schemas.openxmlformats.org/drawingml/2006/main">
            <a:r>
              <a:t>        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"3. 직원의 채용, 승진, 전보 등 임용 및 보직에 관한 업무",</a:t>
            </a:r>
          </a:p>
          <a:p xmlns:a="http://schemas.openxmlformats.org/drawingml/2006/main">
            <a:r>
              <a:t>        "9. 직무교육, 계층교육, 자기계발교육 등 교육훈련 업무 총괄"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"1018030",</a:t>
            </a:r>
          </a:p>
          <a:p xmlns:a="http://schemas.openxmlformats.org/drawingml/2006/main">
            <a:r>
              <a:t>      "name": "운영지원처",</a:t>
            </a:r>
          </a:p>
          <a:p xmlns:a="http://schemas.openxmlformats.org/drawingml/2006/main">
            <a:r>
              <a:t>      "job": "문서·노사관계",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3,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"4. 문서의 접수·분류·수발·처리 및 보존관리",</a:t>
            </a:r>
          </a:p>
          <a:p xmlns:a="http://schemas.openxmlformats.org/drawingml/2006/main">
            <a:r>
              <a:t>        "6. 임금․단체협약 등 노사관계 업무에 관한 사항"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T38 · 2행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"1016047",</a:t>
            </a:r>
          </a:p>
          <a:p xmlns:a="http://schemas.openxmlformats.org/drawingml/2006/main">
            <a:r>
              <a:t>      "name": "ESG경영처",</a:t>
            </a:r>
          </a:p>
          <a:p xmlns:a="http://schemas.openxmlformats.org/drawingml/2006/main">
            <a:r>
              <a:t>      "job": "기업문화·내부 소통",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"8. 기업문화에 관한 업무",</a:t>
            </a:r>
          </a:p>
          <a:p xmlns:a="http://schemas.openxmlformats.org/drawingml/2006/main">
            <a:r>
              <a:t>        "- 내부 소통 채널 운영"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T36 · 6행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"code": "1019600",</a:t>
            </a:r>
          </a:p>
          <a:p xmlns:a="http://schemas.openxmlformats.org/drawingml/2006/main">
            <a:r>
              <a:t>      "name": "AI혁신처",</a:t>
            </a:r>
          </a:p>
          <a:p xmlns:a="http://schemas.openxmlformats.org/drawingml/2006/main">
            <a:r>
              <a:t>      "job": "AI 역량강화",</a:t>
            </a:r>
          </a:p>
          <a:p xmlns:a="http://schemas.openxmlformats.org/drawingml/2006/main">
            <a:r>
              <a:t>      "indices": [</a:t>
            </a:r>
          </a:p>
          <a:p xmlns:a="http://schemas.openxmlformats.org/drawingml/2006/main">
            <a:r>
              <a:t>        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"duties": [</a:t>
            </a:r>
          </a:p>
          <a:p xmlns:a="http://schemas.openxmlformats.org/drawingml/2006/main">
            <a:r>
              <a:t>        "6. 임직원 인공지능(AI) 역량강화 교육 및 역량진단"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"locator": "별표4 · T37 · 3행 · 업무분장 열",</a:t>
            </a:r>
          </a:p>
          <a:p xmlns:a="http://schemas.openxmlformats.org/drawingml/2006/main">
            <a:r>
              <a:t>      "restriction": null,</a:t>
            </a:r>
          </a:p>
          <a:p xmlns:a="http://schemas.openxmlformats.org/drawingml/2006/main">
            <a:r>
              <a:t>      "status": "제공 세칙 원문 연결"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"basisNote": "설립법·별표4 내부 업무분장 / 인사·재무·계약·전결 등 업무별 규정의 별도 확인",</a:t>
            </a:r>
          </a:p>
          <a:p xmlns:a="http://schemas.openxmlformats.org/drawingml/2006/main">
            <a:r>
              <a:t>  "caseRefs":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"AX04",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"AX02",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"AX03",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"AX07",</a:t>
            </a:r>
          </a:p>
          <a:p xmlns:a="http://schemas.openxmlformats.org/drawingml/2006/main">
            <a:r>
              <a:t>      "type": "실패 통제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"AX15",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"caseId": "AX26",</a:t>
            </a:r>
          </a:p>
          <a:p xmlns:a="http://schemas.openxmlformats.org/drawingml/2006/main">
            <a:r>
              <a:t>      "type": "방법론 참조"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"plan": "조직 협업·참여·공정성 지원",</a:t>
            </a:r>
          </a:p>
          <a:p xmlns:a="http://schemas.openxmlformats.org/drawingml/2006/main">
            <a:r>
              <a:t>  "delta": "역할별 인계·평가 피드백·이의제기 보호",</a:t>
            </a:r>
          </a:p>
          <a:p xmlns:a="http://schemas.openxmlformats.org/drawingml/2006/main">
            <a:r>
              <a:t>  "kpi": "인계 완료시간 / 부서별 오류율 편차",</a:t>
            </a:r>
          </a:p>
          <a:p xmlns:a="http://schemas.openxmlformats.org/drawingml/2006/main">
            <a:r>
              <a:t>  "validation": "겸직·대행·전보·접근 회수·의견 보호 시험",</a:t>
            </a:r>
          </a:p>
          <a:p xmlns:a="http://schemas.openxmlformats.org/drawingml/2006/main">
            <a:r>
              <a:t>  "requirement": "BM-ST-12-R01",</a:t>
            </a:r>
          </a:p>
          <a:p xmlns:a="http://schemas.openxmlformats.org/drawingml/2006/main">
            <a:r>
              <a:t>  "test": "BM-ST-12-T01",</a:t>
            </a:r>
          </a:p>
          <a:p xmlns:a="http://schemas.openxmlformats.org/drawingml/2006/main">
            <a:r>
              <a:t>  "effectStatus": "기대 방향 · TS 실측 전",</a:t>
            </a:r>
          </a:p>
          <a:p xmlns:a="http://schemas.openxmlformats.org/drawingml/2006/main">
            <a:r>
              <a:t>  "effect": "조직 협업·참여·공정성 지원의 처리시간·누락 감소",</a:t>
            </a:r>
          </a:p>
          <a:p xmlns:a="http://schemas.openxmlformats.org/drawingml/2006/main">
            <a:r>
              <a:t>  "reuse": "ON27-BASE / C27-COM + CCK 재사용 판정 기능"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사례 출처</a:t>
            </a:r>
          </a:p>
          <a:p xmlns:a="http://schemas.openxmlformats.org/drawingml/2006/main">
            <a:r>
              <a:t>https://www.gov.uk/government/publications/microsoft-365-copilot-experiment-cross-government-findings-report/microsoft-365-copilot-experiment-cross-government-findings-report-html</a:t>
            </a:r>
          </a:p>
          <a:p xmlns:a="http://schemas.openxmlformats.org/drawingml/2006/main">
            <a:r>
              <a:t>https://clova.ai/tech-blog/ko-clova-%EC%BC%80%EC%96%B4%EC%BD%9C-%EC%97%B0%EA%B5%AC-%EB%85%BC%EB%AC%B8-%EC%86%8C%EA%B0%9C-%EC%B4%88%EA%B1%B0%EB%8C%80-%EC%9D%B8%EA%B3%B5%EC%A7%80%EB%8A%A5-%EA%B8%B0%EB%B0%98-%EC%B1%97%EB%B4%87</a:t>
            </a:r>
          </a:p>
          <a:p xmlns:a="http://schemas.openxmlformats.org/drawingml/2006/main">
            <a:r>
              <a:t>https://www.korea.kr/news/policyNewsView.do?newsId=156449232</a:t>
            </a:r>
          </a:p>
          <a:p xmlns:a="http://schemas.openxmlformats.org/drawingml/2006/main">
            <a:r>
              <a:t>https://robodebt.royalcommission.gov.au/publications/report</a:t>
            </a:r>
          </a:p>
          <a:p xmlns:a="http://schemas.openxmlformats.org/drawingml/2006/main">
            <a:r>
              <a:t>https://www.nts.go.kr/nts/na/ntt/selectNttInfo.do?bbsId=1011&amp;mi=2207&amp;nttSn=1339206</a:t>
            </a:r>
          </a:p>
          <a:p xmlns:a="http://schemas.openxmlformats.org/drawingml/2006/main">
            <a:r>
              <a:t>https://bigdata.dongjak.go.kr/board/viewArticle?articleNo=954&amp;boardId=4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"system",</a:t>
            </a:r>
          </a:p>
          <a:p xmlns:a="http://schemas.openxmlformats.org/drawingml/2006/main">
            <a:r>
              <a:t>  "title": "TS 조직 네이티브 AI 전체 구조",</a:t>
            </a:r>
          </a:p>
          <a:p xmlns:a="http://schemas.openxmlformats.org/drawingml/2006/main">
            <a:r>
              <a:t>  "note": "CCK 적용 제안 · 조직·권한 공통 기반의 선행 구축",</a:t>
            </a:r>
          </a:p>
          <a:p xmlns:a="http://schemas.openxmlformats.org/drawingml/2006/main">
            <a:r>
              <a:t>  "nodes": [</a:t>
            </a:r>
          </a:p>
          <a:p xmlns:a="http://schemas.openxmlformats.org/drawingml/2006/main">
            <a:r>
              <a:t>    "공식 조직·인사·세칙",</a:t>
            </a:r>
          </a:p>
          <a:p xmlns:a="http://schemas.openxmlformats.org/drawingml/2006/main">
            <a:r>
              <a:t>    "ID·효력일·직무 매핑",</a:t>
            </a:r>
          </a:p>
          <a:p xmlns:a="http://schemas.openxmlformats.org/drawingml/2006/main">
            <a:r>
              <a:t>    "정책 집행·업무 분류",</a:t>
            </a:r>
          </a:p>
          <a:p xmlns:a="http://schemas.openxmlformats.org/drawingml/2006/main">
            <a:r>
              <a:t>    "NOA·검토 스킬·연계",</a:t>
            </a:r>
          </a:p>
          <a:p xmlns:a="http://schemas.openxmlformats.org/drawingml/2006/main">
            <a:r>
              <a:t>    "부서 검토·승인·감사"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"details": [</a:t>
            </a:r>
          </a:p>
          <a:p xmlns:a="http://schemas.openxmlformats.org/drawingml/2006/main">
            <a:r>
              <a:t>    "원천 책임·판본·변경 이벤트",</a:t>
            </a:r>
          </a:p>
          <a:p xmlns:a="http://schemas.openxmlformats.org/drawingml/2006/main">
            <a:r>
              <a:t>    "소속·겸직·역할 / 불명확 매핑 보류",</a:t>
            </a:r>
          </a:p>
          <a:p xmlns:a="http://schemas.openxmlformats.org/drawingml/2006/main">
            <a:r>
              <a:t>    "문서·행위·업무건별 정책",</a:t>
            </a:r>
          </a:p>
          <a:p xmlns:a="http://schemas.openxmlformats.org/drawingml/2006/main">
            <a:r>
              <a:t>    "재사용 후보 + 업무별 전용 개발",</a:t>
            </a:r>
          </a:p>
          <a:p xmlns:a="http://schemas.openxmlformats.org/drawingml/2006/main">
            <a:r>
              <a:t>    "권한 재검증·원문 추적·복구"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"AX04",</a:t>
            </a:r>
          </a:p>
          <a:p xmlns:a="http://schemas.openxmlformats.org/drawingml/2006/main">
            <a:r>
              <a:t>    "AX09",</a:t>
            </a:r>
          </a:p>
          <a:p xmlns:a="http://schemas.openxmlformats.org/drawingml/2006/main">
            <a:r>
              <a:t>    "AX03"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"service",</a:t>
            </a:r>
          </a:p>
          <a:p xmlns:a="http://schemas.openxmlformats.org/drawingml/2006/main">
            <a:r>
              <a:t>  "title": "국민서비스 접점 구조",</a:t>
            </a:r>
          </a:p>
          <a:p xmlns:a="http://schemas.openxmlformats.org/drawingml/2006/main">
            <a:r>
              <a:t>  "note": "CCK 적용 제안 · 기존 메뉴·상담 경로 유지",</a:t>
            </a:r>
          </a:p>
          <a:p xmlns:a="http://schemas.openxmlformats.org/drawingml/2006/main">
            <a:r>
              <a:t>  "nodes": [</a:t>
            </a:r>
          </a:p>
          <a:p xmlns:a="http://schemas.openxmlformats.org/drawingml/2006/main">
            <a:r>
              <a:t>    "텍스트·음성 / 기존 메뉴",</a:t>
            </a:r>
          </a:p>
          <a:p xmlns:a="http://schemas.openxmlformats.org/drawingml/2006/main">
            <a:r>
              <a:t>    "발화 정리·사용자 확인",</a:t>
            </a:r>
          </a:p>
          <a:p xmlns:a="http://schemas.openxmlformats.org/drawingml/2006/main">
            <a:r>
              <a:t>    "공개 서비스·소관 매핑",</a:t>
            </a:r>
          </a:p>
          <a:p xmlns:a="http://schemas.openxmlformats.org/drawingml/2006/main">
            <a:r>
              <a:t>    "공식 페이지·인증 연계",</a:t>
            </a:r>
          </a:p>
          <a:p xmlns:a="http://schemas.openxmlformats.org/drawingml/2006/main">
            <a:r>
              <a:t>    "전송 확인·담당자 인계"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"details": [</a:t>
            </a:r>
          </a:p>
          <a:p xmlns:a="http://schemas.openxmlformats.org/drawingml/2006/main">
            <a:r>
              <a:t>    "음성·텍스트 대체 입력",</a:t>
            </a:r>
          </a:p>
          <a:p xmlns:a="http://schemas.openxmlformats.org/drawingml/2006/main">
            <a:r>
              <a:t>    "의도·대상·지역·필수 항목",</a:t>
            </a:r>
          </a:p>
          <a:p xmlns:a="http://schemas.openxmlformats.org/drawingml/2006/main">
            <a:r>
              <a:t>    "공개 지식과 내부 지식 분리",</a:t>
            </a:r>
          </a:p>
          <a:p xmlns:a="http://schemas.openxmlformats.org/drawingml/2006/main">
            <a:r>
              <a:t>    "조회·신청·처리 권한 별도 검증",</a:t>
            </a:r>
          </a:p>
          <a:p xmlns:a="http://schemas.openxmlformats.org/drawingml/2006/main">
            <a:r>
              <a:t>    "실행 전 확인 / 실패 시 메뉴·상담"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"AX02",</a:t>
            </a:r>
          </a:p>
          <a:p xmlns:a="http://schemas.openxmlformats.org/drawingml/2006/main">
            <a:r>
              <a:t>    "AX06",</a:t>
            </a:r>
          </a:p>
          <a:p xmlns:a="http://schemas.openxmlformats.org/drawingml/2006/main">
            <a:r>
              <a:t>    "AX07"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"data",</a:t>
            </a:r>
          </a:p>
          <a:p xmlns:a="http://schemas.openxmlformats.org/drawingml/2006/main">
            <a:r>
              <a:t>  "title": "원천부터 결과물까지의 데이터 흐름",</a:t>
            </a:r>
          </a:p>
          <a:p xmlns:a="http://schemas.openxmlformats.org/drawingml/2006/main">
            <a:r>
              <a:t>  "note": "CCK 적용 제안 · 학습·검색·실행 목적의 분리",</a:t>
            </a:r>
          </a:p>
          <a:p xmlns:a="http://schemas.openxmlformats.org/drawingml/2006/main">
            <a:r>
              <a:t>  "nodes": [</a:t>
            </a:r>
          </a:p>
          <a:p xmlns:a="http://schemas.openxmlformats.org/drawingml/2006/main">
            <a:r>
              <a:t>    "원천 수신·품질 대사",</a:t>
            </a:r>
          </a:p>
          <a:p xmlns:a="http://schemas.openxmlformats.org/drawingml/2006/main">
            <a:r>
              <a:t>    "목적·권한·판본 태깅",</a:t>
            </a:r>
          </a:p>
          <a:p xmlns:a="http://schemas.openxmlformats.org/drawingml/2006/main">
            <a:r>
              <a:t>    "허용 자료 검색·계산",</a:t>
            </a:r>
          </a:p>
          <a:p xmlns:a="http://schemas.openxmlformats.org/drawingml/2006/main">
            <a:r>
              <a:t>    "근거 응답·사람 검토",</a:t>
            </a:r>
          </a:p>
          <a:p xmlns:a="http://schemas.openxmlformats.org/drawingml/2006/main">
            <a:r>
              <a:t>    "결과·감사·회수 전파"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"details": [</a:t>
            </a:r>
          </a:p>
          <a:p xmlns:a="http://schemas.openxmlformats.org/drawingml/2006/main">
            <a:r>
              <a:t>    "데이터 계약·필드 최소화",</a:t>
            </a:r>
          </a:p>
          <a:p xmlns:a="http://schemas.openxmlformats.org/drawingml/2006/main">
            <a:r>
              <a:t>    "변경 이력·보유기간·삭제 이벤트",</a:t>
            </a:r>
          </a:p>
          <a:p xmlns:a="http://schemas.openxmlformats.org/drawingml/2006/main">
            <a:r>
              <a:t>    "거부 우선 / 수치 계산 검증",</a:t>
            </a:r>
          </a:p>
          <a:p xmlns:a="http://schemas.openxmlformats.org/drawingml/2006/main">
            <a:r>
              <a:t>    "공식 원문 위치·승인 판본",</a:t>
            </a:r>
          </a:p>
          <a:p xmlns:a="http://schemas.openxmlformats.org/drawingml/2006/main">
            <a:r>
              <a:t>    "원문 대신 식별자 중심 로그"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"AX03",</a:t>
            </a:r>
          </a:p>
          <a:p xmlns:a="http://schemas.openxmlformats.org/drawingml/2006/main">
            <a:r>
              <a:t>    "AX05",</a:t>
            </a:r>
          </a:p>
          <a:p xmlns:a="http://schemas.openxmlformats.org/drawingml/2006/main">
            <a:r>
              <a:t>    "AX08"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배포 https://bigdata.dongjak.go.kr/board/viewArticle?articleNo=954&amp;boardId=4</a:t>
            </a:r>
          </a:p>
          <a:p xmlns:a="http://schemas.openxmlformats.org/drawingml/2006/main">
            <a:r>
              <a:t>전체 웹 사례집 https://heen1987-ops.github.io/TS-business-Plan-001/index.html?view=casebook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0aa9a9f7d4c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04db7e48948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49385db5348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13227ae6d48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bb7000e8048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2a42fff78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41A0B9-BA2F-40A0-A929-7285BB398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DA9404-B21B-4DCD-B78E-70BFEBB09A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0BD8CF-AABE-4274-A220-4E4F88B550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23A6EE-083F-4B1D-9250-B7F3C33CE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E83560-DB25-4025-BB0D-F420648E20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0B117F-E0FC-4279-8E49-6BBB62AE6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173263-BDC4-44B6-A158-314FB50A2D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81D5C8-4F41-4E87-93B6-9D70D24798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67AD6-E6F8-47C3-A880-4204ED8A4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5524D6-4CDE-4FE3-8BB2-48947C07D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42d9d95734565" /><Relationship Type="http://schemas.openxmlformats.org/officeDocument/2006/relationships/slideLayout" Target="/ppt/slideLayouts/slideLayout1.xml" Id="R5e1361a2aff04d08" /><Relationship Type="http://schemas.openxmlformats.org/officeDocument/2006/relationships/slideLayout" Target="/ppt/slideLayouts/slideLayout2.xml" Id="R9ff456179ed8432e" /><Relationship Type="http://schemas.openxmlformats.org/officeDocument/2006/relationships/slideLayout" Target="/ppt/slideLayouts/slideLayout3.xml" Id="R529faa297b9c414c" /><Relationship Type="http://schemas.openxmlformats.org/officeDocument/2006/relationships/slideLayout" Target="/ppt/slideLayouts/slideLayout4.xml" Id="R1ff0c7322aa64fc4" /><Relationship Type="http://schemas.openxmlformats.org/officeDocument/2006/relationships/slideLayout" Target="/ppt/slideLayouts/slideLayout5.xml" Id="Reab517f97d944643" /><Relationship Type="http://schemas.openxmlformats.org/officeDocument/2006/relationships/slideLayout" Target="/ppt/slideLayouts/slideLayout6.xml" Id="Rd814c22e18f44c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361a2aff04d08"/>
    <p:sldLayoutId xmlns:r="http://schemas.openxmlformats.org/officeDocument/2006/relationships" id="2147483650" r:id="R9ff456179ed8432e"/>
    <p:sldLayoutId xmlns:r="http://schemas.openxmlformats.org/officeDocument/2006/relationships" id="2147483651" r:id="R529faa297b9c414c"/>
    <p:sldLayoutId xmlns:r="http://schemas.openxmlformats.org/officeDocument/2006/relationships" id="2147483652" r:id="R1ff0c7322aa64fc4"/>
    <p:sldLayoutId xmlns:r="http://schemas.openxmlformats.org/officeDocument/2006/relationships" id="2147483653" r:id="Reab517f97d944643"/>
    <p:sldLayoutId xmlns:r="http://schemas.openxmlformats.org/officeDocument/2006/relationships" id="2147483654" r:id="Rd814c22e18f44c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afc0ca5954f7f" /><Relationship Type="http://schemas.openxmlformats.org/officeDocument/2006/relationships/notesSlide" Target="/ppt/notesSlides/notesSlide1.xml" Id="R84c5b47d6a21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3dd34c5334cbd" /><Relationship Type="http://schemas.openxmlformats.org/officeDocument/2006/relationships/notesSlide" Target="/ppt/notesSlides/notesSlide2.xml" Id="Re644c1cbfd554b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e73da2d554490" /><Relationship Type="http://schemas.openxmlformats.org/officeDocument/2006/relationships/notesSlide" Target="/ppt/notesSlides/notesSlide3.xml" Id="Rcc9fb39d94074a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c3c9745c44eff" /><Relationship Type="http://schemas.openxmlformats.org/officeDocument/2006/relationships/notesSlide" Target="/ppt/notesSlides/notesSlide4.xml" Id="R9e267c67684f4e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bf3da275c4a9e" /><Relationship Type="http://schemas.openxmlformats.org/officeDocument/2006/relationships/notesSlide" Target="/ppt/notesSlides/notesSlide5.xml" Id="Rf0ceb25a3d0344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e8f404a5d4644" /><Relationship Type="http://schemas.openxmlformats.org/officeDocument/2006/relationships/notesSlide" Target="/ppt/notesSlides/notesSlide6.xml" Id="R59e3405e102748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6ce87d45f4b29" /><Relationship Type="http://schemas.openxmlformats.org/officeDocument/2006/relationships/notesSlide" Target="/ppt/notesSlides/notesSlide7.xml" Id="R8589fb9933a4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0d1842c0440cf" /><Relationship Type="http://schemas.openxmlformats.org/officeDocument/2006/relationships/notesSlide" Target="/ppt/notesSlides/notesSlide8.xml" Id="Ra6e72e86d4c345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6382df52140d3" /><Relationship Type="http://schemas.openxmlformats.org/officeDocument/2006/relationships/notesSlide" Target="/ppt/notesSlides/notesSlide9.xml" Id="R140851e3d9c8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06e71ee784d47" /><Relationship Type="http://schemas.openxmlformats.org/officeDocument/2006/relationships/notesSlide" Target="/ppt/notesSlides/notesSlide10.xml" Id="R177eb8751f9141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e3c7138034421" /><Relationship Type="http://schemas.openxmlformats.org/officeDocument/2006/relationships/notesSlide" Target="/ppt/notesSlides/notesSlide11.xml" Id="R9e14bdcaf1894c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bc918590140be" /><Relationship Type="http://schemas.openxmlformats.org/officeDocument/2006/relationships/notesSlide" Target="/ppt/notesSlides/notesSlide12.xml" Id="R3b5412e80fc745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e0745051647f8" /><Relationship Type="http://schemas.openxmlformats.org/officeDocument/2006/relationships/notesSlide" Target="/ppt/notesSlides/notesSlide13.xml" Id="R3e4d7d03b1f247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6a798be1a48e2" /><Relationship Type="http://schemas.openxmlformats.org/officeDocument/2006/relationships/notesSlide" Target="/ppt/notesSlides/notesSlide14.xml" Id="R86a34cc3940f4e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bed9073754971" /><Relationship Type="http://schemas.openxmlformats.org/officeDocument/2006/relationships/notesSlide" Target="/ppt/notesSlides/notesSlide15.xml" Id="R9711eafe739c42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08c36be3b4c46" /><Relationship Type="http://schemas.openxmlformats.org/officeDocument/2006/relationships/notesSlide" Target="/ppt/notesSlides/notesSlide16.xml" Id="Re91a9ed94dde4e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2e0790a43455d" /><Relationship Type="http://schemas.openxmlformats.org/officeDocument/2006/relationships/notesSlide" Target="/ppt/notesSlides/notesSlide17.xml" Id="R1a435a5f0c244f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231d8df84424a" /><Relationship Type="http://schemas.openxmlformats.org/officeDocument/2006/relationships/notesSlide" Target="/ppt/notesSlides/notesSlide18.xml" Id="R0f2eee96c11f49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4e33725d04cba" /><Relationship Type="http://schemas.openxmlformats.org/officeDocument/2006/relationships/notesSlide" Target="/ppt/notesSlides/notesSlide19.xml" Id="Rd4da252955fe40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2caacd422469d" /><Relationship Type="http://schemas.openxmlformats.org/officeDocument/2006/relationships/notesSlide" Target="/ppt/notesSlides/notesSlide20.xml" Id="R4aa5f638957246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11edf266f45fc" /><Relationship Type="http://schemas.openxmlformats.org/officeDocument/2006/relationships/notesSlide" Target="/ppt/notesSlides/notesSlide21.xml" Id="R901327220efc47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0a503741245ba" /><Relationship Type="http://schemas.openxmlformats.org/officeDocument/2006/relationships/notesSlide" Target="/ppt/notesSlides/notesSlide22.xml" Id="R187cb14d8b8541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ebed40a2a4714" /><Relationship Type="http://schemas.openxmlformats.org/officeDocument/2006/relationships/notesSlide" Target="/ppt/notesSlides/notesSlide23.xml" Id="Rf13934c499d94c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68d73e5ca45c0" /><Relationship Type="http://schemas.openxmlformats.org/officeDocument/2006/relationships/notesSlide" Target="/ppt/notesSlides/notesSlide24.xml" Id="R5967abe95f2846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f717bb057423c" /><Relationship Type="http://schemas.openxmlformats.org/officeDocument/2006/relationships/notesSlide" Target="/ppt/notesSlides/notesSlide25.xml" Id="Rd5de0a09abc74b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29e1992224a24" /><Relationship Type="http://schemas.openxmlformats.org/officeDocument/2006/relationships/notesSlide" Target="/ppt/notesSlides/notesSlide26.xml" Id="R0fa922ea7be947a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7fcc26be5407a" /><Relationship Type="http://schemas.openxmlformats.org/officeDocument/2006/relationships/notesSlide" Target="/ppt/notesSlides/notesSlide27.xml" Id="R2776068f71c54e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90603f984459f" /><Relationship Type="http://schemas.openxmlformats.org/officeDocument/2006/relationships/notesSlide" Target="/ppt/notesSlides/notesSlide28.xml" Id="R4d4b7f82c67b4c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eb8237dad4c4f" /><Relationship Type="http://schemas.openxmlformats.org/officeDocument/2006/relationships/notesSlide" Target="/ppt/notesSlides/notesSlide29.xml" Id="R2b1d1d6829b0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EF7C4-3FD1-499C-AD8C-0C24A469E51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562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A0E80-F452-4E9E-B07C-5E2F9A24B5E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562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3D609-ECB1-41DE-9015-39E9FBBDC54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562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D7699-221A-475D-A669-B91102DE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GROWTH AI · ORGANIZATION-NATIVE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E476D-CA01-44AD-8973-03F44AA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12대 전략과제 AX 사례집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C02B9-6546-4412-AB9C-2247EAA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97D5C-02C8-4381-BE83-228E77E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F64AC-9E70-486B-8A83-0F0B0765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DEFEC-A07A-4608-99C1-070722A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사례 근거 → 전략·업무 → CCK 개발·검수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0CC2-502C-42E3-AA0B-B033E1FB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4924B-9665-4424-81C5-0D1F41E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8612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국내외 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6A98-2426-4725-85E2-0598D6E7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4325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D3292-E240-4EA1-B0A2-3D9C768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12대 전략·직무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50403-8A2F-4A76-83CB-C0F5A07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7DE5-8FAB-4D50-A418-CE81EA73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8612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BBE63-8930-408A-A320-6A54E33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4325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58488-A812-4AF3-9DB8-38D126A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8612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개발·검수·효과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5A46A-DFAA-44EA-97E2-350088A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수록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3E696-D42E-4088-9E3B-5E9457B3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핵심 시각화 12건 / 웹 상세 26건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12개 전략별 후속계획·3종 아키텍처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BC445-E656-4A6A-8756-77E1F9B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전체 조사원장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5A500-B624-471B-BBC1-F5C95BD8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국내 110건 / 해외 42개국 2,527건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원장 전수 색인 · 최신 성과 검증과 별도</a:t>
            </a:r>
          </a:p>
        </p:txBody>
      </p:sp>
    </p:spTree>
    <p:extLst>
      <p:ext uri="{BB962C8B-B14F-4D97-AF65-F5344CB8AC3E}">
        <p14:creationId xmlns:p14="http://schemas.microsoft.com/office/powerpoint/2010/main" val="164368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9873B-6AD1-4C47-9A68-6396CD3E94B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DF9CB-936D-4CD6-99AF-E74516AEC1A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CA846-0AA7-4BCE-9AD5-694A96613E0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A7A89-EEB2-4507-AD60-21FA1F3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혼합 · 음성·LLM 돌봄 서비스 / 국내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BE655-FACB-4DD8-B4A6-5923519B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CLOVA CareCall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B337D-8DDD-44E2-A70B-A3F6A419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15436-8AFA-4265-A8D5-7BCF67C6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DE5B-703C-4F93-9C2A-33DA0E5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A48B-4B12-491A-AB45-EC05726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안부전화와 복지 담당자 후속 대응의 결합; 인터뷰에서 업무 부담 완화와 사용자 이해의 이점 보고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48F50-2042-4DA4-A59F-A6A729C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2295D-9C4D-4022-989B-E9935E2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안부전화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F5FEA-F737-4D1D-A918-65B0223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7D607-4999-4DDE-ADF2-68B2E77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LLM 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DBFB9-93F0-4759-88E8-9EA37E50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FB1FF-4416-49A3-A40B-109A085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내역 열람·분석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C9EDF-060E-4B7E-AB56-26371C3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C9DD9-8FC7-4CAE-B493-8352AE9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복지 담당자 대응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42058-1D5D-4ED5-9773-435ED8D7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B939-48C3-4507-A9E2-C92FD7C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한국어 음성 연계 / 발화 정리 / 필수 항목 검증 / 상담 전환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74E1-50DB-4D4C-98F3-0B79C98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4D47E-015A-4C4D-9986-D2A094B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고령·소음·방언 표본의 필수 항목 정확도 및 상담 전환 성공률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서비스 도달률 / 발화 재입력률 / 집단별 완료시간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10B94-C025-424C-9880-6A14E42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소규모 질적 연구 · 부적절 발화 통제와 지자체별 요구 반영의 난점 · 임상 효과 근거 아님</a:t>
            </a:r>
          </a:p>
        </p:txBody>
      </p:sp>
    </p:spTree>
    <p:extLst>
      <p:ext uri="{BB962C8B-B14F-4D97-AF65-F5344CB8AC3E}">
        <p14:creationId xmlns:p14="http://schemas.microsoft.com/office/powerpoint/2010/main" val="481860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761CC-D0F6-4C3E-9022-4B83D0ED720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E1C02-3BD0-4AB7-A3B9-708C7888007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0300B-C521-4CAD-A658-EDF409B4633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48614-6314-415E-8FC1-23AC8B78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실패 · 학습·응답 데이터 통제 / 국내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2CFB-2340-4519-B1B2-EAA1D8D9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이루다 개인정보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B30A6-9CA0-487D-8C00-88AD4E0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3DCAE-3262-44EE-86C2-22495BAB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0A14C-B694-4D4D-8D21-F6F13F29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6EDE5-1BC7-4D82-ADB9-9FB87B72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다른 서비스에서 수집한 대화의 목적 외 학습·운영 이용 등에 대한 개인정보보호위원회 제재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AC6CD-F2C3-42B7-B40A-5C426EE1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6148D-AF13-4290-8FB0-89EC5262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원 서비스 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2489C-D1D0-4270-A04B-C12A7E89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0A145-D0EA-4981-927B-99F39F96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목적 외 재사용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EBDD9-3FBE-48B3-9311-7ADE660C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920C0-855E-4B65-95AA-CF40E07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학습·응답 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B4F0D-D82F-46A3-AB57-FC5A93E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12049-6E25-4BC5-A611-FEB3889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이루다 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76C9B-FB7C-474B-B615-36EA3EF7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4AA52-B4BC-42C2-8570-3F020746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수집 목적 태그 / 학습·검색·출력별 정책 / 삭제·회수 전파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30BF7-6009-4AAB-8511-1784C5AB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141E3-E106-4AB9-9C9F-9416185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목적 외 입력 거부·권한 회수 후 검색 및 캐시 노출 차단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필수 거부셋 노출 건수 / 삭제 전파 지연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4419F-2A7E-40FF-B9C5-BF27A0E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2021년 조사 대상 행위 기준 · 후속 서비스 전체에 대한 평가 아님</a:t>
            </a:r>
          </a:p>
        </p:txBody>
      </p:sp>
    </p:spTree>
    <p:extLst>
      <p:ext uri="{BB962C8B-B14F-4D97-AF65-F5344CB8AC3E}">
        <p14:creationId xmlns:p14="http://schemas.microsoft.com/office/powerpoint/2010/main" val="1018215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9323D-AE18-4EE4-AFE4-34010650EFD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C8C09-FEE7-40DA-B1BD-CE75AB58C93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11138-0B02-4ECA-9CC2-4CD2D7C4B46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C14EB-7078-45E6-A631-1E0EF01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혼합 · 직원 업무 생산성 실험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A432-99D6-4931-AAD1-6958B89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영국 정부 M365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F15C0-0BA5-4CEC-B03C-E2172F3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56ABE-6F75-4D51-9681-0F09203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4F53-98F9-4120-8013-7345207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C0C8F-3F75-41F5-80DE-767559D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2만 명 규모 실험; 설문 응답자 7,115명의 자기보고 시간 절약 평균 약 26분/일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59A0A-34CE-4652-B830-932EFC4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0EF07-CF09-4546-A094-96FA9AA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직원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CD14C-E7A1-44D8-A188-79CBD33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E595D-59FB-4ED1-80AC-C3A609B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기존 접근권한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B4EAC-DEC6-4412-B11D-7086E4F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CB2C8-A9FF-460D-95B8-3F18178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업무 자료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3F001-31B3-4FEB-A025-09B55A0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42F86-4F8E-495B-BD56-98351D2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초안·직원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01729-5BBF-4B7E-8F6D-C33DD05A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DF26B-12CB-4000-A6EC-2F30254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로그인 ID–조직 연결 / 직무별 검색·서식 / 검토시간 포함 계측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75C4B-CBEE-4DDC-A0E9-A23360E3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A4F84-0F14-41A3-9E29-EF13D56F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권한 교차 시험과 동일 난도 업무의 전후·비교군 평가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검토·재작업 포함 완료시간 / 오류율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AD56A-5380-4CA2-B7FA-DC826CFD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실측 인과효과 아님 · 복잡한 맥락·데이터 업무 한계 · 기존 자료 과다공유 위험</a:t>
            </a:r>
          </a:p>
        </p:txBody>
      </p:sp>
    </p:spTree>
    <p:extLst>
      <p:ext uri="{BB962C8B-B14F-4D97-AF65-F5344CB8AC3E}">
        <p14:creationId xmlns:p14="http://schemas.microsoft.com/office/powerpoint/2010/main" val="1253882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2918B-7CA8-4F43-87DD-5091785A5F2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12A07-7640-4EDA-92F4-92675CBBDD0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A4E5B-2CF8-4330-B5BF-98EB27FBC39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7E61B-13EE-423B-9ECD-FA3E37E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성공 · AI 기반 운영 최적화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3D0C-C49E-442F-A2D1-DFB77733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Google 데이터센터 냉각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F089C-D3B5-465E-A608-3DA08E4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CEC42-09CC-400D-A665-E42E8A91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E175-FF6D-45A1-99EC-5487942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85DFD-6302-4E17-9BBA-DD076494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운영사 보고 기준 냉각 효율 지표(kW/ton)의 과거 기준 대비 약 30%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B175-3B02-48D0-84A8-6FF295B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48BC-04A1-4729-BAAE-B966943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센서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B97A8-A625-425C-B755-48824D1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5C93D-B060-41B1-BFB8-3842BB06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소비 예측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0FEC-9E8F-4C02-82ED-536C254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145E3-B509-4764-8ACA-E00466D2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안전 제약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9B3F4-7881-4DC7-926D-0ADC7742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2A385-33EA-407B-AD8E-0647AE6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현장 재검증·제어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1B8AF-0F4E-4751-883A-C86DA9C2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CCD35-1A7C-4A48-92A8-5EBA7F7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원천·배출계수 판본 대사 / 계산 검증 / 권고 승인 / 계측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6A5F6-917A-4753-B0D3-308BBABF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B0A5D-7225-4AB3-AF99-E204DCB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계수·단위·경계조건별 재계산 및 이상 입력 시 권고 보류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검증된 활동량당 에너지 / 산식 오류율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452D0-A590-4927-B6D1-CC1D812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데이터센터 냉각 한정 · 총 전력·탄소·TS 절감률과 구분</a:t>
            </a:r>
          </a:p>
        </p:txBody>
      </p:sp>
    </p:spTree>
    <p:extLst>
      <p:ext uri="{BB962C8B-B14F-4D97-AF65-F5344CB8AC3E}">
        <p14:creationId xmlns:p14="http://schemas.microsoft.com/office/powerpoint/2010/main" val="264286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8B44-5FAD-4079-B8DA-D2F7B10BEB0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3D12D-36F6-4FAB-BFAC-05D2A0A3CBA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AC954-3B64-450A-80FC-E41158C6C6B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38211-736D-442F-BD23-050C676A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혼합 · 정부 안내 RAG 실증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5E554-2AE9-4562-9E4D-0CC41837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GOV.UK Chat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5B829-412A-4737-8993-A7ABE942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958B0-AB39-403C-A1B2-9A8390F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8CD6D-2AEF-4B65-AB92-8BA5491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669E2-69D3-4CBD-9ACF-9C1FB2C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iOS 실증 641명·4주·2,670개 질문; 안내 편의와 응답속도·업무 범위의 개선 과제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02522-E30F-4DD7-AE85-C632794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DD49-4F6C-48F6-B23E-ECEB3315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질문 분류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B1635-A286-4113-80E0-9C6CE79C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F07B6-D3C3-40B8-B7F7-C87B851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GOV.UK 자료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E5348-E953-414F-A2D2-86D0917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D0B23-D071-4E1D-87DD-F646C0B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근거 기반 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EA07D-AE18-4F25-8D8F-E941A708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64AF9-D5EC-4768-A023-2E3B7E9F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공식 안내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AB496-0A63-466A-BE2B-E464118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584F8-5301-4819-93D2-E14575BE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공개·내부 지식 분리 / 서비스 라우터 / 필수 입력 확인 / 인증·전송 연계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FC8B7-9529-4F8A-802F-9E9CACB0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D5734-0F2A-485E-B920-E31B1B8E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실제 메뉴 대비 업무 도달률·완료시간 및 잘못된 기관 안내 검증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정확한 서비스 도달률 / 포기율 / 응답 p95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18BEA-5596-432F-996D-B3D65C17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공개 안내 검색 범위 · 개인 업무 처리와 담당자 인계는 당시 지원·개선 범위 구분</a:t>
            </a:r>
          </a:p>
        </p:txBody>
      </p:sp>
    </p:spTree>
    <p:extLst>
      <p:ext uri="{BB962C8B-B14F-4D97-AF65-F5344CB8AC3E}">
        <p14:creationId xmlns:p14="http://schemas.microsoft.com/office/powerpoint/2010/main" val="1456151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C8D14-CB67-427D-B01E-E8CB02C1129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4AA99-0699-47E2-BFFA-69B977EF0DB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13490-8FF4-42B3-8449-4A90E7463EE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7CAAE-AED8-440F-AF8B-2608B8D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실패 · 행정 자동화·책임 통제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F1CA8-99EB-4E92-860D-7DAEBB08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호주 Robodebt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5E998-D9EA-48D6-9F4C-83D9469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8D7FA-58D7-4B87-A4BD-BCDBAD65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CB0AE-2C19-4C84-A932-FC2A700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D9551-A32C-4D4D-B920-B2CAEFB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왕립위원회 최종 조사에서 자동 결정의 법적 틀·재심 경로·데이터 교환 통제·취약계층 대응 개선 권고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3344D-B9CB-4D13-A3F9-72C39CB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7B76-038D-4AAB-B5A6-2D5CBBB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기관 간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E8BEB-55C2-4D4A-8F3B-439AC39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DFCDE-6778-4099-A57A-180A62F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자동 산정·결정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93620-064F-4817-A0B7-012C18A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52E4C-E6A5-4954-BD8F-8F8609E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대상자 통지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7D6F3-17F9-41F8-9D50-9B305B4F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A1F59-0791-4F4C-8060-8687244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이의제기·재심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605A7-9E71-41EB-997B-01765AD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17633-17EF-4BEB-BE30-CFA5EF3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근거·입력 검증 / 자동 확정 제한 / 이의제기·재검토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605EA-8284-4728-AE71-04D553FD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5196B-11CF-44E4-BE01-3D7D3158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누락·기간 불일치·권한 부재 시 보류 및 재심 처리 추적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근거 누락률 / 오판 보완률 / 이의처리 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76BA1-5ADC-4156-AA6E-47EBD64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규칙 기반 행정 자동화의 실패 교훈 · 생성형 AI 사례 아님</a:t>
            </a:r>
          </a:p>
        </p:txBody>
      </p:sp>
    </p:spTree>
    <p:extLst>
      <p:ext uri="{BB962C8B-B14F-4D97-AF65-F5344CB8AC3E}">
        <p14:creationId xmlns:p14="http://schemas.microsoft.com/office/powerpoint/2010/main" val="1325410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31864-D393-4853-A250-BAECEF87460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70C88-AAAC-42A6-9EAA-96B8B74E15F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DCB7E-64CC-4838-B105-BD1E2F4E438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881B9-1A1A-4D97-BCFA-685EA6D8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실패 · 자율주행 안전·사고보고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3F68F-3314-4084-A056-41C863D7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Cruise 사고보고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0E668-99E8-45C4-BF90-7758C196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B4C02-A685-4031-8E9F-5AFC34C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DD653-9579-41E6-9C2A-4E7F04BC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7CC05-A472-45E1-B0F1-0EF1E26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충돌 후 상황을 빠뜨린 사고보고에 대한 NHTSA 시정 명령 및 강화된 보고·감독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2D031-0238-4403-966D-628708B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33393-5860-4697-8782-6D478B2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사고 원시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D6510-F56E-4A6C-B684-1BE5F1C3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0F568-8C7A-4DEA-9930-CCF33364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사건 타임라인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99561-FC53-4D25-B240-FD169CE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17B27-7F0A-4713-8DDA-F0D697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보고서 작성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F8F8B-04A1-4F9E-B6B3-D2210216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75E07-DF87-46E5-AB11-9EA80B2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감독기관 보고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A0D4D-F0B2-44A7-A5F5-D29F3C89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F7C9C-EDDF-47EA-91F7-3B1A4BC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증거 무결성 / 필수 사건 체크 / 누락 경고 / 검토·승인 이력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EBF6D-8585-410F-A810-4C717D8A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CC970-AC47-4302-99F8-FD1F5035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누락 사건·충돌 시각 주입 후 탐지 및 승인 없이 전송 차단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필수 사건 재현율 / 검토 누락률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1F934-199B-4EA0-A48D-DEF144CA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보고 완전성·안전 거버넌스 문제 · 사고 원인을 LLM 오류로 단정 불가</a:t>
            </a:r>
          </a:p>
        </p:txBody>
      </p:sp>
    </p:spTree>
    <p:extLst>
      <p:ext uri="{BB962C8B-B14F-4D97-AF65-F5344CB8AC3E}">
        <p14:creationId xmlns:p14="http://schemas.microsoft.com/office/powerpoint/2010/main" val="184891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6581E-18A6-4D42-9367-0EE998C4E49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A2D33-2159-437E-826C-6D3B05338E4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11674-D534-4B40-809A-7D2ABB9741C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FD78F-D1C6-4794-9B80-88743677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실패 · 공공 서비스 AI 품질·사업관리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FB921-3C75-4C58-B2BA-F73F25D7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뉴욕 MyCity 챗봇 감사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F5F2F-CD93-441B-9128-EEB36F0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C3E3-A367-4744-AFFA-2ADCFFF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89B58-C801-4B2C-B7FC-50B482FA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5EF11-BDE0-48D6-95AA-F7DD0BED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부정확·비일관 답변과 사업관리·통합서비스 미비에 대한 감사 지적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6B0F2-2D20-4341-ABFA-1C034BF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B9483-6C4B-4F0C-A909-059F9953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공공 안내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05FB1-F73C-4F62-AE8A-8B94EEA9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C31D0-AF2E-42A3-8BC3-984EC36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AI 챗봇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2D47C-F91D-4ADB-8141-8C58445A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063C5-A52B-40F8-8F11-BF65E34E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사업자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0E6E-7D92-4328-BE31-0159DFD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0B7AF-2E29-4F70-9B69-5A9AAFC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감사·개선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0BDA2-6DAA-4F89-BAFC-E91ABF81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5E0DE-18E1-4A17-ADD6-CFDE2B7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반례 정답셋·오안내 신고·책임부서 인계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A2A09-80C5-499E-9FC3-BE4268F4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6AB94-81BE-42B4-A8F0-5D4C5B2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규정과 상충하는 안내 및 미완료 신청 재현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오안내율 / 신청 완료율 / 재접촉률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598F1-12B5-4597-AF2F-5E6CC88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운영기관의 정확도 주장과 감사 판단의 차이 존재 · 개별 질의·평가 방식 대조 필요</a:t>
            </a:r>
          </a:p>
        </p:txBody>
      </p:sp>
    </p:spTree>
    <p:extLst>
      <p:ext uri="{BB962C8B-B14F-4D97-AF65-F5344CB8AC3E}">
        <p14:creationId xmlns:p14="http://schemas.microsoft.com/office/powerpoint/2010/main" val="12836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131AB-BE2C-4938-AC2C-D407519821A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195D8-6D47-40F8-9155-4DF9606A405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A3344-2783-4ECA-88C7-FBFBB56FC1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5773D-901F-42E7-8423-20D2606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성공 · 철도 예지정비 / 해외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3EC96-CC2F-4E05-9EE3-223E192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Network Rail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6E954-50A1-4438-B1FD-D502C41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CCF1-7EAF-4487-8B1E-F42D986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BB1E-D501-44B6-B07B-B1E57D8D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475FF-DF36-4276-9C0C-8F9AE76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설비 데이터와 AI 분석을 결합하여 철도 유지관리의 이상 징후·우선순위 검토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DBF0C-59E6-4937-A5E9-A337336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9C1B6-91FB-40C3-8FA9-0BBC33D2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설비·검측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10A1B-B64A-4399-9DB4-8D489575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CE00B-B3E6-43A2-993B-272C1B2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AI 이상 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BA705-3740-464D-8570-892C3FF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1E367-A57C-4C79-A404-70A80A8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정비 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2F260-19AF-4663-8974-1A238B6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2A84E-FB9F-4FC3-89EF-77711BC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담당자 조치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E2E22-5D96-423B-8A35-F7291117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7F4A7-A22D-4372-A150-B4FE0406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설비별 위험 근거 묶음·담당 배정·기한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C2F8C-4F57-421D-8F46-D136AF2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896F0-A2CF-4221-B0E0-56B64D6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결측·상충 신호·미조치 건 우선순위 검증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점검 준비시간 / 미조치 추적률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C5D2E-92D4-4B1B-B5EE-61F02E0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철도 운영사 사례 · TS의 검사·감독 책임 범위에 맞춘 현지화 필요</a:t>
            </a:r>
          </a:p>
        </p:txBody>
      </p:sp>
    </p:spTree>
    <p:extLst>
      <p:ext uri="{BB962C8B-B14F-4D97-AF65-F5344CB8AC3E}">
        <p14:creationId xmlns:p14="http://schemas.microsoft.com/office/powerpoint/2010/main" val="847553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3BEEF-6D50-43B6-AA0E-6403B764A22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72151-9635-47B0-95B0-F9E199B798B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6F724-8E6E-4745-B0F1-6B4E562FA42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4010E-6079-46A7-9A96-AC8EE53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시범 · 안전 문서 분류·분석 / 국내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5751F-652F-422E-A2A9-1C8C7067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항공안전 이슈 분석 AI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33EA-15CC-4BB3-B903-62E31B4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4B917-C098-475F-87FB-3EAF5BF9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B3A0B-057F-4872-85DF-644D2D9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99640-AB01-43A3-A293-552FDE0C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항공안전 기사·분류체계 기반 번역·요약·위험 분류와 분석원 검토의 기술 실증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773E3-1E77-4771-AB0B-9F69881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4ADF6-A4FF-44C6-9990-B0D0C26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항공안전 기사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638D5-49AB-4C2A-A3FF-39F2AD5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DECE0-F344-4161-8BA3-4E4253EA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전처리·RAG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1745F-6851-4BDD-AFF8-86B1753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94835-B34B-49EF-AABE-DE9F923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요약·위험 분류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C26D6-D619-44EE-B8DF-DC90374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2B569-A3C0-4E94-8988-6A3FA8D5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분석원 재검토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8FBE2-3A72-4EED-BCDB-6811ED1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DDC90-75E1-4F9E-99E2-939A500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안전 이슈 분류셋·근거 위치·검토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AAECC-93DE-4A5F-9EDD-53C73E4D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FF7BC-6C97-42A1-A12A-86B6F64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위험 유형별 누락·오분류·번역 오류 평가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분류 재현율 / 검토 포함 소요시간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57F97-67CC-4DDB-87D8-6934AB1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PoC 범위 · 운영 생산성 실측으로 해석 금지</a:t>
            </a:r>
          </a:p>
        </p:txBody>
      </p:sp>
    </p:spTree>
    <p:extLst>
      <p:ext uri="{BB962C8B-B14F-4D97-AF65-F5344CB8AC3E}">
        <p14:creationId xmlns:p14="http://schemas.microsoft.com/office/powerpoint/2010/main" val="852764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C9447-83F4-402F-A3EB-C9EA0E294E5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863C-6646-4F57-94E3-EE7E4678C22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792FA-C52A-4DA4-B193-AC98C188D11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6DAF1-66CC-4355-A61B-D61AE499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시범 · 교통사고 위험 예측 / 국내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7C006-1A69-423F-A150-969EEDA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경찰 AI 교통안전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81361-E2C2-4C75-BE6D-843E92A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198A-394B-4837-95AF-6018A4B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B711-7ADB-46E9-A9A7-592CBA87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52D21-0D92-4BA9-8F98-B204EC56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교통사고·단속·시설·기상·교통량 데이터 기반 위험 예측과 지역 실증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C7AA5-3A55-4C64-B179-4C8AA47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3008-AF7F-422A-9443-9E76B03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민관 교통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1F742-37E2-4378-9C1B-288C3BA1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CFC70-5D42-45BD-B335-21C5BB70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전처리·MLOps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69A82-822E-42DA-9930-5B6B6CEE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1543F-18F5-4A81-8FC6-1C67406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사고 위험 예측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733D5-6133-439E-8EFA-69EFA6E3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34E6E-D343-474E-BCCC-9944F973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지역 실증·현장 대응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0B4CE-79A1-4697-8AB2-1499956E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B2D2D-852E-4872-96E4-C2C018BC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지역·도로·시점 정규화 및 개선 이력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F4561-5E42-4E10-8CCD-77E344FE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FDDD2-2EF2-46B7-B03C-050E97E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시간·지역 분리 검증과 데이터 누락 시험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위험 탐지율 / 예방 조치 이행률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66078-FB7A-441E-830D-3914BCF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지역 실증 범위 · 전국 사고 감소 성과로 확대 불가</a:t>
            </a:r>
          </a:p>
        </p:txBody>
      </p:sp>
    </p:spTree>
    <p:extLst>
      <p:ext uri="{BB962C8B-B14F-4D97-AF65-F5344CB8AC3E}">
        <p14:creationId xmlns:p14="http://schemas.microsoft.com/office/powerpoint/2010/main" val="902362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ECD0A-FC60-4386-8752-D4C85D0357C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9157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4D72F-FA5A-4197-9277-D1BD12CE2D4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62650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52C60-7D7D-4EB2-AD3D-95CE490CD53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33725" y="3276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B13FF-3B73-4D47-94A3-6AD90CD2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시범 · 학교급·지침 기반 RAG / 국내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167B-9D05-4869-A34D-6DAFA55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교육행정 응대 AI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8D96D-BC57-4D60-B3E5-3295A0FD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0FF80-FCEF-4B3A-B826-4B6A1509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C8274-CA9D-4E40-AF0D-F59FCAE8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54286-181A-4FAE-B667-3FB6F6F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학교생활기록부 지침·질의응답 자료를 활용한 RAG와 원문 페이지 연결 실증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0C9D7-0B2A-4161-BB01-B5AC06C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5FCD6-C6ED-46B7-ACC1-5BEC91BF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학교급별 지침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8D60E-7F71-4762-A9AB-8613279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0F400-DF1F-4AFD-B065-3D55065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문서 전처리·RAG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F63CC-C233-4B55-926D-546F68F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AEA06-8E6D-497B-9A04-E409D3F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근거 페이지 답변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AE659-72A8-4AB6-8BB7-6222A077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562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EFD7C-713A-4545-B02A-EC1852E7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314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교직원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22E0D-5B96-417B-91D3-35D7641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현지화·추가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9C6A7-C708-479E-9C19-BE64288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직무별 검색 필터·출처 페이지·오류 피드백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F4E54-E920-4D86-A001-2C89986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검수·기대효과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F6E45-1BDB-4943-B3BA-CEA784E9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부서·직무 변경 전후 검색 근거 대조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근거 일치율 / 보완시간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A53B0-08D7-4E6F-8FD3-895C96C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선정 문서·업무 범위의 PoC · 전체 교육행정 자동화와 구분</a:t>
            </a:r>
          </a:p>
        </p:txBody>
      </p:sp>
    </p:spTree>
    <p:extLst>
      <p:ext uri="{BB962C8B-B14F-4D97-AF65-F5344CB8AC3E}">
        <p14:creationId xmlns:p14="http://schemas.microsoft.com/office/powerpoint/2010/main" val="1893772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B79EB-46F8-4A53-9662-0A5C237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ST-01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17F8E-1C8F-46ED-8017-0C219626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사고취약 수단·계층 정밀 안전망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5F38C-6181-44E7-BD2C-7AC85A12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6C98A-4B5A-4EAA-966E-DD0A46DC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154FA-6484-4796-B8B3-AF2C8AD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3B99F-FB32-4BB5-8AEB-F5B99BF1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지역·취약계층 안전조치 근거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0C068-E945-40F0-B12F-8047F1BD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지역별 위험 근거·현장점검·개선조치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67473-A802-46B6-A0EC-581B4709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7EC4-114C-4559-B861-9A92A80D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관할·대상·현장 증거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0C34C-25C1-4E18-AD9D-FEC85C01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9F849-03C7-4948-8D62-8625145F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지역·기간별 원천 대조, 미조치 건 추적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0B86B-D8D8-4BD0-963C-5D79F3E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위험 검토시간 / 조치 이행률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F5DA0-1225-4ECB-942A-9A6B928A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BM-ST-01-R01 → BM-ST-01-T01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20341968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37F55-C494-4A44-8A53-5CCB343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ST-02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5D250-B94F-4954-8386-C7ABAE9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자동차 안전관리 및 소비자 권익 강화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3D06-BA26-4262-AC36-E1082A0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2B95E-D40B-4528-8721-9BC04B0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090E-5D49-433C-B027-2C732B9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5C414-86B8-4BEB-BF78-73035BC0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검사·소비자 권익 검토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FC2EE-48D5-4402-AD66-C57BC4FE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검사·튜닝·결함조사·이력 정보의 업무별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481D0-4F35-4CC3-B214-1EA1C27C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8A198-AC45-47E5-AEBA-134283B2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검사 기준 판본·차량·증빙 대조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7C3D6-B462-41F9-8377-3D646E6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892F7-CA2C-4BA8-97CC-4A0707F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불완전 증빙의 자동 확정 차단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C713C-CD0B-4CF7-8549-9BFF22A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검토 누락률 / 보완 소요시간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A2AF7-60AA-4FA9-A2A2-2EEC4E8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BM-ST-02-R01 → BM-ST-02-T01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15380448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A5802-49CF-4B0D-815B-92D4D37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ST-03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E69CC-1C9B-4D47-8527-E662B24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중대사고 예방 능동적 안전관리체계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10398-305D-4277-BDCE-1292A525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77657-4B2F-420F-818D-02DEE9F5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52AB1-0C04-4A2A-BB21-7B5143DB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FFA76-BDB3-4E82-95B9-B0459949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중대사고 예방·보고 완전성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E6761-60DF-46BC-9358-B3D02C1F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분야별 안전점검·시정조치·재점검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7C82E-98D6-45D9-BEB7-C63E673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71A83-222E-440D-873E-6D2970E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사건 타임라인·필수 보고항목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53407-82A5-4CD1-A5AE-8381709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BB07-B95B-4EF6-8DC7-8CAC4C24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사고 증거 누락·시점 충돌 주입 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C1C6B-A8A2-4D83-91DD-136834F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필수 사건 재현율 / 보고 누락률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967CA-960C-4208-9148-1C6A932F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BM-ST-03-R01 → BM-ST-03-T01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2051364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57BC5-7FE6-48F6-A751-9D973BE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ST-04 / 1차 공통 기반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ECECD-72A8-415A-A982-7E0B423F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교통안전체계 인공지능 대전환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C4945-C183-4D00-A50C-2C49EB2C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CF37C-2D4D-48D9-9B4C-1D74EC79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6FB0C-57D7-4600-93F1-6A59994C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9ADE1-1BB0-4E88-A09A-269A4D5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조직 네이티브 공통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81B49-860C-4673-8D23-6929BFD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공식 조직·직무·역할 기반의 사용자 인식 및 업무 맥락 분류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9C0C3-35C8-48AC-AC78-6044A53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D4349-669B-407C-A876-F2FC7A0C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공식 ID·효력일·역할·업무 분류·권한 집행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0CD78-6E8A-4BA2-9E15-F8A4FD8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DD79E-70D3-4ECC-9A64-7220BC2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인사이동·동명이인·권한 회수·동일 요청 교차 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B731C-4C4A-43B1-83E0-21AACFF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직무 분류 정확도 / 비인가 노출 건수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5B899-0CB2-4FB0-BBAF-CCA311C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BM-ST-04-R01 → BM-ST-04-T01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4220212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61A04-EAE4-4588-BDA1-DFB34C3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ST-05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EC0E-445F-481B-B076-B45D897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K-AI 기반 안전한 미래 모빌리티 실현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F51A5-EB70-4880-931B-926E06B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72D42-2FAA-4C9B-9E7C-AA12B47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AF1B7-77B0-4E18-AA9C-60EE87F7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185E3-5988-4F32-A494-AAE0EE69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모빌리티 실증 증거·안전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B9B41-168C-4888-8A16-526A30EF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미래차·드론·모빌리티 실증의 기준·시험·검토 업무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4984F-574C-41B9-A7C5-26887657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C2338-5D47-4261-A58A-027EAD2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실증 데이터·시험조건·사건 보고의 근거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25E4D-1789-4214-A92C-0919FE12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77F4-7EE4-4806-A46F-720685C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실증 조건·원시 로그·보고서 불일치 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D61CE-1F8F-4367-9CE9-DCC0612B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시험 증거 누락률 / 재현 성공률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6EF60-D275-40CA-AC85-8A87601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BM-ST-05-R01 → BM-ST-05-T01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16161280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9F89B-E1D5-43D6-8127-1DDBF88B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ST-06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1B325-2C89-48D5-92D1-5C0B40B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기후위기 대응 친환경 전환 가속화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D1D76-4AD9-465A-A637-48E78C6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87A32-E91B-4F2B-A6CB-2EA1F4A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79827-F6BC-498B-A258-434F1168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F2912-0826-47D8-94C9-9B687DD6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친환경 운행·탄소 검증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7E19F-9AE0-4D0B-A75F-E6448D1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교통물류·탄소중립 정책 및 친환경 전환 자료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C5A20-C221-4A2A-A04B-CDE2FCA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2FDD8-DA8F-4FB6-B006-C5F2937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활동량·계수·산식 검증과 개선 권고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72A57-4A38-4975-AA12-AFB3C3BE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58E73-9883-4098-BF70-2822C24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같은 계절·운행 조건 비교 및 계수 판본 재계산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0FA9-AE53-45A6-B191-BEE60B1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활동량당 에너지 / 산식 오류율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A1CDC-D4B4-458A-A553-AA379FE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BM-ST-06-R01 → BM-ST-06-T01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6824649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390F6-101D-49EA-9BD5-7C13C3BF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ST-07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BF30C-C12A-407F-AC7B-BB2C846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교통데이터 개방·연계 기반 서비스 편익 증대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E4958-E773-4AC7-AA8B-6A1B873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CE102-6518-4A26-9059-215660F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7C64B-28FB-40A2-9004-7DCA2CAB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5F7B7-FEB6-4268-84FF-83480181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교통데이터 제공·연계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264F-5DF6-4F7B-9755-8216B5BC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교통·차량 데이터의 소재·권리·품질·활용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2514D-C107-43D4-8B68-D338A39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F406E-BF61-46DA-B9EB-664F23B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공개 가능 필드·데이터 사전·API 요청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612FA-E19F-4BD5-A182-361C0907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60002-ED9D-4F0C-9061-3E5136C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공개·내부 필드 혼합과 재식별 위험 입력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B5B7-BCAC-47B1-AFCC-46AB5CDD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연계 성공률 / 목적 외 노출 건수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DA88C-00E0-4BC8-916E-078E1DC7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BM-ST-07-R01 → BM-ST-07-T01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8022473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B9D4F-E7F6-4E90-9C2E-0BCE1B89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ST-08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E308-30B1-401F-8CD7-9DA192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생활 밀착형 이동 서비스 확대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E216B-F515-4B5D-AF6D-263C54BE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CDA23-2055-4D05-8CA5-329FC0EF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45C63-3685-4B92-83E5-D19B353B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3969F-694B-466D-9A28-861E333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자연어·음성 이동 서비스 접점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72C5-2A1D-493B-A90E-E115A286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이동정보·교통약자·자격·현장 서비스의 안내·인계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F042D-7EBF-4E49-8821-ED6DCE2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D8C94-5ACB-49E5-B149-F03EF257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발화 정리·필수 항목 확인·소관 서비스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DDC38-427C-4E39-A9F4-4F3E35EE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3D495-3AD2-45B2-8B47-95190EAC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기존 메뉴와 사용자군별 과업 비교·상담 전환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FF1FC-7A62-4BAC-9FF3-6549D008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정보약자 도달률 / 포기율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11720-7A95-4742-B76B-2CC5697E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BM-ST-08-R01 → BM-ST-08-T01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20905558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96971-81E8-4632-B11A-910F3D3F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ST-09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730E-05D1-426C-8257-7940E33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민간·지역·산업 균형 성장 역동성 지원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A3C6A-56B7-4984-945F-B74D929A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C73B1-C64C-4C3D-A0EF-2D3FDCF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D877A-6B90-4314-AC4B-6C283024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C281-9B01-461F-84C5-9972E77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지역·산업 지원 검토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47A66-8E73-416B-B9EF-F9D12F37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기업·지자체의 모빌리티 정책·규제특례·실증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F0656-A65A-497D-865E-1D3EFD21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36FC9-B156-424E-B0ED-C051928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지역 수요·지원 조건·실증 증빙 매핑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59956-2AD2-4664-A936-28874FAF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C9FD1-71D1-42D3-A020-FC1E150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지역별 기준·지원조건 차이와 보류 처리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A78B9-319B-4BF9-B44F-74618069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검토시간 / 근거 누락률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7ADA-007F-4121-8BEF-121C60F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BM-ST-09-R01 → BM-ST-09-T01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16387111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9AAE8-3D75-408B-876D-27B0315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ST-10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426E2-C132-4389-8906-40B5847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실용·성과·효율 지향 경영체계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C433D-1C97-4BAD-9EB2-22CECB36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99C02-BE0C-4C0B-972E-0BD675F0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FA13F-F3A8-45EE-8DF7-22FF778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7E7FF-02A0-4403-A653-E982168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성과·경영 문서 검토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11730-6972-4C78-9672-71DAE7D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부서별 계획·예산·계약·성과 증빙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1526A-1698-48DB-931F-8AE3301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EB54E-724B-4045-9152-52A8AE02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근거 자료·산식·업무 수행시간 계측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041E9-5916-4547-8670-D0D43D0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AB9A6-D839-476E-AEA7-69E50E23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동일 난도 비교군·검토시간 포함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EF4E8-3755-4030-87D4-0C32C46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완료시간 / 재작업률 / 업무당 비용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2A1D9-CF4F-4C1C-B0BA-AA5472B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BM-ST-10-R01 → BM-ST-10-T01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8876995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E730A-B973-4C72-92FA-614FD395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ST-11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BDB8F-286C-4A68-8FE2-C344657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지속가능 ESG 경영성과 실현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B2FEE-1FCF-4D9C-9720-F402329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6808-EC32-463C-938E-06DD1EF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ADA00-15FF-4A69-912E-1A1DA269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B7ABB-0FA9-4862-9CDB-E9BF5B8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ESG 증빙·공시 검토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9CF97-99AB-471F-8BE3-7697336E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ESG·사회가치·안전보건·환경 실적의 부서 협업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71D3D-5F5B-45C7-BEF2-890AE0FF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D33DE-3890-4205-A632-C9A0B87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지표별 산식·원천·검토자·변경 이력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3DFFF-A7D6-4CA0-AEF9-B4F5827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C35F1-6AFC-4344-9E19-01485A1E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산식·원문 불일치와 보고 누락 주입 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98B4F-7CB9-4ACC-A8B5-227EB7E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증빙 누락률 / 공시 검토시간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97AF8-6B8F-40B8-A57B-AA3E336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BM-ST-11-R01 → BM-ST-11-T01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20982664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66B7-0709-4480-98FC-C625D29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ST-12 / 공통 기반 인수 후 부서별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402D-3D4C-4F08-AA42-E810E513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자율·참여·소통·공정 조직문화 조성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2CD45-7E23-45E6-BEB4-2A8D4611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C0CF7-B79D-430D-86C6-041DA5F8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CCFA8-BE05-45CC-8054-B69252F8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F3259-4BD2-4BBC-94A1-69575933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조직 협업·참여·공정성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04CA5-8201-424C-8D33-863FB69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업무 · 업무분장·담당자 탐색·인수인계·조직 지식 공유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FF1A2-A18C-43D3-A0EB-B76456F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CCK 추가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F0662-F650-4B50-8C2F-0AEA058D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역할별 인계·평가 피드백·이의제기 보호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3B9D9-1F4E-4D6D-AE79-337A1340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46D94-439C-4039-9AC3-CA0A7395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겸직·대행·전보·접근 회수·의견 보호 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55E74-99CA-4580-9D48-30AA9DC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효과 측정 · 인계 완료시간 / 부서별 오류율 편차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7E7C1-1D86-437B-BFB7-C9F1EBB6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BM-ST-12-R01 → BM-ST-12-T01 / 기대 방향 · TS 실측 전</a:t>
            </a:r>
          </a:p>
        </p:txBody>
      </p:sp>
    </p:spTree>
    <p:extLst>
      <p:ext uri="{BB962C8B-B14F-4D97-AF65-F5344CB8AC3E}">
        <p14:creationId xmlns:p14="http://schemas.microsoft.com/office/powerpoint/2010/main" val="16545529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AB8B6-41B7-4A36-ACFF-4F155D3545D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5736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4401E-7B05-4226-B993-381133F0484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422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FB0D3-23F3-49B9-A9A4-31810930758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3108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8F613-2C2D-422C-934E-15DEF1F0E27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6794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3CCC3-7B97-4AE1-BD12-BE76E00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적용 제안 · 조직·권한 공통 기반의 선행 구축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8244C-18CC-4098-A8C9-9004F68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TS 조직 네이티브 AI 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F589B-E9D6-401B-BF42-E74D79F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96A3-9311-4FBB-AE02-A131F29F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E5617-B1FF-499D-8245-B051222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26C35-23F9-4AF2-B06D-EC72D1F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F4B22-BA01-4AFB-AF3E-BEBD73B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공식 조직·인사·세칙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A5F5F-3E86-4362-B043-A44FADA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22487-FDDD-4006-9552-57621AC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ID·효력일·직무 매핑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F97B7-B254-49C4-9AB8-A3678EC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19682-3B36-47C2-9D11-28BC4E4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정책 집행·업무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2CD35-DAA2-4672-A3BD-CB0A3C7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90D35-C766-4228-B528-898116D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74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NOA·검토 스킬·연계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D569C-A246-4B87-809F-39FF7FD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68F5-2AFA-426D-B913-8857155C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부서 검토·승인·감사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34BFB-CD78-447A-A079-6AB839DD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1. 원천 책임·판본·변경 이벤트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2. 소속·겸직·역할 / 불명확 매핑 보류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3. 문서·행위·업무건별 정책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4. 재사용 후보 + 업무별 전용 개발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5. 권한 재검증·원문 추적·복구</a:t>
            </a:r>
          </a:p>
        </p:txBody>
      </p:sp>
    </p:spTree>
    <p:extLst>
      <p:ext uri="{BB962C8B-B14F-4D97-AF65-F5344CB8AC3E}">
        <p14:creationId xmlns:p14="http://schemas.microsoft.com/office/powerpoint/2010/main" val="19913049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6D18D-112B-4447-8050-F12952857CF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5736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5B3BE-45E3-48CD-9818-F2ED858E230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422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6D78B-A42E-4762-9846-84EF3575A8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3108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4B710-1314-458B-B024-6BAB5182F49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6794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FB5F2-6007-4D44-8BA8-0932101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적용 제안 · 기존 메뉴·상담 경로 유지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05B6D-C144-4B94-AE75-7C1FDCBF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국민서비스 접점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65A2B-9BA7-455F-A85D-EACE72FD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E1CE-A773-4030-A6CF-B6E81D3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EC193-B921-4DC9-8586-5874629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AC51A-4CC6-4722-BFA6-99F85B7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B4A2-6359-43A2-9168-EAAE6CC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텍스트·음성 / 기존 메뉴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B0991-4304-48FD-AACC-6DB852BD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8B6A6-4384-48C8-AFDF-7D80D8B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발화 정리·사용자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2E4A8-91F5-43B2-AE63-790134E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F16D7-EC8B-4DC4-9FCF-1B6314D5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공개 서비스·소관 매핑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487E0-5BA4-47AE-B02C-023FB0D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84EB3-FFA4-4317-9AD8-17B3FF26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74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공식 페이지·인증 연계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50F4C-5D81-4392-9488-3A7CEF27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B0C1-5B26-4838-989F-FF08B43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전송 확인·담당자 인계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D512C-C67A-48B3-8CE5-2E7759B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1. 음성·텍스트 대체 입력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2. 의도·대상·지역·필수 항목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3. 공개 지식과 내부 지식 분리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4. 조회·신청·처리 권한 별도 검증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5. 실행 전 확인 / 실패 시 메뉴·상담</a:t>
            </a:r>
          </a:p>
        </p:txBody>
      </p:sp>
    </p:spTree>
    <p:extLst>
      <p:ext uri="{BB962C8B-B14F-4D97-AF65-F5344CB8AC3E}">
        <p14:creationId xmlns:p14="http://schemas.microsoft.com/office/powerpoint/2010/main" val="7095909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60CC8-E7A9-4FEF-8F96-24FB48361FC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5736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2DC34-4450-4ABC-9102-F82575E39C7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422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FDC52-3623-4D7F-A5CA-638C7494286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3108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38694-6C46-4DDF-810D-6553D92361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67940" y="27527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6D3C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AF992-B0B0-4A04-99A3-A58BCC72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적용 제안 · 학습·검색·실행 목적의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F7DF9-2E13-4B0F-A0E0-F39732A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원천부터 결과물까지의 데이터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D991E-48CB-4003-AFEA-282B0FF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10B7D-B29F-47DF-BBC0-A65D6BBE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21FB-3D81-4392-9A6F-95D25887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CA440-523F-44FB-9A3D-8BA8F5D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C9DFE-5FA3-4DE0-8851-C3A2FC7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원천 수신·품질 대사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B2151-8B9F-443B-8888-C4E40A1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F7C8E-BBE8-4D24-B907-6DD082B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목적·권한·판본 태깅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E6359-CAE2-4645-8245-7ADC32B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FDF83-994F-413A-80BE-5F87803F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허용 자료 검색·계산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425EF-CE01-412E-A292-DE58EDB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55F88-8FFB-43D9-A0D5-FCFF6554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74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근거 응답·사람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2E6BD-9502-4B94-BEC5-B79A3341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333625"/>
            <a:ext cx="1996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8"/>
          </a:solidFill>
          <a:ln xmlns:a="http://schemas.openxmlformats.org/drawingml/2006/main" w="9525">
            <a:solidFill>
              <a:srgbClr val="D5DD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621F1-5010-41B9-ABE5-9E0DD898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2476500"/>
            <a:ext cx="174879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결과·감사·회수 전파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829B0-50FC-4744-A589-AD2A7060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1. 데이터 계약·필드 최소화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2. 변경 이력·보유기간·삭제 이벤트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3. 거부 우선 / 수치 계산 검증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4. 공식 원문 위치·승인 판본</a:t>
            </a:r>
          </a:p>
          <a:p xmlns:a="http://schemas.openxmlformats.org/drawingml/2006/main">
            <a:pPr>
              <a:def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5. 원문 대신 식별자 중심 로그</a:t>
            </a:r>
          </a:p>
        </p:txBody>
      </p:sp>
    </p:spTree>
    <p:extLst>
      <p:ext uri="{BB962C8B-B14F-4D97-AF65-F5344CB8AC3E}">
        <p14:creationId xmlns:p14="http://schemas.microsoft.com/office/powerpoint/2010/main" val="795252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75D13-26DD-459C-8134-A783576B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공식·1차 출처 우선 / 제안과 구현 성과의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E6EC5-13B4-4884-9E9A-5ED2C61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전체 원장과 상세 사례의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15EE3-2167-4C3E-8F93-48210E49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0AB7E-4A7A-417D-B7E8-DD1B562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CCK · TS 2027 제안 검토 · 2026.10.16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AC3FD-2F48-49F6-BFBC-A0EF0DA7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362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6D76-2D89-4E63-B49A-5C17D42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2,637행 전체 색인 → 상세 사례 → TS 적용·검수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6BBF1-BF00-43BA-B4D4-5D55FF81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원장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14732-B815-47D1-BF85-4F61B00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국가·기능·사례명·기관 검색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통합플랫폼 분류 276건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전략 키워드 연결 후보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130A9-AF09-4045-981D-C63FD99B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D6D3C"/>
                </a:solidFill>
                <a:latin typeface="Pretendard"/>
                <a:ea typeface="Pretendard"/>
                <a:cs typeface="Pretendard"/>
              </a:rPr>
              <a:t>해석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7B96C-3D54-47E8-AB0C-C166DEE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61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성공·실패·시범·계획의 구분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공급사 발표와 독립 평가의 구분</a:t>
            </a:r>
          </a:p>
          <a:p xmlns:a="http://schemas.openxmlformats.org/drawingml/2006/main">
            <a:pPr>
              <a:def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TS 기대효과의 별도 기준선·비교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E4D96-4185-452B-A338-2F70EB9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F3C29"/>
                </a:solidFill>
                <a:latin typeface="Pretendard"/>
                <a:ea typeface="Pretendard"/>
                <a:cs typeface="Pretendard"/>
              </a:rPr>
              <a:t>전체 사례·출처·CSV·Markdown: 홈페이지 좌측 사례집 메뉴</a:t>
            </a:r>
          </a:p>
        </p:txBody>
      </p:sp>
    </p:spTree>
    <p:extLst>
      <p:ext uri="{BB962C8B-B14F-4D97-AF65-F5344CB8AC3E}">
        <p14:creationId xmlns:p14="http://schemas.microsoft.com/office/powerpoint/2010/main" val="801150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2026-10-16T05:32:30.4670000Z</dcterms:created>
  <dcterms:modified xsi:type="dcterms:W3CDTF">2026-10-16T05:32:30.4670000Z</dcterms:modified>
</coreProperties>
</file>